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charts/pruningChart.xml" ContentType="application/vnd.openxmlformats-officedocument.drawingml.chart+xml"/>
  <Default Extension="xlsx" ContentType="application/vnd.openxmlformats-officedocument.spreadsheetml.sheet"/>
  <Override PartName="/ppt/slides/slide86.xml" ContentType="application/vnd.openxmlformats-officedocument.presentationml.slide+xml"/>
  <Override PartName="/ppt/notesSlides/notesSlide8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257" r:id="rId3"/>
    <p:sldId id="258" r:id="rId4"/>
    <p:sldId id="315" r:id="rId5"/>
    <p:sldId id="259" r:id="rId6"/>
    <p:sldId id="260" r:id="rId7"/>
    <p:sldId id="261" r:id="rId8"/>
    <p:sldId id="262" r:id="rId9"/>
    <p:sldId id="264" r:id="rId10"/>
    <p:sldId id="265" r:id="rId11"/>
    <p:sldId id="266" r:id="rId12"/>
    <p:sldId id="267" r:id="rId13"/>
    <p:sldId id="268" r:id="rId14"/>
    <p:sldId id="301" r:id="rId15"/>
    <p:sldId id="302" r:id="rId16"/>
    <p:sldId id="303" r:id="rId17"/>
    <p:sldId id="304" r:id="rId18"/>
    <p:sldId id="272" r:id="rId19"/>
    <p:sldId id="305" r:id="rId20"/>
    <p:sldId id="306" r:id="rId21"/>
    <p:sldId id="307" r:id="rId22"/>
    <p:sldId id="273" r:id="rId23"/>
    <p:sldId id="274" r:id="rId24"/>
    <p:sldId id="275" r:id="rId25"/>
    <p:sldId id="276" r:id="rId26"/>
    <p:sldId id="277" r:id="rId27"/>
    <p:sldId id="280" r:id="rId28"/>
    <p:sldId id="282" r:id="rId29"/>
    <p:sldId id="308" r:id="rId30"/>
    <p:sldId id="309" r:id="rId31"/>
    <p:sldId id="283" r:id="rId32"/>
    <p:sldId id="284" r:id="rId33"/>
    <p:sldId id="285" r:id="rId34"/>
    <p:sldId id="286" r:id="rId35"/>
    <p:sldId id="287" r:id="rId36"/>
    <p:sldId id="289" r:id="rId37"/>
    <p:sldId id="290" r:id="rId38"/>
    <p:sldId id="314" r:id="rId39"/>
    <p:sldId id="292" r:id="rId40"/>
    <p:sldId id="293" r:id="rId41"/>
    <p:sldId id="294" r:id="rId42"/>
    <p:sldId id="295" r:id="rId43"/>
    <p:sldId id="296" r:id="rId44"/>
    <p:sldId id="297" r:id="rId45"/>
    <p:sldId id="298" r:id="rId46"/>
    <p:sldId id="299" r:id="rId47"/>
    <p:sldId id="300" r:id="rId48"/>
    <p:sldId id="279" r:id="rId49"/>
    <p:sldId id="281" r:id="rId50"/>
    <p:sldId id="310" r:id="rId51"/>
    <p:sldId id="311" r:id="rId52"/>
    <p:sldId id="288" r:id="rId53"/>
    <p:sldId id="312" r:id="rId54"/>
    <p:sldId id="313" r:id="rId55"/>
    <p:sldId id="291" r:id="rId56"/>
    <p:sldId id="263" r:id="rId57"/>
    <p:sldId id="269" r:id="rId58"/>
    <p:sldId id="270" r:id="rId59"/>
    <p:sldId id="271" r:id="rId60"/>
    <p:sldId id="278" r:id="rId61"/>
    <p:sldId id="325" r:id="rIdSignFlipAppendix"/>
    <p:sldId id="326" r:id="rIdBootstrapAppendix"/>
    <p:sldId id="327" r:id="rIdMethodAppendix1"/>
    <p:sldId id="328" r:id="rIdMethodAppendix2"/>
    <p:sldId id="329" r:id="rIdMethodAppendix3"/>
    <p:sldId id="330" r:id="rIdMethodAppendix4"/>
    <p:sldId id="331" r:id="rIdMethodAppendix5"/>
    <p:sldId id="332" r:id="rIdMethodAppendix6"/>
    <p:sldId id="333" r:id="rIdMethodAppendix7"/>
    <p:sldId id="334" r:id="rIdMethodAppendix8"/>
    <p:sldId id="335" r:id="rIdMethodAppendix9"/>
    <p:sldId id="336" r:id="rIdMethodAppendix10"/>
    <p:sldId id="337" r:id="rIdMethodAppendix11"/>
    <p:sldId id="338" r:id="rIdMethodAppendix12"/>
    <p:sldId id="339" r:id="rIdMethodAppendix13"/>
    <p:sldId id="340" r:id="rIdPruningSlide"/>
    <p:sldId id="341" r:id="rIdIntegerSlide"/>
    <p:sldId id="316" r:id="rId62"/>
    <p:sldId id="317" r:id="rId63"/>
    <p:sldId id="318" r:id="rId64"/>
    <p:sldId id="319" r:id="rId65"/>
    <p:sldId id="320" r:id="rId66"/>
    <p:sldId id="321" r:id="rId67"/>
    <p:sldId id="322" r:id="rId68"/>
    <p:sldId id="323" r:id="rId69"/>
    <p:sldId id="324" r:id="rId7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F2E48-385E-47EB-916C-FFC25404269F}" v="122" dt="2026-09-20T09:04:02.9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49" d="100"/>
          <a:sy n="149" d="100"/>
        </p:scale>
        <p:origin x="138"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notesMaster" Target="notesMasters/notesMaster1.xml"/><Relationship Id="rIdSignFlipAppendix" Type="http://schemas.openxmlformats.org/officeDocument/2006/relationships/slide" Target="slides/slide70.xml"/><Relationship Id="rIdBootstrapAppendix" Type="http://schemas.openxmlformats.org/officeDocument/2006/relationships/slide" Target="slides/slide71.xml"/><Relationship Id="rIdMethodAppendix1" Type="http://schemas.openxmlformats.org/officeDocument/2006/relationships/slide" Target="slides/slide72.xml"/><Relationship Id="rIdMethodAppendix2" Type="http://schemas.openxmlformats.org/officeDocument/2006/relationships/slide" Target="slides/slide73.xml"/><Relationship Id="rIdMethodAppendix3" Type="http://schemas.openxmlformats.org/officeDocument/2006/relationships/slide" Target="slides/slide74.xml"/><Relationship Id="rIdMethodAppendix4" Type="http://schemas.openxmlformats.org/officeDocument/2006/relationships/slide" Target="slides/slide75.xml"/><Relationship Id="rIdMethodAppendix5" Type="http://schemas.openxmlformats.org/officeDocument/2006/relationships/slide" Target="slides/slide76.xml"/><Relationship Id="rIdMethodAppendix6" Type="http://schemas.openxmlformats.org/officeDocument/2006/relationships/slide" Target="slides/slide77.xml"/><Relationship Id="rIdMethodAppendix7" Type="http://schemas.openxmlformats.org/officeDocument/2006/relationships/slide" Target="slides/slide78.xml"/><Relationship Id="rIdMethodAppendix8" Type="http://schemas.openxmlformats.org/officeDocument/2006/relationships/slide" Target="slides/slide79.xml"/><Relationship Id="rIdMethodAppendix9" Type="http://schemas.openxmlformats.org/officeDocument/2006/relationships/slide" Target="slides/slide80.xml"/><Relationship Id="rIdMethodAppendix10" Type="http://schemas.openxmlformats.org/officeDocument/2006/relationships/slide" Target="slides/slide81.xml"/><Relationship Id="rIdMethodAppendix11" Type="http://schemas.openxmlformats.org/officeDocument/2006/relationships/slide" Target="slides/slide82.xml"/><Relationship Id="rIdMethodAppendix12" Type="http://schemas.openxmlformats.org/officeDocument/2006/relationships/slide" Target="slides/slide83.xml"/><Relationship Id="rIdMethodAppendix13" Type="http://schemas.openxmlformats.org/officeDocument/2006/relationships/slide" Target="slides/slide84.xml"/><Relationship Id="rIdPruningSlide" Type="http://schemas.openxmlformats.org/officeDocument/2006/relationships/slide" Target="slides/slide85.xml"/><Relationship Id="rIdIntegerSlide"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20 Sekunden. Die Arbeit verbindet zeitliche Repräsentation, Robustheitsprüfung und gemessene Embedded-Ausführung.</a:t>
            </a:r>
          </a:p>
          <a:p>
            <a:endParaRPr/>
          </a:p>
          <a:p>
            <a:r>
              <a:t>[Sources]</a:t>
            </a:r>
          </a:p>
          <a:p>
            <a:r>
              <a:t>Dissertation, Titelseite</a:t>
            </a:r>
          </a:p>
          <a:p>
            <a:r>
              <a:t>Quelle: main(1).pdf (Dissertation, bereitgestellte Fassung); Erzählfolge: Vortrag_Erzaehlfassung_30min_v3.pdf.</a:t>
            </a:r>
          </a:p>
          <a:p>
            <a:endParaRP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60 Sekunden. MG-Farm veranschaulicht den Ausgangspunkt in dezentralen Energiesystemen mit lokal verteilter Erzeugung und Batteriespeichern. Die Motivation reicht über dieses Projekt hinaus: Auch mobile Anwendungen und entfernte Einsatzorte benötigen Zustandsschätzung bei begrenztem Speicher, begrenzter Rechenleistung und eingeschränkter oder zeitweise fehlender Internetverbindung. Deshalb muss die Schätzung lokal auf der BMS-Hardware zuverlässig ausführbar sein. Nicht jede Anwendung ist dauerhaft offline; entscheidend ist die fehlende Abhängigkeit von einer verfügbaren Cloud-Verbindung. Daraus folgen die Forschungsfragen zu Repräsentation, Zuverlässigkeit und gemessenem Ressourcenbedarf.</a:t>
            </a:r>
          </a:p>
          <a:p>
            <a:endParaRPr/>
          </a:p>
          <a:p>
            <a:r>
              <a:t>[Sources]</a:t>
            </a:r>
          </a:p>
          <a:p>
            <a:r>
              <a:t>Dissertation, Kap. 1; Kap. 2; Nutzerbeschreibung zu MG-Farm, dezentralen und mobilen Anwendungen; bereitgestellte MG-Farm-Abbildung</a:t>
            </a:r>
          </a:p>
          <a:p>
            <a:r>
              <a:t>Quelle: main(1).pdf (Dissertation, bereitgestellte Fassung); Erzählfolge: Vortrag_Erzaehlfassung_30min_v3.pdf.</a:t>
            </a:r>
          </a:p>
          <a:p>
            <a:r>
              <a:t>a4f43739-9787-4fe3-a418-a8ae64ccc95a.png – bereitgestellte Originalabbildung</a:t>
            </a:r>
          </a:p>
          <a:p>
            <a:r>
              <a:t>[/Sources]</a:t>
            </a:r>
          </a:p>
          <a:p>
            <a:endParaRPr/>
          </a:p>
          <a:p>
            <a:r>
              <a:t>Quellenverweise dieser Präsentation (eigene Nummerierung):</a:t>
            </a:r>
          </a:p>
          <a:p>
            <a:r>
              <a:t>Bild: MG-FARM-Projektbericht, Zuordnung durch Florian Rzepka. Genaue Berichtsnummer/Jahresangabe nicht vorhanden. Motivation und Anwendungskontext: eigene Dissertation [11], Vorwort und Kap. 1/4.</a:t>
            </a:r>
          </a:p>
          <a:p>
            <a:endParaRPr/>
          </a:p>
          <a:p>
            <a:r>
              <a:t>[1] MG-FARM-Konsortium. Projektbericht: Projektübersicht (Abbildung). Bildquelle laut Verfasser; genaue Berichtsangabe nicht vorliegend. </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65 Sekunden. Die drei Forschungsfragen sind eigenständig formuliert und entsprechen den Fragen aus Abschnitt 1.1 der Dissertation. Frage 1: kompakte SOH-Modelle mit Feature Engineering (Kapitel 5). Frage 2: Benchmark der Estimatorklassen unter realistischen Betriebs- und Messbedingungen (Kapitel 6). Frage 3: Transfer und Optimierung auf Embedded-Hardware, einschließlich Pruning und Quantization (Kapitel 7). Die rechte Strukturnavigation dient der mündlichen Zuordnung der Fragen zu den Beiträgen.</a:t>
            </a:r>
          </a:p>
          <a:p>
            <a:endParaRPr/>
          </a:p>
          <a:p>
            <a:r>
              <a:t>[Sources]</a:t>
            </a:r>
          </a:p>
          <a:p>
            <a:r>
              <a:t>Dissertation, Abschn. 1.1–1.2; Abb. 2.1. Forschungsfragen und Ziele gemäß abgestimmter deutscher Formulierung des Autors.</a:t>
            </a:r>
          </a:p>
          <a:p>
            <a:r>
              <a:t>Quelle: bereitgestellte Dissertation main(1).pdf.</a:t>
            </a:r>
          </a:p>
          <a:p>
            <a:r>
              <a:t>[/Sources]</a:t>
            </a:r>
          </a:p>
          <a:p>
            <a:endParaRPr/>
          </a:p>
          <a:p>
            <a:r>
              <a:t>Quellenverweise dieser Präsentation (eigene Nummerierung):</a:t>
            </a:r>
          </a:p>
          <a:p>
            <a:r>
              <a:t>Eigene Forschungsfragen aus [11], Kap. 1, 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SPRECHTEXT ZUR ÜBERSICHT – ca.60 Sekunden</a:t>
            </a:r>
          </a:p>
          <a:p>
            <a:r>
              <a:t>Die Literatur liefert die Grundlage für meine drei Themen: neuronale SOH-Schätzung, Robustheit bei Messfehlern und Ausführung auf begrenzter Hardware.</a:t>
            </a:r>
          </a:p>
          <a:p>
            <a:r>
              <a:t>Zeitliche Informationen lassen sich bereits über die Eingaben oder die Netzarchitektur berücksichtigen. Ich untersuche gezielt, wie Input Features und Lag Sequences unter unterschiedlichen Belastungs- und Alterungsbedingungen ausgelegt werden müssen.</a:t>
            </a:r>
          </a:p>
          <a:p>
            <a:r>
              <a:t>Messfehler und Störungen der Datenübertragung sind bekannte Herausforderungen. Mein Benchmark vergleicht unterschiedliche Schätzprinzipien unter denselben Störungen. Dadurch werden auch lokale Fehlerreaktionen und Recovery vergleichbar.</a:t>
            </a:r>
          </a:p>
          <a:p>
            <a:r>
              <a:t>Neuronale Schätzer auf Mikrocontrollern und Modellkompression sind bereits möglich. Ich untersuche Pruning und Quantization für SOC und SOH auf derselben Hardware und bewerte die tatsächlich erreichten Vorteile gemeinsam mit der Accuracy.</a:t>
            </a:r>
          </a:p>
          <a:p>
            <a:r>
              <a:t>ZUORDNUNG DER ALLGEMEINEN AUSSAGEN</a:t>
            </a:r>
          </a:p>
          <a:p>
            <a:r>
              <a:t>[2], [3], [4]: Neuronale Verfahren für SOH und Alterung. [3], [4]: Zeitinformation über historische Inputs beziehungsweise rekurrente Architektur. Die Aussage setzt keinen neuen Modelltyp und keine pauschal überlegene Modellgröße voraus.</a:t>
            </a:r>
          </a:p>
          <a:p>
            <a:r>
              <a:t>[5], [6]: Auswirkungen von Mess- und Modellfehlern sowie systematische Störtests. [7]: Physische Fehler in der Mess- und Übertragungskette. Elektromagnetische Störungen sind ein konkretes Beispiel in dieser Quelle; die Folie nennt die allgemein relevante Wirkung.</a:t>
            </a:r>
          </a:p>
          <a:p>
            <a:r>
              <a:t>[8], [9]: Tatsächliche MCU-Ausführung neuronaler Schätzer. [9], [10]: Quantization beziehungsweise Pruning zur Modellkompression. Geringerer Speicherbedarf bedeutet keine automatisch kürzere Laufzeit. Details und Grenzen jeder einzelnen Arbeit folgen hier als Hintergrund für Rückfragen.</a:t>
            </a:r>
          </a:p>
          <a:p>
            <a:r>
              <a:t>MODELLIERUNG – EINZELNE VORARBEITEN</a:t>
            </a:r>
          </a:p>
          <a:p>
            <a:endParaRPr/>
          </a:p>
          <a:p>
            <a:r>
              <a:t>[2] Kim et al. (2018): MLP zur SOH-Klassifikation</a:t>
            </a:r>
          </a:p>
          <a:p>
            <a:endParaRPr/>
          </a:p>
          <a:p>
            <a:r>
              <a:t>Was wurde gemacht?</a:t>
            </a:r>
          </a:p>
          <a:p>
            <a:r>
              <a:t>MLP-basierte Klassifikation des Batteriezustands für EV-Anwendungen. Die Autoren verwenden Daten aus ausgewählten diskreten Lebensphasen und prüfen auch Lebensphasen, die beim Training nicht vertreten waren. Praktische Fahrbedingungen sind Teil der Motivation.</a:t>
            </a:r>
          </a:p>
          <a:p>
            <a:endParaRPr/>
          </a:p>
          <a:p>
            <a:r>
              <a:t>Warum steht das hier?</a:t>
            </a:r>
          </a:p>
          <a:p>
            <a:r>
              <a:t>Die Arbeit belegt die grundsätzliche Eignung eines MLP für die SOH-Aufgabe. Zugleich zeigt sie, dass die im Training abgedeckten Alterungszustände für die Anwendung relevant sind.</a:t>
            </a:r>
          </a:p>
          <a:p>
            <a:endParaRPr/>
          </a:p>
          <a:p>
            <a:r>
              <a:t>Wo setzt diese Dissertation an?</a:t>
            </a:r>
          </a:p>
          <a:p>
            <a:r>
              <a:t>Kontinuierliche SOH-Schätzung aus Betriebsdaten, mit expliziter Darstellung der Belastungs- und Zeithistorie. Kumulierte Lade-/Entladegrößen und Lag Sequences bilden die Eingaben. Zeitauflösung und Sequenzlänge werden für verschiedene stationäre Alterungsverläufe systematisch untersucht. Die konkrete Eingabegestaltung und ihre experimentelle Auslegung stehen im Mittelpunkt.</a:t>
            </a:r>
          </a:p>
          <a:p>
            <a:endParaRPr/>
          </a:p>
          <a:p>
            <a:r>
              <a:t>Sprechsatz zum Punkt:</a:t>
            </a:r>
          </a:p>
          <a:p>
            <a:r>
              <a:t>„Kim belegt bereits die Eignung des MLP. Mein Beitrag untersucht, welche zeitlichen Eingaben ein solches Modell für unterschiedliche stationäre Alterungsverläufe benötigt.“</a:t>
            </a:r>
          </a:p>
          <a:p>
            <a:endParaRPr/>
          </a:p>
          <a:p>
            <a:r>
              <a:t>Quelle: Estimation of Li-ion Battery State of Health Based on Multilayer Perceptron: As an EV Application. DOI 10.1016/j.ifacol.2018.11.734.</a:t>
            </a:r>
          </a:p>
          <a:p>
            <a:r>
              <a:t>https://www.sciencedirect.com/science/article/pii/S2405896318334542</a:t>
            </a:r>
          </a:p>
          <a:p>
            <a:endParaRPr/>
          </a:p>
          <a:p>
            <a:r>
              <a:t>[3] Chaoui et al. (2017): Input Time-Delay für SOC und SOH</a:t>
            </a:r>
          </a:p>
          <a:p>
            <a:endParaRPr/>
          </a:p>
          <a:p>
            <a:r>
              <a:t>Was wurde gemacht?</a:t>
            </a:r>
          </a:p>
          <a:p>
            <a:r>
              <a:t>Ein Input-Time-Delay-Netz verarbeitet vergangene Spannungs- und Stromwerte sowie Temperaturinformationen zur SOC-/SOH-Schätzung. Die Untersuchung beschreibt eine LFP-Batterie in einem vorgegebenen kalendarischen Alterungsprozess und Temperaturvariation.</a:t>
            </a:r>
          </a:p>
          <a:p>
            <a:endParaRPr/>
          </a:p>
          <a:p>
            <a:r>
              <a:t>Warum steht das hier?</a:t>
            </a:r>
          </a:p>
          <a:p>
            <a:r>
              <a:t>Die Arbeit ist eine methodische Vorarbeit zur Nutzung zurückliegender Messwerte. Sie macht deutlich, dass Zeitinformation über die Eingaben in den Schätzer gelangen kann.</a:t>
            </a:r>
          </a:p>
          <a:p>
            <a:endParaRPr/>
          </a:p>
          <a:p>
            <a:r>
              <a:t>Wo setzt diese Dissertation an?</a:t>
            </a:r>
          </a:p>
          <a:p>
            <a:r>
              <a:t>Verbindung der jüngeren Betriebshistorie mit getrennt kumuliertem Lade- und Entladedurchsatz. Systematische Variation von Zeitauflösung und Lag-Sequence Length unter unterschiedlichen Belastungs- und Alterungsbedingungen. Daraus entsteht eine konkrete Aussage zur Auslegung der zeitlichen Repräsentation für die untersuchten stationären Betriebsfenster.</a:t>
            </a:r>
          </a:p>
          <a:p>
            <a:endParaRPr/>
          </a:p>
          <a:p>
            <a:r>
              <a:t>Sprechsatz zum Punkt:</a:t>
            </a:r>
          </a:p>
          <a:p>
            <a:r>
              <a:t>„Die Verwendung früherer Messwerte ist bekannt. Ich verbinde sie mit längerfristiger Durchsatzinformation und untersuche gezielt, welche zeitliche Darstellung die verschiedenen Alterungsverläufe erfasst.“</a:t>
            </a:r>
          </a:p>
          <a:p>
            <a:endParaRPr/>
          </a:p>
          <a:p>
            <a:r>
              <a:t>Quelle: Aging Prediction and State of Charge Estimation of a LiFePO4 Battery Using Input Time-Delayed Neural Networks. DOI 10.1016/j.epsr.2017.01.032.</a:t>
            </a:r>
          </a:p>
          <a:p>
            <a:r>
              <a:t>https://www.sciencedirect.com/science/article/pii/S037877961730041X</a:t>
            </a:r>
          </a:p>
          <a:p>
            <a:endParaRPr/>
          </a:p>
          <a:p>
            <a:r>
              <a:t>[4] W. Li et al. (2021): Deep BiLSTM aus partiellen Ladesequenzen</a:t>
            </a:r>
          </a:p>
          <a:p>
            <a:endParaRPr/>
          </a:p>
          <a:p>
            <a:r>
              <a:t>Was wurde gemacht?</a:t>
            </a:r>
          </a:p>
          <a:p>
            <a:r>
              <a:t>Kapazitätsschätzung aus Spannungs-Zeit-Verläufen partieller Constant-Current-Ladung, mit vier bidirektionalen LSTM-Layern und zwei Dense Layers. Der NMC-Datensatz verwendet ein festgelegtes Alterungsprofil und eine konstante Temperatur. Weitere Profile und Temperaturen werden ausdrücklich als Erweiterung genannt. Tests mit ungesehenen Zellen, verrauschten beziehungsweise unvollständigen Inputs und einem Jetson Nano sind bereits enthalten.</a:t>
            </a:r>
          </a:p>
          <a:p>
            <a:endParaRPr/>
          </a:p>
          <a:p>
            <a:r>
              <a:t>Warum steht das hier?</a:t>
            </a:r>
          </a:p>
          <a:p>
            <a:r>
              <a:t>Das ist ein konkretes Beispiel für eine leistungsfähige tiefe Architektur, die zeitliche Merkmale aus Ladekurven lernt. Die festgelegten Alterungsbedingungen bilden einen nachvollziehbaren Ansatzpunkt für die Erweiterung der Datenabdeckung.</a:t>
            </a:r>
          </a:p>
          <a:p>
            <a:endParaRPr/>
          </a:p>
          <a:p>
            <a:r>
              <a:t>Wo setzt diese Dissertation an?</a:t>
            </a:r>
          </a:p>
          <a:p>
            <a:r>
              <a:t>Gezielte Konstruktion zeitlicher Eingaben für ein Feedforward-Modell. Die Kombination aus Durchsatz-Features und Lag Sequences sowie die Analyse von Zeitauflösung und Historienlänge erfolgt unter verschiedenen Belastungs- und Alterungsbedingungen.</a:t>
            </a:r>
          </a:p>
          <a:p>
            <a:endParaRPr/>
          </a:p>
          <a:p>
            <a:r>
              <a:t>Sprechsatz zum Punkt:</a:t>
            </a:r>
          </a:p>
          <a:p>
            <a:r>
              <a:t>„Hier stehen gelernte Sequenzmerkmale im Vordergrund. Ich untersuche die gezielte Gestaltung der Eingaben und ihre zeitliche Auslegung bei unterschiedlichen Alterungsverläufen.“</a:t>
            </a:r>
          </a:p>
          <a:p>
            <a:endParaRPr/>
          </a:p>
          <a:p>
            <a:r>
              <a:t>Quelle: Online Capacity Estimation of Lithium-ion Batteries with Deep Long Short-term Memory Networks. DOI 10.1016/j.jpowsour.2020.228863.</a:t>
            </a:r>
          </a:p>
          <a:p>
            <a:r>
              <a:t>https://d-nb.info/1225939291/34</a:t>
            </a:r>
          </a:p>
          <a:p>
            <a:r>
              <a:t>Belegstellen: §2.1 Alterungsprofil und Temperatur, §3.3 Architektur, §3.4 und §4 Ausführung und Tests.</a:t>
            </a:r>
          </a:p>
          <a:p>
            <a:endParaRPr/>
          </a:p>
          <a:p>
            <a:r>
              <a:t>EIGENER MODELLIERUNGSBEITRAG – DATENGRUNDLAGE UND ERKENNTNIS</a:t>
            </a:r>
          </a:p>
          <a:p>
            <a:endParaRPr/>
          </a:p>
          <a:p>
            <a:r>
              <a:t>Der Ausdruck „unterschiedliche Belastungs- und Alterungsbedingungen“ bezeichnet konkret die Variation von Temperatur, C-Rate, mittlerem SOC und Entladetiefe. Die Daten decken verschiedene stationäre Betriebsfenster und daraus entstehende Alterungsverläufe ab. Es handelt sich um kontrollierte Laboralterung mit CC-CV-Ladung und CC-Entladung; SOH-Referenzen stammen aus periodischen Kapazitätstests. Die Datenbasis erlaubt eine Untersuchung der zeitlichen Repräsentation jenseits eines einzelnen festgelegten Alterungsprofils.</a:t>
            </a:r>
          </a:p>
          <a:p>
            <a:endParaRPr/>
          </a:p>
          <a:p>
            <a:r>
              <a:t>Kumulierter Lade- und Entladedurchsatz repräsentiert längerfristige Belastung. Lag Sequences bilden die jüngere Betriebshistorie ab. Ihre Auslegung bestimmt, welchen Ausschnitt des dynamischen Betriebs das ansonsten gedächtnislose MLP sieht. Die systematische Variation von Zeitauflösung und Historienlänge liefert dazu die experimentelle Grundlage. Vollständig zurückgehaltene Zellen dienen der Prüfung der Übertragbarkeit.</a:t>
            </a:r>
          </a:p>
          <a:p>
            <a:endParaRPr/>
          </a:p>
          <a:p>
            <a:r>
              <a:t>Wissenschaftliche Abgrenzung: Bekannte Netzbausteine werden für eine konkrete zusätzliche Auslegungsfrage untersucht. Die Stärke liegt in der Verbindung von Feature Engineering, zeitlicher Repräsentation und der Abdeckung unterschiedlicher Alterungsbedingungen. Die Studie belegt keine generell geringere Parameterzahl als die Vorarbeiten. „Mehr Daten als alle anderen“ ist ebenfalls kein belegter Vergleich; hier zählt die Vielfalt der untersuchten Bedingungen.</a:t>
            </a:r>
          </a:p>
          <a:p>
            <a:endParaRPr/>
          </a:p>
          <a:p>
            <a:r>
              <a:t>ROBUSTHEIT – EINZELNE VORARBEITEN</a:t>
            </a:r>
          </a:p>
          <a:p>
            <a:endParaRPr/>
          </a:p>
          <a:p>
            <a:r>
              <a:t>[5] X. Li et al. (2015): Observer-Vergleich bei Mess- und Modellfehlern</a:t>
            </a:r>
          </a:p>
          <a:p>
            <a:endParaRPr/>
          </a:p>
          <a:p>
            <a:r>
              <a:t>Was wurde gemacht?</a:t>
            </a:r>
          </a:p>
          <a:p>
            <a:r>
              <a:t>Vergleich von EKF, PI-Observer und H∞-Observer mit einem 1-RC-Batteriemodell. Betrachtet werden alterungsbedingte Modellparameteränderungen, Spannungsmessfehler und die Konvergenz nach einem initialen SOC-Fehler. Eine physische Zelle wird im neuen und gealterten Zustand untersucht; BMS-Spannungsmessrauschen wird gegenüber einem Präzisionsmultimeter charakterisiert.</a:t>
            </a:r>
          </a:p>
          <a:p>
            <a:endParaRPr/>
          </a:p>
          <a:p>
            <a:r>
              <a:t>Warum steht das hier?</a:t>
            </a:r>
          </a:p>
          <a:p>
            <a:r>
              <a:t>Die Arbeit zeigt, dass Fehler in Messung und Modellierung für die Zuverlässigkeit von SOC-Schätzern relevant sind. Sie liefert einen konkreten Vergleich innerhalb modellbasierter Observer.</a:t>
            </a:r>
          </a:p>
          <a:p>
            <a:endParaRPr/>
          </a:p>
          <a:p>
            <a:r>
              <a:t>Wo setzt diese Dissertation an?</a:t>
            </a:r>
          </a:p>
          <a:p>
            <a:r>
              <a:t>Ausweitung auf unterschiedliche Schätzprinzipien: reine Stromintegration, SOH-adaptive Integration, ECM-Observer mit SOH-Unterstützung und neuronale Schätzung. Alle erhalten dieselben Betriebsdaten und kontrollierten Störungen. Damit lässt sich die Wirkung der jeweiligen Integrations-, Korrektur- und Lernmechanismen vergleichen.</a:t>
            </a:r>
          </a:p>
          <a:p>
            <a:endParaRPr/>
          </a:p>
          <a:p>
            <a:r>
              <a:t>Sprechsatz zum Punkt:</a:t>
            </a:r>
          </a:p>
          <a:p>
            <a:r>
              <a:t>„Li vergleicht die Robustheit mehrerer Observer. Ich erweitere diese Perspektive auf unterschiedliche Schätzprinzipien einschließlich neuronaler und hybrider Verfahren.“</a:t>
            </a:r>
          </a:p>
          <a:p>
            <a:endParaRPr/>
          </a:p>
          <a:p>
            <a:r>
              <a:t>Quelle: Robustness of SOC Estimation Algorithms for EV Lithium-Ion Batteries against Modeling Errors and Measurement Noise. DOI 10.1155/2015/719490.</a:t>
            </a:r>
          </a:p>
          <a:p>
            <a:r>
              <a:t>https://onlinelibrary.wiley.com/doi/10.1155/2015/719490</a:t>
            </a:r>
          </a:p>
          <a:p>
            <a:endParaRPr/>
          </a:p>
          <a:p>
            <a:r>
              <a:t>[6] Berger et al. (2024): Systematische BMS-Validierung mit EKF-/UKF-Varianten</a:t>
            </a:r>
          </a:p>
          <a:p>
            <a:endParaRPr/>
          </a:p>
          <a:p>
            <a:r>
              <a:t>Was wurde gemacht?</a:t>
            </a:r>
          </a:p>
          <a:p>
            <a:r>
              <a:t>Aus Expertenanforderungen abgeleiteter Rahmen für Model-in-the-Loop-Tests. Ein virtuelles Batteriereferenzmodell liefert kontrollierbare Eingangssignale. Die demonstrierten SOC-Schätzer sind EKF mit einem beziehungsweise zwei RC-Gliedern und UKF mit zwei RC-Gliedern. Die Tests variieren Zellchemie, Temperatur, Lastprofile sowie Sensor- und Modellparameterfehler. Die Bewertung umfasst RMSE und maximalen Fehler.</a:t>
            </a:r>
          </a:p>
          <a:p>
            <a:endParaRPr/>
          </a:p>
          <a:p>
            <a:r>
              <a:t>Was bedeutet hier Simulation?</a:t>
            </a:r>
          </a:p>
          <a:p>
            <a:r>
              <a:t>Referenzverhalten und Eingangssignale entstehen aus einem parametrierten Batteriemodell. Dadurch lassen sich Bedingungen und Fehler reproduzierbar verändern. Das ist eine umfangreiche Validierung, deren gezeigter Algorithmenvergleich sich auf Kalman-Varianten konzentriert.</a:t>
            </a:r>
          </a:p>
          <a:p>
            <a:endParaRPr/>
          </a:p>
          <a:p>
            <a:r>
              <a:t>Wo setzt diese Dissertation an?</a:t>
            </a:r>
          </a:p>
          <a:p>
            <a:r>
              <a:t>Ein gemeinsames Protokoll für verschiedene Schätzprinzipien auf gemessenen LFP-Alterungsverläufen. Abgeleitete Features werden kausal aus gestörten Messwerten neu berechnet. Gepaarte Vergleiche zur ungestörten Baseline sowie lokale Fehler- und Recovery-Metriken machen die Reaktionen der verschiedenen Implementierungen vergleichbar.</a:t>
            </a:r>
          </a:p>
          <a:p>
            <a:endParaRPr/>
          </a:p>
          <a:p>
            <a:r>
              <a:t>Sprechsatz zum Punkt:</a:t>
            </a:r>
          </a:p>
          <a:p>
            <a:r>
              <a:t>„Berger zeigt, wie systematische BMS-Tests aufgebaut werden können. Ich nutze die Vergleichsperspektive für unterschiedliche Schätzprinzipien auf gemessenen Alterungsverläufen und untersuche ihre lokalen Reaktionen unter denselben Störungen.“</a:t>
            </a:r>
          </a:p>
          <a:p>
            <a:endParaRPr/>
          </a:p>
          <a:p>
            <a:r>
              <a:t>Quelle: Benchmarking Battery Management System Algorithms – Requirements, Scenarios and Validation for Automotive Applications. DOI 10.1016/j.etran.2024.100355.</a:t>
            </a:r>
          </a:p>
          <a:p>
            <a:r>
              <a:t>https://www.sciencedirect.com/science/article/pii/S2590116824000456</a:t>
            </a:r>
          </a:p>
          <a:p>
            <a:r>
              <a:t>Primärvolltext, von einem Koautor bereitgestellt:</a:t>
            </a:r>
          </a:p>
          <a:p>
            <a:r>
              <a:t>https://www.researchgate.net/publication/383029864_Benchmarking_Battery_Management_System_Algorithms_-_Requirements_Scenarios_and_Validation_for_Automotive_Applications</a:t>
            </a:r>
          </a:p>
          <a:p>
            <a:endParaRPr/>
          </a:p>
          <a:p>
            <a:r>
              <a:t>[7] Aiello (2020): EMI-bedingte Mess- und Kommunikationsfehler</a:t>
            </a:r>
          </a:p>
          <a:p>
            <a:endParaRPr/>
          </a:p>
          <a:p>
            <a:r>
              <a:t>Was wurde gemacht?</a:t>
            </a:r>
          </a:p>
          <a:p>
            <a:r>
              <a:t>Physische elektromagnetische Störtests an einem BMS-Front-End-IC. Leitungsgebundene Direct Power Injection und abgestrahlte Störungen verursachen unter anderem Spannungsmess-Offsets, fehlerhafte ADC-Werte und SPI-Kommunikationsfehler. Der Einfluss von Filtern wird untersucht.</a:t>
            </a:r>
          </a:p>
          <a:p>
            <a:endParaRPr/>
          </a:p>
          <a:p>
            <a:r>
              <a:t>Warum steht das hier?</a:t>
            </a:r>
          </a:p>
          <a:p>
            <a:r>
              <a:t>Die Quelle belegt die praktische Herkunft fehlerhafter Messwerte und gestörter Kommunikation. Sie untersucht die Messkette selbst, nicht den Vergleich von SOC-Schätzern.</a:t>
            </a:r>
          </a:p>
          <a:p>
            <a:endParaRPr/>
          </a:p>
          <a:p>
            <a:r>
              <a:t>Wo setzt diese Dissertation an?</a:t>
            </a:r>
          </a:p>
          <a:p>
            <a:r>
              <a:t>Untersuchung der Folgen fehlerhafter oder fehlender Inputs für verschiedene SOC-Schätzer. Reproduzierbare Fault Injection in gemessene Betriebsdaten ermöglicht dabei den kontrollierten Modellvergleich. Die eigenen Versuche sind keine physischen EMI-Tests.</a:t>
            </a:r>
          </a:p>
          <a:p>
            <a:endParaRPr/>
          </a:p>
          <a:p>
            <a:r>
              <a:t>Sprechsatz zum Punkt:</a:t>
            </a:r>
          </a:p>
          <a:p>
            <a:r>
              <a:t>„Aiello belegt die Störanfälligkeit der realen Messkette. Mein Benchmark untersucht, wie sich unterschiedliche Schätzer bei solchen fehlerhaften oder fehlenden Eingangsdaten verhalten.“</a:t>
            </a:r>
          </a:p>
          <a:p>
            <a:endParaRPr/>
          </a:p>
          <a:p>
            <a:r>
              <a:t>Quelle: Electromagnetic Susceptibility of Battery Management Systems’ ICs for Electric Vehicles: Experimental Study. DOI 10.3390/electronics9030510.</a:t>
            </a:r>
          </a:p>
          <a:p>
            <a:r>
              <a:t>https://www.mdpi.com/2079-9292/9/3/510</a:t>
            </a:r>
          </a:p>
          <a:p>
            <a:endParaRPr/>
          </a:p>
          <a:p>
            <a:r>
              <a:t>EIGENER ROBUSTHEITSBEITRAG – FAMILIENÜBERGREIFENDER VERGLEICH</a:t>
            </a:r>
          </a:p>
          <a:p>
            <a:endParaRPr/>
          </a:p>
          <a:p>
            <a:r>
              <a:t>„Familienübergreifend“ bedeutet hier: Direct Measurement, model-based und data-driven Grundprinzipien sowie hybride Kombinationen. Die vier konkreten Repräsentanten sind DM, HDM, HECM und DD. DM nutzt Coulomb Counting mit fester Kapazität; HDM passt diese Kapazität durch neuronale SOH-Schätzung an; HECM kombiniert ECM-/Kalman-Korrektur mit SOH-Unterstützung; DD nutzt einen GRU-Schätzer. Hybride Modelle verbinden Prinzipien, daher sind dies nicht vier vollständig getrennte Grundfamilien.</a:t>
            </a:r>
          </a:p>
          <a:p>
            <a:endParaRPr/>
          </a:p>
          <a:p>
            <a:r>
              <a:t>Die gemeinsame Vergleichsbasis umfasst gemessene Alterungstrajektorien aus unabhängigen Testzellen, identische Störungen und dieselben Auswertungsintervalle. Kumulative Größen, Ableitungen und SOH-Features entstehen erneut aus dem gestörten Datenstrom. Dadurch erhalten die neuronalen Verfahren keine künstlich sauberen Hilfsinformationen. Lokale Fehlerreaktion und dauerhafte Recovery ergänzen die nominale Genauigkeit und den gemittelten Fehler. Der zusätzliche Hardwarezweig untersucht den Ausführungsaufwand und die Zustandsverwaltung.</a:t>
            </a:r>
          </a:p>
          <a:p>
            <a:endParaRPr/>
          </a:p>
          <a:p>
            <a:r>
              <a:t>Genau diese Verbindung ist der methodische Beitrag: unterschiedliche Schätzprinzipien unter einem gemeinsamen kausalen Protokoll, mit nachvollziehbarer Wirkung auf globale Fehler, lokale Reaktion und Erholung. Die zitierten Vorarbeiten begründen den Bedarf und zeigen Teilaspekte. Eine weltweite Erstmaligkeitsbehauptung ist für die Aussage der Folie nicht nötig.</a:t>
            </a:r>
          </a:p>
          <a:p>
            <a:endParaRPr/>
          </a:p>
          <a:p>
            <a:r>
              <a:t>EMBEDDED-OPTIMIERUNG – EINZELNE VORARBEITEN</a:t>
            </a:r>
          </a:p>
          <a:p>
            <a:endParaRPr/>
          </a:p>
          <a:p>
            <a:r>
              <a:t>[8] Crocioni et al. (2020): Kapazitätsbasierte SOH-Schätzung auf MCU</a:t>
            </a:r>
          </a:p>
          <a:p>
            <a:endParaRPr/>
          </a:p>
          <a:p>
            <a:r>
              <a:t>Was wurde gemacht?</a:t>
            </a:r>
          </a:p>
          <a:p>
            <a:r>
              <a:t>Kleine CNN-, LSTM- und GRU-Netze sowie Kombinationen daraus schätzen die maximal entnehmbare Kapazität. Grundlage sind NASA-Alterungsdaten. Die Modelle werden in C übertragen und auf einem STWIN-Board mit STM32L4 ausgeführt. Quantization und ihre damaligen Werkzeuggrenzen werden untersucht; rekurrente Anteile bleiben in Gleitkommaarithmetik. Die Arbeit berichtet Gerätevalidierung, Speicher und Inferenzaufwand. Pruning ist kein Untersuchungsgegenstand.</a:t>
            </a:r>
          </a:p>
          <a:p>
            <a:endParaRPr/>
          </a:p>
          <a:p>
            <a:r>
              <a:t>Warum steht das hier?</a:t>
            </a:r>
          </a:p>
          <a:p>
            <a:r>
              <a:t>Beleg für bereits realisierte neuronale Kapazitäts-/SOH-Schätzung auf ressourcenbegrenzten Mikrocontrollern und die Bedeutung des unterstützten Zahlenformats.</a:t>
            </a:r>
          </a:p>
          <a:p>
            <a:endParaRPr/>
          </a:p>
          <a:p>
            <a:r>
              <a:t>Wo setzt diese Dissertation an?</a:t>
            </a:r>
          </a:p>
          <a:p>
            <a:r>
              <a:t>Kontrollierter Vergleich zweier Kompressionswege für separate SOC- und SOH-LSTM-Schätzer. Base, strukturiert Pruned und separat Quantized werden auf derselben STM32-Plattform anhand von Accuracy, tatsächlichem Firmware-Flash, RAM und Laufzeit bewertet.</a:t>
            </a:r>
          </a:p>
          <a:p>
            <a:endParaRPr/>
          </a:p>
          <a:p>
            <a:r>
              <a:t>Sprechsatz zum Punkt:</a:t>
            </a:r>
          </a:p>
          <a:p>
            <a:r>
              <a:t>„Crocioni zeigt bereits neuronale SOH-Schätzung auf dem Mikrocontroller. Ich untersuche systematisch, wie sich verschiedene Kompressionswege für SOC und SOH auf Genauigkeit und Hardwarebedarf auswirken.“</a:t>
            </a:r>
          </a:p>
          <a:p>
            <a:endParaRPr/>
          </a:p>
          <a:p>
            <a:r>
              <a:t>Quelle: Li-Ion Batteries Parameter Estimation With Tiny Neural Networks Embedded on Intelligent IoT Microcontrollers. DOI 10.1109/ACCESS.2020.3007046.</a:t>
            </a:r>
          </a:p>
          <a:p>
            <a:r>
              <a:t>https://doi.org/10.1109/ACCESS.2020.3007046</a:t>
            </a:r>
          </a:p>
          <a:p>
            <a:endParaRPr/>
          </a:p>
          <a:p>
            <a:r>
              <a:t>[9] Giazitzis et al. (2024): Quantisierte SOC-Schätzung auf MCU</a:t>
            </a:r>
          </a:p>
          <a:p>
            <a:endParaRPr/>
          </a:p>
          <a:p>
            <a:r>
              <a:t>Was wurde gemacht?</a:t>
            </a:r>
          </a:p>
          <a:p>
            <a:r>
              <a:t>SOC-Schätzung mit einem kleinen Fully Connected Network und einem CNN aus Spannungs-, Strom- und Temperaturverläufen. Nach dem Training werden verschiedene 8-/16-Bit-Konfigurationen untersucht. Die Modelle laufen auf einem Infineon-PSoC-6-Mikrocontroller. Die Auswertung umfasst Schätzfehler, Rechenzyklen sowie Gewichts- und Arbeitsspeicher. Eine zurückgehaltene Zelle und ausgewählte Fahrprofile dienen dem Test. Pruning wird nicht untersucht.</a:t>
            </a:r>
          </a:p>
          <a:p>
            <a:endParaRPr/>
          </a:p>
          <a:p>
            <a:r>
              <a:t>Warum steht das hier?</a:t>
            </a:r>
          </a:p>
          <a:p>
            <a:r>
              <a:t>Konkrete Vorarbeit zur Verbindung von numerischer Präzision, Schätzgenauigkeit und Ressourcenbedarf bei SOC auf dem Zielgerät.</a:t>
            </a:r>
          </a:p>
          <a:p>
            <a:endParaRPr/>
          </a:p>
          <a:p>
            <a:r>
              <a:t>Wo setzt diese Dissertation an?</a:t>
            </a:r>
          </a:p>
          <a:p>
            <a:r>
              <a:t>Zustandsbehaftete LSTM-Schätzer im kontinuierlichen Betrieb für die beiden Aufgaben SOC und SOH. Dem Quantization-Zweig wird strukturiertes Pruning gegenübergestellt; alle Varianten durchlaufen den gemeinsamen Deployment- und Bewertungsablauf auf dem STM32.</a:t>
            </a:r>
          </a:p>
          <a:p>
            <a:endParaRPr/>
          </a:p>
          <a:p>
            <a:r>
              <a:t>Sprechsatz zum Punkt:</a:t>
            </a:r>
          </a:p>
          <a:p>
            <a:r>
              <a:t>„Giazitzis untersucht Quantization für SOC auf dem Zielgerät. Meine Untersuchung stellt ihr strukturiertes Pruning gegenüber und erweitert die gemeinsame Bewertung auf zustandsbehaftete SOC- und SOH-LSTM.“</a:t>
            </a:r>
          </a:p>
          <a:p>
            <a:endParaRPr/>
          </a:p>
          <a:p>
            <a:r>
              <a:t>Quelle: A Case Study of a Tiny Machine Learning Application for Battery State-of-Charge Estimation. DOI 10.3390/electronics13101964.</a:t>
            </a:r>
          </a:p>
          <a:p>
            <a:r>
              <a:t>https://www.mdpi.com/2079-9292/13/10/1964</a:t>
            </a:r>
          </a:p>
          <a:p>
            <a:endParaRPr/>
          </a:p>
          <a:p>
            <a:r>
              <a:t>[10] Park et al. (2023): Pruning für SOC-Netze</a:t>
            </a:r>
          </a:p>
          <a:p>
            <a:endParaRPr/>
          </a:p>
          <a:p>
            <a:r>
              <a:t>Was wurde gemacht?</a:t>
            </a:r>
          </a:p>
          <a:p>
            <a:r>
              <a:t>Magnitude-Pruning eines LSTM-/Dense-Netzes für SOC. Kleine Gewichte werden auf null gesetzt. Verglichen werden globales Pruning und eine optimierte Verteilung der Sparsität auf einzelne Layer. Die Bewertung umfasst MAE, RMSE, verbleibende Nichtnullparameter und komprimierte Modellgröße. Die Prüfung der tatsächlichen Leistung auf einem Embedded-BMS wird als zukünftige Arbeit genannt.</a:t>
            </a:r>
          </a:p>
          <a:p>
            <a:endParaRPr/>
          </a:p>
          <a:p>
            <a:r>
              <a:t>Warum steht das hier?</a:t>
            </a:r>
          </a:p>
          <a:p>
            <a:r>
              <a:t>Das ist die konkrete Pruning-Vorarbeit. Sie zeigt den Trade-off zwischen Sparsität und Schätzfehler und benennt zugleich den noch ausstehenden Hardwaretest.</a:t>
            </a:r>
          </a:p>
          <a:p>
            <a:endParaRPr/>
          </a:p>
          <a:p>
            <a:r>
              <a:t>Wo setzt diese Dissertation an?</a:t>
            </a:r>
          </a:p>
          <a:p>
            <a:r>
              <a:t>Entfernung ganzer rekurrenter Kanäle, ausführbare C-Modelle und Messung der tatsächlich erreichten Einsparungen auf dem STM32. SOC und SOH werden jeweils als Base, strukturiert Pruned und separat Quantized gegenübergestellt. Damit werden Modellkompression und gemessene Hardwarewirkung gemeinsam beurteilt.</a:t>
            </a:r>
          </a:p>
          <a:p>
            <a:endParaRPr/>
          </a:p>
          <a:p>
            <a:r>
              <a:t>Sprechsatz zum Punkt:</a:t>
            </a:r>
          </a:p>
          <a:p>
            <a:r>
              <a:t>„Park bewertet Pruning über Modellgröße und Accuracy. Ich führe den Vergleich bis auf die Zielhardware und messe, welche Speicher- und Laufzeitvorteile tatsächlich entstehen.“</a:t>
            </a:r>
          </a:p>
          <a:p>
            <a:endParaRPr/>
          </a:p>
          <a:p>
            <a:r>
              <a:t>Quelle: Journal of Korea Robotics Society 18(1), 88–92, 2023. DOI 10.7746/jkros.2023.18.1.088.</a:t>
            </a:r>
          </a:p>
          <a:p>
            <a:r>
              <a:t>https://jkros.org/_common/do.php?a=full&amp;aidx=35753&amp;b=&amp;bidx=3204</a:t>
            </a:r>
          </a:p>
          <a:p>
            <a:endParaRPr/>
          </a:p>
          <a:p>
            <a:r>
              <a:t>EIGENER EMBEDDED-BEITRAG – GEMEINSAME BEWERTUNG</a:t>
            </a:r>
          </a:p>
          <a:p>
            <a:endParaRPr/>
          </a:p>
          <a:p>
            <a:r>
              <a:t>Die Studie untersucht separate SOC- und SOH-Schätzer, jeweils als Base, Pruned und Quantized. Pruning und Quantization sind getrennte Wege, keine gemeinsam angewandte Kompression. Der kontinuierliche Betrieb mit fortgeführtem LSTM-Zustand und der gleiche geordnete Eingabestrom ermöglichen die gemeinsame Bewertung auf dem STM32H753.</a:t>
            </a:r>
          </a:p>
          <a:p>
            <a:endParaRPr/>
          </a:p>
          <a:p>
            <a:r>
              <a:t>Der Erkenntnisgewinn ist die Verbindung von Accuracy mit tatsächlichem Firmware-Flash, Laufzeit-RAM und gemessener Inferenzzeit. Weniger gespeicherte Gewichtsbits garantieren keine kürzere Laufzeit: Der konkrete Mixed-Precision-Kernel benötigt Dequantization. Kernelzeit und Host-Latenz beschreiben unterschiedliche Teile der Ausführung. Die SOH-Metriken enthalten die in der Dissertation beschriebene kausale Nachverarbeitung.</a:t>
            </a:r>
          </a:p>
          <a:p>
            <a:endParaRPr/>
          </a:p>
          <a:p>
            <a:r>
              <a:t>QUELLEN DER EIGENEN UNTERSUCHUNG</a:t>
            </a:r>
          </a:p>
          <a:p>
            <a:endParaRPr/>
          </a:p>
          <a:p>
            <a:r>
              <a:t>[11] Dissertation: Kap. 3.7 Stand der Forschung, Kap. 4 Datenbasis, Kap. 5 Feature Engineering und Zeitdarstellung, Kap. 6 familienübergreifender Robustheitsbenchmark, Kap. 7 Embedded-Optimierung.</a:t>
            </a:r>
          </a:p>
          <a:p>
            <a:r>
              <a:t>[12] Eigene Erststudie: DOI 10.3390/en16176103.</a:t>
            </a:r>
          </a:p>
          <a:p>
            <a:r>
              <a:t>[16] Eigener Robustheitsbenchmark: vollständige Angabe im Quellenverzeichnis der Präsentation.</a:t>
            </a:r>
          </a:p>
          <a:p>
            <a:r>
              <a:t>[20] Eigene Embedded-Studie: DOI 10.2139/ssrn.6298526.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NMC-Datensatz umfasst 14 INR18650-Zellen in sieben Szenarien mit zwei Zellen je Szenario. Variiert werden mittlerer SOC, Entladetiefe, Entlade-C-Rate und Temperatur. Wiederholte Kapazitätstests liefern die SOH-Referenz. Dieser Datensatz gehört zur MLP-/Feature-Engineering-Studie und ist vom späteren LFP-Datensatz getrennt.</a:t>
            </a:r>
          </a:p>
          <a:p>
            <a:endParaRPr/>
          </a:p>
          <a:p>
            <a:r>
              <a:t>Quelle: Florian Rzepka, bereitgestellte Dissertation main(1).pdf, Abschn. 4.1.1, Tab. 4.2, Abb. 4.1, S. 50–52.</a:t>
            </a:r>
          </a:p>
          <a:p>
            <a:endParaRPr/>
          </a:p>
          <a:p>
            <a:r>
              <a:t>Quellenverweise dieser Präsentation (eigene Nummerierung):</a:t>
            </a:r>
          </a:p>
          <a:p>
            <a:r>
              <a:t>NMC: eigene Daten und Abbildungen nach [11], §4.1.1, S. 50–52, Abb. 4.1; Erststudie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LFP-DoE-Datensatz umfasst 15 Zellen mit acht Betriebspunkten. Die Umgebungstemperatur bleibt bei 25 °C konstant. Systematisch variiert werden Lade-C-Rate (0,3–1,0 C), Entlade-C-Rate (0,5–3,0 C) und Entladetiefe (38–71 %). Gemessene Zelltemperatur ist weiterhin ein Eingangssignal. Der Datensatz bildet die Grundlage für den Robustheitsbenchmark und den Embedded-Kompressionsvergleich.</a:t>
            </a:r>
          </a:p>
          <a:p>
            <a:endParaRPr/>
          </a:p>
          <a:p>
            <a:r>
              <a:t>Quelle: Florian Rzepka, bereitgestellte Dissertation main(1).pdf, Abschn. 4.1.2, Abb. 4.2–4.4, S. 52–55.</a:t>
            </a:r>
          </a:p>
          <a:p>
            <a:endParaRPr/>
          </a:p>
          <a:p>
            <a:r>
              <a:t>Quellenverweise dieser Präsentation (eigene Nummerierung):</a:t>
            </a:r>
          </a:p>
          <a:p>
            <a:r>
              <a:t>LFP: eigener öffentlich verfügbarer Datensatz [13]; Aufbereitung und Darstellung nach [11], §4.1.2, S. 52–55, Abb. 4.4.</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[13] F. Rzepka (2025). Design of Experiments for Cyclic Aging of LFP 18650 Cells: Impact of Charge/Discharge C-Rates, Depth of Discharge, and Temperature on Battery Degradation. Datensatz, TU Berlin / DepositOnce, 13. November 2025. https://doi.org/10.14279/DEPOSITONCE-24800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50 Sekunden. Die Platinenabbildung zeigt die eigene BMS-Plattform. Markierung 1 bezeichnet den TLE9012DQU für Zellspannungs- und Temperaturmessung sowie passives Balancing. Die Strommessung erfolgt über einen zusätzlichen Messpfad. Markierung 2 bezeichnet den teilweise vom Display verdeckten STM32H755ZITx. Der Cortex-M4 übernimmt Messwerterfassung, Grenzwertüberwachung, Schutzansteuerung, Balancing-Koordination, Kommunikation und Systemmanagement; der Cortex-M7 führt die SOC- und SOH-Modelle aus. Der quantitative Hardwarebenchmark verwendet den STM32H753ZI auf einem Nucleo-144-Board. Beide Controller gehören zur STM32H7-Familie und besitzen einen Cortex-M7; die gezeigte H755-Platine und der H753ZI-Benchmark dürfen nicht gleichgesetzt werden. Der genaue Messumfang von Kernelzeit, Host-Latenz, Flash und Peak-RAM wird in der Benchmarkmethodik und im Anhang erläutert.</a:t>
            </a:r>
          </a:p>
          <a:p>
            <a:endParaRPr/>
          </a:p>
          <a:p>
            <a:r>
              <a:t>[Sources]</a:t>
            </a:r>
          </a:p>
          <a:p>
            <a:r>
              <a:t>Dissertation, Abb. 4.6; Abschn. 4.3.2–4.3.4 (TLE9012DQU, STM32H755 und Aufgabenteilung); Abschn. 6.2 und 7.6 (STM32H753ZI-Benchmark). Originalabbildung: 04_Abb_4-6_BMS_Platine.png.</a:t>
            </a:r>
          </a:p>
          <a:p>
            <a:r>
              <a:t>Quelle: bereitgestellte Dissertation main(1).pdf.</a:t>
            </a:r>
          </a:p>
          <a:p>
            <a:r>
              <a:t>[/Sources]</a:t>
            </a:r>
          </a:p>
          <a:p>
            <a:endParaRPr/>
          </a:p>
          <a:p>
            <a:r>
              <a:t>Quellenverweise dieser Präsentation (eigene Nummerierung):</a:t>
            </a:r>
          </a:p>
          <a:p>
            <a:r>
              <a:t>Eigene BMS-Platine: [11], §4.3, S. 59–63, Abb. 4.6/4.7. TLE9012DQU, STM32H755 und Aufgabenteilung gemäß eigener Plattformbeschreibung. [14] betrifft ausschließlich das getrennte STM32H753ZI-Benchmarkboard, nicht den Infineon-Chip.</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[14] STMicroelectronics. STM32 Nucleo-144 Boards. NUCLEO-H753ZI, Data Brief. Hardwarequelle aus der Dissertation. https://www.st.com/resource/en/data_brief/nucleo-h753zi.pdf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MLP erhält die Belastungshistorie über kumulative Strommerkmale und lokale Betriebsverläufe über Lag Sequences. Die Untersuchung betrifft explizites Feature Engineering. Sie belegt keine allgemeine Überlegenheit des MLP gegenüber rekurrenten Architekturen.</a:t>
            </a:r>
          </a:p>
          <a:p>
            <a:endParaRPr/>
          </a:p>
          <a:p>
            <a:r>
              <a:t>Quelle: Florian Rzepka, bereitgestellte Dissertation main(1).pdf, Abschn. 5.1–5.2.3, S. 65–71.</a:t>
            </a:r>
          </a:p>
          <a:p>
            <a:endParaRPr/>
          </a:p>
          <a:p>
            <a:r>
              <a:t>Quellenverweise dieser Präsentation (eigene Nummerierung):</a:t>
            </a:r>
          </a:p>
          <a:p>
            <a:r>
              <a:t>Eigene Methodik/Abbildungen: [11], Kap. 5, S. 68–74, insbesondere Abb. 5.2 und 5.4; Studie [12]. Anforderungsdiagramm aus [11], Abb. 2.1. Zeitverzögerte Inputs in Vorarbeiten: [3].</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endParaRPr/>
          </a:p>
          <a:p>
            <a:r>
              <a:t>Aktualisierter Kapiteleinstieg: Motivation, Methodik und Ziel</a:t>
            </a:r>
          </a:p>
          <a:p>
            <a:r>
              <a:t>Kapiteleinstieg: Zeitabhängige Alterung unter unterschiedlichen Belastungsbedingungen motiviert die systematische Analyse der Eingabedarstellung. Input Features, zeitliche Auflösung und Lag-Sequenzlänge bilden die Methodik. Ziel ist genaue SOH-Schätzung bei begrenzter Modellkomplexität. Die Untersuchung belegt keinen direkten Hardwareeffizienzvergleich mit rekurrenten Modellen. Zugehörige eigene Arbeit: F. Rzepka, P. Hematty, M. Schmitz und J. Kowal (2023), Neural Network Architecture for Determining the Aging of Stationary Storage Systems in Smart Grids. Energies16(17),6103. https://doi.org/10.3390/en16176103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 bezeichnet die Anzahl der Einträge, Δt ihren zeitlichen Abstand. Die Dissertation verwendet L · Δt als Zeitabdeckung. Das Ziel ist SOH am Ende des Fensters. Die Sequenz schätzt den aktuellen Zustand, sie prognostiziert keine zukünftige Alterung. Q steht in der schematischen Abbildung für kumulative Strommerkmale. In der Aufbereitung werden Lade- und Entladedurchsatz getrennt berücksichtigt.</a:t>
            </a:r>
          </a:p>
          <a:p>
            <a:endParaRPr/>
          </a:p>
          <a:p>
            <a:r>
              <a:t>Quelle: Florian Rzepka, bereitgestellte Dissertation main(1).pdf, Abschn. 5.2.1 und 5.2.3, Abb. 5.2, S. 67–71.</a:t>
            </a:r>
          </a:p>
          <a:p>
            <a:endParaRPr/>
          </a:p>
          <a:p>
            <a:r>
              <a:t>Quellenverweise dieser Präsentation (eigene Nummerierung):</a:t>
            </a:r>
          </a:p>
          <a:p>
            <a:r>
              <a:t>Eigene Methodik/Abbildungen: [11], Kap. 5, S. 68–74, insbesondere Abb. 5.2 und 5.4; Studie [12]. Anforderungsdiagramm aus [11], Abb. 2.1. Zeitverzögerte Inputs in Vorarbeiten: [3].</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Zehn NMC-Zellen liefern Training und Validierung, vier vollständige Zellen dienen als unabhängiger Test. 20 % der Entwicklungssequenzen sind für Validierung vorgesehen. Diese Validierung ist nicht als zellgetrennt beschrieben. Die Dissertation nennt die Skalierung der Eingänge auf [0, 1] und eine einheitliche Skalierung über die Teilmengen. Hyperband unterstützt die Hyperparameteroptimierung. MSE ist die Verlustfunktion, MAE und MSE bewerten die Testfehler. Bei Darstellung auf der SOH-Skala 0–100 % hat MAE die Einheit Prozentpunkte und MSE die Einheit quadrierte Prozentpunkte. N zählt ausgewertete Werte, k ist der Index.</a:t>
            </a:r>
          </a:p>
          <a:p>
            <a:endParaRPr/>
          </a:p>
          <a:p>
            <a:r>
              <a:t>Quelle: Florian Rzepka, bereitgestellte Dissertation main(1).pdf, Abschn. 5.2.4–5.2.5 und 5.4, Gl. 5.4–5.5, S. 71–76.</a:t>
            </a:r>
          </a:p>
          <a:p>
            <a:endParaRPr/>
          </a:p>
          <a:p>
            <a:r>
              <a:t>Quellenverweise dieser Präsentation (eigene Nummerierung):</a:t>
            </a:r>
          </a:p>
          <a:p>
            <a:r>
              <a:t>Datenaufteilung, Skalierung, MSE-Verlust und MAE/MSE-Auswertung: [11], §§5.2.4–5.2.7, S.71–76 und [12]. Hyperband als eingesetztes Optimierungsverfahren: [15]. Keine Gleichsetzung von Min-max-Inputskalierung mit Weight Normalization.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[15] L. Li et al. (2016). Hyperband: A Novel Bandit-Based Approach to Hyperparameter Optimization. arXiv-Preprint, Fassung gemäß Dissertation. https://arxiv.org/abs/1603.06560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Verglichen werden L = 8, 12, 16, 20 und Δt = 1, 10, 30, 60 min. Die Heatmap-Achse „Number of sequences“ bezeichnet hier die Lag-Sequence Length L, also die Anzahl zeitlicher Einträge pro Eingang. Bei festem L ändert Δt die Zeitabdeckung, nicht die Anzahl der Eingänge. Die Lade- und Entladeintervalle dauern im Datensatz typischerweise etwa 20 min bis 1 h. Die Studie wählt L = 16 und Δt = 10 min als günstige Konfiguration. Dies ist kein universelles Optimum und nicht das eindeutige Minimum jeder einzelnen Zelle. Die Farbbalken sind zellspezifisch. MAE ist in SOH-Prozentpunkten angegeben.</a:t>
            </a:r>
          </a:p>
          <a:p>
            <a:endParaRPr/>
          </a:p>
          <a:p>
            <a:r>
              <a:t>Quelle: Florian Rzepka, bereitgestellte Dissertation main(1).pdf, Abschn. 5.2.3 und 5.5, Abb. 5.5, S. 69–70 und 77–78.</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beiden günstigeren Zellen erreichen MAE von 0,487 und 0,253 Prozentpunkten. Cell 9 erreicht 2,528 Prozentpunkte und MSE = 8,327 pp². Entscheidend sind die Abweichungen zwischen Vorhersage und kapazitätsbasierter Referenz. Aus einer ungewöhnlichen Kurvenform allein folgt kein hoher Fehler. Die dargestellten Trajektorien sind zusätzlich geglättet. Über die ausgewerteten Fälle berichtet die Dissertation einen mittleren MAE von 1,10 pp und MSE von 2,95 pp². Die beobachtete Übertragbarkeit bleibt an die repräsentierten Betriebs- und Alterungsmuster gebunden.</a:t>
            </a:r>
          </a:p>
          <a:p>
            <a:endParaRPr/>
          </a:p>
          <a:p>
            <a:r>
              <a:t>Quelle: Florian Rzepka, bereitgestellte Dissertation main(1).pdf, Abschn. 5.5–5.6, Abb. 5.6–5.7, S. 78–81.</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Vier festgelegte Repräsentanten werden unter identischen kausalen Daten- und Bewertungsbedingungen verglichen. Genauigkeit bezieht sich auf Dataset-SOC, Robustheit auf die gepaarte Änderung unter einer Störung und Recovery auf die Abweichung vom korrekt initialisierten Lauf desselben Modells. Die Untersuchung beansprucht keine universelle Rangfolge aller Vertreter einer Klasse. Die Hardwareauswertung ergänzt den Vergleich durch numerische Äquivalenz, Speicher und Laufzeit.</a:t>
            </a:r>
          </a:p>
          <a:p>
            <a:endParaRPr/>
          </a:p>
          <a:p>
            <a:r>
              <a:t>Quelle: Florian Rzepka, bereitgestellte Dissertation main(1).pdf, Abschn. 6.1, 6.2.1 und 6.2.6, S. 83–86 und 93–94.</a:t>
            </a:r>
          </a:p>
          <a:p>
            <a:endParaRPr/>
          </a:p>
          <a:p>
            <a:r>
              <a:t>Quellenverweise dieser Präsentation (eigene Nummerierung):</a:t>
            </a:r>
          </a:p>
          <a:p>
            <a:r>
              <a:t>Eigenes Benchmarkprotokoll und Anforderungsdiagramm: [11], Kap. 6 und Abb. 2.1; eigenes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a:p>
            <a:endParaRPr/>
          </a:p>
          <a:p>
            <a:r>
              <a:t>Aktualisierter Kapiteleinstieg: Motivation, Methodik und Ziel</a:t>
            </a:r>
          </a:p>
          <a:p>
            <a:r>
              <a:t>Kapiteleinstieg: Ein niedriger nominaler MAE beschreibt das Verhalten bei realen Messfehlern nur unvollständig. Vergleich von DM, HDM, HECM und DD aus verschiedenen Estimatorklassen unter gemeinsamen kausalen Störszenarien. Berücksichtigung lokaler Fehlerreaktionen und Recovery zusätzlich zum globalen Fehler sowie Messung der Ressourcen auf dem STM32. Ziel ist eine belastbare Bewertung der Eignung für eingebettete BMS. Vier konkrete Verfahren, keine vollständige Abdeckung aller Architekturen einer Modellfamilie. Zugehörige eigene Arbeit: F. Rzepka, Q. Chen und J. Kowal (2026), Performance and Robustness Benchmarking Across Battery State-of-Charge Estimator Classes for Embedded Applications. Eingereichtes Manuskript bei Engineering Applications of Artificial Intelligence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DM verwendet ausschließlich feste Kapazität und kausales Coulomb Counting. Aus I und Δt wird Qc berechnet. Die SOC-Abbildung lautet clip(1 + Qc / Cnom, 0, 1). Nach einem ausreichend langen CV-Volladeereignis wird Qc auf null gesetzt und der SOC bei Vollladung verankert. DM benötigt kein LSTM. Die einfache, transparente Integration dient als Referenz mit geringem Ressourcenbedarf. Zwischen Vollade-Ankern besitzt dieser Vertreter keine Spannungsresiduen-Korrektur.</a:t>
            </a:r>
          </a:p>
          <a:p>
            <a:r>
              <a:t>Quelle: Dissertation main(1).pdf, Tabelle 6.1 und Abschnitt 6.2.2, Gleichungen 6.1–6.2, S. 85–87.</a:t>
            </a:r>
          </a:p>
          <a:p>
            <a:endParaRPr/>
          </a:p>
          <a:p>
            <a:r>
              <a:t>Quellenverweise dieser Präsentation (eigene Nummerierung):</a:t>
            </a:r>
          </a:p>
          <a:p>
            <a:r>
              <a:t>DM mit Coulomb Counting: eigene Umsetzung [11], §6.2.2, Gl.6.1–6.2, S.86–87. Grundlagen der Batteriemodellierung und Ladungsbilanz: [17].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[17] G. L. Plett (2015). Battery Management Systems. Volume 1: Battery Modeling. Artech House. Grundlagen zu Batteriemodellen und Zustandsbestimmung.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HDM übernimmt Stromintegration und Vollade-Anker unverändert vom DM. Ausschließlich die Kapazität wird angepasst: Ceff = Cnom × geschätzter SOH. So lässt sich der Beitrag einer gelernten Kapazitätsanpassung isolieren, ohne bereits eine Spannungsrückführung einzuführen. Die gemeinsame SOH-Schätzung entsteht stündlich in einem LSTM. Sein Cell State transportiert zeitlichen Kontext. Forget-, Input- und Output-Gate steuern das Beibehalten, Ergänzen und Ausgeben von Information. Dieses LSTM liefert auch den SOH-Kontext für HECM und DD. Im Hardwarebenchmark wird die gemeinsame SOH-Spur extern bereitgestellt, das SOH-LSTM gehört nicht zum isoliert gemessenen SOC-Kern.</a:t>
            </a:r>
          </a:p>
          <a:p>
            <a:r>
              <a:t>Quelle: Dissertation main(1).pdf, Abschnitt 3.4.3, S. 17–19, Abschnitte 6.2.2–6.2.4, Gleichungen 6.3–6.4, S. 87–90.</a:t>
            </a:r>
          </a:p>
          <a:p>
            <a:endParaRPr/>
          </a:p>
          <a:p>
            <a:r>
              <a:t>Quellenverweise dieser Präsentation (eigene Nummerierung):</a:t>
            </a:r>
          </a:p>
          <a:p>
            <a:r>
              <a:t>HDM/SOH-LSTM: eigene Umsetzung [11], Gl.6.3–6.4 und §6.2.3, S.87–90. Gate-/Zustandsprinzipien rekurrenter Netze: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HECM kombiniert ein Ersatzschaltbild zweiter Ordnung mit einem Extended Kalman Filter. Der Zustand enthält SOC und zwei Polarisationsspannungen. Die Prädiktion verwendet den vorherigen Strom, die Korrektur die aktuell gemessene Spannung. Das Spannungsresiduum zwischen vorhergesagter und gemessener Klemmenspannung korrigiert den Zustand. Der gemeinsame LSTM-SOH-Kontext skaliert die Kapazität und steuert SOC-/SOH-abhängige Kennfelder für Ri, R1, R2, Zeitkonstanten, OCV und OCV-Ableitung mit getrennten Lade-/Entladeparametrisierungen. HECM ergänzt damit die Stromintegration um physikalische Dynamik und einen Messfeedback-Pfad.</a:t>
            </a:r>
          </a:p>
          <a:p>
            <a:r>
              <a:t>Quelle: Dissertation main(1).pdf, Abschnitt 6.2.2, Gleichungen 6.5–6.8, S. 87–88, und Abschnitt 6.2.3, S. 89.</a:t>
            </a:r>
          </a:p>
          <a:p>
            <a:endParaRPr/>
          </a:p>
          <a:p>
            <a:r>
              <a:t>Quellenverweise dieser Präsentation (eigene Nummerierung):</a:t>
            </a:r>
          </a:p>
          <a:p>
            <a:r>
              <a:t>2RC-Ersatzschaltbild, Spannungsfeedback und SOH-Kennfelder: eigene Umsetzung [11], Gl.6.5–6.8, S.87–88. ECM-Grundlagen [17]. [19] als verwandte dual-adaptive EKF-SOC/SOH-Arbeit, nicht Quelle der exakten hier verwendeten HECM-Struktur.</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[17] G. L. Plett (2015). Battery Management Systems. Volume 1: Battery Modeling. Artech House. Grundlagen zu Batteriemodellen und Zustandsbestimmung. </a:t>
            </a:r>
          </a:p>
          <a:p>
            <a:r>
              <a:t>[19] J. Li et al. (2021). Joint Estimation of State of Charge and State of Health for Lithium-ion Battery Based on Dual Adaptive Extended Kalman Filter. International Journal of Energy Research 45(9), 13307–13322. https://doi.org/10.1002/er.6658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DD ist der datengetriebene SOC-Vertreter. Seine acht Eingänge sind U, I, T, SOH, Qc, dU/dt, dI/dt und Δt. Die GRU nutzt Signalhistorie, weil SOC-Schätzung und Störungserholung von vorangegangenen Messungen abhängen. Ihre zwei Gates und ein einzelner Hidden State bilden eine kompakte rekurrente Struktur. Das Update-Gate gewichtet vorherigen Zustand und neuen Kandidaten. Das Reset-Gate beeinflusst die historische Information bei der Bildung des Kandidaten. Structured Pruning reduziert 96 auf 67 Einheiten, gefolgt von einem MLP-Head mit einer Hidden-Layer-Breite von 96 und Sigmoid-Ausgabe. Im primären Benchmark wird jede Schätzung aus dem letzten kausalen Fenster von 2024 Samples neu berechnet. Die gemeinsame LSTM-SOH-Schätzung ist ein separater Eingang und wird im MCU-Benchmark extern bereitgestellt. Die später untersuchte Embedded-AI-Kompression verwendet andere LSTM-Modelle für SOC und SOH.</a:t>
            </a:r>
          </a:p>
          <a:p>
            <a:r>
              <a:t>Quelle: Dissertation main(1).pdf, Abschnitt 3.4.3, S. 19–20, Abschnitt 6.2, S. 86, Abschnitt 6.2.2, Gleichungen 6.9–6.11, S. 88–89, und Abschnitt 6.2.4, S. 90.</a:t>
            </a:r>
          </a:p>
          <a:p>
            <a:endParaRPr/>
          </a:p>
          <a:p>
            <a:r>
              <a:t>Quellenverweise dieser Präsentation (eigene Nummerierung):</a:t>
            </a:r>
          </a:p>
          <a:p>
            <a:r>
              <a:t>DD-Architektur: eigene Studie [11], §6.2.2, S.88–89 und [16]. GRU-/Hidden-State-Prinzipien: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Initialization Errors bilden unsichere Startzustände nach Neustart, Lagerung oder fehlender aktueller Historie ab. Bei LFP begrenzt die flache OCV-SOC-Kennlinie die Verankerung des SOC allein aus der Ruhespannung. Deshalb wird untersucht, ob und wie dauerhaft die Modelle einen Startfehler überwinden. Der feste Benchmark-Startfehler beträgt −0,10 SOC bzw. −10 Prozentpunkte. Beim DD wird der online zugängliche Qc-Eingang gestört, nicht willkürlich der Hidden State. Recovery ist die Annäherung an den passenden korrekt initialisierten Lauf und wird von der Genauigkeit gegenüber der SOC-Referenz getrennt. Die genannten Praxisbeispiele motivieren die Störmechanismen; die feste Störhöhe ist eine Benchmark-Konfiguration.</a:t>
            </a:r>
          </a:p>
          <a:p>
            <a:r>
              <a:t>Quelle: Dissertation main(1).pdf, Abschnitt 6.2.5, Abbildung 6.2 und Tabelle 6.2, S. 90–93; Abschnitt 6.2.6, S. 93–94.</a:t>
            </a:r>
          </a:p>
          <a:p>
            <a:endParaRPr/>
          </a:p>
          <a:p>
            <a:r>
              <a:t>Quellenverweise dieser Präsentation (eigene Nummerierung):</a:t>
            </a:r>
          </a:p>
          <a:p>
            <a:r>
              <a:t>Eigene Störklassenabbildung und Initialisierungsprotokoll: [11], §6.3, S.91–99, Abb.6.2. Fachlicher Kontext Initialisierung, Modellfehler und Validierung: [5], [6]. Betriebssituationen als motivierende Beispiele, keine Statistik realer Fehlerhäufigkeiten.</a:t>
            </a:r>
          </a:p>
          <a:p>
            <a:endParaRPr/>
          </a:p>
          <a:p>
            <a:r>
              <a:t>[5] X. Li et al. (2015). Robustness of SOC Estimation Algorithms for EV Lithium-Ion Batteries against Modeling Errors and Measurement Noise. Mathematical Problems in Engineering, Artikel 719490. https://doi.org/10.1155/2015/719490</a:t>
            </a:r>
          </a:p>
          <a:p>
            <a:r>
              <a:t>[6] F. Berger et al. (2024). Benchmarking Battery Management System Algorithms – Requirements, Scenarios and Validation for Automotive Applications. eTransportation 22, 100355. https://doi.org/10.1016/j.etran.2024.100355</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Disturbances modellieren reale Grenzen und Störungen der Messkette. Gain- und Offsetfehler stehen für Sensorempfindlichkeit, Skalierungs- und Kalibrierabweichungen sowie Drift. Rauschen und Spannungsspitzen stehen unter anderem für Front-End-Rauschen, EMI und Schaltstörungen. Die ADC-Quantisierung bildet endliche Auflösung und Rundung ab. Stromfehler wirken über die Ladungsintegration und die davon abhängigen Features. Verfälschte Spannung beeinflusst das Messfeedback des HECM und die Merkmale des DD. Die Relevanz liegt daher im Verhalten der vollständigen Schätzpfade unter begrenzter Messqualität. Hier werden mögliche Wirkpfade erläutert, noch keine Ergebnisrangfolge.</a:t>
            </a:r>
          </a:p>
          <a:p>
            <a:r>
              <a:t>Quelle: Dissertation main(1).pdf, Abschnitt 6.2.5 und Tabelle 6.2, S. 90–93; Abschnitt 6.3, S. 95–97.</a:t>
            </a:r>
          </a:p>
          <a:p>
            <a:endParaRPr/>
          </a:p>
          <a:p>
            <a:r>
              <a:t>Quellenverweise dieser Präsentation (eigene Nummerierung):</a:t>
            </a:r>
          </a:p>
          <a:p>
            <a:r>
              <a:t>Eigene künstlich eingebrachte Input Disturbances auf realen LFP-Messdaten: [11], §6.3. Reale Störquellen und Messrauschen: [5], [7].</a:t>
            </a:r>
          </a:p>
          <a:p>
            <a:endParaRPr/>
          </a:p>
          <a:p>
            <a:r>
              <a:t>[5] X. Li et al. (2015). Robustness of SOC Estimation Algorithms for EV Lithium-Ion Batteries against Modeling Errors and Measurement Noise. Mathematical Problems in Engineering, Artikel 719490. https://doi.org/10.1155/2015/719490</a:t>
            </a:r>
          </a:p>
          <a:p>
            <a:r>
              <a:t>[7] O. Aiello (2020). Electromagnetic Susceptibility of Battery Management Systems’ ICs for Electric Vehicles: Experimental Study. Electronics 9(3), 510. https://doi.org/10.3390/electronics9030510</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Signal-Integrity Faults verändern die Verfügbarkeit oder den Zeitbezug von Messungen. Missing Samples stehen für Paketverlust, blockierte Updates und Logger-Aussetzer. Burst Dropout bildet eine Kommunikationsunterbrechung, eine eingefrorene Task oder einen festhängenden Datenstrom ab. Irregular Sampling entspricht Scheduling Jitter, Bus-Latenz und asynchroner Erfassung. Der Zellbetrieb setzt sich auch bei unterbrochener oder verzögerter Übertragung fort. Die Schätzung muss daher mit unvollständiger beziehungsweise zeitlich veränderter Information umgehen. Im Benchmark werden fehlende Werte eingefroren; die daraus abhängigen Features werden kausal rekonstruiert. Timing Jitter und Sample Loss sind getrennte Mechanismen, deren Wirkung erst in den Ergebnissen bewertet wird.</a:t>
            </a:r>
          </a:p>
          <a:p>
            <a:r>
              <a:t>Quelle: Dissertation main(1).pdf, Abschnitt 6.2.5 und Tabelle 6.2, S. 91–93; Abschnitt 6.3, S. 95–97.</a:t>
            </a:r>
          </a:p>
          <a:p>
            <a:endParaRPr/>
          </a:p>
          <a:p>
            <a:r>
              <a:t>Quellenverweise dieser Präsentation (eigene Nummerierung):</a:t>
            </a:r>
          </a:p>
          <a:p>
            <a:r>
              <a:t>Eigene Signal-Integrity-Szenarien: [11], §6.3. Kontext praxisnaher BMS-Validierung: [6]. Keine Behauptung, alle Fehlerformen seien in [6] identisch umgesetzt.</a:t>
            </a:r>
          </a:p>
          <a:p>
            <a:endParaRPr/>
          </a:p>
          <a:p>
            <a:r>
              <a:t>[6] F. Berger et al. (2024). Benchmarking Battery Management System Algorithms – Requirements, Scenarios and Validation for Automotive Applications. eTransportation 22, 100355. https://doi.org/10.1016/j.etran.2024.100355</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von Messwerten abhängigen Hilfsgrößen werden online und kausal aus dem jeweiligen sauberen oder gestörten Signalstrom neu berechnet. Dazu gehören kumulierte Ladung Qc, EFC, Strom- und Spannungsableitungen sowie stündliche SOH-Aggregate. Damit gelangen Störungen auch in die Features und es stehen dem gestörten Lauf keine ungestörten Hilfsgrößen zur Verfügung. Der gepaarte Störungszuschlag lautet ΔMAE = MAE_disturbed − MAE_baseline. Verglichen werden passende Läufe bei gleicher Zelle, gleichem Fenster, Modell, SOH-Kontext und Seed. Fenster und Seeds werden zunächst innerhalb der Zelle zusammengefasst; anschließend erhält jede der sechs unabhängigen Testzellen das gleiche Gewicht. Initialization Recovery verwendet separat die absolute Abweichung zum passend korrekt initialisierten Lauf. Dauerhafte Recovery bedeutet Verbleib innerhalb eines Bandes von 0,02 SOC bis zum Ende des 24-h-Beobachtungshorizonts; ein erster qualifizierender Eintritt setzt zuvor mindestens 300 s im Band voraus. Die SOC-Referenz bleibt das Genauigkeitsmaß. Die Kampagne umfasst 20 Szenariodefinitionen und 7040 Modell-Fenster-Auswertungen; diese sind keine 7040 unabhängigen Zellen.</a:t>
            </a:r>
          </a:p>
          <a:p>
            <a:r>
              <a:t>Quelle: Dissertation main(1).pdf, Abschnitt 6.2.6, Gleichung 6.12, S. 93–94; Abschnitt 6.3, S. 95–97.</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repräsentative 24-h-Fenster decken die verfügbaren Zell-/SOH-Kombinationen von sechs unabhängigen Holdout-Zellen ab. Die Fensterauswahl verwendet gemessene Betriebs- und Alterungsmerkmale, keine Modellfehler. Alle Modelle werden ab dem ersten gültigen DD-Wert über dieselben Samples bewertet. Die Fenster werden innerhalb der Zelle zusammengefasst, danach erhält jede Zelle das gleiche Gewicht.</a:t>
            </a:r>
          </a:p>
          <a:p>
            <a:r>
              <a:t>Die Punkte in der Abbildung zeigen Fehlerwerte einzelner Zell-/SOH-Fenster. Die Balken zeigen das gleichgewichtete Zell-Makromittel. Die Fehlerbalken sind hierarchische 95-%-Konfidenzintervalle dieses Mittels. Die sichtbare Streuung beschreibt Unterschiede zwischen den Fensterfehlern. Hohe einzelne Fensterwerte kommen bei DM, HDM und HECM vor, während DD eine engere dargestellte Fehlerspanne aufweist. DM hat laut Abschnitt 6.4.1 die stärkste Variation zwischen Zellen und Fenstern.</a:t>
            </a:r>
          </a:p>
          <a:p>
            <a:r>
              <a:t>Die Fehlerquellen dienen der mechanistischen Einordnung. DM verwendet eine feste Nennkapazität trotz variierender Alterung und besitzt zwischen Volllade-Ankern keinen kontinuierlichen Korrekturpfad. HDM passt die Kapazität an den geschätzten SOH an, HECM verwendet zusätzlich Spannungsfeedback sowie SOH-abhängige Kennfelder. Fehler des gemeinsamen SOH-LSTM gehen daher in beide vollständigen SOC-Pipelines ein. Der diagnostische Austausch gegen Ground-truth-SOH reduziert den mittleren Baseline-MAE um 0,0370 bei HDM und 0,0166 bei HECM und stützt diesen zusätzlichen Fehlerbeitrag. Dies ist eine Attribution von Fehlerbeiträgen; eine vollständige Zerlegung der Streuung jedes Fensterpunkts wurde damit nicht vorgenommen.</a:t>
            </a:r>
          </a:p>
          <a:p>
            <a:r>
              <a:t>DD erzielt den niedrigsten nominalen Zell-Makro-MAE von 0,0258 mit 95-%-KI [0,0189; 0,0325]. Auch das RMSE-Ranking ist identisch. Die mehrkanalige zeitliche Historie erlaubt die gemeinsame Nutzung von Strom, Spannung, Temperatur und kausalen Features. Die Schlussaussage gilt für die nominale Genauigkeit der getesteten Vertreter. Die anschließenden Störtests untersuchen ihre Robustheit. Bei sechs unabhängigen Testzellen bleiben Holm-korrigierte Sign-flip-p-Werte über 0,05; Effektgrößen, Unsicherheitsintervalle und die beobachtete Rangfolge tragen die Interpretation.</a:t>
            </a:r>
          </a:p>
          <a:p>
            <a:r>
              <a:t>Quelle: Florian Rzepka, bereitgestellte Dissertation main(1).pdf, Abschnitte 6.2.6 und 6.3, S. 93–97; Abschnitt 6.4.1 und Abbildung 6.4, S. 97–98; Abschnitt 6.4.9, S. 109–110; Abschnitt 6.5, S. 116–118; Tabellen A.2–A.3, S. 189–190.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 multiplikativer Gain-Fehler skaliert den gemessenen Strom dauerhaft. Der Sweep umfasst ±0,5 %, ±1,5 % und ±3 %. Je Betrag wird zunächst pro Zelle das ungünstigere Vorzeichen anhand des gepaarten MAE-Anstiegs gewählt, danach erfolgt die gleichgewichtete Zellaggregation. Diese Auswertungsdefinition gilt weiterhin für das Diagramm.</a:t>
            </a:r>
          </a:p>
          <a:p>
            <a:r>
              <a:t>Der Fehleranstieg wächst im Sechs-Zell-Vergleich mit dem Gain-Betrag bei allen vier Verfahren. Bei 3 % betragen die Anstiege 1,08 pp für DM, 1,01 pp für HDM, 0,60 pp für HECM und 0,38 pp für DD. DM und HDM integrieren den skalierten Strom, sodass sich der Fehler mit der übertragenen Ladung aufbaut. HECM kann Teile der Abweichung über das Spannungsresiduum korrigieren. DD verwendet zusätzlich weitere Messkanäle, abgeleitete Features und den zeitlichen Kontext. Dies ist eine plausible Erklärung der geringeren Stromkanalabhängigkeit, keine durch Feature-Ablation isoliert nachgewiesene Ursache.</a:t>
            </a:r>
          </a:p>
          <a:p>
            <a:r>
              <a:t>DD zeigt damit den geringsten MAE-Anstieg im unabhängigen Sechs-Zell-Fenstervergleich. In der ergänzenden einzelnen Lebensdauertrajektorie führt dagegen HECM. Diese Diagnose ersetzt den hier gezeigten Vergleich nicht. In der Formel sind g der relative Gain-Fehler und C die Kapazität. Das Fehlerwachstum ist wegen Stromrichtungswechseln und Vollade-Ankern nicht als unbegrenzt monotone Drift zu interpretieren.</a:t>
            </a:r>
          </a:p>
          <a:p>
            <a:r>
              <a:t>Quelle: Florian Rzepka, bereitgestellte Dissertation main(1).pdf, Abschnitt 6.4.2, Abbildungen 6.5–6.6, S. 98–100; Abschnitte 6.5.1 und 6.5.3, S. 116–119.</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Experiment verwendet einen Startfehler von −0,10 SOC-äquivalent, also −10 Prozentpunkten. DM/HDM erhalten einen Coulomb-counting-Zustandsfehler, HECM einen EKF-SOC-Fehler, DD einen Qc-Offset von −0,10 Cnom. Die Intervention betrifft damit jeweils einen zugänglichen Zustand und nicht identische latente Zustände.</a:t>
            </a:r>
          </a:p>
          <a:p>
            <a:r>
              <a:t>d(t) ist der absolute gepaarte Abstand zum korrekt initialisierten Lauf desselben Modells, nicht der Fehler gegenüber dem Dataset-SOC. Erster qualifizierender Eintritt: d(t) ≤ 0,02 für mindestens 300 s. Persistente Recovery: anschließender Verbleib im Band bis zum Ende des 24-h-Horizonts. Die Zahlen sind protokollgebundene Recovery-or-censor-Zeiten.</a:t>
            </a:r>
          </a:p>
          <a:p>
            <a:r>
              <a:t>HECM erreicht die schnellste persistente Recovery mit einem Zellmittel von 1,20 h, gegenüber 2,60 h für DD. DD hat eine Relapse-Fraktion von 0,78 gegenüber 0,17 für HECM. DM und HDM bleiben in 0,89 der zusammengefassten Fälle rechtszensiert. Ihre Zustände führen den Startfehler ohne kontinuierliches Spannungsfeedback bis zu einem physischen Ladeanker fort. HECM korrigiert dagegen den expliziten SOC-Zustand über das Spannungsresiduum. DD kann die gestörte Qc-Information durch seine Mehrkanalhistorie teilweise kompensieren. Ihr wechselnder Einfluss im rekurrenten Kontext erklärt, warum ein früher Eintritt in das Recovery-Band noch keine dauerhafte Erholung bedeutet.</a:t>
            </a:r>
          </a:p>
          <a:p>
            <a:r>
              <a:t>Die Schlussfolgerung gilt für die stärkste beobachtete persistente Recovery unter diesem Initialisierungsprotokoll. Sie belegt keine universelle Überlegenheit von HECM bei jeder Störung.</a:t>
            </a:r>
          </a:p>
          <a:p>
            <a:r>
              <a:t>Quelle: Florian Rzepka, bereitgestellte Dissertation main(1).pdf, Abschnitt 6.2.6, S. 93–94; Abschnitt 6.4.5 und Abbildung 6.9, S. 103–104; Abschnitt 6.5.1, S. 116–118.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die ereignisbezogene Reaktion auf einzelne Spannungsspitzen. Der getestete DD-Vertreter weist die deutlichste lokale Reaktion auf. Der mittlere zusätzliche Fehler direkt am Spike-Sample beträgt etwa 0,77 Prozentpunkte, während die anderen Repräsentanten nahezu keinen direkten zusätzlichen Fehler zeigen. Die Stärke der Reaktion variiert über Zellen und SOH-Zustände. Der Ausschlag klingt anschließend rasch ab.</a:t>
            </a:r>
          </a:p>
          <a:p>
            <a:r>
              <a:t>Die lokale Empfindlichkeit betrifft die untersuchten Spannungsspitzen. Daraus folgt keine allgemeine Störanfälligkeit aller datengetriebenen Modelle bei sämtlichen lokalen Ereignissen. Die anderen Szenarien zeigen teilweise andere Rangfolgen und Mechanismen.</a:t>
            </a:r>
          </a:p>
          <a:p>
            <a:r>
              <a:t>U ist die gemessene Spannung. dU/dt beschreibt ihre zeitliche Änderung. Eine Spannungsspitze stört beide Eingangsfeatures des DD-Modells. Beide Werte gelangen in den rekurrenten Kontext. Dies ist eine plausible Erklärung der kurzzeitigen SOC-Reaktion. Die Einzelbeiträge der beiden Features wurden nicht durch Ablation isoliert. DM und HDM nutzen Spannung nicht als kontinuierliche SOC-Korrektur. HECM verarbeitet sie über das Beobachterresiduum und die Kovarianzgewichtung.</a:t>
            </a:r>
          </a:p>
          <a:p>
            <a:r>
              <a:t>Der 24-h-MAE-Anstieg bleibt bei allen vier Verfahren unter 0,04 Prozentpunkten. Der MAE mittelt den absoluten Fehler über alle Messzeitpunkte. Der kurze Transient erhält deshalb im gesamten Tagesfenster nur ein geringes Gewicht. Das erklärt den geringen globalen Einfluss trotz des deutlichen lokalen Fehlers. Zusätzlich zum Tages-MAE sind ereignisbezogene Fehlermaße nötig. Der gezeigte 95.-Perzentil-Peak ist nicht mit dem mittleren Fehler direkt am Spike-Sample gleichzusetzen.</a:t>
            </a:r>
          </a:p>
          <a:p>
            <a:r>
              <a:t>Quelle: Florian Rzepka, bereitgestellte Dissertation main(1).pdf, Abschnitt 6.4.7, Abbildungen 6.12–6.13, S. 107–108; Abschnitte 6.5.1–6.5.2, S. 117–118.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Abbildung 6.16 kombiniert min–max-normalisierte Genauigkeit, family-balanced Robustheit und beobachtete persistente Recovery. Die drei dargestellten Prioritätsprofile gewichten jeweils eine Dimension mit 60 % und die übrigen beiden mit je 20 %. Sie sind von den drei separat untersuchten Definitionen der Robustheitsaggregation zu unterscheiden.</a:t>
            </a:r>
          </a:p>
          <a:p>
            <a:r>
              <a:t>DD erreicht in allen drei dargestellten Prioritätsprofilen den höchsten Gesamtscore. HECM erreicht die schnellste persistente Recovery durch die Korrektur seines expliziten SOC-Zustands über das Spannungsresiduum. Die Modelle besitzen damit unterschiedliche Stärken und Störreaktionen. Die normierten Scores sind relative Größen innerhalb der vier untersuchten Repräsentanten.</a:t>
            </a:r>
          </a:p>
          <a:p>
            <a:r>
              <a:t>Die zentrale methodische Schlussfolgerung ist die notwendige Ergänzung einer MAE-Bewertung durch praxisnahe Störtests und lokale, ereignisbezogene Analysen. Ein niedriger Nominalfehler beschreibt nicht, wie sich ein Modell bei fehlerhaften, unvollständigen oder gestörten Eingangsdaten verhält. Die Modelle reagieren auf solche Eingriffe teilweise sehr unterschiedlich. Ein über ein langes Fenster gemittelter MAE kann zudem kurze Fehlerpeaks weitgehend verdecken, wie die Spannungsspitzen beim DD-Modell zeigen.</a:t>
            </a:r>
          </a:p>
          <a:p>
            <a:r>
              <a:t>Genauigkeit, Robustheit und Recovery sind deshalb getrennt zu prüfen. Das Benchmark verbindet die mittlere Fehlerbewertung mit definierten Störszenarien, zeitlich aufgelösten Reaktionen und persistenter Recovery. Diese Methodik macht Schwächen sichtbar, die eine alleinige MAE-Rangfolge nicht abbildet. Praxisnah bezeichnet hier gezielt nachgebildete Störungen der Messkette und Initialisierung im kontrollierten Protokoll, keine bereits abgeschlossene Feldvalidierung des vollständigen BMS.</a:t>
            </a:r>
          </a:p>
          <a:p>
            <a:r>
              <a:t>Quelle: Florian Rzepka, bereitgestellte Dissertation main(1).pdf, Abschnitt 6.4.7, S. 107–108; Abschnitt 6.4.11, Abbildungen 6.15–6.16, S. 110–112; Abschnitt 6.5.2, S. 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Einführung in Kapitel 7: Embedded-AI-Optimierung. Die beiden hervorgehobenen Bereiche des BMS-Anforderungsrahmens sind Hardware und Deployment. Hardware umfasst Flash, RAM und Inferenzzeit. Deployment umfasst insbesondere die Modellkomplexität und die Übertragung auf den Zielcontroller. Accuracy bleibt als Erhaltungsziel der Kompression Bestandteil der Bewertung.</a:t>
            </a:r>
          </a:p>
          <a:p>
            <a:r>
              <a:t>Motivation: Komplexe neuronale Schätzer benötigen Speicher für Gewichte, Zustände und Zwischenwerte sowie Rechenzeit für jedes Update. Im BMS stehen diese Ressourcen nur begrenzt zur Verfügung. Eine gute Offline-Accuracy allein gewährleistet daher noch keine geeignete Ausführung auf dem Mikrocontroller.</a:t>
            </a:r>
          </a:p>
          <a:p>
            <a:r>
              <a:t>Methodik: Für SOC und SOH jeweils dasselbe trainierte stateful LSTM+MLP-Base-Modell als Ausgangspunkt zweier getrennt untersuchter Kompressionspfade. Structured Pruning entfernt ausgewählte LSTM-Hidden-Units und passt die verbundenen Matrizen an, mit anschließendem Fine-Tuning. Die Post-Training-Quantization verringert die Bitbreite der rekurrenten Gewichte auf INT8. Pruned und Quantized sind eigenständige Varianten, keine zwingend nacheinander angewandte Kombination. Vergleich von Base FP32, Pruned FP32 und Quantized im kontinuierlichen Replay sowie nach C-Export auf dem STM32H753. Die Hardwarebewertung umfasst den verlinkten Flash-Bedarf, Peak Runtime RAM und die gemessene Kernelzeit. Die Messgrenze schließt Sensorik und Feature Engineering aus.</a:t>
            </a:r>
          </a:p>
          <a:p>
            <a:r>
              <a:t>Ziel: Kleinere, für die BMS-Hardware geeignete SOC-/SOH-Modelle mit geringerem Ressourcenbedarf bei möglichst erhaltener Accuracy und stabilem Verhalten über den Datenstrom. Dies ist die Untersuchungsfrage, keine vorweggenommene Garantie einer Laufzeit- oder RAM-Verbesserung für jeden Kompressionspfad. Pruning verändert die Zahl der Parameter, Quantization primär deren Speicherrepräsentation.</a:t>
            </a:r>
          </a:p>
          <a:p>
            <a:r>
              <a:t>Quelle: Florian Rzepka, bereitgestellte Dissertation main(1).pdf, Kapitel 7, Einleitung und Abschnitt 7.1, S. 123–124; Abschnitt 7.3, S. 127–129; Abschnitte 7.4–7.6 zur Kompression und zum MCU-Vergleich.</a:t>
            </a:r>
          </a:p>
          <a:p>
            <a:endParaRPr/>
          </a:p>
          <a:p>
            <a:r>
              <a:t>Quellenverweise dieser Präsentation (eigene Nummerierung):</a:t>
            </a:r>
          </a:p>
          <a:p>
            <a:r>
              <a:t>Eigene Embedded-Studie [11], Kap.7 und [20]. Kompressionsgrundlagen: [21], [22], [24]. Anforderungsdiagramm eigene Abb.2.1 aus [11]. Pruning und Quantization getrennt, keine Kombination.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[21] S. Han, J. Pool, J. Tran und W. J. Dally (2015). Learning Both Weights and Connections for Efficient Neural Networks. NeurIPS 28, 1135–1143. https://proceedings.neurips.cc/paper/2015/hash/ae0eb3eed39d2bcef4622b2499a05fe6-Abstract.html</a:t>
            </a:r>
          </a:p>
          <a:p>
            <a:r>
              <a:t>[22] W. Wen et al. (2016). Learning Structured Sparsity in Deep Neural Networks. NeurIPS 29, 2074–2082. https://arxiv.org/abs/1608.03665</a:t>
            </a:r>
          </a:p>
          <a:p>
            <a:r>
              <a:t>[24] B. Jacob et al. (2018). Quantization and Training of Neural Networks for Efficient Integer-Arithmetic-Only Inference. CVPR, 2704–2713. https://doi.org/10.1109/CVPR.2018.00286</a:t>
            </a:r>
          </a:p>
          <a:p>
            <a:endParaRPr/>
          </a:p>
          <a:p>
            <a:r>
              <a:t>Aktualisierter Kapiteleinstieg: Motivation, Methodik und Ziel</a:t>
            </a:r>
          </a:p>
          <a:p>
            <a:r>
              <a:t>Kapiteleinstieg: Begrenzte BMS-Ressourcen motivieren die Kompression trainierter Modelle. Structured Pruning und INT8-Gewichtsquantisierung werden als getrennte Pfade für je ein SOC- und SOH-LSTM untersucht. Base, Pruned und Quantized werden auf PC und STM32 verglichen. Ziel: Verringerung des Speicher- und Rechenbedarfs bei möglichst erhaltener Accuracy; tatsächliche Laufzeitvorteile sind vom Kernel abhängig. [22] Wen et al. belegt allgemeine Structured-Pruning-Grundlagen, nicht den hier verwendeten konkreten L2-Gate-Score. [24] Jacob et al. belegt Quantization-Grundlagen, nicht den hier verwendeten Weight-only-Kernel mit FP32-Berechnung. Zugehörige eigene Arbeit: F. Rzepka und J. Kowal (2026), Embedded Artificial Intelligence in Battery Management Systems: Pruning and Quantization for Efficient State-of-Charge and State-of-Health Estimation. SSRN-Preprint [20].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Vier Transformationen: Input-, Forget- und Output-Gate sowie Zellkandidat. Jede verwendet eine H×D-Eingangsmatrix, eine H×H-Rekurrenzmatrix und zwei Biasvektoren der Länge H. Daher 4(HD + H² + 2H).</a:t>
            </a:r>
          </a:p>
          <a:p>
            <a:r>
              <a:t>SOC: 18432 Parameter im LSTM-Kern. SOH: 69632 Parameter im LSTM-Kern. Die rote Kontur umfasst ausschließlich den LSTM-Baustein der unveränderten Abbildung.</a:t>
            </a:r>
          </a:p>
          <a:p>
            <a:r>
              <a:t>Erläuterung der Eingangsgröße D: D ist die Zahl der Features pro Zeitschritt, unabhängig von der Länge der zeitlichen Historie. Beide Modelle verwenden sechs Features, aber unterschiedliche Zusammenstellungen. SOC: Klemmenspannung U, Strom I, Temperatur T, kumulierter Ladungszustand Qc aus Stromintegration sowie zeitliche Änderungen dU/dt und dI/dt. SOH: kumulierte Zeit t, U, I, T, äquivalente Vollzyklen EFC und Qc. Beide Feature-Vektoren enthalten die drei Messgrößen U, I, T und drei zusätzliche zeitliche bzw. abgeleitete Größen. Die Features entstehen im Feature Engineering. Damit bedeutet D = 6 nicht sechs verschiedene physikalische Sensoren. Qc ist eine bilanzierte Ladungsgröße, EFC beruht auf dem absoluten Ladungsdurchsatz.</a:t>
            </a:r>
          </a:p>
          <a:p>
            <a:r>
              <a:t>Quelle der Feature-Vektoren und Definitionen: Dissertation main(1).pdf, Abschnitt 7.2, Gleichungen 7.1–7.4, S. 124–125. Die Ableitungen stammen aus kausalen, timestampbezogenen Rückwärtsdifferenzen.</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Der MLP-Head besteht aus zwei affinen Abbildungen: H LSTM-Ausgänge auf M Hidden-Neuronen, danach M Hidden-Aktivierungen auf einen skalaren Ausgang. Im ersten Layer HM Gewichte und M Biaswerte, im zweiten M Gewichte und ein Bias. Zusammen HM + 2M + 1.</a:t>
            </a:r>
          </a:p>
          <a:p>
            <a:r>
              <a:t>SOC: 4225 Parameter im Head. SOH: 16641 Parameter im Head. Die Aktivierungsfunktionen enthalten keine zusätzlichen trainierbaren Parameter. Die rote Kontur umfasst ausschließlich den MLP-Head.</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Summe aus LSTM-Kern und MLP-Head: N = 4H(D + H + 2) + HM + 2M + 1.</a:t>
            </a:r>
          </a:p>
          <a:p>
            <a:r>
              <a:t>SOC: 18432 + 4225 = 22657. SOH: 69632 + 16641 = 86273. Der LSTM-Anteil beträgt 81.35234143973165 % für SOC und 80.71123062835417 % für SOH. Rund 81 % ist eine gerundete Zusammenfassung beider Base-Modelle.</a:t>
            </a:r>
          </a:p>
          <a:p>
            <a:r>
              <a:t>Der H²-Anteil der rekurrenten Gewichtsmatrizen motiviert das anschließende Structured Pruning von Hidden Units. Die MLP-Breite bleibt im beschriebenen Pruning-Versuch konstant; dessen Eingangsdimension folgt der reduzierten LSTM-Breite. Eine Quantisierung ändert die Bitbreite, nicht automatisch die Zahl der Parameter.</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Versuchsaufbau zur Kompression und zum Vergleich der SOC- und SOH-Schätzer. Je Aufgabe bildet dasselbe trainierte LSTM+MLP-Base-Modell den Ausgangspunkt. Zwei getrennte Varianten entstehen durch Structured Pruning beziehungsweise Post-Training-INT8-Quantization. Pruned und Quantized bezeichnen eigenständige Kompressionspfade, keine zwingend nacheinander angewandte Kombination.</a:t>
            </a:r>
          </a:p>
          <a:p>
            <a:r>
              <a:t>Alle drei Varianten, Base FP32, Pruned FP32 und Quantized, werden im PC-Referenzreplay und als Implementierung auf dem STM32H753 untersucht. Sie erhalten denselben geordneten Feature-Strom und verwenden dieselbe kontinuierliche Zustandsführung. So lassen sich Unterschiede durch Kompression von Unterschieden durch Datenwahl oder die Ausführungsplattform abgrenzen.</a:t>
            </a:r>
          </a:p>
          <a:p>
            <a:r>
              <a:t>Der Versuch enthält zwei Vergleichsebenen. Erstens: Schätzfehler und zeitliches Verhalten der komprimierten Modelle gegenüber dem Base-Modell bei gleichen Daten und Referenzlabels. Zweitens: Konsistenz zwischen PC-Referenz und STM32-Ausgaben sowie der Ressourcenbedarf auf dem Mikrocontroller, insbesondere Flash, RAM und Inferenzzeit. Die Fähigkeit zur Ausführung auf der Zielhardware und die Erhaltung der Schätzgüte bilden damit zusammen das Deployment-Ziel.</a:t>
            </a:r>
          </a:p>
          <a:p>
            <a:r>
              <a:t>Ziel ist ein geringerer Hardwarebedarf bei möglichst unverändertem Schätzfehler. Dies ist eine Zielsetzung, keine Behauptung identischer Fehler für alle Varianten. Die folgenden Ergebnisse prüfen die tatsächlich erzielten Kompromisse. Insbesondere können Quantization und Pruning Accuracy und Laufzeit unterschiedlich beeinflussen. Konsistente PC-/STM32-Ausgaben bezeichnen die numerisch geprüfte Übertragung derselben Modellvariante, nicht eine behauptete bitgenaue Gleichheit aller Varianten.</a:t>
            </a:r>
          </a:p>
          <a:p>
            <a:r>
              <a:t>Quelle: Florian Rzepka, bereitgestellte Dissertation main(1).pdf, Abschnitt 7.1, S. 123–124; Abschnitte 7.4–7.5; Abschnitt 7.6, S. 135–137; Abschnitt 7.7, S. 137–138.</a:t>
            </a:r>
          </a:p>
          <a:p>
            <a:endParaRPr/>
          </a:p>
          <a:p>
            <a:r>
              <a:t>Quellenverweise dieser Präsentation (eigene Nummerierung):</a:t>
            </a:r>
          </a:p>
          <a:p>
            <a:r>
              <a:t>Eigener Workflow: [11], Abb.7.3 und §7.6, S.130/135–137; Studie [20]. Hardwaretyp durch [14] belegt.</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[14] STMicroelectronics. STM32 Nucleo-144 Boards. NUCLEO-H753ZI, Data Brief. Hardwarequelle aus der Dissertation. https://www.st.com/resource/en/data_brief/nucleo-h753zi.pdf</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Unstructured Pruning erzeugt Nullgewichte. Ohne Sparse-Unterstützung werden die unveränderten dichten Matrizen weiterhin vollständig verarbeitet. Structured Pruning entfernt ganze Kanäle und verkleinert damit dichte Tensoren. Bei einem LSTM betrifft dies gekoppelte Gate-Zeilen, rekurrente Spalten, Bias, Zustände und nachgeschaltete MLP-Eingänge. Die Untersuchung nutzt Structured Pruning, damit der vorhandene manuelle FP32-Kernel kleinere Arrays unmittelbar ausführen kann.</a:t>
            </a:r>
          </a:p>
          <a:p>
            <a:endParaRPr/>
          </a:p>
          <a:p>
            <a:r>
              <a:t>Quelle: Florian Rzepka, bereitgestellte Dissertation main(1).pdf, Abschn. 3.5.1 und 7.4, Abb. 3.5, S. 25–27 und 130–132.</a:t>
            </a:r>
          </a:p>
          <a:p>
            <a:endParaRPr/>
          </a:p>
          <a:p>
            <a:r>
              <a:t>Quellenverweise dieser Präsentation (eigene Nummerierung):</a:t>
            </a:r>
          </a:p>
          <a:p>
            <a:r>
              <a:t>Eigene Pruning-Illustration nach [11], Abb.3.5, S.25. Prinzipien: unstructured [21], structured [22]. Nicht als unveränderte Abbildung aus diesen Papers ausgeben.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[21] S. Han, J. Pool, J. Tran und W. J. Dally (2015). Learning Both Weights and Connections for Efficient Neural Networks. NeurIPS 28, 1135–1143. https://proceedings.neurips.cc/paper/2015/hash/ae0eb3eed39d2bcef4622b2499a05fe6-Abstract.html</a:t>
            </a:r>
          </a:p>
          <a:p>
            <a:r>
              <a:t>[22] W. Wen et al. (2016). Learning Structured Sparsity in Deep Neural Networks. NeurIPS 29, 2074–2082. https://arxiv.org/abs/1608.03665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a:t>
            </a:r>
          </a:p>
          <a:p>
            <a:r>
              <a:t>Der Score s_h summiert für jede Hidden Unit h die L2-Zeilennormen ihrer Input weights W_ih und Recurrent weights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a:t>
            </a:r>
          </a:p>
          <a:p>
            <a:r>
              <a: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a:t>
            </a:r>
          </a:p>
          <a:p>
            <a:r>
              <a: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a:t>
            </a:r>
          </a:p>
          <a:p>
            <a:r>
              <a: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a:t>
            </a:r>
          </a:p>
          <a:p>
            <a:r>
              <a:t>Die ausführliche Schreibweise mit R aus der Dissertation und die MAC-Reduktionen stehen in Anhang 11. R bezeichnet dort die gemeinsame Menge der verbleibenden Hidden-Unit-Indizes.</a:t>
            </a:r>
          </a:p>
          <a:p>
            <a:r>
              <a:t>Quelle: Florian Rzepka, bereitgestellte Dissertation main(1).pdf, Abschnitt 3.5.1, Gleichung 3.19 und Abbildung 3.5, S. 24–27; Abschnitt 7.4, Gleichungen 7.11–7.12, S. 130–132.</a:t>
            </a:r>
          </a:p>
          <a:p>
            <a:endParaRPr/>
          </a:p>
          <a:p>
            <a:r>
              <a:t>Quellenverweise dieser Präsentation (eigene Nummerierung):</a:t>
            </a:r>
          </a:p>
          <a:p>
            <a:r>
              <a:t>Eigener Hidden-Unit-Score und gekoppelte Matrixkürzung: [11], §7.4, S.130–132, Gl.7.11/7.12; Studie [20]. Strukturelle/grouped Pruning-Grundlagen [22], [23]. Der konkrete L2-Gatescore ist eigene Implementierung, nicht eins zu eins aus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[22] W. Wen et al. (2016). Learning Structured Sparsity in Deep Neural Networks. NeurIPS 29, 2074–2082. https://arxiv.org/abs/1608.03665</a:t>
            </a:r>
          </a:p>
          <a:p>
            <a:r>
              <a:t>[23] E. Lobacheva et al. (2020). Structured Sparsification of Gated Recurrent Neural Networks. AAAI 34(04), 4989–4996. https://doi.org/10.1609/aaai.v34i04.5938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Leseführung der linken Spalte: Zunächst eine unbetonte Definition der Matrix W und der Positionsindices r,k. Danach zwei hervorgehobene Phasen. Quantization zur Speicherung: einmalige Ermittlung der Zeilenskalen s_r und der INT8-Codes q_{r,k} aus den trainierten FP32-Gewichten. Gespeichert werden die Codes als INT8 und die zugehörigen Skalen als FP32. Dequantization zur Laufzeit: Verwendung des rekonstruierten Näherungswerts W_hat_{r,k}=s_r q_{r,k} in der FP32-Berechnung. Bias, States und MLP bleiben ebenfalls FP32. Die Anmerkung zu epsilon_q ist in den folgenden Notizen erläutert und steht nicht als eigener hervorgehobener Punkt auf der Folie.</a:t>
            </a:r>
          </a:p>
          <a:p>
            <a:r>
              <a:t>Die Grafik ist der vergrößerte Rasterteil (b) aus Abbildung 3.7 der Dissertation, Abschnitt 3.5.2, S. 35. Der auf der vorherigen Fassung ebenfalls sichtbare generische Neuronenteil (a) ist für diese Ansicht durch einen reversiblen PowerPoint-Bildausschnitt ausgeblendet. Die Originalbilddatei bleibt unverändert eingebettet. Die drei Raster zeigen allgemeine Quantisierungsvarianten. Im hier ausgewerteten Embedded-Versuch wurde ausschließlich die rot markierte signed symmetric INT8-Variante für W_ih und W_hh verwendet. Die beiden UINT8-Raster sind allgemeine Alternativen, keine weiteren experimentell verglichenen Modellvarianten.</a:t>
            </a:r>
          </a:p>
          <a:p>
            <a:r>
              <a:t>W bezeichnet in den Formeln jeweils eine gesamte Gewichtsmatrix: entweder W_ih (Input weights) oder W_hh (Recurrent weights). W_{r,k} bezeichnet den einzelnen Eintrag in Zeile r und Spalte k dieser Matrix. Die Buchstaben ih und hh benennen die Art der Verbindung und sind keine Positionsindices r,k. Ausführlich wäre etwa (W_ih)_{r,k} zu schreiben. Auf der Folie wird die Kurzform W_{r,k} mit expliziter Matrix- und Indexdefinition verwendet.</a:t>
            </a:r>
          </a:p>
          <a:p>
            <a:r>
              <a:t>Die Quantisierung erfolgt für jede Matrix separat und je Zeile r. s_r ist eine eigene FP32-Skala pro Zeile, ermittelt aus deren größtem Gewichtsbetrag über alle Spalten k. Die Untergrenze epsilon_q schützt eine vollständig mit Nullen belegte Zeile. q_{r,k} bezeichnet den gespeicherten signed INT8-Code des jeweiligen Gewichts. Die Codes reichen symmetrisch von -127 bis +127; -128 bleibt ungenutzt, der Zero point ist 0. Die Symmetrie passt zu Gewichten mit positiven und negativen Werten.</a:t>
            </a:r>
          </a:p>
          <a:p>
            <a:r>
              <a:t>W_hat_{r,k}=s_r q_{r,k} ist der rekonstruierte FP32-Wert, der für die Rechnung verwendet wird. Durch Rundung ist er in der Regel eine Näherung des ursprünglichen W_{r,k}. Für endliche Gewichte verhindert die auf dem Zeilenmaximum beruhende Skala Clipping; der maximale Rundungsfehler ist |W_{r,k}-W_hat_{r,k}| &lt;= s_r/2. Diese Fehlergrenze ist zur Entlastung der Hauptfolie in den Notizen dokumentiert.</a:t>
            </a:r>
          </a:p>
          <a:p>
            <a:r>
              <a:t>In den konkret untersuchten C-Kernels wird jedes INT8-Gewicht in der Akkumulation nach FP32 konvertiert und mit seiner Zeilenskala multipliziert. Nur W_ih und W_hh verwenden INT8-Speicherung. Skalen, Bias, Hidden State, Cell State, Aktivierungen, MLP-Gewichte, MLP-Rechnung und Output bleiben FP32. Es handelt sich um post-training weight-only Mixed Precision. Die Topologie und die Zahl der gewichteten Matrixprodukt-MACs bleiben gleich, während der Gewichtsspeicher sinkt. Zusätzliche Konvertierungs- und Skalierungsoperationen können die Laufzeit beeinflussen. Weniger Speicher garantiert in diesem Kernel keine Beschleunigung. Ein voll-integer Kernel oder Quantization-aware Training wurde hier nicht untersucht.</a:t>
            </a:r>
          </a:p>
          <a:p>
            <a:r>
              <a:t>Die beiden unteren Raster erläutern Alternativen: unsigned zero-anchored UINT8 mit Zero point 0 für nichtnegative Werte; asymmetric UINT8 mit verschobenem Zero point für verschobene Wertebereiche. Trotz unsigned Codes können beim asymmetrischen Raster negative reale Werte repräsentiert werden, weil die Rekonstruktion s(q-z) verwendet.</a:t>
            </a:r>
          </a:p>
          <a:p>
            <a:r>
              <a:t>Quellen: Florian Rzepka, bereitgestellte Dissertation main(1).pdf, Abschnitt 3.5.2, Abbildung 3.7, S. 34–37; Abschnitt 7.5, Gleichungen 7.13–7.17 und Abbildung 7.5, S. 133–134.</a:t>
            </a:r>
          </a:p>
          <a:p>
            <a:endParaRPr/>
          </a:p>
          <a:p>
            <a:r>
              <a:t>Quellenverweise dieser Präsentation (eigene Nummerierung):</a:t>
            </a:r>
          </a:p>
          <a:p>
            <a:r>
              <a:t>Allgemeine Quantization/Dequantization: [24], [25]. Eigene Grafik [11], Abb.3.7 und eigene weight-only INT8-Implementierung §7.5, Gl.7.13–7.17, S.133–134. FP32-Akkumulation unterscheidet sich von integer-only Inferenz in [24].</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[24] B. Jacob et al. (2018). Quantization and Training of Neural Networks for Efficient Integer-Arithmetic-Only Inference. CVPR, 2704–2713. https://doi.org/10.1109/CVPR.2018.00286</a:t>
            </a:r>
          </a:p>
          <a:p>
            <a:r>
              <a:t>[25] R. Krishnamoorthi (2018). Quantizing Deep Convolutional Networks for Efficient Inference: A Whitepaper. arXiv-Preprint. https://arxiv.org/abs/1806.08342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Vergleich von Base, Pruned und Quantized im vollständigen Streaming-Replay mit derselben geordneten Feature-Sequenz und zustandsbehafteter Ausführung. Die Ergebnisse gelten für die untersuchten Modelle und diesen Replay-Lauf.</a:t>
            </a:r>
          </a:p>
          <a:p>
            <a:r>
              <a:t>Links: SOC. Quantized bleibt nahe am Base-Niveau. Pruned weist im vorliegenden Lauf eine geringere Streuung der absoluten Fehler auf; daraus folgt keine allgemeine Überlegenheit von Pruning und kein Nachweis eines Regularisierungseffekts.</a:t>
            </a:r>
          </a:p>
          <a:p>
            <a:r>
              <a:t>Rechts: SOH nach der vollständigen kausalen Filterkette. Bei Pruned und Quantized liegen Median und Streuung der absoluten Fehler höher als bei Base. Die Boxplots isolieren den Filtereinfluss nicht.</a:t>
            </a:r>
          </a:p>
          <a:p>
            <a:r>
              <a:t>Die schwarze Linie im Boxplot kennzeichnet den Median des absoluten Fehlers, nicht den MAE. Die MAE-Werte stehen in den Originallegenden und werden deshalb im Folientext nicht wiederholt.</a:t>
            </a:r>
          </a:p>
          <a:p>
            <a:r>
              <a:t>Kernaussage: SOC-Accuracy weitgehend erhalten; höhere SOH-Fehler nach Kompression. Keine pauschale Aussage, dass Kompression beide Zielgrößen unbeeinflusst lässt. Der Accuracy-Vergleich bildet die Grundlage für die anschließende Bewertung von Speicherbedarf und Hardware-Ausführung.</a:t>
            </a:r>
          </a:p>
          <a:p>
            <a:r>
              <a:t>Quelle: Dissertation, Kapitel 7, insbesondere Abschnitte 7.7–7.9, 7.12.1 und 7.13. Die ergänzenden Signed Error Histograms befinden sich in Anhang 12.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Flash-Bilanz: F_Firmware = F_Gewichte + F_Code + F_Konstanten. F_Gewichte bezeichnet den persistenten Gewichtsspeicher; F_Code umfasst Programmcode; F_Konstanten umfasst weitere gespeicherte Konstanten wie Biaswerte, Feature-Skalierung und Quantisierungsskalen.</a:t>
            </a:r>
          </a:p>
          <a:p>
            <a:r>
              <a:t>Die Quantisierungsskalen sind FP32-Skalierungsfaktoren pro Matrixzeile. Zusammen mit den gespeicherten INT8-Gewichtscodes erlauben sie die näherungsweise Dequantization eines Gewichts: W_hat[r,k] = s_r q[r,k]. Ein Skalenwert gilt für mehrere Gewichte einer Zeile. Er ist kein zusätzliches trainiertes Gewicht. Die Skalen zählen hier zu F_Konstanten und nicht ein zweites Mal zu F_Gewichte.</a:t>
            </a:r>
          </a:p>
          <a:p>
            <a:r>
              <a:t>RAM in Kapitel 7: Summe aus initialisiertem statischem Speicher (.data), nullinitialisiertem statischem Speicher (.bss) und dem größten beobachteten Stack-Bedarf während des Streaming-Replays. Die statischen Speicherbereiche ergeben sich aus der gelinkten Firmware. Der Stack-Anteil wird während der Ausführung beobachtet. Dies ist ein beobachteter maximaler Bedarf im Test, keine formale Worst-Case-Grenze. Abschnitt 7.6.2 nennt keinen zusätzlichen Heap-Anteil und beschreibt keine konkrete Stack-Messinstrumentierung. Das detailliertere Heap-/High-Water-Mark-Protokoll aus Kapitel 6 wird deshalb nicht auf diese Studie übertragen.</a:t>
            </a:r>
          </a:p>
          <a:p>
            <a:r>
              <a:t>RAM-Werte gemäß Tabelle 7.1: SOC Base 4,93 KB, Pruned 4,03 KB, Quantized 3,96 KB. Gemäß Tabelle 7.2: SOH Base 8,69 KB, Pruned 6,96 KB, Quantized 6,70 KB. Einsparung = 100 × (1 − RAM_Variante / RAM_Base). Gerundet auf eine Nachkommastelle: Pruned 18,3 % (SOC) und 19,9 % (SOH), Quantized 19,7 % (SOC) und 22,9 % (SOH).</a:t>
            </a:r>
          </a:p>
          <a:p>
            <a:r>
              <a:t>Die RAM-Ersparnis liegt deutlich unter der Flash-Ersparnis. Quantized behält FP32-Zustände, Gate-Aktivierungen und FP32-Arithmetik bei. Die Weight-only-Quantisierung reduziert daher vor allem den persistenten Gewichtsspeicher. Die gemessene verbleibende RAM-Differenz ist ein Firmware-Befund; ohne Speicherprofiling folgt daraus keine quantifizierte kausale Zuordnung einzelner Buffer oder Stack-Anteile.</a:t>
            </a:r>
          </a:p>
          <a:p>
            <a:r>
              <a:t>Quellen: main(1).pdf, Kapitel 7, Abschnitte 7.5 und 7.6.2, S. 132–137, Tabellen 7.1 und 7.2 sowie Abbildung 7.12. Einheiten der tabellarischen Speicherwerte hier gemäß Dissertation (KB).</a:t>
            </a:r>
          </a:p>
          <a:p>
            <a:r>
              <a:t>RAM-Bilanz in der vereinfachten funktionalen Darstellung: R_gesamt = R_Variablen + R_Puffer + R_Stack,max. Variablen und Puffer bilden gemeinsam den statisch belegten RAM. Erfasst werden sowohl initialisierte als auch nullinitialisierte statische Speicherbereiche.</a:t>
            </a:r>
          </a:p>
          <a:p>
            <a:r>
              <a:t>Die drei Summanden sind disjunkt definiert: R_Variablen bezeichnet die übrigen statischen Variablen ohne die unter R_Puffer gezählten statischen Puffer. Temporäre Variablen oder Puffer auf dem Stack gehören ausschließlich zum Stack-Anteil. Damit wird kein Speicher doppelt gezählt. Die Dissertation berichtet den statischen Gesamtanteil und den beobachteten Stack-Höchstbedarf, keine separat gemessenen Variablen-/Puffer-KPIs.</a:t>
            </a:r>
          </a:p>
          <a:p>
            <a:r>
              <a:t>R_Stack,max bezeichnet den größten beobachteten Stack-Bedarf im Streaming-Replay. Die Formel erläutert dieselbe Messgrenze wie in Abschnitt 7.6.2, S. 137. Sie ist keine zusätzliche Worst-Case-Messung.</a:t>
            </a:r>
          </a:p>
          <a:p>
            <a:r>
              <a:t>Der Vergleich rechts gruppiert die prozentualen Einsparungen gegenüber der jeweiligen Base-Firmware nach Pruning und Quantized. SOC und SOH stehen in festen Spalten. Flash: Pruning 40,9 % / 45,5 %, Quantized 50,2 % / 58,8 %. RAM: Pruning 18,3 % / 19,9 %, Quantized 19,7 % / 22,9 %. Grundlage: Tabellen 7.1 und 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r>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r>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r>
              <a:t>Pruning: Weniger Hidden Units, kleinere recurrent matrices und schmalerer Eingang des MLP-Heads; dadurch weniger Modelloperationen. Rund 30 % weniger Hidden Units reduzieren die Modell-MACs auf 54,9 % (SOC) beziehungsweise 54,3 % (SOH) der jeweiligen Base.</a:t>
            </a:r>
          </a:p>
          <a:p>
            <a:r>
              <a:t>SOC: Kernel 1,40 → 0,80 ms, also −42,9 %; Host 12,70 → 12,20 ms, also −3,9 %. SOH: Kernel 22,73 → 12,72 ms, also −44,0 %; Host 34,88 → 24,69 ms, also −29,2 %. Prozentänderung: 100 × (Zeit Variante / Zeit Base − 1). Die Formel wird zur Berechnung verwendet und bewusst nicht auf der Folie angezeigt.</a:t>
            </a:r>
          </a:p>
          <a:p>
            <a:r>
              <a:t>Interpretation: Die vergleichbare relative Kernel-Beschleunigung durch Pruning schlägt bei SOH stärker auf die Host-Latenz durch, weil der größere SOH-Kern mehr absolute Rechenzeit einspart. Beim SOC dominiert der außerhalb des Kernels liegende Anteil. Die Differenz von Host- und Kernel-Mittelwert beträgt für SOC ungefähr 11,3–11,5 ms, für SOH rund 12 ms. Dies sind abgeleitete Restzeiten, keine separat gemessenen UART-Zeitanteile. Übertragung, Scheduling und Rückgabe werden nicht isoliert profiliert.</a:t>
            </a:r>
          </a:p>
          <a:p>
            <a:r>
              <a:t>Ausblick: Übertragung und Scheduling des Test- und Deployment-Pfads untersuchen und optimieren, damit ein schnellerer Kernel stärker auf die End-to-End-Latenz durchschlägt. Pruning erzielt bereits einen messbaren Host-Gewinn; dieser ist bei SOC wesentlich kleiner als der Kernel-Gewinn. Quelle: Dissertation, Abschnitte 7.6.2, 7.11, 7.12.2 und 7.12.3, S. 136–137, 144–150.</a:t>
            </a:r>
          </a:p>
          <a:p>
            <a:r>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r>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r>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r>
              <a:t>Quantized: SOC-Kernel 1,40 → 6,99 ms, also +399,3 % beziehungsweise rund fünffache Zeit; SOC-Host 12,70 → 18,48 ms, also +45,5 %. SOH-Kernel 22,73 → 29,21 ms, also +28,5 %; SOH-Host 34,88 → 41,23 ms, also +18,2 %. Alle Änderungen relativ zu Base, nicht relativ zu Pruned.</a:t>
            </a:r>
          </a:p>
          <a:p>
            <a:r>
              <a:t>Gesicherte Implementierungseigenschaften: Nur die recurrent matrices W_ih und W_hh sind als INT8 gespeichert. Jedes recurrent weight wird während der Akkumulation nach FP32 konvertiert und mit seiner FP32-Row-Scale multipliziert. Scales, Biases, Hidden/Cell State, Gate Activations, MLP und Akkumulation verbleiben in FP32. Daher zusätzlicher Konvertierungs- und Skalierungsaufwand bei unveränderter Topologie und Modell-MAC-Anzahl. Dies ist Weight-only Mixed Precision und keine vollintegere Inferenz. Die betrachteten handgeschriebenen C-Kernel sind ohne Compileroptimierung gebaut.</a:t>
            </a:r>
          </a:p>
          <a:p>
            <a:r>
              <a:t>Die Dissertation nennt 17 920 zusätzliche skalare Multiplikationen für SOC und 68 608 für SOH. Die vereinfachte statische Operationsquote ist für beide etwa 1,81; die gemessenen Kernelzeitquoten unterscheiden sich dagegen deutlich: 4,99 und 1,29. Daher keine vollständige Erklärung des SOC-Anstiegs allein durch Dequantization.</a:t>
            </a:r>
          </a:p>
          <a:p>
            <a:r>
              <a:t>Weitere mögliche Beiträge gemäß Dissertation: Integer-to-Float-Konvertierung, Indexierung, Schleifen, Loads/Stores, nichtlineare Funktionen, Cache-Verhalten und fehlender optimierter Integer-Dot-Product-Kernel. Kein operation-level oder memory-bandwidth Profiling; quantitative Ursachenanteile sind nicht gemessen. Die Folie trennt belegte Implementierungseigenschaften von möglichen zusätzlichen Einflüssen.</a:t>
            </a:r>
          </a:p>
          <a:p>
            <a:r>
              <a:t>Ausblick: Cycle- und Speicherprofiling, Scale-Hoisting aus der inneren Schleife, zusammengefasste Scale-/Bias-Verarbeitung und DSP-orientierte Dot Products prüfen. Vollinteger-Kernel wären ein weitergehender Ansatz mit quantisierten Aktivierungen und Zuständen und erneuter Genauigkeitsprüfung. Ein höherer Optimierungsgrad muss ebenfalls auf numerische Gleichwertigkeit geprüft werden. Diese Verbesserungen wurden hier nicht gemessen.</a:t>
            </a:r>
          </a:p>
          <a:p>
            <a:r>
              <a:t>Quelle: Dissertation, Abschnitte 7.5, 7.6.2, 7.11 und 7.12.2, S. 133–137 und 144–149. Ergänzender technischer Kontext, kein Nachweis für die hier gemessenen Ursachenanteile: Arm CMSIS-NN beschreibt architekturspezifisch optimierte Cortex-M-Kernel, DSP/SIMD-Implementierungen und den Einfluss von Compileroptionen auf die Laufzeit: https://github.com/ARM-software/CMSIS-NN (abgerufen 11.09.2026).</a:t>
            </a:r>
          </a:p>
          <a:p>
            <a:r>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Antworten auf die drei Forschungsfragen aus Kapitel 1 und Folie 3. Die Aussagen fassen nachgewiesene Möglichkeiten und methodische Konsequenzen zusammen; sie sind keine universellen Leistungs- oder Effizienzgarantien für beliebige Zellen, Architekturen oder Hardware.</a:t>
            </a:r>
          </a:p>
          <a:p>
            <a:r>
              <a:t>Feature Engineering: Kapitel 5 zeigt eine SOH-Schätzung mit einem nichtrekurrenten MLP, dem kumulierte Stromgrößen und Lag Sequences alterungsrelevanten zeitlichen Kontext liefern. Damit kann Zeitabhängigkeit über die Eingabedarstellung erschlossen werden. Das Ergebnis belegt weder die universelle Überlegenheit von MLPs gegenüber rekurrenten Architekturen noch den kleinsten Hardwarebedarf. Zeitauflösung und Lag-Sequence Length hängen vom Datensatz und den Betriebsprofilen ab. Quellen: Dissertation, Abschnitte 1.1–1.2, 5.6 und 8.1, S. 2, 80–81 und 153.</a:t>
            </a:r>
          </a:p>
          <a:p>
            <a:r>
              <a:t>Zuverlässigkeit: Der untersuchte DD-GRU erreicht die höchste nominale Genauigkeit und zeigt starke Ergebnisse in mehreren Störklassen. Insbesondere bei systematischen Stromfehlern und vereinzeltem Sample Loss ist der Ansatz vergleichsweise robust. Mehrere gemessene und abgeleitete Eingangskanäle und deren zeitlicher Kontext bieten hierfür einen plausiblen Mechanismus. Diese Interpretation ist kein Ablationsnachweis. Lokale Spannungsspitzen und ungeeignete State-Resets legen zugleich spezifische Schwächen offen. Daher keine Aussage, dass DD bei jeder Störung, Recovery-Eigenschaft oder Hardwarekennzahl am besten abschneidet. Nominalfehler, lokale Störreaktionen, Recovery und State-Verwaltung müssen gemeinsam bewertet werden. Quellen: Dissertation, Abschnitte 6.5–6.6 und 8.1, S. 117–122 und 153–154.</a:t>
            </a:r>
          </a:p>
          <a:p>
            <a:r>
              <a:t>Embedded AI: Kapitel 7 belegt die kontinuierliche Ausführung neuronaler SOC- und SOH-Modelle auf dem STM32. Structured Pruning reduziert die rekurrente Dimension und kann dadurch Speicher- und Rechenbedarf senken. Weight-only Quantization reduziert die Gewichtsspeicherung; eine Beschleunigung folgt daraus nicht automatisch, wie der verwendete Mixed-Precision-Kernel zeigt. Die Genauigkeit bleibt beim SOC nahe an Base beziehungsweise verbessert sich beim Pruning im untersuchten Fall; bei SOH erhöhen die komprimierten Varianten den Fehler. Die belastbare übergreifende Aussage ist daher die Möglichkeit der Anpassung an Ressourcenbudgets bei anwendungsspezifischem Accuracy-Trade-off. Kompression, Ausführungsmodus und Firmware müssen gemeinsam auf der Zielhardware bewertet werden. Energie wurde nur als zeitbasierter Proxy unter konstanter Leistungsannahme untersucht; keine unabhängige Energiemessung. Quellen: Dissertation, Abschnitte 7.12–7.13 und 8.1, S. 148–154.</a:t>
            </a:r>
          </a:p>
          <a:p>
            <a:r>
              <a:t>Der BMS-Requirement-Rahmen ordnet die Aussagen in Performance, Hardware und Deployment ein. Quelle der unveränderten Abbildung: bestehende Präsentation und Dissertation, BMS-Requirement-Framework.</a:t>
            </a:r>
          </a:p>
          <a:p>
            <a:endParaRPr/>
          </a:p>
          <a:p>
            <a:r>
              <a:t>Quellenverweise dieser Präsentation (eigene Nummerierung):</a:t>
            </a:r>
          </a:p>
          <a:p>
            <a:r>
              <a:t>Zusammenfassung der eigenen Studien [12], [16], [20] in [11], Kap.5–7. Kein allgemeiner Beweis der Überlegenheit einer Architektur unter beliebigen Bedingungen.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[16] F. Rzepka, Q. Chen und J. Kowal (2026). Performance and Robustness Benchmarking Across Battery State-of-Charge Estimator Classes for Embedded Applications. Manuskript, bei Engineering Applications of Artificial Intelligence eingereicht.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Vielen Dank für Ihre Aufmerksamkeit!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Pearson-Matrix vergleicht SOH, Spannung, Temperatur sowie getrennte kumulative Lade- und Entladeströme auf resampelten, ausgerichteten Daten. Temperatur und kumulative Strommerkmale zeigen die klareren linearen Beziehungen zur SOH. Eine schwache lineare Korrelation schließt nichtlinearen Informationsgehalt nicht aus. Das Vorzeichen steht in den gedruckten Koeffizienten, während die Farbe den Betrag hervorhebt. Die Korrelation dient der begründeten Merkmalswahl und trennt keine kausal unabhängigen Alterungsmechanismen.</a:t>
            </a:r>
          </a:p>
          <a:p>
            <a:endParaRPr/>
          </a:p>
          <a:p>
            <a:r>
              <a:t>Quelle: Florian Rzepka, bereitgestellte Dissertation main(1).pdf, Abschn. 5.2.1–5.2.2, Abb. 5.1, S. 67–69.</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Heatmap fasst 18 Messstörungs- und Signalverfügbarkeitszeilen zusammen. Initialisierungs-Recovery wird separat ausgewertet. Strom-Offset ±50 mA erzeugt für alle Repräsentanten die größte globale Degradation. Gain und Offset verwenden je Zelle die ungünstigere Richtung. Andere Zeilen behalten ihre vorgegebene Störung. ΔMAE ist gegenüber der jeweiligen gepaarten Baseline definiert. Kleine negative Werte zeigen mögliche Kompensation eines schon vorhandenen Fehlers im begrenzten Fenster, keine bessere Fehlertoleranz durch eine Störung.</a:t>
            </a:r>
          </a:p>
          <a:p>
            <a:endParaRPr/>
          </a:p>
          <a:p>
            <a:r>
              <a:t>Quelle: Florian Rzepka, bereitgestellte Dissertation main(1).pdf, Abschn. 6.4.3 und 6.4.11, Abb. 6.15, S. 100–101 und 110–111.</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Für unabhängige mittelwertfreie Fehler mit Varianz σ² hat ihre Summe die Standardabweichung σ√N. Dies ist eine Aussage über die Summe der Rauschanteile, nicht über einen universellen SOC-Fehlerverlauf. Coulomb Counting glättet hochfrequente zufällige Anteile, obwohl jedes Sample eingeht. DD erhält Rohstrom und dI/dt, wodurch kurzfristige Schwankungen sichtbar werden. Bei der getesteten Stromrauschstufe bleibt der globale DD-ΔMAE nahe null. Lokale Transmission und globaler MAE beantworten unterschiedliche Fragen.</a:t>
            </a:r>
          </a:p>
          <a:p>
            <a:endParaRPr/>
          </a:p>
          <a:p>
            <a:r>
              <a:t>Quelle: Florian Rzepka, bereitgestellte Dissertation main(1).pdf, Abschn. 6.4.4, Abb. 6.7–6.8, S. 101–103.</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der GRU-Konvention dieser Darstellung multipliziert z den neuen Kandidaten. Ein komplementär definiertes Update-Gate kann dieselbe Dynamik mit vertauschten Faktoren ausdrücken. LSTM hat Hidden State h und Cell State c. GRU führt einen gemeinsamen Hidden State h. σ ist Sigmoid, tanh die hyperbolische Tangente und ⊙ das elementweise Produkt.</a:t>
            </a:r>
          </a:p>
          <a:p>
            <a:endParaRPr/>
          </a:p>
          <a:p>
            <a:r>
              <a:t>Quelle: Florian Rzepka, bereitgestellte Dissertation main(1).pdf, Abschn. 3.4.3, Abb. 3.3–3.4.</a:t>
            </a:r>
          </a:p>
          <a:p>
            <a:endParaRPr/>
          </a:p>
          <a:p>
            <a:r>
              <a:t>Quellenverweise dieser Präsentation (eigene Nummerierung):</a:t>
            </a:r>
          </a:p>
          <a:p>
            <a:r>
              <a:t>Eigene Darstellungen und Gleichungen nach [11], §3.4.3, Gl.3.12–3.16, Abb.3.3/3.4. Rekurrente Grundlagen: [18]. Angegebene GRU-Konvention gemäß Dissertation (z gewichtet Kandidat).</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feste LFP-Aufteilung enthält sechs Trainings-, drei Validierungs- und sechs unabhängige Testzellen. Modelle, Vorverarbeitung, Scaler, Pruning und HECM-Kennfelder werden vor der Holdout-Auswertung festgelegt. 16 verfügbare Zell-/SOH-Fenster und mehrere Seeds werden innerhalb der Zellen zusammengefasst. Die unabhängige statistische Einheit bleibt die Zelle, nicht das einzelne Sample oder Fenster. 10 000 hierarchische Bootstrap-Wiederholungen liefern 95-%-Konfidenzintervalle. Die Kompressionsauswertung nutzt daraus eine repräsentative vollständige Zelltrajektorie und ist nicht mit dem gesamten Sechs-Zell-Benchmark gleichzusetzen.</a:t>
            </a:r>
          </a:p>
          <a:p>
            <a:endParaRPr/>
          </a:p>
          <a:p>
            <a:r>
              <a:t>Quelle: Florian Rzepka, bereitgestellte Dissertation main(1).pdf, Abschn. 4.1.2, 6.2.4, 6.2.6 und 6.3, Tab. 4.3, S. 55–57 und 89–97.</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Flash stammt aus dem gelinkten Firmwareimage. RAM umfasst statische Daten plus maximal beobachteten Stack. DWT misst den Modellkernel über 10 000 Updates, UART, Sensorik und hostseitige Feature-Konstruktion sind ausgeschlossen. Die Projekte verwenden die Cortex-M7-FPU ohne Compileroptimierung. Bei SOH liegt die Skalierung für Base/Pruned vor dem Messintervall und bei Quantized im Forward-Aufruf. Dies begrenzt die exakte Vergleichbarkeit des kleinen Skalierungsanteils. E_est=0,5 W × t_kernel ist ein Proxy mit angenommener konstanter Gesamtboardleistung. Es liegt keine gesonderte modellabhängige Leistungsmessung vor.</a:t>
            </a:r>
          </a:p>
          <a:p>
            <a:endParaRPr/>
          </a:p>
          <a:p>
            <a:r>
              <a:t>Quelle: Florian Rzepka, bereitgestellte Dissertation main(1).pdf, Abschn. 7.6.2, Tab. 7.1–7.2, Gl. 7.21, S. 136–137.</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Originalgrafik enthält abweichende Zahlen. Für die beschriebene Architektur mit zwei LSTM-Biasvektoren ergeben sich 22 657 SOC- und 86 273 SOH-Parameter, während die Grafik 22 785 und 85 761 zeigt. Die Herleitung auf Folie 34 nennt ihre Zählkonvention ausdrücklich. Die Weight-only-Grenze erlaubt keine pauschale Vier-zu-eins-Reduktion aller Konstanten. Für die gemessenen Speicher-KPIs sind Tabellen 7.1 und 7.2 maßgeblich. Der SOC-RAM-Wert von Quantized beträgt dort 3,96 KB gegenüber ca. 3,5 KB in der Grafik.</a:t>
            </a:r>
          </a:p>
          <a:p>
            <a:endParaRPr/>
          </a:p>
          <a:p>
            <a:r>
              <a:t>Quelle: Florian Rzepka, bereitgestellte Dissertation main(1).pdf, Abschn. 3.4.3, 7.3 und 7.11, Abb. 7.12, Tab. 7.1–7.2.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drei Ausführungsarten verwenden dieselben pruned GRU-Gewichte, Skalierungen und FP32-Kernels. Die dargestellten Unterschiede stammen aus der wiederholten Sequenzauswertung und der Zustandsführung, nicht aus einer weiteren Modellkompression.</a:t>
            </a:r>
          </a:p>
          <a:p>
            <a:r>
              <a:t>Rolling Window setzt den Hidden State pro Ausgabe zurück und berechnet alle 2024 Samples des aktuellen Fensters erneut. Dies entspricht der primären Sequence-to-one-Semantik aus Training und Robustheitsbenchmark. Der hohe Wiederholungsaufwand erfordert ungefähr 724 ms Medianlatenz und 67,3 KiB Peak-RAM, entsprechend 72,4 % eines 1-s-Abtastintervalls.</a:t>
            </a:r>
          </a:p>
          <a:p>
            <a:r>
              <a:t>Continuous State übernimmt den Hidden State zum nächsten Update und berechnet nur den neuen Zeitschritt. Das reduziert die Medianlatenz auf etwa 0,425 ms und Peak-RAM auf 4,1 KiB. Auf den sechs nominalen Sequenzen bleibt der Schätzfehler ähnlich. Periodic Reset arbeitet ebenfalls inkrementell, setzt den Zustand jedoch nach jeweils 2024 Updates zurück. Dadurch geht akkumulierte Historie verloren, und es entstehen ausgeprägte Fehlerpeaks. Der Mittelwert der zellweisen Maximalfehler beträgt etwa 29 Prozentpunkte, einzelne Zellen erreichen ungefähr 39 Prozentpunkte. Das sind Maximalfehler, keine mittleren MAE-Werte.</a:t>
            </a:r>
          </a:p>
          <a:p>
            <a:r>
              <a:t>Continuous State ist damit die praktische effiziente DD-Konfiguration auf dieser Hardware. Seine Zustandssemantik unterscheidet sich jedoch vom trainierten Rolling Window. Die nominelle Vergleichsmessung allein überträgt deshalb nicht sämtliche Robustheitsergebnisse auf diesen Modus. Die Zustandsführung ist als eigene Deployment-Variante zu validieren.</a:t>
            </a:r>
          </a:p>
          <a:p>
            <a:r>
              <a:t>Quelle: Florian Rzepka, bereitgestellte Dissertation main(1).pdf, Abschnitt 6.2.4, S. 90; Abschnitt 6.4.12 und Abbildung 6.20, S. 115–116; Abschnitt 6.5.3, S. 119–120.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Beide Modelle sind Single-layer-LSTMs mit anschließendem ReLU-MLP-Head und separatem skalarem Ausgang. Die SOC-Eingänge sind U, I, T, Qc, dU/dt und dI/dt. SOH erhält t, U, I, T, EFC und Qc. Der RobustScaler wird auf Trainingsdaten angepasst und unverändert exportiert. Die Zustände h und c werden im 1-Hz-Replay ohne künstliche Segment-Resets weitergereicht. SOC nutzt H=M=64 und Sigmoid, SOH H=M=128 und linearen Ausgang. Dies unterscheidet sich vom stündlich aggregierten gemeinsamen SOH-Service des vorherigen Kapitels.</a:t>
            </a:r>
          </a:p>
          <a:p>
            <a:endParaRPr/>
          </a:p>
          <a:p>
            <a:r>
              <a:t>Quelle: Florian Rzepka, bereitgestellte Dissertation main(1).pdf, Abschn. 7.2–7.3, Abb. 7.1–7.2, Gl. 7.1–7.5, S. 124–128.</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MAC steht für Multiply–Accumulate. Eine Multiplikation mit anschließendem Addieren zum Akkumulator zählt als ein MAC. Die gewichtsbasierten Matrixprodukte pro Streaming-Update ergeben sich aus 4H(D + H) für die LSTM-Matrizen plus HM für die erste und M für die zweite MLP-Matrix.</a:t>
            </a:r>
          </a:p>
          <a:p>
            <a:r>
              <a:t>MACs zählen Rechenoperationen pro Update; Parameter zählen gespeicherte Modellkoeffizienten. Biasadditionen, Aktivierungsfunktionen, elementweise Zustandsoperationen, Indexierung und Speichertransfers sind im hier verwendeten MAC-Maß nicht enthalten. Der Aufwand für einen ganzen Datenstrom entspricht der Zahl der Updates mal dem Aufwand pro Update. Die Zahl pro Update ersetzt keine gemessene Laufzeit. Kernel, Datentypen, Speicherzugriffe und zusätzliche Skalierungsoperationen beeinflussen die gemessene MCU-Zeit.</a:t>
            </a:r>
          </a:p>
          <a:p>
            <a:r>
              <a:t>SOC: 22080 MACs je Update, SOH: 85120. Rechenbeispiel für einen einzelnen Dense Layer mit 6 Eingängen und 64 Ausgängen: 6×64=384 Gewichte, 64 Biaswerte, also 448 Parameter und 384 gewichtete MACs.</a:t>
            </a:r>
          </a:p>
          <a:p>
            <a:r>
              <a:t>Quelle für MACs: Dissertation, Abschnitt 7.3, Gleichung 7.9, S. 128; zur Grenze gegenüber tatsächlicher Laufzeit Abschnitt 7.6, S. 144–145.</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a:t>
            </a:r>
          </a:p>
          <a:p>
            <a:r>
              <a:t>Der Score s_h summiert für jede Hidden Unit h die L2-Zeilennormen ihrer Eingangsgewichte W_ih und rekurrenten Gewichte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a:t>
            </a:r>
          </a:p>
          <a:p>
            <a:r>
              <a: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a:t>
            </a:r>
          </a:p>
          <a:p>
            <a:r>
              <a: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a:t>
            </a:r>
          </a:p>
          <a:p>
            <a:r>
              <a: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a:t>
            </a:r>
          </a:p>
          <a:p>
            <a:r>
              <a:t>Die ausführliche Schreibweise mit R aus der Dissertation und die MAC-Reduktionen stehen in Anhang 11. R bezeichnet dort die gemeinsame Menge der verbleibenden Hidden-Unit-Indizes.</a:t>
            </a:r>
          </a:p>
          <a:p>
            <a:r>
              <a:t>Quelle: Florian Rzepka, bereitgestellte Dissertation main(1).pdf, Abschnitt 3.5.1, Gleichung 3.19 und Abbildung 3.5, S. 24–27; Abschnitt 7.4, Gleichungen 7.11–7.12, S. 130–132.</a:t>
            </a:r>
          </a:p>
          <a:p>
            <a:r>
              <a:t>Anhang 11 ergänzt die exakten Slice-Ausdrücke der Dissertation. R enthält die gewählten H′ Hidden-Unit-Indizes. W_ih^(g)[R,:] behält pro Gate-Block die zugehörigen Ausgangszeilen (R in der Rolle von I_out); sämtliche D Feature-Spalten bleiben erhalten. W_hh^(g)[R,R] behält pro Gate-Block dieselben Hidden-Unit-Indizes in Zeilen und Spalten. W_MLP,1[:,R] übernimmt dieselbe Auswahl in den Eingangsspalten des Heads (R in der Rolle von I_in). Damit schließen die verkleinerten Teilmatrizen dimensionskonsistent aneinander an.</a:t>
            </a:r>
          </a:p>
          <a:p>
            <a:r>
              <a:t>Bei unveränderter MLP-Breite M sinken die gewichteten MACs pro Update für SOC von 22 080 auf 12 124, für SOH von 85 120 auf 46 208. Das entspricht rund 45,1 Prozent beziehungsweise 45,7 Prozent. Dies sind die aus der Architektur berechneten Matrixprodukt-MACs gemäß Gleichung 7.9; Biasadditionen, Aktivierungen und weitere elementweise Operationen sind nicht mitgezählt. MAC-Reduktion ist nicht automatisch identisch mit gemessener Laufzeitreduktion auf dem STM32.</a:t>
            </a:r>
          </a:p>
          <a:p>
            <a:r>
              <a:t>Quelle der Rechenwerte: Dissertation, Abschnitte 7.3–7.4, Gleichungen 7.9–7.12, S. 128–132.</a:t>
            </a:r>
          </a:p>
          <a:p>
            <a:endParaRPr/>
          </a:p>
          <a:p>
            <a:r>
              <a:t>Quellenverweise dieser Präsentation (eigene Nummerierung):</a:t>
            </a:r>
          </a:p>
          <a:p>
            <a:r>
              <a:t>Eigener Hidden-Unit-Score und gekoppelte Matrixkürzung: [11], §7.4, S.130–132, Gl.7.11/7.12; Studie [20]. Strukturelle/grouped Pruning-Grundlagen [22], [23]. Der konkrete L2-Gatescore ist eigene Implementierung, nicht eins zu eins aus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[22] W. Wen et al. (2016). Learning Structured Sparsity in Deep Neural Networks. NeurIPS 29, 2074–2082. https://arxiv.org/abs/1608.03665</a:t>
            </a:r>
          </a:p>
          <a:p>
            <a:r>
              <a:t>[23] E. Lobacheva et al. (2020). Structured Sparsification of Gated Recurrent Neural Networks. AAAI 34(04), 4989–4996. https://doi.org/10.1609/aaai.v34i04.5938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Ergänzung zur gemeinsamen Accuracy-Folie: unveränderte Signed Error Histograms aus den ursprünglichen SOC- und SOH-Ergebnisgrafiken.</a:t>
            </a:r>
          </a:p>
          <a:p>
            <a:r>
              <a:t>Signed error = Prediction minus Ground Truth. Positive Werte bedeuten Überschätzung; negative Werte bedeuten Unterschätzung. Die Histogramme ergänzen die absoluten Fehlerverteilungen um Fehlerrichtung, Asymmetrie und Verteilungsform.</a:t>
            </a:r>
          </a:p>
          <a:p>
            <a:r>
              <a:t>SOC links, SOH rechts. SOH-Ergebnisse nach der vollständigen kausalen Filterkette. Die Verteilungen allein erlauben keine isolierte Quantifizierung des Filtereinflusses.</a:t>
            </a:r>
          </a:p>
          <a:p>
            <a:r>
              <a:t>Quelle: Dissertation, Kapitel 7, insbesondere Abschnitte 7.7–7.9, 7.12.1 und 7.13.</a:t>
            </a:r>
          </a:p>
          <a:p>
            <a:r>
              <a:t>Zusätzliche Sprechernotizen der ursprünglichen SOH-Folie:</a:t>
            </a:r>
          </a:p>
          <a:p>
            <a:r>
              <a:t>Die gezeigten MAE-Werte nach vollständiger Filterung sind 0,85 / 1,46 / 1,41 Prozentpunkte. Sie gehören zum vollständigen Replay in der Hauptauswertung. Die separate kontrollierte Filterdiagnose in Abschn. 7.8 nutzt eine eigene Vergleichssequenz und zeigt, dass die Nachverarbeitung auch die Rangfolge ändern kann. Die initiale Ausrichtung nutzt das Anfangslabel, weitere Stufen enthalten EMA und Ratenbegrenzer. Für den linearen EMA-Anteil der zweiten Stufe gelten α=10⁻⁶ bei 1 Hz, τ≈11,57 Tage und eine 90-%-Antwortzeit von 26,65 Tagen. Dies sind keine linearen Kennwerte der gesamten nichtlinearen Filterkette. Rohnetzfehler, gefilterter Fehler und Antwortverzug sind getrennt zu beurteilen.</a:t>
            </a:r>
          </a:p>
          <a:p>
            <a:r>
              <a:t>Quelle: Florian Rzepka, bereitgestellte Dissertation main(1).pdf, Abschn. 7.2, 7.7–7.9 und 7.12.1, Abb. 7.9, Gl. 7.6–7.8, S. 125–126 und 138–149.</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Übersicht der SOH-Modelle und ihrer berichteten Kennzahlen. Alle MAE-Werte sind Prozentpunkte, keine relativen Prozentabweichungen. Kein direkter Architekturvergleich: Kapitel 5 verwendet NMC-Alterungsdaten, die Kapitel 6 und 7 LFP-Daten mit unterschiedlichen Zielen und Auswertungsprotokollen.</a:t>
            </a:r>
          </a:p>
          <a:p>
            <a:r>
              <a:t>Kapitel 5: MLP mit kumulierten Stromgrößen und Lag-Sequenzen. Aggregierter MAE 1,10 pp. Ohne die problematischen Trainingszellen 3 und 4: 1,07 pp. Günstige Einzelzellen erreichen 0,253 bzw. 0,487 pp; die atypische Zelle 9 weist 2,528 pp auf. Diese Einzelzellwerte sind keine weiteren eigenständigen Modelle und stehen deshalb nicht als zusätzliche Zeilen in der Übersicht. Quelle: Abschnitt 5.5, S. 78–80.</a:t>
            </a:r>
          </a:p>
          <a:p>
            <a:r>
              <a:t>Kapitel 6: Gemeinsames SOH-Hilfsmodell für HDM, HECM und DD. Zwei LSTM-Layer mit Hidden Size 112, vorgeschaltetes Feature-Embedding und nachfolgende Residual-MLP-Blöcke. 20 stündlich aggregierte Features. Im Kapitel wird kein eigener zusammengefasster SOH-MAE berichtet. Das SOH-Hilfsmodell läuft im beschriebenen Hardwarevergleich nicht auf dem STM32; die SOC-GRU- und SOC-Verfahrenskennzahlen dürfen ihm nicht zugeordnet werden. Quelle: Abschnitt 6.2.2, S. 89–91.</a:t>
            </a:r>
          </a:p>
          <a:p>
            <a:r>
              <a:t>Kapitel 7: Eigenständiges SOH-LSTM mit MLP-Head. Base H = 128, Pruned H = 90, Quantized H = 128 mit INT8-Gewichten und unveränderter Topologie. MAE 0,85 / 1,46 / 1,41 pp nach der vollständigen kausalen Nachverarbeitung. Hardwarewerte gemäß Tabelle 7.2: Flash 335,00 / 182,41 / 138,00 KB, RAM 8,69 / 6,96 / 6,70 KB, Inferenz 22,73 / 12,72 / 29,21 ms.</a:t>
            </a:r>
          </a:p>
          <a:p>
            <a:r>
              <a:t>Inferenz bezeichnet die auf dem Board mit dem DWT-Cycle-Counter gemessene Kernelzeit, nicht die End-to-End-Host-Latenz. RAM entspricht statischem Speicher plus höchstem beobachtetem Streaming-Stack-Bedarf. Speicherwerte und Einheit KB sind wie in Tabelle 7.2 übernommen. Die SOH-MAE sind gefilterte Gesamtergebnisse. Quelle: Kapitel 7, Abschnitte 7.3, 7.6.2–7.9, S. 127–142, Tabelle 7.2 und Abbildung 7.9.</a:t>
            </a:r>
          </a:p>
          <a:p>
            <a:r>
              <a:t>Ein Strich bedeutet, dass hier kein zugehöriger Hardwarewert ausgewiesen ist; er bedeutet nicht null.</a:t>
            </a:r>
          </a:p>
          <a:p>
            <a:endParaRPr/>
          </a:p>
          <a:p>
            <a:r>
              <a:t>Quellenverweise dieser Präsentation (eigene Nummerierung):</a:t>
            </a:r>
          </a:p>
          <a:p>
            <a:r>
              <a:t>SOH-Zusammenstellung aus [11], Kap.5–7 bzw. den Studien [12], [16], [20]. Unterschiedliche Datensätze und Protokolle, kein direkter Architekturvergleich.</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[16] F. Rzepka, Q. Chen und J. Kowal (2026). Performance and Robustness Benchmarking Across Battery State-of-Charge Estimator Classes for Embedded Applications. Manuskript, bei Engineering Applications of Artificial Intelligence eingereicht.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Tabelle trennt Host-Latenz und Kernelzeit für die drei SOC- und SOH-Implementierungen. Werte in Millisekunden gemäß Tabellen 7.1 und 7.2 der Dissertation, Abschnitt 7.6.2, S. 136–137. Die letzte Spalte zeigt ausschließlich die Zeitersparnis durch Pruning relativ zu Base: 100 × (1 − t_Pruned/t_Base).</a:t>
            </a:r>
          </a:p>
          <a:p>
            <a:r>
              <a:t>Kernelzeit: Messintervall um den LSTM- und MLP-Kern auf dem STM32, erfasst mit dem DWT-Cycle-Counter und über 10 000 Streaming-Updates gemittelt. Es umfasst die im Kernel ausgeführten Instruktionen und Speicherzugriffe. UART, Host-Verarbeitung, Sensoraufnahme und hostseitige Feature-Erstellung liegen außerhalb dieses Intervalls.</a:t>
            </a:r>
          </a:p>
          <a:p>
            <a:r>
              <a:t>Host-Latenz: End-to-End-Dauer aus Sicht des Hosts einschließlich Übertragung der Features, Scheduling, Kernel-Ausführung und Rückgabe der Schätzung. </a:t>
            </a:r>
          </a:p>
          <a:p>
            <a:r>
              <a:t>SOC: Base 12,70 ms Host / 1,40 ms Kernel; Pruned 12,20 / 0,80 ms; Quantized 18,48 / 6,99 ms. Pruning senkt die Kernelzeit um 42,9 %, die Host-Latenz aber nur um 3,9 %. Ein großer Anteil der SOC-End-to-End-Dauer liegt außerhalb der Modellberechnung.</a:t>
            </a:r>
          </a:p>
          <a:p>
            <a:r>
              <a:t>SOH: Base 34,88 ms Host / 22,73 ms Kernel; Pruned 24,69 / 12,72 ms; Quantized 41,23 / 29,21 ms. Pruning senkt die Kernelzeit um 44,0 % und die Host-Latenz um 29,2 %. Wegen des größeren SOH-Kerns fällt dessen Beschleunigung stärker in der Gesamtdauer ins Gewicht.</a:t>
            </a:r>
          </a:p>
          <a:p>
            <a:r>
              <a:t>Quantized verwendet Weight-only INT8 mit FP32-Arithmetik und Dequantization im konkreten Referenzkernel. Die höheren gemessenen Zeiten sind implementationsspezifisch und keine allgemeine Aussage über die Geschwindigkeit von Quantisierung. Die Flash-Einsparung bedeutet hier keine Beschleunigung.</a:t>
            </a:r>
          </a:p>
          <a:p>
            <a:r>
              <a:t>Messgrenze: Feature-Skalierung liegt beim SOC im gemessenen Aufruf. Bei SOH liegt sie für Base und Pruned unmittelbar davor, beim Quantized-Forward-Path innerhalb. Dieser kleine affine Anteil wurde nicht separat quantifiziert. Die Projekte verwenden deaktivierte Compileroptimierung. Ergebnisse beziehen sich auf die beschriebenen Referenzkernel und den vollständigen Streaming-Replay.</a:t>
            </a:r>
          </a:p>
          <a:p>
            <a:r>
              <a:t>Die unveränderten Host-Latenzverteilungen mit prozentualen Änderungen und Interpretation stehen auf Folien 41 und 42. Quelle: Dissertation, Abschnitte 7.6.2 und 7.11, Tabellen 7.1 und 7.2, Abbildung 7.13.</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DWT-Kernelzeiten über 10 000 Updates: SOC 1,40 / 0,80 / 6,99 ms, SOH 22,73 / 12,72 / 29,21 ms. Die Rundungen ergeben SOC Pruned −43 %, Quantized +399 %, SOH Pruned −44 %, Quantized +29 %. Pruning reduziert analytische MACs um 45,1 beziehungsweise 45,7 %. Die Quellenkernels laufen ohne Compileroptimierung. Quantized enthält INT8-nach-FP32-Konvertierungen und zeilenweise Skalierungen innerhalb der Akkumulation, ohne optimierten Integer-Dot-Product-Kernel. Ohne Instruktions- und Speicherprofiling lässt sich der Zeitaufschlag nicht einer einzelnen Ursache zuordnen. Die SOH-Skalierung liegt bei Base/Pruned vor dem Messintervall, bei Quantized im Forward-Pfad. Ergebnisse gelten für diese Implementierung.</a:t>
            </a:r>
          </a:p>
          <a:p>
            <a:endParaRPr/>
          </a:p>
          <a:p>
            <a:r>
              <a:t>Quelle: Florian Rzepka, bereitgestellte Dissertation main(1).pdf, Abschn. 7.6.2, 7.11–7.12, Tab. 7.1–7.2, S. 136–137 und 144–151.</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50 Sekunden. Das MLP besteht aus einem Input Layer, Fully Connected Hidden Layers und einem Output Layer. Die Abbildung zeigt bereits diese englischen Fachbegriffe.</a:t>
            </a:r>
          </a:p>
          <a:p>
            <a:r>
              <a:t>Weighted Sum + Bias: Die Activations a des vorherigen Layers werden mit den Weights W verknüpft und um Bias b ergänzt. Das Ergebnis z ist die Pre-activation. Im ersten Hidden Layer sind die Inputs die ursprünglichen Eingangsfeatures; in späteren Hidden Layers sind es die Activations des vorherigen Layers. Der Index ℓ bezeichnet den aktuellen Layer, ℓ−1 den vorherigen Layer. Die hervorgehobene Verbindung in der Abbildung ist der einzelne Weight w_ji.</a:t>
            </a:r>
          </a:p>
          <a:p>
            <a:r>
              <a:t>Activation Function: a = f(z) liefert die Activations des aktuellen Layers. Die Hidden Layers verwenden eine Nonlinear Activation Function. Weights und Bias sind Trainable Parameters. Für den Output Layer richtet sich die Activation Function nach der Aufgabe; die Aussage über Nonlinear Activation bezieht sich hier ausdrücklich auf die Hidden Layers.</a:t>
            </a:r>
          </a:p>
          <a:p>
            <a:r>
              <a:t>Parameter Count pro Fully Connected Layer: n_in × n_out Weights sowie ein Bias für jeden der n_out Outputs. Daher N_Layer = n_in n_out + n_out. Zeitinformation stammt beim MLP aus den Inputs, nicht aus einem internen recurrent state.</a:t>
            </a:r>
          </a:p>
          <a:p>
            <a:r>
              <a:t>[Sources]</a:t>
            </a:r>
          </a:p>
          <a:p>
            <a:r>
              <a:t>Dissertation, Abschn. 3.4.2, Gl. 3.7–3.10; Abb. 3.2</a:t>
            </a:r>
          </a:p>
          <a:p>
            <a:r>
              <a:t>Quelle: main(1).pdf (Dissertation, bereitgestellte Fassung).</a:t>
            </a:r>
          </a:p>
          <a:p>
            <a:r>
              <a:t>05_Abb_3-2_MLP_Architektur(1).png – bereitgestellte Originalabbildung</a:t>
            </a:r>
          </a:p>
          <a:p>
            <a:r>
              <a:t>[/Sources]</a:t>
            </a:r>
          </a:p>
          <a:p>
            <a:endParaRPr/>
          </a:p>
          <a:p>
            <a:r>
              <a:t>Quellenverweise dieser Präsentation (eigene Nummerierung):</a:t>
            </a:r>
          </a:p>
          <a:p>
            <a:r>
              <a:t>MLP-Grafik und Gleichungen nach [11], §3.4.2, Abb.3.2 und Gl.3.7–3.10, S.15–16. Allgemeine Weighted-Sum-/Activation-/Parameterzählungsdefinitionen. Kein fremder Urheber für eine eigene Grafik angegeben.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Sechs unabhängige LFP-Holdout-Zellen ergeben 16 repräsentative Zell-/SOH-Fenster. Die Fensterwahl verwendet ausschließlich gemessene Betriebsmerkmale, keine Modellfehler. Standardfälle werden über 24 h bewertet, der einstündige Dropout über 48 h. Die Grundidee des Feature Engineering knüpft an den ersten Vortragsteil an, die konkrete Rekonstruktion ist hier kausal: Ladungsdurchsatz, EFC, Ableitungen und stündliche SOH-Statistiken entstehen aus dem jeweiligen Signalstrom. Die SOH-LSTM-Eingänge enthalten 20 stündlich aggregierte Merkmale. Die SOC-GRU erhält acht Eingänge. Unter Störungen müssen abhängige Features ebenfalls aus den gestörten Signalen rekonstruiert werden.</a:t>
            </a:r>
          </a:p>
          <a:p>
            <a:r>
              <a:t>Quelle: Dissertation main(1).pdf, Abschnitt 6.2.3, S. 89, Abschnitt 6.3, S. 95–96 und Abbildung 6.1, S. 86.</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Einteilung beschreibt drei Grundfamilien und vier konkrete Vertreter: DM als Direct Measurement mit fester Kapazität, HDM als dessen hybride Erweiterung, HECM als modellbasierter 2RC-EKF mit datengetriebenem SOH-Kontext und DD als datengetriebene GRU. Es handelt sich um vier feste Implementierungen, nicht um eine vollständige Bewertung aller denkbaren Modelle einer Familie. HDM, HECM und DD erhalten dieselbe kausale LSTM-SOH-Spur. Beim DM ist keine SOH-Schätzung angebunden. Die Hybridisierung von HDM und HECM verbindet den jeweiligen SOC-Kern mit datengetrieben geschätzter Kapazität beziehungsweise SOH-abhängigen Parametern.</a:t>
            </a:r>
          </a:p>
          <a:p>
            <a:r>
              <a:t>Quelle: Dissertation main(1).pdf, Abschnitte 6.2.1–6.2.3, Tabelle 6.1, S. 84–89.</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Abbildung 6.2 unterscheidet drei Obergruppen: Input Disturbances, Initialization Errors und Signal-Integrity Faults. Input Disturbances verändern die Messwerte, Initialization Errors den zugänglichen Startzustand und Signal-Integrity Faults Verfügbarkeit oder Zeitbezug der Samples. Die drei Obergruppen sind von den acht gleich gewichteten Störfamilien der späteren Robustheitsaggregation zu unterscheiden. Im Initialisierungsvergleich wird ein SOC-äquivalenter Startfehler von −10 Prozentpunkten eingebracht. Bei DD erfolgt dies über den Qc-Eingang. Parameter-Mismatch gehört nicht in das gemeinsame Cross-Model-Ranking.</a:t>
            </a:r>
          </a:p>
          <a:p>
            <a:r>
              <a:t>Quelle: Dissertation main(1).pdf, Abschnitt 6.2.5, Abbildung 6.2 und Tabelle 6.2, S. 90–93, Abschnitt 6.2.6, S. 94–95.</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Flash- und RAM-Bedarf der isolierten SOC-Kerne auf dem STM32H753. Der gezeigte DD-Balken entspricht Continuous State. Rolling Window dient hier als Vergleich für den ergänzenden Modusbefund. Die gemeinsame SOH-Spur wird extern bereitgestellt, die Messung entspricht daher nicht dem Ressourcenbedarf eines vollständigen BMS. DM und HDM verwenden wenige skalare Zustände. Die HECM-Kennfelder dominieren den Flash-Bedarf. Beim DD entfallen Gewichte auf Flash, Laufzeitzustände und Zwischenwerte auf RAM.</a:t>
            </a:r>
          </a:p>
          <a:p>
            <a:r>
              <a:t>Eine zusätzliche Untersuchung vergleicht die gleichen DD-GRU-Gewichte in Rolling Window, Continuous State und Periodic Reset. Rolling Window berechnet das kausale Fenster von 2024 Samples neu. Continuous State behält den Zustand und führt je Sample nur ein Update aus. Die mediane Latenz sinkt von 724 ms auf 0,425 ms, der RAM-Bedarf von 67,3 KiB auf 4,1 KiB. Dies entspricht einem Faktor 1703.5294117647059 für die Latenz und einer RAM-Reduktion von 93.9078751857355 %. Die Folie rundet auf 1700× und 94 %.</a:t>
            </a:r>
          </a:p>
          <a:p>
            <a:r>
              <a:t>Die ähnlichen Nominalfehler beziehen sich auf die sechs untersuchten Sequenzen. Die unterschiedlichen Zustandssemantiken erfordern eine eigene Validierung; der Betriebsartenvergleich mit Reset-Effekten befindet sich in Anhang 8.</a:t>
            </a:r>
          </a:p>
          <a:p>
            <a:r>
              <a:t>Quelle: main(1).pdf, Abschnitt 6.4.12, S. 113–116.</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MG-FARM-Konsortium. Projektbericht: Projektübersicht (Abbildung). Bildquelle laut Verfasser; genaue Berichtsangabe nicht vorliegend. </a:t>
            </a:r>
          </a:p>
          <a:p>
            <a:endParaRPr/>
          </a:p>
          <a:p>
            <a:endParaRPr/>
          </a:p>
          <a:p>
            <a:r>
              <a:t>[2] J. Kim et al. (2018). Estimation of Li-ion Battery State of Health Based on Multilayer Perceptron: As an EV Application. IFAC-PapersOnLine 51(28), 392–397. https://doi.org/10.1016/j.ifacol.2018.11.734</a:t>
            </a:r>
          </a:p>
          <a:p>
            <a:r>
              <a:t>Entspricht Literaturverzeichnis der Dissertation [105].</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Entspricht Literaturverzeichnis der Dissertation [106].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W. Li et al. (2021). Online Capacity Estimation of Lithium-Ion Batteries with Deep Long Short-Term Memory Networks. Journal of Power Sources 482, 228863. https://doi.org/10.1016/j.jpowsour.2020.228863</a:t>
            </a:r>
          </a:p>
          <a:p>
            <a:r>
              <a:t>Entspricht Literaturverzeichnis der Dissertation [116].</a:t>
            </a:r>
          </a:p>
          <a:p>
            <a:endParaRPr/>
          </a:p>
          <a:p>
            <a:r>
              <a:t>[5] X. Li et al. (2015). Robustness of SOC Estimation Algorithms for EV Lithium-Ion Batteries against Modeling Errors and Measurement Noise. Mathematical Problems in Engineering, Artikel 719490. https://doi.org/10.1155/2015/719490</a:t>
            </a:r>
          </a:p>
          <a:p>
            <a:r>
              <a:t>Entspricht Literaturverzeichnis der Dissertation [7].</a:t>
            </a:r>
          </a:p>
          <a:p>
            <a:endParaRPr/>
          </a:p>
          <a:p>
            <a:r>
              <a:t>[6] F. Berger et al. (2024). Benchmarking Battery Management System Algorithms – Requirements, Scenarios and Validation for Automotive Applications. eTransportation 22, 100355. https://doi.org/10.1016/j.etran.2024.100355</a:t>
            </a:r>
          </a:p>
          <a:p>
            <a:r>
              <a:t>Entspricht Literaturverzeichnis der Dissertation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O. Aiello (2020). Electromagnetic Susceptibility of Battery Management Systems’ ICs for Electric Vehicles: Experimental Study. Electronics 9(3), 510. https://doi.org/10.3390/electronics9030510</a:t>
            </a:r>
          </a:p>
          <a:p>
            <a:r>
              <a:t>Entspricht Literaturverzeichnis der Dissertation [117].</a:t>
            </a:r>
          </a:p>
          <a:p>
            <a:endParaRPr/>
          </a:p>
          <a:p>
            <a:r>
              <a:t>[8] G. Crocioni et al. (2020). Li-Ion Batteries Parameter Estimation With Tiny Neural Networks Embedded on Intelligent IoT Microcontrollers. IEEE Access 8, 122135–122146. https://doi.org/10.1109/ACCESS.2020.3007046</a:t>
            </a:r>
          </a:p>
          <a:p>
            <a:r>
              <a:t>Entspricht Literaturverzeichnis der Dissertation [73].</a:t>
            </a:r>
          </a:p>
          <a:p>
            <a:endParaRPr/>
          </a:p>
          <a:p>
            <a:r>
              <a:t>[9] S. Giazitzis et al. (2024). A Case Study of a Tiny Machine Learning Application for Battery State-of-Charge Estimation. Electronics 13(10), 1964. https://doi.org/10.3390/electronics13101964</a:t>
            </a:r>
          </a:p>
          <a:p>
            <a:r>
              <a:t>Entspricht Literaturverzeichnis der Dissertation [72].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D. H. Park, H.-d. Jang und D. E. Chang (2023). Optimized Network Pruning Method for Li-ion Batteries State-of-charge Estimation on Robot Embedded System. Journal of Korea Robotics Society 18(1), 88–92. https://doi.org/10.7746/jkros.2023.18.1.088</a:t>
            </a:r>
          </a:p>
          <a:p>
            <a:endParaRP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endParaRPr/>
          </a:p>
          <a:p>
            <a:endParaRPr/>
          </a:p>
          <a:p>
            <a:r>
              <a:t>[12] F. Rzepka, P. Hematty, M. Schmitz und J. Kowal (2023). Neural Network Architecture for Determining the Aging of Stationary Storage Systems in Smart Grids. Energies 16(17), 6103. https://doi.org/10.3390/en16176103</a:t>
            </a:r>
          </a:p>
          <a:p>
            <a:r>
              <a:t>Entspricht Literaturverzeichnis der Dissertation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F. Rzepka (2025). Design of Experiments for Cyclic Aging of LFP 18650 Cells: Impact of Charge/Discharge C-Rates, Depth of Discharge, and Temperature on Battery Degradation. Datensatz, TU Berlin / DepositOnce, 13. November 2025. https://doi.org/10.14279/DEPOSITONCE-24800</a:t>
            </a:r>
          </a:p>
          <a:p>
            <a:r>
              <a:t>Entspricht Literaturverzeichnis der Dissertation [93].</a:t>
            </a:r>
          </a:p>
          <a:p>
            <a:endParaRPr/>
          </a:p>
          <a:p>
            <a:r>
              <a:t>[14] STMicroelectronics. STM32 Nucleo-144 Boards. NUCLEO-H753ZI, Data Brief. Hardwarequelle aus der Dissertation. https://www.st.com/resource/en/data_brief/nucleo-h753zi.pdf</a:t>
            </a:r>
          </a:p>
          <a:p>
            <a:r>
              <a:t>Entspricht Literaturverzeichnis der Dissertation [136].</a:t>
            </a:r>
          </a:p>
          <a:p>
            <a:endParaRPr/>
          </a:p>
          <a:p>
            <a:r>
              <a:t>[15] L. Li et al. (2016). Hyperband: A Novel Bandit-Based Approach to Hyperparameter Optimization. arXiv-Preprint, Fassung gemäß Dissertation. https://arxiv.org/abs/1603.06560</a:t>
            </a:r>
          </a:p>
          <a:p>
            <a:r>
              <a:t>Entspricht Literaturverzeichnis der Dissertation [110].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F. Rzepka, Q. Chen und J. Kowal (2026). Performance and Robustness Benchmarking Across Battery State-of-Charge Estimator Classes for Embedded Applications. Manuskript, bei Engineering Applications of Artificial Intelligence eingereicht. </a:t>
            </a:r>
          </a:p>
          <a:p>
            <a:r>
              <a:t>Entspricht Literaturverzeichnis der Dissertation [2].</a:t>
            </a:r>
          </a:p>
          <a:p>
            <a:endParaRPr/>
          </a:p>
          <a:p>
            <a:r>
              <a:t>[17] G. L. Plett (2015). Battery Management Systems. Volume 1: Battery Modeling. Artech House. Grundlagen zu Batteriemodellen und Zustandsbestimmung. </a:t>
            </a:r>
          </a:p>
          <a:p>
            <a:r>
              <a:t>Entspricht Literaturverzeichnis der Dissertation [4].</a:t>
            </a:r>
          </a:p>
          <a:p>
            <a:endParaRPr/>
          </a:p>
          <a:p>
            <a:r>
              <a:t>[18] Z. C. Lipton, J. Berkowitz und C. Elkan (2015). A Critical Review of Recurrent Neural Networks for Sequence Learning. arXiv-Preprint. https://arxiv.org/abs/1506.00019</a:t>
            </a:r>
          </a:p>
          <a:p>
            <a:r>
              <a:t>Entspricht Literaturverzeichnis der Dissertation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 J. Li et al. (2021). Joint Estimation of State of Charge and State of Health for Lithium-ion Battery Based on Dual Adaptive Extended Kalman Filter. International Journal of Energy Research 45(9), 13307–13322. https://doi.org/10.1002/er.6658</a:t>
            </a:r>
          </a:p>
          <a:p>
            <a:r>
              <a:t>Entspricht Literaturverzeichnis der Dissertation [30].</a:t>
            </a:r>
          </a:p>
          <a:p>
            <a:endParaRPr/>
          </a:p>
          <a:p>
            <a:r>
              <a:t>[20] F. Rzepka und J. Kowal (2026). Embedded Artificial Intelligence in Battery Management Systems: Pruning and Quantization for Efficient State-of-Charge and State-of-Health Estimation. SSRN-Preprint, 24. Februar 2026. https://doi.org/10.2139/ssrn.6298526</a:t>
            </a:r>
          </a:p>
          <a:p>
            <a:r>
              <a:t>Entspricht Literaturverzeichnis der Dissertation [3].</a:t>
            </a:r>
          </a:p>
          <a:p>
            <a:endParaRPr/>
          </a:p>
          <a:p>
            <a:r>
              <a:t>[21] S. Han, J. Pool, J. Tran und W. J. Dally (2015). Learning Both Weights and Connections for Efficient Neural Networks. NeurIPS 28, 1135–1143. https://proceedings.neurips.cc/paper/2015/hash/ae0eb3eed39d2bcef4622b2499a05fe6-Abstract.html</a:t>
            </a:r>
          </a:p>
          <a:p>
            <a:r>
              <a:t>Entspricht Literaturverzeichnis der Dissertation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W. Wen et al. (2016). Learning Structured Sparsity in Deep Neural Networks. NeurIPS 29, 2074–2082. https://arxiv.org/abs/1608.03665</a:t>
            </a:r>
          </a:p>
          <a:p>
            <a:r>
              <a:t>Entspricht Literaturverzeichnis der Dissertation [47].</a:t>
            </a:r>
          </a:p>
          <a:p>
            <a:endParaRPr/>
          </a:p>
          <a:p>
            <a:r>
              <a:t>[23] E. Lobacheva et al. (2020). Structured Sparsification of Gated Recurrent Neural Networks. AAAI 34(04), 4989–4996. https://doi.org/10.1609/aaai.v34i04.5938</a:t>
            </a:r>
          </a:p>
          <a:p>
            <a:r>
              <a:t>Entspricht Literaturverzeichnis der Dissertation [131].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 B. Jacob et al. (2018). Quantization and Training of Neural Networks for Efficient Integer-Arithmetic-Only Inference. CVPR, 2704–2713. https://doi.org/10.1109/CVPR.2018.00286</a:t>
            </a:r>
          </a:p>
          <a:p>
            <a:r>
              <a:t>Entspricht Literaturverzeichnis der Dissertation [13].</a:t>
            </a:r>
          </a:p>
          <a:p>
            <a:endParaRPr/>
          </a:p>
          <a:p>
            <a:r>
              <a:t>[25] R. Krishnamoorthi (2018). Quantizing Deep Convolutional Networks for Efficient Inference: A Whitepaper. arXiv-Preprint. https://arxiv.org/abs/1806.08342</a:t>
            </a:r>
          </a:p>
          <a:p>
            <a:r>
              <a:t>Entspricht Literaturverzeichnis der Dissertation [66].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Beispielwerte auf dieser Folie dienen nur zur Erklärung und sind keine gemessenen Benchmarkwerte.</a:t>
            </a:r>
          </a:p>
          <a:p xmlns:a="http://schemas.openxmlformats.org/drawingml/2006/main">
            <a:r>
              <a:t/>
            </a:r>
          </a:p>
          <a:p xmlns:a="http://schemas.openxmlformats.org/drawingml/2006/main">
            <a:r>
              <a:t>1. Zwei unabhängige Anzahlen: n bezeichnet unabhängige Zellen. m bezeichnet getestete Modellpaare. Vier Modelle ergeben 4·3/2 = 6 Paare. DM gegen DD und DD gegen DM sind derselbe zweiseitige Vergleich. Bei acht Zellen bleibt m = 6.</a:t>
            </a:r>
          </a:p>
          <a:p xmlns:a="http://schemas.openxmlformats.org/drawingml/2006/main">
            <a:r>
              <a:t>2. Cell-macro: Fenster und gegebenenfalls Seeds zuerst innerhalb einer Zelle zusammenfassen. Die sechs Zellwerte gleich gewichten. Mehr Fenster derselben Zelle liefern keine neuen unabhängigen Zellen.</a:t>
            </a:r>
          </a:p>
          <a:p xmlns:a="http://schemas.openxmlformats.org/drawingml/2006/main">
            <a:r>
              <a:t>3. Für ein Modellpaar d_i = MAE_HECM,i − MAE_DD,i bilden. Ein positives d_i bedeutet einen kleineren DD-Fehler. Ein MAE von 5 Prozent gegenüber 3 Prozent bedeutet eine Differenz von 2 Prozentpunkten.</a:t>
            </a:r>
          </a:p>
          <a:p xmlns:a="http://schemas.openxmlformats.org/drawingml/2006/main">
            <a:r>
              <a:t>4. Der exakte Sign-Flip-Test setzt unter der Nullhypothese unabhängige, gleich wahrscheinliche Vorzeichen voraus, bedingt auf die Beträge. Bloß gleiche Mittelwerte reichen für die Exaktheit nicht aus. Für jede Zelle + oder − wählen, die Beträge behalten. Es gibt 2^n Muster, nicht n^2. Für jedes Muster den Mittelwert bilden. Zweiseitig zählt der Anteil mit mindestens so großem Betrag wie beobachtet.</a:t>
            </a:r>
          </a:p>
          <a:p xmlns:a="http://schemas.openxmlformats.org/drawingml/2006/main">
            <a:r>
              <a:t>5. Beispiel mit sechs positiven Differenzen 1,2,1,2,1,2: beobachtetes Mittel 1,5 Prozentpunkte. Nur ausschließlich positive und ausschließlich negative Vorzeichen erreichen Betrag 1,5. Daher p = 2/64. Das ist die theoretisch kleinste erreichbare zweiseitige Wahrscheinlichkeit bei sechs nichtdegenerierten Differenzen. Tatsächliche p-Werte können größer sein, insbesondere bei gemischten Vorzeichen oder degenerierten Bindungen.</a:t>
            </a:r>
          </a:p>
          <a:p xmlns:a="http://schemas.openxmlformats.org/drawingml/2006/main">
            <a:r>
              <a:t>6. Alpha = 0,05 ist eine vorab gewählte Konvention, keine aus der Zellzahl hergeleitete Größe. Holm kontrolliert bei gültigen Einzeltests die Wahrscheinlichkeit mindestens einer falschen Zurückweisung innerhalb der Testfamilie auf höchstens Alpha. Alle sechs p-Werte sortieren. Den kleinsten zunächst mit 0,05/6 vergleichen. Nur wenn diese Hürde genommen wird, den nächsten mit 0,05/5 vergleichen, dann 0,05/4 usw. Beim ersten nicht bestandenen Schritt stoppen. Holm braucht keine Unabhängigkeit der Modellvergleiche.</a:t>
            </a:r>
          </a:p>
          <a:p xmlns:a="http://schemas.openxmlformats.org/drawingml/2006/main">
            <a:r>
              <a:t>7. Bei n=6 und m=6 ist bereits die erste Hürde unerreichbar: 0,03125 &gt; 0,008333. Bei n=7 ebenfalls. Bei n=8 ist 0,0078125 &lt; 0,008333, daher erstmals möglich. Acht ist eine rechnerische Untergrenze, keine Fallzahlplanung mit garantierter Teststärke. Dafür sind Effektgröße und Streuung relevant.</a:t>
            </a:r>
          </a:p>
          <a:p xmlns:a="http://schemas.openxmlformats.org/drawingml/2006/main">
            <a:r>
              <a:t>8. Ergebnis für die Verteidigung: Gemessene Genauigkeitsunterschiede bleiben berichtbare Ergebnisse. Mit sechs Zellen und sechs Holm-korrigierten zweiseitigen Paarvergleichen lässt sich statistische Signifikanz nicht erreichen. Nicht signifikant bedeutet nicht gleichwertig. Ein unbereinigter p-Wert ist keine Wahrscheinlichkeit dafür, dass die Nullhypothese wahr ist.</a:t>
            </a:r>
          </a:p>
          <a:p xmlns:a="http://schemas.openxmlformats.org/drawingml/2006/main">
            <a:r>
              <a:t/>
            </a:r>
          </a:p>
          <a:p xmlns:a="http://schemas.openxmlformats.org/drawingml/2006/main">
            <a:r>
              <a:t>Grundlage: Dissertation_Fragenkatalog_und_Lernskript.pdf, Frage 63. Verifiziertes Auswertungsskript: DL_Models/LFP_SOC_SOH_Model/4_simulation_environment/results/build_jes2_paper_results.py, exact_sign_flip_pvalue, holm_adjust und build_paired_statistical_tests. Die Aussage dieser Folie bezieht sich auf die Familie der sechs Modellpaarvergleiche.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erklärt den Zell-Bootstrap für die deterministische Baseline. Alle Zahlen in der Tabelle sind erfundene Lehrbeispiele und keine Benchmark-Ergebnisse.</a:t>
            </a:r>
          </a:p>
          <a:p xmlns:a="http://schemas.openxmlformats.org/drawingml/2006/main">
            <a:r>
              <a:t/>
            </a:r>
          </a:p>
          <a:p xmlns:a="http://schemas.openxmlformats.org/drawingml/2006/main">
            <a:r>
              <a:t>Ausgangspunkt: Sechs unabhängige Holdout-Zellen liefern 16 Testfenster. Fünf Zellen haben je drei Fenster, eine ein Fenster. Zuerst pro Zelle den MAE über ihre Fenster mitteln. Danach die sechs Zellwerte gleich gewichtet mitteln. Dieser ursprüngliche Mittelwert ist der dargestellte Balken. Er wird nicht durch den Durchschnitt der Bootstrap-Mittelwerte ersetzt.</a:t>
            </a:r>
          </a:p>
          <a:p xmlns:a="http://schemas.openxmlformats.org/drawingml/2006/main">
            <a:r>
              <a:t/>
            </a:r>
          </a:p>
          <a:p xmlns:a="http://schemas.openxmlformats.org/drawingml/2006/main">
            <a:r>
              <a:t>Im Beispiel lauten die sechs Zellwerte 2,3,4,5,6,10 Prozent MAE. Ihr Mittelwert ist 5 Prozent. Beim Ziehen mit Zurücklegen bleibt jede Zelle nach jeder Ziehung erneut verfügbar. Die Ziehung A,A,B,C,D,F enthält A zweimal, lässt E aus und liefert 26/6 = 4,333 Prozent. F,F,E,D,C,B liefert 38/6 = 6,333 Prozent. Die Messwerte selbst bleiben erhalten. Nur ihre Häufigkeit in der jeweiligen Zusammenstellung ändert sich.</a:t>
            </a:r>
          </a:p>
          <a:p xmlns:a="http://schemas.openxmlformats.org/drawingml/2006/main">
            <a:r>
              <a:t/>
            </a:r>
          </a:p>
          <a:p xmlns:a="http://schemas.openxmlformats.org/drawingml/2006/main">
            <a:r>
              <a:t>Jede Wiederholung erzeugt eine neue Stichprobe von sechs Zellen und einen Mittelwert. Nach 10.000 Wiederholungen liegen 10.000 Mittelwerte vor. Das sind rechnerische Wiederholungen mit vorhandenen Daten, keine neuen Zellen oder physikalischen Versuche. Auch Netztraining und Messungen werden dafür nicht wiederholt. Mehr Wiederholungen stabilisieren die numerische Bestimmung der Quantile, ersetzen aber keine unabhängigen Zellen.</a:t>
            </a:r>
          </a:p>
          <a:p xmlns:a="http://schemas.openxmlformats.org/drawingml/2006/main">
            <a:r>
              <a:t/>
            </a:r>
          </a:p>
          <a:p xmlns:a="http://schemas.openxmlformats.org/drawingml/2006/main">
            <a:r>
              <a:t>Das verwendete Perzentilintervall reicht vom 2,5. bis zum 97,5. Perzentil der Bootstrap-Mittelwerte. Bei 10.000 Ziehungen entspricht das ungefähr den Grenzen nach den untersten 250 und vor den obersten 250 sortierten Werten. Die konkrete Perzentilberechnung kann zwischen benachbarten Werten interpolieren. Die mittleren 95 Prozent der Bootstrap-Verteilung liegen dazwischen. Das Intervall muss nicht symmetrisch um den ursprünglichen Mittelwert sein.</a:t>
            </a:r>
          </a:p>
          <a:p xmlns:a="http://schemas.openxmlformats.org/drawingml/2006/main">
            <a:r>
              <a:t/>
            </a:r>
          </a:p>
          <a:p xmlns:a="http://schemas.openxmlformats.org/drawingml/2006/main">
            <a:r>
              <a:t>Die 95 Prozent sind eine vorab gewählte Konvention. Sie entstehen aus 100 minus zweimal 2,5. Für 99 Prozent verwendet man die 0,5- und 99,5-Perzentile derselben Bootstrap-Verteilung. Das Intervall wird dadurch breiter. Die häufigkeitsstatistische Interpretation bezieht sich auf das Verfahren: Bei vielen unabhängigen Wiederholungen der gesamten Datenerhebung würden ungefähr 95 Prozent der so berechneten Intervalle den Zielparameter einschließen, wenn das Verfahren unter den gegebenen Bedingungen gut kalibriert ist. Mit nur sechs Zellen ist diese Abdeckung nicht garantiert. Nicht sagen: Der wahre Mittelwert liegt mit exakt 95 Prozent Wahrscheinlichkeit im konkret berechneten Intervall. Auch nicht sagen: 95 Prozent der Testfenster liegen im Intervall.</a:t>
            </a:r>
          </a:p>
          <a:p xmlns:a="http://schemas.openxmlformats.org/drawingml/2006/main">
            <a:r>
              <a:t/>
            </a:r>
          </a:p>
          <a:p xmlns:a="http://schemas.openxmlformats.org/drawingml/2006/main">
            <a:r>
              <a:t>Hierarchie im Auswertungscode: Fenster zunächst innerhalb von Zelle und Seed mitteln. Zellen mit Zurücklegen ziehen. Wenn mehrere Seed-Werte pro Zelle vorliegen, diese innerhalb jeder gezogenen Zelle ebenfalls mit Zurücklegen ziehen und mitteln. Bei der deterministischen Baseline reduziert sich dies auf den hier gezeigten Zell-Bootstrap. Mehrere Fenster oder Seeds derselben Zelle zählen nicht als neue unabhängige Zellen.</a:t>
            </a:r>
          </a:p>
          <a:p xmlns:a="http://schemas.openxmlformats.org/drawingml/2006/main">
            <a:r>
              <a:t/>
            </a:r>
          </a:p>
          <a:p xmlns:a="http://schemas.openxmlformats.org/drawingml/2006/main">
            <a:r>
              <a:t>Warum Bootstrap: Das Verfahren schätzt die Verteilung des Mittelwerts durch erneutes Ziehen aus den beobachteten Zellen. Es verlangt keine parametrische Normalverteilung der Zellwerte. Die hierarchische Variante berücksichtigt zusätzlich Seeds innerhalb der Zellen. Das ist eine plausible methodische Begründung, aber kein empirischer Nachweis, dass Bootstrap in diesem Datensatz die beste Intervallmethode ist. Ein klassisches t-Intervall für den Mittelwert wäre unter unabhängigen, normalverteilten Zellwerten auch mit sechs Zellen anwendbar. Mit sechs Zellen lässt sich die Verteilungsform kaum beurteilen. Kleine Stichproben können auch Bootstrap-Intervalle schlecht kalibrieren. Die geringe Zellzahl verbietet also ein t-Intervall nicht und wird durch Bootstrap nicht behoben. Eine Normalapproximation bei großer Stichprobe und das t-Intervall bei angenommener Normalität sind zu unterscheiden.</a:t>
            </a:r>
          </a:p>
          <a:p xmlns:a="http://schemas.openxmlformats.org/drawingml/2006/main">
            <a:r>
              <a:t/>
            </a:r>
          </a:p>
          <a:p xmlns:a="http://schemas.openxmlformats.org/drawingml/2006/main">
            <a:r>
              <a:t>Abgrenzung zu Frage 64: Diese Folie zeigt das Konfidenzintervall eines einzelnen Modell-MAE. Ein Intervall für einen gepaarten Modellunterschied beschreibt eine andere Zielgröße. Dort bedeutet null keinen mittleren Unterschied. Ein einzelnes, nicht simultan korrigiertes Bootstrap-Intervall und ein Holm-korrigierter Sign-Flip-Test müssen nicht dieselbe Entscheidung liefern.</a:t>
            </a:r>
          </a:p>
          <a:p xmlns:a="http://schemas.openxmlformats.org/drawingml/2006/main">
            <a:r>
              <a:t/>
            </a:r>
          </a:p>
          <a:p xmlns:a="http://schemas.openxmlformats.org/drawingml/2006/main">
            <a:r>
              <a:t>Grundlage: Dissertation, Baseline-Abbildung 6.4 und Beschreibung der hierarchischen Bootstrap-Auswertung mit 10.000 Wiederholungen. Verifizierter Code: DL_Models/LFP_SOC_SOH_Model/4_simulation_environment/results/build_jes2_paper_results.py, hierarchical_stats, Perzentile 2,5 und 97,5. Die Zahl der Wiederholungen ist ein Laufparameter. Der Skriptstandard allein belegt nicht den Wert im publizierten Lauf.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Beispiel ist kein Ergebnis der realen Kampagne. D wird sowohl mit C (Ladestrom) als auch mit B (Entladetiefe) verglichen. Bei drei zweistufigen Faktoren bilden die Kombinationen acht Würfelecken. Der tatsächliche Text beschreibt einen gemischten vollständigen und fraktionellen faktoriellen Plan, daher nicht behaupten, jede reale Wirkung sei automatisch unabhängig identifizierbar. Faktorbereiche: Laden 0,3–1,0 C, Entladen 0,5–3,0 C, DoD 38–71 %, Umgebungssollwert 25 °C. Zelltemperatur kann davon abweichen. Kausalinterpretation braucht Wiederholungen, kontrollierte Bedingungen und ein identifizierbares Auswertungsmodell.</a:t>
            </a:r>
          </a:p>
          <a:p xmlns:a="http://schemas.openxmlformats.org/drawingml/2006/main">
            <a:r>
              <a:t/>
            </a:r>
          </a:p>
          <a:p xmlns:a="http://schemas.openxmlformats.org/drawingml/2006/main">
            <a:r>
              <a:t>Quelle: Dissertation 4.1.2, Abbildung 4.2, S. 52–54. Fragenkatalog F025.</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Beispiele sind erfunden. 3600 ist nötig, wenn Δt in Sekunden und I in Ampere vorliegt. Fehlerquellen sind Stromoffset, Gain, Zeitbasis, Kapazität und Anfangszustand. Ein konstanter Offset b erzeugt ohne Korrektur ungefähr b·t/C SOC-Fehler für t in Stunden. Ein Volladeanker verhindert neue Drift danach nicht. SOH-Konstruktion zwischen Check-ups kann offline interpolieren. Das ist für ein Ziel zulässig, darf jedoch nicht unbemerkt zukünftige Informationen in Online-Features übertragen. NMC und Embedded-Studie verwenden nominelle Kapazitätsnormierung, der Robustheitsbenchmark die erste Referenzkapazität. Die jeweilige Umrechnung muss konsistent sein.</a:t>
            </a:r>
          </a:p>
          <a:p xmlns:a="http://schemas.openxmlformats.org/drawingml/2006/main">
            <a:r>
              <a:t/>
            </a:r>
          </a:p>
          <a:p xmlns:a="http://schemas.openxmlformats.org/drawingml/2006/main">
            <a:r>
              <a:t>Quelle: Dissertation 4.1.3 und 6.2.2. Fragenkatalog F011, F012, F018–F020.</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Fünf Testzellen haben drei beobachtete SOH-Bereiche, C27 nur den frischen Bereich. Damit 16 statt 18 Fenster. Startbedingung im Text: SOC ≥ 0,98 und U ≥ 3,58 V. Koordinatenmedian heißt Median je Merkmal über Kandidaten derselben Zelle und SOH-Klasse. MAD ist der Median der absoluten Abstände vom Median. Dieser Robustheitsschritt ist nicht der IQR-basierte RobustScaler der Netze. Klassischer Medoid minimiert die Summe der Abstände zu allen Kandidaten, die gezeigte Auswahl dagegen den Abstand zum Koordinatenmedian. P95 ist der Schwellenwert, unter dem ungefähr 95 % der Werte liegen. Die obersten 5 % sind nicht automatisch Ausreißer und werden nicht aus dem gewählten Fenster entfernt. Typische Fenster garantieren keine Abdeckung aller Extremfälle.</a:t>
            </a:r>
          </a:p>
          <a:p xmlns:a="http://schemas.openxmlformats.org/drawingml/2006/main">
            <a:r>
              <a:t/>
            </a:r>
          </a:p>
          <a:p xmlns:a="http://schemas.openxmlformats.org/drawingml/2006/main">
            <a:r>
              <a:t>Quelle: Dissertation 6.3, Gleichungen 6.14–6.15, S. 95–96. Fragenkatalog F022–F024.</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Tabelle fasst verwandte Vorverarbeitungsmethoden zusammen. Kapitel 5 setzt ein MLP mit Lag-Sequenzen ein. Das Netz ist zustandslos, die gesamte Pipeline braucht trotzdem einen Historienpuffer und kumulative Größen. 16 Intervalle zu zehn Minuten werden in der Arbeit als 160 Minuten beschrieben. Bei 16 punktförmigen Stützstellen einschließlich Gegenwart beträgt die erste-bis-letzte Spanne dagegen 150 Minuten, deshalb hier keine eindeutige Indexkonvention behaupten. Kapitel 7 verwendet RobustScaler mit Trainingsmedian und Interquartilsabstand. Die Fensterselektion verwendet dagegen MAD. Bei unabhängigen, gleich stark rauschenden Messwerten hat das Differenzrauschen Varianz 2σ² und die Ableitung Varianz 2σ²/Δt². Die Einheiten unterscheiden sich von Rohmesswerten. Im Robustheitsbenchmark müssen auch abgeleitete Features aus dem gestörten Signal neu berechnet werden.</a:t>
            </a:r>
          </a:p>
          <a:p xmlns:a="http://schemas.openxmlformats.org/drawingml/2006/main">
            <a:r>
              <a:t/>
            </a:r>
          </a:p>
          <a:p xmlns:a="http://schemas.openxmlformats.org/drawingml/2006/main">
            <a:r>
              <a:t>Quelle: Dissertation 5.2, 6.3 und 7.2, insbesondere Gleichung 7.5. Fragenkatalog F026–F029, F054, F102.</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Zahlen 9,3,1 und 1,3,9 sind ein vereinfachtes Successive-Halving-Beispiel, keine berichteten Laufzahlen. Hyperband verwendet mehrere solche Budgetaufteilungen, statt ausschließlich diesen einen Pfad. Die Arbeit variiert Lag-Schritte, Zeitauflösung, Tiefe, Breite, Batchgröße, Regularisierung, Optimierer und Aktivierung. Eine saubere Wahl verwendet Validierungsdaten und hält finale Testzellen unberührt. Bei der historischen Kapitel-5-Auswertung trennt der Text vier Testzellen ab und reserviert 20 % der Trainingssequenzen für Validierung. Die genaue Überlappung der Sequenzen und die Rolle der exemplarischen Testkurven bei der finalen Auswahl sind nicht vollständig aus diesem Absatz nachgewiesen. Die Folie beschreibt das methodische Prinzip, keine nachträglich bewiesene lückenlose Experimentprovenienz.</a:t>
            </a:r>
          </a:p>
          <a:p xmlns:a="http://schemas.openxmlformats.org/drawingml/2006/main">
            <a:r>
              <a:t/>
            </a:r>
          </a:p>
          <a:p xmlns:a="http://schemas.openxmlformats.org/drawingml/2006/main">
            <a:r>
              <a:t>Quelle: Dissertation 5.4, S. 75–76. Fragenkatalog F031–F032.</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Zahlenbeispiel beschreibt eine Spannungskorrektur und legt keine konkrete SOC-Korrektur in Prozentpunkten fest. Diese hängt vom Gain, den Zuständen und den lokalen Sensitivitäten ab. x enthält SOC und RC-Spannungszustände. Der ohmsche Widerstand wirkt unmittelbar, RC-Zweige beschreiben Dynamik mit unterschiedlichen Zeitkonstanten. Sie sind keine eindeutige Zuordnung zu einzelnen elektrochemischen Mechanismen. Eine ungetriebene RC-Spannung klingt um exp(−Δt/τ) ab. HECM nutzt SOH als zusätzlichen Kontext, bleibt im SOC-Kern ein modellbasierter EKF. Größeres R löst keine falsche OCV-Kennlinie automatisch. Der 2RC-EKF ist ein gewählter Repräsentant, kein Beweis gegen nicht getestete UKF- oder elektrochemische Alternativen.</a:t>
            </a:r>
          </a:p>
          <a:p xmlns:a="http://schemas.openxmlformats.org/drawingml/2006/main">
            <a:r>
              <a:t/>
            </a:r>
          </a:p>
          <a:p xmlns:a="http://schemas.openxmlformats.org/drawingml/2006/main">
            <a:r>
              <a:t>Quelle: Dissertation 3.3 und 6.2.2. Fragenkatalog F013–F015.</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Alle Zahlen dieser Folie sind Lehrbeispiele. Im eigentlichen Robustheitsbenchmark gibt es sechs Zellen und 16 Fenster. Seeds und Fenster werden innerhalb einer Zelle aggregiert. Die Bewertung beginnt für alle Modelle im selben gültigen Beobachtungsintervall, sobald DD eine gültige Ausgabe hat. MAE = mean(abs(e)); RMSE = sqrt(mean(e²)). RMSE betont große Fehler stärker. Das 95. Perzentil des absoluten Fehlers fasst Samplefehler zusammen. Ein 95%-Bootstrap-Konfidenzintervall quantifiziert dagegen Schätzunsicherheit des Zellmittelwerts. Prozentpunkte sind absolute Differenzen von SOC- oder SOH-Prozentwerten, nicht relative Prozentänderungen. Effektgröße, Konfidenzintervall und korrigierter Signifikanztest beantworten unterschiedliche Fragen.</a:t>
            </a:r>
          </a:p>
          <a:p xmlns:a="http://schemas.openxmlformats.org/drawingml/2006/main">
            <a:r>
              <a:t/>
            </a:r>
          </a:p>
          <a:p xmlns:a="http://schemas.openxmlformats.org/drawingml/2006/main">
            <a:r>
              <a:t>Quelle: Dissertation 5.4 und 6.2.6. Fragenkatalog F047, F053, F061–F065.</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Derived features werden aus den veränderten Messungen neu berechnet, damit keine sauberen Zusatzinformationen unbemerkt bestehen bleiben. Negative ΔMAE kann aus zufälliger Fehlerkompensation entstehen und beweist keine allgemein nützliche Störung. Adverse selection ist max(delta_plus,delta_minus) je Zelle und Modell, dann Mittel über Zellen, nicht Mittel beider Vorzeichen. Für den einstündigen Burst verwendet das Protokoll 48 h: mindestens zwölf Stunden davor und 24 danach. Im zulässigen Bereich wählt es die Stunde mit größtem Betrag der integrierten Nettoladung. Strom, Spannung und Temperatur werden gehalten; Integration pausiert im Ausfall, DD-Ausgabe ebenfalls. Jitter im geprüften SOC-Code erzeugt unregelmäßige Zeitpunkte und interpoliert die Signale dorthin, ohne Rückkehr auf ein 1-Hz-Raster. Kapitel 7 ergänzt andere Softwaretests: Report-Loss hält nur Berichte, die Inferenz läuft weiter. Ein einzelner FP32-Eingangsbitflip betrifft Fraction-Bit 22, nicht Gewichte oder recurrent state. Diese Tests dürfen nicht als identische Messausfälle dargestellt werden.</a:t>
            </a:r>
          </a:p>
          <a:p xmlns:a="http://schemas.openxmlformats.org/drawingml/2006/main">
            <a:r>
              <a:t/>
            </a:r>
          </a:p>
          <a:p xmlns:a="http://schemas.openxmlformats.org/drawingml/2006/main">
            <a:r>
              <a:t>Quelle: Dissertation 6.2.5 und 6.3. Fragenkatalog F048–F057, F066, F096–F097.</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Beispiel ist erfunden. Beide Modellkopien können ähnlich falsch sein, weshalb Accuracy separat bewertet werden muss. Die SOC-äquivalente Initialstörung beträgt −0,10. DM/HDM erhalten einen Integrationszustandsfehler, HECM einen SOC-Zustandsfehler, DD einen Qc-Offset. Eine identische Manipulation aller latenten Zustände ist das nicht. Die 300 Sekunden definieren einen qualifizierten Eintritt, nicht zwingend bleibende Erholung. Persistent recovery erfordert den späteren Verlauf und ist retrospektiv, kein sofortiger Online-Nachweis. Nicht beobachtete Recovery ist rechtszensiert. Recovery-or-censor-Mittel müssen mit der Zensurquote interpretiert werden. Der gemeinsame Scorebereich beginnt erst bei gültiger DD-Ausgabe. Die ereignisrelative 60-s-Auswertung von Kapitel-7-Bitflips verwendet eine andere Schwelle.</a:t>
            </a:r>
          </a:p>
          <a:p xmlns:a="http://schemas.openxmlformats.org/drawingml/2006/main">
            <a:r>
              <a:t/>
            </a:r>
          </a:p>
          <a:p xmlns:a="http://schemas.openxmlformats.org/drawingml/2006/main">
            <a:r>
              <a:t>Quelle: Dissertation 6.2.6 und 6.4.5. Fragenkatalog F041–F046.</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Prozentwerte der Tabelle sind erfundene Beispiele. Für Widerstände werden Ri, R1 und R2 gemeinsam skaliert, für Zeitkonstanten beide RC-Zweige gemeinsam. Jeweils nur eine Gruppe variieren, nominale Variante mit einschließen. Pro Tabellenvariante die eigene saubere Baseline abziehen, dann mit der nominalen Störungspenalty vergleichen. So wird eine reine Basisgenauigkeitsänderung nicht als veränderte Störungssensitivität fehlinterpretiert. Die reale Analyse zeigt überwiegend geringe Interaktionen, aber relevante Recovery-Änderungen. Das beweist keine Tabellenunabhängigkeit. Die Referenz-SOH-Ablation ist eine gesonderte diagnostische Intervention. Ein genauerer einzelner Eingang garantiert beim DD-Netz keinen geringeren SOC-Fehler. Fehlerkompensation ist plausibel, aber nicht isoliert bewiesen. Die geprüften Trainingsskripte verwenden die SOH-Datenspalte; die Behauptung, DD sei nur an Modell-SOH-Fehler gewöhnt, ist daher nicht belegt.</a:t>
            </a:r>
          </a:p>
          <a:p xmlns:a="http://schemas.openxmlformats.org/drawingml/2006/main">
            <a:r>
              <a:t/>
            </a:r>
          </a:p>
          <a:p xmlns:a="http://schemas.openxmlformats.org/drawingml/2006/main">
            <a:r>
              <a:t>Quelle: Dissertation 6.2.7, 6.4.9–6.4.10 und A.1.1. Fragenkatalog F058–F060.</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Zahlenbeispiel ist erfunden. Die symmetrische Skala nutzt −127 bis +127, −128 bleibt ungenutzt. Null bleibt exakt. Ein positiver Mindestwert schützt komplett leere Zeilen. Bei endlichen Gewichten und nächster Ganzzahl ist der Rundungsfehler höchstens s/2, sofern keine zusätzliche Sättigung eintritt. Zeilenweise Skalierung verhindert, dass ein Maximum einer anderen Zeile die Auflösung aller Zeilen bestimmt. Es handelt sich um Post-Training-Quantisierung, nicht Quantization-Aware Training. Nur die rekurrenten Matrizen Wih und Whh ändern die Speicherrepräsentation. Eine weitere MLP-Quantisierung oder durchgehende Integer-Arithmetik darf nicht behauptet werden. Gesamter Firmware-Flash enthält außerdem Code, andere Parameter und Skalen, daher nicht pauschal 75 % gesamte Flash-Ersparnis erwarten.</a:t>
            </a:r>
          </a:p>
          <a:p xmlns:a="http://schemas.openxmlformats.org/drawingml/2006/main">
            <a:r>
              <a:t/>
            </a:r>
          </a:p>
          <a:p xmlns:a="http://schemas.openxmlformats.org/drawingml/2006/main">
            <a:r>
              <a:t>Quelle: Dissertation 7.5, Gleichungen 7.13–7.16, und A.2.8–A.2.9. Fragenkatalog F079–F083.</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angegebenen Zeitkonstanten beschreiben nur die linearen EMA-Anteile, nicht die komplette nichtlineare Kaskade. τ = −Δt/ln(1−α), t90 = ln(0,1)·Δt/ln(1−α). Stufe 1 begrenzt positive und negative Vorschlagsänderungen; Stufe 2 begrenzt zusätzlich Abwärtsänderungen. Das Rechenbeispiel ignoriert diese Begrenzungen ausdrücklich. Initiale Skalierung: y_aligned(t) = y0 / raw_y0 · raw_y(t). Sie setzt verfügbaren Start-SOH voraus und ist keine blinde Schätzung ohne Zusatzwissen. Rohnetz, erste Stufe und Endausgabe müssen getrennt betrachtet werden, um Kompressionseffekt von Filterwirkung zu unterscheiden. Eine geringe Abweichung von einer langsam interpolierten SOH-Referenz belegt keine schnelle Dynamikerkennung.</a:t>
            </a:r>
          </a:p>
          <a:p xmlns:a="http://schemas.openxmlformats.org/drawingml/2006/main">
            <a:r>
              <a:t/>
            </a:r>
          </a:p>
          <a:p xmlns:a="http://schemas.openxmlformats.org/drawingml/2006/main">
            <a:r>
              <a:t>Quelle: Dissertation 7.2, Gleichungen 7.6–7.8, und A.2.3. Fragenkatalog F092–F094.</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Tabellenbeispiel ist erfunden. Die Gewichte sind nichtnegative Prioritäten. 20 Gittereinheiten werden auf vier Gewichte verteilt: 23 über 3 = 1771. Ein Anteil gewonnener Gewichtskombinationen ist keine Erfolgswahrscheinlichkeit bei realen Kunden. Der Energieproxy setzt konstante 0,5 W voraus: E_est = 0,5 W · Kernelzeit. Er ist keine separate Messung von Leistungsaufnahme oder Energie. Kapitel 6 verwendet dagegen eine andere Synthese: normierte Accuracy-, familienbalancierte Robustness- und Recovery-Achsen. Dort dürfen Anzahl der Subfälle und Skalierung die Rangfolge beeinflussen, weshalb alternative Gewichtungsregeln betrachtet werden. Die beiden Scoredefinitionen nicht gleichsetzen. Eine anwendungsbezogene Entscheidung muss Einzelkennzahlen und harte Anforderungen berücksichtigen.</a:t>
            </a:r>
          </a:p>
          <a:p xmlns:a="http://schemas.openxmlformats.org/drawingml/2006/main">
            <a:r>
              <a:t/>
            </a:r>
          </a:p>
          <a:p xmlns:a="http://schemas.openxmlformats.org/drawingml/2006/main">
            <a:r>
              <a:t>Quelle: Dissertation 6.2.6, 7.11, Gleichung 7.22, und A.2.4. Fragenkatalog F068, F091, F098.</a:t>
            </a:r>
          </a:p>
          <a:p xmlns:a="http://schemas.openxmlformats.org/drawingml/2006/main">
            <a:r>
              <a:t>Alle ausdrücklich als Lehrbeispiel oder erfunden gekennzeichneten Zahlen dienen der Erklärung.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Dissertation, Abschnitt 7.3, gedruckte Seiten 128–129, Gleichungen 7.9 und 7.10. N(H)=4HD+4H²+HM+M. MAC zählt die gewichteten Matrixprodukte pro Streaming-Schritt, ohne Bias-Additionen, Aktivierungen, Indexierung und Speicherzugriffe. Vollständige Reduktion: R=[4(2p−p²)H²+p(4D+M)H]/[4H²+(4D+M)H+M]. Für H gegen unendlich bei festem D und M geht R gegen 2p−p². Das Diagramm zeigt diesen analytischen Grenzwert, keine Laufzeitmessung und keine gemessene Gesamtmodell-Einsparung. 30%,40%,50% ergeben 51%,64%,75%. Bei exakt 30% Pruning bleiben 70% Breite und 49% des quadratischen Terms. SOC D=6,H=64,M=64: 22080 MACs; H=45:12124. SOH D=6,H=128,M=128:85120;H=90:46208. Die MLP-Breite bleibt unverändert. Integer-Rundung ergibt bei beiden 29,6875% entfernte Hidden Channels.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Fragenkatalog F081/F082. CMSIS-NN ist eine Softwarebibliothek optimierter Rechenroutinen für Arm Cortex-M, keine Hardware und kein automatischer FP32-LSTM-Konverter. Ein Integer Kernel verwendet größere Integer-Zwischenwerte: 100*100=10000 passt nicht in INT8, typischerweise Accumulation in INT32, danach Requantization. Cell State und Aktivierungsfunktionen benötigen passende Datenformate und Routinen. Compileroptimierung, Kernelwechsel und Plattformwechsel getrennt prüfen, Fehler/Laufzeit/Speicher mit gleicher Messgrenze messen. H753ZI nutzt Cortex-M7 mit DSP und FPU, ohne dedizierte NPU. Neural-ART ist die ST-NPU im STM32N6. Ethos-U55 ist ein Arm-Beschleunigerbaustein für MCU-Systeme, kein eigenständiger STM32. Eine NPU quantisiert das Modell nicht selbst; Toolchain und Operator-Mapping nötig. Nicht alle NPUs sind auf INT8 beschränkt. Quellen: Dissertation Kapitel 7, https://github.com/ARM-software/CMSIS-NN ; https://www.st.com/en/microcontrollers-microprocessors/stm32h753zi.html ; https://www.st.com/en/development-tools/stm32n6-ai.html ; https://support.arm.com/compute-ip/ethos-u55 . Abruf 24.09.2026. Keine Beschleunigung der eigenen Modelle durch diese Alternativen behaupten.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idx="18" hasCustomPrompt="1"/>
          </p:nvPr>
        </p:nvSpPr>
        <p:spPr>
          <a:xfrm>
            <a:off x="550800" y="3175200"/>
            <a:ext cx="9721850" cy="2124075"/>
          </a:xfrm>
          <a:prstGeom prst="rect">
            <a:avLst/>
          </a:prstGeom>
        </p:spPr>
        <p:txBody>
          <a:bodyPr lIns="0" t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730221" y="1373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2" name="Bildplatzhalter 2">
            <a:extLst>
              <a:ext uri="{FF2B5EF4-FFF2-40B4-BE49-F238E27FC236}">
                <a16:creationId xmlns:a16="http://schemas.microsoft.com/office/drawing/2014/main" id="{4F835FC2-209C-B623-B2FE-93104346F508}"/>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Inhalt - Bild und Stichpunkte">
    <p:spTree>
      <p:nvGrpSpPr>
        <p:cNvPr id="1" name=""/>
        <p:cNvGrpSpPr/>
        <p:nvPr/>
      </p:nvGrpSpPr>
      <p:grpSpPr>
        <a:xfrm>
          <a:off x="0" y="0"/>
          <a:ext cx="0" cy="0"/>
          <a:chOff x="0" y="0"/>
          <a:chExt cx="0" cy="0"/>
        </a:xfrm>
      </p:grpSpPr>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4" name="Bildplatzhalter 2">
            <a:extLst>
              <a:ext uri="{FF2B5EF4-FFF2-40B4-BE49-F238E27FC236}">
                <a16:creationId xmlns:a16="http://schemas.microsoft.com/office/drawing/2014/main" id="{6531CAD3-CD14-C701-E880-CF6FFC010DF5}"/>
              </a:ext>
            </a:extLst>
          </p:cNvPr>
          <p:cNvSpPr>
            <a:spLocks noGrp="1"/>
          </p:cNvSpPr>
          <p:nvPr>
            <p:ph type="pic" idx="18"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5600" cy="280800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 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2000" cy="2808000"/>
        </p:xfrm>
        <a:graphic>
          <a:graphicData uri="http://schemas.openxmlformats.org/drawingml/2006/table">
            <a:tbl>
              <a:tblPr firstRow="1" bandRow="1">
                <a:tableStyleId>{5C22544A-7EE6-4342-B048-85BDC9FD1C3A}</a:tableStyleId>
              </a:tblPr>
              <a:tblGrid>
                <a:gridCol w="2628000">
                  <a:extLst>
                    <a:ext uri="{9D8B030D-6E8A-4147-A177-3AD203B41FA5}">
                      <a16:colId xmlns:a16="http://schemas.microsoft.com/office/drawing/2014/main" val="20000"/>
                    </a:ext>
                  </a:extLst>
                </a:gridCol>
                <a:gridCol w="26280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gridCol w="2628000">
                  <a:extLst>
                    <a:ext uri="{9D8B030D-6E8A-4147-A177-3AD203B41FA5}">
                      <a16:colId xmlns:a16="http://schemas.microsoft.com/office/drawing/2014/main" val="20003"/>
                    </a:ext>
                  </a:extLst>
                </a:gridCol>
              </a:tblGrid>
              <a:tr h="468000">
                <a:tc>
                  <a:txBody>
                    <a:bodyPr/>
                    <a:lstStyle/>
                    <a:p>
                      <a:pPr algn="l">
                        <a:buNone/>
                      </a:pPr>
                      <a:endParaRPr sz="1800" b="1">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Arial</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Regular</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extLst>
                  <a:ext uri="{0D108BD9-81ED-4DB2-BD59-A6C34878D82A}">
                    <a16:rowId xmlns:a16="http://schemas.microsoft.com/office/drawing/2014/main" val="10000"/>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6096000"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Textplatzhalter 2">
            <a:extLst>
              <a:ext uri="{FF2B5EF4-FFF2-40B4-BE49-F238E27FC236}">
                <a16:creationId xmlns:a16="http://schemas.microsoft.com/office/drawing/2014/main" id="{91015A61-BBF3-58D4-B646-D7F07D397D47}"/>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1" name="Tabelle 3"/>
          <p:cNvGraphicFramePr/>
          <p:nvPr/>
        </p:nvGraphicFramePr>
        <p:xfrm>
          <a:off x="555867"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Textplatzhalter 2">
            <a:extLst>
              <a:ext uri="{FF2B5EF4-FFF2-40B4-BE49-F238E27FC236}">
                <a16:creationId xmlns:a16="http://schemas.microsoft.com/office/drawing/2014/main" id="{BA52B688-20A1-8CFE-428A-BC897BDC4948}"/>
              </a:ext>
            </a:extLst>
          </p:cNvPr>
          <p:cNvSpPr>
            <a:spLocks noGrp="1"/>
          </p:cNvSpPr>
          <p:nvPr>
            <p:ph type="body" idx="18" hasCustomPrompt="1"/>
          </p:nvPr>
        </p:nvSpPr>
        <p:spPr>
          <a:xfrm>
            <a:off x="6096000" y="1409939"/>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idx="17" hasCustomPrompt="1"/>
          </p:nvPr>
        </p:nvSpPr>
        <p:spPr>
          <a:xfrm>
            <a:off x="-14400"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lstStyle>
            <a:lvl1pPr marL="0" indent="0" algn="ctr">
              <a:buNone/>
              <a:defRPr>
                <a:solidFill>
                  <a:schemeClr val="bg1"/>
                </a:solidFill>
                <a:latin typeface="Arial"/>
                <a:ea typeface="Arial"/>
                <a:cs typeface="Arial"/>
              </a:defRPr>
            </a:lvl1pPr>
          </a:lstStyle>
          <a:p>
            <a:pPr>
              <a:buNone/>
              <a:defRPr>
                <a:latin typeface="Calibri"/>
                <a:ea typeface="Calibri"/>
                <a:cs typeface="Calibri"/>
              </a:defRPr>
            </a:pPr>
            <a:r>
              <a:rPr>
                <a:latin typeface="Calibri"/>
                <a:ea typeface="Calibri"/>
                <a:cs typeface="Calibri"/>
              </a:rPr>
              <a:t>Platzhalter: Bild Titelfolie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a:spLocks noGrp="1"/>
          </p:cNvSpPr>
          <p:nvPr/>
        </p:nvSpPr>
        <p:spPr>
          <a:xfrm>
            <a:off x="0" y="5842000"/>
            <a:ext cx="12195175" cy="1015999"/>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Grafik 8"/>
          <p:cNvPicPr>
            <a:picLocks noChangeAspect="1"/>
          </p:cNvPicPr>
          <p:nvPr/>
        </p:nvPicPr>
        <p:blipFill>
          <a:blip r:embed="rId14"/>
          <a:stretch>
            <a:fillRect/>
          </a:stretch>
        </p:blipFill>
        <p:spPr>
          <a:xfrm>
            <a:off x="10617548" y="5980251"/>
            <a:ext cx="1001450" cy="617762"/>
          </a:xfrm>
          <a:prstGeom prst="rect">
            <a:avLst/>
          </a:prstGeom>
        </p:spPr>
      </p:pic>
      <p:pic>
        <p:nvPicPr>
          <p:cNvPr id="12" name="V5_TU_Logo"/>
          <p:cNvPicPr>
            <a:picLocks noChangeAspect="1"/>
          </p:cNvPicPr>
          <p:nvPr/>
        </p:nvPicPr>
        <p:blipFill>
          <a:blip r:embed="rId15"/>
          <a:stretch>
            <a:fillRect/>
          </a:stretch>
        </p:blipFill>
        <p:spPr>
          <a:xfrm>
            <a:off x="10614598" y="378000"/>
            <a:ext cx="1004400" cy="76606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hyperlink" Target="https://doi.org/10.1016/j.epsr.2017.01.032" TargetMode="External"/><Relationship Id="rId4" Type="http://schemas.openxmlformats.org/officeDocument/2006/relationships/hyperlink" Target="https://doi.org/10.1016/j.ifacol.2018.11.734"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hyperlink" Target="https://doi.org/10.1016/j.etran.2024.100355" TargetMode="External"/><Relationship Id="rId5" Type="http://schemas.openxmlformats.org/officeDocument/2006/relationships/hyperlink" Target="https://doi.org/10.1155/2015/719490" TargetMode="External"/><Relationship Id="rId4" Type="http://schemas.openxmlformats.org/officeDocument/2006/relationships/hyperlink" Target="https://doi.org/10.1016/j.jpowsour.2020.228863"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hyperlink" Target="https://doi.org/10.3390/electronics13101964" TargetMode="External"/><Relationship Id="rId5" Type="http://schemas.openxmlformats.org/officeDocument/2006/relationships/hyperlink" Target="https://doi.org/10.1109/ACCESS.2020.3007046" TargetMode="External"/><Relationship Id="rId4" Type="http://schemas.openxmlformats.org/officeDocument/2006/relationships/hyperlink" Target="https://doi.org/10.3390/electronics9030510"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hyperlink" Target="https://doi.org/10.3390/en16176103" TargetMode="External"/><Relationship Id="rId4" Type="http://schemas.openxmlformats.org/officeDocument/2006/relationships/hyperlink" Target="https://doi.org/10.7746/jkros.2023.18.1.088"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hyperlink" Target="https://arxiv.org/abs/1603.06560" TargetMode="External"/><Relationship Id="rId5" Type="http://schemas.openxmlformats.org/officeDocument/2006/relationships/hyperlink" Target="https://www.st.com/resource/en/data_brief/nucleo-h753zi.pdf" TargetMode="External"/><Relationship Id="rId4" Type="http://schemas.openxmlformats.org/officeDocument/2006/relationships/hyperlink" Target="https://doi.org/10.14279/DEPOSITONCE-24800"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hyperlink" Target="https://arxiv.org/abs/1506.00019"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hyperlink" Target="https://proceedings.neurips.cc/paper/2015/hash/ae0eb3eed39d2bcef4622b2499a05fe6-Abstract.html" TargetMode="External"/><Relationship Id="rId5" Type="http://schemas.openxmlformats.org/officeDocument/2006/relationships/hyperlink" Target="https://doi.org/10.2139/ssrn.6298526" TargetMode="External"/><Relationship Id="rId4" Type="http://schemas.openxmlformats.org/officeDocument/2006/relationships/hyperlink" Target="https://doi.org/10.1002/er.6658"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hyperlink" Target="https://doi.org/10.1609/aaai.v34i04.5938" TargetMode="External"/><Relationship Id="rId4" Type="http://schemas.openxmlformats.org/officeDocument/2006/relationships/hyperlink" Target="https://arxiv.org/abs/1608.03665"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hyperlink" Target="https://arxiv.org/abs/1806.08342" TargetMode="External"/><Relationship Id="rId4" Type="http://schemas.openxmlformats.org/officeDocument/2006/relationships/hyperlink" Target="https://doi.org/10.1109/CVPR.2018.00286"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AppendixNotes"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AppendixNotes"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MethodNotes"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PruningChart" Type="http://schemas.openxmlformats.org/officeDocument/2006/relationships/chart" Target="charts/pruningChart.xml"/><Relationship Id="rIdPruningNotes"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IntegerNotes" Type="http://schemas.openxmlformats.org/officeDocument/2006/relationships/notesSlide" Target="../notesSlides/notesSlide86.xml"/></Relationships>
</file>

<file path=ppt/slides/charts/_rels/pruningChart.xml.rels><Relationships xmlns="http://schemas.openxmlformats.org/package/2006/relationships"><Relationship Id="rIdChartSnapshot1" Type="http://schemas.openxmlformats.org/officeDocument/2006/relationships/package" Target="../../embeddings/chart-data-snapshot-001.xlsx"/><Relationship Id="rIdChartSnapshot2" Type="http://schemas.openxmlformats.org/officeDocument/2006/relationships/package" Target="../../embeddings/chart-data-snapshot-002.xlsx"/></Relationships>
</file>

<file path=ppt/slides/charts/pruningChart.xml><?xml version="1.0" encoding="utf-8"?>
<c:chartSpace xmlns:c="http://schemas.openxmlformats.org/drawingml/2006/chart" xmlns:r="http://schemas.openxmlformats.org/officeDocument/2006/relationships">
  <c:lang val="en-US"/>
  <c:chart>
    <c:plotArea>
      <c:lineChart>
        <c:grouping val="standard"/>
        <c:ser>
          <c:idx val="0"/>
          <c:order val="0"/>
          <c:tx>
            <c:v>Grenzwert 2p − p²</c:v>
          </c:tx>
          <c:spPr>
            <a:ln xmlns:a="http://schemas.openxmlformats.org/drawingml/2006/main" w="28575">
              <a:solidFill>
                <a:srgbClr val="C8102E"/>
              </a:solidFill>
            </a:ln>
          </c:spPr>
          <c:marker>
            <c:symbol val="circle"/>
            <c:size val="5"/>
            <c:spPr>
              <a:solidFill xmlns:a="http://schemas.openxmlformats.org/drawingml/2006/main">
                <a:srgbClr val="C8102E"/>
              </a:solidFill>
            </c:spPr>
          </c:marker>
          <c:dLbls>
            <c:dLbl>
              <c:idx val="3"/>
              <c:txPr>
                <a:bodyPr xmlns:a="http://schemas.openxmlformats.org/drawingml/2006/main" anchorCtr="1"/>
                <a:lstStyle xmlns:a="http://schemas.openxmlformats.org/drawingml/2006/main"/>
                <a:p xmlns:a="http://schemas.openxmlformats.org/drawingml/2006/main">
                  <a:pPr>
                    <a:defRPr sz="1350" b="1">
                      <a:solidFill>
                        <a:srgbClr val="C8102E"/>
                      </a:solidFill>
                      <a:latin typeface="Calibri"/>
                      <a:ea typeface="Calibri"/>
                      <a:cs typeface="Calibri"/>
                    </a:defRPr>
                  </a:pPr>
                </a:p>
              </c:txPr>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350" b="1">
                      <a:solidFill>
                        <a:srgbClr val="C8102E"/>
                      </a:solidFill>
                      <a:latin typeface="Calibri"/>
                      <a:ea typeface="Calibri"/>
                      <a:cs typeface="Calibri"/>
                    </a:defRPr>
                  </a:pPr>
                </a:p>
              </c:txPr>
              <c:showLegendKey val="0"/>
              <c:showVal val="1"/>
              <c:showCatName val="0"/>
              <c:showSerName val="0"/>
              <c:showPercent val="0"/>
              <c:showBubbleSize val="0"/>
            </c:dLbl>
            <c:dLbl>
              <c:idx val="5"/>
              <c:txPr>
                <a:bodyPr xmlns:a="http://schemas.openxmlformats.org/drawingml/2006/main" anchorCtr="1"/>
                <a:lstStyle xmlns:a="http://schemas.openxmlformats.org/drawingml/2006/main"/>
                <a:p xmlns:a="http://schemas.openxmlformats.org/drawingml/2006/main">
                  <a:pPr>
                    <a:defRPr sz="1350" b="1">
                      <a:solidFill>
                        <a:srgbClr val="C8102E"/>
                      </a:solidFill>
                      <a:latin typeface="Calibri"/>
                      <a:ea typeface="Calibri"/>
                      <a:cs typeface="Calibri"/>
                    </a:defRPr>
                  </a:pPr>
                </a:p>
              </c:txPr>
              <c:showLegendKey val="0"/>
              <c:showVal val="1"/>
              <c:showCatName val="0"/>
              <c:showSerName val="0"/>
              <c:showPercent val="0"/>
              <c:showBubbleSize val="0"/>
            </c:dLbl>
            <c:showLegendKey val="0"/>
            <c:showVal val="0"/>
            <c:showCatName val="0"/>
            <c:showSerName val="0"/>
            <c:showPercent val="0"/>
            <c:showBubbleSize val="0"/>
            <c:showLeaderLines val="0"/>
          </c:dLbls>
          <c:cat>
            <c:numRef>
              <c:f>'Chart Data'!$A$2:$A$8</c:f>
              <c:numCache>
                <c:formatCode>General</c:formatCode>
                <c:ptCount val="7"/>
                <c:pt idx="0">
                  <c:v>0</c:v>
                </c:pt>
                <c:pt idx="1">
                  <c:v>10</c:v>
                </c:pt>
                <c:pt idx="2">
                  <c:v>20</c:v>
                </c:pt>
                <c:pt idx="3">
                  <c:v>30</c:v>
                </c:pt>
                <c:pt idx="4">
                  <c:v>40</c:v>
                </c:pt>
                <c:pt idx="5">
                  <c:v>50</c:v>
                </c:pt>
                <c:pt idx="6">
                  <c:v>60</c:v>
                </c:pt>
              </c:numCache>
            </c:numRef>
          </c:cat>
          <c:val>
            <c:numRef>
              <c:f>'Chart Data'!$B$2:$B$8</c:f>
              <c:numCache>
                <c:formatCode>0%</c:formatCode>
                <c:ptCount val="7"/>
                <c:pt idx="0">
                  <c:v>0</c:v>
                </c:pt>
                <c:pt idx="1">
                  <c:v>0.19</c:v>
                </c:pt>
                <c:pt idx="2">
                  <c:v>0.36</c:v>
                </c:pt>
                <c:pt idx="3">
                  <c:v>0.51</c:v>
                </c:pt>
                <c:pt idx="4">
                  <c:v>0.64</c:v>
                </c:pt>
                <c:pt idx="5">
                  <c:v>0.75</c:v>
                </c:pt>
                <c:pt idx="6">
                  <c:v>0.84</c:v>
                </c:pt>
              </c:numCache>
            </c:numRef>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Pruning-Anteil p [%]</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catAx>
      <c:valAx>
        <c:axId val="48672768"/>
        <c:scaling>
          <c:orientation val="minMax"/>
          <c:max val="0.9"/>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t>MAC-Einsparung</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crossBetween val="between"/>
        <c:majorUnit val="0.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2">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152CA38B-67B2-1491-068F-4F1BD48F1FBE}"/>
              </a:ext>
            </a:extLst>
          </p:cNvPr>
          <p:cNvSpPr/>
          <p:nvPr/>
        </p:nvSpPr>
        <p:spPr>
          <a:xfrm>
            <a:off x="-14400" y="1694801"/>
            <a:ext cx="122064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B49AB593-9975-34D5-BA11-9F7831182298}"/>
              </a:ext>
            </a:extLst>
          </p:cNvPr>
          <p:cNvSpPr>
            <a:spLocks noGrp="1"/>
          </p:cNvSpPr>
          <p:nvPr/>
        </p:nvSpPr>
        <p:spPr>
          <a:xfrm>
            <a:off x="538050" y="4502374"/>
            <a:ext cx="11587275" cy="1017766"/>
          </a:xfrm>
          <a:prstGeom prst="rect">
            <a:avLst/>
          </a:prstGeom>
          <a:noFill/>
        </p:spPr>
        <p:txBody>
          <a:bodyPr wrap="square" lIns="0" tIns="0" rIns="0" bIns="0" anchor="t">
            <a:noAutofit/>
          </a:bodyPr>
          <a:lstStyle/>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Deployment-Oriented Neural Network State-Estimation</a:t>
            </a:r>
          </a:p>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Methods for Battery Management Systems:</a:t>
            </a:r>
            <a:endParaRPr dirty="0">
              <a:solidFill>
                <a:srgbClr val="FFFFFF"/>
              </a:solidFill>
            </a:endParaRPr>
          </a:p>
        </p:txBody>
      </p:sp>
      <p:sp>
        <p:nvSpPr>
          <p:cNvPr id="3" name="V5_Text_3">
            <a:extLst>
              <a:ext uri="{FF2B5EF4-FFF2-40B4-BE49-F238E27FC236}">
                <a16:creationId xmlns:a16="http://schemas.microsoft.com/office/drawing/2014/main" id="{357757F1-721E-4FE8-94E8-D4AB53E632E8}"/>
              </a:ext>
            </a:extLst>
          </p:cNvPr>
          <p:cNvSpPr>
            <a:spLocks noGrp="1"/>
          </p:cNvSpPr>
          <p:nvPr/>
        </p:nvSpPr>
        <p:spPr>
          <a:xfrm>
            <a:off x="552450" y="5619750"/>
            <a:ext cx="10668000" cy="609600"/>
          </a:xfrm>
          <a:prstGeom prst="rect">
            <a:avLst/>
          </a:prstGeom>
          <a:noFill/>
        </p:spPr>
        <p:txBody>
          <a:bodyPr vert="horz" wrap="square" lIns="0" tIns="0" rIns="0" bIns="0" anchor="t">
            <a:noAutofit/>
          </a:bodyPr>
          <a:lstStyle/>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Ageing Estimation, Robustness Benchmarking, Embedded Optimization, and Hardware</a:t>
            </a:r>
          </a:p>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Integration</a:t>
            </a:r>
            <a:endParaRPr sz="1800" b="0" dirty="0">
              <a:solidFill>
                <a:srgbClr val="FFFFFF"/>
              </a:solidFill>
              <a:latin typeface="Calibri"/>
              <a:ea typeface="Calibri"/>
              <a:cs typeface="Calibri"/>
            </a:endParaRPr>
          </a:p>
        </p:txBody>
      </p:sp>
      <p:sp>
        <p:nvSpPr>
          <p:cNvPr id="12" name="Footer – Präsentationsangaben">
            <a:extLst>
              <a:ext uri="{FF2B5EF4-FFF2-40B4-BE49-F238E27FC236}">
                <a16:creationId xmlns:a16="http://schemas.microsoft.com/office/drawing/2014/main" id="{24C9414F-3F0C-4544-8EB3-F4A90FEB19F9}"/>
              </a:ext>
            </a:extLst>
          </p:cNvPr>
          <p:cNvSpPr>
            <a:spLocks noGrp="1"/>
          </p:cNvSpPr>
          <p:nvPr/>
        </p:nvSpPr>
        <p:spPr>
          <a:xfrm>
            <a:off x="552450"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dirty="0">
                <a:solidFill>
                  <a:srgbClr val="FFFFFF"/>
                </a:solidFill>
                <a:latin typeface="Calibri"/>
                <a:ea typeface="Calibri"/>
                <a:cs typeface="Calibri"/>
              </a:rPr>
              <a:t>Florian Rzepka | Ph.D. Presentation | </a:t>
            </a:r>
            <a:r>
              <a:rPr sz="1200" b="0" dirty="0" err="1">
                <a:solidFill>
                  <a:srgbClr val="FFFFFF"/>
                </a:solidFill>
                <a:latin typeface="Calibri"/>
                <a:ea typeface="Calibri"/>
                <a:cs typeface="Calibri"/>
              </a:rPr>
              <a:t>Technische</a:t>
            </a:r>
            <a:r>
              <a:rPr sz="1200" b="0" dirty="0">
                <a:solidFill>
                  <a:srgbClr val="FFFFFF"/>
                </a:solidFill>
                <a:latin typeface="Calibri"/>
                <a:ea typeface="Calibri"/>
                <a:cs typeface="Calibri"/>
              </a:rPr>
              <a:t> Universität Berlin | 23.10.2026</a:t>
            </a:r>
          </a:p>
        </p:txBody>
      </p:sp>
      <p:pic>
        <p:nvPicPr>
          <p:cNvPr id="8" name="Grafik 7" descr="The image shows a vibrant bouquet of flowers with various colors and shapes.&#10;&#10;KI-generierte Inhalte können fehlerhaft sein.">
            <a:extLst>
              <a:ext uri="{FF2B5EF4-FFF2-40B4-BE49-F238E27FC236}">
                <a16:creationId xmlns:a16="http://schemas.microsoft.com/office/drawing/2014/main" id="{F487E486-7BBF-E673-7757-CB8DEBC2132C}"/>
              </a:ext>
            </a:extLst>
          </p:cNvPr>
          <p:cNvPicPr>
            <a:picLocks noChangeAspect="1"/>
          </p:cNvPicPr>
          <p:nvPr/>
        </p:nvPicPr>
        <p:blipFill>
          <a:blip r:embed="rId3"/>
          <a:stretch>
            <a:fillRect/>
          </a:stretch>
        </p:blipFill>
        <p:spPr>
          <a:xfrm>
            <a:off x="10617548" y="5980251"/>
            <a:ext cx="1001450" cy="617762"/>
          </a:xfrm>
          <a:prstGeom prst="rect">
            <a:avLst/>
          </a:prstGeom>
        </p:spPr>
      </p:pic>
      <p:pic>
        <p:nvPicPr>
          <p:cNvPr id="14" name="Bildplatzhalter 3">
            <a:extLst>
              <a:ext uri="{FF2B5EF4-FFF2-40B4-BE49-F238E27FC236}">
                <a16:creationId xmlns:a16="http://schemas.microsoft.com/office/drawing/2014/main" id="{15D32EA4-9B94-8B45-AACF-5FCF4C3A6102}"/>
              </a:ext>
            </a:extLst>
          </p:cNvPr>
          <p:cNvPicPr>
            <a:picLocks noGrp="1" noChangeAspect="1"/>
          </p:cNvPicPr>
          <p:nvPr>
            <p:ph type="pic" sz="quarter" idx="17"/>
          </p:nvPr>
        </p:nvPicPr>
        <p:blipFill>
          <a:blip r:embed="rId4"/>
          <a:srcRect t="25289" b="25289"/>
          <a:stretch>
            <a:fillRect/>
          </a:stretch>
        </p:blipFill>
        <p:spPr>
          <a:xfrm>
            <a:off x="-21275" y="1198694"/>
            <a:ext cx="8885359" cy="3273604"/>
          </a:xfrm>
        </p:spPr>
      </p:pic>
    </p:spTree>
    <p:extLst>
      <p:ext uri="{BB962C8B-B14F-4D97-AF65-F5344CB8AC3E}">
        <p14:creationId xmlns:p14="http://schemas.microsoft.com/office/powerpoint/2010/main" val="1565291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476250"/>
            <a:ext cx="9496425" cy="83820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Motivation: </a:t>
            </a:r>
            <a:r>
              <a:rPr sz="2400" b="0" dirty="0" err="1">
                <a:solidFill>
                  <a:srgbClr val="CC001C"/>
                </a:solidFill>
                <a:latin typeface="Calibri"/>
                <a:ea typeface="Calibri"/>
                <a:cs typeface="Calibri"/>
              </a:rPr>
              <a:t>Batteriespeicher</a:t>
            </a:r>
            <a:r>
              <a:rPr sz="2400" b="0" dirty="0">
                <a:solidFill>
                  <a:srgbClr val="CC001C"/>
                </a:solidFill>
                <a:latin typeface="Calibri"/>
                <a:ea typeface="Calibri"/>
                <a:cs typeface="Calibri"/>
              </a:rPr>
              <a:t> für </a:t>
            </a:r>
            <a:r>
              <a:rPr sz="2400" b="0" dirty="0" err="1">
                <a:solidFill>
                  <a:srgbClr val="CC001C"/>
                </a:solidFill>
                <a:latin typeface="Calibri"/>
                <a:ea typeface="Calibri"/>
                <a:cs typeface="Calibri"/>
              </a:rPr>
              <a:t>eine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dezentrale</a:t>
            </a:r>
            <a:r>
              <a:rPr lang="de-DE" dirty="0">
                <a:solidFill>
                  <a:srgbClr val="CC001C"/>
                </a:solidFill>
                <a:latin typeface="Calibri"/>
                <a:ea typeface="Calibri"/>
                <a:cs typeface="Calibri"/>
              </a:rPr>
              <a:t> </a:t>
            </a:r>
            <a:r>
              <a:rPr sz="2400" b="0" dirty="0">
                <a:solidFill>
                  <a:srgbClr val="CC001C"/>
                </a:solidFill>
                <a:latin typeface="Calibri"/>
                <a:ea typeface="Calibri"/>
                <a:cs typeface="Calibri"/>
              </a:rPr>
              <a:t>und </a:t>
            </a:r>
            <a:r>
              <a:rPr sz="2400" b="0" dirty="0" err="1">
                <a:solidFill>
                  <a:srgbClr val="CC001C"/>
                </a:solidFill>
                <a:latin typeface="Calibri"/>
                <a:ea typeface="Calibri"/>
                <a:cs typeface="Calibri"/>
              </a:rPr>
              <a:t>autonome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Energieversorgung</a:t>
            </a:r>
            <a:endParaRPr sz="2400" b="0" dirty="0">
              <a:solidFill>
                <a:srgbClr val="CC001C"/>
              </a:solidFill>
              <a:latin typeface="Calibri"/>
              <a:ea typeface="Calibri"/>
              <a:cs typeface="Calibri"/>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5572125" y="1476375"/>
            <a:ext cx="4381500" cy="10858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Dezentrale</a:t>
            </a:r>
            <a:r>
              <a:rPr sz="1800" b="1" dirty="0">
                <a:latin typeface="Calibri"/>
                <a:ea typeface="Calibri"/>
                <a:cs typeface="Calibri"/>
              </a:rPr>
              <a:t> </a:t>
            </a:r>
            <a:r>
              <a:rPr sz="1800" b="1" dirty="0" err="1">
                <a:latin typeface="Calibri"/>
                <a:ea typeface="Calibri"/>
                <a:cs typeface="Calibri"/>
              </a:rPr>
              <a:t>Energiesysteme</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Batteriespeicher</a:t>
            </a:r>
            <a:r>
              <a:rPr sz="1800" b="0" dirty="0">
                <a:latin typeface="Calibri"/>
                <a:ea typeface="Calibri"/>
                <a:cs typeface="Calibri"/>
              </a:rPr>
              <a:t> in </a:t>
            </a:r>
            <a:r>
              <a:rPr sz="1800" b="0" dirty="0" err="1">
                <a:latin typeface="Calibri"/>
                <a:ea typeface="Calibri"/>
                <a:cs typeface="Calibri"/>
              </a:rPr>
              <a:t>Versorgungsnetzen</a:t>
            </a:r>
            <a:r>
              <a:rPr sz="1800" b="0" dirty="0">
                <a:latin typeface="Calibri"/>
                <a:ea typeface="Calibri"/>
                <a:cs typeface="Calibri"/>
              </a:rPr>
              <a:t> – </a:t>
            </a:r>
            <a:r>
              <a:rPr sz="1800" b="0" dirty="0" err="1">
                <a:latin typeface="Calibri"/>
                <a:ea typeface="Calibri"/>
                <a:cs typeface="Calibri"/>
              </a:rPr>
              <a:t>Beispiel</a:t>
            </a:r>
            <a:r>
              <a:rPr sz="1800" b="0" dirty="0">
                <a:latin typeface="Calibri"/>
                <a:ea typeface="Calibri"/>
                <a:cs typeface="Calibri"/>
              </a:rPr>
              <a:t> MG-Farm</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72125" y="2581275"/>
            <a:ext cx="4381500" cy="1009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Mobile </a:t>
            </a:r>
            <a:r>
              <a:rPr sz="1800" b="1" dirty="0" err="1">
                <a:latin typeface="Calibri"/>
                <a:ea typeface="Calibri"/>
                <a:cs typeface="Calibri"/>
              </a:rPr>
              <a:t>Anwendungen</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Energieversorgung</a:t>
            </a:r>
            <a:r>
              <a:rPr sz="1800" b="0" dirty="0">
                <a:latin typeface="Calibri"/>
                <a:ea typeface="Calibri"/>
                <a:cs typeface="Calibri"/>
              </a:rPr>
              <a:t> </a:t>
            </a:r>
            <a:r>
              <a:rPr sz="1800" b="0" dirty="0" err="1">
                <a:latin typeface="Calibri"/>
                <a:ea typeface="Calibri"/>
                <a:cs typeface="Calibri"/>
              </a:rPr>
              <a:t>außerhalb</a:t>
            </a:r>
            <a:r>
              <a:rPr sz="1800" b="0" dirty="0">
                <a:latin typeface="Calibri"/>
                <a:ea typeface="Calibri"/>
                <a:cs typeface="Calibri"/>
              </a:rPr>
              <a:t> fester </a:t>
            </a:r>
            <a:r>
              <a:rPr sz="1800" b="0" dirty="0" err="1">
                <a:latin typeface="Calibri"/>
                <a:ea typeface="Calibri"/>
                <a:cs typeface="Calibri"/>
              </a:rPr>
              <a:t>Infrastruktur</a:t>
            </a:r>
            <a:r>
              <a:rPr sz="1800" b="0" dirty="0">
                <a:latin typeface="Calibri"/>
                <a:ea typeface="Calibri"/>
                <a:cs typeface="Calibri"/>
              </a:rPr>
              <a:t>; </a:t>
            </a:r>
            <a:r>
              <a:rPr sz="1800" b="0" dirty="0" err="1">
                <a:latin typeface="Calibri"/>
                <a:ea typeface="Calibri"/>
                <a:cs typeface="Calibri"/>
              </a:rPr>
              <a:t>begrenzter</a:t>
            </a:r>
            <a:r>
              <a:rPr sz="1800" b="0" dirty="0">
                <a:latin typeface="Calibri"/>
                <a:ea typeface="Calibri"/>
                <a:cs typeface="Calibri"/>
              </a:rPr>
              <a:t> Wartungszugang</a:t>
            </a: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2-2">
            <a:extLst>
              <a:ext uri="{FF2B5EF4-FFF2-40B4-BE49-F238E27FC236}">
                <a16:creationId xmlns:a16="http://schemas.microsoft.com/office/drawing/2014/main" id="{177E2974-B70A-497F-8131-95FD5F6E4EE4}"/>
              </a:ext>
            </a:extLst>
          </p:cNvPr>
          <p:cNvSpPr>
            <a:spLocks noGrp="1"/>
          </p:cNvSpPr>
          <p:nvPr/>
        </p:nvSpPr>
        <p:spPr>
          <a:xfrm>
            <a:off x="5572125" y="3590925"/>
            <a:ext cx="4381500" cy="11049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Ressourcenbeschränkung</a:t>
            </a:r>
            <a:r>
              <a:rPr sz="1800" b="1" dirty="0">
                <a:latin typeface="Calibri"/>
                <a:ea typeface="Calibri"/>
                <a:cs typeface="Calibri"/>
              </a:rPr>
              <a:t>:</a:t>
            </a:r>
            <a:r>
              <a:rPr sz="1800" b="0" dirty="0">
                <a:latin typeface="Calibri"/>
                <a:ea typeface="Calibri"/>
                <a:cs typeface="Calibri"/>
              </a:rPr>
              <a:t> Wenig </a:t>
            </a:r>
            <a:r>
              <a:rPr sz="1800" b="0" dirty="0" err="1">
                <a:latin typeface="Calibri"/>
                <a:ea typeface="Calibri"/>
                <a:cs typeface="Calibri"/>
              </a:rPr>
              <a:t>Rechenleistung</a:t>
            </a:r>
            <a:r>
              <a:rPr sz="1800" b="0" dirty="0">
                <a:latin typeface="Calibri"/>
                <a:ea typeface="Calibri"/>
                <a:cs typeface="Calibri"/>
              </a:rPr>
              <a:t> und Speicher; </a:t>
            </a:r>
            <a:r>
              <a:rPr sz="1800" b="0" dirty="0" err="1">
                <a:latin typeface="Calibri"/>
                <a:ea typeface="Calibri"/>
                <a:cs typeface="Calibri"/>
              </a:rPr>
              <a:t>eingeschränkter</a:t>
            </a:r>
            <a:r>
              <a:rPr sz="1800" b="0" dirty="0">
                <a:latin typeface="Calibri"/>
                <a:ea typeface="Calibri"/>
                <a:cs typeface="Calibri"/>
              </a:rPr>
              <a:t> </a:t>
            </a:r>
            <a:r>
              <a:rPr sz="1800" b="0" dirty="0" err="1">
                <a:latin typeface="Calibri"/>
                <a:ea typeface="Calibri"/>
                <a:cs typeface="Calibri"/>
              </a:rPr>
              <a:t>oder</a:t>
            </a:r>
            <a:r>
              <a:rPr sz="1800" b="0" dirty="0">
                <a:latin typeface="Calibri"/>
                <a:ea typeface="Calibri"/>
                <a:cs typeface="Calibri"/>
              </a:rPr>
              <a:t> </a:t>
            </a:r>
            <a:r>
              <a:rPr sz="1800" b="0" dirty="0" err="1">
                <a:latin typeface="Calibri"/>
                <a:ea typeface="Calibri"/>
                <a:cs typeface="Calibri"/>
              </a:rPr>
              <a:t>fehlender</a:t>
            </a:r>
            <a:r>
              <a:rPr sz="1800" b="0" dirty="0">
                <a:latin typeface="Calibri"/>
                <a:ea typeface="Calibri"/>
                <a:cs typeface="Calibri"/>
              </a:rPr>
              <a:t> </a:t>
            </a:r>
            <a:r>
              <a:rPr sz="1800" b="0" dirty="0" err="1">
                <a:latin typeface="Calibri"/>
                <a:ea typeface="Calibri"/>
                <a:cs typeface="Calibri"/>
              </a:rPr>
              <a:t>Internetzugang</a:t>
            </a:r>
            <a:endParaRPr sz="1800" b="0" dirty="0">
              <a:latin typeface="Calibri"/>
              <a:ea typeface="Calibri"/>
              <a:cs typeface="Calibri"/>
            </a:endParaRPr>
          </a:p>
        </p:txBody>
      </p:sp>
      <p:sp>
        <p:nvSpPr>
          <p:cNvPr id="30" name="v11-text-2-3">
            <a:extLst>
              <a:ext uri="{FF2B5EF4-FFF2-40B4-BE49-F238E27FC236}">
                <a16:creationId xmlns:a16="http://schemas.microsoft.com/office/drawing/2014/main" id="{00874D04-F4FC-4D79-ABEC-39D922797E67}"/>
              </a:ext>
            </a:extLst>
          </p:cNvPr>
          <p:cNvSpPr>
            <a:spLocks noGrp="1"/>
          </p:cNvSpPr>
          <p:nvPr/>
        </p:nvSpPr>
        <p:spPr>
          <a:xfrm>
            <a:off x="5572121" y="4867275"/>
            <a:ext cx="4381500" cy="8382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C00000"/>
                </a:solidFill>
                <a:latin typeface="Calibri"/>
                <a:ea typeface="Calibri"/>
                <a:cs typeface="Calibri"/>
              </a:rPr>
              <a:t>Forschungsbedarf</a:t>
            </a:r>
            <a:r>
              <a:rPr sz="1800" b="1" dirty="0">
                <a:solidFill>
                  <a:srgbClr val="C00000"/>
                </a:solidFill>
                <a:latin typeface="Calibri"/>
                <a:ea typeface="Calibri"/>
                <a:cs typeface="Calibri"/>
              </a:rPr>
              <a:t>:</a:t>
            </a:r>
            <a:r>
              <a:rPr sz="1800" b="0" dirty="0">
                <a:solidFill>
                  <a:srgbClr val="C00000"/>
                </a:solidFill>
                <a:latin typeface="Calibri"/>
                <a:ea typeface="Calibri"/>
                <a:cs typeface="Calibri"/>
              </a:rPr>
              <a:t> </a:t>
            </a:r>
            <a:r>
              <a:rPr sz="1800" b="0" dirty="0" err="1">
                <a:latin typeface="Calibri"/>
                <a:ea typeface="Calibri"/>
                <a:cs typeface="Calibri"/>
              </a:rPr>
              <a:t>Zuverlässige</a:t>
            </a:r>
            <a:r>
              <a:rPr sz="1800" b="0" dirty="0">
                <a:latin typeface="Calibri"/>
                <a:ea typeface="Calibri"/>
                <a:cs typeface="Calibri"/>
              </a:rPr>
              <a:t> </a:t>
            </a:r>
            <a:r>
              <a:rPr sz="1800" b="0" dirty="0" err="1">
                <a:latin typeface="Calibri"/>
                <a:ea typeface="Calibri"/>
                <a:cs typeface="Calibri"/>
              </a:rPr>
              <a:t>Zustandsbestimmung</a:t>
            </a:r>
            <a:r>
              <a:rPr sz="1800" b="0" dirty="0">
                <a:latin typeface="Calibri"/>
                <a:ea typeface="Calibri"/>
                <a:cs typeface="Calibri"/>
              </a:rPr>
              <a:t> </a:t>
            </a:r>
            <a:r>
              <a:rPr sz="1800" b="0" dirty="0" err="1">
                <a:latin typeface="Calibri"/>
                <a:ea typeface="Calibri"/>
                <a:cs typeface="Calibri"/>
              </a:rPr>
              <a:t>direkt</a:t>
            </a:r>
            <a:r>
              <a:rPr sz="1800" b="0" dirty="0">
                <a:latin typeface="Calibri"/>
                <a:ea typeface="Calibri"/>
                <a:cs typeface="Calibri"/>
              </a:rPr>
              <a:t> </a:t>
            </a:r>
            <a:r>
              <a:rPr sz="1800" b="0" dirty="0" err="1">
                <a:latin typeface="Calibri"/>
                <a:ea typeface="Calibri"/>
                <a:cs typeface="Calibri"/>
              </a:rPr>
              <a:t>im</a:t>
            </a:r>
            <a:r>
              <a:rPr sz="1800" b="0" dirty="0">
                <a:latin typeface="Calibri"/>
                <a:ea typeface="Calibri"/>
                <a:cs typeface="Calibri"/>
              </a:rPr>
              <a:t> BMS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begrenztem</a:t>
            </a:r>
            <a:r>
              <a:rPr sz="1800" b="0" dirty="0">
                <a:latin typeface="Calibri"/>
                <a:ea typeface="Calibri"/>
                <a:cs typeface="Calibri"/>
              </a:rPr>
              <a:t> </a:t>
            </a:r>
            <a:r>
              <a:rPr sz="1800" b="0" dirty="0" err="1">
                <a:latin typeface="Calibri"/>
                <a:ea typeface="Calibri"/>
                <a:cs typeface="Calibri"/>
              </a:rPr>
              <a:t>Ressourcenbudget</a:t>
            </a:r>
            <a:endParaRPr sz="1800" b="0" dirty="0">
              <a:latin typeface="Calibri"/>
              <a:ea typeface="Calibri"/>
              <a:cs typeface="Calibri"/>
            </a:endParaRPr>
          </a:p>
        </p:txBody>
      </p:sp>
      <p:pic>
        <p:nvPicPr>
          <p:cNvPr id="50" name="Grafik 49"/>
          <p:cNvPicPr>
            <a:picLocks noChangeAspect="1"/>
          </p:cNvPicPr>
          <p:nvPr/>
        </p:nvPicPr>
        <p:blipFill>
          <a:blip r:embed="rId4"/>
          <a:stretch/>
        </p:blipFill>
        <p:spPr>
          <a:xfrm>
            <a:off x="95249" y="1913722"/>
            <a:ext cx="5143497" cy="3050093"/>
          </a:xfrm>
          <a:prstGeom prst="rect">
            <a:avLst/>
          </a:prstGeom>
        </p:spPr>
      </p:pic>
      <p:sp>
        <p:nvSpPr>
          <p:cNvPr id="51" name="Footer – Seitennummer">
            <a:extLst>
              <a:ext uri="{FF2B5EF4-FFF2-40B4-BE49-F238E27FC236}">
                <a16:creationId xmlns:a16="http://schemas.microsoft.com/office/drawing/2014/main" id="{C7FC362E-6B9E-45E2-9236-C6998B9D9AE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 / 40</a:t>
            </a:r>
          </a:p>
        </p:txBody>
      </p:sp>
      <p:sp>
        <p:nvSpPr>
          <p:cNvPr id="52" name="Footer – Präsentationsangaben">
            <a:extLst>
              <a:ext uri="{FF2B5EF4-FFF2-40B4-BE49-F238E27FC236}">
                <a16:creationId xmlns:a16="http://schemas.microsoft.com/office/drawing/2014/main" id="{93C65533-8BA4-4732-B4D5-DDE8CD7F9D3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3" name="Quellenverweis 50">
            <a:extLst>
              <a:ext uri="{FF2B5EF4-FFF2-40B4-BE49-F238E27FC236}">
                <a16:creationId xmlns:a16="http://schemas.microsoft.com/office/drawing/2014/main" id="{67E5842A-22C4-426C-885F-87CA7A5427C8}"/>
              </a:ext>
            </a:extLst>
          </p:cNvPr>
          <p:cNvSpPr>
            <a:spLocks noGrp="1"/>
          </p:cNvSpPr>
          <p:nvPr/>
        </p:nvSpPr>
        <p:spPr>
          <a:xfrm>
            <a:off x="4759936" y="4562475"/>
            <a:ext cx="246906"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dirty="0">
                <a:solidFill>
                  <a:srgbClr val="404040"/>
                </a:solidFill>
                <a:latin typeface="Calibri"/>
                <a:ea typeface="Calibri"/>
                <a:cs typeface="Calibri"/>
              </a:rPr>
              <a:t>[1]</a:t>
            </a:r>
          </a:p>
        </p:txBody>
      </p:sp>
      <p:sp>
        <p:nvSpPr>
          <p:cNvPr id="5" name="Pfeil: nach rechts 4">
            <a:extLst>
              <a:ext uri="{FF2B5EF4-FFF2-40B4-BE49-F238E27FC236}">
                <a16:creationId xmlns:a16="http://schemas.microsoft.com/office/drawing/2014/main" id="{C54CC2FF-B914-F6B3-9B0B-1495D2AD3342}"/>
              </a:ext>
            </a:extLst>
          </p:cNvPr>
          <p:cNvSpPr/>
          <p:nvPr/>
        </p:nvSpPr>
        <p:spPr>
          <a:xfrm>
            <a:off x="5491530" y="4909852"/>
            <a:ext cx="241550" cy="205073"/>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Forschungsfragen und Ziele der Dissertation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1635748" y="1183319"/>
            <a:ext cx="7079004" cy="4453261"/>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4038600" y="1428750"/>
            <a:ext cx="5905500" cy="1457325"/>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1. Wie </a:t>
            </a:r>
            <a:r>
              <a:rPr sz="1800" i="1" dirty="0" err="1">
                <a:solidFill>
                  <a:srgbClr val="3F3F3F"/>
                </a:solidFill>
                <a:latin typeface="Calibri"/>
                <a:ea typeface="Calibri"/>
                <a:cs typeface="Calibri"/>
              </a:rPr>
              <a:t>lässt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das </a:t>
            </a:r>
            <a:r>
              <a:rPr sz="1800" i="1" dirty="0" err="1">
                <a:solidFill>
                  <a:srgbClr val="3F3F3F"/>
                </a:solidFill>
                <a:latin typeface="Calibri"/>
                <a:ea typeface="Calibri"/>
                <a:cs typeface="Calibri"/>
              </a:rPr>
              <a:t>komplexe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zeitabhängige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Alterungsverhalten</a:t>
            </a:r>
            <a:r>
              <a:rPr sz="1800" i="1" dirty="0">
                <a:solidFill>
                  <a:srgbClr val="3F3F3F"/>
                </a:solidFill>
                <a:latin typeface="Calibri"/>
                <a:ea typeface="Calibri"/>
                <a:cs typeface="Calibri"/>
              </a:rPr>
              <a:t> von Lithium-</a:t>
            </a:r>
            <a:r>
              <a:rPr sz="1800" i="1" dirty="0" err="1">
                <a:solidFill>
                  <a:srgbClr val="3F3F3F"/>
                </a:solidFill>
                <a:latin typeface="Calibri"/>
                <a:ea typeface="Calibri"/>
                <a:cs typeface="Calibri"/>
              </a:rPr>
              <a:t>Ionen</a:t>
            </a:r>
            <a:r>
              <a:rPr sz="1800" i="1" dirty="0">
                <a:solidFill>
                  <a:srgbClr val="3F3F3F"/>
                </a:solidFill>
                <a:latin typeface="Calibri"/>
                <a:ea typeface="Calibri"/>
                <a:cs typeface="Calibri"/>
              </a:rPr>
              <a:t>-</a:t>
            </a:r>
            <a:r>
              <a:rPr sz="1800" i="1" dirty="0" err="1">
                <a:solidFill>
                  <a:srgbClr val="3F3F3F"/>
                </a:solidFill>
                <a:latin typeface="Calibri"/>
                <a:ea typeface="Calibri"/>
                <a:cs typeface="Calibri"/>
              </a:rPr>
              <a:t>Batterien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mit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einfachen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kompakten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Modellen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abbilden</a:t>
            </a:r>
            <a:r>
              <a:rPr sz="1800" i="1" dirty="0">
                <a:solidFill>
                  <a:srgbClr val="3F3F3F"/>
                </a:solidFill>
                <a:latin typeface="Calibri"/>
                <a:ea typeface="Calibri"/>
                <a:cs typeface="Calibri"/>
              </a:rPr>
              <a:t>?</a:t>
            </a:r>
          </a:p>
          <a:p>
            <a:pPr marL="0" indent="0" algn="l">
              <a:spcBef>
                <a:spcPts val="0"/>
              </a:spcBef>
              <a:spcAft>
                <a:spcPts val="7"/>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Entwicklung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kompakter</a:t>
            </a:r>
            <a:r>
              <a:rPr sz="1800" b="0" dirty="0">
                <a:solidFill>
                  <a:srgbClr val="3F3F3F"/>
                </a:solidFill>
                <a:latin typeface="Calibri"/>
                <a:ea typeface="Calibri"/>
                <a:cs typeface="Calibri"/>
              </a:rPr>
              <a:t> SOH-Modelle</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mit</a:t>
            </a:r>
            <a:r>
              <a:rPr sz="1800" b="0" dirty="0">
                <a:solidFill>
                  <a:srgbClr val="3F3F3F"/>
                </a:solidFill>
                <a:latin typeface="Calibri"/>
                <a:ea typeface="Calibri"/>
                <a:cs typeface="Calibri"/>
              </a:rPr>
              <a:t> Feature Engineering</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4038600" y="3028950"/>
            <a:ext cx="5905500" cy="1238250"/>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2. Wie </a:t>
            </a:r>
            <a:r>
              <a:rPr sz="1800" i="1" dirty="0" err="1">
                <a:solidFill>
                  <a:srgbClr val="3F3F3F"/>
                </a:solidFill>
                <a:latin typeface="Calibri"/>
                <a:ea typeface="Calibri"/>
                <a:cs typeface="Calibri"/>
              </a:rPr>
              <a:t>verhalten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unter</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realistischen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Betriebs</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Messbedingungen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welche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Faktoren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bestimmen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ihre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Robustheit</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Benchmark </a:t>
            </a:r>
            <a:r>
              <a:rPr sz="1800" b="0" dirty="0" err="1">
                <a:solidFill>
                  <a:srgbClr val="3F3F3F"/>
                </a:solidFill>
                <a:latin typeface="Calibri"/>
                <a:ea typeface="Calibri"/>
                <a:cs typeface="Calibri"/>
              </a:rPr>
              <a:t>verschiedener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Estimatorklassen</a:t>
            </a:r>
            <a:endParaRPr sz="1800" b="0" dirty="0">
              <a:solidFill>
                <a:srgbClr val="3F3F3F"/>
              </a:solidFill>
              <a:latin typeface="Calibri"/>
              <a:ea typeface="Calibri"/>
              <a:cs typeface="Calibri"/>
            </a:endParaRP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3">
            <a:extLst>
              <a:ext uri="{FF2B5EF4-FFF2-40B4-BE49-F238E27FC236}">
                <a16:creationId xmlns:a16="http://schemas.microsoft.com/office/drawing/2014/main" id="{88295B18-3110-4A8E-9847-DAE2B8976FB1}"/>
              </a:ext>
            </a:extLst>
          </p:cNvPr>
          <p:cNvSpPr>
            <a:spLocks noGrp="1"/>
          </p:cNvSpPr>
          <p:nvPr/>
        </p:nvSpPr>
        <p:spPr>
          <a:xfrm>
            <a:off x="4038600" y="4495800"/>
            <a:ext cx="5905500" cy="1371600"/>
          </a:xfrm>
          <a:prstGeom prst="rect">
            <a:avLst/>
          </a:prstGeom>
          <a:noFill/>
          <a:ln w="0">
            <a:noFill/>
          </a:ln>
        </p:spPr>
        <p:txBody>
          <a:bodyPr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3. Wie </a:t>
            </a:r>
            <a:r>
              <a:rPr sz="1800" i="1" dirty="0" err="1">
                <a:solidFill>
                  <a:srgbClr val="3F3F3F"/>
                </a:solidFill>
                <a:latin typeface="Calibri"/>
                <a:ea typeface="Calibri"/>
                <a:cs typeface="Calibri"/>
              </a:rPr>
              <a:t>lassen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auf Embedded-Hardware </a:t>
            </a:r>
            <a:r>
              <a:rPr sz="1800" i="1" dirty="0" err="1">
                <a:solidFill>
                  <a:srgbClr val="3F3F3F"/>
                </a:solidFill>
                <a:latin typeface="Calibri"/>
                <a:ea typeface="Calibri"/>
                <a:cs typeface="Calibri"/>
              </a:rPr>
              <a:t>übertragen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hinsichtlich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Speicherbedarf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Laufzeit</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Energiebedarf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optimieren</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Optimierung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durch</a:t>
            </a:r>
            <a:r>
              <a:rPr sz="1800" b="0" dirty="0">
                <a:solidFill>
                  <a:srgbClr val="3F3F3F"/>
                </a:solidFill>
                <a:latin typeface="Calibri"/>
                <a:ea typeface="Calibri"/>
                <a:cs typeface="Calibri"/>
              </a:rPr>
              <a:t> Pruning und Quantization</a:t>
            </a:r>
          </a:p>
        </p:txBody>
      </p:sp>
      <p:sp>
        <p:nvSpPr>
          <p:cNvPr id="40" name="Footer – Seitennummer">
            <a:extLst>
              <a:ext uri="{FF2B5EF4-FFF2-40B4-BE49-F238E27FC236}">
                <a16:creationId xmlns:a16="http://schemas.microsoft.com/office/drawing/2014/main" id="{D9D73BB7-7997-4EC3-A698-118F0370B87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 / 40</a:t>
            </a:r>
          </a:p>
        </p:txBody>
      </p:sp>
      <p:sp>
        <p:nvSpPr>
          <p:cNvPr id="41" name="Footer – Präsentationsangaben">
            <a:extLst>
              <a:ext uri="{FF2B5EF4-FFF2-40B4-BE49-F238E27FC236}">
                <a16:creationId xmlns:a16="http://schemas.microsoft.com/office/drawing/2014/main" id="{C5315ED0-6A6D-4365-BC88-DA71C8BC869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36"/>
                                        </p:tgtEl>
                                      </p:cBhvr>
                                      <p:by x="46000" y="46000"/>
                                    </p:animScale>
                                  </p:childTnLst>
                                </p:cTn>
                              </p:par>
                              <p:par>
                                <p:cTn id="7" presetID="0" presetClass="path" presetSubtype="0" fill="hold" nodeType="withEffect">
                                  <p:stCondLst>
                                    <p:cond delay="0"/>
                                  </p:stCondLst>
                                  <p:childTnLst>
                                    <p:animMotion origin="layout" path="M 0 0 L -0.245622464 0 E" pathEditMode="relative" rAng="0">
                                      <p:cBhvr>
                                        <p:cTn id="8" dur="1000" fill="hold"/>
                                        <p:tgtEl>
                                          <p:spTgt spid="36"/>
                                        </p:tgtEl>
                                        <p:attrNameLst>
                                          <p:attrName>ppt_x</p:attrName>
                                          <p:attrName>ppt_y</p:attrName>
                                        </p:attrNameLst>
                                      </p:cBhvr>
                                      <p:rCtr x="0"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Stand der Technik und eigener Beitrag</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0" name="Thema 0">
            <a:extLst>
              <a:ext uri="{FF2B5EF4-FFF2-40B4-BE49-F238E27FC236}">
                <a16:creationId xmlns:a16="http://schemas.microsoft.com/office/drawing/2014/main" id="{C2B8B07E-9068-48AB-B2AC-3B5F4037C219}"/>
              </a:ext>
            </a:extLst>
          </p:cNvPr>
          <p:cNvSpPr>
            <a:spLocks noGrp="1"/>
          </p:cNvSpPr>
          <p:nvPr/>
        </p:nvSpPr>
        <p:spPr>
          <a:xfrm>
            <a:off x="552450"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Kompakte SOH-Modelle</a:t>
            </a:r>
          </a:p>
        </p:txBody>
      </p:sp>
      <p:sp>
        <p:nvSpPr>
          <p:cNvPr id="41" name="Themenlinie 0">
            <a:extLst>
              <a:ext uri="{FF2B5EF4-FFF2-40B4-BE49-F238E27FC236}">
                <a16:creationId xmlns:a16="http://schemas.microsoft.com/office/drawing/2014/main" id="{05366CE6-BD84-4899-B8D3-7ADE8B8505F6}"/>
              </a:ext>
            </a:extLst>
          </p:cNvPr>
          <p:cNvSpPr>
            <a:spLocks noGrp="1"/>
          </p:cNvSpPr>
          <p:nvPr/>
        </p:nvSpPr>
        <p:spPr>
          <a:xfrm>
            <a:off x="552450" y="2095500"/>
            <a:ext cx="2914650" cy="9525"/>
          </a:xfrm>
          <a:prstGeom prst="rect">
            <a:avLst/>
          </a:prstGeom>
          <a:solidFill>
            <a:srgbClr val="CC001C"/>
          </a:solidFill>
          <a:ln w="0">
            <a:noFill/>
          </a:ln>
        </p:spPr>
        <p:txBody>
          <a:bodyPr/>
          <a:lstStyle/>
          <a:p>
            <a:endParaRPr lang="de-DE"/>
          </a:p>
        </p:txBody>
      </p:sp>
      <p:sp>
        <p:nvSpPr>
          <p:cNvPr id="42" name="Thema 1">
            <a:extLst>
              <a:ext uri="{FF2B5EF4-FFF2-40B4-BE49-F238E27FC236}">
                <a16:creationId xmlns:a16="http://schemas.microsoft.com/office/drawing/2014/main" id="{10431B0C-BFE3-45A1-846C-320E81B5DD89}"/>
              </a:ext>
            </a:extLst>
          </p:cNvPr>
          <p:cNvSpPr>
            <a:spLocks noGrp="1"/>
          </p:cNvSpPr>
          <p:nvPr/>
        </p:nvSpPr>
        <p:spPr>
          <a:xfrm>
            <a:off x="3819525"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Robustheit</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bei</a:t>
            </a:r>
            <a:endParaRPr sz="1800" b="1" dirty="0">
              <a:solidFill>
                <a:srgbClr val="CC001C"/>
              </a:solidFill>
              <a:latin typeface="Calibri"/>
              <a:ea typeface="Calibri"/>
              <a:cs typeface="Calibri"/>
            </a:endParaRPr>
          </a:p>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Messfehlern</a:t>
            </a:r>
            <a:endParaRPr sz="1800" b="1" dirty="0">
              <a:solidFill>
                <a:srgbClr val="CC001C"/>
              </a:solidFill>
              <a:latin typeface="Calibri"/>
              <a:ea typeface="Calibri"/>
              <a:cs typeface="Calibri"/>
            </a:endParaRPr>
          </a:p>
        </p:txBody>
      </p:sp>
      <p:sp>
        <p:nvSpPr>
          <p:cNvPr id="43" name="Themenlinie 1">
            <a:extLst>
              <a:ext uri="{FF2B5EF4-FFF2-40B4-BE49-F238E27FC236}">
                <a16:creationId xmlns:a16="http://schemas.microsoft.com/office/drawing/2014/main" id="{C832571B-578D-4878-B895-335C49D28E4C}"/>
              </a:ext>
            </a:extLst>
          </p:cNvPr>
          <p:cNvSpPr>
            <a:spLocks noGrp="1"/>
          </p:cNvSpPr>
          <p:nvPr/>
        </p:nvSpPr>
        <p:spPr>
          <a:xfrm>
            <a:off x="3819525" y="2095500"/>
            <a:ext cx="2924175" cy="9525"/>
          </a:xfrm>
          <a:prstGeom prst="rect">
            <a:avLst/>
          </a:prstGeom>
          <a:solidFill>
            <a:srgbClr val="CC001C"/>
          </a:solidFill>
          <a:ln w="0">
            <a:noFill/>
          </a:ln>
        </p:spPr>
        <p:txBody>
          <a:bodyPr/>
          <a:lstStyle/>
          <a:p>
            <a:endParaRPr lang="de-DE"/>
          </a:p>
        </p:txBody>
      </p:sp>
      <p:sp>
        <p:nvSpPr>
          <p:cNvPr id="44" name="Thema 2">
            <a:extLst>
              <a:ext uri="{FF2B5EF4-FFF2-40B4-BE49-F238E27FC236}">
                <a16:creationId xmlns:a16="http://schemas.microsoft.com/office/drawing/2014/main" id="{5B0FE312-9002-4198-ACFD-74836EAEAAC1}"/>
              </a:ext>
            </a:extLst>
          </p:cNvPr>
          <p:cNvSpPr>
            <a:spLocks noGrp="1"/>
          </p:cNvSpPr>
          <p:nvPr/>
        </p:nvSpPr>
        <p:spPr>
          <a:xfrm>
            <a:off x="7096125" y="1485900"/>
            <a:ext cx="300037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a:solidFill>
                  <a:srgbClr val="CC001C"/>
                </a:solidFill>
                <a:latin typeface="Calibri"/>
                <a:ea typeface="Calibri"/>
                <a:cs typeface="Calibri"/>
              </a:rPr>
              <a:t>Embedded-</a:t>
            </a:r>
            <a:r>
              <a:rPr sz="1800" b="1" dirty="0" err="1">
                <a:solidFill>
                  <a:srgbClr val="CC001C"/>
                </a:solidFill>
                <a:latin typeface="Calibri"/>
                <a:ea typeface="Calibri"/>
                <a:cs typeface="Calibri"/>
              </a:rPr>
              <a:t>Optimierung</a:t>
            </a:r>
            <a:endParaRPr sz="1800" b="1" dirty="0">
              <a:solidFill>
                <a:srgbClr val="CC001C"/>
              </a:solidFill>
              <a:latin typeface="Calibri"/>
              <a:ea typeface="Calibri"/>
              <a:cs typeface="Calibri"/>
            </a:endParaRPr>
          </a:p>
        </p:txBody>
      </p:sp>
      <p:sp>
        <p:nvSpPr>
          <p:cNvPr id="45" name="Themenlinie 2">
            <a:extLst>
              <a:ext uri="{FF2B5EF4-FFF2-40B4-BE49-F238E27FC236}">
                <a16:creationId xmlns:a16="http://schemas.microsoft.com/office/drawing/2014/main" id="{0016D595-8F36-4E8C-A321-F0A7720BB33D}"/>
              </a:ext>
            </a:extLst>
          </p:cNvPr>
          <p:cNvSpPr>
            <a:spLocks noGrp="1"/>
          </p:cNvSpPr>
          <p:nvPr/>
        </p:nvSpPr>
        <p:spPr>
          <a:xfrm>
            <a:off x="7096125" y="2095500"/>
            <a:ext cx="2914650" cy="9525"/>
          </a:xfrm>
          <a:prstGeom prst="rect">
            <a:avLst/>
          </a:prstGeom>
          <a:solidFill>
            <a:srgbClr val="CC001C"/>
          </a:solidFill>
          <a:ln w="0">
            <a:noFill/>
          </a:ln>
        </p:spPr>
        <p:txBody>
          <a:bodyPr/>
          <a:lstStyle/>
          <a:p>
            <a:endParaRPr lang="de-DE"/>
          </a:p>
        </p:txBody>
      </p:sp>
      <p:sp>
        <p:nvSpPr>
          <p:cNvPr id="46" name="Bisherige Ansätze">
            <a:extLst>
              <a:ext uri="{FF2B5EF4-FFF2-40B4-BE49-F238E27FC236}">
                <a16:creationId xmlns:a16="http://schemas.microsoft.com/office/drawing/2014/main" id="{A871F10D-8408-45DC-B09F-C663D5FFAF55}"/>
              </a:ext>
            </a:extLst>
          </p:cNvPr>
          <p:cNvSpPr>
            <a:spLocks noGrp="1"/>
          </p:cNvSpPr>
          <p:nvPr/>
        </p:nvSpPr>
        <p:spPr>
          <a:xfrm>
            <a:off x="552450" y="2190750"/>
            <a:ext cx="9496425" cy="295275"/>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Bisherige Ansätze</a:t>
            </a:r>
          </a:p>
        </p:txBody>
      </p:sp>
      <p:sp>
        <p:nvSpPr>
          <p:cNvPr id="51" name="Beitrag dieser Arbeit">
            <a:extLst>
              <a:ext uri="{FF2B5EF4-FFF2-40B4-BE49-F238E27FC236}">
                <a16:creationId xmlns:a16="http://schemas.microsoft.com/office/drawing/2014/main" id="{91CDA49B-5134-4463-9D03-9788EBC67ABF}"/>
              </a:ext>
            </a:extLst>
          </p:cNvPr>
          <p:cNvSpPr>
            <a:spLocks noGrp="1"/>
          </p:cNvSpPr>
          <p:nvPr/>
        </p:nvSpPr>
        <p:spPr>
          <a:xfrm>
            <a:off x="552450" y="3838575"/>
            <a:ext cx="9496425" cy="29527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Beitrag</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dieser</a:t>
            </a:r>
            <a:r>
              <a:rPr sz="1800" b="1" dirty="0">
                <a:solidFill>
                  <a:srgbClr val="CC001C"/>
                </a:solidFill>
                <a:latin typeface="Calibri"/>
                <a:ea typeface="Calibri"/>
                <a:cs typeface="Calibri"/>
              </a:rPr>
              <a:t> Arbeit</a:t>
            </a:r>
          </a:p>
        </p:txBody>
      </p:sp>
      <p:sp>
        <p:nvSpPr>
          <p:cNvPr id="52" name="Eigener Beitrag 0">
            <a:extLst>
              <a:ext uri="{FF2B5EF4-FFF2-40B4-BE49-F238E27FC236}">
                <a16:creationId xmlns:a16="http://schemas.microsoft.com/office/drawing/2014/main" id="{D37EA287-142D-4FBB-9088-95DF12CE5377}"/>
              </a:ext>
            </a:extLst>
          </p:cNvPr>
          <p:cNvSpPr>
            <a:spLocks noGrp="1"/>
          </p:cNvSpPr>
          <p:nvPr/>
        </p:nvSpPr>
        <p:spPr>
          <a:xfrm>
            <a:off x="552450" y="4219575"/>
            <a:ext cx="309562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Systematische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Analyse</a:t>
            </a:r>
            <a:r>
              <a:rPr sz="1800" b="0" dirty="0">
                <a:solidFill>
                  <a:srgbClr val="262626"/>
                </a:solidFill>
                <a:latin typeface="Calibri"/>
                <a:ea typeface="Calibri"/>
                <a:cs typeface="Calibri"/>
              </a:rPr>
              <a:t> von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Input Features und</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Lag Sequences </a:t>
            </a:r>
            <a:r>
              <a:rPr sz="1800" b="0" dirty="0" err="1">
                <a:solidFill>
                  <a:srgbClr val="262626"/>
                </a:solidFill>
                <a:latin typeface="Calibri"/>
                <a:ea typeface="Calibri"/>
                <a:cs typeface="Calibri"/>
              </a:rPr>
              <a:t>unter</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unterschiedlichen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Belastungs</a:t>
            </a:r>
            <a:r>
              <a:rPr sz="1800" b="0" dirty="0">
                <a:solidFill>
                  <a:srgbClr val="262626"/>
                </a:solidFill>
                <a:latin typeface="Calibri"/>
                <a:ea typeface="Calibri"/>
                <a:cs typeface="Calibri"/>
              </a:rPr>
              <a:t>-</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Alterungsbedingungen</a:t>
            </a:r>
            <a:endParaRPr sz="1800" b="0" dirty="0">
              <a:solidFill>
                <a:srgbClr val="262626"/>
              </a:solidFill>
              <a:latin typeface="Calibri"/>
              <a:ea typeface="Calibri"/>
              <a:cs typeface="Calibri"/>
            </a:endParaRPr>
          </a:p>
        </p:txBody>
      </p:sp>
      <p:sp>
        <p:nvSpPr>
          <p:cNvPr id="53" name="Eigener Beitrag 1">
            <a:extLst>
              <a:ext uri="{FF2B5EF4-FFF2-40B4-BE49-F238E27FC236}">
                <a16:creationId xmlns:a16="http://schemas.microsoft.com/office/drawing/2014/main" id="{3712A975-E4D1-4E9D-BD68-EABCAAFE7ECD}"/>
              </a:ext>
            </a:extLst>
          </p:cNvPr>
          <p:cNvSpPr>
            <a:spLocks noGrp="1"/>
          </p:cNvSpPr>
          <p:nvPr/>
        </p:nvSpPr>
        <p:spPr>
          <a:xfrm>
            <a:off x="3819525" y="4219575"/>
            <a:ext cx="309562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Familienübergreifender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Vergleich</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Direct Measurement,</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Model-based, Data-driven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hybride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Ansätze</a:t>
            </a:r>
            <a:endParaRPr sz="1800" b="0" dirty="0">
              <a:solidFill>
                <a:srgbClr val="262626"/>
              </a:solidFill>
              <a:latin typeface="Calibri"/>
              <a:ea typeface="Calibri"/>
              <a:cs typeface="Calibri"/>
            </a:endParaRPr>
          </a:p>
        </p:txBody>
      </p:sp>
      <p:sp>
        <p:nvSpPr>
          <p:cNvPr id="54" name="Eigener Beitrag 2">
            <a:extLst>
              <a:ext uri="{FF2B5EF4-FFF2-40B4-BE49-F238E27FC236}">
                <a16:creationId xmlns:a16="http://schemas.microsoft.com/office/drawing/2014/main" id="{AEAA46CD-DBC4-471E-9EB1-546727B3629C}"/>
              </a:ext>
            </a:extLst>
          </p:cNvPr>
          <p:cNvSpPr>
            <a:spLocks noGrp="1"/>
          </p:cNvSpPr>
          <p:nvPr/>
        </p:nvSpPr>
        <p:spPr>
          <a:xfrm>
            <a:off x="7096125" y="4219575"/>
            <a:ext cx="300037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Pruning und Quantization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für SOC- und SOH-LSTM</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auf </a:t>
            </a:r>
            <a:r>
              <a:rPr sz="1800" b="0" dirty="0" err="1">
                <a:solidFill>
                  <a:srgbClr val="262626"/>
                </a:solidFill>
                <a:latin typeface="Calibri"/>
                <a:ea typeface="Calibri"/>
                <a:cs typeface="Calibri"/>
              </a:rPr>
              <a:t>derselben</a:t>
            </a:r>
            <a:r>
              <a:rPr sz="1800" b="0" dirty="0">
                <a:solidFill>
                  <a:srgbClr val="262626"/>
                </a:solidFill>
                <a:latin typeface="Calibri"/>
                <a:ea typeface="Calibri"/>
                <a:cs typeface="Calibri"/>
              </a:rPr>
              <a:t> MCU</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Gemeinsame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Bewertung</a:t>
            </a:r>
            <a:r>
              <a:rPr sz="1800" b="0" dirty="0">
                <a:solidFill>
                  <a:srgbClr val="262626"/>
                </a:solidFill>
                <a:latin typeface="Calibri"/>
                <a:ea typeface="Calibri"/>
                <a:cs typeface="Calibri"/>
              </a:rPr>
              <a:t> von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Accuracy, </a:t>
            </a:r>
            <a:r>
              <a:rPr sz="1800" b="0" dirty="0" err="1">
                <a:solidFill>
                  <a:srgbClr val="262626"/>
                </a:solidFill>
                <a:latin typeface="Calibri"/>
                <a:ea typeface="Calibri"/>
                <a:cs typeface="Calibri"/>
              </a:rPr>
              <a:t>Speicherbedarf</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Laufzeit</a:t>
            </a:r>
            <a:endParaRPr sz="1800" b="0" dirty="0">
              <a:solidFill>
                <a:srgbClr val="262626"/>
              </a:solidFill>
              <a:latin typeface="Calibri"/>
              <a:ea typeface="Calibri"/>
              <a:cs typeface="Calibri"/>
            </a:endParaRPr>
          </a:p>
        </p:txBody>
      </p:sp>
      <p:sp>
        <p:nvSpPr>
          <p:cNvPr id="55" name="Footer – Seitennummer">
            <a:extLst>
              <a:ext uri="{FF2B5EF4-FFF2-40B4-BE49-F238E27FC236}">
                <a16:creationId xmlns:a16="http://schemas.microsoft.com/office/drawing/2014/main" id="{034493C9-358A-45BF-90B6-5F62F5CCF00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 / 40</a:t>
            </a:r>
          </a:p>
        </p:txBody>
      </p:sp>
      <p:sp>
        <p:nvSpPr>
          <p:cNvPr id="56" name="Footer – Präsentationsangaben">
            <a:extLst>
              <a:ext uri="{FF2B5EF4-FFF2-40B4-BE49-F238E27FC236}">
                <a16:creationId xmlns:a16="http://schemas.microsoft.com/office/drawing/2014/main" id="{181B4016-FD87-4746-8D1F-22B0E1B36F1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Vorarbeiten 0">
            <a:extLst>
              <a:ext uri="{FF2B5EF4-FFF2-40B4-BE49-F238E27FC236}">
                <a16:creationId xmlns:a16="http://schemas.microsoft.com/office/drawing/2014/main" id="{AB8B19CA-A9C5-4311-BE54-AA9BFED5027B}"/>
              </a:ext>
            </a:extLst>
          </p:cNvPr>
          <p:cNvSpPr>
            <a:spLocks noGrp="1"/>
          </p:cNvSpPr>
          <p:nvPr/>
        </p:nvSpPr>
        <p:spPr>
          <a:xfrm>
            <a:off x="552450"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Neuronale</a:t>
            </a:r>
            <a:r>
              <a:rPr sz="1800" b="0" dirty="0">
                <a:solidFill>
                  <a:srgbClr val="262626"/>
                </a:solidFill>
                <a:latin typeface="Calibri"/>
                <a:ea typeface="Calibri"/>
                <a:cs typeface="Calibri"/>
              </a:rPr>
              <a:t> Modelle für die</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SOH-</a:t>
            </a:r>
            <a:r>
              <a:rPr sz="1800" b="0" dirty="0" err="1">
                <a:solidFill>
                  <a:srgbClr val="262626"/>
                </a:solidFill>
                <a:latin typeface="Calibri"/>
                <a:ea typeface="Calibri"/>
                <a:cs typeface="Calibri"/>
              </a:rPr>
              <a:t>Schätzung</a:t>
            </a:r>
            <a:r>
              <a:rPr sz="1800" b="0" dirty="0">
                <a:solidFill>
                  <a:srgbClr val="262626"/>
                </a:solidFill>
                <a:latin typeface="Calibri"/>
                <a:ea typeface="Calibri"/>
                <a:cs typeface="Calibri"/>
              </a:rPr>
              <a:t> [2], [3], [4]</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Zeitinformation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über</a:t>
            </a:r>
            <a:r>
              <a:rPr sz="1800" b="0" dirty="0">
                <a:solidFill>
                  <a:srgbClr val="262626"/>
                </a:solidFill>
                <a:latin typeface="Calibri"/>
                <a:ea typeface="Calibri"/>
                <a:cs typeface="Calibri"/>
              </a:rPr>
              <a:t> Inputs</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oder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Netzarchitektur</a:t>
            </a:r>
            <a:r>
              <a:rPr sz="1800" b="0" dirty="0">
                <a:solidFill>
                  <a:srgbClr val="262626"/>
                </a:solidFill>
                <a:latin typeface="Calibri"/>
                <a:ea typeface="Calibri"/>
                <a:cs typeface="Calibri"/>
              </a:rPr>
              <a:t> [3], [4]</a:t>
            </a:r>
          </a:p>
        </p:txBody>
      </p:sp>
      <p:sp>
        <p:nvSpPr>
          <p:cNvPr id="48" name="Vorarbeiten 1">
            <a:extLst>
              <a:ext uri="{FF2B5EF4-FFF2-40B4-BE49-F238E27FC236}">
                <a16:creationId xmlns:a16="http://schemas.microsoft.com/office/drawing/2014/main" id="{AD3BAB6E-0F59-49B3-857E-8911AC54FC8D}"/>
              </a:ext>
            </a:extLst>
          </p:cNvPr>
          <p:cNvSpPr>
            <a:spLocks noGrp="1"/>
          </p:cNvSpPr>
          <p:nvPr/>
        </p:nvSpPr>
        <p:spPr>
          <a:xfrm>
            <a:off x="3819525"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Einfluss</a:t>
            </a:r>
            <a:r>
              <a:rPr sz="1800" b="0" dirty="0">
                <a:solidFill>
                  <a:srgbClr val="262626"/>
                </a:solidFill>
                <a:latin typeface="Calibri"/>
                <a:ea typeface="Calibri"/>
                <a:cs typeface="Calibri"/>
              </a:rPr>
              <a:t> von </a:t>
            </a:r>
            <a:r>
              <a:rPr sz="1800" b="0" dirty="0" err="1">
                <a:solidFill>
                  <a:srgbClr val="262626"/>
                </a:solidFill>
                <a:latin typeface="Calibri"/>
                <a:ea typeface="Calibri"/>
                <a:cs typeface="Calibri"/>
              </a:rPr>
              <a:t>Messfehlern</a:t>
            </a:r>
            <a:r>
              <a:rPr sz="1800" b="0" dirty="0">
                <a:solidFill>
                  <a:srgbClr val="262626"/>
                </a:solidFill>
                <a:latin typeface="Calibri"/>
                <a:ea typeface="Calibri"/>
                <a:cs typeface="Calibri"/>
              </a:rPr>
              <a:t> auf</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SOC-</a:t>
            </a:r>
            <a:r>
              <a:rPr sz="1800" b="0" dirty="0" err="1">
                <a:solidFill>
                  <a:srgbClr val="262626"/>
                </a:solidFill>
                <a:latin typeface="Calibri"/>
                <a:ea typeface="Calibri"/>
                <a:cs typeface="Calibri"/>
              </a:rPr>
              <a:t>Schätzer</a:t>
            </a:r>
            <a:r>
              <a:rPr sz="1800" b="0" dirty="0">
                <a:solidFill>
                  <a:srgbClr val="262626"/>
                </a:solidFill>
                <a:latin typeface="Calibri"/>
                <a:ea typeface="Calibri"/>
                <a:cs typeface="Calibri"/>
              </a:rPr>
              <a:t> [5], [6]</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Störanfällige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Messung</a:t>
            </a:r>
            <a:r>
              <a:rPr sz="1800" b="0" dirty="0">
                <a:solidFill>
                  <a:srgbClr val="262626"/>
                </a:solidFill>
                <a:latin typeface="Calibri"/>
                <a:ea typeface="Calibri"/>
                <a:cs typeface="Calibri"/>
              </a:rPr>
              <a:t> und</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Datenübertragung</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im</a:t>
            </a:r>
            <a:r>
              <a:rPr sz="1800" b="0" dirty="0">
                <a:solidFill>
                  <a:srgbClr val="262626"/>
                </a:solidFill>
                <a:latin typeface="Calibri"/>
                <a:ea typeface="Calibri"/>
                <a:cs typeface="Calibri"/>
              </a:rPr>
              <a:t> BMS [7]</a:t>
            </a:r>
          </a:p>
        </p:txBody>
      </p:sp>
      <p:sp>
        <p:nvSpPr>
          <p:cNvPr id="49" name="Vorarbeiten 2">
            <a:extLst>
              <a:ext uri="{FF2B5EF4-FFF2-40B4-BE49-F238E27FC236}">
                <a16:creationId xmlns:a16="http://schemas.microsoft.com/office/drawing/2014/main" id="{B64F0943-5C6B-4268-B49D-63B2F8A69AC3}"/>
              </a:ext>
            </a:extLst>
          </p:cNvPr>
          <p:cNvSpPr>
            <a:spLocks noGrp="1"/>
          </p:cNvSpPr>
          <p:nvPr/>
        </p:nvSpPr>
        <p:spPr>
          <a:xfrm>
            <a:off x="7096125" y="2543175"/>
            <a:ext cx="300037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Neuronale Schätzer auf</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Mikrocontrollern [8], [9]</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Modellkompression zur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Ressourceneinsparung [9], [10]</a:t>
            </a:r>
          </a:p>
        </p:txBody>
      </p:sp>
      <p:sp>
        <p:nvSpPr>
          <p:cNvPr id="5" name="Structure separator">
            <a:extLst>
              <a:ext uri="{FF2B5EF4-FFF2-40B4-BE49-F238E27FC236}">
                <a16:creationId xmlns:a16="http://schemas.microsoft.com/office/drawing/2014/main" id="{2CB75A10-56CA-E743-0BFA-BD5BAD628085}"/>
              </a:ext>
            </a:extLst>
          </p:cNvPr>
          <p:cNvSpPr>
            <a:spLocks noGrp="1"/>
          </p:cNvSpPr>
          <p:nvPr/>
        </p:nvSpPr>
        <p:spPr>
          <a:xfrm>
            <a:off x="550832" y="3743325"/>
            <a:ext cx="2916258" cy="9525"/>
          </a:xfrm>
          <a:prstGeom prst="line">
            <a:avLst/>
          </a:prstGeom>
          <a:noFill/>
          <a:ln w="9525">
            <a:solidFill>
              <a:srgbClr val="DDDDDD"/>
            </a:solidFill>
          </a:ln>
        </p:spPr>
        <p:txBody>
          <a:bodyPr/>
          <a:lstStyle/>
          <a:p>
            <a:endParaRPr/>
          </a:p>
        </p:txBody>
      </p:sp>
      <p:sp>
        <p:nvSpPr>
          <p:cNvPr id="7" name="Structure separator">
            <a:extLst>
              <a:ext uri="{FF2B5EF4-FFF2-40B4-BE49-F238E27FC236}">
                <a16:creationId xmlns:a16="http://schemas.microsoft.com/office/drawing/2014/main" id="{D505F70C-1B31-1925-D49A-562C195F2053}"/>
              </a:ext>
            </a:extLst>
          </p:cNvPr>
          <p:cNvSpPr>
            <a:spLocks noGrp="1"/>
          </p:cNvSpPr>
          <p:nvPr/>
        </p:nvSpPr>
        <p:spPr>
          <a:xfrm>
            <a:off x="3819525" y="3748087"/>
            <a:ext cx="2916258" cy="9525"/>
          </a:xfrm>
          <a:prstGeom prst="line">
            <a:avLst/>
          </a:prstGeom>
          <a:noFill/>
          <a:ln w="9525">
            <a:solidFill>
              <a:srgbClr val="DDDDDD"/>
            </a:solidFill>
          </a:ln>
        </p:spPr>
        <p:txBody>
          <a:bodyPr/>
          <a:lstStyle/>
          <a:p>
            <a:endParaRPr/>
          </a:p>
        </p:txBody>
      </p:sp>
      <p:sp>
        <p:nvSpPr>
          <p:cNvPr id="9" name="Structure separator">
            <a:extLst>
              <a:ext uri="{FF2B5EF4-FFF2-40B4-BE49-F238E27FC236}">
                <a16:creationId xmlns:a16="http://schemas.microsoft.com/office/drawing/2014/main" id="{2CBEF450-37A6-3C85-E673-1372A50CA47A}"/>
              </a:ext>
            </a:extLst>
          </p:cNvPr>
          <p:cNvSpPr>
            <a:spLocks noGrp="1"/>
          </p:cNvSpPr>
          <p:nvPr/>
        </p:nvSpPr>
        <p:spPr>
          <a:xfrm>
            <a:off x="7096125" y="3752850"/>
            <a:ext cx="2916258" cy="9525"/>
          </a:xfrm>
          <a:prstGeom prst="line">
            <a:avLst/>
          </a:prstGeom>
          <a:noFill/>
          <a:ln w="9525">
            <a:solidFill>
              <a:srgbClr val="DDDDDD"/>
            </a:solidFill>
          </a:ln>
        </p:spPr>
        <p:txBody>
          <a:bodyPr/>
          <a:lstStyle/>
          <a:p>
            <a:endParaRP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4" grpId="0"/>
      <p:bldP spid="45" grpId="0" animBg="1"/>
      <p:bldP spid="51" grpId="0"/>
      <p:bldP spid="52" grpId="0"/>
      <p:bldP spid="53" grpId="0"/>
      <p:bldP spid="54" grpId="0"/>
      <p:bldP spid="48" grpId="0"/>
      <p:bldP spid="49" grpId="0"/>
      <p:bldP spid="5" grpId="0" animBg="1"/>
      <p:bldP spid="7"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6B731D95-6F8F-4540-A014-76C84DF3FCDF}"/>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NMC: 14 Zellen · 7 Alterungsszenarien</a:t>
            </a:r>
          </a:p>
        </p:txBody>
      </p:sp>
      <p:sp>
        <p:nvSpPr>
          <p:cNvPr id="14" name="V5_Text_14">
            <a:extLst>
              <a:ext uri="{FF2B5EF4-FFF2-40B4-BE49-F238E27FC236}">
                <a16:creationId xmlns:a16="http://schemas.microsoft.com/office/drawing/2014/main" id="{5898A285-EA2D-4EEB-8F6D-FFBDF728B251}"/>
              </a:ext>
            </a:extLst>
          </p:cNvPr>
          <p:cNvSpPr>
            <a:spLocks noGrp="1"/>
          </p:cNvSpPr>
          <p:nvPr/>
        </p:nvSpPr>
        <p:spPr>
          <a:xfrm>
            <a:off x="7239000" y="1905000"/>
            <a:ext cx="2714625" cy="9525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7239000" y="3067050"/>
            <a:ext cx="2714625" cy="14382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3F3F3F"/>
                </a:solidFill>
                <a:latin typeface="Calibri"/>
                <a:ea typeface="Calibri"/>
                <a:cs typeface="Calibri"/>
              </a:rPr>
              <a:t>Einflussgrößen</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Temperatur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mittlerer</a:t>
            </a:r>
            <a:r>
              <a:rPr sz="1800" b="0" dirty="0">
                <a:solidFill>
                  <a:srgbClr val="3F3F3F"/>
                </a:solidFill>
                <a:latin typeface="Calibri"/>
                <a:ea typeface="Calibri"/>
                <a:cs typeface="Calibri"/>
              </a:rPr>
              <a:t> SOC,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552450" y="1793286"/>
            <a:ext cx="6381750" cy="3128553"/>
          </a:xfrm>
          <a:prstGeom prst="rect">
            <a:avLst/>
          </a:prstGeom>
        </p:spPr>
      </p:pic>
      <p:sp>
        <p:nvSpPr>
          <p:cNvPr id="31" name="v11-text-4-4">
            <a:extLst>
              <a:ext uri="{FF2B5EF4-FFF2-40B4-BE49-F238E27FC236}">
                <a16:creationId xmlns:a16="http://schemas.microsoft.com/office/drawing/2014/main" id="{62DD65BA-8965-45C3-B3DC-4D93E4FF0611}"/>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2CA35F87-536D-44AB-893A-0C9CBBECBCC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5 / 40</a:t>
            </a:r>
          </a:p>
        </p:txBody>
      </p:sp>
      <p:sp>
        <p:nvSpPr>
          <p:cNvPr id="50" name="Footer – Präsentationsangaben">
            <a:extLst>
              <a:ext uri="{FF2B5EF4-FFF2-40B4-BE49-F238E27FC236}">
                <a16:creationId xmlns:a16="http://schemas.microsoft.com/office/drawing/2014/main" id="{61F04506-BF77-4516-9EE6-58F5CDC9355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0">
            <a:extLst>
              <a:ext uri="{FF2B5EF4-FFF2-40B4-BE49-F238E27FC236}">
                <a16:creationId xmlns:a16="http://schemas.microsoft.com/office/drawing/2014/main" id="{CCDDE306-1DA0-4F13-AB79-BEBB45085BE5}"/>
              </a:ext>
            </a:extLst>
          </p:cNvPr>
          <p:cNvSpPr>
            <a:spLocks noGrp="1"/>
          </p:cNvSpPr>
          <p:nvPr/>
        </p:nvSpPr>
        <p:spPr>
          <a:xfrm>
            <a:off x="4184968"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0366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LFP: 15 Zellen · systematische Lastvariation</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924122" y="1762125"/>
            <a:ext cx="5638406" cy="3190875"/>
          </a:xfrm>
          <a:prstGeom prst="rect">
            <a:avLst/>
          </a:prstGeom>
        </p:spPr>
      </p:pic>
      <p:sp>
        <p:nvSpPr>
          <p:cNvPr id="31" name="v11-text-5-2">
            <a:extLst>
              <a:ext uri="{FF2B5EF4-FFF2-40B4-BE49-F238E27FC236}">
                <a16:creationId xmlns:a16="http://schemas.microsoft.com/office/drawing/2014/main" id="{24DD6FF9-45A5-4F02-BED9-3C3C6B3FD36A}"/>
              </a:ext>
            </a:extLst>
          </p:cNvPr>
          <p:cNvSpPr>
            <a:spLocks noGrp="1"/>
          </p:cNvSpPr>
          <p:nvPr/>
        </p:nvSpPr>
        <p:spPr>
          <a:xfrm>
            <a:off x="7239000" y="1905000"/>
            <a:ext cx="2714625" cy="952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32" name="v11-text-5-3">
            <a:extLst>
              <a:ext uri="{FF2B5EF4-FFF2-40B4-BE49-F238E27FC236}">
                <a16:creationId xmlns:a16="http://schemas.microsoft.com/office/drawing/2014/main" id="{C334D3CF-0E05-40BA-B00E-CA49B88AD53D}"/>
              </a:ext>
            </a:extLst>
          </p:cNvPr>
          <p:cNvSpPr>
            <a:spLocks noGrp="1"/>
          </p:cNvSpPr>
          <p:nvPr/>
        </p:nvSpPr>
        <p:spPr>
          <a:xfrm>
            <a:off x="7239000" y="3067050"/>
            <a:ext cx="2714625" cy="14382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b="1" dirty="0" err="1">
                <a:solidFill>
                  <a:srgbClr val="3F3F3F"/>
                </a:solidFill>
                <a:latin typeface="Calibri"/>
                <a:ea typeface="Calibri"/>
                <a:cs typeface="Calibri"/>
              </a:rPr>
              <a:t>Versuchsbedingungen</a:t>
            </a:r>
            <a:r>
              <a:rPr b="1" dirty="0">
                <a:solidFill>
                  <a:srgbClr val="3F3F3F"/>
                </a:solidFill>
                <a:latin typeface="Calibri"/>
                <a:ea typeface="Calibri"/>
                <a:cs typeface="Calibri"/>
              </a:rPr>
              <a:t>: </a:t>
            </a:r>
            <a:r>
              <a:rPr sz="1800" b="0" dirty="0">
                <a:solidFill>
                  <a:srgbClr val="3F3F3F"/>
                </a:solidFill>
                <a:latin typeface="Calibri"/>
                <a:ea typeface="Calibri"/>
                <a:cs typeface="Calibri"/>
              </a:rPr>
              <a:t>Variation von Lade-C-Rate,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 und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bei</a:t>
            </a:r>
            <a:r>
              <a:rPr sz="1800" b="0" dirty="0">
                <a:solidFill>
                  <a:srgbClr val="3F3F3F"/>
                </a:solidFill>
                <a:latin typeface="Calibri"/>
                <a:ea typeface="Calibri"/>
                <a:cs typeface="Calibri"/>
              </a:rPr>
              <a:t> 25 °C</a:t>
            </a:r>
          </a:p>
        </p:txBody>
      </p:sp>
      <p:sp>
        <p:nvSpPr>
          <p:cNvPr id="33" name="v11-text-5-4">
            <a:extLst>
              <a:ext uri="{FF2B5EF4-FFF2-40B4-BE49-F238E27FC236}">
                <a16:creationId xmlns:a16="http://schemas.microsoft.com/office/drawing/2014/main" id="{ECC0E068-AD3D-4CFA-B57D-77FD2F6294D5}"/>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9118F3A7-6C0E-407F-9108-0B9D4174E58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6 / 40</a:t>
            </a:r>
          </a:p>
        </p:txBody>
      </p:sp>
      <p:sp>
        <p:nvSpPr>
          <p:cNvPr id="50" name="Footer – Präsentationsangaben">
            <a:extLst>
              <a:ext uri="{FF2B5EF4-FFF2-40B4-BE49-F238E27FC236}">
                <a16:creationId xmlns:a16="http://schemas.microsoft.com/office/drawing/2014/main" id="{BFBCDCEA-9766-4E8C-BD05-0607D67C654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8">
            <a:extLst>
              <a:ext uri="{FF2B5EF4-FFF2-40B4-BE49-F238E27FC236}">
                <a16:creationId xmlns:a16="http://schemas.microsoft.com/office/drawing/2014/main" id="{99FF75D1-6614-4D97-BC75-109C6C03D0F0}"/>
              </a:ext>
            </a:extLst>
          </p:cNvPr>
          <p:cNvSpPr>
            <a:spLocks noGrp="1"/>
          </p:cNvSpPr>
          <p:nvPr/>
        </p:nvSpPr>
        <p:spPr>
          <a:xfrm>
            <a:off x="4658170"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[13]</a:t>
            </a:r>
          </a:p>
        </p:txBody>
      </p:sp>
    </p:spTree>
    <p:extLst>
      <p:ext uri="{BB962C8B-B14F-4D97-AF65-F5344CB8AC3E}">
        <p14:creationId xmlns:p14="http://schemas.microsoft.com/office/powerpoint/2010/main" val="60366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BMS: Messung, Schutz und Zustandsbestimmung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552450" y="1581150"/>
            <a:ext cx="4762500" cy="3550227"/>
          </a:xfrm>
          <a:prstGeom prst="rect">
            <a:avLst/>
          </a:prstGeom>
        </p:spPr>
      </p:pic>
      <p:sp>
        <p:nvSpPr>
          <p:cNvPr id="12" name="V5_Text_12">
            <a:extLst>
              <a:ext uri="{FF2B5EF4-FFF2-40B4-BE49-F238E27FC236}">
                <a16:creationId xmlns:a16="http://schemas.microsoft.com/office/drawing/2014/main" id="{4D8F9433-1B66-496D-94D9-7508C3A7BC7D}"/>
              </a:ext>
            </a:extLst>
          </p:cNvPr>
          <p:cNvSpPr>
            <a:spLocks noGrp="1"/>
          </p:cNvSpPr>
          <p:nvPr/>
        </p:nvSpPr>
        <p:spPr>
          <a:xfrm>
            <a:off x="5581650" y="1514475"/>
            <a:ext cx="4381500" cy="130492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1 · </a:t>
            </a:r>
            <a:r>
              <a:rPr sz="1800" b="1" dirty="0">
                <a:solidFill>
                  <a:srgbClr val="3F3F3F"/>
                </a:solidFill>
                <a:latin typeface="Calibri"/>
                <a:ea typeface="Calibri"/>
                <a:cs typeface="Calibri"/>
              </a:rPr>
              <a:t>BMS-Chip: TLE9012DQU</a:t>
            </a:r>
          </a:p>
          <a:p>
            <a:pPr marL="0" indent="0" algn="l">
              <a:spcBef>
                <a:spcPts val="0"/>
              </a:spcBef>
              <a:spcAft>
                <a:spcPts val="4"/>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Messung</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Zellspannungen</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Temperaturen</a:t>
            </a:r>
            <a:endParaRPr sz="1800" b="0" dirty="0">
              <a:solidFill>
                <a:srgbClr val="3F3F3F"/>
              </a:solidFill>
              <a:latin typeface="Calibri"/>
              <a:ea typeface="Calibri"/>
              <a:cs typeface="Calibri"/>
            </a:endParaRP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Balancing: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Passiver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Ladungsausgleich</a:t>
            </a:r>
            <a:endParaRPr sz="1800" b="0" dirty="0">
              <a:solidFill>
                <a:srgbClr val="3F3F3F"/>
              </a:solidFill>
              <a:latin typeface="Calibri"/>
              <a:ea typeface="Calibri"/>
              <a:cs typeface="Calibri"/>
            </a:endParaRPr>
          </a:p>
        </p:txBody>
      </p:sp>
      <p:sp>
        <p:nvSpPr>
          <p:cNvPr id="13" name="V5_Text_13">
            <a:extLst>
              <a:ext uri="{FF2B5EF4-FFF2-40B4-BE49-F238E27FC236}">
                <a16:creationId xmlns:a16="http://schemas.microsoft.com/office/drawing/2014/main" id="{5A4F3F28-529D-4C59-9F54-C2139FA8E81E}"/>
              </a:ext>
            </a:extLst>
          </p:cNvPr>
          <p:cNvSpPr>
            <a:spLocks noGrp="1"/>
          </p:cNvSpPr>
          <p:nvPr/>
        </p:nvSpPr>
        <p:spPr>
          <a:xfrm>
            <a:off x="5581650" y="2971800"/>
            <a:ext cx="4381500" cy="181927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2 · </a:t>
            </a:r>
            <a:r>
              <a:rPr sz="1800" b="1" dirty="0" err="1">
                <a:solidFill>
                  <a:srgbClr val="3F3F3F"/>
                </a:solidFill>
                <a:latin typeface="Calibri"/>
                <a:ea typeface="Calibri"/>
                <a:cs typeface="Calibri"/>
              </a:rPr>
              <a:t>Mikrocontroller</a:t>
            </a:r>
            <a:r>
              <a:rPr sz="1800" b="1" dirty="0">
                <a:solidFill>
                  <a:srgbClr val="3F3F3F"/>
                </a:solidFill>
                <a:latin typeface="Calibri"/>
                <a:ea typeface="Calibri"/>
                <a:cs typeface="Calibri"/>
              </a:rPr>
              <a:t>: STM32H755</a:t>
            </a:r>
          </a:p>
          <a:p>
            <a:pPr marL="0" indent="0" algn="l">
              <a:spcBef>
                <a:spcPts val="0"/>
              </a:spcBef>
              <a:spcAft>
                <a:spcPts val="4"/>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Cortex-M4:</a:t>
            </a:r>
            <a:r>
              <a:rPr sz="1800" b="0" dirty="0">
                <a:solidFill>
                  <a:srgbClr val="3F3F3F"/>
                </a:solidFill>
                <a:latin typeface="Calibri"/>
                <a:ea typeface="Calibri"/>
                <a:cs typeface="Calibri"/>
              </a:rPr>
              <a:t> Messwerterfassung, </a:t>
            </a:r>
            <a:r>
              <a:rPr sz="1800" b="0" dirty="0" err="1">
                <a:solidFill>
                  <a:srgbClr val="3F3F3F"/>
                </a:solidFill>
                <a:latin typeface="Calibri"/>
                <a:ea typeface="Calibri"/>
                <a:cs typeface="Calibri"/>
              </a:rPr>
              <a:t>Überwachung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Schutzansteuerung</a:t>
            </a:r>
            <a:r>
              <a:rPr sz="1800" b="0" dirty="0">
                <a:solidFill>
                  <a:srgbClr val="3F3F3F"/>
                </a:solidFill>
                <a:latin typeface="Calibri"/>
                <a:ea typeface="Calibri"/>
                <a:cs typeface="Calibri"/>
              </a:rPr>
              <a:t> und Kommunikation</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Cortex-M7:</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Ausführung</a:t>
            </a:r>
            <a:r>
              <a:rPr sz="1800" b="0" dirty="0">
                <a:solidFill>
                  <a:srgbClr val="3F3F3F"/>
                </a:solidFill>
                <a:latin typeface="Calibri"/>
                <a:ea typeface="Calibri"/>
                <a:cs typeface="Calibri"/>
              </a:rPr>
              <a:t> der SOC- und SOH-Modelle</a:t>
            </a:r>
          </a:p>
        </p:txBody>
      </p:sp>
      <p:sp>
        <p:nvSpPr>
          <p:cNvPr id="15" name="V5_Text_15">
            <a:extLst>
              <a:ext uri="{FF2B5EF4-FFF2-40B4-BE49-F238E27FC236}">
                <a16:creationId xmlns:a16="http://schemas.microsoft.com/office/drawing/2014/main" id="{509CA76A-7359-4973-B6B7-ED9E15DA4747}"/>
              </a:ext>
            </a:extLst>
          </p:cNvPr>
          <p:cNvSpPr>
            <a:spLocks noGrp="1"/>
          </p:cNvSpPr>
          <p:nvPr/>
        </p:nvSpPr>
        <p:spPr>
          <a:xfrm>
            <a:off x="552450" y="5372100"/>
            <a:ext cx="9353550" cy="5524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Hardwarebenchmark</a:t>
            </a:r>
            <a:r>
              <a:rPr sz="1800" b="1" dirty="0">
                <a:solidFill>
                  <a:srgbClr val="3F3F3F"/>
                </a:solidFill>
                <a:latin typeface="Calibri"/>
                <a:ea typeface="Calibri"/>
                <a:cs typeface="Calibri"/>
              </a:rPr>
              <a:t> auf STM32H753ZI:</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Bewertung</a:t>
            </a:r>
            <a:r>
              <a:rPr sz="1800" b="0" dirty="0">
                <a:solidFill>
                  <a:srgbClr val="3F3F3F"/>
                </a:solidFill>
                <a:latin typeface="Calibri"/>
                <a:ea typeface="Calibri"/>
                <a:cs typeface="Calibri"/>
              </a:rPr>
              <a:t> der </a:t>
            </a:r>
            <a:r>
              <a:rPr sz="1800" b="0" dirty="0" err="1">
                <a:solidFill>
                  <a:srgbClr val="3F3F3F"/>
                </a:solidFill>
                <a:latin typeface="Calibri"/>
                <a:ea typeface="Calibri"/>
                <a:cs typeface="Calibri"/>
              </a:rPr>
              <a:t>Zustandsmodelle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hinsichtlich</a:t>
            </a:r>
            <a:r>
              <a:rPr sz="1800" b="0" dirty="0">
                <a:solidFill>
                  <a:srgbClr val="3F3F3F"/>
                </a:solidFill>
                <a:latin typeface="Calibri"/>
                <a:ea typeface="Calibri"/>
                <a:cs typeface="Calibri"/>
              </a:rPr>
              <a:t> Flash, RAM und </a:t>
            </a:r>
            <a:r>
              <a:rPr sz="1800" b="0" dirty="0" err="1">
                <a:solidFill>
                  <a:srgbClr val="3F3F3F"/>
                </a:solidFill>
                <a:latin typeface="Calibri"/>
                <a:ea typeface="Calibri"/>
                <a:cs typeface="Calibri"/>
              </a:rPr>
              <a:t>Ausführungszeit</a:t>
            </a:r>
            <a:endParaRPr sz="1800" b="0" dirty="0">
              <a:solidFill>
                <a:srgbClr val="3F3F3F"/>
              </a:solidFill>
              <a:latin typeface="Calibri"/>
              <a:ea typeface="Calibri"/>
              <a:cs typeface="Calibri"/>
            </a:endParaRPr>
          </a:p>
        </p:txBody>
      </p:sp>
      <p:sp>
        <p:nvSpPr>
          <p:cNvPr id="19" name="Structure separator">
            <a:extLst>
              <a:ext uri="{FF2B5EF4-FFF2-40B4-BE49-F238E27FC236}">
                <a16:creationId xmlns:a16="http://schemas.microsoft.com/office/drawing/2014/main" id="{18EFCDC5-DCE8-41E4-B8ED-49CF7B2832F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B9013FDC-A63E-4B77-A6DF-B5331C8AC662}"/>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A0736BF4-121F-4EBF-96F1-1B8FF0AEE2E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9A02545E-3EA7-44AD-88D0-A28E87B51536}"/>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3" name="Structure 2">
            <a:extLst>
              <a:ext uri="{FF2B5EF4-FFF2-40B4-BE49-F238E27FC236}">
                <a16:creationId xmlns:a16="http://schemas.microsoft.com/office/drawing/2014/main" id="{661E6C2C-CABE-46A2-8780-DA7068F9762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1483D0BA-1129-43B7-BEE7-60E49D142C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D0F1BB27-577F-4697-92B5-D31E00E4E1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4A93D98A-BE32-4AA9-B714-3F0DB8BE1929}"/>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8" name="v13-BMS-chip-outline">
            <a:extLst>
              <a:ext uri="{FF2B5EF4-FFF2-40B4-BE49-F238E27FC236}">
                <a16:creationId xmlns:a16="http://schemas.microsoft.com/office/drawing/2014/main" id="{66457CF3-CF11-4095-951A-AF178676728F}"/>
              </a:ext>
            </a:extLst>
          </p:cNvPr>
          <p:cNvSpPr>
            <a:spLocks noGrp="1"/>
          </p:cNvSpPr>
          <p:nvPr/>
        </p:nvSpPr>
        <p:spPr>
          <a:xfrm>
            <a:off x="2009775" y="2895600"/>
            <a:ext cx="523875" cy="438150"/>
          </a:xfrm>
          <a:prstGeom prst="rect">
            <a:avLst/>
          </a:prstGeom>
          <a:noFill/>
          <a:ln w="23813">
            <a:solidFill>
              <a:srgbClr val="CC001C"/>
            </a:solidFill>
            <a:prstDash val="solid"/>
          </a:ln>
        </p:spPr>
        <p:txBody>
          <a:bodyPr/>
          <a:lstStyle/>
          <a:p>
            <a:endParaRPr lang="de-DE"/>
          </a:p>
        </p:txBody>
      </p:sp>
      <p:sp>
        <p:nvSpPr>
          <p:cNvPr id="29" name="v13-MCU-outline">
            <a:extLst>
              <a:ext uri="{FF2B5EF4-FFF2-40B4-BE49-F238E27FC236}">
                <a16:creationId xmlns:a16="http://schemas.microsoft.com/office/drawing/2014/main" id="{CAC6BD24-346E-4973-8DC7-10D152ADD920}"/>
              </a:ext>
            </a:extLst>
          </p:cNvPr>
          <p:cNvSpPr>
            <a:spLocks noGrp="1"/>
          </p:cNvSpPr>
          <p:nvPr/>
        </p:nvSpPr>
        <p:spPr>
          <a:xfrm>
            <a:off x="2647950" y="4352925"/>
            <a:ext cx="876300" cy="628650"/>
          </a:xfrm>
          <a:prstGeom prst="ellipse">
            <a:avLst/>
          </a:prstGeom>
          <a:noFill/>
          <a:ln w="23813">
            <a:solidFill>
              <a:srgbClr val="CC001C"/>
            </a:solidFill>
            <a:prstDash val="solid"/>
          </a:ln>
        </p:spPr>
        <p:txBody>
          <a:bodyPr/>
          <a:lstStyle/>
          <a:p>
            <a:endParaRPr lang="de-DE"/>
          </a:p>
        </p:txBody>
      </p:sp>
      <p:sp>
        <p:nvSpPr>
          <p:cNvPr id="30" name="v13-BMS-chip-number">
            <a:extLst>
              <a:ext uri="{FF2B5EF4-FFF2-40B4-BE49-F238E27FC236}">
                <a16:creationId xmlns:a16="http://schemas.microsoft.com/office/drawing/2014/main" id="{C9ADCA3C-D0E6-488F-A818-E5C19DF716AE}"/>
              </a:ext>
            </a:extLst>
          </p:cNvPr>
          <p:cNvSpPr>
            <a:spLocks noGrp="1"/>
          </p:cNvSpPr>
          <p:nvPr/>
        </p:nvSpPr>
        <p:spPr>
          <a:xfrm>
            <a:off x="1790700" y="2847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dirty="0">
                <a:solidFill>
                  <a:srgbClr val="CC001C"/>
                </a:solidFill>
                <a:latin typeface="Calibri"/>
                <a:ea typeface="Calibri"/>
                <a:cs typeface="Calibri"/>
              </a:rPr>
              <a:t>1</a:t>
            </a:r>
          </a:p>
        </p:txBody>
      </p:sp>
      <p:sp>
        <p:nvSpPr>
          <p:cNvPr id="31" name="v13-MCU-number">
            <a:extLst>
              <a:ext uri="{FF2B5EF4-FFF2-40B4-BE49-F238E27FC236}">
                <a16:creationId xmlns:a16="http://schemas.microsoft.com/office/drawing/2014/main" id="{C0B51D4E-8D0B-4A9A-8A09-9DE931907698}"/>
              </a:ext>
            </a:extLst>
          </p:cNvPr>
          <p:cNvSpPr>
            <a:spLocks noGrp="1"/>
          </p:cNvSpPr>
          <p:nvPr/>
        </p:nvSpPr>
        <p:spPr>
          <a:xfrm>
            <a:off x="2409825" y="4371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37" name="Footer – Seitennummer">
            <a:extLst>
              <a:ext uri="{FF2B5EF4-FFF2-40B4-BE49-F238E27FC236}">
                <a16:creationId xmlns:a16="http://schemas.microsoft.com/office/drawing/2014/main" id="{AC6DCD2A-CF8E-499D-94A2-DF8B008C45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7 / 40</a:t>
            </a:r>
          </a:p>
        </p:txBody>
      </p:sp>
      <p:sp>
        <p:nvSpPr>
          <p:cNvPr id="38" name="Footer – Präsentationsangaben">
            <a:extLst>
              <a:ext uri="{FF2B5EF4-FFF2-40B4-BE49-F238E27FC236}">
                <a16:creationId xmlns:a16="http://schemas.microsoft.com/office/drawing/2014/main" id="{6AFA1D9E-2130-485B-A320-1F99AA24B98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9" name="Quellenverweis 36">
            <a:extLst>
              <a:ext uri="{FF2B5EF4-FFF2-40B4-BE49-F238E27FC236}">
                <a16:creationId xmlns:a16="http://schemas.microsoft.com/office/drawing/2014/main" id="{BE7D5D03-7CBF-431B-89C0-A2F785EA61CE}"/>
              </a:ext>
            </a:extLst>
          </p:cNvPr>
          <p:cNvSpPr>
            <a:spLocks noGrp="1"/>
          </p:cNvSpPr>
          <p:nvPr/>
        </p:nvSpPr>
        <p:spPr>
          <a:xfrm>
            <a:off x="5067002" y="5118418"/>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40" name="Quellenverweis 15">
            <a:extLst>
              <a:ext uri="{FF2B5EF4-FFF2-40B4-BE49-F238E27FC236}">
                <a16:creationId xmlns:a16="http://schemas.microsoft.com/office/drawing/2014/main" id="{36ECE9BD-EB07-48C8-AA1F-659EAD910846}"/>
              </a:ext>
            </a:extLst>
          </p:cNvPr>
          <p:cNvSpPr>
            <a:spLocks noGrp="1"/>
          </p:cNvSpPr>
          <p:nvPr/>
        </p:nvSpPr>
        <p:spPr>
          <a:xfrm>
            <a:off x="7753873" y="5646598"/>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[14]</a:t>
            </a:r>
          </a:p>
        </p:txBody>
      </p:sp>
    </p:spTree>
    <p:extLst>
      <p:ext uri="{BB962C8B-B14F-4D97-AF65-F5344CB8AC3E}">
        <p14:creationId xmlns:p14="http://schemas.microsoft.com/office/powerpoint/2010/main" val="400305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28" grpId="0" animBg="1"/>
      <p:bldP spid="29" grpId="0" animBg="1"/>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für kompakte SOH-Modelle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8" name="V5_Figure_11"/>
          <p:cNvPicPr>
            <a:picLocks noChangeAspect="1"/>
          </p:cNvPicPr>
          <p:nvPr/>
        </p:nvPicPr>
        <p:blipFill>
          <a:blip r:embed="rId3"/>
          <a:stretch/>
        </p:blipFill>
        <p:spPr>
          <a:xfrm>
            <a:off x="552450" y="1818088"/>
            <a:ext cx="4667250" cy="2936074"/>
          </a:xfrm>
          <a:prstGeom prst="rect">
            <a:avLst/>
          </a:prstGeom>
        </p:spPr>
      </p:pic>
      <p:pic>
        <p:nvPicPr>
          <p:cNvPr id="50"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31A951B4-F982-4BDD-A6F8-992E4D146BB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CE33F504-E8A4-4752-BFB1-CA77D6857C6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B28EA5F9-BF6D-4C80-B814-27FAD5449BA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FACDF47-7807-4141-9228-B519C835A69F}"/>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AA5E4BAD-B98E-4803-82B0-0133567586B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32" name="Structure 3">
            <a:extLst>
              <a:ext uri="{FF2B5EF4-FFF2-40B4-BE49-F238E27FC236}">
                <a16:creationId xmlns:a16="http://schemas.microsoft.com/office/drawing/2014/main" id="{1234837B-3900-4AB2-9787-2B9907CC2715}"/>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B1B90BC0-CD8E-4257-BDA5-0A1B62DAD270}"/>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F503748A-44D8-4EED-9392-A8FA98C002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cxnSp>
        <p:nvCxnSpPr>
          <p:cNvPr id="51" name="v14-whole-domain-deployment_0"/>
          <p:cNvCxnSpPr/>
          <p:nvPr/>
        </p:nvCxnSpPr>
        <p:spPr>
          <a:xfrm flipH="1" flipV="1">
            <a:off x="1998328"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2" name="v14-whole-domain-deployment_1"/>
          <p:cNvCxnSpPr/>
          <p:nvPr/>
        </p:nvCxnSpPr>
        <p:spPr>
          <a:xfrm flipV="1">
            <a:off x="1998328" y="1820858"/>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3" name="v14-whole-domain-deployment_2"/>
          <p:cNvCxnSpPr/>
          <p:nvPr/>
        </p:nvCxnSpPr>
        <p:spPr>
          <a:xfrm>
            <a:off x="2890230" y="1820858"/>
            <a:ext cx="891902"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4" name="v14-whole-domain-deployment_3"/>
          <p:cNvCxnSpPr/>
          <p:nvPr/>
        </p:nvCxnSpPr>
        <p:spPr>
          <a:xfrm flipH="1">
            <a:off x="3106280"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5" name="v14-whole-domain-performance_0"/>
          <p:cNvCxnSpPr/>
          <p:nvPr/>
        </p:nvCxnSpPr>
        <p:spPr>
          <a:xfrm flipV="1">
            <a:off x="3627018" y="2937120"/>
            <a:ext cx="698010" cy="703550"/>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6" name="v14-whole-domain-performance_1"/>
          <p:cNvCxnSpPr/>
          <p:nvPr/>
        </p:nvCxnSpPr>
        <p:spPr>
          <a:xfrm>
            <a:off x="4325028" y="2937120"/>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7" name="v14-whole-domain-performance_2"/>
          <p:cNvCxnSpPr/>
          <p:nvPr/>
        </p:nvCxnSpPr>
        <p:spPr>
          <a:xfrm flipH="1">
            <a:off x="4325028" y="3837331"/>
            <a:ext cx="891901" cy="900212"/>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8" name="v14-whole-domain-performance_3"/>
          <p:cNvCxnSpPr/>
          <p:nvPr/>
        </p:nvCxnSpPr>
        <p:spPr>
          <a:xfrm flipH="1" flipV="1">
            <a:off x="3627018" y="4039532"/>
            <a:ext cx="698010" cy="6980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sp>
        <p:nvSpPr>
          <p:cNvPr id="59" name="Footer – Seitennummer">
            <a:extLst>
              <a:ext uri="{FF2B5EF4-FFF2-40B4-BE49-F238E27FC236}">
                <a16:creationId xmlns:a16="http://schemas.microsoft.com/office/drawing/2014/main" id="{4B11F9FA-62E3-4EFB-94AD-9ADA3BC9662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8 / 40</a:t>
            </a:r>
          </a:p>
        </p:txBody>
      </p:sp>
      <p:sp>
        <p:nvSpPr>
          <p:cNvPr id="60" name="Footer – Präsentationsangaben">
            <a:extLst>
              <a:ext uri="{FF2B5EF4-FFF2-40B4-BE49-F238E27FC236}">
                <a16:creationId xmlns:a16="http://schemas.microsoft.com/office/drawing/2014/main" id="{8CFA8F0D-97C3-447F-9180-B54078CEBA5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64" name="Trennlinie eigene Arbeit">
            <a:extLst>
              <a:ext uri="{FF2B5EF4-FFF2-40B4-BE49-F238E27FC236}">
                <a16:creationId xmlns:a16="http://schemas.microsoft.com/office/drawing/2014/main" id="{0001F418-68DF-4BF0-AD34-2DE192224552}"/>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61" name="Motivation">
            <a:extLst>
              <a:ext uri="{FF2B5EF4-FFF2-40B4-BE49-F238E27FC236}">
                <a16:creationId xmlns:a16="http://schemas.microsoft.com/office/drawing/2014/main" id="{271F2A7B-EA24-4D52-A090-7C767D2C4A41}"/>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Zeitabhängige Alterung</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und unterschiedliche Belastungen</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als Herausforderung für einfache</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SOH-Modelle</a:t>
            </a:r>
          </a:p>
        </p:txBody>
      </p:sp>
      <p:sp>
        <p:nvSpPr>
          <p:cNvPr id="62" name="Methodik">
            <a:extLst>
              <a:ext uri="{FF2B5EF4-FFF2-40B4-BE49-F238E27FC236}">
                <a16:creationId xmlns:a16="http://schemas.microsoft.com/office/drawing/2014/main" id="{F93A18EF-2EB7-4D8F-86A5-CA797E0CA5BB}"/>
              </a:ext>
            </a:extLst>
          </p:cNvPr>
          <p:cNvSpPr>
            <a:spLocks noGrp="1"/>
          </p:cNvSpPr>
          <p:nvPr/>
        </p:nvSpPr>
        <p:spPr>
          <a:xfrm>
            <a:off x="5705475" y="283273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Systematische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Analyse</a:t>
            </a:r>
            <a:r>
              <a:rPr sz="1800" b="0" dirty="0">
                <a:solidFill>
                  <a:srgbClr val="404040"/>
                </a:solidFill>
                <a:latin typeface="Calibri"/>
                <a:ea typeface="Calibri"/>
                <a:cs typeface="Calibri"/>
              </a:rPr>
              <a:t> von</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Input Features, </a:t>
            </a:r>
            <a:r>
              <a:rPr sz="1800" b="0" dirty="0" err="1">
                <a:solidFill>
                  <a:srgbClr val="404040"/>
                </a:solidFill>
                <a:latin typeface="Calibri"/>
                <a:ea typeface="Calibri"/>
                <a:cs typeface="Calibri"/>
              </a:rPr>
              <a:t>Zeitauflösung</a:t>
            </a:r>
            <a:r>
              <a:rPr sz="1800" b="0" dirty="0">
                <a:solidFill>
                  <a:srgbClr val="404040"/>
                </a:solidFill>
                <a:latin typeface="Calibri"/>
                <a:ea typeface="Calibri"/>
                <a:cs typeface="Calibri"/>
              </a:rPr>
              <a:t>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Lag Sequences für </a:t>
            </a:r>
            <a:r>
              <a:rPr sz="1800" b="0" dirty="0" err="1">
                <a:solidFill>
                  <a:srgbClr val="404040"/>
                </a:solidFill>
                <a:latin typeface="Calibri"/>
                <a:ea typeface="Calibri"/>
                <a:cs typeface="Calibri"/>
              </a:rPr>
              <a:t>ein</a:t>
            </a:r>
            <a:r>
              <a:rPr sz="1800" b="0" dirty="0">
                <a:solidFill>
                  <a:srgbClr val="404040"/>
                </a:solidFill>
                <a:latin typeface="Calibri"/>
                <a:ea typeface="Calibri"/>
                <a:cs typeface="Calibri"/>
              </a:rPr>
              <a:t> MLP</a:t>
            </a:r>
          </a:p>
        </p:txBody>
      </p:sp>
      <p:sp>
        <p:nvSpPr>
          <p:cNvPr id="63" name="Ziel">
            <a:extLst>
              <a:ext uri="{FF2B5EF4-FFF2-40B4-BE49-F238E27FC236}">
                <a16:creationId xmlns:a16="http://schemas.microsoft.com/office/drawing/2014/main" id="{1F63F812-F462-4089-B410-75D37119CB4D}"/>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Genaue</a:t>
            </a:r>
            <a:r>
              <a:rPr sz="1800" b="0" dirty="0">
                <a:solidFill>
                  <a:srgbClr val="404040"/>
                </a:solidFill>
                <a:latin typeface="Calibri"/>
                <a:ea typeface="Calibri"/>
                <a:cs typeface="Calibri"/>
              </a:rPr>
              <a:t> SOH-</a:t>
            </a:r>
            <a:r>
              <a:rPr sz="1800" b="0" dirty="0" err="1">
                <a:solidFill>
                  <a:srgbClr val="404040"/>
                </a:solidFill>
                <a:latin typeface="Calibri"/>
                <a:ea typeface="Calibri"/>
                <a:cs typeface="Calibri"/>
              </a:rPr>
              <a:t>Schätzung</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durch</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geeignete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Eingabedarstellung</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bei</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begrenzter</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Modellkomplexität</a:t>
            </a:r>
            <a:endParaRPr sz="1800" b="0" dirty="0">
              <a:solidFill>
                <a:srgbClr val="404040"/>
              </a:solidFill>
              <a:latin typeface="Calibri"/>
              <a:ea typeface="Calibri"/>
              <a:cs typeface="Calibri"/>
            </a:endParaRPr>
          </a:p>
        </p:txBody>
      </p:sp>
      <p:sp>
        <p:nvSpPr>
          <p:cNvPr id="66" name="Paper-Titel">
            <a:extLst>
              <a:ext uri="{FF2B5EF4-FFF2-40B4-BE49-F238E27FC236}">
                <a16:creationId xmlns:a16="http://schemas.microsoft.com/office/drawing/2014/main" id="{6E116CBC-E396-4F40-9310-BF6C691AC4DA}"/>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Neural Network Architecture for Determining the Aging of Stationary Storage Systems in Smart Grids</a:t>
            </a:r>
          </a:p>
        </p:txBody>
      </p:sp>
      <p:sp>
        <p:nvSpPr>
          <p:cNvPr id="65" name="Paper-Angabe">
            <a:extLst>
              <a:ext uri="{FF2B5EF4-FFF2-40B4-BE49-F238E27FC236}">
                <a16:creationId xmlns:a16="http://schemas.microsoft.com/office/drawing/2014/main" id="{7284BBF8-48E4-4074-8D62-15DE30CA0F98}"/>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et al. (2023), Energies [12]</a:t>
            </a:r>
          </a:p>
        </p:txBody>
      </p:sp>
    </p:spTree>
    <p:extLst>
      <p:ext uri="{BB962C8B-B14F-4D97-AF65-F5344CB8AC3E}">
        <p14:creationId xmlns:p14="http://schemas.microsoft.com/office/powerpoint/2010/main" val="357113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mit Lag Sequences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2" name="V5_Text_12">
                <a:extLst>
                  <a:ext uri="{FF2B5EF4-FFF2-40B4-BE49-F238E27FC236}">
                    <a16:creationId xmlns:a16="http://schemas.microsoft.com/office/drawing/2014/main" id="{503C1133-6DF6-4F42-9C4D-8814116395D8}"/>
                  </a:ext>
                </a:extLst>
              </p:cNvPr>
              <p:cNvSpPr>
                <a:spLocks noGrp="1"/>
              </p:cNvSpPr>
              <p:nvPr/>
            </p:nvSpPr>
            <p:spPr>
              <a:xfrm>
                <a:off x="3171825" y="4257675"/>
                <a:ext cx="4114800" cy="3810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𝑣𝑒𝑐</m:t>
                      </m:r>
                      <m:r>
                        <a:rPr sz="1875">
                          <a:latin typeface="Cambria Math"/>
                          <a:ea typeface="Cambria Math"/>
                          <a:cs typeface="Cambria Math"/>
                        </a:rPr>
                        <m:t>([</m:t>
                      </m:r>
                      <m:r>
                        <a:rPr sz="1875">
                          <a:latin typeface="Cambria Math"/>
                          <a:ea typeface="Cambria Math"/>
                          <a:cs typeface="Cambria Math"/>
                        </a:rPr>
                        <m:t>𝑈</m:t>
                      </m:r>
                      <m:r>
                        <a:rPr sz="1875">
                          <a:latin typeface="Cambria Math"/>
                          <a:ea typeface="Cambria Math"/>
                          <a:cs typeface="Cambria Math"/>
                        </a:rPr>
                        <m:t>,</m:t>
                      </m:r>
                      <m:r>
                        <a:rPr sz="1875">
                          <a:latin typeface="Cambria Math"/>
                          <a:ea typeface="Cambria Math"/>
                          <a:cs typeface="Cambria Math"/>
                        </a:rPr>
                        <m:t>𝑇</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𝐼</m:t>
                          </m:r>
                        </m:e>
                        <m:sub>
                          <m:r>
                            <a:rPr sz="1313">
                              <a:latin typeface="Cambria Math"/>
                              <a:ea typeface="Cambria Math"/>
                              <a:cs typeface="Cambria Math"/>
                            </a:rPr>
                            <m:t>𝑐𝑢𝑚</m:t>
                          </m:r>
                        </m:sub>
                      </m:sSub>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m:t>
                          </m:r>
                          <m:r>
                            <a:rPr sz="1313">
                              <a:latin typeface="Cambria Math"/>
                              <a:ea typeface="Cambria Math"/>
                              <a:cs typeface="Cambria Math"/>
                            </a:rPr>
                            <m:t>𝐿</m:t>
                          </m:r>
                          <m:r>
                            <a:rPr sz="1313">
                              <a:latin typeface="Cambria Math"/>
                              <a:ea typeface="Cambria Math"/>
                              <a:cs typeface="Cambria Math"/>
                            </a:rPr>
                            <m:t>+1:</m:t>
                          </m:r>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𝑆𝑂𝐻</m:t>
                              </m:r>
                            </m:e>
                          </m:acc>
                        </m:e>
                        <m:sub>
                          <m:r>
                            <a:rPr sz="1313">
                              <a:latin typeface="Cambria Math"/>
                              <a:ea typeface="Cambria Math"/>
                              <a:cs typeface="Cambria Math"/>
                            </a:rPr>
                            <m:t>𝑘</m:t>
                          </m:r>
                        </m:sub>
                      </m:sSub>
                    </m:oMath>
                  </m:oMathPara>
                </a14:m>
                <a:endParaRPr dirty="0"/>
              </a:p>
            </p:txBody>
          </p:sp>
        </mc:Choice>
        <mc:Fallback xmlns="">
          <p:sp>
            <p:nvSpPr>
              <p:cNvPr id="12" name="V5_Text_12">
                <a:extLst>
                  <a:ext uri="{FF2B5EF4-FFF2-40B4-BE49-F238E27FC236}">
                    <a16:creationId xmlns:a16="http://schemas.microsoft.com/office/drawing/2014/main" id="{503C1133-6DF6-4F42-9C4D-8814116395D8}"/>
                  </a:ext>
                </a:extLst>
              </p:cNvPr>
              <p:cNvSpPr>
                <a:spLocks noGrp="1" noRot="1" noChangeAspect="1" noMove="1" noResize="1" noEditPoints="1" noAdjustHandles="1" noChangeArrowheads="1" noChangeShapeType="1" noTextEdit="1"/>
              </p:cNvSpPr>
              <p:nvPr/>
            </p:nvSpPr>
            <p:spPr>
              <a:xfrm>
                <a:off x="3171825" y="4257675"/>
                <a:ext cx="4114800" cy="381000"/>
              </a:xfrm>
              <a:prstGeom prst="rect">
                <a:avLst/>
              </a:prstGeom>
              <a:blipFill>
                <a:blip r:embed="rId3"/>
                <a:stretch>
                  <a:fillRect t="-39683" b="-17460"/>
                </a:stretch>
              </a:blipFill>
              <a:ln w="0">
                <a:noFill/>
              </a:ln>
            </p:spPr>
            <p:txBody>
              <a:bodyPr/>
              <a:lstStyle/>
              <a:p>
                <a:r>
                  <a:rPr lang="de-DE">
                    <a:noFill/>
                  </a:rPr>
                  <a:t> </a:t>
                </a:r>
              </a:p>
            </p:txBody>
          </p:sp>
        </mc:Fallback>
      </mc:AlternateContent>
      <p:pic>
        <p:nvPicPr>
          <p:cNvPr id="32" name="V5_Figure_11"/>
          <p:cNvPicPr>
            <a:picLocks noChangeAspect="1"/>
          </p:cNvPicPr>
          <p:nvPr/>
        </p:nvPicPr>
        <p:blipFill>
          <a:blip r:embed="rId4"/>
          <a:stretch/>
        </p:blipFill>
        <p:spPr>
          <a:xfrm>
            <a:off x="2225668" y="1390650"/>
            <a:ext cx="6007114" cy="2695575"/>
          </a:xfrm>
          <a:prstGeom prst="rect">
            <a:avLst/>
          </a:prstGeom>
        </p:spPr>
      </p:pic>
      <p:sp>
        <p:nvSpPr>
          <p:cNvPr id="15" name="Structure separator">
            <a:extLst>
              <a:ext uri="{FF2B5EF4-FFF2-40B4-BE49-F238E27FC236}">
                <a16:creationId xmlns:a16="http://schemas.microsoft.com/office/drawing/2014/main" id="{A9EC5E60-715D-47CC-B38E-A9062D2630A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19F293E-636C-4735-907B-95828062312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A624932D-7ED5-4919-AF1A-FA5DB23397E4}"/>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A7DF266-1E1E-4F85-934F-3B29BA87CCF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493A1FC-B2A9-4004-BFDC-1AA93F008BB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0" name="Structure 3">
            <a:extLst>
              <a:ext uri="{FF2B5EF4-FFF2-40B4-BE49-F238E27FC236}">
                <a16:creationId xmlns:a16="http://schemas.microsoft.com/office/drawing/2014/main" id="{3C8640B0-20CC-4ED8-B6F1-D54F714B31E4}"/>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953462D0-AD5E-4A7F-91FD-077552600FC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357BFBC5-382E-4DC6-9881-0F00F931867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9-2">
            <a:extLst>
              <a:ext uri="{FF2B5EF4-FFF2-40B4-BE49-F238E27FC236}">
                <a16:creationId xmlns:a16="http://schemas.microsoft.com/office/drawing/2014/main" id="{579FA8C1-BDE0-4670-9FDB-A23995A6A145}"/>
              </a:ext>
            </a:extLst>
          </p:cNvPr>
          <p:cNvSpPr>
            <a:spLocks noGrp="1"/>
          </p:cNvSpPr>
          <p:nvPr/>
        </p:nvSpPr>
        <p:spPr>
          <a:xfrm>
            <a:off x="552450" y="4762500"/>
            <a:ext cx="9353550" cy="571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Eingangsvektor</a:t>
            </a:r>
            <a:r>
              <a:rPr sz="1800" b="1" dirty="0">
                <a:latin typeface="Calibri"/>
                <a:ea typeface="Calibri"/>
                <a:cs typeface="Calibri"/>
              </a:rPr>
              <a:t> xₖ:</a:t>
            </a:r>
            <a:r>
              <a:rPr sz="1800" b="0" dirty="0">
                <a:latin typeface="Calibri"/>
                <a:ea typeface="Calibri"/>
                <a:cs typeface="Calibri"/>
              </a:rPr>
              <a:t> L </a:t>
            </a:r>
            <a:r>
              <a:rPr sz="1800" b="0" dirty="0" err="1">
                <a:latin typeface="Calibri"/>
                <a:ea typeface="Calibri"/>
                <a:cs typeface="Calibri"/>
              </a:rPr>
              <a:t>Messschritte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U, T und </a:t>
            </a:r>
            <a:r>
              <a:rPr sz="1800" b="0" dirty="0" err="1">
                <a:latin typeface="Calibri"/>
                <a:ea typeface="Calibri"/>
                <a:cs typeface="Calibri"/>
              </a:rPr>
              <a:t>kumulativem</a:t>
            </a:r>
            <a:r>
              <a:rPr sz="1800" b="0" dirty="0">
                <a:latin typeface="Calibri"/>
                <a:ea typeface="Calibri"/>
                <a:cs typeface="Calibri"/>
              </a:rPr>
              <a:t> Strom (Q </a:t>
            </a:r>
            <a:r>
              <a:rPr sz="1800" b="0" dirty="0" err="1">
                <a:latin typeface="Calibri"/>
                <a:ea typeface="Calibri"/>
                <a:cs typeface="Calibri"/>
              </a:rPr>
              <a:t>im</a:t>
            </a:r>
            <a:r>
              <a:rPr sz="1800" b="0" dirty="0">
                <a:latin typeface="Calibri"/>
                <a:ea typeface="Calibri"/>
                <a:cs typeface="Calibri"/>
              </a:rPr>
              <a:t> Bild), SOH-Ziel am </a:t>
            </a:r>
            <a:r>
              <a:rPr sz="1800" b="0" dirty="0" err="1">
                <a:latin typeface="Calibri"/>
                <a:ea typeface="Calibri"/>
                <a:cs typeface="Calibri"/>
              </a:rPr>
              <a:t>Fensterende</a:t>
            </a:r>
            <a:endParaRPr sz="1800" b="0" dirty="0">
              <a:latin typeface="Calibri"/>
              <a:ea typeface="Calibri"/>
              <a:cs typeface="Calibri"/>
            </a:endParaRPr>
          </a:p>
        </p:txBody>
      </p:sp>
      <p:sp>
        <p:nvSpPr>
          <p:cNvPr id="25" name="v11-text-9-3">
            <a:extLst>
              <a:ext uri="{FF2B5EF4-FFF2-40B4-BE49-F238E27FC236}">
                <a16:creationId xmlns:a16="http://schemas.microsoft.com/office/drawing/2014/main" id="{FB8DFB53-46DC-4CD4-B333-6BFF18B5481A}"/>
              </a:ext>
            </a:extLst>
          </p:cNvPr>
          <p:cNvSpPr>
            <a:spLocks noGrp="1"/>
          </p:cNvSpPr>
          <p:nvPr/>
        </p:nvSpPr>
        <p:spPr>
          <a:xfrm>
            <a:off x="552450" y="5476875"/>
            <a:ext cx="9353550" cy="5619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Zeitabdeckung</a:t>
            </a:r>
            <a:r>
              <a:rPr sz="1800" b="1" dirty="0">
                <a:latin typeface="Calibri"/>
                <a:ea typeface="Calibri"/>
                <a:cs typeface="Calibri"/>
              </a:rPr>
              <a:t> L · </a:t>
            </a:r>
            <a:r>
              <a:rPr sz="1800" b="1" dirty="0" err="1">
                <a:latin typeface="Calibri"/>
                <a:ea typeface="Calibri"/>
                <a:cs typeface="Calibri"/>
              </a:rPr>
              <a:t>Δt</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Gemeinsame</a:t>
            </a:r>
            <a:r>
              <a:rPr sz="1800" b="0" dirty="0">
                <a:latin typeface="Calibri"/>
                <a:ea typeface="Calibri"/>
                <a:cs typeface="Calibri"/>
              </a:rPr>
              <a:t> </a:t>
            </a:r>
            <a:r>
              <a:rPr sz="1800" b="0" dirty="0" err="1">
                <a:latin typeface="Calibri"/>
                <a:ea typeface="Calibri"/>
                <a:cs typeface="Calibri"/>
              </a:rPr>
              <a:t>Erfassung</a:t>
            </a:r>
            <a:r>
              <a:rPr sz="1800" b="0" dirty="0">
                <a:latin typeface="Calibri"/>
                <a:ea typeface="Calibri"/>
                <a:cs typeface="Calibri"/>
              </a:rPr>
              <a:t> von </a:t>
            </a:r>
            <a:r>
              <a:rPr sz="1800" b="0" dirty="0" err="1">
                <a:latin typeface="Calibri"/>
                <a:ea typeface="Calibri"/>
                <a:cs typeface="Calibri"/>
              </a:rPr>
              <a:t>Belastungshistorie</a:t>
            </a:r>
            <a:r>
              <a:rPr sz="1800" b="0" dirty="0">
                <a:latin typeface="Calibri"/>
                <a:ea typeface="Calibri"/>
                <a:cs typeface="Calibri"/>
              </a:rPr>
              <a:t> </a:t>
            </a:r>
            <a:r>
              <a:rPr sz="1800" b="0" dirty="0" err="1">
                <a:latin typeface="Calibri"/>
                <a:ea typeface="Calibri"/>
                <a:cs typeface="Calibri"/>
              </a:rPr>
              <a:t>sowie</a:t>
            </a:r>
            <a:r>
              <a:rPr sz="1800" b="0" dirty="0">
                <a:latin typeface="Calibri"/>
                <a:ea typeface="Calibri"/>
                <a:cs typeface="Calibri"/>
              </a:rPr>
              <a:t> Lade- und </a:t>
            </a:r>
            <a:r>
              <a:rPr sz="1800" b="0" dirty="0" err="1">
                <a:latin typeface="Calibri"/>
                <a:ea typeface="Calibri"/>
                <a:cs typeface="Calibri"/>
              </a:rPr>
              <a:t>Entladephasen</a:t>
            </a:r>
            <a:endParaRPr sz="1800" b="0" dirty="0">
              <a:latin typeface="Calibri"/>
              <a:ea typeface="Calibri"/>
              <a:cs typeface="Calibri"/>
            </a:endParaRPr>
          </a:p>
        </p:txBody>
      </p:sp>
      <p:sp>
        <p:nvSpPr>
          <p:cNvPr id="33" name="Footer – Seitennummer">
            <a:extLst>
              <a:ext uri="{FF2B5EF4-FFF2-40B4-BE49-F238E27FC236}">
                <a16:creationId xmlns:a16="http://schemas.microsoft.com/office/drawing/2014/main" id="{4834915C-9B95-4EBE-A9C7-BD209B64A1F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9 / 40</a:t>
            </a:r>
          </a:p>
        </p:txBody>
      </p:sp>
      <p:sp>
        <p:nvSpPr>
          <p:cNvPr id="34" name="Footer – Präsentationsangaben">
            <a:extLst>
              <a:ext uri="{FF2B5EF4-FFF2-40B4-BE49-F238E27FC236}">
                <a16:creationId xmlns:a16="http://schemas.microsoft.com/office/drawing/2014/main" id="{C267A996-1B32-432C-938C-5CFD8C0ACFE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DB6594BA-1F01-4116-B2F2-9661670EE856}"/>
              </a:ext>
            </a:extLst>
          </p:cNvPr>
          <p:cNvSpPr>
            <a:spLocks noGrp="1"/>
          </p:cNvSpPr>
          <p:nvPr/>
        </p:nvSpPr>
        <p:spPr>
          <a:xfrm>
            <a:off x="7981950" y="412432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28379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Training und Evaluation auf getrennten Batteriezellen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D5F66F0C-C352-466A-9E2A-6C7DBCE2FB70}"/>
              </a:ext>
            </a:extLst>
          </p:cNvPr>
          <p:cNvSpPr>
            <a:spLocks noGrp="1"/>
          </p:cNvSpPr>
          <p:nvPr/>
        </p:nvSpPr>
        <p:spPr>
          <a:xfrm>
            <a:off x="4286250" y="1476375"/>
            <a:ext cx="5667375" cy="6858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Datenaufteilung</a:t>
            </a:r>
            <a:r>
              <a:rPr sz="1800" b="1" dirty="0">
                <a:latin typeface="Calibri"/>
                <a:ea typeface="Calibri"/>
                <a:cs typeface="Calibri"/>
              </a:rPr>
              <a:t>:</a:t>
            </a:r>
            <a:r>
              <a:rPr sz="1800" b="0" dirty="0">
                <a:latin typeface="Calibri"/>
                <a:ea typeface="Calibri"/>
                <a:cs typeface="Calibri"/>
              </a:rPr>
              <a:t> Zehn NMC-Zellen für Training und </a:t>
            </a:r>
            <a:r>
              <a:rPr sz="1800" b="0" dirty="0" err="1">
                <a:latin typeface="Calibri"/>
                <a:ea typeface="Calibri"/>
                <a:cs typeface="Calibri"/>
              </a:rPr>
              <a:t>Validierung</a:t>
            </a:r>
            <a:r>
              <a:rPr sz="1800" b="0" dirty="0">
                <a:latin typeface="Calibri"/>
                <a:ea typeface="Calibri"/>
                <a:cs typeface="Calibri"/>
              </a:rPr>
              <a:t>, vier separate </a:t>
            </a:r>
            <a:r>
              <a:rPr sz="1800" b="0" dirty="0" err="1">
                <a:latin typeface="Calibri"/>
                <a:ea typeface="Calibri"/>
                <a:cs typeface="Calibri"/>
              </a:rPr>
              <a:t>Testzellen</a:t>
            </a:r>
            <a:endParaRPr sz="1800" b="0" dirty="0">
              <a:latin typeface="Calibri"/>
              <a:ea typeface="Calibri"/>
              <a:cs typeface="Calibri"/>
            </a:endParaRPr>
          </a:p>
        </p:txBody>
      </p:sp>
      <p:sp>
        <p:nvSpPr>
          <p:cNvPr id="11" name="V5_Text_11">
            <a:extLst>
              <a:ext uri="{FF2B5EF4-FFF2-40B4-BE49-F238E27FC236}">
                <a16:creationId xmlns:a16="http://schemas.microsoft.com/office/drawing/2014/main" id="{8F67BC07-593A-4477-9AE8-CDDF834861F6}"/>
              </a:ext>
            </a:extLst>
          </p:cNvPr>
          <p:cNvSpPr>
            <a:spLocks noGrp="1"/>
          </p:cNvSpPr>
          <p:nvPr/>
        </p:nvSpPr>
        <p:spPr>
          <a:xfrm>
            <a:off x="4286250" y="231457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Validierung</a:t>
            </a:r>
            <a:r>
              <a:rPr sz="1800" b="1" dirty="0">
                <a:latin typeface="Calibri"/>
                <a:ea typeface="Calibri"/>
                <a:cs typeface="Calibri"/>
              </a:rPr>
              <a:t>:</a:t>
            </a:r>
            <a:r>
              <a:rPr sz="1800" b="0" dirty="0">
                <a:latin typeface="Calibri"/>
                <a:ea typeface="Calibri"/>
                <a:cs typeface="Calibri"/>
              </a:rPr>
              <a:t> 20 % der </a:t>
            </a:r>
            <a:r>
              <a:rPr sz="1800" b="0" dirty="0" err="1">
                <a:latin typeface="Calibri"/>
                <a:ea typeface="Calibri"/>
                <a:cs typeface="Calibri"/>
              </a:rPr>
              <a:t>Sequenzen</a:t>
            </a:r>
            <a:r>
              <a:rPr sz="1800" b="0" dirty="0">
                <a:latin typeface="Calibri"/>
                <a:ea typeface="Calibri"/>
                <a:cs typeface="Calibri"/>
              </a:rPr>
              <a:t> </a:t>
            </a:r>
            <a:r>
              <a:rPr sz="1800" b="0" dirty="0" err="1">
                <a:latin typeface="Calibri"/>
                <a:ea typeface="Calibri"/>
                <a:cs typeface="Calibri"/>
              </a:rPr>
              <a:t>dieser</a:t>
            </a:r>
            <a:r>
              <a:rPr sz="1800" b="0" dirty="0">
                <a:latin typeface="Calibri"/>
                <a:ea typeface="Calibri"/>
                <a:cs typeface="Calibri"/>
              </a:rPr>
              <a:t> </a:t>
            </a:r>
            <a:r>
              <a:rPr sz="1800" b="0" dirty="0" err="1">
                <a:latin typeface="Calibri"/>
                <a:ea typeface="Calibri"/>
                <a:cs typeface="Calibri"/>
              </a:rPr>
              <a:t>zehn</a:t>
            </a:r>
            <a:r>
              <a:rPr sz="1800" b="0" dirty="0">
                <a:latin typeface="Calibri"/>
                <a:ea typeface="Calibri"/>
                <a:cs typeface="Calibri"/>
              </a:rPr>
              <a:t> Zellen für die </a:t>
            </a:r>
            <a:r>
              <a:rPr sz="1800" b="0" dirty="0" err="1">
                <a:latin typeface="Calibri"/>
                <a:ea typeface="Calibri"/>
                <a:cs typeface="Calibri"/>
              </a:rPr>
              <a:t>Modellwahl</a:t>
            </a:r>
            <a:r>
              <a:rPr sz="1800" b="0" dirty="0">
                <a:latin typeface="Calibri"/>
                <a:ea typeface="Calibri"/>
                <a:cs typeface="Calibri"/>
              </a:rPr>
              <a:t> und </a:t>
            </a:r>
            <a:r>
              <a:rPr sz="1800" b="0" dirty="0" err="1">
                <a:latin typeface="Calibri"/>
                <a:ea typeface="Calibri"/>
                <a:cs typeface="Calibri"/>
              </a:rPr>
              <a:t>Hyperparameteroptimierung</a:t>
            </a:r>
            <a:endParaRPr sz="1800" b="0" dirty="0">
              <a:latin typeface="Calibri"/>
              <a:ea typeface="Calibri"/>
              <a:cs typeface="Calibri"/>
            </a:endParaRPr>
          </a:p>
        </p:txBody>
      </p:sp>
      <p:sp>
        <p:nvSpPr>
          <p:cNvPr id="12" name="V5_Text_12">
            <a:extLst>
              <a:ext uri="{FF2B5EF4-FFF2-40B4-BE49-F238E27FC236}">
                <a16:creationId xmlns:a16="http://schemas.microsoft.com/office/drawing/2014/main" id="{DD52D886-C955-41EC-BD9F-F41EB1065CE0}"/>
              </a:ext>
            </a:extLst>
          </p:cNvPr>
          <p:cNvSpPr>
            <a:spLocks noGrp="1"/>
          </p:cNvSpPr>
          <p:nvPr/>
        </p:nvSpPr>
        <p:spPr>
          <a:xfrm>
            <a:off x="4286250" y="324802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Skalierung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Einheitliche</a:t>
            </a:r>
            <a:r>
              <a:rPr sz="1800" b="0" dirty="0">
                <a:latin typeface="Calibri"/>
                <a:ea typeface="Calibri"/>
                <a:cs typeface="Calibri"/>
              </a:rPr>
              <a:t> </a:t>
            </a:r>
            <a:r>
              <a:rPr sz="1800" b="0" dirty="0" err="1">
                <a:latin typeface="Calibri"/>
                <a:ea typeface="Calibri"/>
                <a:cs typeface="Calibri"/>
              </a:rPr>
              <a:t>Eingangsskalierung</a:t>
            </a:r>
            <a:r>
              <a:rPr sz="1800" b="0" dirty="0">
                <a:latin typeface="Calibri"/>
                <a:ea typeface="Calibri"/>
                <a:cs typeface="Calibri"/>
              </a:rPr>
              <a:t> auf [0, 1] für Training, </a:t>
            </a:r>
            <a:r>
              <a:rPr sz="1800" b="0" dirty="0" err="1">
                <a:latin typeface="Calibri"/>
                <a:ea typeface="Calibri"/>
                <a:cs typeface="Calibri"/>
              </a:rPr>
              <a:t>Validierung</a:t>
            </a:r>
            <a:r>
              <a:rPr sz="1800" b="0" dirty="0">
                <a:latin typeface="Calibri"/>
                <a:ea typeface="Calibri"/>
                <a:cs typeface="Calibri"/>
              </a:rPr>
              <a:t> und Test</a:t>
            </a: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EAB2FD8B-7E52-4F17-A979-2871583FAAA5}"/>
                  </a:ext>
                </a:extLst>
              </p:cNvPr>
              <p:cNvSpPr>
                <a:spLocks noGrp="1"/>
              </p:cNvSpPr>
              <p:nvPr/>
            </p:nvSpPr>
            <p:spPr>
              <a:xfrm>
                <a:off x="43719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𝑀𝑆𝐸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sSup>
                            <m:sSupPr>
                              <m:ctrlPr>
                                <a:rPr sz="1875">
                                  <a:latin typeface="Cambria Math"/>
                                  <a:ea typeface="Cambria Math"/>
                                  <a:cs typeface="Cambria Math"/>
                                </a:rPr>
                              </m:ctrlPr>
                            </m:sSupPr>
                            <m:e>
                              <m:r>
                                <a:rPr sz="1875">
                                  <a:latin typeface="Cambria Math"/>
                                  <a:ea typeface="Cambria Math"/>
                                  <a:cs typeface="Cambria Math"/>
                                </a:rPr>
                                <m:t>)</m:t>
                              </m:r>
                            </m:e>
                            <m:sup>
                              <m:r>
                                <a:rPr sz="1313">
                                  <a:latin typeface="Cambria Math"/>
                                  <a:ea typeface="Cambria Math"/>
                                  <a:cs typeface="Cambria Math"/>
                                </a:rPr>
                                <m:t>2</m:t>
                              </m:r>
                            </m:sup>
                          </m:sSup>
                        </m:e>
                      </m:nary>
                    </m:oMath>
                  </m:oMathPara>
                </a14:m>
                <a:endParaRPr/>
              </a:p>
            </p:txBody>
          </p:sp>
        </mc:Choice>
        <mc:Fallback xmlns="">
          <p:sp>
            <p:nvSpPr>
              <p:cNvPr id="13" name="V5_Text_13">
                <a:extLst>
                  <a:ext uri="{FF2B5EF4-FFF2-40B4-BE49-F238E27FC236}">
                    <a16:creationId xmlns:a16="http://schemas.microsoft.com/office/drawing/2014/main" id="{EAB2FD8B-7E52-4F17-A979-2871583FAAA5}"/>
                  </a:ext>
                </a:extLst>
              </p:cNvPr>
              <p:cNvSpPr>
                <a:spLocks noGrp="1" noRot="1" noChangeAspect="1" noMove="1" noResize="1" noEditPoints="1" noAdjustHandles="1" noChangeArrowheads="1" noChangeShapeType="1" noTextEdit="1"/>
              </p:cNvSpPr>
              <p:nvPr/>
            </p:nvSpPr>
            <p:spPr>
              <a:xfrm>
                <a:off x="4371975" y="5219700"/>
                <a:ext cx="2476500" cy="647700"/>
              </a:xfrm>
              <a:prstGeom prst="rect">
                <a:avLst/>
              </a:prstGeom>
              <a:blipFill>
                <a:blip r:embed="rId3"/>
                <a:stretch>
                  <a:fillRect b="-18692"/>
                </a:stretch>
              </a:blipFill>
              <a:ln w="0">
                <a:noFill/>
              </a:ln>
            </p:spPr>
            <p:txBody>
              <a:bodyPr/>
              <a:lstStyle/>
              <a:p>
                <a:r>
                  <a:rPr lang="de-DE">
                    <a:noFill/>
                  </a:rPr>
                  <a:t> </a:t>
                </a:r>
              </a:p>
            </p:txBody>
          </p:sp>
        </mc:Fallback>
      </mc:AlternateContent>
      <p:sp>
        <p:nvSpPr>
          <p:cNvPr id="19" name="Structure separator">
            <a:extLst>
              <a:ext uri="{FF2B5EF4-FFF2-40B4-BE49-F238E27FC236}">
                <a16:creationId xmlns:a16="http://schemas.microsoft.com/office/drawing/2014/main" id="{A0A0449F-91F8-4311-AFDC-8CC5AE8E98F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5CFFD041-CAE6-47BE-9A11-26444422856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44415EC-E10D-4081-8C6E-4FC3AACA60DB}"/>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EA2CD40-03C2-4007-A639-B53C2DEBDBE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11471C8F-E116-45C0-B687-6E005912E37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9AE65F1D-09A9-4A7B-87FB-5E7E03D3952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0C61B8B8-6081-4661-BB88-1B1E1001CCC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7715BD9-57C2-4688-89DC-A103E60770E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6" name="Grafik 45"/>
          <p:cNvPicPr>
            <a:picLocks noChangeAspect="1"/>
          </p:cNvPicPr>
          <p:nvPr/>
        </p:nvPicPr>
        <p:blipFill>
          <a:blip r:embed="rId4"/>
          <a:stretch/>
        </p:blipFill>
        <p:spPr>
          <a:xfrm>
            <a:off x="554294" y="1409700"/>
            <a:ext cx="3187187" cy="4371975"/>
          </a:xfrm>
          <a:prstGeom prst="rect">
            <a:avLst/>
          </a:prstGeom>
        </p:spPr>
      </p:pic>
      <p:sp>
        <p:nvSpPr>
          <p:cNvPr id="28" name="v12-text-10-5">
            <a:extLst>
              <a:ext uri="{FF2B5EF4-FFF2-40B4-BE49-F238E27FC236}">
                <a16:creationId xmlns:a16="http://schemas.microsoft.com/office/drawing/2014/main" id="{391E289E-5193-416D-AA69-142B37B041E4}"/>
              </a:ext>
            </a:extLst>
          </p:cNvPr>
          <p:cNvSpPr>
            <a:spLocks noGrp="1"/>
          </p:cNvSpPr>
          <p:nvPr/>
        </p:nvSpPr>
        <p:spPr>
          <a:xfrm>
            <a:off x="4286250" y="4200525"/>
            <a:ext cx="5667375" cy="3429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Training:</a:t>
            </a:r>
            <a:r>
              <a:rPr sz="1800" b="0" dirty="0">
                <a:latin typeface="Calibri"/>
                <a:ea typeface="Calibri"/>
                <a:cs typeface="Calibri"/>
              </a:rPr>
              <a:t> </a:t>
            </a:r>
            <a:r>
              <a:rPr sz="1800" b="0" dirty="0" err="1">
                <a:latin typeface="Calibri"/>
                <a:ea typeface="Calibri"/>
                <a:cs typeface="Calibri"/>
              </a:rPr>
              <a:t>Minimierung</a:t>
            </a:r>
            <a:r>
              <a:rPr sz="1800" b="0" dirty="0">
                <a:latin typeface="Calibri"/>
                <a:ea typeface="Calibri"/>
                <a:cs typeface="Calibri"/>
              </a:rPr>
              <a:t> der MSE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Verlustfunktion</a:t>
            </a:r>
            <a:endParaRPr sz="1800" b="0" dirty="0">
              <a:latin typeface="Calibri"/>
              <a:ea typeface="Calibri"/>
              <a:cs typeface="Calibri"/>
            </a:endParaRPr>
          </a:p>
        </p:txBody>
      </p:sp>
      <p:sp>
        <p:nvSpPr>
          <p:cNvPr id="47" name="v14-evaluation"/>
          <p:cNvSpPr>
            <a:spLocks noGrp="1"/>
          </p:cNvSpPr>
          <p:nvPr/>
        </p:nvSpPr>
        <p:spPr>
          <a:xfrm>
            <a:off x="4286250" y="4638675"/>
            <a:ext cx="5667375" cy="5334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Evaluation:</a:t>
            </a:r>
            <a:r>
              <a:rPr sz="1800" b="0" dirty="0">
                <a:latin typeface="Calibri"/>
                <a:ea typeface="Calibri"/>
                <a:cs typeface="Calibri"/>
              </a:rPr>
              <a:t> MAE und MSE auf den vier </a:t>
            </a:r>
            <a:r>
              <a:rPr sz="1800" b="0" dirty="0" err="1">
                <a:latin typeface="Calibri"/>
                <a:ea typeface="Calibri"/>
                <a:cs typeface="Calibri"/>
              </a:rPr>
              <a:t>separaten</a:t>
            </a:r>
            <a:r>
              <a:rPr sz="1800" b="0" dirty="0">
                <a:latin typeface="Calibri"/>
                <a:ea typeface="Calibri"/>
                <a:cs typeface="Calibri"/>
              </a:rPr>
              <a:t> </a:t>
            </a:r>
            <a:r>
              <a:rPr sz="1800" b="0" dirty="0" err="1">
                <a:latin typeface="Calibri"/>
                <a:ea typeface="Calibri"/>
                <a:cs typeface="Calibri"/>
              </a:rPr>
              <a:t>Testzellen</a:t>
            </a:r>
            <a:endParaRPr sz="1800" b="0" dirty="0">
              <a:latin typeface="Calibri"/>
              <a:ea typeface="Calibri"/>
              <a:cs typeface="Calibri"/>
            </a:endParaRPr>
          </a:p>
        </p:txBody>
      </p:sp>
      <mc:AlternateContent xmlns:mc="http://schemas.openxmlformats.org/markup-compatibility/2006" xmlns:a14="http://schemas.microsoft.com/office/drawing/2010/main">
        <mc:Choice Requires="a14">
          <p:sp>
            <p:nvSpPr>
              <p:cNvPr id="48" name="v14-MAE-formula"/>
              <p:cNvSpPr>
                <a:spLocks noGrp="1"/>
              </p:cNvSpPr>
              <p:nvPr/>
            </p:nvSpPr>
            <p:spPr>
              <a:xfrm>
                <a:off x="74580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𝑀𝐴𝐸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d>
                            <m:dPr>
                              <m:begChr m:val="|"/>
                              <m:endChr m:val="|"/>
                              <m:ctrlPr>
                                <a:rPr sz="1313" i="1">
                                  <a:latin typeface="Cambria Math" panose="02040503050406030204" pitchFamily="18" charset="0"/>
                                  <a:ea typeface="Cambria Math"/>
                                  <a:cs typeface="Cambria Math"/>
                                </a:rPr>
                              </m:ctrlPr>
                            </m:dPr>
                            <m:e>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e>
                          </m:d>
                        </m:e>
                      </m:nary>
                    </m:oMath>
                  </m:oMathPara>
                </a14:m>
                <a:endParaRPr/>
              </a:p>
            </p:txBody>
          </p:sp>
        </mc:Choice>
        <mc:Fallback xmlns="">
          <p:sp>
            <p:nvSpPr>
              <p:cNvPr id="48" name="v14-MAE-formula"/>
              <p:cNvSpPr>
                <a:spLocks noGrp="1" noRot="1" noChangeAspect="1" noMove="1" noResize="1" noEditPoints="1" noAdjustHandles="1" noChangeArrowheads="1" noChangeShapeType="1" noTextEdit="1"/>
              </p:cNvSpPr>
              <p:nvPr/>
            </p:nvSpPr>
            <p:spPr>
              <a:xfrm>
                <a:off x="7458075" y="5219700"/>
                <a:ext cx="2476500" cy="647700"/>
              </a:xfrm>
              <a:prstGeom prst="rect">
                <a:avLst/>
              </a:prstGeom>
              <a:blipFill>
                <a:blip r:embed="rId5"/>
                <a:stretch>
                  <a:fillRect b="-18692"/>
                </a:stretch>
              </a:blipFill>
              <a:ln w="0">
                <a:noFill/>
              </a:ln>
            </p:spPr>
            <p:txBody>
              <a:bodyPr/>
              <a:lstStyle/>
              <a:p>
                <a:r>
                  <a:rPr lang="de-DE">
                    <a:noFill/>
                  </a:rPr>
                  <a:t> </a:t>
                </a:r>
              </a:p>
            </p:txBody>
          </p:sp>
        </mc:Fallback>
      </mc:AlternateContent>
      <p:sp>
        <p:nvSpPr>
          <p:cNvPr id="49" name="Footer – Seitennummer">
            <a:extLst>
              <a:ext uri="{FF2B5EF4-FFF2-40B4-BE49-F238E27FC236}">
                <a16:creationId xmlns:a16="http://schemas.microsoft.com/office/drawing/2014/main" id="{F8D5FED1-1008-4F4F-B0F9-18EF68FAAD8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10 / 40</a:t>
            </a:r>
          </a:p>
        </p:txBody>
      </p:sp>
      <p:sp>
        <p:nvSpPr>
          <p:cNvPr id="50" name="Footer – Präsentationsangaben">
            <a:extLst>
              <a:ext uri="{FF2B5EF4-FFF2-40B4-BE49-F238E27FC236}">
                <a16:creationId xmlns:a16="http://schemas.microsoft.com/office/drawing/2014/main" id="{7547D72A-7FA2-42E0-80D3-52C6B83D638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46">
            <a:extLst>
              <a:ext uri="{FF2B5EF4-FFF2-40B4-BE49-F238E27FC236}">
                <a16:creationId xmlns:a16="http://schemas.microsoft.com/office/drawing/2014/main" id="{9D48D52E-8105-47AB-974A-7B9F72F3C6F3}"/>
              </a:ext>
            </a:extLst>
          </p:cNvPr>
          <p:cNvSpPr>
            <a:spLocks noGrp="1"/>
          </p:cNvSpPr>
          <p:nvPr/>
        </p:nvSpPr>
        <p:spPr>
          <a:xfrm>
            <a:off x="3493472" y="576897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
        <p:nvSpPr>
          <p:cNvPr id="52" name="Quellenverweis 11">
            <a:extLst>
              <a:ext uri="{FF2B5EF4-FFF2-40B4-BE49-F238E27FC236}">
                <a16:creationId xmlns:a16="http://schemas.microsoft.com/office/drawing/2014/main" id="{E64AD65F-9DEF-44A9-B704-98BAE0BE02B7}"/>
              </a:ext>
            </a:extLst>
          </p:cNvPr>
          <p:cNvSpPr>
            <a:spLocks noGrp="1"/>
          </p:cNvSpPr>
          <p:nvPr/>
        </p:nvSpPr>
        <p:spPr>
          <a:xfrm>
            <a:off x="8570177" y="258875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[15]</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8" grpId="0"/>
      <p:bldP spid="47"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Einfluss von Zeitauflösung und Lag-Sequence Length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4095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Grobe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Glättung</a:t>
            </a:r>
            <a:r>
              <a:rPr sz="1800" b="0" dirty="0">
                <a:latin typeface="Calibri"/>
                <a:ea typeface="Calibri"/>
                <a:cs typeface="Calibri"/>
              </a:rPr>
              <a:t> </a:t>
            </a:r>
            <a:r>
              <a:rPr sz="1800" b="0" dirty="0" err="1">
                <a:latin typeface="Calibri"/>
                <a:ea typeface="Calibri"/>
                <a:cs typeface="Calibri"/>
              </a:rPr>
              <a:t>relevanter</a:t>
            </a:r>
            <a:r>
              <a:rPr sz="1800" b="0" dirty="0">
                <a:latin typeface="Calibri"/>
                <a:ea typeface="Calibri"/>
                <a:cs typeface="Calibri"/>
              </a:rPr>
              <a:t> Lade- und </a:t>
            </a:r>
            <a:r>
              <a:rPr sz="1800" b="0" dirty="0" err="1">
                <a:latin typeface="Calibri"/>
                <a:ea typeface="Calibri"/>
                <a:cs typeface="Calibri"/>
              </a:rPr>
              <a:t>Entladedynamik</a:t>
            </a:r>
            <a:r>
              <a:rPr sz="1800" b="0" dirty="0">
                <a:latin typeface="Calibri"/>
                <a:ea typeface="Calibri"/>
                <a:cs typeface="Calibri"/>
              </a:rPr>
              <a:t> </a:t>
            </a:r>
            <a:r>
              <a:rPr sz="1800" b="0" dirty="0" err="1">
                <a:latin typeface="Calibri"/>
                <a:ea typeface="Calibri"/>
                <a:cs typeface="Calibri"/>
              </a:rPr>
              <a:t>durch</a:t>
            </a:r>
            <a:r>
              <a:rPr sz="1800" b="0" dirty="0">
                <a:latin typeface="Calibri"/>
                <a:ea typeface="Calibri"/>
                <a:cs typeface="Calibri"/>
              </a:rPr>
              <a:t> Aggregation</a:t>
            </a: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487680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Feine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Kürzere</a:t>
            </a:r>
            <a:r>
              <a:rPr sz="1800" b="0" dirty="0">
                <a:latin typeface="Calibri"/>
                <a:ea typeface="Calibri"/>
                <a:cs typeface="Calibri"/>
              </a:rPr>
              <a:t> </a:t>
            </a:r>
            <a:r>
              <a:rPr sz="1800" b="0" dirty="0" err="1">
                <a:latin typeface="Calibri"/>
                <a:ea typeface="Calibri"/>
                <a:cs typeface="Calibri"/>
              </a:rPr>
              <a:t>Zeitabdeckung</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gleicher</a:t>
            </a:r>
            <a:r>
              <a:rPr sz="1800" b="0" dirty="0">
                <a:latin typeface="Calibri"/>
                <a:ea typeface="Calibri"/>
                <a:cs typeface="Calibri"/>
              </a:rPr>
              <a:t> Lag-Sequence Length L, </a:t>
            </a:r>
            <a:r>
              <a:rPr sz="1800" b="0" dirty="0" err="1">
                <a:latin typeface="Calibri"/>
                <a:ea typeface="Calibri"/>
                <a:cs typeface="Calibri"/>
              </a:rPr>
              <a:t>größerer</a:t>
            </a:r>
            <a:r>
              <a:rPr sz="1800" b="0" dirty="0">
                <a:latin typeface="Calibri"/>
                <a:ea typeface="Calibri"/>
                <a:cs typeface="Calibri"/>
              </a:rPr>
              <a:t> </a:t>
            </a:r>
            <a:r>
              <a:rPr sz="1800" b="0" dirty="0" err="1">
                <a:latin typeface="Calibri"/>
                <a:ea typeface="Calibri"/>
                <a:cs typeface="Calibri"/>
              </a:rPr>
              <a:t>Eingangsvektor</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mehr</a:t>
            </a:r>
            <a:r>
              <a:rPr sz="1800" b="0" dirty="0">
                <a:latin typeface="Calibri"/>
                <a:ea typeface="Calibri"/>
                <a:cs typeface="Calibri"/>
              </a:rPr>
              <a:t> </a:t>
            </a:r>
            <a:r>
              <a:rPr sz="1800" b="0" dirty="0" err="1">
                <a:latin typeface="Calibri"/>
                <a:ea typeface="Calibri"/>
                <a:cs typeface="Calibri"/>
              </a:rPr>
              <a:t>Zeitschritten</a:t>
            </a:r>
            <a:endParaRPr sz="1800" b="0" dirty="0">
              <a:latin typeface="Calibri"/>
              <a:ea typeface="Calibri"/>
              <a:cs typeface="Calibri"/>
            </a:endParaRPr>
          </a:p>
        </p:txBody>
      </p:sp>
      <p:sp>
        <p:nvSpPr>
          <p:cNvPr id="16" name="V5_Text_16">
            <a:extLst>
              <a:ext uri="{FF2B5EF4-FFF2-40B4-BE49-F238E27FC236}">
                <a16:creationId xmlns:a16="http://schemas.microsoft.com/office/drawing/2014/main" id="{C3B77270-1B0C-453A-8A99-8694B74C9C21}"/>
              </a:ext>
            </a:extLst>
          </p:cNvPr>
          <p:cNvSpPr>
            <a:spLocks noGrp="1"/>
          </p:cNvSpPr>
          <p:nvPr/>
        </p:nvSpPr>
        <p:spPr>
          <a:xfrm>
            <a:off x="552450" y="5619750"/>
            <a:ext cx="9353550" cy="3238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latin typeface="Calibri"/>
                <a:ea typeface="Calibri"/>
                <a:cs typeface="Calibri"/>
              </a:rPr>
              <a:t>Konfiguration</a:t>
            </a:r>
            <a:r>
              <a:rPr sz="1800" b="1" dirty="0">
                <a:latin typeface="Calibri"/>
                <a:ea typeface="Calibri"/>
                <a:cs typeface="Calibri"/>
              </a:rPr>
              <a:t>:</a:t>
            </a:r>
            <a:r>
              <a:rPr sz="1800" b="0" dirty="0">
                <a:latin typeface="Calibri"/>
                <a:ea typeface="Calibri"/>
                <a:cs typeface="Calibri"/>
              </a:rPr>
              <a:t> L = 16, </a:t>
            </a:r>
            <a:r>
              <a:rPr sz="1800" b="0" dirty="0" err="1">
                <a:latin typeface="Calibri"/>
                <a:ea typeface="Calibri"/>
                <a:cs typeface="Calibri"/>
              </a:rPr>
              <a:t>Δt</a:t>
            </a:r>
            <a:r>
              <a:rPr sz="1800" b="0" dirty="0">
                <a:latin typeface="Calibri"/>
                <a:ea typeface="Calibri"/>
                <a:cs typeface="Calibri"/>
              </a:rPr>
              <a:t> = 10 min, </a:t>
            </a:r>
            <a:r>
              <a:rPr sz="1800" b="0" dirty="0" err="1">
                <a:latin typeface="Calibri"/>
                <a:ea typeface="Calibri"/>
                <a:cs typeface="Calibri"/>
              </a:rPr>
              <a:t>Historie</a:t>
            </a:r>
            <a:r>
              <a:rPr sz="1800" b="0" dirty="0">
                <a:latin typeface="Calibri"/>
                <a:ea typeface="Calibri"/>
                <a:cs typeface="Calibri"/>
              </a:rPr>
              <a:t> von 160 min</a:t>
            </a: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1253417" y="1428750"/>
            <a:ext cx="7951615" cy="2647950"/>
          </a:xfrm>
          <a:prstGeom prst="rect">
            <a:avLst/>
          </a:prstGeom>
        </p:spPr>
      </p:pic>
      <p:sp>
        <p:nvSpPr>
          <p:cNvPr id="45" name="Footer – Seitennummer">
            <a:extLst>
              <a:ext uri="{FF2B5EF4-FFF2-40B4-BE49-F238E27FC236}">
                <a16:creationId xmlns:a16="http://schemas.microsoft.com/office/drawing/2014/main" id="{30D41821-EBD3-4474-AE96-D36843ADCE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11 / 40</a:t>
            </a:r>
          </a:p>
        </p:txBody>
      </p:sp>
      <p:sp>
        <p:nvSpPr>
          <p:cNvPr id="46" name="Footer – Präsentationsangaben">
            <a:extLst>
              <a:ext uri="{FF2B5EF4-FFF2-40B4-BE49-F238E27FC236}">
                <a16:creationId xmlns:a16="http://schemas.microsoft.com/office/drawing/2014/main" id="{84B5AF10-405A-4B79-B65A-673F1C00D35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Quellenverweis 4">
            <a:extLst>
              <a:ext uri="{FF2B5EF4-FFF2-40B4-BE49-F238E27FC236}">
                <a16:creationId xmlns:a16="http://schemas.microsoft.com/office/drawing/2014/main" id="{E1041144-F469-4F22-BD6A-CE28E08FCC9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und Grenzen der SOH-Schätzung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1253417" y="1428750"/>
            <a:ext cx="7951615" cy="2647950"/>
          </a:xfrm>
          <a:prstGeom prst="rect">
            <a:avLst/>
          </a:prstGeom>
        </p:spPr>
      </p:pic>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Zellen 1 und 7:</a:t>
            </a:r>
            <a:r>
              <a:rPr sz="1800" b="0" dirty="0">
                <a:latin typeface="Calibri"/>
                <a:ea typeface="Calibri"/>
                <a:cs typeface="Calibri"/>
              </a:rPr>
              <a:t> Gute </a:t>
            </a:r>
            <a:r>
              <a:rPr sz="1800" b="0" dirty="0" err="1">
                <a:latin typeface="Calibri"/>
                <a:ea typeface="Calibri"/>
                <a:cs typeface="Calibri"/>
              </a:rPr>
              <a:t>Übereinstimmung</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der </a:t>
            </a:r>
            <a:r>
              <a:rPr sz="1800" b="0" dirty="0" err="1">
                <a:latin typeface="Calibri"/>
                <a:ea typeface="Calibri"/>
                <a:cs typeface="Calibri"/>
              </a:rPr>
              <a:t>Kapazitätsreferenz</a:t>
            </a:r>
            <a:r>
              <a:rPr sz="1800" b="0" dirty="0">
                <a:latin typeface="Calibri"/>
                <a:ea typeface="Calibri"/>
                <a:cs typeface="Calibri"/>
              </a:rPr>
              <a:t>, MAE von 0,253 bis 0,487 </a:t>
            </a:r>
            <a:r>
              <a:rPr sz="1800" b="0" dirty="0" err="1">
                <a:latin typeface="Calibri"/>
                <a:ea typeface="Calibri"/>
                <a:cs typeface="Calibri"/>
              </a:rPr>
              <a:t>Prozentpunkten</a:t>
            </a:r>
            <a:endParaRPr sz="1800" b="0" dirty="0">
              <a:latin typeface="Calibri"/>
              <a:ea typeface="Calibri"/>
              <a:cs typeface="Calibri"/>
            </a:endParaRP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5067300"/>
            <a:ext cx="9353550" cy="6381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 9:</a:t>
            </a:r>
            <a:r>
              <a:rPr sz="1800" b="0" dirty="0">
                <a:latin typeface="Calibri"/>
                <a:ea typeface="Calibri"/>
                <a:cs typeface="Calibri"/>
              </a:rPr>
              <a:t> </a:t>
            </a:r>
            <a:r>
              <a:rPr sz="1800" b="0" dirty="0" err="1">
                <a:latin typeface="Calibri"/>
                <a:ea typeface="Calibri"/>
                <a:cs typeface="Calibri"/>
              </a:rPr>
              <a:t>Größere</a:t>
            </a:r>
            <a:r>
              <a:rPr sz="1800" b="0" dirty="0">
                <a:latin typeface="Calibri"/>
                <a:ea typeface="Calibri"/>
                <a:cs typeface="Calibri"/>
              </a:rPr>
              <a:t> </a:t>
            </a:r>
            <a:r>
              <a:rPr sz="1800" b="0" dirty="0" err="1">
                <a:latin typeface="Calibri"/>
                <a:ea typeface="Calibri"/>
                <a:cs typeface="Calibri"/>
              </a:rPr>
              <a:t>systematische</a:t>
            </a:r>
            <a:r>
              <a:rPr sz="1800" b="0" dirty="0">
                <a:latin typeface="Calibri"/>
                <a:ea typeface="Calibri"/>
                <a:cs typeface="Calibri"/>
              </a:rPr>
              <a:t> und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Abweichungen</a:t>
            </a:r>
            <a:r>
              <a:rPr sz="1800" b="0" dirty="0">
                <a:latin typeface="Calibri"/>
                <a:ea typeface="Calibri"/>
                <a:cs typeface="Calibri"/>
              </a:rPr>
              <a:t>, MAE 2,528 </a:t>
            </a:r>
            <a:r>
              <a:rPr sz="1800" b="0" dirty="0" err="1">
                <a:latin typeface="Calibri"/>
                <a:ea typeface="Calibri"/>
                <a:cs typeface="Calibri"/>
              </a:rPr>
              <a:t>Prozentpunkte</a:t>
            </a:r>
            <a:r>
              <a:rPr sz="1800" b="0" dirty="0">
                <a:latin typeface="Calibri"/>
                <a:ea typeface="Calibri"/>
                <a:cs typeface="Calibri"/>
              </a:rPr>
              <a:t>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Grenze</a:t>
            </a:r>
            <a:r>
              <a:rPr sz="1800" b="0" dirty="0">
                <a:latin typeface="Calibri"/>
                <a:ea typeface="Calibri"/>
                <a:cs typeface="Calibri"/>
              </a:rPr>
              <a:t> der </a:t>
            </a:r>
            <a:r>
              <a:rPr sz="1800" b="0" dirty="0" err="1">
                <a:latin typeface="Calibri"/>
                <a:ea typeface="Calibri"/>
                <a:cs typeface="Calibri"/>
              </a:rPr>
              <a:t>Übertragbarkeit</a:t>
            </a:r>
            <a:endParaRPr sz="1800" b="0" dirty="0">
              <a:latin typeface="Calibri"/>
              <a:ea typeface="Calibri"/>
              <a:cs typeface="Calibri"/>
            </a:endParaRP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4" name="Footer – Seitennummer">
            <a:extLst>
              <a:ext uri="{FF2B5EF4-FFF2-40B4-BE49-F238E27FC236}">
                <a16:creationId xmlns:a16="http://schemas.microsoft.com/office/drawing/2014/main" id="{90838A9D-C538-42B5-9006-D82EA3E17A0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12 / 40</a:t>
            </a:r>
          </a:p>
        </p:txBody>
      </p:sp>
      <p:sp>
        <p:nvSpPr>
          <p:cNvPr id="35" name="Footer – Präsentationsangaben">
            <a:extLst>
              <a:ext uri="{FF2B5EF4-FFF2-40B4-BE49-F238E27FC236}">
                <a16:creationId xmlns:a16="http://schemas.microsoft.com/office/drawing/2014/main" id="{99899E20-F41D-462C-9200-B361F03145A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6" name="Quellenverweis 4">
            <a:extLst>
              <a:ext uri="{FF2B5EF4-FFF2-40B4-BE49-F238E27FC236}">
                <a16:creationId xmlns:a16="http://schemas.microsoft.com/office/drawing/2014/main" id="{D3D480AD-0BDD-45DE-81F7-CA9D9C80B9D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Benchmark: </a:t>
            </a:r>
            <a:r>
              <a:rPr sz="2400" b="0" dirty="0" err="1">
                <a:solidFill>
                  <a:srgbClr val="CC001C"/>
                </a:solidFill>
                <a:latin typeface="Calibri"/>
                <a:ea typeface="Calibri"/>
                <a:cs typeface="Calibri"/>
              </a:rPr>
              <a:t>Genauigkeit</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Robustheit</a:t>
            </a:r>
            <a:r>
              <a:rPr sz="2400" b="0" dirty="0">
                <a:solidFill>
                  <a:srgbClr val="CC001C"/>
                </a:solidFill>
                <a:latin typeface="Calibri"/>
                <a:ea typeface="Calibri"/>
                <a:cs typeface="Calibri"/>
              </a:rPr>
              <a:t> und Recovery</a:t>
            </a:r>
            <a:endParaRPr dirty="0"/>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276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F986BC85-8215-4516-835B-0B1E6B659BC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EC0A97F-B555-4035-B581-A63067A85DA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D87AB16-3FAF-484C-BC38-8830B9AE83F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70D37578-7ACC-4115-9987-CB09AA90826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6B036FC8-9BC6-444D-A807-2ADA3E2CCD56}"/>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DB3F4A94-B35C-4978-B5FE-881B155E86D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33" name="Structure 4">
            <a:extLst>
              <a:ext uri="{FF2B5EF4-FFF2-40B4-BE49-F238E27FC236}">
                <a16:creationId xmlns:a16="http://schemas.microsoft.com/office/drawing/2014/main" id="{1CE0D6D1-CD23-40F8-AB07-1507FF87C5F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899F46D2-F5EA-4F24-AAE9-ACE51D34927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Hardware_highlight">
            <a:extLst>
              <a:ext uri="{FF2B5EF4-FFF2-40B4-BE49-F238E27FC236}">
                <a16:creationId xmlns:a16="http://schemas.microsoft.com/office/drawing/2014/main" id="{94F878CC-F4B9-457E-BA55-8F521681AC2F}"/>
              </a:ext>
            </a:extLst>
          </p:cNvPr>
          <p:cNvSpPr>
            <a:spLocks noGrp="1"/>
          </p:cNvSpPr>
          <p:nvPr/>
        </p:nvSpPr>
        <p:spPr>
          <a:xfrm>
            <a:off x="638316" y="29577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1001" name="BM_Performance_highlight">
            <a:extLst>
              <a:ext uri="{FF2B5EF4-FFF2-40B4-BE49-F238E27FC236}">
                <a16:creationId xmlns:a16="http://schemas.microsoft.com/office/drawing/2014/main" id="{CDF43DDD-3E03-4BF1-9A5D-C24B1DE54FAA}"/>
              </a:ext>
            </a:extLst>
          </p:cNvPr>
          <p:cNvSpPr>
            <a:spLocks noGrp="1"/>
          </p:cNvSpPr>
          <p:nvPr/>
        </p:nvSpPr>
        <p:spPr>
          <a:xfrm>
            <a:off x="3433127" y="2946645"/>
            <a:ext cx="1781034" cy="1794883"/>
          </a:xfrm>
          <a:custGeom>
            <a:avLst/>
            <a:gdLst/>
            <a:ahLst/>
            <a:cxnLst/>
            <a:rect l="0" t="0" r="0" b="0"/>
            <a:pathLst>
              <a:path w="1781034" h="1794883">
                <a:moveTo>
                  <a:pt x="213724" y="682056"/>
                </a:moveTo>
                <a:lnTo>
                  <a:pt x="890517" y="0"/>
                </a:lnTo>
                <a:lnTo>
                  <a:pt x="1781034" y="897442"/>
                </a:lnTo>
                <a:lnTo>
                  <a:pt x="890517" y="1794883"/>
                </a:lnTo>
                <a:lnTo>
                  <a:pt x="213724" y="1112827"/>
                </a:lnTo>
              </a:path>
            </a:pathLst>
          </a:custGeom>
          <a:noFill/>
          <a:ln w="23105">
            <a:solidFill>
              <a:srgbClr val="C40D1E"/>
            </a:solidFill>
          </a:ln>
        </p:spPr>
        <p:txBody>
          <a:bodyPr/>
          <a:lstStyle/>
          <a:p>
            <a:endParaRPr lang="de-DE"/>
          </a:p>
        </p:txBody>
      </p:sp>
      <p:sp>
        <p:nvSpPr>
          <p:cNvPr id="1002" name="Footer – Seitennummer">
            <a:extLst>
              <a:ext uri="{FF2B5EF4-FFF2-40B4-BE49-F238E27FC236}">
                <a16:creationId xmlns:a16="http://schemas.microsoft.com/office/drawing/2014/main" id="{9327931A-59C5-4FE4-9875-C57620C29D0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13 / 40</a:t>
            </a:r>
          </a:p>
        </p:txBody>
      </p:sp>
      <p:sp>
        <p:nvSpPr>
          <p:cNvPr id="1003" name="Footer – Präsentationsangaben">
            <a:extLst>
              <a:ext uri="{FF2B5EF4-FFF2-40B4-BE49-F238E27FC236}">
                <a16:creationId xmlns:a16="http://schemas.microsoft.com/office/drawing/2014/main" id="{2B942525-EF8A-4F23-AD1A-7E094545A8A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7" name="Trennlinie eigene Arbeit">
            <a:extLst>
              <a:ext uri="{FF2B5EF4-FFF2-40B4-BE49-F238E27FC236}">
                <a16:creationId xmlns:a16="http://schemas.microsoft.com/office/drawing/2014/main" id="{3B42F3B2-7DCD-4C4B-BB73-E2BBAA88C179}"/>
              </a:ext>
            </a:extLst>
          </p:cNvPr>
          <p:cNvSpPr>
            <a:spLocks noGrp="1"/>
          </p:cNvSpPr>
          <p:nvPr/>
        </p:nvSpPr>
        <p:spPr>
          <a:xfrm>
            <a:off x="552450" y="5220900"/>
            <a:ext cx="9496425" cy="9525"/>
          </a:xfrm>
          <a:prstGeom prst="rect">
            <a:avLst/>
          </a:prstGeom>
          <a:solidFill>
            <a:srgbClr val="D9D9D9"/>
          </a:solidFill>
          <a:ln w="0">
            <a:noFill/>
          </a:ln>
        </p:spPr>
        <p:txBody>
          <a:bodyPr/>
          <a:lstStyle/>
          <a:p>
            <a:endParaRPr lang="de-DE"/>
          </a:p>
        </p:txBody>
      </p:sp>
      <p:sp>
        <p:nvSpPr>
          <p:cNvPr id="1004" name="Motivation">
            <a:extLst>
              <a:ext uri="{FF2B5EF4-FFF2-40B4-BE49-F238E27FC236}">
                <a16:creationId xmlns:a16="http://schemas.microsoft.com/office/drawing/2014/main" id="{5BA2A449-5CBA-458F-8558-2154BBC65239}"/>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Motivation: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Begrenzte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Aussagekraft</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nominaler</a:t>
            </a:r>
            <a:r>
              <a:rPr sz="1800" b="0" dirty="0">
                <a:solidFill>
                  <a:srgbClr val="404040"/>
                </a:solidFill>
                <a:latin typeface="Calibri"/>
                <a:ea typeface="Calibri"/>
                <a:cs typeface="Calibri"/>
              </a:rPr>
              <a:t> Fehler für den </a:t>
            </a:r>
            <a:r>
              <a:rPr sz="1800" b="0" dirty="0" err="1">
                <a:solidFill>
                  <a:srgbClr val="404040"/>
                </a:solidFill>
                <a:latin typeface="Calibri"/>
                <a:ea typeface="Calibri"/>
                <a:cs typeface="Calibri"/>
              </a:rPr>
              <a:t>Betrieb</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mit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gestörten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Messsignalen</a:t>
            </a:r>
            <a:endParaRPr sz="1800" b="0" dirty="0">
              <a:solidFill>
                <a:srgbClr val="404040"/>
              </a:solidFill>
              <a:latin typeface="Calibri"/>
              <a:ea typeface="Calibri"/>
              <a:cs typeface="Calibri"/>
            </a:endParaRPr>
          </a:p>
        </p:txBody>
      </p:sp>
      <p:sp>
        <p:nvSpPr>
          <p:cNvPr id="1009" name="Paper-Titel">
            <a:extLst>
              <a:ext uri="{FF2B5EF4-FFF2-40B4-BE49-F238E27FC236}">
                <a16:creationId xmlns:a16="http://schemas.microsoft.com/office/drawing/2014/main" id="{AC3B07B9-7CF1-406E-A269-428672985AE2}"/>
              </a:ext>
            </a:extLst>
          </p:cNvPr>
          <p:cNvSpPr>
            <a:spLocks noGrp="1"/>
          </p:cNvSpPr>
          <p:nvPr/>
        </p:nvSpPr>
        <p:spPr>
          <a:xfrm>
            <a:off x="552450" y="5363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dirty="0">
                <a:solidFill>
                  <a:srgbClr val="404040"/>
                </a:solidFill>
                <a:latin typeface="Calibri"/>
                <a:ea typeface="Calibri"/>
                <a:cs typeface="Calibri"/>
              </a:rPr>
              <a:t>Performance and Robustness Benchmarking Across Battery State-of-Charge Estimator Classes for Embedded Applications</a:t>
            </a:r>
          </a:p>
        </p:txBody>
      </p:sp>
      <p:sp>
        <p:nvSpPr>
          <p:cNvPr id="1008" name="Paper-Angabe">
            <a:extLst>
              <a:ext uri="{FF2B5EF4-FFF2-40B4-BE49-F238E27FC236}">
                <a16:creationId xmlns:a16="http://schemas.microsoft.com/office/drawing/2014/main" id="{D75B9F10-B105-4106-A394-89D76F200B1A}"/>
              </a:ext>
            </a:extLst>
          </p:cNvPr>
          <p:cNvSpPr>
            <a:spLocks noGrp="1"/>
          </p:cNvSpPr>
          <p:nvPr/>
        </p:nvSpPr>
        <p:spPr>
          <a:xfrm>
            <a:off x="552450" y="56114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Chen &amp; Kowal (2026), eingereichtes Manuskript bei EAAI [16]</a:t>
            </a:r>
          </a:p>
        </p:txBody>
      </p:sp>
      <p:sp>
        <p:nvSpPr>
          <p:cNvPr id="2" name="Textfeld 1">
            <a:extLst>
              <a:ext uri="{FF2B5EF4-FFF2-40B4-BE49-F238E27FC236}">
                <a16:creationId xmlns:a16="http://schemas.microsoft.com/office/drawing/2014/main" id="{DA0E4E55-2673-CF9D-5ACB-2569AB5A32AA}"/>
              </a:ext>
            </a:extLst>
          </p:cNvPr>
          <p:cNvSpPr txBox="1"/>
          <p:nvPr/>
        </p:nvSpPr>
        <p:spPr>
          <a:xfrm>
            <a:off x="5607892" y="2514457"/>
            <a:ext cx="4667247" cy="1477328"/>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Methodik:</a:t>
            </a:r>
            <a:r>
              <a:rPr lang="de-DE" dirty="0">
                <a:solidFill>
                  <a:srgbClr val="404040"/>
                </a:solidFill>
                <a:latin typeface="Calibri"/>
                <a:ea typeface="Calibri"/>
                <a:cs typeface="Calibri"/>
              </a:rPr>
              <a:t> </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Vergleich von DM, HDM, HECM und DD bei gleichen Störungen</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Messung lokaler Fehler, Recovery und Hardwarebedarf auf dem STM32</a:t>
            </a:r>
          </a:p>
        </p:txBody>
      </p:sp>
      <p:sp>
        <p:nvSpPr>
          <p:cNvPr id="5" name="Textfeld 4">
            <a:extLst>
              <a:ext uri="{FF2B5EF4-FFF2-40B4-BE49-F238E27FC236}">
                <a16:creationId xmlns:a16="http://schemas.microsoft.com/office/drawing/2014/main" id="{DD44FB6A-6287-ABE7-4BCB-D44CFB90B844}"/>
              </a:ext>
            </a:extLst>
          </p:cNvPr>
          <p:cNvSpPr txBox="1"/>
          <p:nvPr/>
        </p:nvSpPr>
        <p:spPr>
          <a:xfrm>
            <a:off x="5588702" y="4055356"/>
            <a:ext cx="4526849" cy="1200329"/>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Ziel:</a:t>
            </a:r>
            <a:r>
              <a:rPr lang="de-DE" dirty="0">
                <a:solidFill>
                  <a:srgbClr val="404040"/>
                </a:solidFill>
                <a:latin typeface="Calibri"/>
                <a:ea typeface="Calibri"/>
                <a:cs typeface="Calibri"/>
              </a:rPr>
              <a:t> Belastbare Bewertung von Genauigkeit, Störfestigkeit und</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Eignung für eingebettete BMS</a:t>
            </a:r>
          </a:p>
          <a:p>
            <a:endParaRPr lang="de-DE" dirty="0"/>
          </a:p>
        </p:txBody>
      </p:sp>
    </p:spTree>
    <p:extLst>
      <p:ext uri="{BB962C8B-B14F-4D97-AF65-F5344CB8AC3E}">
        <p14:creationId xmlns:p14="http://schemas.microsoft.com/office/powerpoint/2010/main" val="115922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14">
            <a:extLst>
              <a:ext uri="{FF2B5EF4-FFF2-40B4-BE49-F238E27FC236}">
                <a16:creationId xmlns:a16="http://schemas.microsoft.com/office/drawing/2014/main" id="{4BA1EF5A-C428-4727-AAB4-566C2042BAE1}"/>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current_model_accent_15">
            <a:extLst>
              <a:ext uri="{FF2B5EF4-FFF2-40B4-BE49-F238E27FC236}">
                <a16:creationId xmlns:a16="http://schemas.microsoft.com/office/drawing/2014/main" id="{3F1E9146-DEC1-4A2F-B3DF-73A8B2407B5F}"/>
              </a:ext>
            </a:extLst>
          </p:cNvPr>
          <p:cNvSpPr>
            <a:spLocks noGrp="1"/>
          </p:cNvSpPr>
          <p:nvPr/>
        </p:nvSpPr>
        <p:spPr>
          <a:xfrm>
            <a:off x="552450" y="1657350"/>
            <a:ext cx="28575" cy="685800"/>
          </a:xfrm>
          <a:prstGeom prst="rect">
            <a:avLst/>
          </a:prstGeom>
          <a:solidFill>
            <a:srgbClr val="D00020"/>
          </a:solidFill>
          <a:ln w="0">
            <a:noFill/>
          </a:ln>
        </p:spPr>
        <p:txBody>
          <a:bodyPr/>
          <a:lstStyle/>
          <a:p>
            <a:endParaRPr lang="de-DE"/>
          </a:p>
        </p:txBody>
      </p:sp>
      <p:sp>
        <p:nvSpPr>
          <p:cNvPr id="1002" name="BM_model_list_abbr_0_16">
            <a:extLst>
              <a:ext uri="{FF2B5EF4-FFF2-40B4-BE49-F238E27FC236}">
                <a16:creationId xmlns:a16="http://schemas.microsoft.com/office/drawing/2014/main" id="{E9B3A2B7-08A1-40E9-AC36-5EFBBEB5D54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DM</a:t>
            </a:r>
          </a:p>
        </p:txBody>
      </p:sp>
      <p:sp>
        <p:nvSpPr>
          <p:cNvPr id="1003" name="BM_model_list_family_0_17">
            <a:extLst>
              <a:ext uri="{FF2B5EF4-FFF2-40B4-BE49-F238E27FC236}">
                <a16:creationId xmlns:a16="http://schemas.microsoft.com/office/drawing/2014/main" id="{348627AA-E9A8-4F29-97B1-21794DE4B902}"/>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Direct Measurement</a:t>
            </a:r>
          </a:p>
        </p:txBody>
      </p:sp>
      <p:sp>
        <p:nvSpPr>
          <p:cNvPr id="1004" name="BM_model_focus_18">
            <a:extLst>
              <a:ext uri="{FF2B5EF4-FFF2-40B4-BE49-F238E27FC236}">
                <a16:creationId xmlns:a16="http://schemas.microsoft.com/office/drawing/2014/main" id="{C81B2C3B-2964-4BEB-BE70-CEBF60454E06}"/>
              </a:ext>
            </a:extLst>
          </p:cNvPr>
          <p:cNvSpPr>
            <a:spLocks noGrp="1"/>
          </p:cNvSpPr>
          <p:nvPr/>
        </p:nvSpPr>
        <p:spPr>
          <a:xfrm>
            <a:off x="4623757" y="1533525"/>
            <a:ext cx="5320343" cy="6191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Stromintegration mit fester Kapazität</a:t>
            </a:r>
          </a:p>
        </p:txBody>
      </p:sp>
      <p:sp>
        <p:nvSpPr>
          <p:cNvPr id="1005" name="BM_current_input_19">
            <a:extLst>
              <a:ext uri="{FF2B5EF4-FFF2-40B4-BE49-F238E27FC236}">
                <a16:creationId xmlns:a16="http://schemas.microsoft.com/office/drawing/2014/main" id="{2D03B9FB-A4FD-4543-A8D6-075CBF7275E4}"/>
              </a:ext>
            </a:extLst>
          </p:cNvPr>
          <p:cNvSpPr>
            <a:spLocks noGrp="1"/>
          </p:cNvSpPr>
          <p:nvPr/>
        </p:nvSpPr>
        <p:spPr>
          <a:xfrm>
            <a:off x="4623757" y="2638425"/>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06" name="BM_current_integral_20">
            <a:extLst>
              <a:ext uri="{FF2B5EF4-FFF2-40B4-BE49-F238E27FC236}">
                <a16:creationId xmlns:a16="http://schemas.microsoft.com/office/drawing/2014/main" id="{C15D9DFF-C607-4BA4-830C-B6B33ACEE5FB}"/>
              </a:ext>
            </a:extLst>
          </p:cNvPr>
          <p:cNvSpPr>
            <a:spLocks noGrp="1"/>
          </p:cNvSpPr>
          <p:nvPr/>
        </p:nvSpPr>
        <p:spPr>
          <a:xfrm>
            <a:off x="5637675" y="2486025"/>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07" name="BM_charge_state_21">
            <a:extLst>
              <a:ext uri="{FF2B5EF4-FFF2-40B4-BE49-F238E27FC236}">
                <a16:creationId xmlns:a16="http://schemas.microsoft.com/office/drawing/2014/main" id="{E213B900-6982-44A9-AE41-52BC2FF0C395}"/>
              </a:ext>
            </a:extLst>
          </p:cNvPr>
          <p:cNvSpPr>
            <a:spLocks noGrp="1"/>
          </p:cNvSpPr>
          <p:nvPr/>
        </p:nvSpPr>
        <p:spPr>
          <a:xfrm>
            <a:off x="5637675" y="3248025"/>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08" name="BM_fixed_capacity_22">
            <a:extLst>
              <a:ext uri="{FF2B5EF4-FFF2-40B4-BE49-F238E27FC236}">
                <a16:creationId xmlns:a16="http://schemas.microsoft.com/office/drawing/2014/main" id="{659753CA-5920-4AEB-A183-F767905E70F8}"/>
              </a:ext>
            </a:extLst>
          </p:cNvPr>
          <p:cNvSpPr>
            <a:spLocks noGrp="1"/>
          </p:cNvSpPr>
          <p:nvPr/>
        </p:nvSpPr>
        <p:spPr>
          <a:xfrm>
            <a:off x="7251221" y="2486025"/>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Cnom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konstant</a:t>
            </a:r>
          </a:p>
        </p:txBody>
      </p:sp>
      <p:sp>
        <p:nvSpPr>
          <p:cNvPr id="1009" name="BM_soc_output_23">
            <a:extLst>
              <a:ext uri="{FF2B5EF4-FFF2-40B4-BE49-F238E27FC236}">
                <a16:creationId xmlns:a16="http://schemas.microsoft.com/office/drawing/2014/main" id="{EAD96D56-5D8E-4ED2-B3F7-F36C5B19E394}"/>
              </a:ext>
            </a:extLst>
          </p:cNvPr>
          <p:cNvSpPr>
            <a:spLocks noGrp="1"/>
          </p:cNvSpPr>
          <p:nvPr/>
        </p:nvSpPr>
        <p:spPr>
          <a:xfrm>
            <a:off x="9224545" y="2638425"/>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0" name="Gerade Verbindung mit Pfeil 1009"/>
          <p:cNvCxnSpPr>
            <a:stCxn id="1005" idx="3"/>
            <a:endCxn id="1006" idx="1"/>
          </p:cNvCxnSpPr>
          <p:nvPr/>
        </p:nvCxnSpPr>
        <p:spPr>
          <a:xfrm flipV="1">
            <a:off x="5343312" y="2838450"/>
            <a:ext cx="294363" cy="4763"/>
          </a:xfrm>
          <a:prstGeom prst="straightConnector1">
            <a:avLst/>
          </a:prstGeom>
          <a:ln w="17145">
            <a:solidFill>
              <a:srgbClr val="899EAC"/>
            </a:solidFill>
            <a:tailEnd type="triangle" w="sm" len="sm"/>
          </a:ln>
        </p:spPr>
      </p:cxnSp>
      <p:cxnSp>
        <p:nvCxnSpPr>
          <p:cNvPr id="1011" name="Gerade Verbindung mit Pfeil 1010"/>
          <p:cNvCxnSpPr>
            <a:stCxn id="1006" idx="3"/>
            <a:endCxn id="1008" idx="1"/>
          </p:cNvCxnSpPr>
          <p:nvPr/>
        </p:nvCxnSpPr>
        <p:spPr>
          <a:xfrm>
            <a:off x="6760616" y="2838450"/>
            <a:ext cx="490605" cy="0"/>
          </a:xfrm>
          <a:prstGeom prst="straightConnector1">
            <a:avLst/>
          </a:prstGeom>
          <a:ln w="17145">
            <a:solidFill>
              <a:srgbClr val="899EAC"/>
            </a:solidFill>
            <a:tailEnd type="triangle" w="sm" len="sm"/>
          </a:ln>
        </p:spPr>
      </p:cxnSp>
      <p:cxnSp>
        <p:nvCxnSpPr>
          <p:cNvPr id="1012" name="Gerade Verbindung mit Pfeil 1011"/>
          <p:cNvCxnSpPr>
            <a:stCxn id="1008" idx="3"/>
            <a:endCxn id="1009" idx="1"/>
          </p:cNvCxnSpPr>
          <p:nvPr/>
        </p:nvCxnSpPr>
        <p:spPr>
          <a:xfrm>
            <a:off x="8897475" y="2838450"/>
            <a:ext cx="327070" cy="4763"/>
          </a:xfrm>
          <a:prstGeom prst="straightConnector1">
            <a:avLst/>
          </a:prstGeom>
          <a:ln w="17145">
            <a:solidFill>
              <a:srgbClr val="899EAC"/>
            </a:solidFill>
            <a:tailEnd type="triangle" w="sm" len="sm"/>
          </a:ln>
        </p:spPr>
      </p:cxnSp>
      <p:sp>
        <p:nvSpPr>
          <p:cNvPr id="1013" name="BM_full_charge_anchor_24">
            <a:extLst>
              <a:ext uri="{FF2B5EF4-FFF2-40B4-BE49-F238E27FC236}">
                <a16:creationId xmlns:a16="http://schemas.microsoft.com/office/drawing/2014/main" id="{72742640-9960-47E3-93B6-3EA1C1115813}"/>
              </a:ext>
            </a:extLst>
          </p:cNvPr>
          <p:cNvSpPr>
            <a:spLocks noGrp="1"/>
          </p:cNvSpPr>
          <p:nvPr/>
        </p:nvSpPr>
        <p:spPr>
          <a:xfrm>
            <a:off x="4983534" y="3686175"/>
            <a:ext cx="4775226" cy="342900"/>
          </a:xfrm>
          <a:prstGeom prst="rect">
            <a:avLst/>
          </a:prstGeom>
          <a:noFill/>
          <a:ln w="0">
            <a:noFill/>
          </a:ln>
        </p:spPr>
        <p:txBody>
          <a:bodyPr lIns="0" tIns="0" rIns="0" bIns="0" anchor="t">
            <a:noAutofit/>
          </a:bodyPr>
          <a:lstStyle/>
          <a:p>
            <a:pPr algn="ctr">
              <a:defRPr sz="1800" b="0">
                <a:solidFill>
                  <a:srgbClr val="777777"/>
                </a:solidFill>
                <a:latin typeface="Calibri"/>
                <a:ea typeface="Calibri"/>
                <a:cs typeface="Calibri"/>
              </a:defRPr>
            </a:pPr>
            <a:r>
              <a:rPr sz="1800" b="0">
                <a:solidFill>
                  <a:srgbClr val="777777"/>
                </a:solidFill>
                <a:latin typeface="Calibri"/>
                <a:ea typeface="Calibri"/>
                <a:cs typeface="Calibri"/>
              </a:rPr>
              <a:t>Vollade-Anker: Qc = 0</a:t>
            </a:r>
          </a:p>
        </p:txBody>
      </p:sp>
      <p:sp>
        <p:nvSpPr>
          <p:cNvPr id="1014" name="BM_principle_25">
            <a:extLst>
              <a:ext uri="{FF2B5EF4-FFF2-40B4-BE49-F238E27FC236}">
                <a16:creationId xmlns:a16="http://schemas.microsoft.com/office/drawing/2014/main" id="{3D58AB21-696E-4057-B2C4-CF07B98B3C15}"/>
              </a:ext>
            </a:extLst>
          </p:cNvPr>
          <p:cNvSpPr>
            <a:spLocks noGrp="1"/>
          </p:cNvSpPr>
          <p:nvPr/>
        </p:nvSpPr>
        <p:spPr>
          <a:xfrm>
            <a:off x="4623757" y="4324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Stromintegration und Division durch die feste Nennkapazität</a:t>
            </a:r>
          </a:p>
        </p:txBody>
      </p:sp>
      <p:sp>
        <p:nvSpPr>
          <p:cNvPr id="1015" name="BM_benefit_26">
            <a:extLst>
              <a:ext uri="{FF2B5EF4-FFF2-40B4-BE49-F238E27FC236}">
                <a16:creationId xmlns:a16="http://schemas.microsoft.com/office/drawing/2014/main" id="{213F54ED-C6E5-49EC-80C1-5D81E345D749}"/>
              </a:ext>
            </a:extLst>
          </p:cNvPr>
          <p:cNvSpPr>
            <a:spLocks noGrp="1"/>
          </p:cNvSpPr>
          <p:nvPr/>
        </p:nvSpPr>
        <p:spPr>
          <a:xfrm>
            <a:off x="4623757" y="5086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Transparente Referenz mit geringem Rechen- und Speicherbedarf</a:t>
            </a:r>
          </a:p>
        </p:txBody>
      </p:sp>
      <p:sp>
        <p:nvSpPr>
          <p:cNvPr id="1016" name="Footer – Seitennummer">
            <a:extLst>
              <a:ext uri="{FF2B5EF4-FFF2-40B4-BE49-F238E27FC236}">
                <a16:creationId xmlns:a16="http://schemas.microsoft.com/office/drawing/2014/main" id="{01ABD18F-8F51-4702-847D-FDEEC84D20D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14 / 40</a:t>
            </a:r>
          </a:p>
        </p:txBody>
      </p:sp>
      <p:sp>
        <p:nvSpPr>
          <p:cNvPr id="1017" name="Footer – Präsentationsangaben">
            <a:extLst>
              <a:ext uri="{FF2B5EF4-FFF2-40B4-BE49-F238E27FC236}">
                <a16:creationId xmlns:a16="http://schemas.microsoft.com/office/drawing/2014/main" id="{B6FD85E3-9312-4595-A791-7477FE34F16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19" name="Quellenverweis 1014">
            <a:extLst>
              <a:ext uri="{FF2B5EF4-FFF2-40B4-BE49-F238E27FC236}">
                <a16:creationId xmlns:a16="http://schemas.microsoft.com/office/drawing/2014/main" id="{155131C2-495B-4FA8-9107-8E9893D038A4}"/>
              </a:ext>
            </a:extLst>
          </p:cNvPr>
          <p:cNvSpPr>
            <a:spLocks noGrp="1"/>
          </p:cNvSpPr>
          <p:nvPr/>
        </p:nvSpPr>
        <p:spPr>
          <a:xfrm>
            <a:off x="6014010" y="459864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[17]</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27">
            <a:extLst>
              <a:ext uri="{FF2B5EF4-FFF2-40B4-BE49-F238E27FC236}">
                <a16:creationId xmlns:a16="http://schemas.microsoft.com/office/drawing/2014/main" id="{D090818E-8A46-4660-B63C-ED140CC0DD42}"/>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28">
            <a:extLst>
              <a:ext uri="{FF2B5EF4-FFF2-40B4-BE49-F238E27FC236}">
                <a16:creationId xmlns:a16="http://schemas.microsoft.com/office/drawing/2014/main" id="{31DAD3AA-7F7E-4ABB-A513-FC2C7155E863}"/>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29">
            <a:extLst>
              <a:ext uri="{FF2B5EF4-FFF2-40B4-BE49-F238E27FC236}">
                <a16:creationId xmlns:a16="http://schemas.microsoft.com/office/drawing/2014/main" id="{D404B5E8-4DED-446D-AC5D-2E09CD7F2B78}"/>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current_model_accent_30">
            <a:extLst>
              <a:ext uri="{FF2B5EF4-FFF2-40B4-BE49-F238E27FC236}">
                <a16:creationId xmlns:a16="http://schemas.microsoft.com/office/drawing/2014/main" id="{901487F5-C07A-4260-87C7-87302B83A619}"/>
              </a:ext>
            </a:extLst>
          </p:cNvPr>
          <p:cNvSpPr>
            <a:spLocks noGrp="1"/>
          </p:cNvSpPr>
          <p:nvPr/>
        </p:nvSpPr>
        <p:spPr>
          <a:xfrm>
            <a:off x="552450" y="2724150"/>
            <a:ext cx="28575" cy="685800"/>
          </a:xfrm>
          <a:prstGeom prst="rect">
            <a:avLst/>
          </a:prstGeom>
          <a:solidFill>
            <a:srgbClr val="D00020"/>
          </a:solidFill>
          <a:ln w="0">
            <a:noFill/>
          </a:ln>
        </p:spPr>
        <p:txBody>
          <a:bodyPr/>
          <a:lstStyle/>
          <a:p>
            <a:endParaRPr lang="de-DE"/>
          </a:p>
        </p:txBody>
      </p:sp>
      <p:sp>
        <p:nvSpPr>
          <p:cNvPr id="1004" name="BM_model_list_abbr_1_31">
            <a:extLst>
              <a:ext uri="{FF2B5EF4-FFF2-40B4-BE49-F238E27FC236}">
                <a16:creationId xmlns:a16="http://schemas.microsoft.com/office/drawing/2014/main" id="{22EE6A51-4950-41BD-99BF-E9E2AC782DE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HDM</a:t>
            </a:r>
          </a:p>
        </p:txBody>
      </p:sp>
      <p:sp>
        <p:nvSpPr>
          <p:cNvPr id="1005" name="BM_model_list_family_1_32">
            <a:extLst>
              <a:ext uri="{FF2B5EF4-FFF2-40B4-BE49-F238E27FC236}">
                <a16:creationId xmlns:a16="http://schemas.microsoft.com/office/drawing/2014/main" id="{E7B6528A-EF8B-4A9F-A4A1-0A630D8D65CC}"/>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Direct Measurement</a:t>
            </a:r>
          </a:p>
        </p:txBody>
      </p:sp>
      <p:sp>
        <p:nvSpPr>
          <p:cNvPr id="1006" name="BM_model_focus_33">
            <a:extLst>
              <a:ext uri="{FF2B5EF4-FFF2-40B4-BE49-F238E27FC236}">
                <a16:creationId xmlns:a16="http://schemas.microsoft.com/office/drawing/2014/main" id="{F5B91AF9-7C7C-4E5E-9619-80CFD69C7A3E}"/>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Kapazitätsanpassung mit SOH</a:t>
            </a:r>
          </a:p>
        </p:txBody>
      </p:sp>
      <p:sp>
        <p:nvSpPr>
          <p:cNvPr id="1007" name="BM_hourly_features_34">
            <a:extLst>
              <a:ext uri="{FF2B5EF4-FFF2-40B4-BE49-F238E27FC236}">
                <a16:creationId xmlns:a16="http://schemas.microsoft.com/office/drawing/2014/main" id="{4749087C-69B7-43CB-8AFB-AA4A6947ACFF}"/>
              </a:ext>
            </a:extLst>
          </p:cNvPr>
          <p:cNvSpPr>
            <a:spLocks noGrp="1"/>
          </p:cNvSpPr>
          <p:nvPr/>
        </p:nvSpPr>
        <p:spPr>
          <a:xfrm>
            <a:off x="4623757" y="1943100"/>
            <a:ext cx="1330086" cy="5524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Stunden-</a:t>
            </a:r>
          </a:p>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Features</a:t>
            </a:r>
          </a:p>
        </p:txBody>
      </p:sp>
      <p:sp>
        <p:nvSpPr>
          <p:cNvPr id="1008" name="BM_soh_lstm_35">
            <a:extLst>
              <a:ext uri="{FF2B5EF4-FFF2-40B4-BE49-F238E27FC236}">
                <a16:creationId xmlns:a16="http://schemas.microsoft.com/office/drawing/2014/main" id="{413EDCF4-D382-41B7-B508-35E95D78F7FF}"/>
              </a:ext>
            </a:extLst>
          </p:cNvPr>
          <p:cNvSpPr>
            <a:spLocks noGrp="1"/>
          </p:cNvSpPr>
          <p:nvPr/>
        </p:nvSpPr>
        <p:spPr>
          <a:xfrm>
            <a:off x="6302718" y="1952625"/>
            <a:ext cx="1384597" cy="5429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p:txBody>
      </p:sp>
      <p:sp>
        <p:nvSpPr>
          <p:cNvPr id="1009" name="BM_soh_output_36">
            <a:extLst>
              <a:ext uri="{FF2B5EF4-FFF2-40B4-BE49-F238E27FC236}">
                <a16:creationId xmlns:a16="http://schemas.microsoft.com/office/drawing/2014/main" id="{645EEA0D-E204-4973-8F06-56DEF3972EC5}"/>
              </a:ext>
            </a:extLst>
          </p:cNvPr>
          <p:cNvSpPr>
            <a:spLocks noGrp="1"/>
          </p:cNvSpPr>
          <p:nvPr/>
        </p:nvSpPr>
        <p:spPr>
          <a:xfrm>
            <a:off x="8199725" y="2038350"/>
            <a:ext cx="763164" cy="3619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SOH</a:t>
            </a:r>
          </a:p>
        </p:txBody>
      </p:sp>
      <p:cxnSp>
        <p:nvCxnSpPr>
          <p:cNvPr id="1010" name="Gerade Verbindung mit Pfeil 1009"/>
          <p:cNvCxnSpPr>
            <a:stCxn id="1007" idx="3"/>
            <a:endCxn id="1008" idx="1"/>
          </p:cNvCxnSpPr>
          <p:nvPr/>
        </p:nvCxnSpPr>
        <p:spPr>
          <a:xfrm>
            <a:off x="5953843" y="2219325"/>
            <a:ext cx="348875" cy="4763"/>
          </a:xfrm>
          <a:prstGeom prst="straightConnector1">
            <a:avLst/>
          </a:prstGeom>
          <a:ln w="17145">
            <a:solidFill>
              <a:srgbClr val="899EAC"/>
            </a:solidFill>
            <a:tailEnd type="triangle" w="sm" len="sm"/>
          </a:ln>
        </p:spPr>
      </p:cxnSp>
      <p:cxnSp>
        <p:nvCxnSpPr>
          <p:cNvPr id="1011" name="Gerade Verbindung mit Pfeil 1010"/>
          <p:cNvCxnSpPr>
            <a:stCxn id="1008" idx="3"/>
            <a:endCxn id="1009" idx="1"/>
          </p:cNvCxnSpPr>
          <p:nvPr/>
        </p:nvCxnSpPr>
        <p:spPr>
          <a:xfrm flipV="1">
            <a:off x="7687315" y="2219325"/>
            <a:ext cx="512410" cy="4763"/>
          </a:xfrm>
          <a:prstGeom prst="straightConnector1">
            <a:avLst/>
          </a:prstGeom>
          <a:ln w="17145">
            <a:solidFill>
              <a:srgbClr val="899EAC"/>
            </a:solidFill>
            <a:tailEnd type="triangle" w="sm" len="sm"/>
          </a:ln>
        </p:spPr>
      </p:cxnSp>
      <p:sp>
        <p:nvSpPr>
          <p:cNvPr id="1012" name="BM_current_input_37">
            <a:extLst>
              <a:ext uri="{FF2B5EF4-FFF2-40B4-BE49-F238E27FC236}">
                <a16:creationId xmlns:a16="http://schemas.microsoft.com/office/drawing/2014/main" id="{871E6050-7ED5-43F6-A2E0-D43FC69A5986}"/>
              </a:ext>
            </a:extLst>
          </p:cNvPr>
          <p:cNvSpPr>
            <a:spLocks noGrp="1"/>
          </p:cNvSpPr>
          <p:nvPr/>
        </p:nvSpPr>
        <p:spPr>
          <a:xfrm>
            <a:off x="4623757" y="3257550"/>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13" name="BM_current_integral_38">
            <a:extLst>
              <a:ext uri="{FF2B5EF4-FFF2-40B4-BE49-F238E27FC236}">
                <a16:creationId xmlns:a16="http://schemas.microsoft.com/office/drawing/2014/main" id="{936B857B-7B33-4541-86E4-76730F9E1DD7}"/>
              </a:ext>
            </a:extLst>
          </p:cNvPr>
          <p:cNvSpPr>
            <a:spLocks noGrp="1"/>
          </p:cNvSpPr>
          <p:nvPr/>
        </p:nvSpPr>
        <p:spPr>
          <a:xfrm>
            <a:off x="5637675" y="3105150"/>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14" name="BM_charge_state_39">
            <a:extLst>
              <a:ext uri="{FF2B5EF4-FFF2-40B4-BE49-F238E27FC236}">
                <a16:creationId xmlns:a16="http://schemas.microsoft.com/office/drawing/2014/main" id="{3E159DB6-6397-45C0-8120-8A6C4D1475CD}"/>
              </a:ext>
            </a:extLst>
          </p:cNvPr>
          <p:cNvSpPr>
            <a:spLocks noGrp="1"/>
          </p:cNvSpPr>
          <p:nvPr/>
        </p:nvSpPr>
        <p:spPr>
          <a:xfrm>
            <a:off x="5637675" y="3867150"/>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15" name="BM_effective_capacity_40">
            <a:extLst>
              <a:ext uri="{FF2B5EF4-FFF2-40B4-BE49-F238E27FC236}">
                <a16:creationId xmlns:a16="http://schemas.microsoft.com/office/drawing/2014/main" id="{D275DB93-C2B9-4FB7-BCD2-46D38F822B07}"/>
              </a:ext>
            </a:extLst>
          </p:cNvPr>
          <p:cNvSpPr>
            <a:spLocks noGrp="1"/>
          </p:cNvSpPr>
          <p:nvPr/>
        </p:nvSpPr>
        <p:spPr>
          <a:xfrm>
            <a:off x="7251221" y="3105150"/>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Ceff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Cnom × SOH</a:t>
            </a:r>
          </a:p>
        </p:txBody>
      </p:sp>
      <p:sp>
        <p:nvSpPr>
          <p:cNvPr id="1016" name="BM_soc_output_41">
            <a:extLst>
              <a:ext uri="{FF2B5EF4-FFF2-40B4-BE49-F238E27FC236}">
                <a16:creationId xmlns:a16="http://schemas.microsoft.com/office/drawing/2014/main" id="{42E36825-A23A-4686-9B22-431A891754ED}"/>
              </a:ext>
            </a:extLst>
          </p:cNvPr>
          <p:cNvSpPr>
            <a:spLocks noGrp="1"/>
          </p:cNvSpPr>
          <p:nvPr/>
        </p:nvSpPr>
        <p:spPr>
          <a:xfrm>
            <a:off x="9224545" y="3257550"/>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2" idx="3"/>
            <a:endCxn id="1013" idx="1"/>
          </p:cNvCxnSpPr>
          <p:nvPr/>
        </p:nvCxnSpPr>
        <p:spPr>
          <a:xfrm flipV="1">
            <a:off x="5343312" y="3457575"/>
            <a:ext cx="294363" cy="4763"/>
          </a:xfrm>
          <a:prstGeom prst="straightConnector1">
            <a:avLst/>
          </a:prstGeom>
          <a:ln w="17145">
            <a:solidFill>
              <a:srgbClr val="899EAC"/>
            </a:solidFill>
            <a:tailEnd type="triangle" w="sm" len="sm"/>
          </a:ln>
        </p:spPr>
      </p:cxnSp>
      <p:cxnSp>
        <p:nvCxnSpPr>
          <p:cNvPr id="1018" name="Gerade Verbindung mit Pfeil 1017"/>
          <p:cNvCxnSpPr>
            <a:stCxn id="1013" idx="3"/>
            <a:endCxn id="1015" idx="1"/>
          </p:cNvCxnSpPr>
          <p:nvPr/>
        </p:nvCxnSpPr>
        <p:spPr>
          <a:xfrm>
            <a:off x="6760616" y="3457575"/>
            <a:ext cx="490605" cy="0"/>
          </a:xfrm>
          <a:prstGeom prst="straightConnector1">
            <a:avLst/>
          </a:prstGeom>
          <a:ln w="17145">
            <a:solidFill>
              <a:srgbClr val="899EAC"/>
            </a:solidFill>
            <a:tailEnd type="triangle" w="sm" len="sm"/>
          </a:ln>
        </p:spPr>
      </p:cxnSp>
      <p:cxnSp>
        <p:nvCxnSpPr>
          <p:cNvPr id="1019" name="Gerade Verbindung mit Pfeil 1018"/>
          <p:cNvCxnSpPr>
            <a:stCxn id="1015" idx="3"/>
            <a:endCxn id="1016" idx="1"/>
          </p:cNvCxnSpPr>
          <p:nvPr/>
        </p:nvCxnSpPr>
        <p:spPr>
          <a:xfrm>
            <a:off x="8897475" y="3457575"/>
            <a:ext cx="327070" cy="4763"/>
          </a:xfrm>
          <a:prstGeom prst="straightConnector1">
            <a:avLst/>
          </a:prstGeom>
          <a:ln w="17145">
            <a:solidFill>
              <a:srgbClr val="899EAC"/>
            </a:solidFill>
            <a:tailEnd type="triangle" w="sm" len="sm"/>
          </a:ln>
        </p:spPr>
      </p:cxnSp>
      <p:cxnSp>
        <p:nvCxnSpPr>
          <p:cNvPr id="1020" name="Verbinder: gewinkelt 1019"/>
          <p:cNvCxnSpPr>
            <a:stCxn id="1009" idx="2"/>
            <a:endCxn id="1015" idx="0"/>
          </p:cNvCxnSpPr>
          <p:nvPr/>
        </p:nvCxnSpPr>
        <p:spPr>
          <a:xfrm flipH="1">
            <a:off x="8074348" y="2400300"/>
            <a:ext cx="506959" cy="704850"/>
          </a:xfrm>
          <a:prstGeom prst="bentConnector4">
            <a:avLst>
              <a:gd name="adj1" fmla="val 0"/>
              <a:gd name="adj2" fmla="val 50000"/>
            </a:avLst>
          </a:prstGeom>
          <a:ln w="17145">
            <a:solidFill>
              <a:srgbClr val="899EAC"/>
            </a:solidFill>
            <a:tailEnd type="triangle" w="sm" len="sm"/>
          </a:ln>
        </p:spPr>
      </p:cxnSp>
      <p:sp>
        <p:nvSpPr>
          <p:cNvPr id="1021" name="BM_benefit_42">
            <a:extLst>
              <a:ext uri="{FF2B5EF4-FFF2-40B4-BE49-F238E27FC236}">
                <a16:creationId xmlns:a16="http://schemas.microsoft.com/office/drawing/2014/main" id="{192A7C4A-05D5-4989-AEA1-E4F2B8A9CC2D}"/>
              </a:ext>
            </a:extLst>
          </p:cNvPr>
          <p:cNvSpPr>
            <a:spLocks noGrp="1"/>
          </p:cNvSpPr>
          <p:nvPr/>
        </p:nvSpPr>
        <p:spPr>
          <a:xfrm>
            <a:off x="4623757" y="4324350"/>
            <a:ext cx="5320343" cy="6286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Berücksichtigung des Kapazitätsverlusts bei gleichem Integrationskern</a:t>
            </a:r>
          </a:p>
        </p:txBody>
      </p:sp>
      <p:sp>
        <p:nvSpPr>
          <p:cNvPr id="1022" name="BM_lstm_function_43">
            <a:extLst>
              <a:ext uri="{FF2B5EF4-FFF2-40B4-BE49-F238E27FC236}">
                <a16:creationId xmlns:a16="http://schemas.microsoft.com/office/drawing/2014/main" id="{4FF06190-20DF-4D69-A720-CFEF4FEF1F45}"/>
              </a:ext>
            </a:extLst>
          </p:cNvPr>
          <p:cNvSpPr>
            <a:spLocks noGrp="1"/>
          </p:cNvSpPr>
          <p:nvPr/>
        </p:nvSpPr>
        <p:spPr>
          <a:xfrm>
            <a:off x="4623757" y="5029200"/>
            <a:ext cx="5320343" cy="7715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LSTM: </a:t>
            </a:r>
            <a:r>
              <a:t>Historie im Cell State, Steuerung von Erhalt, Aktualisierung und Ausgabe durch Gates</a:t>
            </a:r>
          </a:p>
        </p:txBody>
      </p:sp>
      <p:sp>
        <p:nvSpPr>
          <p:cNvPr id="1023" name="Footer – Seitennummer">
            <a:extLst>
              <a:ext uri="{FF2B5EF4-FFF2-40B4-BE49-F238E27FC236}">
                <a16:creationId xmlns:a16="http://schemas.microsoft.com/office/drawing/2014/main" id="{691F9AAE-7ACA-47BF-987F-2252C287371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15 / 40</a:t>
            </a:r>
          </a:p>
        </p:txBody>
      </p:sp>
      <p:sp>
        <p:nvSpPr>
          <p:cNvPr id="1024" name="Footer – Präsentationsangaben">
            <a:extLst>
              <a:ext uri="{FF2B5EF4-FFF2-40B4-BE49-F238E27FC236}">
                <a16:creationId xmlns:a16="http://schemas.microsoft.com/office/drawing/2014/main" id="{3F1D2929-A928-4F5D-AD71-91C3B63D14B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FD30C43E-CFD8-48D8-A9D2-83B48351586F}"/>
              </a:ext>
            </a:extLst>
          </p:cNvPr>
          <p:cNvSpPr>
            <a:spLocks noGrp="1"/>
          </p:cNvSpPr>
          <p:nvPr/>
        </p:nvSpPr>
        <p:spPr>
          <a:xfrm>
            <a:off x="8417284" y="530352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44">
            <a:extLst>
              <a:ext uri="{FF2B5EF4-FFF2-40B4-BE49-F238E27FC236}">
                <a16:creationId xmlns:a16="http://schemas.microsoft.com/office/drawing/2014/main" id="{E075B3F1-EE50-471F-9809-655BD7C71333}"/>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45">
            <a:extLst>
              <a:ext uri="{FF2B5EF4-FFF2-40B4-BE49-F238E27FC236}">
                <a16:creationId xmlns:a16="http://schemas.microsoft.com/office/drawing/2014/main" id="{65D2FD4A-C90B-4E54-B154-E87698D0FEB2}"/>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46">
            <a:extLst>
              <a:ext uri="{FF2B5EF4-FFF2-40B4-BE49-F238E27FC236}">
                <a16:creationId xmlns:a16="http://schemas.microsoft.com/office/drawing/2014/main" id="{F8CAB524-B11F-4574-8205-D218A56A67C0}"/>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47">
            <a:extLst>
              <a:ext uri="{FF2B5EF4-FFF2-40B4-BE49-F238E27FC236}">
                <a16:creationId xmlns:a16="http://schemas.microsoft.com/office/drawing/2014/main" id="{691132EA-AF57-4D04-B8F2-B638E6761A3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48">
            <a:extLst>
              <a:ext uri="{FF2B5EF4-FFF2-40B4-BE49-F238E27FC236}">
                <a16:creationId xmlns:a16="http://schemas.microsoft.com/office/drawing/2014/main" id="{5339E8C8-8B26-4BCC-9EE8-6C15D2FD2255}"/>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current_model_accent_49">
            <a:extLst>
              <a:ext uri="{FF2B5EF4-FFF2-40B4-BE49-F238E27FC236}">
                <a16:creationId xmlns:a16="http://schemas.microsoft.com/office/drawing/2014/main" id="{A895B32D-4623-44A6-A24D-C7924227942A}"/>
              </a:ext>
            </a:extLst>
          </p:cNvPr>
          <p:cNvSpPr>
            <a:spLocks noGrp="1"/>
          </p:cNvSpPr>
          <p:nvPr/>
        </p:nvSpPr>
        <p:spPr>
          <a:xfrm>
            <a:off x="552450" y="3790950"/>
            <a:ext cx="28575" cy="685800"/>
          </a:xfrm>
          <a:prstGeom prst="rect">
            <a:avLst/>
          </a:prstGeom>
          <a:solidFill>
            <a:srgbClr val="D00020"/>
          </a:solidFill>
          <a:ln w="0">
            <a:noFill/>
          </a:ln>
        </p:spPr>
        <p:txBody>
          <a:bodyPr/>
          <a:lstStyle/>
          <a:p>
            <a:endParaRPr lang="de-DE"/>
          </a:p>
        </p:txBody>
      </p:sp>
      <p:sp>
        <p:nvSpPr>
          <p:cNvPr id="1006" name="BM_model_list_abbr_2_50">
            <a:extLst>
              <a:ext uri="{FF2B5EF4-FFF2-40B4-BE49-F238E27FC236}">
                <a16:creationId xmlns:a16="http://schemas.microsoft.com/office/drawing/2014/main" id="{DC29B502-08AE-494A-8659-9DE4677420C3}"/>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HECM</a:t>
            </a:r>
          </a:p>
        </p:txBody>
      </p:sp>
      <p:sp>
        <p:nvSpPr>
          <p:cNvPr id="1007" name="BM_model_list_family_2_51">
            <a:extLst>
              <a:ext uri="{FF2B5EF4-FFF2-40B4-BE49-F238E27FC236}">
                <a16:creationId xmlns:a16="http://schemas.microsoft.com/office/drawing/2014/main" id="{7BA25A73-33C7-42A1-8570-224D0DAF2D67}"/>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Equivalent-Circuit Model</a:t>
            </a:r>
          </a:p>
        </p:txBody>
      </p:sp>
      <p:sp>
        <p:nvSpPr>
          <p:cNvPr id="1008" name="BM_model_focus_52">
            <a:extLst>
              <a:ext uri="{FF2B5EF4-FFF2-40B4-BE49-F238E27FC236}">
                <a16:creationId xmlns:a16="http://schemas.microsoft.com/office/drawing/2014/main" id="{549B2B4D-C051-44DB-BB0E-734AE14A8CE4}"/>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Spannungsfeedback für SOC</a:t>
            </a:r>
          </a:p>
        </p:txBody>
      </p:sp>
      <p:sp>
        <p:nvSpPr>
          <p:cNvPr id="1009" name="BM_soh_lstm_53">
            <a:extLst>
              <a:ext uri="{FF2B5EF4-FFF2-40B4-BE49-F238E27FC236}">
                <a16:creationId xmlns:a16="http://schemas.microsoft.com/office/drawing/2014/main" id="{54CA6F18-0996-4771-A267-A7C1813CC150}"/>
              </a:ext>
            </a:extLst>
          </p:cNvPr>
          <p:cNvSpPr>
            <a:spLocks noGrp="1"/>
          </p:cNvSpPr>
          <p:nvPr/>
        </p:nvSpPr>
        <p:spPr>
          <a:xfrm>
            <a:off x="4710976" y="2009775"/>
            <a:ext cx="1460914" cy="6191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a:t>
            </a:r>
          </a:p>
        </p:txBody>
      </p:sp>
      <p:sp>
        <p:nvSpPr>
          <p:cNvPr id="1010" name="BM_soh_parameters_54">
            <a:extLst>
              <a:ext uri="{FF2B5EF4-FFF2-40B4-BE49-F238E27FC236}">
                <a16:creationId xmlns:a16="http://schemas.microsoft.com/office/drawing/2014/main" id="{361C6906-36C8-4FED-BC74-3AD990E72166}"/>
              </a:ext>
            </a:extLst>
          </p:cNvPr>
          <p:cNvSpPr>
            <a:spLocks noGrp="1"/>
          </p:cNvSpPr>
          <p:nvPr/>
        </p:nvSpPr>
        <p:spPr>
          <a:xfrm>
            <a:off x="6826030" y="2009775"/>
            <a:ext cx="2638367" cy="61912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Kapazität und</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SOH-Kennfelder</a:t>
            </a:r>
          </a:p>
        </p:txBody>
      </p:sp>
      <p:cxnSp>
        <p:nvCxnSpPr>
          <p:cNvPr id="1011" name="Gerade Verbindung mit Pfeil 1010"/>
          <p:cNvCxnSpPr>
            <a:stCxn id="1009" idx="3"/>
            <a:endCxn id="1010" idx="1"/>
          </p:cNvCxnSpPr>
          <p:nvPr/>
        </p:nvCxnSpPr>
        <p:spPr>
          <a:xfrm>
            <a:off x="6171890" y="2319338"/>
            <a:ext cx="654140" cy="0"/>
          </a:xfrm>
          <a:prstGeom prst="straightConnector1">
            <a:avLst/>
          </a:prstGeom>
          <a:ln w="17145">
            <a:solidFill>
              <a:srgbClr val="899EAC"/>
            </a:solidFill>
            <a:tailEnd type="triangle" w="sm" len="sm"/>
          </a:ln>
        </p:spPr>
      </p:cxnSp>
      <p:sp>
        <p:nvSpPr>
          <p:cNvPr id="1012" name="BM_current_input_55">
            <a:extLst>
              <a:ext uri="{FF2B5EF4-FFF2-40B4-BE49-F238E27FC236}">
                <a16:creationId xmlns:a16="http://schemas.microsoft.com/office/drawing/2014/main" id="{7D12A11B-6446-409F-AA54-C954703D19E3}"/>
              </a:ext>
            </a:extLst>
          </p:cNvPr>
          <p:cNvSpPr>
            <a:spLocks noGrp="1"/>
          </p:cNvSpPr>
          <p:nvPr/>
        </p:nvSpPr>
        <p:spPr>
          <a:xfrm>
            <a:off x="4623757" y="3248025"/>
            <a:ext cx="479703"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a:t>
            </a:r>
          </a:p>
        </p:txBody>
      </p:sp>
      <p:sp>
        <p:nvSpPr>
          <p:cNvPr id="1013" name="BM_two_rc_model_56">
            <a:extLst>
              <a:ext uri="{FF2B5EF4-FFF2-40B4-BE49-F238E27FC236}">
                <a16:creationId xmlns:a16="http://schemas.microsoft.com/office/drawing/2014/main" id="{5BC6470A-FADE-4AF7-B75B-D8528E0DF2CE}"/>
              </a:ext>
            </a:extLst>
          </p:cNvPr>
          <p:cNvSpPr>
            <a:spLocks noGrp="1"/>
          </p:cNvSpPr>
          <p:nvPr/>
        </p:nvSpPr>
        <p:spPr>
          <a:xfrm>
            <a:off x="5354214" y="3095625"/>
            <a:ext cx="188610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2RC-Modell</a:t>
            </a:r>
          </a:p>
        </p:txBody>
      </p:sp>
      <p:sp>
        <p:nvSpPr>
          <p:cNvPr id="1014" name="BM_ekf_correction_57">
            <a:extLst>
              <a:ext uri="{FF2B5EF4-FFF2-40B4-BE49-F238E27FC236}">
                <a16:creationId xmlns:a16="http://schemas.microsoft.com/office/drawing/2014/main" id="{B5DBCA9C-8411-472F-82D6-519A3617883C}"/>
              </a:ext>
            </a:extLst>
          </p:cNvPr>
          <p:cNvSpPr>
            <a:spLocks noGrp="1"/>
          </p:cNvSpPr>
          <p:nvPr/>
        </p:nvSpPr>
        <p:spPr>
          <a:xfrm>
            <a:off x="7959874" y="3095625"/>
            <a:ext cx="192971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EKF-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Korrektur</a:t>
            </a:r>
          </a:p>
        </p:txBody>
      </p:sp>
      <p:sp>
        <p:nvSpPr>
          <p:cNvPr id="1015" name="BM_measured_voltage_58">
            <a:extLst>
              <a:ext uri="{FF2B5EF4-FFF2-40B4-BE49-F238E27FC236}">
                <a16:creationId xmlns:a16="http://schemas.microsoft.com/office/drawing/2014/main" id="{841FFF5F-1782-441A-99F6-B365B5CA9D7A}"/>
              </a:ext>
            </a:extLst>
          </p:cNvPr>
          <p:cNvSpPr>
            <a:spLocks noGrp="1"/>
          </p:cNvSpPr>
          <p:nvPr/>
        </p:nvSpPr>
        <p:spPr>
          <a:xfrm>
            <a:off x="8254237" y="2724150"/>
            <a:ext cx="1613547"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U gemessen</a:t>
            </a:r>
          </a:p>
        </p:txBody>
      </p:sp>
      <p:sp>
        <p:nvSpPr>
          <p:cNvPr id="1016" name="BM_soc_output_59">
            <a:extLst>
              <a:ext uri="{FF2B5EF4-FFF2-40B4-BE49-F238E27FC236}">
                <a16:creationId xmlns:a16="http://schemas.microsoft.com/office/drawing/2014/main" id="{DCE3712D-7D78-4E0B-8465-C5430322417D}"/>
              </a:ext>
            </a:extLst>
          </p:cNvPr>
          <p:cNvSpPr>
            <a:spLocks noGrp="1"/>
          </p:cNvSpPr>
          <p:nvPr/>
        </p:nvSpPr>
        <p:spPr>
          <a:xfrm>
            <a:off x="8428674" y="3943350"/>
            <a:ext cx="992113" cy="3333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Verbinder: gewinkelt 1016"/>
          <p:cNvCxnSpPr>
            <a:stCxn id="1010" idx="2"/>
            <a:endCxn id="1013" idx="0"/>
          </p:cNvCxnSpPr>
          <p:nvPr/>
        </p:nvCxnSpPr>
        <p:spPr>
          <a:xfrm flipH="1">
            <a:off x="6297267" y="2628900"/>
            <a:ext cx="1847947" cy="466725"/>
          </a:xfrm>
          <a:prstGeom prst="bentConnector4">
            <a:avLst>
              <a:gd name="adj1" fmla="val 0"/>
              <a:gd name="adj2" fmla="val 50000"/>
            </a:avLst>
          </a:prstGeom>
          <a:ln w="17145">
            <a:solidFill>
              <a:srgbClr val="899EAC"/>
            </a:solidFill>
            <a:tailEnd type="triangle" w="sm" len="sm"/>
          </a:ln>
        </p:spPr>
      </p:cxnSp>
      <p:cxnSp>
        <p:nvCxnSpPr>
          <p:cNvPr id="1018" name="Gerade Verbindung mit Pfeil 1017"/>
          <p:cNvCxnSpPr>
            <a:stCxn id="1012" idx="3"/>
            <a:endCxn id="1013" idx="1"/>
          </p:cNvCxnSpPr>
          <p:nvPr/>
        </p:nvCxnSpPr>
        <p:spPr>
          <a:xfrm flipV="1">
            <a:off x="5103460" y="3448050"/>
            <a:ext cx="250754" cy="4763"/>
          </a:xfrm>
          <a:prstGeom prst="straightConnector1">
            <a:avLst/>
          </a:prstGeom>
          <a:ln w="17145">
            <a:solidFill>
              <a:srgbClr val="899EAC"/>
            </a:solidFill>
            <a:tailEnd type="triangle" w="sm" len="sm"/>
          </a:ln>
        </p:spPr>
      </p:cxnSp>
      <p:cxnSp>
        <p:nvCxnSpPr>
          <p:cNvPr id="1019" name="Gerade Verbindung mit Pfeil 1018"/>
          <p:cNvCxnSpPr>
            <a:stCxn id="1013" idx="3"/>
            <a:endCxn id="1014" idx="1"/>
          </p:cNvCxnSpPr>
          <p:nvPr/>
        </p:nvCxnSpPr>
        <p:spPr>
          <a:xfrm>
            <a:off x="7240319" y="3448050"/>
            <a:ext cx="719555" cy="0"/>
          </a:xfrm>
          <a:prstGeom prst="straightConnector1">
            <a:avLst/>
          </a:prstGeom>
          <a:ln w="17145">
            <a:solidFill>
              <a:srgbClr val="899EAC"/>
            </a:solidFill>
            <a:tailEnd type="triangle" w="sm" len="sm"/>
          </a:ln>
        </p:spPr>
      </p:cxnSp>
      <p:cxnSp>
        <p:nvCxnSpPr>
          <p:cNvPr id="1020" name="Gerade Verbindung mit Pfeil 1019"/>
          <p:cNvCxnSpPr>
            <a:stCxn id="1015" idx="2"/>
            <a:endCxn id="1014" idx="0"/>
          </p:cNvCxnSpPr>
          <p:nvPr/>
        </p:nvCxnSpPr>
        <p:spPr>
          <a:xfrm flipH="1">
            <a:off x="8924732" y="3019425"/>
            <a:ext cx="136279" cy="76200"/>
          </a:xfrm>
          <a:prstGeom prst="straightConnector1">
            <a:avLst/>
          </a:prstGeom>
          <a:ln w="17145">
            <a:solidFill>
              <a:srgbClr val="899EAC"/>
            </a:solidFill>
            <a:tailEnd type="triangle" w="sm" len="sm"/>
          </a:ln>
        </p:spPr>
      </p:cxnSp>
      <p:cxnSp>
        <p:nvCxnSpPr>
          <p:cNvPr id="1021" name="Gerade Verbindung mit Pfeil 1020"/>
          <p:cNvCxnSpPr>
            <a:stCxn id="1014" idx="2"/>
            <a:endCxn id="1016" idx="0"/>
          </p:cNvCxnSpPr>
          <p:nvPr/>
        </p:nvCxnSpPr>
        <p:spPr>
          <a:xfrm flipH="1">
            <a:off x="8924731" y="3800475"/>
            <a:ext cx="1" cy="142875"/>
          </a:xfrm>
          <a:prstGeom prst="straightConnector1">
            <a:avLst/>
          </a:prstGeom>
          <a:ln w="17145">
            <a:solidFill>
              <a:srgbClr val="899EAC"/>
            </a:solidFill>
            <a:tailEnd type="triangle" w="sm" len="sm"/>
          </a:ln>
        </p:spPr>
      </p:cxnSp>
      <p:sp>
        <p:nvSpPr>
          <p:cNvPr id="1022" name="BM_predicted_voltage_60">
            <a:extLst>
              <a:ext uri="{FF2B5EF4-FFF2-40B4-BE49-F238E27FC236}">
                <a16:creationId xmlns:a16="http://schemas.microsoft.com/office/drawing/2014/main" id="{8F8597B3-ECE1-4262-A46B-6173B6379311}"/>
              </a:ext>
            </a:extLst>
          </p:cNvPr>
          <p:cNvSpPr>
            <a:spLocks noGrp="1"/>
          </p:cNvSpPr>
          <p:nvPr/>
        </p:nvSpPr>
        <p:spPr>
          <a:xfrm>
            <a:off x="7371147" y="3171825"/>
            <a:ext cx="457898"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Û</a:t>
            </a:r>
          </a:p>
        </p:txBody>
      </p:sp>
      <p:sp>
        <p:nvSpPr>
          <p:cNvPr id="1023" name="BM_principle_61">
            <a:extLst>
              <a:ext uri="{FF2B5EF4-FFF2-40B4-BE49-F238E27FC236}">
                <a16:creationId xmlns:a16="http://schemas.microsoft.com/office/drawing/2014/main" id="{5B8D1D82-401E-43D4-AE34-40012F966EC4}"/>
              </a:ext>
            </a:extLst>
          </p:cNvPr>
          <p:cNvSpPr>
            <a:spLocks noGrp="1"/>
          </p:cNvSpPr>
          <p:nvPr/>
        </p:nvSpPr>
        <p:spPr>
          <a:xfrm>
            <a:off x="4623757" y="4438650"/>
            <a:ext cx="5320343" cy="7143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Zustandskorrektur durch den EKF über die Spannungsabweichung U − Û</a:t>
            </a:r>
          </a:p>
        </p:txBody>
      </p:sp>
      <p:sp>
        <p:nvSpPr>
          <p:cNvPr id="1024" name="BM_benefit_62">
            <a:extLst>
              <a:ext uri="{FF2B5EF4-FFF2-40B4-BE49-F238E27FC236}">
                <a16:creationId xmlns:a16="http://schemas.microsoft.com/office/drawing/2014/main" id="{9881A825-1E7C-4009-B78E-9A30BA171C8B}"/>
              </a:ext>
            </a:extLst>
          </p:cNvPr>
          <p:cNvSpPr>
            <a:spLocks noGrp="1"/>
          </p:cNvSpPr>
          <p:nvPr/>
        </p:nvSpPr>
        <p:spPr>
          <a:xfrm>
            <a:off x="4623757" y="5210175"/>
            <a:ext cx="5320343" cy="6000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Verbindung von physikalischer Dynamik, SOH-Anpassung und Messfeedback</a:t>
            </a:r>
          </a:p>
        </p:txBody>
      </p:sp>
      <p:sp>
        <p:nvSpPr>
          <p:cNvPr id="1025" name="Footer – Seitennummer">
            <a:extLst>
              <a:ext uri="{FF2B5EF4-FFF2-40B4-BE49-F238E27FC236}">
                <a16:creationId xmlns:a16="http://schemas.microsoft.com/office/drawing/2014/main" id="{8FCDDD2F-02AD-4CB4-9E07-29CAAEB8A36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16 / 40</a:t>
            </a:r>
          </a:p>
        </p:txBody>
      </p:sp>
      <p:sp>
        <p:nvSpPr>
          <p:cNvPr id="1026" name="Footer – Präsentationsangaben">
            <a:extLst>
              <a:ext uri="{FF2B5EF4-FFF2-40B4-BE49-F238E27FC236}">
                <a16:creationId xmlns:a16="http://schemas.microsoft.com/office/drawing/2014/main" id="{6976D9FF-8CCD-48F9-87C4-811110233FD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8" name="Quellenverweis 1013">
            <a:extLst>
              <a:ext uri="{FF2B5EF4-FFF2-40B4-BE49-F238E27FC236}">
                <a16:creationId xmlns:a16="http://schemas.microsoft.com/office/drawing/2014/main" id="{196DAB8B-E95B-4C9F-99D6-5773CB80085B}"/>
              </a:ext>
            </a:extLst>
          </p:cNvPr>
          <p:cNvSpPr>
            <a:spLocks noGrp="1"/>
          </p:cNvSpPr>
          <p:nvPr/>
        </p:nvSpPr>
        <p:spPr>
          <a:xfrm>
            <a:off x="6889318" y="338676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[17]</a:t>
            </a:r>
          </a:p>
        </p:txBody>
      </p:sp>
      <p:sp>
        <p:nvSpPr>
          <p:cNvPr id="1029" name="Quellenverweis 1023">
            <a:extLst>
              <a:ext uri="{FF2B5EF4-FFF2-40B4-BE49-F238E27FC236}">
                <a16:creationId xmlns:a16="http://schemas.microsoft.com/office/drawing/2014/main" id="{0ACDDAA0-4A39-4760-B30F-DD17CB2BA78E}"/>
              </a:ext>
            </a:extLst>
          </p:cNvPr>
          <p:cNvSpPr>
            <a:spLocks noGrp="1"/>
          </p:cNvSpPr>
          <p:nvPr/>
        </p:nvSpPr>
        <p:spPr>
          <a:xfrm>
            <a:off x="7366408" y="4712754"/>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[19]</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63">
            <a:extLst>
              <a:ext uri="{FF2B5EF4-FFF2-40B4-BE49-F238E27FC236}">
                <a16:creationId xmlns:a16="http://schemas.microsoft.com/office/drawing/2014/main" id="{1043F74B-199B-41C6-8CB9-4BCC5E538C06}"/>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64">
            <a:extLst>
              <a:ext uri="{FF2B5EF4-FFF2-40B4-BE49-F238E27FC236}">
                <a16:creationId xmlns:a16="http://schemas.microsoft.com/office/drawing/2014/main" id="{00B2ADCA-FCBA-4651-8A0B-FCB2EC09262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65">
            <a:extLst>
              <a:ext uri="{FF2B5EF4-FFF2-40B4-BE49-F238E27FC236}">
                <a16:creationId xmlns:a16="http://schemas.microsoft.com/office/drawing/2014/main" id="{984ECDD9-89A1-4CEE-A69E-000E4894EE7D}"/>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66">
            <a:extLst>
              <a:ext uri="{FF2B5EF4-FFF2-40B4-BE49-F238E27FC236}">
                <a16:creationId xmlns:a16="http://schemas.microsoft.com/office/drawing/2014/main" id="{AB3EFDDD-7825-434F-9AF5-7BE8C854FB1B}"/>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67">
            <a:extLst>
              <a:ext uri="{FF2B5EF4-FFF2-40B4-BE49-F238E27FC236}">
                <a16:creationId xmlns:a16="http://schemas.microsoft.com/office/drawing/2014/main" id="{CE8D45B2-33ED-4DB1-9E36-5B9F8F2D8F7A}"/>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model_list_abbr_2_68">
            <a:extLst>
              <a:ext uri="{FF2B5EF4-FFF2-40B4-BE49-F238E27FC236}">
                <a16:creationId xmlns:a16="http://schemas.microsoft.com/office/drawing/2014/main" id="{A3BCA225-4B6F-4BE9-A3CF-ABB922288CEF}"/>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HECM</a:t>
            </a:r>
          </a:p>
        </p:txBody>
      </p:sp>
      <p:sp>
        <p:nvSpPr>
          <p:cNvPr id="1006" name="BM_model_list_family_2_69">
            <a:extLst>
              <a:ext uri="{FF2B5EF4-FFF2-40B4-BE49-F238E27FC236}">
                <a16:creationId xmlns:a16="http://schemas.microsoft.com/office/drawing/2014/main" id="{930BAE54-D368-427A-818D-CFA2FE49A206}"/>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Equivalent-Circuit Model</a:t>
            </a:r>
          </a:p>
        </p:txBody>
      </p:sp>
      <p:sp>
        <p:nvSpPr>
          <p:cNvPr id="1007" name="BM_current_model_accent_70">
            <a:extLst>
              <a:ext uri="{FF2B5EF4-FFF2-40B4-BE49-F238E27FC236}">
                <a16:creationId xmlns:a16="http://schemas.microsoft.com/office/drawing/2014/main" id="{CCB31E5A-886B-42A0-A2CB-F20215A44F1B}"/>
              </a:ext>
            </a:extLst>
          </p:cNvPr>
          <p:cNvSpPr>
            <a:spLocks noGrp="1"/>
          </p:cNvSpPr>
          <p:nvPr/>
        </p:nvSpPr>
        <p:spPr>
          <a:xfrm>
            <a:off x="552450" y="4857750"/>
            <a:ext cx="28575" cy="685800"/>
          </a:xfrm>
          <a:prstGeom prst="rect">
            <a:avLst/>
          </a:prstGeom>
          <a:solidFill>
            <a:srgbClr val="D00020"/>
          </a:solidFill>
          <a:ln w="0">
            <a:noFill/>
          </a:ln>
        </p:spPr>
        <p:txBody>
          <a:bodyPr/>
          <a:lstStyle/>
          <a:p>
            <a:endParaRPr lang="de-DE"/>
          </a:p>
        </p:txBody>
      </p:sp>
      <p:sp>
        <p:nvSpPr>
          <p:cNvPr id="1008" name="BM_model_list_abbr_3_71">
            <a:extLst>
              <a:ext uri="{FF2B5EF4-FFF2-40B4-BE49-F238E27FC236}">
                <a16:creationId xmlns:a16="http://schemas.microsoft.com/office/drawing/2014/main" id="{90CF01B6-7DE2-448C-86D6-82D4DBF7AC76}"/>
              </a:ext>
            </a:extLst>
          </p:cNvPr>
          <p:cNvSpPr>
            <a:spLocks noGrp="1"/>
          </p:cNvSpPr>
          <p:nvPr/>
        </p:nvSpPr>
        <p:spPr>
          <a:xfrm>
            <a:off x="762000" y="48291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DD</a:t>
            </a:r>
          </a:p>
        </p:txBody>
      </p:sp>
      <p:sp>
        <p:nvSpPr>
          <p:cNvPr id="1009" name="BM_model_list_family_3_72">
            <a:extLst>
              <a:ext uri="{FF2B5EF4-FFF2-40B4-BE49-F238E27FC236}">
                <a16:creationId xmlns:a16="http://schemas.microsoft.com/office/drawing/2014/main" id="{01135DF6-A683-450B-8953-7057BA4656E4}"/>
              </a:ext>
            </a:extLst>
          </p:cNvPr>
          <p:cNvSpPr>
            <a:spLocks noGrp="1"/>
          </p:cNvSpPr>
          <p:nvPr/>
        </p:nvSpPr>
        <p:spPr>
          <a:xfrm>
            <a:off x="762000" y="52006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Data-Driven Model</a:t>
            </a:r>
          </a:p>
        </p:txBody>
      </p:sp>
      <p:sp>
        <p:nvSpPr>
          <p:cNvPr id="1010" name="BM_model_focus_73">
            <a:extLst>
              <a:ext uri="{FF2B5EF4-FFF2-40B4-BE49-F238E27FC236}">
                <a16:creationId xmlns:a16="http://schemas.microsoft.com/office/drawing/2014/main" id="{B4248301-25FD-4B2B-BD0F-9DC7552601C3}"/>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SOC aus der Signalhistorie</a:t>
            </a:r>
          </a:p>
        </p:txBody>
      </p:sp>
      <p:sp>
        <p:nvSpPr>
          <p:cNvPr id="1011" name="BM_soh_lstm_74">
            <a:extLst>
              <a:ext uri="{FF2B5EF4-FFF2-40B4-BE49-F238E27FC236}">
                <a16:creationId xmlns:a16="http://schemas.microsoft.com/office/drawing/2014/main" id="{8196F697-9B53-4D2A-821D-2A66F3C76038}"/>
              </a:ext>
            </a:extLst>
          </p:cNvPr>
          <p:cNvSpPr>
            <a:spLocks noGrp="1"/>
          </p:cNvSpPr>
          <p:nvPr/>
        </p:nvSpPr>
        <p:spPr>
          <a:xfrm>
            <a:off x="4645562" y="2076450"/>
            <a:ext cx="1755277" cy="514350"/>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 · SOH</a:t>
            </a:r>
          </a:p>
        </p:txBody>
      </p:sp>
      <p:sp>
        <p:nvSpPr>
          <p:cNvPr id="1012" name="BM_soc_window_75">
            <a:extLst>
              <a:ext uri="{FF2B5EF4-FFF2-40B4-BE49-F238E27FC236}">
                <a16:creationId xmlns:a16="http://schemas.microsoft.com/office/drawing/2014/main" id="{05BDF49E-6628-4680-848A-43D58BB5C7AF}"/>
              </a:ext>
            </a:extLst>
          </p:cNvPr>
          <p:cNvSpPr>
            <a:spLocks noGrp="1"/>
          </p:cNvSpPr>
          <p:nvPr/>
        </p:nvSpPr>
        <p:spPr>
          <a:xfrm>
            <a:off x="6815128" y="2619375"/>
            <a:ext cx="3085363" cy="266700"/>
          </a:xfrm>
          <a:prstGeom prst="rect">
            <a:avLst/>
          </a:prstGeom>
          <a:noFill/>
          <a:ln w="0">
            <a:noFill/>
          </a:ln>
        </p:spPr>
        <p:txBody>
          <a:bodyPr lIns="0" tIns="0" rIns="0" bIns="0" anchor="t">
            <a:noAutofit/>
          </a:bodyPr>
          <a:lstStyle/>
          <a:p>
            <a:pPr algn="l">
              <a:defRPr sz="1800" b="0">
                <a:solidFill>
                  <a:srgbClr val="777777"/>
                </a:solidFill>
                <a:latin typeface="Calibri"/>
                <a:ea typeface="Calibri"/>
                <a:cs typeface="Calibri"/>
              </a:defRPr>
            </a:pPr>
            <a:r>
              <a:rPr sz="1800" b="0">
                <a:solidFill>
                  <a:srgbClr val="777777"/>
                </a:solidFill>
                <a:latin typeface="Calibri"/>
                <a:ea typeface="Calibri"/>
                <a:cs typeface="Calibri"/>
              </a:rPr>
              <a:t>Fenster: 2024 Samples</a:t>
            </a:r>
          </a:p>
        </p:txBody>
      </p:sp>
      <p:sp>
        <p:nvSpPr>
          <p:cNvPr id="1013" name="BM_causal_features_76">
            <a:extLst>
              <a:ext uri="{FF2B5EF4-FFF2-40B4-BE49-F238E27FC236}">
                <a16:creationId xmlns:a16="http://schemas.microsoft.com/office/drawing/2014/main" id="{A99F748C-7569-4E02-93AD-2CCBD31D4B5B}"/>
              </a:ext>
            </a:extLst>
          </p:cNvPr>
          <p:cNvSpPr>
            <a:spLocks noGrp="1"/>
          </p:cNvSpPr>
          <p:nvPr/>
        </p:nvSpPr>
        <p:spPr>
          <a:xfrm>
            <a:off x="4591050" y="2924175"/>
            <a:ext cx="180978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U, I, T, Qc,</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dU/dt, dI/dt,</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Δt, SOH</a:t>
            </a:r>
          </a:p>
        </p:txBody>
      </p:sp>
      <p:sp>
        <p:nvSpPr>
          <p:cNvPr id="1014" name="BM_soc_gru_77">
            <a:extLst>
              <a:ext uri="{FF2B5EF4-FFF2-40B4-BE49-F238E27FC236}">
                <a16:creationId xmlns:a16="http://schemas.microsoft.com/office/drawing/2014/main" id="{74AF9B76-2D85-4DE9-A51E-CA4ACFE08805}"/>
              </a:ext>
            </a:extLst>
          </p:cNvPr>
          <p:cNvSpPr>
            <a:spLocks noGrp="1"/>
          </p:cNvSpPr>
          <p:nvPr/>
        </p:nvSpPr>
        <p:spPr>
          <a:xfrm>
            <a:off x="6815128" y="2924175"/>
            <a:ext cx="143910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GRU</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67 Einheiten</a:t>
            </a:r>
          </a:p>
        </p:txBody>
      </p:sp>
      <p:sp>
        <p:nvSpPr>
          <p:cNvPr id="1015" name="BM_soc_mlp_head_78">
            <a:extLst>
              <a:ext uri="{FF2B5EF4-FFF2-40B4-BE49-F238E27FC236}">
                <a16:creationId xmlns:a16="http://schemas.microsoft.com/office/drawing/2014/main" id="{39BA232A-E78D-4913-8BA4-ACBC4E556287}"/>
              </a:ext>
            </a:extLst>
          </p:cNvPr>
          <p:cNvSpPr>
            <a:spLocks noGrp="1"/>
          </p:cNvSpPr>
          <p:nvPr/>
        </p:nvSpPr>
        <p:spPr>
          <a:xfrm>
            <a:off x="8701233" y="3057525"/>
            <a:ext cx="1242867" cy="63817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MLP-</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Head</a:t>
            </a:r>
          </a:p>
        </p:txBody>
      </p:sp>
      <p:sp>
        <p:nvSpPr>
          <p:cNvPr id="1016" name="BM_soc_output_79">
            <a:extLst>
              <a:ext uri="{FF2B5EF4-FFF2-40B4-BE49-F238E27FC236}">
                <a16:creationId xmlns:a16="http://schemas.microsoft.com/office/drawing/2014/main" id="{57C04BB8-61C4-4F1E-AFEB-CF3DD21FFB1B}"/>
              </a:ext>
            </a:extLst>
          </p:cNvPr>
          <p:cNvSpPr>
            <a:spLocks noGrp="1"/>
          </p:cNvSpPr>
          <p:nvPr/>
        </p:nvSpPr>
        <p:spPr>
          <a:xfrm>
            <a:off x="8919280" y="3943350"/>
            <a:ext cx="795871" cy="34290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1" idx="2"/>
            <a:endCxn id="1013" idx="0"/>
          </p:cNvCxnSpPr>
          <p:nvPr/>
        </p:nvCxnSpPr>
        <p:spPr>
          <a:xfrm flipH="1">
            <a:off x="5495945" y="2590800"/>
            <a:ext cx="27256" cy="333375"/>
          </a:xfrm>
          <a:prstGeom prst="straightConnector1">
            <a:avLst/>
          </a:prstGeom>
          <a:ln w="17145">
            <a:solidFill>
              <a:srgbClr val="899EAC"/>
            </a:solidFill>
            <a:tailEnd type="triangle" w="sm" len="sm"/>
          </a:ln>
        </p:spPr>
      </p:cxnSp>
      <p:cxnSp>
        <p:nvCxnSpPr>
          <p:cNvPr id="1018" name="Gerade Verbindung mit Pfeil 1017"/>
          <p:cNvCxnSpPr>
            <a:stCxn id="1013" idx="3"/>
            <a:endCxn id="1014" idx="1"/>
          </p:cNvCxnSpPr>
          <p:nvPr/>
        </p:nvCxnSpPr>
        <p:spPr>
          <a:xfrm>
            <a:off x="6400839" y="3381375"/>
            <a:ext cx="414289" cy="0"/>
          </a:xfrm>
          <a:prstGeom prst="straightConnector1">
            <a:avLst/>
          </a:prstGeom>
          <a:ln w="17145">
            <a:solidFill>
              <a:srgbClr val="899EAC"/>
            </a:solidFill>
            <a:tailEnd type="triangle" w="sm" len="sm"/>
          </a:ln>
        </p:spPr>
      </p:cxnSp>
      <p:cxnSp>
        <p:nvCxnSpPr>
          <p:cNvPr id="1019" name="Gerade Verbindung mit Pfeil 1018"/>
          <p:cNvCxnSpPr>
            <a:stCxn id="1014" idx="3"/>
            <a:endCxn id="1015" idx="1"/>
          </p:cNvCxnSpPr>
          <p:nvPr/>
        </p:nvCxnSpPr>
        <p:spPr>
          <a:xfrm flipV="1">
            <a:off x="8254237" y="3376613"/>
            <a:ext cx="446996" cy="4763"/>
          </a:xfrm>
          <a:prstGeom prst="straightConnector1">
            <a:avLst/>
          </a:prstGeom>
          <a:ln w="17145">
            <a:solidFill>
              <a:srgbClr val="899EAC"/>
            </a:solidFill>
            <a:tailEnd type="triangle" w="sm" len="sm"/>
          </a:ln>
        </p:spPr>
      </p:cxnSp>
      <p:cxnSp>
        <p:nvCxnSpPr>
          <p:cNvPr id="1020" name="Gerade Verbindung mit Pfeil 1019"/>
          <p:cNvCxnSpPr>
            <a:stCxn id="1015" idx="2"/>
            <a:endCxn id="1016" idx="0"/>
          </p:cNvCxnSpPr>
          <p:nvPr/>
        </p:nvCxnSpPr>
        <p:spPr>
          <a:xfrm flipH="1">
            <a:off x="9317216" y="3695700"/>
            <a:ext cx="5451" cy="247650"/>
          </a:xfrm>
          <a:prstGeom prst="straightConnector1">
            <a:avLst/>
          </a:prstGeom>
          <a:ln w="17145">
            <a:solidFill>
              <a:srgbClr val="899EAC"/>
            </a:solidFill>
            <a:tailEnd type="triangle" w="sm" len="sm"/>
          </a:ln>
        </p:spPr>
      </p:cxnSp>
      <p:sp>
        <p:nvSpPr>
          <p:cNvPr id="1021" name="BM_benefit_80">
            <a:extLst>
              <a:ext uri="{FF2B5EF4-FFF2-40B4-BE49-F238E27FC236}">
                <a16:creationId xmlns:a16="http://schemas.microsoft.com/office/drawing/2014/main" id="{74EABBB7-1B83-4BBE-83C0-A5C0B32FD6A4}"/>
              </a:ext>
            </a:extLst>
          </p:cNvPr>
          <p:cNvSpPr>
            <a:spLocks noGrp="1"/>
          </p:cNvSpPr>
          <p:nvPr/>
        </p:nvSpPr>
        <p:spPr>
          <a:xfrm>
            <a:off x="4623757" y="4438650"/>
            <a:ext cx="5320343" cy="6572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Erfassung zeitlicher Zusammenhänge aus Messsignalen und kausalen Features</a:t>
            </a:r>
          </a:p>
        </p:txBody>
      </p:sp>
      <p:sp>
        <p:nvSpPr>
          <p:cNvPr id="1022" name="BM_gru_function_81">
            <a:extLst>
              <a:ext uri="{FF2B5EF4-FFF2-40B4-BE49-F238E27FC236}">
                <a16:creationId xmlns:a16="http://schemas.microsoft.com/office/drawing/2014/main" id="{53F1C23A-9DB3-4798-980C-18A6B05D902D}"/>
              </a:ext>
            </a:extLst>
          </p:cNvPr>
          <p:cNvSpPr>
            <a:spLocks noGrp="1"/>
          </p:cNvSpPr>
          <p:nvPr/>
        </p:nvSpPr>
        <p:spPr>
          <a:xfrm>
            <a:off x="4623757" y="5086350"/>
            <a:ext cx="5320343" cy="7334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GRU: </a:t>
            </a:r>
            <a:r>
              <a:t>Hidden State, Update zur Zustandsmischung, Reset für die Historie im Kandidaten</a:t>
            </a:r>
          </a:p>
        </p:txBody>
      </p:sp>
      <p:sp>
        <p:nvSpPr>
          <p:cNvPr id="1023" name="Footer – Seitennummer">
            <a:extLst>
              <a:ext uri="{FF2B5EF4-FFF2-40B4-BE49-F238E27FC236}">
                <a16:creationId xmlns:a16="http://schemas.microsoft.com/office/drawing/2014/main" id="{372B6EA7-3212-4797-A5F9-95928F9A1D6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17 / 40</a:t>
            </a:r>
          </a:p>
        </p:txBody>
      </p:sp>
      <p:sp>
        <p:nvSpPr>
          <p:cNvPr id="1024" name="Footer – Präsentationsangaben">
            <a:extLst>
              <a:ext uri="{FF2B5EF4-FFF2-40B4-BE49-F238E27FC236}">
                <a16:creationId xmlns:a16="http://schemas.microsoft.com/office/drawing/2014/main" id="{32B9255E-73A0-4EB4-8F56-BB57AD995FF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7D8E351B-59D1-4755-A39B-37A153678FB6}"/>
              </a:ext>
            </a:extLst>
          </p:cNvPr>
          <p:cNvSpPr>
            <a:spLocks noGrp="1"/>
          </p:cNvSpPr>
          <p:nvPr/>
        </p:nvSpPr>
        <p:spPr>
          <a:xfrm>
            <a:off x="7443903" y="5360759"/>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0">
            <a:extLst>
              <a:ext uri="{FF2B5EF4-FFF2-40B4-BE49-F238E27FC236}">
                <a16:creationId xmlns:a16="http://schemas.microsoft.com/office/drawing/2014/main" id="{C4713D94-D986-45B1-876A-75A62E3C3E5F}"/>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0">
            <a:extLst>
              <a:ext uri="{FF2B5EF4-FFF2-40B4-BE49-F238E27FC236}">
                <a16:creationId xmlns:a16="http://schemas.microsoft.com/office/drawing/2014/main" id="{660EED15-1F99-46E0-9E98-8B5EB2AB78E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0">
            <a:extLst>
              <a:ext uri="{FF2B5EF4-FFF2-40B4-BE49-F238E27FC236}">
                <a16:creationId xmlns:a16="http://schemas.microsoft.com/office/drawing/2014/main" id="{6A8157B7-6D49-4F33-BD19-BE17D34735A9}"/>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Initialization Errors</a:t>
            </a:r>
          </a:p>
        </p:txBody>
      </p:sp>
      <p:sp>
        <p:nvSpPr>
          <p:cNvPr id="2003" name="DS_section_title_0_0">
            <a:extLst>
              <a:ext uri="{FF2B5EF4-FFF2-40B4-BE49-F238E27FC236}">
                <a16:creationId xmlns:a16="http://schemas.microsoft.com/office/drawing/2014/main" id="{CA2BC267-8D94-4802-B1B1-7467C97BB33C}"/>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0_0">
            <a:extLst>
              <a:ext uri="{FF2B5EF4-FFF2-40B4-BE49-F238E27FC236}">
                <a16:creationId xmlns:a16="http://schemas.microsoft.com/office/drawing/2014/main" id="{C8FB9A3D-CA81-444B-8133-B61EAA45FAF2}"/>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BMS-Neustart oder längere Lagerung ohne aktuelle SOC-Historie</a:t>
            </a:r>
          </a:p>
        </p:txBody>
      </p:sp>
      <p:sp>
        <p:nvSpPr>
          <p:cNvPr id="2005" name="DS_section_title_0_1">
            <a:extLst>
              <a:ext uri="{FF2B5EF4-FFF2-40B4-BE49-F238E27FC236}">
                <a16:creationId xmlns:a16="http://schemas.microsoft.com/office/drawing/2014/main" id="{11596507-80AF-451A-8E5D-62E81193F68B}"/>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0_1">
            <a:extLst>
              <a:ext uri="{FF2B5EF4-FFF2-40B4-BE49-F238E27FC236}">
                <a16:creationId xmlns:a16="http://schemas.microsoft.com/office/drawing/2014/main" id="{3C494AB1-B3AA-4085-8B27-BB3A274544E0}"/>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Anhaltende SOC-Abweichung oder verzögerte Recovery bei flacher LFP-OCV-Kennlinie</a:t>
            </a:r>
          </a:p>
        </p:txBody>
      </p:sp>
      <p:sp>
        <p:nvSpPr>
          <p:cNvPr id="2007" name="DS_current_family_0">
            <a:extLst>
              <a:ext uri="{FF2B5EF4-FFF2-40B4-BE49-F238E27FC236}">
                <a16:creationId xmlns:a16="http://schemas.microsoft.com/office/drawing/2014/main" id="{CA3F9C03-AA7C-4081-80D1-28345CCDB67B}"/>
              </a:ext>
            </a:extLst>
          </p:cNvPr>
          <p:cNvSpPr>
            <a:spLocks noGrp="1"/>
          </p:cNvSpPr>
          <p:nvPr/>
        </p:nvSpPr>
        <p:spPr>
          <a:xfrm>
            <a:off x="8446743" y="3062794"/>
            <a:ext cx="1459923" cy="217117"/>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8717CD81-1E7D-4817-80FE-1EBF45DC463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18 / 40</a:t>
            </a:r>
          </a:p>
        </p:txBody>
      </p:sp>
      <p:sp>
        <p:nvSpPr>
          <p:cNvPr id="2009" name="Footer – Präsentationsangaben">
            <a:extLst>
              <a:ext uri="{FF2B5EF4-FFF2-40B4-BE49-F238E27FC236}">
                <a16:creationId xmlns:a16="http://schemas.microsoft.com/office/drawing/2014/main" id="{3985F732-C318-4A8F-B103-01CB5CE1D67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F89AAF0F-BA75-42DB-8495-9DC43D776E6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6">
            <a:extLst>
              <a:ext uri="{FF2B5EF4-FFF2-40B4-BE49-F238E27FC236}">
                <a16:creationId xmlns:a16="http://schemas.microsoft.com/office/drawing/2014/main" id="{D40C2B6F-8D90-4DF5-A76D-058F8471BBDA}"/>
              </a:ext>
            </a:extLst>
          </p:cNvPr>
          <p:cNvSpPr>
            <a:spLocks noGrp="1"/>
          </p:cNvSpPr>
          <p:nvPr/>
        </p:nvSpPr>
        <p:spPr>
          <a:xfrm>
            <a:off x="2514841" y="4863605"/>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1">
            <a:extLst>
              <a:ext uri="{FF2B5EF4-FFF2-40B4-BE49-F238E27FC236}">
                <a16:creationId xmlns:a16="http://schemas.microsoft.com/office/drawing/2014/main" id="{C9621CF2-2747-49C5-A944-91F639F2CD7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1">
            <a:extLst>
              <a:ext uri="{FF2B5EF4-FFF2-40B4-BE49-F238E27FC236}">
                <a16:creationId xmlns:a16="http://schemas.microsoft.com/office/drawing/2014/main" id="{7B6F0E97-599E-491B-B311-874ACCBE4FFF}"/>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1">
            <a:extLst>
              <a:ext uri="{FF2B5EF4-FFF2-40B4-BE49-F238E27FC236}">
                <a16:creationId xmlns:a16="http://schemas.microsoft.com/office/drawing/2014/main" id="{3C015F48-80E7-4FE5-BD9A-73AB224B660A}"/>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Input Disturbances</a:t>
            </a:r>
          </a:p>
        </p:txBody>
      </p:sp>
      <p:sp>
        <p:nvSpPr>
          <p:cNvPr id="2003" name="DS_section_title_1_0">
            <a:extLst>
              <a:ext uri="{FF2B5EF4-FFF2-40B4-BE49-F238E27FC236}">
                <a16:creationId xmlns:a16="http://schemas.microsoft.com/office/drawing/2014/main" id="{A033D743-D088-4C6E-8143-1221385BC2A4}"/>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1_0">
            <a:extLst>
              <a:ext uri="{FF2B5EF4-FFF2-40B4-BE49-F238E27FC236}">
                <a16:creationId xmlns:a16="http://schemas.microsoft.com/office/drawing/2014/main" id="{DFA948F3-12A7-4125-A842-AFCF2C95771E}"/>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Sensordrift, Fehlkalibrierung und</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elektromagnetische</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Störungen</a:t>
            </a:r>
          </a:p>
        </p:txBody>
      </p:sp>
      <p:sp>
        <p:nvSpPr>
          <p:cNvPr id="2005" name="DS_section_title_1_1">
            <a:extLst>
              <a:ext uri="{FF2B5EF4-FFF2-40B4-BE49-F238E27FC236}">
                <a16:creationId xmlns:a16="http://schemas.microsoft.com/office/drawing/2014/main" id="{09117536-4A23-40B5-A0C6-20E44AFCB680}"/>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1_1">
            <a:extLst>
              <a:ext uri="{FF2B5EF4-FFF2-40B4-BE49-F238E27FC236}">
                <a16:creationId xmlns:a16="http://schemas.microsoft.com/office/drawing/2014/main" id="{7E326C64-35AE-4082-8536-29113770F6B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SOC-Drift, verfälschtes Spannungsfeedback und fehlerhafte NN-Features</a:t>
            </a:r>
          </a:p>
        </p:txBody>
      </p:sp>
      <p:sp>
        <p:nvSpPr>
          <p:cNvPr id="2007" name="DS_current_family_1">
            <a:extLst>
              <a:ext uri="{FF2B5EF4-FFF2-40B4-BE49-F238E27FC236}">
                <a16:creationId xmlns:a16="http://schemas.microsoft.com/office/drawing/2014/main" id="{C4E2FE63-1DE9-46E6-9370-75B0C20509CF}"/>
              </a:ext>
            </a:extLst>
          </p:cNvPr>
          <p:cNvSpPr>
            <a:spLocks noGrp="1"/>
          </p:cNvSpPr>
          <p:nvPr/>
        </p:nvSpPr>
        <p:spPr>
          <a:xfrm>
            <a:off x="8274547" y="4305600"/>
            <a:ext cx="1388798" cy="213373"/>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ED485245-E0D3-4199-A5F3-1E3F0BBF5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19 / 40</a:t>
            </a:r>
          </a:p>
        </p:txBody>
      </p:sp>
      <p:sp>
        <p:nvSpPr>
          <p:cNvPr id="2009" name="Footer – Präsentationsangaben">
            <a:extLst>
              <a:ext uri="{FF2B5EF4-FFF2-40B4-BE49-F238E27FC236}">
                <a16:creationId xmlns:a16="http://schemas.microsoft.com/office/drawing/2014/main" id="{0A82B06A-E6A2-4718-B348-C840766C47D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2943424E-A2B7-4D5B-8C58-86D7ED8ED3A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DCB0AD3B-2531-4711-B27A-A953828D8E92}"/>
              </a:ext>
            </a:extLst>
          </p:cNvPr>
          <p:cNvSpPr>
            <a:spLocks noGrp="1"/>
          </p:cNvSpPr>
          <p:nvPr/>
        </p:nvSpPr>
        <p:spPr>
          <a:xfrm>
            <a:off x="1777194" y="3215640"/>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[7]</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2">
            <a:extLst>
              <a:ext uri="{FF2B5EF4-FFF2-40B4-BE49-F238E27FC236}">
                <a16:creationId xmlns:a16="http://schemas.microsoft.com/office/drawing/2014/main" id="{23B9B85B-9AB5-4C30-9185-9906C31B5EA9}"/>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2">
            <a:extLst>
              <a:ext uri="{FF2B5EF4-FFF2-40B4-BE49-F238E27FC236}">
                <a16:creationId xmlns:a16="http://schemas.microsoft.com/office/drawing/2014/main" id="{940AAE7D-42A3-49A2-8A93-55DFE78A6248}"/>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2">
            <a:extLst>
              <a:ext uri="{FF2B5EF4-FFF2-40B4-BE49-F238E27FC236}">
                <a16:creationId xmlns:a16="http://schemas.microsoft.com/office/drawing/2014/main" id="{EEAB2DE9-BE8B-45DE-992D-B8140644873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Signal-Integrity Faults</a:t>
            </a:r>
          </a:p>
        </p:txBody>
      </p:sp>
      <p:sp>
        <p:nvSpPr>
          <p:cNvPr id="2003" name="DS_section_title_2_0">
            <a:extLst>
              <a:ext uri="{FF2B5EF4-FFF2-40B4-BE49-F238E27FC236}">
                <a16:creationId xmlns:a16="http://schemas.microsoft.com/office/drawing/2014/main" id="{2699534F-A07E-4D71-A149-21C10654227F}"/>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2_0">
            <a:extLst>
              <a:ext uri="{FF2B5EF4-FFF2-40B4-BE49-F238E27FC236}">
                <a16:creationId xmlns:a16="http://schemas.microsoft.com/office/drawing/2014/main" id="{9F899C93-F505-4043-AB86-DE0A61DE7AB8}"/>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Paketverluste, Kommunikationsausfälle und variable Task- oder Bus-Latenzen</a:t>
            </a:r>
          </a:p>
        </p:txBody>
      </p:sp>
      <p:sp>
        <p:nvSpPr>
          <p:cNvPr id="2005" name="DS_section_title_2_1">
            <a:extLst>
              <a:ext uri="{FF2B5EF4-FFF2-40B4-BE49-F238E27FC236}">
                <a16:creationId xmlns:a16="http://schemas.microsoft.com/office/drawing/2014/main" id="{B7AF7160-3D0F-443F-B8CC-7FE1157F91DD}"/>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2_1">
            <a:extLst>
              <a:ext uri="{FF2B5EF4-FFF2-40B4-BE49-F238E27FC236}">
                <a16:creationId xmlns:a16="http://schemas.microsoft.com/office/drawing/2014/main" id="{15373B4E-649D-4728-B6F6-8FBEB434A806}"/>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Fehlerhafte Ladungsbilanz und verfälschte Signalhistorie bei weiterlaufendem Zellbetrieb</a:t>
            </a:r>
          </a:p>
        </p:txBody>
      </p:sp>
      <p:sp>
        <p:nvSpPr>
          <p:cNvPr id="2007" name="DS_current_family_2">
            <a:extLst>
              <a:ext uri="{FF2B5EF4-FFF2-40B4-BE49-F238E27FC236}">
                <a16:creationId xmlns:a16="http://schemas.microsoft.com/office/drawing/2014/main" id="{93808014-B753-4B7E-BEF6-68018E6BF236}"/>
              </a:ext>
            </a:extLst>
          </p:cNvPr>
          <p:cNvSpPr>
            <a:spLocks noGrp="1"/>
          </p:cNvSpPr>
          <p:nvPr/>
        </p:nvSpPr>
        <p:spPr>
          <a:xfrm>
            <a:off x="4561103" y="2460108"/>
            <a:ext cx="1613402" cy="220860"/>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3B3E77BF-92E9-4435-8729-A5B0EAA743F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20 / 40</a:t>
            </a:r>
          </a:p>
        </p:txBody>
      </p:sp>
      <p:sp>
        <p:nvSpPr>
          <p:cNvPr id="2009" name="Footer – Präsentationsangaben">
            <a:extLst>
              <a:ext uri="{FF2B5EF4-FFF2-40B4-BE49-F238E27FC236}">
                <a16:creationId xmlns:a16="http://schemas.microsoft.com/office/drawing/2014/main" id="{208D57AD-155C-435B-B68C-CB357E23C374}"/>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B69C6ADE-6895-4D52-9FE1-F73841D79EAB}"/>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6B78C219-AD08-482B-A9A9-673BD7A5C3A6}"/>
              </a:ext>
            </a:extLst>
          </p:cNvPr>
          <p:cNvSpPr>
            <a:spLocks noGrp="1"/>
          </p:cNvSpPr>
          <p:nvPr/>
        </p:nvSpPr>
        <p:spPr>
          <a:xfrm>
            <a:off x="3828148" y="3215526"/>
            <a:ext cx="332259"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3">
            <a:extLst>
              <a:ext uri="{FF2B5EF4-FFF2-40B4-BE49-F238E27FC236}">
                <a16:creationId xmlns:a16="http://schemas.microsoft.com/office/drawing/2014/main" id="{505B668B-F5B5-4C9A-A36B-8E2548B868A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3">
            <a:extLst>
              <a:ext uri="{FF2B5EF4-FFF2-40B4-BE49-F238E27FC236}">
                <a16:creationId xmlns:a16="http://schemas.microsoft.com/office/drawing/2014/main" id="{4AF4DD64-2661-408D-87AA-417652FB6BA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3">
            <a:extLst>
              <a:ext uri="{FF2B5EF4-FFF2-40B4-BE49-F238E27FC236}">
                <a16:creationId xmlns:a16="http://schemas.microsoft.com/office/drawing/2014/main" id="{5F26A53A-9F9A-4372-86B9-B301F774BB2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Kausale Auswertung</a:t>
            </a:r>
          </a:p>
        </p:txBody>
      </p:sp>
      <p:sp>
        <p:nvSpPr>
          <p:cNvPr id="2003" name="DS_section_title_3_0">
            <a:extLst>
              <a:ext uri="{FF2B5EF4-FFF2-40B4-BE49-F238E27FC236}">
                <a16:creationId xmlns:a16="http://schemas.microsoft.com/office/drawing/2014/main" id="{00BDC3D2-EF4A-49C9-94CE-5BFC12E166D8}"/>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Kausale Rekonstruktion</a:t>
            </a:r>
          </a:p>
        </p:txBody>
      </p:sp>
      <p:sp>
        <p:nvSpPr>
          <p:cNvPr id="2004" name="DS_section_body_3_0">
            <a:extLst>
              <a:ext uri="{FF2B5EF4-FFF2-40B4-BE49-F238E27FC236}">
                <a16:creationId xmlns:a16="http://schemas.microsoft.com/office/drawing/2014/main" id="{27729773-5A27-447F-90FE-21382A18C69A}"/>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Neuberechnung von Qc, EFC, Ableitungen und SOH-Features aus dem gestörten Signalstrom</a:t>
            </a:r>
          </a:p>
        </p:txBody>
      </p:sp>
      <p:sp>
        <p:nvSpPr>
          <p:cNvPr id="2005" name="DS_section_title_3_1">
            <a:extLst>
              <a:ext uri="{FF2B5EF4-FFF2-40B4-BE49-F238E27FC236}">
                <a16:creationId xmlns:a16="http://schemas.microsoft.com/office/drawing/2014/main" id="{68032D51-1029-4FDA-A7DE-C23ABE73AAFC}"/>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Paarvergleich</a:t>
            </a:r>
          </a:p>
        </p:txBody>
      </p:sp>
      <p:sp>
        <p:nvSpPr>
          <p:cNvPr id="2006" name="DS_section_body_3_1">
            <a:extLst>
              <a:ext uri="{FF2B5EF4-FFF2-40B4-BE49-F238E27FC236}">
                <a16:creationId xmlns:a16="http://schemas.microsoft.com/office/drawing/2014/main" id="{D1048D6A-9904-4C8C-8319-714E4064C98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ΔMAE zur Baseline je Zelle, Fenster und Seed</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Recovery zum korrekt initialisierten Lauf</a:t>
            </a:r>
          </a:p>
        </p:txBody>
      </p:sp>
      <p:sp>
        <p:nvSpPr>
          <p:cNvPr id="2007" name="Footer – Seitennummer">
            <a:extLst>
              <a:ext uri="{FF2B5EF4-FFF2-40B4-BE49-F238E27FC236}">
                <a16:creationId xmlns:a16="http://schemas.microsoft.com/office/drawing/2014/main" id="{1B05C8D4-9B4F-4FF7-99F4-4C477E6F61A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21 / 40</a:t>
            </a:r>
          </a:p>
        </p:txBody>
      </p:sp>
      <p:sp>
        <p:nvSpPr>
          <p:cNvPr id="2008" name="Footer – Präsentationsangaben">
            <a:extLst>
              <a:ext uri="{FF2B5EF4-FFF2-40B4-BE49-F238E27FC236}">
                <a16:creationId xmlns:a16="http://schemas.microsoft.com/office/drawing/2014/main" id="{BE20A372-7D2A-40A1-99B8-DDEBD8AA71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Nominale SOC-Genauigkeit im 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552450" y="1666875"/>
            <a:ext cx="6858000" cy="2538264"/>
          </a:xfrm>
          <a:prstGeom prst="rect">
            <a:avLst/>
          </a:prstGeom>
        </p:spPr>
      </p:pic>
      <p:sp>
        <p:nvSpPr>
          <p:cNvPr id="15" name="Structure separator">
            <a:extLst>
              <a:ext uri="{FF2B5EF4-FFF2-40B4-BE49-F238E27FC236}">
                <a16:creationId xmlns:a16="http://schemas.microsoft.com/office/drawing/2014/main" id="{2278B69B-2ACA-4239-9F3E-334E1EEE36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57187B-4143-436C-9983-05366E255AF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4CBE117C-C3BF-4C12-8836-F650C9FB9A8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BB57D778-70C2-445A-A83A-E007C641C26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CA5EF388-0968-4F76-BCE9-3C5B2D35827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6FBC9C8E-75F5-4013-8D88-30FD970DC91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44E6B2F-767C-4630-98F4-D916351758B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6A3413-2979-4488-959F-8946DB0D095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NR_testbasis_title">
            <a:extLst>
              <a:ext uri="{FF2B5EF4-FFF2-40B4-BE49-F238E27FC236}">
                <a16:creationId xmlns:a16="http://schemas.microsoft.com/office/drawing/2014/main" id="{E657BFBB-B8A9-4404-84AB-6D9F409FF4BE}"/>
              </a:ext>
            </a:extLst>
          </p:cNvPr>
          <p:cNvSpPr>
            <a:spLocks noGrp="1"/>
          </p:cNvSpPr>
          <p:nvPr/>
        </p:nvSpPr>
        <p:spPr>
          <a:xfrm>
            <a:off x="7620000" y="145732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Testbasis</a:t>
            </a:r>
          </a:p>
        </p:txBody>
      </p:sp>
      <p:sp>
        <p:nvSpPr>
          <p:cNvPr id="2001" name="NR_testbasis_body">
            <a:extLst>
              <a:ext uri="{FF2B5EF4-FFF2-40B4-BE49-F238E27FC236}">
                <a16:creationId xmlns:a16="http://schemas.microsoft.com/office/drawing/2014/main" id="{26EB5CD8-8B19-45A7-93B1-2AFC44303EF5}"/>
              </a:ext>
            </a:extLst>
          </p:cNvPr>
          <p:cNvSpPr>
            <a:spLocks noGrp="1"/>
          </p:cNvSpPr>
          <p:nvPr/>
        </p:nvSpPr>
        <p:spPr>
          <a:xfrm>
            <a:off x="7620000" y="178117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6 unabhängige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LFP-Testzellen</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16 repräsentative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24-h-Fenster</a:t>
            </a:r>
          </a:p>
        </p:txBody>
      </p:sp>
      <p:sp>
        <p:nvSpPr>
          <p:cNvPr id="2002" name="NR_evaluation_title">
            <a:extLst>
              <a:ext uri="{FF2B5EF4-FFF2-40B4-BE49-F238E27FC236}">
                <a16:creationId xmlns:a16="http://schemas.microsoft.com/office/drawing/2014/main" id="{9D007BA0-FDD6-45B7-A5E3-90AE0FE0DE05}"/>
              </a:ext>
            </a:extLst>
          </p:cNvPr>
          <p:cNvSpPr>
            <a:spLocks noGrp="1"/>
          </p:cNvSpPr>
          <p:nvPr/>
        </p:nvSpPr>
        <p:spPr>
          <a:xfrm>
            <a:off x="7620000" y="296227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Auswertung</a:t>
            </a:r>
          </a:p>
        </p:txBody>
      </p:sp>
      <p:sp>
        <p:nvSpPr>
          <p:cNvPr id="2003" name="NR_evaluation_body">
            <a:extLst>
              <a:ext uri="{FF2B5EF4-FFF2-40B4-BE49-F238E27FC236}">
                <a16:creationId xmlns:a16="http://schemas.microsoft.com/office/drawing/2014/main" id="{37982B58-4B16-470B-BA0B-A6C263A509B7}"/>
              </a:ext>
            </a:extLst>
          </p:cNvPr>
          <p:cNvSpPr>
            <a:spLocks noGrp="1"/>
          </p:cNvSpPr>
          <p:nvPr/>
        </p:nvSpPr>
        <p:spPr>
          <a:xfrm>
            <a:off x="7620000" y="328612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Gleiches Zellgewicht</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Balken: Makromittel</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Punkte: Fensterwerte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Fehlerbalken: 95-%-KI</a:t>
            </a:r>
          </a:p>
        </p:txBody>
      </p:sp>
      <p:sp>
        <p:nvSpPr>
          <p:cNvPr id="2004" name="NR_dispersion">
            <a:extLst>
              <a:ext uri="{FF2B5EF4-FFF2-40B4-BE49-F238E27FC236}">
                <a16:creationId xmlns:a16="http://schemas.microsoft.com/office/drawing/2014/main" id="{B38C110A-4D79-4E62-8C2D-BB63BB5C6E01}"/>
              </a:ext>
            </a:extLst>
          </p:cNvPr>
          <p:cNvSpPr>
            <a:spLocks noGrp="1"/>
          </p:cNvSpPr>
          <p:nvPr/>
        </p:nvSpPr>
        <p:spPr>
          <a:xfrm>
            <a:off x="552450" y="450532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err="1"/>
              <a:t>Streuung</a:t>
            </a:r>
            <a:r>
              <a:rPr b="1" dirty="0"/>
              <a:t>: </a:t>
            </a:r>
            <a:r>
              <a:rPr dirty="0"/>
              <a:t>Breite </a:t>
            </a:r>
            <a:r>
              <a:rPr dirty="0" err="1"/>
              <a:t>Fehlerspanne</a:t>
            </a:r>
            <a:r>
              <a:rPr dirty="0"/>
              <a:t> </a:t>
            </a:r>
            <a:r>
              <a:rPr dirty="0" err="1"/>
              <a:t>bei</a:t>
            </a:r>
            <a:r>
              <a:rPr dirty="0"/>
              <a:t> DM, HDM und HECM, </a:t>
            </a:r>
            <a:r>
              <a:rPr dirty="0" err="1"/>
              <a:t>engere</a:t>
            </a:r>
            <a:r>
              <a:rPr dirty="0"/>
              <a:t> </a:t>
            </a:r>
            <a:r>
              <a:rPr dirty="0" err="1"/>
              <a:t>Verteilung</a:t>
            </a:r>
            <a:r>
              <a:rPr dirty="0"/>
              <a:t> </a:t>
            </a:r>
            <a:r>
              <a:rPr dirty="0" err="1"/>
              <a:t>bei</a:t>
            </a:r>
            <a:r>
              <a:rPr dirty="0"/>
              <a:t> DD</a:t>
            </a:r>
          </a:p>
        </p:txBody>
      </p:sp>
      <p:sp>
        <p:nvSpPr>
          <p:cNvPr id="2005" name="NR_dm_mechanism">
            <a:extLst>
              <a:ext uri="{FF2B5EF4-FFF2-40B4-BE49-F238E27FC236}">
                <a16:creationId xmlns:a16="http://schemas.microsoft.com/office/drawing/2014/main" id="{1CF581A2-B4F0-47DA-A05A-E95B757C5297}"/>
              </a:ext>
            </a:extLst>
          </p:cNvPr>
          <p:cNvSpPr>
            <a:spLocks noGrp="1"/>
          </p:cNvSpPr>
          <p:nvPr/>
        </p:nvSpPr>
        <p:spPr>
          <a:xfrm>
            <a:off x="552450" y="4857750"/>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DM: </a:t>
            </a:r>
            <a:r>
              <a:rPr dirty="0"/>
              <a:t>Feste </a:t>
            </a:r>
            <a:r>
              <a:rPr dirty="0" err="1"/>
              <a:t>Kapazität</a:t>
            </a:r>
            <a:r>
              <a:rPr dirty="0"/>
              <a:t> </a:t>
            </a:r>
            <a:r>
              <a:rPr dirty="0" err="1"/>
              <a:t>trotz</a:t>
            </a:r>
            <a:r>
              <a:rPr dirty="0"/>
              <a:t> </a:t>
            </a:r>
            <a:r>
              <a:rPr dirty="0" err="1"/>
              <a:t>Alterung</a:t>
            </a:r>
            <a:r>
              <a:rPr dirty="0"/>
              <a:t>, </a:t>
            </a:r>
            <a:r>
              <a:rPr dirty="0" err="1"/>
              <a:t>keine</a:t>
            </a:r>
            <a:r>
              <a:rPr dirty="0"/>
              <a:t> </a:t>
            </a:r>
            <a:r>
              <a:rPr dirty="0" err="1"/>
              <a:t>kontinuierliche</a:t>
            </a:r>
            <a:r>
              <a:rPr dirty="0"/>
              <a:t> </a:t>
            </a:r>
            <a:r>
              <a:rPr dirty="0" err="1"/>
              <a:t>Korrektur</a:t>
            </a:r>
            <a:endParaRPr dirty="0"/>
          </a:p>
        </p:txBody>
      </p:sp>
      <p:sp>
        <p:nvSpPr>
          <p:cNvPr id="2006" name="NR_hybrid_mechanism">
            <a:extLst>
              <a:ext uri="{FF2B5EF4-FFF2-40B4-BE49-F238E27FC236}">
                <a16:creationId xmlns:a16="http://schemas.microsoft.com/office/drawing/2014/main" id="{8B3D7159-03F9-4744-A747-BC5F1BF9DDD4}"/>
              </a:ext>
            </a:extLst>
          </p:cNvPr>
          <p:cNvSpPr>
            <a:spLocks noGrp="1"/>
          </p:cNvSpPr>
          <p:nvPr/>
        </p:nvSpPr>
        <p:spPr>
          <a:xfrm>
            <a:off x="552450" y="521017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HDM/HECM: </a:t>
            </a:r>
            <a:r>
              <a:rPr dirty="0" err="1"/>
              <a:t>Zusätzlicher</a:t>
            </a:r>
            <a:r>
              <a:rPr dirty="0"/>
              <a:t> </a:t>
            </a:r>
            <a:r>
              <a:rPr dirty="0" err="1"/>
              <a:t>Fehlerbeitrag</a:t>
            </a:r>
            <a:r>
              <a:rPr dirty="0"/>
              <a:t> </a:t>
            </a:r>
            <a:r>
              <a:rPr dirty="0" err="1"/>
              <a:t>aus</a:t>
            </a:r>
            <a:r>
              <a:rPr dirty="0"/>
              <a:t> der SOH-</a:t>
            </a:r>
            <a:r>
              <a:rPr dirty="0" err="1"/>
              <a:t>Schätzung</a:t>
            </a:r>
            <a:endParaRPr dirty="0"/>
          </a:p>
        </p:txBody>
      </p:sp>
      <p:sp>
        <p:nvSpPr>
          <p:cNvPr id="2007" name="NR_takeaway">
            <a:extLst>
              <a:ext uri="{FF2B5EF4-FFF2-40B4-BE49-F238E27FC236}">
                <a16:creationId xmlns:a16="http://schemas.microsoft.com/office/drawing/2014/main" id="{C1C44E27-76D2-482F-B5D5-1D4FCB3E5770}"/>
              </a:ext>
            </a:extLst>
          </p:cNvPr>
          <p:cNvSpPr>
            <a:spLocks noGrp="1"/>
          </p:cNvSpPr>
          <p:nvPr/>
        </p:nvSpPr>
        <p:spPr>
          <a:xfrm>
            <a:off x="552450" y="5586412"/>
            <a:ext cx="9391650" cy="3619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dirty="0">
                <a:solidFill>
                  <a:srgbClr val="D00020"/>
                </a:solidFill>
                <a:latin typeface="Calibri"/>
                <a:ea typeface="Calibri"/>
                <a:cs typeface="Calibri"/>
              </a:rPr>
              <a:t>DD</a:t>
            </a:r>
            <a:r>
              <a:rPr lang="de-DE" sz="1800" b="1" dirty="0">
                <a:solidFill>
                  <a:srgbClr val="D00020"/>
                </a:solidFill>
                <a:latin typeface="Calibri"/>
                <a:ea typeface="Calibri"/>
                <a:cs typeface="Calibri"/>
              </a:rPr>
              <a:t>:</a:t>
            </a:r>
            <a:r>
              <a:rPr sz="1800" b="1" dirty="0">
                <a:solidFill>
                  <a:srgbClr val="D00020"/>
                </a:solidFill>
                <a:latin typeface="Calibri"/>
                <a:ea typeface="Calibri"/>
                <a:cs typeface="Calibri"/>
              </a:rPr>
              <a:t> </a:t>
            </a:r>
            <a:r>
              <a:rPr lang="de-DE" sz="1800" b="1" dirty="0">
                <a:solidFill>
                  <a:srgbClr val="D00020"/>
                </a:solidFill>
                <a:latin typeface="Calibri"/>
                <a:ea typeface="Calibri"/>
                <a:cs typeface="Calibri"/>
              </a:rPr>
              <a:t>Niedrigster </a:t>
            </a:r>
            <a:r>
              <a:rPr sz="1800" b="1" dirty="0" err="1">
                <a:solidFill>
                  <a:srgbClr val="D00020"/>
                </a:solidFill>
                <a:latin typeface="Calibri"/>
                <a:ea typeface="Calibri"/>
                <a:cs typeface="Calibri"/>
              </a:rPr>
              <a:t>mittlere</a:t>
            </a:r>
            <a:r>
              <a:rPr lang="de-DE" sz="1800" b="1" dirty="0">
                <a:solidFill>
                  <a:srgbClr val="D00020"/>
                </a:solidFill>
                <a:latin typeface="Calibri"/>
                <a:ea typeface="Calibri"/>
                <a:cs typeface="Calibri"/>
              </a:rPr>
              <a:t>r</a:t>
            </a:r>
            <a:r>
              <a:rPr sz="1800" b="1" dirty="0">
                <a:solidFill>
                  <a:srgbClr val="D00020"/>
                </a:solidFill>
                <a:latin typeface="Calibri"/>
                <a:ea typeface="Calibri"/>
                <a:cs typeface="Calibri"/>
              </a:rPr>
              <a:t> MAE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nominalen</a:t>
            </a:r>
            <a:r>
              <a:rPr sz="1800" b="1" dirty="0">
                <a:solidFill>
                  <a:srgbClr val="D00020"/>
                </a:solidFill>
                <a:latin typeface="Calibri"/>
                <a:ea typeface="Calibri"/>
                <a:cs typeface="Calibri"/>
              </a:rPr>
              <a:t> Benchmark</a:t>
            </a:r>
          </a:p>
        </p:txBody>
      </p:sp>
      <p:sp>
        <p:nvSpPr>
          <p:cNvPr id="2008" name="Footer – Seitennummer">
            <a:extLst>
              <a:ext uri="{FF2B5EF4-FFF2-40B4-BE49-F238E27FC236}">
                <a16:creationId xmlns:a16="http://schemas.microsoft.com/office/drawing/2014/main" id="{E89DE0EB-D316-4AF8-930B-CD026DB0E78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22 / 40</a:t>
            </a:r>
          </a:p>
        </p:txBody>
      </p:sp>
      <p:sp>
        <p:nvSpPr>
          <p:cNvPr id="2009" name="Footer – Präsentationsangaben">
            <a:extLst>
              <a:ext uri="{FF2B5EF4-FFF2-40B4-BE49-F238E27FC236}">
                <a16:creationId xmlns:a16="http://schemas.microsoft.com/office/drawing/2014/main" id="{82085996-3D6D-45A8-B81E-642A97AE48B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P spid="2006" grpId="0"/>
      <p:bldP spid="200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Sensitivität gegenüber Strom-Gain-Fehlern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Stärkster Fehleranstieg durch Integration des skalierten Stroms</a:t>
            </a:r>
          </a:p>
        </p:txBody>
      </p:sp>
      <p:sp>
        <p:nvSpPr>
          <p:cNvPr id="15" name="Structure separator">
            <a:extLst>
              <a:ext uri="{FF2B5EF4-FFF2-40B4-BE49-F238E27FC236}">
                <a16:creationId xmlns:a16="http://schemas.microsoft.com/office/drawing/2014/main" id="{D9835177-69A9-4BD8-BF77-A67A17A1998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6CEFBA8B-BE63-44AE-83F4-FB83489E5AE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6F043BA-409F-4D23-8101-F284566FDC7F}"/>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E1803453-2C5C-4884-B218-ECCBA534CA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6DA0643-2FF1-4276-87A6-362DE6B0C0C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C7494741-4618-4E06-B09B-FB38D11ABDA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51AC6ED9-82AD-4339-B6F5-E04BF1179F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92353C1-0898-40D0-9944-3E911D7F63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3" name="Grafik 42"/>
          <p:cNvPicPr>
            <a:picLocks noChangeAspect="1"/>
          </p:cNvPicPr>
          <p:nvPr/>
        </p:nvPicPr>
        <p:blipFill>
          <a:blip r:embed="rId3"/>
          <a:stretch/>
        </p:blipFill>
        <p:spPr>
          <a:xfrm>
            <a:off x="552450" y="1509378"/>
            <a:ext cx="5943600" cy="3572545"/>
          </a:xfrm>
          <a:prstGeom prst="rect">
            <a:avLst/>
          </a:prstGeom>
        </p:spPr>
      </p:pic>
      <p:sp>
        <p:nvSpPr>
          <p:cNvPr id="24" name="v11-text-19-2">
            <a:extLst>
              <a:ext uri="{FF2B5EF4-FFF2-40B4-BE49-F238E27FC236}">
                <a16:creationId xmlns:a16="http://schemas.microsoft.com/office/drawing/2014/main" id="{B3235DAA-76C3-4AEF-802D-9339BF1D8C5C}"/>
              </a:ext>
            </a:extLst>
          </p:cNvPr>
          <p:cNvSpPr>
            <a:spLocks noGrp="1"/>
          </p:cNvSpPr>
          <p:nvPr/>
        </p:nvSpPr>
        <p:spPr>
          <a:xfrm>
            <a:off x="6867525" y="272415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Teilkorrektur des SOC über das Spannungsfeedback</a:t>
            </a:r>
          </a:p>
        </p:txBody>
      </p:sp>
      <p:sp>
        <p:nvSpPr>
          <p:cNvPr id="25" name="v11-text-19-3">
            <a:extLst>
              <a:ext uri="{FF2B5EF4-FFF2-40B4-BE49-F238E27FC236}">
                <a16:creationId xmlns:a16="http://schemas.microsoft.com/office/drawing/2014/main" id="{14AEFD0E-7131-4A0C-857B-75F39D383A9D}"/>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Mehrkanalhistorie als plausible Erklärung der geringeren Sensitivität</a:t>
            </a:r>
          </a:p>
        </p:txBody>
      </p:sp>
      <p:sp>
        <p:nvSpPr>
          <p:cNvPr id="28" name="v12-text-19-5">
            <a:extLst>
              <a:ext uri="{FF2B5EF4-FFF2-40B4-BE49-F238E27FC236}">
                <a16:creationId xmlns:a16="http://schemas.microsoft.com/office/drawing/2014/main" id="{D59571FE-9A09-4F97-B0A2-82E53ABDDC71}"/>
              </a:ext>
            </a:extLst>
          </p:cNvPr>
          <p:cNvSpPr>
            <a:spLocks noGrp="1"/>
          </p:cNvSpPr>
          <p:nvPr/>
        </p:nvSpPr>
        <p:spPr>
          <a:xfrm>
            <a:off x="552450" y="548640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geringstem</a:t>
            </a:r>
            <a:r>
              <a:rPr sz="1800" b="1" dirty="0">
                <a:solidFill>
                  <a:srgbClr val="D00020"/>
                </a:solidFill>
                <a:latin typeface="Calibri"/>
                <a:ea typeface="Calibri"/>
                <a:cs typeface="Calibri"/>
              </a:rPr>
              <a:t> MAE-</a:t>
            </a:r>
            <a:r>
              <a:rPr sz="1800" b="1" dirty="0" err="1">
                <a:solidFill>
                  <a:srgbClr val="D00020"/>
                </a:solidFill>
                <a:latin typeface="Calibri"/>
                <a:ea typeface="Calibri"/>
                <a:cs typeface="Calibri"/>
              </a:rPr>
              <a:t>Anstieg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Sechs-Zell-</a:t>
            </a:r>
            <a:r>
              <a:rPr sz="1800" b="1" dirty="0" err="1">
                <a:solidFill>
                  <a:srgbClr val="D00020"/>
                </a:solidFill>
                <a:latin typeface="Calibri"/>
                <a:ea typeface="Calibri"/>
                <a:cs typeface="Calibri"/>
              </a:rPr>
              <a:t>Vergleich</a:t>
            </a:r>
            <a:endParaRPr sz="1800" b="1" dirty="0">
              <a:solidFill>
                <a:srgbClr val="D00020"/>
              </a:solidFill>
              <a:latin typeface="Calibri"/>
              <a:ea typeface="Calibri"/>
              <a:cs typeface="Calibri"/>
            </a:endParaRPr>
          </a:p>
        </p:txBody>
      </p:sp>
      <p:sp>
        <p:nvSpPr>
          <p:cNvPr id="44" name="Footer – Seitennummer">
            <a:extLst>
              <a:ext uri="{FF2B5EF4-FFF2-40B4-BE49-F238E27FC236}">
                <a16:creationId xmlns:a16="http://schemas.microsoft.com/office/drawing/2014/main" id="{9BE601EF-1AA1-4818-98BC-E307890EEE3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23 / 40</a:t>
            </a:r>
          </a:p>
        </p:txBody>
      </p:sp>
      <p:sp>
        <p:nvSpPr>
          <p:cNvPr id="45" name="Footer – Präsentationsangaben">
            <a:extLst>
              <a:ext uri="{FF2B5EF4-FFF2-40B4-BE49-F238E27FC236}">
                <a16:creationId xmlns:a16="http://schemas.microsoft.com/office/drawing/2014/main" id="{EDF78DBC-3596-4882-B41E-A6B56FF5B6F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Recovery nach SOC-Initialisierungsfehlern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89DDC72-81AD-417A-A231-9CA62A6041A9}"/>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Meist keine Recovery in 24 h, fehlende kontinuierliche Korrektur</a:t>
            </a:r>
          </a:p>
        </p:txBody>
      </p:sp>
      <p:sp>
        <p:nvSpPr>
          <p:cNvPr id="13" name="V5_Text_13">
            <a:extLst>
              <a:ext uri="{FF2B5EF4-FFF2-40B4-BE49-F238E27FC236}">
                <a16:creationId xmlns:a16="http://schemas.microsoft.com/office/drawing/2014/main" id="{6DA17992-232B-42D1-8AC8-A3C90FEE316D}"/>
              </a:ext>
            </a:extLst>
          </p:cNvPr>
          <p:cNvSpPr>
            <a:spLocks noGrp="1"/>
          </p:cNvSpPr>
          <p:nvPr/>
        </p:nvSpPr>
        <p:spPr>
          <a:xfrm>
            <a:off x="6867525" y="2724150"/>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Persistente Re-Ankerung des SOC durch Spannungsfeedback</a:t>
            </a:r>
          </a:p>
        </p:txBody>
      </p:sp>
      <p:sp>
        <p:nvSpPr>
          <p:cNvPr id="17" name="Structure separator">
            <a:extLst>
              <a:ext uri="{FF2B5EF4-FFF2-40B4-BE49-F238E27FC236}">
                <a16:creationId xmlns:a16="http://schemas.microsoft.com/office/drawing/2014/main" id="{A36302A7-A169-4235-A16D-7A2B1EB3CEC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62E1006D-616E-46AE-847F-8ABEA570558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AD504DFF-2DA5-4F3C-A3FF-EF79158E89B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B5E3A8F8-9FFB-44CE-9335-10E0EF5C80B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9A7BD3F5-FC5E-44D4-9595-8267A8AE84A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7D15DB05-B310-4C61-967C-2D3CF858A5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CB17D824-50EF-4DF9-89AB-2192EE86BC2F}"/>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CDC66E98-C0F2-45E1-8A5B-6D57401A23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5" name="Grafik 44"/>
          <p:cNvPicPr>
            <a:picLocks noChangeAspect="1"/>
          </p:cNvPicPr>
          <p:nvPr/>
        </p:nvPicPr>
        <p:blipFill>
          <a:blip r:embed="rId3"/>
          <a:stretch/>
        </p:blipFill>
        <p:spPr>
          <a:xfrm>
            <a:off x="623685" y="1428750"/>
            <a:ext cx="5810655" cy="3733800"/>
          </a:xfrm>
          <a:prstGeom prst="rect">
            <a:avLst/>
          </a:prstGeom>
        </p:spPr>
      </p:pic>
      <p:sp>
        <p:nvSpPr>
          <p:cNvPr id="26" name="v11-text-20-3">
            <a:extLst>
              <a:ext uri="{FF2B5EF4-FFF2-40B4-BE49-F238E27FC236}">
                <a16:creationId xmlns:a16="http://schemas.microsoft.com/office/drawing/2014/main" id="{9EA3E412-2BC3-40BD-9FD6-FA212B79D8D3}"/>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Rückfälle durch das Zusammenspiel von Qc-Offset und rekurrentem Kontext</a:t>
            </a:r>
          </a:p>
        </p:txBody>
      </p:sp>
      <p:sp>
        <p:nvSpPr>
          <p:cNvPr id="29" name="v12-text-20-5">
            <a:extLst>
              <a:ext uri="{FF2B5EF4-FFF2-40B4-BE49-F238E27FC236}">
                <a16:creationId xmlns:a16="http://schemas.microsoft.com/office/drawing/2014/main" id="{A2222EE8-BBCA-4AA6-837B-7007A9CB1D80}"/>
              </a:ext>
            </a:extLst>
          </p:cNvPr>
          <p:cNvSpPr>
            <a:spLocks noGrp="1"/>
          </p:cNvSpPr>
          <p:nvPr/>
        </p:nvSpPr>
        <p:spPr>
          <a:xfrm>
            <a:off x="550831" y="54578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HECM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schnellster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persistenter</a:t>
            </a:r>
            <a:r>
              <a:rPr sz="1800" b="1" dirty="0">
                <a:solidFill>
                  <a:srgbClr val="D00020"/>
                </a:solidFill>
                <a:latin typeface="Calibri"/>
                <a:ea typeface="Calibri"/>
                <a:cs typeface="Calibri"/>
              </a:rPr>
              <a:t> Recovery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untersuchten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Protokoll</a:t>
            </a:r>
            <a:endParaRPr sz="1800" b="1" dirty="0">
              <a:solidFill>
                <a:srgbClr val="D00020"/>
              </a:solidFill>
              <a:latin typeface="Calibri"/>
              <a:ea typeface="Calibri"/>
              <a:cs typeface="Calibri"/>
            </a:endParaRPr>
          </a:p>
        </p:txBody>
      </p:sp>
      <p:sp>
        <p:nvSpPr>
          <p:cNvPr id="46" name="Footer – Seitennummer">
            <a:extLst>
              <a:ext uri="{FF2B5EF4-FFF2-40B4-BE49-F238E27FC236}">
                <a16:creationId xmlns:a16="http://schemas.microsoft.com/office/drawing/2014/main" id="{5087AFAE-06BB-40FF-855D-94D17DE44D3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24 / 40</a:t>
            </a:r>
          </a:p>
        </p:txBody>
      </p:sp>
      <p:sp>
        <p:nvSpPr>
          <p:cNvPr id="47" name="Footer – Präsentationsangaben">
            <a:extLst>
              <a:ext uri="{FF2B5EF4-FFF2-40B4-BE49-F238E27FC236}">
                <a16:creationId xmlns:a16="http://schemas.microsoft.com/office/drawing/2014/main" id="{224F524A-2088-4548-AB6D-70757743D6D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40431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Lokale SOC-Reaktion auf Spannungsspitzen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EE05F44A-9D62-489C-A137-48E088E81C5D}"/>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Deutlicher SOC-Ausschlag am Spike mit raschem Abklingen</a:t>
            </a:r>
          </a:p>
        </p:txBody>
      </p:sp>
      <p:sp>
        <p:nvSpPr>
          <p:cNvPr id="15" name="Structure separator">
            <a:extLst>
              <a:ext uri="{FF2B5EF4-FFF2-40B4-BE49-F238E27FC236}">
                <a16:creationId xmlns:a16="http://schemas.microsoft.com/office/drawing/2014/main" id="{FFF18D9D-CE58-4550-97EA-730CDC29B45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431B35A4-9ED9-486D-BED4-E9F68DD73B5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123BDD3-2ACF-444F-B1FB-6AFD29D08B8C}"/>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CEAD52B-DB79-48E7-9FD5-7D73EB042CF4}"/>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2477918D-F64B-44F2-8C7A-8DB07B5F0DA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D1409E9F-2175-4A6A-A5D3-9D195B11379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E0598B8-D619-46C3-A93E-7C21A4DC13F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B464D01D-2EDF-4AFB-B87F-B515FDC83587}"/>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0" name="Grafik 39"/>
          <p:cNvPicPr>
            <a:picLocks noChangeAspect="1"/>
          </p:cNvPicPr>
          <p:nvPr/>
        </p:nvPicPr>
        <p:blipFill>
          <a:blip r:embed="rId3"/>
          <a:stretch/>
        </p:blipFill>
        <p:spPr>
          <a:xfrm>
            <a:off x="552450" y="1660203"/>
            <a:ext cx="5953125" cy="3851919"/>
          </a:xfrm>
          <a:prstGeom prst="rect">
            <a:avLst/>
          </a:prstGeom>
        </p:spPr>
      </p:pic>
      <p:sp>
        <p:nvSpPr>
          <p:cNvPr id="24" name="v11-text-21-2">
            <a:extLst>
              <a:ext uri="{FF2B5EF4-FFF2-40B4-BE49-F238E27FC236}">
                <a16:creationId xmlns:a16="http://schemas.microsoft.com/office/drawing/2014/main" id="{B3EE29CC-320D-43A6-A910-DAFC9EC6EE34}"/>
              </a:ext>
            </a:extLst>
          </p:cNvPr>
          <p:cNvSpPr>
            <a:spLocks noGrp="1"/>
          </p:cNvSpPr>
          <p:nvPr/>
        </p:nvSpPr>
        <p:spPr>
          <a:xfrm>
            <a:off x="6867525" y="2686050"/>
            <a:ext cx="3095625" cy="1390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Spannungsfeatures: </a:t>
            </a:r>
            <a:r>
              <a:rPr sz="1800" b="0">
                <a:solidFill>
                  <a:srgbClr val="444444"/>
                </a:solidFill>
                <a:latin typeface="Calibri"/>
                <a:ea typeface="Calibri"/>
                <a:cs typeface="Calibri"/>
              </a:rPr>
              <a:t>Störung von U und dU/dt als mögliche Ursache der DD-Reaktion</a:t>
            </a:r>
          </a:p>
        </p:txBody>
      </p:sp>
      <p:sp>
        <p:nvSpPr>
          <p:cNvPr id="25" name="v11-text-21-3">
            <a:extLst>
              <a:ext uri="{FF2B5EF4-FFF2-40B4-BE49-F238E27FC236}">
                <a16:creationId xmlns:a16="http://schemas.microsoft.com/office/drawing/2014/main" id="{22A339E4-E526-403C-B8F5-918B4BB24222}"/>
              </a:ext>
            </a:extLst>
          </p:cNvPr>
          <p:cNvSpPr>
            <a:spLocks noGrp="1"/>
          </p:cNvSpPr>
          <p:nvPr/>
        </p:nvSpPr>
        <p:spPr>
          <a:xfrm>
            <a:off x="6867525" y="4219575"/>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24-h-MAE: </a:t>
            </a:r>
            <a:r>
              <a:rPr sz="1800" b="0">
                <a:solidFill>
                  <a:srgbClr val="444444"/>
                </a:solidFill>
                <a:latin typeface="Calibri"/>
                <a:ea typeface="Calibri"/>
                <a:cs typeface="Calibri"/>
              </a:rPr>
              <a:t>Kaum Änderung durch die kurze Dauer der Fehlerpeaks</a:t>
            </a:r>
          </a:p>
        </p:txBody>
      </p:sp>
      <p:sp>
        <p:nvSpPr>
          <p:cNvPr id="3003" name="IR_spike_takeaway">
            <a:extLst>
              <a:ext uri="{FF2B5EF4-FFF2-40B4-BE49-F238E27FC236}">
                <a16:creationId xmlns:a16="http://schemas.microsoft.com/office/drawing/2014/main" id="{DB090666-DCB8-49A9-A8B5-3DA42A99F458}"/>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besonders</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empfindlich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gegenüber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lokalen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Spannungsspitzen</a:t>
            </a:r>
            <a:endParaRPr sz="1800" b="1" dirty="0">
              <a:solidFill>
                <a:srgbClr val="D00020"/>
              </a:solidFill>
              <a:latin typeface="Calibri"/>
              <a:ea typeface="Calibri"/>
              <a:cs typeface="Calibri"/>
            </a:endParaRPr>
          </a:p>
        </p:txBody>
      </p:sp>
      <p:sp>
        <p:nvSpPr>
          <p:cNvPr id="3004" name="Footer – Seitennummer">
            <a:extLst>
              <a:ext uri="{FF2B5EF4-FFF2-40B4-BE49-F238E27FC236}">
                <a16:creationId xmlns:a16="http://schemas.microsoft.com/office/drawing/2014/main" id="{4C0BE105-6E5F-41A7-A994-0A419C99B77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25 / 40</a:t>
            </a:r>
          </a:p>
        </p:txBody>
      </p:sp>
      <p:sp>
        <p:nvSpPr>
          <p:cNvPr id="3005" name="Footer – Präsentationsangaben">
            <a:extLst>
              <a:ext uri="{FF2B5EF4-FFF2-40B4-BE49-F238E27FC236}">
                <a16:creationId xmlns:a16="http://schemas.microsoft.com/office/drawing/2014/main" id="{2C0FB6BE-BD27-4870-ABFE-6C01B8A0AB2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0516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Robustheit und Recovery</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2450" y="4505325"/>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Höchster Gesamtscore in allen drei Prioritätsprofilen</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6F67363A-E1A4-4BCE-9787-752AE1329B7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8916EB9C-E413-41E6-B467-0C60D9865D8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EDC22D91-1FCE-4B6E-B1AC-229228DDC4A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582A21B0-81B6-4D77-BC97-9CEC24D6F5D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EF1EEB5-3178-4FBA-89D5-CCE9F12A450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0C03E69-3CE9-4ADD-A283-096D9D2D160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5" name="Structure 4">
            <a:extLst>
              <a:ext uri="{FF2B5EF4-FFF2-40B4-BE49-F238E27FC236}">
                <a16:creationId xmlns:a16="http://schemas.microsoft.com/office/drawing/2014/main" id="{D2D538B2-D6C9-405B-9017-C2D7233CC7E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169E10A3-5B0B-45F3-9B7A-3CFF1D348C26}"/>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2030295" y="1419225"/>
            <a:ext cx="6397860" cy="2914650"/>
          </a:xfrm>
          <a:prstGeom prst="rect">
            <a:avLst/>
          </a:prstGeom>
        </p:spPr>
      </p:pic>
      <p:sp>
        <p:nvSpPr>
          <p:cNvPr id="29" name="v11-text-22-2">
            <a:extLst>
              <a:ext uri="{FF2B5EF4-FFF2-40B4-BE49-F238E27FC236}">
                <a16:creationId xmlns:a16="http://schemas.microsoft.com/office/drawing/2014/main" id="{2A89BC82-9B1A-4748-BC69-727498982D7A}"/>
              </a:ext>
            </a:extLst>
          </p:cNvPr>
          <p:cNvSpPr>
            <a:spLocks noGrp="1"/>
          </p:cNvSpPr>
          <p:nvPr/>
        </p:nvSpPr>
        <p:spPr>
          <a:xfrm>
            <a:off x="552450" y="48863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Stärkste persistente Recovery durch kontinuierliches Spannungsfeedback</a:t>
            </a:r>
          </a:p>
        </p:txBody>
      </p:sp>
      <p:sp>
        <p:nvSpPr>
          <p:cNvPr id="30" name="v11-text-22-3">
            <a:extLst>
              <a:ext uri="{FF2B5EF4-FFF2-40B4-BE49-F238E27FC236}">
                <a16:creationId xmlns:a16="http://schemas.microsoft.com/office/drawing/2014/main" id="{79673DA8-DC9D-4FF2-B6D1-F0D3CCCEA4A6}"/>
              </a:ext>
            </a:extLst>
          </p:cNvPr>
          <p:cNvSpPr>
            <a:spLocks noGrp="1"/>
          </p:cNvSpPr>
          <p:nvPr/>
        </p:nvSpPr>
        <p:spPr>
          <a:xfrm>
            <a:off x="552450" y="5286375"/>
            <a:ext cx="9391650" cy="628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MAE </a:t>
            </a:r>
            <a:r>
              <a:rPr sz="1800" b="1" dirty="0" err="1">
                <a:solidFill>
                  <a:srgbClr val="D00020"/>
                </a:solidFill>
                <a:latin typeface="Calibri"/>
                <a:ea typeface="Calibri"/>
                <a:cs typeface="Calibri"/>
              </a:rPr>
              <a:t>allein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unzureichend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Praxisnahe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Störtests</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lokale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Analysen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zur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Erfassung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modellspezifischer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Reaktionen</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kurzzeitiger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Fehlerpeaks</a:t>
            </a:r>
            <a:endParaRPr sz="1800" b="1" dirty="0">
              <a:solidFill>
                <a:srgbClr val="D00020"/>
              </a:solidFill>
              <a:latin typeface="Calibri"/>
              <a:ea typeface="Calibri"/>
              <a:cs typeface="Calibri"/>
            </a:endParaRPr>
          </a:p>
        </p:txBody>
      </p:sp>
      <p:sp>
        <p:nvSpPr>
          <p:cNvPr id="48" name="Footer – Seitennummer">
            <a:extLst>
              <a:ext uri="{FF2B5EF4-FFF2-40B4-BE49-F238E27FC236}">
                <a16:creationId xmlns:a16="http://schemas.microsoft.com/office/drawing/2014/main" id="{8B89F570-EA91-49CC-BBE2-576A2215A5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26 / 40</a:t>
            </a:r>
          </a:p>
        </p:txBody>
      </p:sp>
      <p:sp>
        <p:nvSpPr>
          <p:cNvPr id="49" name="Footer – Präsentationsangaben">
            <a:extLst>
              <a:ext uri="{FF2B5EF4-FFF2-40B4-BE49-F238E27FC236}">
                <a16:creationId xmlns:a16="http://schemas.microsoft.com/office/drawing/2014/main" id="{DDB06411-4571-4784-A478-32F2FDD1ABF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Embedded AI: Pruning und Quantization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657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6EB18FBF-920A-409D-A972-B99A630EB7F7}"/>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3CCD5FD-0A44-451A-8D61-25D02447FA0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E21A99D-1BC9-4E0D-A5F9-6FAED6C844C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C352F98-9EBE-4BF9-AB8E-92C6D12F794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DB081BA1-3A05-4068-8681-CF5350D744D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522298AF-28B6-4258-97CB-9B3B31FD9F5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2D05EB1C-3CDC-40C5-8CF4-92B09EB8337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4" name="Structure 5">
            <a:extLst>
              <a:ext uri="{FF2B5EF4-FFF2-40B4-BE49-F238E27FC236}">
                <a16:creationId xmlns:a16="http://schemas.microsoft.com/office/drawing/2014/main" id="{3E771B45-BA52-4025-86AD-E76404F39EA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9" name="EI_Hardware_highlight">
            <a:extLst>
              <a:ext uri="{FF2B5EF4-FFF2-40B4-BE49-F238E27FC236}">
                <a16:creationId xmlns:a16="http://schemas.microsoft.com/office/drawing/2014/main" id="{1456BA31-BDDC-4BBF-BE71-E10C79F20A43}"/>
              </a:ext>
            </a:extLst>
          </p:cNvPr>
          <p:cNvSpPr>
            <a:spLocks noGrp="1"/>
          </p:cNvSpPr>
          <p:nvPr/>
        </p:nvSpPr>
        <p:spPr>
          <a:xfrm>
            <a:off x="638316" y="29958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50" name="EI_Deployment_highlight">
            <a:extLst>
              <a:ext uri="{FF2B5EF4-FFF2-40B4-BE49-F238E27FC236}">
                <a16:creationId xmlns:a16="http://schemas.microsoft.com/office/drawing/2014/main" id="{B08220FA-9BDD-4E57-AFE5-D91C95959AD1}"/>
              </a:ext>
            </a:extLst>
          </p:cNvPr>
          <p:cNvSpPr>
            <a:spLocks noGrp="1"/>
          </p:cNvSpPr>
          <p:nvPr/>
        </p:nvSpPr>
        <p:spPr>
          <a:xfrm>
            <a:off x="1998328" y="1868483"/>
            <a:ext cx="1783804" cy="1800423"/>
          </a:xfrm>
          <a:custGeom>
            <a:avLst/>
            <a:gdLst/>
            <a:ahLst/>
            <a:cxnLst/>
            <a:rect l="0" t="0" r="0" b="0"/>
            <a:pathLst>
              <a:path w="1783804" h="1800423">
                <a:moveTo>
                  <a:pt x="677846" y="1584372"/>
                </a:moveTo>
                <a:lnTo>
                  <a:pt x="0" y="900212"/>
                </a:lnTo>
                <a:lnTo>
                  <a:pt x="891902" y="0"/>
                </a:lnTo>
                <a:lnTo>
                  <a:pt x="1783804" y="900212"/>
                </a:lnTo>
                <a:lnTo>
                  <a:pt x="1105958" y="1584372"/>
                </a:lnTo>
              </a:path>
            </a:pathLst>
          </a:custGeom>
          <a:noFill/>
          <a:ln w="23105">
            <a:solidFill>
              <a:srgbClr val="C40D1E"/>
            </a:solidFill>
          </a:ln>
        </p:spPr>
        <p:txBody>
          <a:bodyPr/>
          <a:lstStyle/>
          <a:p>
            <a:endParaRPr lang="de-DE"/>
          </a:p>
        </p:txBody>
      </p:sp>
      <p:sp>
        <p:nvSpPr>
          <p:cNvPr id="51" name="Footer – Seitennummer">
            <a:extLst>
              <a:ext uri="{FF2B5EF4-FFF2-40B4-BE49-F238E27FC236}">
                <a16:creationId xmlns:a16="http://schemas.microsoft.com/office/drawing/2014/main" id="{8A438E1D-F6BB-4A20-815B-7418EA03F2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27 / 40</a:t>
            </a:r>
          </a:p>
        </p:txBody>
      </p:sp>
      <p:sp>
        <p:nvSpPr>
          <p:cNvPr id="52" name="Footer – Präsentationsangaben">
            <a:extLst>
              <a:ext uri="{FF2B5EF4-FFF2-40B4-BE49-F238E27FC236}">
                <a16:creationId xmlns:a16="http://schemas.microsoft.com/office/drawing/2014/main" id="{97E4CB3A-CA74-4FB6-B328-F4A56741092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6" name="Trennlinie eigene Arbeit">
            <a:extLst>
              <a:ext uri="{FF2B5EF4-FFF2-40B4-BE49-F238E27FC236}">
                <a16:creationId xmlns:a16="http://schemas.microsoft.com/office/drawing/2014/main" id="{64170BBE-A7F7-4933-A680-036CECB8A3F4}"/>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53" name="Motivation">
            <a:extLst>
              <a:ext uri="{FF2B5EF4-FFF2-40B4-BE49-F238E27FC236}">
                <a16:creationId xmlns:a16="http://schemas.microsoft.com/office/drawing/2014/main" id="{F2076C41-31D0-441C-B8A9-4457B41F9E4D}"/>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Hoher Speicher- und</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Rechenbedarf komplexer Modelle bei</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begrenzten BMS-Ressourcen</a:t>
            </a:r>
          </a:p>
        </p:txBody>
      </p:sp>
      <p:sp>
        <p:nvSpPr>
          <p:cNvPr id="54" name="Methodik">
            <a:extLst>
              <a:ext uri="{FF2B5EF4-FFF2-40B4-BE49-F238E27FC236}">
                <a16:creationId xmlns:a16="http://schemas.microsoft.com/office/drawing/2014/main" id="{9896E193-FB9B-41C6-BE18-880A0E4145A9}"/>
              </a:ext>
            </a:extLst>
          </p:cNvPr>
          <p:cNvSpPr>
            <a:spLocks noGrp="1"/>
          </p:cNvSpPr>
          <p:nvPr/>
        </p:nvSpPr>
        <p:spPr>
          <a:xfrm>
            <a:off x="5705475" y="255841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Structured Pruning [22]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INT8-Quantization [24] </a:t>
            </a:r>
            <a:r>
              <a:rPr sz="1800" b="0" dirty="0" err="1">
                <a:solidFill>
                  <a:srgbClr val="404040"/>
                </a:solidFill>
                <a:latin typeface="Calibri"/>
                <a:ea typeface="Calibri"/>
                <a:cs typeface="Calibri"/>
              </a:rPr>
              <a:t>als</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getrennte</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Pfade</a:t>
            </a:r>
            <a:r>
              <a:rPr sz="1800" b="0" dirty="0">
                <a:solidFill>
                  <a:srgbClr val="404040"/>
                </a:solidFill>
                <a:latin typeface="Calibri"/>
                <a:ea typeface="Calibri"/>
                <a:cs typeface="Calibri"/>
              </a:rPr>
              <a:t> für SOC-/SOH-LSTM</a:t>
            </a: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Vergleich</a:t>
            </a:r>
            <a:r>
              <a:rPr sz="1800" b="0" dirty="0">
                <a:solidFill>
                  <a:srgbClr val="404040"/>
                </a:solidFill>
                <a:latin typeface="Calibri"/>
                <a:ea typeface="Calibri"/>
                <a:cs typeface="Calibri"/>
              </a:rPr>
              <a:t> auf PC und STM32</a:t>
            </a:r>
          </a:p>
        </p:txBody>
      </p:sp>
      <p:sp>
        <p:nvSpPr>
          <p:cNvPr id="55" name="Ziel">
            <a:extLst>
              <a:ext uri="{FF2B5EF4-FFF2-40B4-BE49-F238E27FC236}">
                <a16:creationId xmlns:a16="http://schemas.microsoft.com/office/drawing/2014/main" id="{00D911E8-B572-4E48-B94C-AB8B98758838}"/>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Verringerung</a:t>
            </a:r>
            <a:r>
              <a:rPr sz="1800" b="0" dirty="0">
                <a:solidFill>
                  <a:srgbClr val="404040"/>
                </a:solidFill>
                <a:latin typeface="Calibri"/>
                <a:ea typeface="Calibri"/>
                <a:cs typeface="Calibri"/>
              </a:rPr>
              <a:t> des </a:t>
            </a:r>
            <a:r>
              <a:rPr sz="1800" b="0" dirty="0" err="1">
                <a:solidFill>
                  <a:srgbClr val="404040"/>
                </a:solidFill>
                <a:latin typeface="Calibri"/>
                <a:ea typeface="Calibri"/>
                <a:cs typeface="Calibri"/>
              </a:rPr>
              <a:t>Hardwarebedarfs</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bei</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möglichst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erhaltener</a:t>
            </a:r>
            <a:r>
              <a:rPr sz="1800" b="0" dirty="0">
                <a:solidFill>
                  <a:srgbClr val="404040"/>
                </a:solidFill>
                <a:latin typeface="Calibri"/>
                <a:ea typeface="Calibri"/>
                <a:cs typeface="Calibri"/>
              </a:rPr>
              <a:t> Accuracy</a:t>
            </a:r>
          </a:p>
        </p:txBody>
      </p:sp>
      <p:sp>
        <p:nvSpPr>
          <p:cNvPr id="58" name="Paper-Titel">
            <a:extLst>
              <a:ext uri="{FF2B5EF4-FFF2-40B4-BE49-F238E27FC236}">
                <a16:creationId xmlns:a16="http://schemas.microsoft.com/office/drawing/2014/main" id="{8849D3C3-903E-4CE1-8883-E0A3785BF155}"/>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Embedded Artificial Intelligence in Battery Management Systems: Pruning and Quantization for Efficient State-of-Charge and State-of-Health Estimation</a:t>
            </a:r>
          </a:p>
        </p:txBody>
      </p:sp>
      <p:sp>
        <p:nvSpPr>
          <p:cNvPr id="57" name="Paper-Angabe">
            <a:extLst>
              <a:ext uri="{FF2B5EF4-FFF2-40B4-BE49-F238E27FC236}">
                <a16:creationId xmlns:a16="http://schemas.microsoft.com/office/drawing/2014/main" id="{7696C996-D739-43A4-A96F-D2F500F52700}"/>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&amp; Kowal (2026), EAAI [20]</a:t>
            </a:r>
          </a:p>
        </p:txBody>
      </p:sp>
    </p:spTree>
    <p:extLst>
      <p:ext uri="{BB962C8B-B14F-4D97-AF65-F5344CB8AC3E}">
        <p14:creationId xmlns:p14="http://schemas.microsoft.com/office/powerpoint/2010/main" val="235069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lstm">
            <a:extLst>
              <a:ext uri="{FF2B5EF4-FFF2-40B4-BE49-F238E27FC236}">
                <a16:creationId xmlns:a16="http://schemas.microsoft.com/office/drawing/2014/main" id="{9D1ACB14-F00C-4614-98C9-B8BC565F9F7B}"/>
              </a:ext>
            </a:extLst>
          </p:cNvPr>
          <p:cNvSpPr>
            <a:spLocks noGrp="1"/>
          </p:cNvSpPr>
          <p:nvPr/>
        </p:nvSpPr>
        <p:spPr>
          <a:xfrm>
            <a:off x="3638550" y="1438275"/>
            <a:ext cx="2505075" cy="1866900"/>
          </a:xfrm>
          <a:prstGeom prst="rect">
            <a:avLst/>
          </a:prstGeom>
          <a:noFill/>
          <a:ln w="23813">
            <a:solidFill>
              <a:srgbClr val="D00020"/>
            </a:solidFill>
          </a:ln>
        </p:spPr>
        <p:txBody>
          <a:bodyPr/>
          <a:lstStyle/>
          <a:p>
            <a:endParaRPr lang="de-DE"/>
          </a:p>
        </p:txBody>
      </p:sp>
      <p:sp>
        <p:nvSpPr>
          <p:cNvPr id="2001" name="PC_lstm_context">
            <a:extLst>
              <a:ext uri="{FF2B5EF4-FFF2-40B4-BE49-F238E27FC236}">
                <a16:creationId xmlns:a16="http://schemas.microsoft.com/office/drawing/2014/main" id="{8F6F31F6-DB3D-4962-82EA-FC8F6F6FBBD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LSTM-Kern: D = 6 Eingänge, H Hidden Units und vier Transformationen</a:t>
            </a:r>
          </a:p>
        </p:txBody>
      </p:sp>
      <mc:AlternateContent xmlns:mc="http://schemas.openxmlformats.org/markup-compatibility/2006" xmlns:a14="http://schemas.microsoft.com/office/drawing/2010/main">
        <mc:Choice Requires="a14">
          <p:sp>
            <p:nvSpPr>
              <p:cNvPr id="2002" name="PC_lstm_formula">
                <a:extLst>
                  <a:ext uri="{FF2B5EF4-FFF2-40B4-BE49-F238E27FC236}">
                    <a16:creationId xmlns:a16="http://schemas.microsoft.com/office/drawing/2014/main" id="{7D64357B-95AF-44E4-B9A0-79C5B4F41DBC}"/>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LSTM</m:t>
                          </m:r>
                        </m:sub>
                      </m:sSub>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𝐻𝐷</m:t>
                      </m:r>
                      <m:r>
                        <a:rPr sz="1800">
                          <a:solidFill>
                            <a:srgbClr val="444444"/>
                          </a:solidFill>
                          <a:latin typeface="Cambria Math"/>
                          <a:ea typeface="Cambria Math"/>
                          <a:cs typeface="Cambria Math"/>
                        </a:rPr>
                        <m:t>+</m:t>
                      </m:r>
                      <m:sSup>
                        <m:sSupPr>
                          <m:ctrlPr>
                            <a:rPr sz="1800">
                              <a:solidFill>
                                <a:srgbClr val="444444"/>
                              </a:solidFill>
                              <a:latin typeface="Cambria Math"/>
                              <a:ea typeface="Cambria Math"/>
                              <a:cs typeface="Cambria Math"/>
                            </a:rPr>
                          </m:ctrlPr>
                        </m:sSupPr>
                        <m:e>
                          <m:r>
                            <a:rPr sz="1800">
                              <a:solidFill>
                                <a:srgbClr val="444444"/>
                              </a:solidFill>
                              <a:latin typeface="Cambria Math"/>
                              <a:ea typeface="Cambria Math"/>
                              <a:cs typeface="Cambria Math"/>
                            </a:rPr>
                            <m:t>𝐻</m:t>
                          </m:r>
                        </m:e>
                        <m:sup>
                          <m:r>
                            <a:rPr sz="1260">
                              <a:solidFill>
                                <a:srgbClr val="444444"/>
                              </a:solidFill>
                              <a:latin typeface="Cambria Math"/>
                              <a:ea typeface="Cambria Math"/>
                              <a:cs typeface="Cambria Math"/>
                            </a:rPr>
                            <m:t>2</m:t>
                          </m:r>
                        </m:sup>
                      </m:sSup>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𝐷</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+2)</m:t>
                      </m:r>
                    </m:oMath>
                  </m:oMathPara>
                </a14:m>
                <a:endParaRPr/>
              </a:p>
            </p:txBody>
          </p:sp>
        </mc:Choice>
        <mc:Fallback xmlns="">
          <p:sp>
            <p:nvSpPr>
              <p:cNvPr id="2002" name="PC_lstm_formula">
                <a:extLst>
                  <a:ext uri="{FF2B5EF4-FFF2-40B4-BE49-F238E27FC236}">
                    <a16:creationId xmlns:a16="http://schemas.microsoft.com/office/drawing/2014/main" id="{7D64357B-95AF-44E4-B9A0-79C5B4F41DBC}"/>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lstm_terms">
            <a:extLst>
              <a:ext uri="{FF2B5EF4-FFF2-40B4-BE49-F238E27FC236}">
                <a16:creationId xmlns:a16="http://schemas.microsoft.com/office/drawing/2014/main" id="{03FAB854-6EB4-4302-9649-46CA12F9A798}"/>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Gewichte: H × D (Input) und H² (Rekurrenz), Bias: 2H je Transformation</a:t>
            </a:r>
          </a:p>
        </p:txBody>
      </p:sp>
      <mc:AlternateContent xmlns:mc="http://schemas.openxmlformats.org/markup-compatibility/2006" xmlns:a14="http://schemas.microsoft.com/office/drawing/2010/main">
        <mc:Choice Requires="a14">
          <p:sp>
            <p:nvSpPr>
              <p:cNvPr id="2004" name="PC_lstm_soc">
                <a:extLst>
                  <a:ext uri="{FF2B5EF4-FFF2-40B4-BE49-F238E27FC236}">
                    <a16:creationId xmlns:a16="http://schemas.microsoft.com/office/drawing/2014/main" id="{EBDEA6A4-C10B-480C-B332-E1C36C39EBE9}"/>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64): 4 × 64 × (6 + 64 + 2) = 18 432</m:t>
                      </m:r>
                    </m:oMath>
                  </m:oMathPara>
                </a14:m>
                <a:endParaRPr dirty="0"/>
              </a:p>
            </p:txBody>
          </p:sp>
        </mc:Choice>
        <mc:Fallback xmlns="">
          <p:sp>
            <p:nvSpPr>
              <p:cNvPr id="2004" name="PC_lstm_soc">
                <a:extLst>
                  <a:ext uri="{FF2B5EF4-FFF2-40B4-BE49-F238E27FC236}">
                    <a16:creationId xmlns:a16="http://schemas.microsoft.com/office/drawing/2014/main" id="{EBDEA6A4-C10B-480C-B332-E1C36C39EBE9}"/>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lstm_soh">
                <a:extLst>
                  <a:ext uri="{FF2B5EF4-FFF2-40B4-BE49-F238E27FC236}">
                    <a16:creationId xmlns:a16="http://schemas.microsoft.com/office/drawing/2014/main" id="{617BD58E-E617-4D38-9CD5-DA4BD5DD92E7}"/>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128): 4 × 128 × (6 + 128 + 2) = 69 632</m:t>
                      </m:r>
                    </m:oMath>
                  </m:oMathPara>
                </a14:m>
                <a:endParaRPr/>
              </a:p>
            </p:txBody>
          </p:sp>
        </mc:Choice>
        <mc:Fallback xmlns="">
          <p:sp>
            <p:nvSpPr>
              <p:cNvPr id="2005" name="PC_lstm_soh">
                <a:extLst>
                  <a:ext uri="{FF2B5EF4-FFF2-40B4-BE49-F238E27FC236}">
                    <a16:creationId xmlns:a16="http://schemas.microsoft.com/office/drawing/2014/main" id="{617BD58E-E617-4D38-9CD5-DA4BD5DD92E7}"/>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PE_SOC_features">
            <a:extLst>
              <a:ext uri="{FF2B5EF4-FFF2-40B4-BE49-F238E27FC236}">
                <a16:creationId xmlns:a16="http://schemas.microsoft.com/office/drawing/2014/main" id="{24A1E4F1-9E71-4E6D-AFBF-D0EC6FC8EA87}"/>
              </a:ext>
            </a:extLst>
          </p:cNvPr>
          <p:cNvSpPr>
            <a:spLocks noGrp="1"/>
          </p:cNvSpPr>
          <p:nvPr/>
        </p:nvSpPr>
        <p:spPr>
          <a:xfrm>
            <a:off x="552450" y="1095375"/>
            <a:ext cx="4953000"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SOC: </a:t>
            </a:r>
            <a:r>
              <a:rPr sz="1800" b="0">
                <a:solidFill>
                  <a:srgbClr val="444444"/>
                </a:solidFill>
                <a:latin typeface="Calibri"/>
                <a:ea typeface="Calibri"/>
                <a:cs typeface="Calibri"/>
              </a:rPr>
              <a:t>U, I, T, Qc, dU/dt, dI/dt</a:t>
            </a:r>
          </a:p>
        </p:txBody>
      </p:sp>
      <p:sp>
        <p:nvSpPr>
          <p:cNvPr id="2007" name="PE_SOH_features">
            <a:extLst>
              <a:ext uri="{FF2B5EF4-FFF2-40B4-BE49-F238E27FC236}">
                <a16:creationId xmlns:a16="http://schemas.microsoft.com/office/drawing/2014/main" id="{30D04980-FEEA-40A4-831A-78A218876E70}"/>
              </a:ext>
            </a:extLst>
          </p:cNvPr>
          <p:cNvSpPr>
            <a:spLocks noGrp="1"/>
          </p:cNvSpPr>
          <p:nvPr/>
        </p:nvSpPr>
        <p:spPr>
          <a:xfrm>
            <a:off x="5715000" y="1095375"/>
            <a:ext cx="4238625"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SOH: </a:t>
            </a:r>
            <a:r>
              <a:rPr sz="1800" b="0">
                <a:solidFill>
                  <a:srgbClr val="444444"/>
                </a:solidFill>
                <a:latin typeface="Calibri"/>
                <a:ea typeface="Calibri"/>
                <a:cs typeface="Calibri"/>
              </a:rPr>
              <a:t>t, U, I, T, EFC, Qc</a:t>
            </a:r>
          </a:p>
        </p:txBody>
      </p:sp>
      <p:sp>
        <p:nvSpPr>
          <p:cNvPr id="2008" name="Footer – Seitennummer">
            <a:extLst>
              <a:ext uri="{FF2B5EF4-FFF2-40B4-BE49-F238E27FC236}">
                <a16:creationId xmlns:a16="http://schemas.microsoft.com/office/drawing/2014/main" id="{B8CCE991-007D-42D6-81A9-812723C6185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28 / 40</a:t>
            </a:r>
          </a:p>
        </p:txBody>
      </p:sp>
      <p:sp>
        <p:nvSpPr>
          <p:cNvPr id="2009" name="Footer – Präsentationsangaben">
            <a:extLst>
              <a:ext uri="{FF2B5EF4-FFF2-40B4-BE49-F238E27FC236}">
                <a16:creationId xmlns:a16="http://schemas.microsoft.com/office/drawing/2014/main" id="{567180AF-BA64-4FF3-9A8E-10AA2D9CC0B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mlp">
            <a:extLst>
              <a:ext uri="{FF2B5EF4-FFF2-40B4-BE49-F238E27FC236}">
                <a16:creationId xmlns:a16="http://schemas.microsoft.com/office/drawing/2014/main" id="{198F6CFA-8047-4B0B-AB74-D8BC81A05B1F}"/>
              </a:ext>
            </a:extLst>
          </p:cNvPr>
          <p:cNvSpPr>
            <a:spLocks noGrp="1"/>
          </p:cNvSpPr>
          <p:nvPr/>
        </p:nvSpPr>
        <p:spPr>
          <a:xfrm>
            <a:off x="6915150" y="1438275"/>
            <a:ext cx="1514475" cy="1866900"/>
          </a:xfrm>
          <a:prstGeom prst="rect">
            <a:avLst/>
          </a:prstGeom>
          <a:noFill/>
          <a:ln w="23813">
            <a:solidFill>
              <a:srgbClr val="D00020"/>
            </a:solidFill>
          </a:ln>
        </p:spPr>
        <p:txBody>
          <a:bodyPr/>
          <a:lstStyle/>
          <a:p>
            <a:endParaRPr lang="de-DE"/>
          </a:p>
        </p:txBody>
      </p:sp>
      <p:sp>
        <p:nvSpPr>
          <p:cNvPr id="2001" name="PC_mlp_context">
            <a:extLst>
              <a:ext uri="{FF2B5EF4-FFF2-40B4-BE49-F238E27FC236}">
                <a16:creationId xmlns:a16="http://schemas.microsoft.com/office/drawing/2014/main" id="{69C62011-B5E3-46C4-A774-1259BE15597B}"/>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MLP-Head: Hidden Layer der Breite M und skalarer Ausgang</a:t>
            </a:r>
          </a:p>
        </p:txBody>
      </p:sp>
      <mc:AlternateContent xmlns:mc="http://schemas.openxmlformats.org/markup-compatibility/2006" xmlns:a14="http://schemas.microsoft.com/office/drawing/2010/main">
        <mc:Choice Requires="a14">
          <p:sp>
            <p:nvSpPr>
              <p:cNvPr id="2002" name="PC_mlp_formula">
                <a:extLst>
                  <a:ext uri="{FF2B5EF4-FFF2-40B4-BE49-F238E27FC236}">
                    <a16:creationId xmlns:a16="http://schemas.microsoft.com/office/drawing/2014/main" id="{CCF4E6AD-A8AC-4569-AECB-DEF9A8200D79}"/>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MLP</m:t>
                          </m:r>
                        </m:sub>
                      </m:sSub>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oMath>
                  </m:oMathPara>
                </a14:m>
                <a:endParaRPr/>
              </a:p>
            </p:txBody>
          </p:sp>
        </mc:Choice>
        <mc:Fallback xmlns="">
          <p:sp>
            <p:nvSpPr>
              <p:cNvPr id="2002" name="PC_mlp_formula">
                <a:extLst>
                  <a:ext uri="{FF2B5EF4-FFF2-40B4-BE49-F238E27FC236}">
                    <a16:creationId xmlns:a16="http://schemas.microsoft.com/office/drawing/2014/main" id="{CCF4E6AD-A8AC-4569-AECB-DEF9A8200D79}"/>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mlp_terms">
            <a:extLst>
              <a:ext uri="{FF2B5EF4-FFF2-40B4-BE49-F238E27FC236}">
                <a16:creationId xmlns:a16="http://schemas.microsoft.com/office/drawing/2014/main" id="{45134C5B-C59D-40DF-840A-6AEC9C2EDECD}"/>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Hidden Layer: H × M Gewichte + M Bias, Ausgang: M Gewichte + 1 Bias</a:t>
            </a:r>
          </a:p>
        </p:txBody>
      </p:sp>
      <mc:AlternateContent xmlns:mc="http://schemas.openxmlformats.org/markup-compatibility/2006" xmlns:a14="http://schemas.microsoft.com/office/drawing/2010/main">
        <mc:Choice Requires="a14">
          <p:sp>
            <p:nvSpPr>
              <p:cNvPr id="2004" name="PC_mlp_soc">
                <a:extLst>
                  <a:ext uri="{FF2B5EF4-FFF2-40B4-BE49-F238E27FC236}">
                    <a16:creationId xmlns:a16="http://schemas.microsoft.com/office/drawing/2014/main" id="{6B560B57-E9FD-4FA6-820E-13908073AB7B}"/>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64): 4 096 + 64 + 64 + 1 = 4 225</m:t>
                      </m:r>
                    </m:oMath>
                  </m:oMathPara>
                </a14:m>
                <a:endParaRPr dirty="0"/>
              </a:p>
            </p:txBody>
          </p:sp>
        </mc:Choice>
        <mc:Fallback xmlns="">
          <p:sp>
            <p:nvSpPr>
              <p:cNvPr id="2004" name="PC_mlp_soc">
                <a:extLst>
                  <a:ext uri="{FF2B5EF4-FFF2-40B4-BE49-F238E27FC236}">
                    <a16:creationId xmlns:a16="http://schemas.microsoft.com/office/drawing/2014/main" id="{6B560B57-E9FD-4FA6-820E-13908073AB7B}"/>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mlp_soh">
                <a:extLst>
                  <a:ext uri="{FF2B5EF4-FFF2-40B4-BE49-F238E27FC236}">
                    <a16:creationId xmlns:a16="http://schemas.microsoft.com/office/drawing/2014/main" id="{C6CCD990-855A-4336-ACF6-FC4843690B5A}"/>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128): 16 384 + 128 + 128 + 1 = 16 641</m:t>
                      </m:r>
                    </m:oMath>
                  </m:oMathPara>
                </a14:m>
                <a:endParaRPr/>
              </a:p>
            </p:txBody>
          </p:sp>
        </mc:Choice>
        <mc:Fallback xmlns="">
          <p:sp>
            <p:nvSpPr>
              <p:cNvPr id="2005" name="PC_mlp_soh">
                <a:extLst>
                  <a:ext uri="{FF2B5EF4-FFF2-40B4-BE49-F238E27FC236}">
                    <a16:creationId xmlns:a16="http://schemas.microsoft.com/office/drawing/2014/main" id="{C6CCD990-855A-4336-ACF6-FC4843690B5A}"/>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Footer – Seitennummer">
            <a:extLst>
              <a:ext uri="{FF2B5EF4-FFF2-40B4-BE49-F238E27FC236}">
                <a16:creationId xmlns:a16="http://schemas.microsoft.com/office/drawing/2014/main" id="{BC98EC0B-CCC1-4D0F-A014-BD9B78DEA97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29 / 40</a:t>
            </a:r>
          </a:p>
        </p:txBody>
      </p:sp>
      <p:sp>
        <p:nvSpPr>
          <p:cNvPr id="2007" name="Footer – Präsentationsangaben">
            <a:extLst>
              <a:ext uri="{FF2B5EF4-FFF2-40B4-BE49-F238E27FC236}">
                <a16:creationId xmlns:a16="http://schemas.microsoft.com/office/drawing/2014/main" id="{6935407F-0182-4B2F-B102-8E600178AF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total">
            <a:extLst>
              <a:ext uri="{FF2B5EF4-FFF2-40B4-BE49-F238E27FC236}">
                <a16:creationId xmlns:a16="http://schemas.microsoft.com/office/drawing/2014/main" id="{E35583EC-7332-4BDC-949F-8C80BCF0C976}"/>
              </a:ext>
            </a:extLst>
          </p:cNvPr>
          <p:cNvSpPr>
            <a:spLocks noGrp="1"/>
          </p:cNvSpPr>
          <p:nvPr/>
        </p:nvSpPr>
        <p:spPr>
          <a:xfrm>
            <a:off x="3638550" y="1438275"/>
            <a:ext cx="4791075" cy="1866900"/>
          </a:xfrm>
          <a:prstGeom prst="rect">
            <a:avLst/>
          </a:prstGeom>
          <a:noFill/>
          <a:ln w="23813">
            <a:solidFill>
              <a:srgbClr val="D00020"/>
            </a:solidFill>
          </a:ln>
        </p:spPr>
        <p:txBody>
          <a:bodyPr/>
          <a:lstStyle/>
          <a:p>
            <a:endParaRPr lang="de-DE"/>
          </a:p>
        </p:txBody>
      </p:sp>
      <p:sp>
        <p:nvSpPr>
          <p:cNvPr id="2001" name="PC_total_context">
            <a:extLst>
              <a:ext uri="{FF2B5EF4-FFF2-40B4-BE49-F238E27FC236}">
                <a16:creationId xmlns:a16="http://schemas.microsoft.com/office/drawing/2014/main" id="{ADB848F1-898F-44DB-96A3-26EFDB56EB9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Gesamtzahl: LSTM-Kern + MLP-Head, jeweils inklusive Bias</a:t>
            </a:r>
          </a:p>
        </p:txBody>
      </p:sp>
      <p:graphicFrame>
        <p:nvGraphicFramePr>
          <p:cNvPr id="2002" name="Tabelle 2001"/>
          <p:cNvGraphicFramePr/>
          <p:nvPr/>
        </p:nvGraphicFramePr>
        <p:xfrm>
          <a:off x="552450" y="4381500"/>
          <a:ext cx="9391650" cy="1114425"/>
        </p:xfrm>
        <a:graphic>
          <a:graphicData uri="http://schemas.openxmlformats.org/drawingml/2006/table">
            <a:tbl>
              <a:tblPr/>
              <a:tblGrid>
                <a:gridCol w="333375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371475">
                <a:tc>
                  <a:txBody>
                    <a:bodyPr/>
                    <a:lstStyle/>
                    <a:p>
                      <a:pPr algn="l">
                        <a:buNone/>
                      </a:pPr>
                      <a:r>
                        <a:rPr sz="1800" b="1">
                          <a:solidFill>
                            <a:srgbClr val="444444"/>
                          </a:solidFill>
                          <a:latin typeface="Calibri"/>
                          <a:ea typeface="Calibri"/>
                          <a:cs typeface="Calibri"/>
                        </a:rPr>
                        <a:t>Base-Modell (D = 6)</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LSTM</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MLP</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Gesamt</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18 432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4 225</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22 657</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69 632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16 641</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86 273</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3" name="PC_total_takeaway">
            <a:extLst>
              <a:ext uri="{FF2B5EF4-FFF2-40B4-BE49-F238E27FC236}">
                <a16:creationId xmlns:a16="http://schemas.microsoft.com/office/drawing/2014/main" id="{29EE1B8C-833A-49C1-BF20-CFB326567C36}"/>
              </a:ext>
            </a:extLst>
          </p:cNvPr>
          <p:cNvSpPr>
            <a:spLocks noGrp="1"/>
          </p:cNvSpPr>
          <p:nvPr/>
        </p:nvSpPr>
        <p:spPr>
          <a:xfrm>
            <a:off x="552450" y="56292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LSTM-Kern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rund</a:t>
            </a:r>
            <a:r>
              <a:rPr sz="1800" b="1" dirty="0">
                <a:solidFill>
                  <a:srgbClr val="D00020"/>
                </a:solidFill>
                <a:latin typeface="Calibri"/>
                <a:ea typeface="Calibri"/>
                <a:cs typeface="Calibri"/>
              </a:rPr>
              <a:t> 81 % der Parameter und </a:t>
            </a:r>
            <a:r>
              <a:rPr sz="1800" b="1" dirty="0" err="1">
                <a:solidFill>
                  <a:srgbClr val="D00020"/>
                </a:solidFill>
                <a:latin typeface="Calibri"/>
                <a:ea typeface="Calibri"/>
                <a:cs typeface="Calibri"/>
              </a:rPr>
              <a:t>quadratischem</a:t>
            </a:r>
            <a:r>
              <a:rPr sz="1800" b="1" dirty="0">
                <a:solidFill>
                  <a:srgbClr val="D00020"/>
                </a:solidFill>
                <a:latin typeface="Calibri"/>
                <a:ea typeface="Calibri"/>
                <a:cs typeface="Calibri"/>
              </a:rPr>
              <a:t> H²-Anteil</a:t>
            </a:r>
          </a:p>
        </p:txBody>
      </p:sp>
      <p:sp>
        <p:nvSpPr>
          <p:cNvPr id="2004" name="Footer – Seitennummer">
            <a:extLst>
              <a:ext uri="{FF2B5EF4-FFF2-40B4-BE49-F238E27FC236}">
                <a16:creationId xmlns:a16="http://schemas.microsoft.com/office/drawing/2014/main" id="{A5002ADF-0CAC-4234-9AEB-7C6334E29F6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30 / 40</a:t>
            </a:r>
          </a:p>
        </p:txBody>
      </p:sp>
      <p:sp>
        <p:nvSpPr>
          <p:cNvPr id="2005" name="Footer – Präsentationsangaben">
            <a:extLst>
              <a:ext uri="{FF2B5EF4-FFF2-40B4-BE49-F238E27FC236}">
                <a16:creationId xmlns:a16="http://schemas.microsoft.com/office/drawing/2014/main" id="{2E841FC3-0705-40B9-90D3-4B57B77431F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Versuchsaufbau: Kompression und STM32-Benchmark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324350"/>
            <a:ext cx="9391650" cy="323850"/>
          </a:xfrm>
          <a:prstGeom prst="rect">
            <a:avLst/>
          </a:prstGeom>
          <a:noFill/>
          <a:ln w="0">
            <a:noFill/>
          </a:ln>
        </p:spPr>
        <p:txBody>
          <a:bodyPr vert="horz"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Kompression: </a:t>
            </a:r>
            <a:r>
              <a:rPr sz="1800" b="0">
                <a:solidFill>
                  <a:srgbClr val="444444"/>
                </a:solidFill>
                <a:latin typeface="Calibri"/>
                <a:ea typeface="Calibri"/>
                <a:cs typeface="Calibri"/>
              </a:rPr>
              <a:t>Pruning oder INT8-Quantization derselben trainierten SOC-/SOH-Modelle</a:t>
            </a:r>
          </a:p>
        </p:txBody>
      </p:sp>
      <p:pic>
        <p:nvPicPr>
          <p:cNvPr id="32" name="V5_Figure_11"/>
          <p:cNvPicPr>
            <a:picLocks noChangeAspect="1"/>
          </p:cNvPicPr>
          <p:nvPr/>
        </p:nvPicPr>
        <p:blipFill>
          <a:blip r:embed="rId3"/>
          <a:stretch/>
        </p:blipFill>
        <p:spPr>
          <a:xfrm>
            <a:off x="552450" y="1544271"/>
            <a:ext cx="9353550" cy="2559783"/>
          </a:xfrm>
          <a:prstGeom prst="rect">
            <a:avLst/>
          </a:prstGeom>
        </p:spPr>
      </p:pic>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8-2">
            <a:extLst>
              <a:ext uri="{FF2B5EF4-FFF2-40B4-BE49-F238E27FC236}">
                <a16:creationId xmlns:a16="http://schemas.microsoft.com/office/drawing/2014/main" id="{39856BE7-3362-4153-8710-ED503E867D10}"/>
              </a:ext>
            </a:extLst>
          </p:cNvPr>
          <p:cNvSpPr>
            <a:spLocks noGrp="1"/>
          </p:cNvSpPr>
          <p:nvPr/>
        </p:nvSpPr>
        <p:spPr>
          <a:xfrm>
            <a:off x="552450" y="48196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Vergleich: </a:t>
            </a:r>
            <a:r>
              <a:rPr sz="1800" b="0">
                <a:solidFill>
                  <a:srgbClr val="444444"/>
                </a:solidFill>
                <a:latin typeface="Calibri"/>
                <a:ea typeface="Calibri"/>
                <a:cs typeface="Calibri"/>
              </a:rPr>
              <a:t>Base, Pruned und Quantized auf PC und STM32 bei identischem Datenstrom</a:t>
            </a:r>
          </a:p>
        </p:txBody>
      </p:sp>
      <p:sp>
        <p:nvSpPr>
          <p:cNvPr id="25" name="v11-text-28-3">
            <a:extLst>
              <a:ext uri="{FF2B5EF4-FFF2-40B4-BE49-F238E27FC236}">
                <a16:creationId xmlns:a16="http://schemas.microsoft.com/office/drawing/2014/main" id="{68466449-D5C5-4284-BC65-F3B6CFC88ECD}"/>
              </a:ext>
            </a:extLst>
          </p:cNvPr>
          <p:cNvSpPr>
            <a:spLocks noGrp="1"/>
          </p:cNvSpPr>
          <p:nvPr/>
        </p:nvSpPr>
        <p:spPr>
          <a:xfrm>
            <a:off x="552450" y="5314950"/>
            <a:ext cx="9391650" cy="6286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Ziel: </a:t>
            </a: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Hardwarebedarf</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möglichst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unverändertem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Schätzfehler</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konsistenten</a:t>
            </a:r>
            <a:r>
              <a:rPr sz="1800" b="1" dirty="0">
                <a:solidFill>
                  <a:srgbClr val="D00020"/>
                </a:solidFill>
                <a:latin typeface="Calibri"/>
                <a:ea typeface="Calibri"/>
                <a:cs typeface="Calibri"/>
              </a:rPr>
              <a:t> PC-/STM32-Ausgaben</a:t>
            </a:r>
          </a:p>
        </p:txBody>
      </p:sp>
      <p:sp>
        <p:nvSpPr>
          <p:cNvPr id="33" name="Footer – Seitennummer">
            <a:extLst>
              <a:ext uri="{FF2B5EF4-FFF2-40B4-BE49-F238E27FC236}">
                <a16:creationId xmlns:a16="http://schemas.microsoft.com/office/drawing/2014/main" id="{ABB8B61A-4DAB-4666-92BB-911BE0E1C53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31 / 40</a:t>
            </a:r>
          </a:p>
        </p:txBody>
      </p:sp>
      <p:sp>
        <p:nvSpPr>
          <p:cNvPr id="34" name="Footer – Präsentationsangaben">
            <a:extLst>
              <a:ext uri="{FF2B5EF4-FFF2-40B4-BE49-F238E27FC236}">
                <a16:creationId xmlns:a16="http://schemas.microsoft.com/office/drawing/2014/main" id="{12B78B20-47FE-479E-9F9B-2B62442A21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CCCC7811-9E74-4772-AFCB-95E2B33CE213}"/>
              </a:ext>
            </a:extLst>
          </p:cNvPr>
          <p:cNvSpPr>
            <a:spLocks noGrp="1"/>
          </p:cNvSpPr>
          <p:nvPr/>
        </p:nvSpPr>
        <p:spPr>
          <a:xfrm>
            <a:off x="9639300" y="413385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[20]</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Unstructured und Structured Pruning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3" name="V5_Text_13">
            <a:extLst>
              <a:ext uri="{FF2B5EF4-FFF2-40B4-BE49-F238E27FC236}">
                <a16:creationId xmlns:a16="http://schemas.microsoft.com/office/drawing/2014/main" id="{DE96A364-1391-49F0-9295-872CEC7644D0}"/>
              </a:ext>
            </a:extLst>
          </p:cNvPr>
          <p:cNvSpPr>
            <a:spLocks noGrp="1"/>
          </p:cNvSpPr>
          <p:nvPr/>
        </p:nvSpPr>
        <p:spPr>
          <a:xfrm>
            <a:off x="552450" y="4457700"/>
            <a:ext cx="9353550" cy="6096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Unstructured Pruning:</a:t>
            </a:r>
            <a:r>
              <a:rPr sz="1800" b="0" dirty="0">
                <a:latin typeface="Calibri"/>
                <a:ea typeface="Calibri"/>
                <a:cs typeface="Calibri"/>
              </a:rPr>
              <a:t> </a:t>
            </a:r>
            <a:r>
              <a:rPr sz="1800" b="0" dirty="0" err="1">
                <a:latin typeface="Calibri"/>
                <a:ea typeface="Calibri"/>
                <a:cs typeface="Calibri"/>
              </a:rPr>
              <a:t>Einzelne</a:t>
            </a:r>
            <a:r>
              <a:rPr sz="1800" b="0" dirty="0">
                <a:latin typeface="Calibri"/>
                <a:ea typeface="Calibri"/>
                <a:cs typeface="Calibri"/>
              </a:rPr>
              <a:t> </a:t>
            </a:r>
            <a:r>
              <a:rPr sz="1800" b="0" dirty="0" err="1">
                <a:latin typeface="Calibri"/>
                <a:ea typeface="Calibri"/>
                <a:cs typeface="Calibri"/>
              </a:rPr>
              <a:t>Gewichte</a:t>
            </a:r>
            <a:r>
              <a:rPr sz="1800" b="0" dirty="0">
                <a:latin typeface="Calibri"/>
                <a:ea typeface="Calibri"/>
                <a:cs typeface="Calibri"/>
              </a:rPr>
              <a:t> </a:t>
            </a:r>
            <a:r>
              <a:rPr sz="1800" b="0" dirty="0" err="1">
                <a:latin typeface="Calibri"/>
                <a:ea typeface="Calibri"/>
                <a:cs typeface="Calibri"/>
              </a:rPr>
              <a:t>nullsetzen</a:t>
            </a:r>
            <a:r>
              <a:rPr sz="1800" b="0" dirty="0">
                <a:latin typeface="Calibri"/>
                <a:ea typeface="Calibri"/>
                <a:cs typeface="Calibri"/>
              </a:rPr>
              <a:t>. </a:t>
            </a:r>
            <a:r>
              <a:rPr sz="1800" b="0" dirty="0" err="1">
                <a:latin typeface="Calibri"/>
                <a:ea typeface="Calibri"/>
                <a:cs typeface="Calibri"/>
              </a:rPr>
              <a:t>Matrixabmessungen</a:t>
            </a:r>
            <a:r>
              <a:rPr sz="1800" b="0" dirty="0">
                <a:latin typeface="Calibri"/>
                <a:ea typeface="Calibri"/>
                <a:cs typeface="Calibri"/>
              </a:rPr>
              <a:t> und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Schleifen</a:t>
            </a:r>
            <a:r>
              <a:rPr sz="1800" b="0" dirty="0">
                <a:latin typeface="Calibri"/>
                <a:ea typeface="Calibri"/>
                <a:cs typeface="Calibri"/>
              </a:rPr>
              <a:t> </a:t>
            </a:r>
            <a:r>
              <a:rPr sz="1800" b="0" dirty="0" err="1">
                <a:latin typeface="Calibri"/>
                <a:ea typeface="Calibri"/>
                <a:cs typeface="Calibri"/>
              </a:rPr>
              <a:t>bleiben</a:t>
            </a:r>
            <a:r>
              <a:rPr sz="1800" b="0" dirty="0">
                <a:latin typeface="Calibri"/>
                <a:ea typeface="Calibri"/>
                <a:cs typeface="Calibri"/>
              </a:rPr>
              <a:t> </a:t>
            </a:r>
            <a:r>
              <a:rPr sz="1800" b="0" dirty="0" err="1">
                <a:latin typeface="Calibri"/>
                <a:ea typeface="Calibri"/>
                <a:cs typeface="Calibri"/>
              </a:rPr>
              <a:t>gleich</a:t>
            </a:r>
            <a:r>
              <a:rPr sz="1800" b="0" baseline="0" dirty="0">
                <a:latin typeface="Calibri"/>
                <a:ea typeface="Calibri"/>
                <a:cs typeface="Calibri"/>
              </a:rPr>
              <a:t> [21]</a:t>
            </a:r>
          </a:p>
        </p:txBody>
      </p:sp>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5181600"/>
            <a:ext cx="9353550" cy="5524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Structured Pruning:</a:t>
            </a:r>
            <a:r>
              <a:rPr sz="1800" b="0" dirty="0">
                <a:latin typeface="Calibri"/>
                <a:ea typeface="Calibri"/>
                <a:cs typeface="Calibri"/>
              </a:rPr>
              <a:t> Ganze </a:t>
            </a:r>
            <a:r>
              <a:rPr sz="1800" b="0" dirty="0" err="1">
                <a:latin typeface="Calibri"/>
                <a:ea typeface="Calibri"/>
                <a:cs typeface="Calibri"/>
              </a:rPr>
              <a:t>Kanäle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a:t>
            </a:r>
            <a:r>
              <a:rPr sz="1800" b="0" dirty="0" err="1">
                <a:latin typeface="Calibri"/>
                <a:ea typeface="Calibri"/>
                <a:cs typeface="Calibri"/>
              </a:rPr>
              <a:t>abhängigen</a:t>
            </a:r>
            <a:r>
              <a:rPr sz="1800" b="0" dirty="0">
                <a:latin typeface="Calibri"/>
                <a:ea typeface="Calibri"/>
                <a:cs typeface="Calibri"/>
              </a:rPr>
              <a:t> </a:t>
            </a:r>
            <a:r>
              <a:rPr sz="1800" b="0" dirty="0" err="1">
                <a:latin typeface="Calibri"/>
                <a:ea typeface="Calibri"/>
                <a:cs typeface="Calibri"/>
              </a:rPr>
              <a:t>Zeilen</a:t>
            </a:r>
            <a:r>
              <a:rPr sz="1800" b="0" dirty="0">
                <a:latin typeface="Calibri"/>
                <a:ea typeface="Calibri"/>
                <a:cs typeface="Calibri"/>
              </a:rPr>
              <a:t> und </a:t>
            </a:r>
            <a:r>
              <a:rPr sz="1800" b="0" dirty="0" err="1">
                <a:latin typeface="Calibri"/>
                <a:ea typeface="Calibri"/>
                <a:cs typeface="Calibri"/>
              </a:rPr>
              <a:t>Spalten</a:t>
            </a:r>
            <a:r>
              <a:rPr sz="1800" b="0" dirty="0">
                <a:latin typeface="Calibri"/>
                <a:ea typeface="Calibri"/>
                <a:cs typeface="Calibri"/>
              </a:rPr>
              <a:t> </a:t>
            </a:r>
            <a:r>
              <a:rPr sz="1800" b="0" dirty="0" err="1">
                <a:latin typeface="Calibri"/>
                <a:ea typeface="Calibri"/>
                <a:cs typeface="Calibri"/>
              </a:rPr>
              <a:t>entfernen</a:t>
            </a:r>
            <a:r>
              <a:rPr sz="1800" b="0" baseline="0" dirty="0">
                <a:latin typeface="Calibri"/>
                <a:ea typeface="Calibri"/>
                <a:cs typeface="Calibri"/>
              </a:rPr>
              <a:t> [22]</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1740694" y="1438275"/>
            <a:ext cx="6977063" cy="2790825"/>
          </a:xfrm>
          <a:prstGeom prst="rect">
            <a:avLst/>
          </a:prstGeom>
        </p:spPr>
      </p:pic>
      <p:sp>
        <p:nvSpPr>
          <p:cNvPr id="25" name="v11-text-29-3">
            <a:extLst>
              <a:ext uri="{FF2B5EF4-FFF2-40B4-BE49-F238E27FC236}">
                <a16:creationId xmlns:a16="http://schemas.microsoft.com/office/drawing/2014/main" id="{EE574C88-5078-4416-A032-3230D98E9412}"/>
              </a:ext>
            </a:extLst>
          </p:cNvPr>
          <p:cNvSpPr>
            <a:spLocks noGrp="1"/>
          </p:cNvSpPr>
          <p:nvPr/>
        </p:nvSpPr>
        <p:spPr>
          <a:xfrm>
            <a:off x="552450" y="5657850"/>
            <a:ext cx="9353550" cy="3048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Export:</a:t>
            </a:r>
            <a:r>
              <a:rPr sz="1800" b="0" dirty="0">
                <a:latin typeface="Calibri"/>
                <a:ea typeface="Calibri"/>
                <a:cs typeface="Calibri"/>
              </a:rPr>
              <a:t> </a:t>
            </a:r>
            <a:r>
              <a:rPr sz="1800" b="0" dirty="0" err="1">
                <a:latin typeface="Calibri"/>
                <a:ea typeface="Calibri"/>
                <a:cs typeface="Calibri"/>
              </a:rPr>
              <a:t>Kleinere</a:t>
            </a:r>
            <a:r>
              <a:rPr sz="1800" b="0" dirty="0">
                <a:latin typeface="Calibri"/>
                <a:ea typeface="Calibri"/>
                <a:cs typeface="Calibri"/>
              </a:rPr>
              <a:t>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Tensoren</a:t>
            </a:r>
            <a:r>
              <a:rPr sz="1800" b="0" dirty="0">
                <a:latin typeface="Calibri"/>
                <a:ea typeface="Calibri"/>
                <a:cs typeface="Calibri"/>
              </a:rPr>
              <a:t> für den </a:t>
            </a:r>
            <a:r>
              <a:rPr sz="1800" b="0" dirty="0" err="1">
                <a:latin typeface="Calibri"/>
                <a:ea typeface="Calibri"/>
                <a:cs typeface="Calibri"/>
              </a:rPr>
              <a:t>vorhandenen</a:t>
            </a:r>
            <a:r>
              <a:rPr sz="1800" b="0" dirty="0">
                <a:latin typeface="Calibri"/>
                <a:ea typeface="Calibri"/>
                <a:cs typeface="Calibri"/>
              </a:rPr>
              <a:t> FP32-Kernel</a:t>
            </a:r>
          </a:p>
        </p:txBody>
      </p:sp>
      <p:sp>
        <p:nvSpPr>
          <p:cNvPr id="42" name="Footer – Seitennummer">
            <a:extLst>
              <a:ext uri="{FF2B5EF4-FFF2-40B4-BE49-F238E27FC236}">
                <a16:creationId xmlns:a16="http://schemas.microsoft.com/office/drawing/2014/main" id="{ACD9CC6F-478A-4E8B-B393-5BB160FE7D3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32 / 40</a:t>
            </a:r>
          </a:p>
        </p:txBody>
      </p:sp>
      <p:sp>
        <p:nvSpPr>
          <p:cNvPr id="43" name="Footer – Präsentationsangaben">
            <a:extLst>
              <a:ext uri="{FF2B5EF4-FFF2-40B4-BE49-F238E27FC236}">
                <a16:creationId xmlns:a16="http://schemas.microsoft.com/office/drawing/2014/main" id="{328FB302-EFF8-4C33-A6A2-BBA5AF4BFEC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4" name="Quellenverweis 41">
            <a:extLst>
              <a:ext uri="{FF2B5EF4-FFF2-40B4-BE49-F238E27FC236}">
                <a16:creationId xmlns:a16="http://schemas.microsoft.com/office/drawing/2014/main" id="{098A8340-C08C-49BA-B339-F5149D17685A}"/>
              </a:ext>
            </a:extLst>
          </p:cNvPr>
          <p:cNvSpPr>
            <a:spLocks noGrp="1"/>
          </p:cNvSpPr>
          <p:nvPr/>
        </p:nvSpPr>
        <p:spPr>
          <a:xfrm>
            <a:off x="8470285" y="421640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Tree>
    <p:extLst>
      <p:ext uri="{BB962C8B-B14F-4D97-AF65-F5344CB8AC3E}">
        <p14:creationId xmlns:p14="http://schemas.microsoft.com/office/powerpoint/2010/main" val="536383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Structured Pruning: Von der Auswahl zum kleineren Modell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N_score">
            <a:extLst>
              <a:ext uri="{FF2B5EF4-FFF2-40B4-BE49-F238E27FC236}">
                <a16:creationId xmlns:a16="http://schemas.microsoft.com/office/drawing/2014/main" id="{9BF8D4BD-41C0-482E-A33A-253FC1DB5E0C}"/>
              </a:ext>
            </a:extLst>
          </p:cNvPr>
          <p:cNvSpPr>
            <a:spLocks noGrp="1"/>
          </p:cNvSpPr>
          <p:nvPr/>
        </p:nvSpPr>
        <p:spPr>
          <a:xfrm>
            <a:off x="552450" y="14097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Score sₕ: </a:t>
            </a:r>
            <a:r>
              <a:rPr sz="1800" b="0">
                <a:solidFill>
                  <a:srgbClr val="444444"/>
                </a:solidFill>
                <a:latin typeface="Calibri"/>
                <a:ea typeface="Calibri"/>
                <a:cs typeface="Calibri"/>
              </a:rPr>
              <a:t>L2-Zeilennormen je Hidden Unit über alle vier Gate-Blöcke</a:t>
            </a:r>
          </a:p>
        </p:txBody>
      </p:sp>
      <p:sp>
        <p:nvSpPr>
          <p:cNvPr id="2001" name="PN_weights">
            <a:extLst>
              <a:ext uri="{FF2B5EF4-FFF2-40B4-BE49-F238E27FC236}">
                <a16:creationId xmlns:a16="http://schemas.microsoft.com/office/drawing/2014/main" id="{B3EA5170-6918-41A7-B394-F32DABE9A7EA}"/>
              </a:ext>
            </a:extLst>
          </p:cNvPr>
          <p:cNvSpPr>
            <a:spLocks noGrp="1"/>
          </p:cNvSpPr>
          <p:nvPr/>
        </p:nvSpPr>
        <p:spPr>
          <a:xfrm>
            <a:off x="552450" y="2590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Wᵢₕ: Input weights, Wₕₕ: Recurrent weights</a:t>
            </a:r>
          </a:p>
        </p:txBody>
      </p:sp>
      <p:pic>
        <p:nvPicPr>
          <p:cNvPr id="2002" name="PN_structured_diagram" descr="Structured-Pruning-Ausschnitt aus Folie 36 mit I_out und I_in"/>
          <p:cNvPicPr>
            <a:picLocks noChangeAspect="1"/>
          </p:cNvPicPr>
          <p:nvPr/>
        </p:nvPicPr>
        <p:blipFill>
          <a:blip r:embed="rId4"/>
          <a:srcRect l="66667" b="36111"/>
          <a:stretch>
            <a:fillRect/>
          </a:stretch>
        </p:blipFill>
        <p:spPr>
          <a:xfrm>
            <a:off x="552450" y="2924175"/>
            <a:ext cx="3381375" cy="2592388"/>
          </a:xfrm>
          <a:prstGeom prst="rect">
            <a:avLst/>
          </a:prstGeom>
        </p:spPr>
      </p:pic>
      <p:sp>
        <p:nvSpPr>
          <p:cNvPr id="2003" name="PN_outputs">
            <a:extLst>
              <a:ext uri="{FF2B5EF4-FFF2-40B4-BE49-F238E27FC236}">
                <a16:creationId xmlns:a16="http://schemas.microsoft.com/office/drawing/2014/main" id="{4CD844DF-371F-4BC6-AFC6-FA1236D6386E}"/>
              </a:ext>
            </a:extLst>
          </p:cNvPr>
          <p:cNvSpPr>
            <a:spLocks noGrp="1"/>
          </p:cNvSpPr>
          <p:nvPr/>
        </p:nvSpPr>
        <p:spPr>
          <a:xfrm>
            <a:off x="4333875" y="3048000"/>
            <a:ext cx="5610225" cy="7810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Auswahl Iₒᵤₜ: </a:t>
            </a:r>
            <a:r>
              <a:rPr sz="1800" b="0">
                <a:solidFill>
                  <a:srgbClr val="444444"/>
                </a:solidFill>
                <a:latin typeface="Calibri"/>
                <a:ea typeface="Calibri"/>
                <a:cs typeface="Calibri"/>
              </a:rPr>
              <a:t>Verbleibende Ausgangszeilen der LSTM-Gates nach Score-Ranking</a:t>
            </a:r>
          </a:p>
        </p:txBody>
      </p:sp>
      <p:sp>
        <p:nvSpPr>
          <p:cNvPr id="2004" name="PN_inputs">
            <a:extLst>
              <a:ext uri="{FF2B5EF4-FFF2-40B4-BE49-F238E27FC236}">
                <a16:creationId xmlns:a16="http://schemas.microsoft.com/office/drawing/2014/main" id="{6FEE6202-6860-4EB4-92E3-0C3D9DD2E42E}"/>
              </a:ext>
            </a:extLst>
          </p:cNvPr>
          <p:cNvSpPr>
            <a:spLocks noGrp="1"/>
          </p:cNvSpPr>
          <p:nvPr/>
        </p:nvSpPr>
        <p:spPr>
          <a:xfrm>
            <a:off x="4333875" y="3895725"/>
            <a:ext cx="5610225" cy="5905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Kopplung Iᵢₙ: </a:t>
            </a:r>
            <a:r>
              <a:rPr sz="1800" b="0">
                <a:solidFill>
                  <a:srgbClr val="444444"/>
                </a:solidFill>
                <a:latin typeface="Calibri"/>
                <a:ea typeface="Calibri"/>
                <a:cs typeface="Calibri"/>
              </a:rPr>
              <a:t>Dieselben Hidden Units als Eingangsspalten des MLP-Heads</a:t>
            </a:r>
          </a:p>
        </p:txBody>
      </p:sp>
      <p:sp>
        <p:nvSpPr>
          <p:cNvPr id="2005" name="PN_lstm">
            <a:extLst>
              <a:ext uri="{FF2B5EF4-FFF2-40B4-BE49-F238E27FC236}">
                <a16:creationId xmlns:a16="http://schemas.microsoft.com/office/drawing/2014/main" id="{270E4DB0-F1EA-44D2-A14F-83FD7BEDB7C3}"/>
              </a:ext>
            </a:extLst>
          </p:cNvPr>
          <p:cNvSpPr>
            <a:spLocks noGrp="1"/>
          </p:cNvSpPr>
          <p:nvPr/>
        </p:nvSpPr>
        <p:spPr>
          <a:xfrm>
            <a:off x="4333875" y="4676775"/>
            <a:ext cx="5610225" cy="8763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LSTM-Konsistenz: </a:t>
            </a:r>
            <a:r>
              <a:rPr sz="1800" b="0">
                <a:solidFill>
                  <a:srgbClr val="444444"/>
                </a:solidFill>
                <a:latin typeface="Calibri"/>
                <a:ea typeface="Calibri"/>
                <a:cs typeface="Calibri"/>
              </a:rPr>
              <a:t>Gleiche Kürzung aller Gates, rekurrenten Zeilen und Spalten sowie Bias und Zustände</a:t>
            </a:r>
          </a:p>
        </p:txBody>
      </p:sp>
      <p:sp>
        <p:nvSpPr>
          <p:cNvPr id="2006" name="PN_takeaway">
            <a:extLst>
              <a:ext uri="{FF2B5EF4-FFF2-40B4-BE49-F238E27FC236}">
                <a16:creationId xmlns:a16="http://schemas.microsoft.com/office/drawing/2014/main" id="{DDF024F3-36D3-417C-845B-3758B8D440FA}"/>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Umsetzung</a:t>
            </a:r>
            <a:r>
              <a:rPr sz="1800" b="1" dirty="0">
                <a:solidFill>
                  <a:srgbClr val="D00020"/>
                </a:solidFill>
                <a:latin typeface="Calibri"/>
                <a:ea typeface="Calibri"/>
                <a:cs typeface="Calibri"/>
              </a:rPr>
              <a:t>: SOC 64 auf 45, SOH 128 auf 90 Hidden Units, </a:t>
            </a:r>
            <a:r>
              <a:rPr sz="1800" b="1" dirty="0" err="1">
                <a:solidFill>
                  <a:srgbClr val="D00020"/>
                </a:solidFill>
                <a:latin typeface="Calibri"/>
                <a:ea typeface="Calibri"/>
                <a:cs typeface="Calibri"/>
              </a:rPr>
              <a:t>danach</a:t>
            </a:r>
            <a:r>
              <a:rPr sz="1800" b="1" dirty="0">
                <a:solidFill>
                  <a:srgbClr val="D00020"/>
                </a:solidFill>
                <a:latin typeface="Calibri"/>
                <a:ea typeface="Calibri"/>
                <a:cs typeface="Calibri"/>
              </a:rPr>
              <a:t> Fine-Tuning</a:t>
            </a:r>
          </a:p>
        </p:txBody>
      </p:sp>
      <p:sp>
        <p:nvSpPr>
          <p:cNvPr id="2007" name="Footer – Seitennummer">
            <a:extLst>
              <a:ext uri="{FF2B5EF4-FFF2-40B4-BE49-F238E27FC236}">
                <a16:creationId xmlns:a16="http://schemas.microsoft.com/office/drawing/2014/main" id="{AAC058CD-8CD4-43E2-AA96-18B9186E7ED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33 / 40</a:t>
            </a:r>
          </a:p>
        </p:txBody>
      </p:sp>
      <p:sp>
        <p:nvSpPr>
          <p:cNvPr id="2008" name="Footer – Präsentationsangaben">
            <a:extLst>
              <a:ext uri="{FF2B5EF4-FFF2-40B4-BE49-F238E27FC236}">
                <a16:creationId xmlns:a16="http://schemas.microsoft.com/office/drawing/2014/main" id="{BF00BE86-F9CF-42FC-BB74-1E4A28FD933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2005">
            <a:extLst>
              <a:ext uri="{FF2B5EF4-FFF2-40B4-BE49-F238E27FC236}">
                <a16:creationId xmlns:a16="http://schemas.microsoft.com/office/drawing/2014/main" id="{7F8158D3-00CA-4A9D-844E-375481322629}"/>
              </a:ext>
            </a:extLst>
          </p:cNvPr>
          <p:cNvSpPr>
            <a:spLocks noGrp="1"/>
          </p:cNvSpPr>
          <p:nvPr/>
        </p:nvSpPr>
        <p:spPr>
          <a:xfrm>
            <a:off x="8427049" y="4950714"/>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Quantization: Weight-only INT8</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AC05FEF0-AD91-4950-BD4B-D9327853ECD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1E889B11-A1C1-4C7D-815D-1DB8A218F46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84957F3F-2697-40B7-B860-C3AFFA1D691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240DF18-9C50-4A73-811B-57B7FEBAB81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0042EE4-B0BD-476A-8B1A-825C3C3D17F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8C76ADAE-B66F-4F76-B94B-210C5234D2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17E665DD-65E5-43A9-A77E-8260E38303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484EF86D-8555-4159-A8BF-94AAC5BB4A3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QR_quantization_grids" descr="Vergrößerter Rasterteil aus Abbildung 3.7: signed symmetric INT8, unsigned zero-anchored UINT8 und asymmetric UINT8"/>
          <p:cNvPicPr>
            <a:picLocks noChangeAspect="1"/>
          </p:cNvPicPr>
          <p:nvPr/>
        </p:nvPicPr>
        <p:blipFill>
          <a:blip r:embed="rId3"/>
          <a:srcRect l="51389" t="10000" r="1111" b="9222"/>
          <a:stretch/>
        </p:blipFill>
        <p:spPr>
          <a:xfrm>
            <a:off x="5143500" y="1485900"/>
            <a:ext cx="4800600" cy="4081914"/>
          </a:xfrm>
          <a:prstGeom prst="rect">
            <a:avLst/>
          </a:prstGeom>
        </p:spPr>
      </p:pic>
      <p:sp>
        <p:nvSpPr>
          <p:cNvPr id="3000" name="QR_matrix">
            <a:extLst>
              <a:ext uri="{FF2B5EF4-FFF2-40B4-BE49-F238E27FC236}">
                <a16:creationId xmlns:a16="http://schemas.microsoft.com/office/drawing/2014/main" id="{7CFFA735-2EF2-4433-AF80-9F717383E673}"/>
              </a:ext>
            </a:extLst>
          </p:cNvPr>
          <p:cNvSpPr>
            <a:spLocks noGrp="1"/>
          </p:cNvSpPr>
          <p:nvPr/>
        </p:nvSpPr>
        <p:spPr>
          <a:xfrm>
            <a:off x="552450" y="142875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W: Wᵢₕ oder Wₕₕ</a:t>
            </a:r>
          </a:p>
        </p:txBody>
      </p:sp>
      <p:sp>
        <p:nvSpPr>
          <p:cNvPr id="3001" name="QR_indices">
            <a:extLst>
              <a:ext uri="{FF2B5EF4-FFF2-40B4-BE49-F238E27FC236}">
                <a16:creationId xmlns:a16="http://schemas.microsoft.com/office/drawing/2014/main" id="{08306282-E7FA-41C3-9381-60E18CE31B39}"/>
              </a:ext>
            </a:extLst>
          </p:cNvPr>
          <p:cNvSpPr>
            <a:spLocks noGrp="1"/>
          </p:cNvSpPr>
          <p:nvPr/>
        </p:nvSpPr>
        <p:spPr>
          <a:xfrm>
            <a:off x="552450" y="171450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r: row, k: column</a:t>
            </a:r>
          </a:p>
        </p:txBody>
      </p:sp>
      <p:sp>
        <p:nvSpPr>
          <p:cNvPr id="3002" name="QR_scale_label">
            <a:extLst>
              <a:ext uri="{FF2B5EF4-FFF2-40B4-BE49-F238E27FC236}">
                <a16:creationId xmlns:a16="http://schemas.microsoft.com/office/drawing/2014/main" id="{9B3CA7E8-4945-4C9C-A96B-50C045342B9F}"/>
              </a:ext>
            </a:extLst>
          </p:cNvPr>
          <p:cNvSpPr>
            <a:spLocks noGrp="1"/>
          </p:cNvSpPr>
          <p:nvPr/>
        </p:nvSpPr>
        <p:spPr>
          <a:xfrm>
            <a:off x="552450" y="2181225"/>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Quantization zur Speicherung</a:t>
            </a:r>
          </a:p>
        </p:txBody>
      </p:sp>
      <mc:AlternateContent xmlns:mc="http://schemas.openxmlformats.org/markup-compatibility/2006" xmlns:a14="http://schemas.microsoft.com/office/drawing/2010/main">
        <mc:Choice Requires="a14">
          <p:sp>
            <p:nvSpPr>
              <p:cNvPr id="3003" name="QR_scale">
                <a:extLst>
                  <a:ext uri="{FF2B5EF4-FFF2-40B4-BE49-F238E27FC236}">
                    <a16:creationId xmlns:a16="http://schemas.microsoft.com/office/drawing/2014/main" id="{4DB1B3E3-B2C2-474D-8FD8-2B73B7319730}"/>
                  </a:ext>
                </a:extLst>
              </p:cNvPr>
              <p:cNvSpPr>
                <a:spLocks noGrp="1"/>
              </p:cNvSpPr>
              <p:nvPr/>
            </p:nvSpPr>
            <p:spPr>
              <a:xfrm>
                <a:off x="552450" y="256222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r>
                        <a:rPr sz="1800">
                          <a:latin typeface="Cambria Math"/>
                          <a:ea typeface="Cambria Math"/>
                          <a:cs typeface="Cambria Math"/>
                        </a:rPr>
                        <m:t>=</m:t>
                      </m:r>
                      <m:r>
                        <a:rPr sz="1800">
                          <a:latin typeface="Cambria Math"/>
                          <a:ea typeface="Cambria Math"/>
                          <a:cs typeface="Cambria Math"/>
                        </a:rPr>
                        <m:t>𝑚𝑎𝑥</m:t>
                      </m:r>
                      <m:r>
                        <a:rPr sz="1800">
                          <a:latin typeface="Cambria Math"/>
                          <a:ea typeface="Cambria Math"/>
                          <a:cs typeface="Cambria Math"/>
                        </a:rPr>
                        <m:t>(</m:t>
                      </m:r>
                      <m:f>
                        <m:fPr>
                          <m:ctrlPr>
                            <a:rPr sz="1800" i="1">
                              <a:latin typeface="Cambria Math" panose="02040503050406030204" pitchFamily="18" charset="0"/>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𝑚𝑎𝑥</m:t>
                              </m:r>
                            </m:e>
                            <m:sub>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num>
                        <m:den>
                          <m:r>
                            <a:rPr sz="1800">
                              <a:latin typeface="Cambria Math"/>
                              <a:ea typeface="Cambria Math"/>
                              <a:cs typeface="Cambria Math"/>
                            </a:rPr>
                            <m:t>127</m:t>
                          </m:r>
                        </m:den>
                      </m:f>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𝜀</m:t>
                          </m:r>
                        </m:e>
                        <m:sub>
                          <m:r>
                            <a:rPr sz="1260">
                              <a:latin typeface="Cambria Math"/>
                              <a:ea typeface="Cambria Math"/>
                              <a:cs typeface="Cambria Math"/>
                            </a:rPr>
                            <m:t>𝑞</m:t>
                          </m:r>
                        </m:sub>
                      </m:sSub>
                      <m:r>
                        <a:rPr sz="1800">
                          <a:latin typeface="Cambria Math"/>
                          <a:ea typeface="Cambria Math"/>
                          <a:cs typeface="Cambria Math"/>
                        </a:rPr>
                        <m:t>)</m:t>
                      </m:r>
                    </m:oMath>
                  </m:oMathPara>
                </a14:m>
                <a:endParaRPr/>
              </a:p>
            </p:txBody>
          </p:sp>
        </mc:Choice>
        <mc:Fallback xmlns="">
          <p:sp>
            <p:nvSpPr>
              <p:cNvPr id="3003" name="QR_scale">
                <a:extLst>
                  <a:ext uri="{FF2B5EF4-FFF2-40B4-BE49-F238E27FC236}">
                    <a16:creationId xmlns:a16="http://schemas.microsoft.com/office/drawing/2014/main" id="{4DB1B3E3-B2C2-474D-8FD8-2B73B7319730}"/>
                  </a:ext>
                </a:extLst>
              </p:cNvPr>
              <p:cNvSpPr>
                <a:spLocks noGrp="1" noRot="1" noChangeAspect="1" noMove="1" noResize="1" noEditPoints="1" noAdjustHandles="1" noChangeArrowheads="1" noChangeShapeType="1" noTextEdit="1"/>
              </p:cNvSpPr>
              <p:nvPr/>
            </p:nvSpPr>
            <p:spPr>
              <a:xfrm>
                <a:off x="552450" y="2562225"/>
                <a:ext cx="4238625" cy="504825"/>
              </a:xfrm>
              <a:prstGeom prst="rect">
                <a:avLst/>
              </a:prstGeom>
              <a:blipFill>
                <a:blip r:embed="rId4"/>
                <a:stretch>
                  <a:fillRect b="-3614"/>
                </a:stretch>
              </a:blipFill>
              <a:ln w="0">
                <a:noFill/>
              </a:ln>
            </p:spPr>
            <p:txBody>
              <a:bodyPr/>
              <a:lstStyle/>
              <a:p>
                <a:r>
                  <a:rPr lang="de-DE">
                    <a:noFill/>
                  </a:rPr>
                  <a:t> </a:t>
                </a:r>
              </a:p>
            </p:txBody>
          </p:sp>
        </mc:Fallback>
      </mc:AlternateContent>
      <p:sp>
        <p:nvSpPr>
          <p:cNvPr id="3005" name="QR_code_label">
            <a:extLst>
              <a:ext uri="{FF2B5EF4-FFF2-40B4-BE49-F238E27FC236}">
                <a16:creationId xmlns:a16="http://schemas.microsoft.com/office/drawing/2014/main" id="{75CE4E35-A5DE-4A94-8910-D8C9BBBB2BC9}"/>
              </a:ext>
            </a:extLst>
          </p:cNvPr>
          <p:cNvSpPr>
            <a:spLocks noGrp="1"/>
          </p:cNvSpPr>
          <p:nvPr/>
        </p:nvSpPr>
        <p:spPr>
          <a:xfrm>
            <a:off x="552450" y="3771900"/>
            <a:ext cx="4238625"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Speicherung: q als INT8, s als FP32</a:t>
            </a:r>
          </a:p>
        </p:txBody>
      </p:sp>
      <mc:AlternateContent xmlns:mc="http://schemas.openxmlformats.org/markup-compatibility/2006" xmlns:a14="http://schemas.microsoft.com/office/drawing/2010/main">
        <mc:Choice Requires="a14">
          <p:sp>
            <p:nvSpPr>
              <p:cNvPr id="3006" name="QR_code">
                <a:extLst>
                  <a:ext uri="{FF2B5EF4-FFF2-40B4-BE49-F238E27FC236}">
                    <a16:creationId xmlns:a16="http://schemas.microsoft.com/office/drawing/2014/main" id="{3A1F1D40-00F6-4560-9145-823638CE6845}"/>
                  </a:ext>
                </a:extLst>
              </p:cNvPr>
              <p:cNvSpPr>
                <a:spLocks noGrp="1"/>
              </p:cNvSpPr>
              <p:nvPr/>
            </p:nvSpPr>
            <p:spPr>
              <a:xfrm>
                <a:off x="552450" y="315277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r>
                        <a:rPr sz="1800">
                          <a:latin typeface="Cambria Math"/>
                          <a:ea typeface="Cambria Math"/>
                          <a:cs typeface="Cambria Math"/>
                        </a:rPr>
                        <m:t>𝑐𝑙𝑖𝑝</m:t>
                      </m:r>
                      <m:r>
                        <a:rPr sz="1800">
                          <a:latin typeface="Cambria Math"/>
                          <a:ea typeface="Cambria Math"/>
                          <a:cs typeface="Cambria Math"/>
                        </a:rPr>
                        <m:t>(</m:t>
                      </m:r>
                      <m:r>
                        <a:rPr sz="1800">
                          <a:latin typeface="Cambria Math"/>
                          <a:ea typeface="Cambria Math"/>
                          <a:cs typeface="Cambria Math"/>
                        </a:rPr>
                        <m:t>𝑟𝑜𝑢𝑛𝑑</m:t>
                      </m:r>
                      <m:r>
                        <a:rPr sz="1800">
                          <a:latin typeface="Cambria Math"/>
                          <a:ea typeface="Cambria Math"/>
                          <a:cs typeface="Cambria Math"/>
                        </a:rPr>
                        <m:t>(</m:t>
                      </m:r>
                      <m:f>
                        <m:fPr>
                          <m:ctrlPr>
                            <a:rPr sz="1800" i="1">
                              <a:latin typeface="Cambria Math" panose="02040503050406030204" pitchFamily="18" charset="0"/>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num>
                        <m:den>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den>
                      </m:f>
                      <m:r>
                        <a:rPr sz="1800">
                          <a:latin typeface="Cambria Math"/>
                          <a:ea typeface="Cambria Math"/>
                          <a:cs typeface="Cambria Math"/>
                        </a:rPr>
                        <m:t>),−127,127)</m:t>
                      </m:r>
                    </m:oMath>
                  </m:oMathPara>
                </a14:m>
                <a:endParaRPr/>
              </a:p>
            </p:txBody>
          </p:sp>
        </mc:Choice>
        <mc:Fallback xmlns="">
          <p:sp>
            <p:nvSpPr>
              <p:cNvPr id="3006" name="QR_code">
                <a:extLst>
                  <a:ext uri="{FF2B5EF4-FFF2-40B4-BE49-F238E27FC236}">
                    <a16:creationId xmlns:a16="http://schemas.microsoft.com/office/drawing/2014/main" id="{3A1F1D40-00F6-4560-9145-823638CE6845}"/>
                  </a:ext>
                </a:extLst>
              </p:cNvPr>
              <p:cNvSpPr>
                <a:spLocks noGrp="1" noRot="1" noChangeAspect="1" noMove="1" noResize="1" noEditPoints="1" noAdjustHandles="1" noChangeArrowheads="1" noChangeShapeType="1" noTextEdit="1"/>
              </p:cNvSpPr>
              <p:nvPr/>
            </p:nvSpPr>
            <p:spPr>
              <a:xfrm>
                <a:off x="552450" y="3152775"/>
                <a:ext cx="4238625" cy="504825"/>
              </a:xfrm>
              <a:prstGeom prst="rect">
                <a:avLst/>
              </a:prstGeom>
              <a:blipFill>
                <a:blip r:embed="rId5"/>
                <a:stretch>
                  <a:fillRect b="-12048"/>
                </a:stretch>
              </a:blipFill>
              <a:ln w="0">
                <a:noFill/>
              </a:ln>
            </p:spPr>
            <p:txBody>
              <a:bodyPr/>
              <a:lstStyle/>
              <a:p>
                <a:r>
                  <a:rPr lang="de-DE">
                    <a:noFill/>
                  </a:rPr>
                  <a:t> </a:t>
                </a:r>
              </a:p>
            </p:txBody>
          </p:sp>
        </mc:Fallback>
      </mc:AlternateContent>
      <p:sp>
        <p:nvSpPr>
          <p:cNvPr id="3007" name="QR_reconstruction_label">
            <a:extLst>
              <a:ext uri="{FF2B5EF4-FFF2-40B4-BE49-F238E27FC236}">
                <a16:creationId xmlns:a16="http://schemas.microsoft.com/office/drawing/2014/main" id="{0B7E4458-81C7-4DAA-A3CD-EE2D45404F9C}"/>
              </a:ext>
            </a:extLst>
          </p:cNvPr>
          <p:cNvSpPr>
            <a:spLocks noGrp="1"/>
          </p:cNvSpPr>
          <p:nvPr/>
        </p:nvSpPr>
        <p:spPr>
          <a:xfrm>
            <a:off x="552450" y="4305300"/>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Dequantization zur Laufzeit</a:t>
            </a:r>
          </a:p>
        </p:txBody>
      </p:sp>
      <mc:AlternateContent xmlns:mc="http://schemas.openxmlformats.org/markup-compatibility/2006" xmlns:a14="http://schemas.microsoft.com/office/drawing/2010/main">
        <mc:Choice Requires="a14">
          <p:sp>
            <p:nvSpPr>
              <p:cNvPr id="3008" name="QR_reconstruction">
                <a:extLst>
                  <a:ext uri="{FF2B5EF4-FFF2-40B4-BE49-F238E27FC236}">
                    <a16:creationId xmlns:a16="http://schemas.microsoft.com/office/drawing/2014/main" id="{F8E0BFAF-AB60-46EB-8E13-EAE74C8D73E4}"/>
                  </a:ext>
                </a:extLst>
              </p:cNvPr>
              <p:cNvSpPr>
                <a:spLocks noGrp="1"/>
              </p:cNvSpPr>
              <p:nvPr/>
            </p:nvSpPr>
            <p:spPr>
              <a:xfrm>
                <a:off x="552450" y="4667250"/>
                <a:ext cx="4238625" cy="3524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i="1">
                              <a:latin typeface="Cambria Math" panose="02040503050406030204" pitchFamily="18" charset="0"/>
                              <a:ea typeface="Cambria Math"/>
                              <a:cs typeface="Cambria Math"/>
                            </a:rPr>
                          </m:ctrlPr>
                        </m:sSubPr>
                        <m:e>
                          <m:acc>
                            <m:accPr>
                              <m:chr m:val="^"/>
                              <m:ctrlPr>
                                <a:rPr sz="1800">
                                  <a:latin typeface="Cambria Math"/>
                                  <a:ea typeface="Cambria Math"/>
                                  <a:cs typeface="Cambria Math"/>
                                </a:rPr>
                              </m:ctrlPr>
                            </m:accPr>
                            <m:e>
                              <m:r>
                                <a:rPr sz="1800">
                                  <a:latin typeface="Cambria Math"/>
                                  <a:ea typeface="Cambria Math"/>
                                  <a:cs typeface="Cambria Math"/>
                                </a:rPr>
                                <m:t>𝑊</m:t>
                              </m:r>
                            </m:e>
                          </m:acc>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oMath>
                  </m:oMathPara>
                </a14:m>
                <a:endParaRPr/>
              </a:p>
            </p:txBody>
          </p:sp>
        </mc:Choice>
        <mc:Fallback xmlns="">
          <p:sp>
            <p:nvSpPr>
              <p:cNvPr id="3008" name="QR_reconstruction">
                <a:extLst>
                  <a:ext uri="{FF2B5EF4-FFF2-40B4-BE49-F238E27FC236}">
                    <a16:creationId xmlns:a16="http://schemas.microsoft.com/office/drawing/2014/main" id="{F8E0BFAF-AB60-46EB-8E13-EAE74C8D73E4}"/>
                  </a:ext>
                </a:extLst>
              </p:cNvPr>
              <p:cNvSpPr>
                <a:spLocks noGrp="1" noRot="1" noChangeAspect="1" noMove="1" noResize="1" noEditPoints="1" noAdjustHandles="1" noChangeArrowheads="1" noChangeShapeType="1" noTextEdit="1"/>
              </p:cNvSpPr>
              <p:nvPr/>
            </p:nvSpPr>
            <p:spPr>
              <a:xfrm>
                <a:off x="552450" y="4667250"/>
                <a:ext cx="4238625" cy="352425"/>
              </a:xfrm>
              <a:prstGeom prst="rect">
                <a:avLst/>
              </a:prstGeom>
              <a:blipFill>
                <a:blip r:embed="rId6"/>
                <a:stretch>
                  <a:fillRect t="-50877" b="-10526"/>
                </a:stretch>
              </a:blipFill>
              <a:ln w="0">
                <a:noFill/>
              </a:ln>
            </p:spPr>
            <p:txBody>
              <a:bodyPr/>
              <a:lstStyle/>
              <a:p>
                <a:r>
                  <a:rPr lang="de-DE">
                    <a:noFill/>
                  </a:rPr>
                  <a:t> </a:t>
                </a:r>
              </a:p>
            </p:txBody>
          </p:sp>
        </mc:Fallback>
      </mc:AlternateContent>
      <p:sp>
        <p:nvSpPr>
          <p:cNvPr id="3009" name="QR_precision">
            <a:extLst>
              <a:ext uri="{FF2B5EF4-FFF2-40B4-BE49-F238E27FC236}">
                <a16:creationId xmlns:a16="http://schemas.microsoft.com/office/drawing/2014/main" id="{F88F3938-5B72-4BF5-8908-C63E79F4AA3D}"/>
              </a:ext>
            </a:extLst>
          </p:cNvPr>
          <p:cNvSpPr>
            <a:spLocks noGrp="1"/>
          </p:cNvSpPr>
          <p:nvPr/>
        </p:nvSpPr>
        <p:spPr>
          <a:xfrm>
            <a:off x="552450" y="5048250"/>
            <a:ext cx="4238625"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Rekonstruierte Weights in FP32</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Bias, States und MLP in FP32</a:t>
            </a:r>
          </a:p>
        </p:txBody>
      </p:sp>
      <p:sp>
        <p:nvSpPr>
          <p:cNvPr id="3010" name="QR_takeaway">
            <a:extLst>
              <a:ext uri="{FF2B5EF4-FFF2-40B4-BE49-F238E27FC236}">
                <a16:creationId xmlns:a16="http://schemas.microsoft.com/office/drawing/2014/main" id="{6365C577-320A-4609-853F-A7FFBAB9F8CF}"/>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Gewichtsspeicher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gleicher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Topologie</a:t>
            </a:r>
            <a:r>
              <a:rPr sz="1800" b="1" dirty="0">
                <a:solidFill>
                  <a:srgbClr val="D00020"/>
                </a:solidFill>
                <a:latin typeface="Calibri"/>
                <a:ea typeface="Calibri"/>
                <a:cs typeface="Calibri"/>
              </a:rPr>
              <a:t> und MAC-Zahl</a:t>
            </a:r>
          </a:p>
        </p:txBody>
      </p:sp>
      <p:sp>
        <p:nvSpPr>
          <p:cNvPr id="3011" name="QR_signed_highlight">
            <a:extLst>
              <a:ext uri="{FF2B5EF4-FFF2-40B4-BE49-F238E27FC236}">
                <a16:creationId xmlns:a16="http://schemas.microsoft.com/office/drawing/2014/main" id="{4353F4AA-EC64-4565-8965-981A5134439A}"/>
              </a:ext>
            </a:extLst>
          </p:cNvPr>
          <p:cNvSpPr>
            <a:spLocks noGrp="1"/>
          </p:cNvSpPr>
          <p:nvPr/>
        </p:nvSpPr>
        <p:spPr>
          <a:xfrm>
            <a:off x="5105400" y="1381125"/>
            <a:ext cx="4857750" cy="1438275"/>
          </a:xfrm>
          <a:prstGeom prst="rect">
            <a:avLst/>
          </a:prstGeom>
          <a:noFill/>
          <a:ln w="19050">
            <a:solidFill>
              <a:srgbClr val="D00020"/>
            </a:solidFill>
          </a:ln>
        </p:spPr>
        <p:txBody>
          <a:bodyPr/>
          <a:lstStyle/>
          <a:p>
            <a:endParaRPr lang="de-DE"/>
          </a:p>
        </p:txBody>
      </p:sp>
      <p:sp>
        <p:nvSpPr>
          <p:cNvPr id="3012" name="QR_used">
            <a:extLst>
              <a:ext uri="{FF2B5EF4-FFF2-40B4-BE49-F238E27FC236}">
                <a16:creationId xmlns:a16="http://schemas.microsoft.com/office/drawing/2014/main" id="{0CA7CB1D-85A3-4B32-BFDF-FAD93B6D4803}"/>
              </a:ext>
            </a:extLst>
          </p:cNvPr>
          <p:cNvSpPr>
            <a:spLocks noGrp="1"/>
          </p:cNvSpPr>
          <p:nvPr/>
        </p:nvSpPr>
        <p:spPr>
          <a:xfrm>
            <a:off x="8648700" y="1466850"/>
            <a:ext cx="1257300" cy="30480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Verwendet</a:t>
            </a:r>
          </a:p>
        </p:txBody>
      </p:sp>
      <p:sp>
        <p:nvSpPr>
          <p:cNvPr id="3013" name="Footer – Seitennummer">
            <a:extLst>
              <a:ext uri="{FF2B5EF4-FFF2-40B4-BE49-F238E27FC236}">
                <a16:creationId xmlns:a16="http://schemas.microsoft.com/office/drawing/2014/main" id="{37532174-478C-441B-94A8-0AE277B3B7D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34 / 40</a:t>
            </a:r>
          </a:p>
        </p:txBody>
      </p:sp>
      <p:sp>
        <p:nvSpPr>
          <p:cNvPr id="3014" name="Footer – Präsentationsangaben">
            <a:extLst>
              <a:ext uri="{FF2B5EF4-FFF2-40B4-BE49-F238E27FC236}">
                <a16:creationId xmlns:a16="http://schemas.microsoft.com/office/drawing/2014/main" id="{6C8331B3-7740-4A2E-8298-B85B910905E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016" name="Quellenverweis 3002">
            <a:extLst>
              <a:ext uri="{FF2B5EF4-FFF2-40B4-BE49-F238E27FC236}">
                <a16:creationId xmlns:a16="http://schemas.microsoft.com/office/drawing/2014/main" id="{5B7C60AB-1F3D-4E98-9BBF-D2AB43A588E0}"/>
              </a:ext>
            </a:extLst>
          </p:cNvPr>
          <p:cNvSpPr>
            <a:spLocks noGrp="1"/>
          </p:cNvSpPr>
          <p:nvPr/>
        </p:nvSpPr>
        <p:spPr>
          <a:xfrm>
            <a:off x="3392182" y="2180882"/>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[24], [25]</a:t>
            </a:r>
          </a:p>
        </p:txBody>
      </p:sp>
    </p:spTree>
    <p:extLst>
      <p:ext uri="{BB962C8B-B14F-4D97-AF65-F5344CB8AC3E}">
        <p14:creationId xmlns:p14="http://schemas.microsoft.com/office/powerpoint/2010/main" val="42813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Accuracy nach Modellkompression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SOC">
            <a:extLst>
              <a:ext uri="{FF2B5EF4-FFF2-40B4-BE49-F238E27FC236}">
                <a16:creationId xmlns:a16="http://schemas.microsoft.com/office/drawing/2014/main" id="{72751900-5C05-4524-9C45-8762511C9FBA}"/>
              </a:ext>
            </a:extLst>
          </p:cNvPr>
          <p:cNvSpPr>
            <a:spLocks noGrp="1"/>
          </p:cNvSpPr>
          <p:nvPr/>
        </p:nvSpPr>
        <p:spPr>
          <a:xfrm>
            <a:off x="1069975" y="498633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Quantized </a:t>
            </a:r>
            <a:r>
              <a:rPr sz="1800" b="0" dirty="0" err="1">
                <a:solidFill>
                  <a:srgbClr val="444444"/>
                </a:solidFill>
                <a:latin typeface="Calibri"/>
                <a:ea typeface="Calibri"/>
                <a:cs typeface="Calibri"/>
              </a:rPr>
              <a:t>nahe</a:t>
            </a:r>
            <a:r>
              <a:rPr sz="1800" b="0" dirty="0">
                <a:solidFill>
                  <a:srgbClr val="444444"/>
                </a:solidFill>
                <a:latin typeface="Calibri"/>
                <a:ea typeface="Calibri"/>
                <a:cs typeface="Calibri"/>
              </a:rPr>
              <a:t> Base</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Pruned </a:t>
            </a:r>
            <a:r>
              <a:rPr sz="1800" b="0" dirty="0" err="1">
                <a:solidFill>
                  <a:srgbClr val="444444"/>
                </a:solidFill>
                <a:latin typeface="Calibri"/>
                <a:ea typeface="Calibri"/>
                <a:cs typeface="Calibri"/>
              </a:rPr>
              <a:t>mit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geringerer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Fehlerstreuung</a:t>
            </a:r>
            <a:endParaRPr sz="1800" b="0" dirty="0">
              <a:solidFill>
                <a:srgbClr val="444444"/>
              </a:solidFill>
              <a:latin typeface="Calibri"/>
              <a:ea typeface="Calibri"/>
              <a:cs typeface="Calibri"/>
            </a:endParaRPr>
          </a:p>
        </p:txBody>
      </p:sp>
      <p:sp>
        <p:nvSpPr>
          <p:cNvPr id="24" name="AM_SOH">
            <a:extLst>
              <a:ext uri="{FF2B5EF4-FFF2-40B4-BE49-F238E27FC236}">
                <a16:creationId xmlns:a16="http://schemas.microsoft.com/office/drawing/2014/main" id="{4B35BF5D-60D5-4C72-9924-BD7B91761DE4}"/>
              </a:ext>
            </a:extLst>
          </p:cNvPr>
          <p:cNvSpPr>
            <a:spLocks noGrp="1"/>
          </p:cNvSpPr>
          <p:nvPr/>
        </p:nvSpPr>
        <p:spPr>
          <a:xfrm>
            <a:off x="5969000" y="501038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Nach </a:t>
            </a:r>
            <a:r>
              <a:rPr sz="1800" b="0" dirty="0" err="1">
                <a:solidFill>
                  <a:srgbClr val="444444"/>
                </a:solidFill>
                <a:latin typeface="Calibri"/>
                <a:ea typeface="Calibri"/>
                <a:cs typeface="Calibri"/>
              </a:rPr>
              <a:t>kausaler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Filterung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Höhere</a:t>
            </a:r>
            <a:r>
              <a:rPr sz="1800" b="0" dirty="0">
                <a:solidFill>
                  <a:srgbClr val="444444"/>
                </a:solidFill>
                <a:latin typeface="Calibri"/>
                <a:ea typeface="Calibri"/>
                <a:cs typeface="Calibri"/>
              </a:rPr>
              <a:t> Fehler</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und </a:t>
            </a:r>
            <a:r>
              <a:rPr sz="1800" b="0" dirty="0" err="1">
                <a:solidFill>
                  <a:srgbClr val="444444"/>
                </a:solidFill>
                <a:latin typeface="Calibri"/>
                <a:ea typeface="Calibri"/>
                <a:cs typeface="Calibri"/>
              </a:rPr>
              <a:t>Streuung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bei</a:t>
            </a:r>
            <a:r>
              <a:rPr sz="1800" b="0" dirty="0">
                <a:solidFill>
                  <a:srgbClr val="444444"/>
                </a:solidFill>
                <a:latin typeface="Calibri"/>
                <a:ea typeface="Calibri"/>
                <a:cs typeface="Calibri"/>
              </a:rPr>
              <a:t> Pruned und Quantized</a:t>
            </a:r>
          </a:p>
        </p:txBody>
      </p:sp>
      <p:sp>
        <p:nvSpPr>
          <p:cNvPr id="25" name="AM_takeaway">
            <a:extLst>
              <a:ext uri="{FF2B5EF4-FFF2-40B4-BE49-F238E27FC236}">
                <a16:creationId xmlns:a16="http://schemas.microsoft.com/office/drawing/2014/main" id="{23EC93CE-7D92-4894-B7EA-21452BFE5310}"/>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SOC-Accuracy </a:t>
            </a:r>
            <a:r>
              <a:rPr sz="1800" b="1" dirty="0" err="1">
                <a:solidFill>
                  <a:srgbClr val="D00020"/>
                </a:solidFill>
                <a:latin typeface="Calibri"/>
                <a:ea typeface="Calibri"/>
                <a:cs typeface="Calibri"/>
              </a:rPr>
              <a:t>weitgehend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erhalten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höhere</a:t>
            </a:r>
            <a:r>
              <a:rPr sz="1800" b="1" dirty="0">
                <a:solidFill>
                  <a:srgbClr val="D00020"/>
                </a:solidFill>
                <a:latin typeface="Calibri"/>
                <a:ea typeface="Calibri"/>
                <a:cs typeface="Calibri"/>
              </a:rPr>
              <a:t> SOH-Fehler </a:t>
            </a:r>
            <a:r>
              <a:rPr sz="1800" b="1" dirty="0" err="1">
                <a:solidFill>
                  <a:srgbClr val="D00020"/>
                </a:solidFill>
                <a:latin typeface="Calibri"/>
                <a:ea typeface="Calibri"/>
                <a:cs typeface="Calibri"/>
              </a:rPr>
              <a:t>nach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Kompression</a:t>
            </a:r>
            <a:endParaRPr sz="1800" b="1" dirty="0">
              <a:solidFill>
                <a:srgbClr val="D00020"/>
              </a:solidFill>
              <a:latin typeface="Calibri"/>
              <a:ea typeface="Calibri"/>
              <a:cs typeface="Calibri"/>
            </a:endParaRPr>
          </a:p>
        </p:txBody>
      </p:sp>
      <p:pic>
        <p:nvPicPr>
          <p:cNvPr id="26" name="AM_SOC_boxplot"/>
          <p:cNvPicPr>
            <a:picLocks noChangeAspect="1"/>
          </p:cNvPicPr>
          <p:nvPr/>
        </p:nvPicPr>
        <p:blipFill>
          <a:blip r:embed="rId3"/>
          <a:srcRect r="50000"/>
          <a:stretch/>
        </p:blipFill>
        <p:spPr>
          <a:xfrm>
            <a:off x="552450" y="1409700"/>
            <a:ext cx="4381500" cy="3651250"/>
          </a:xfrm>
          <a:prstGeom prst="rect">
            <a:avLst/>
          </a:prstGeom>
        </p:spPr>
      </p:pic>
      <p:pic>
        <p:nvPicPr>
          <p:cNvPr id="27" name="AM_SOH_boxplot"/>
          <p:cNvPicPr>
            <a:picLocks noChangeAspect="1"/>
          </p:cNvPicPr>
          <p:nvPr/>
        </p:nvPicPr>
        <p:blipFill>
          <a:blip r:embed="rId4"/>
          <a:srcRect r="50000"/>
          <a:stretch/>
        </p:blipFill>
        <p:spPr>
          <a:xfrm>
            <a:off x="5562600" y="1409700"/>
            <a:ext cx="4381500" cy="3651250"/>
          </a:xfrm>
          <a:prstGeom prst="rect">
            <a:avLst/>
          </a:prstGeom>
        </p:spPr>
      </p:pic>
      <p:sp>
        <p:nvSpPr>
          <p:cNvPr id="28" name="Footer – Seitennummer">
            <a:extLst>
              <a:ext uri="{FF2B5EF4-FFF2-40B4-BE49-F238E27FC236}">
                <a16:creationId xmlns:a16="http://schemas.microsoft.com/office/drawing/2014/main" id="{019067FB-0365-442A-AC8A-B7F44B1703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35 / 40</a:t>
            </a:r>
          </a:p>
        </p:txBody>
      </p:sp>
      <p:sp>
        <p:nvSpPr>
          <p:cNvPr id="29" name="Footer – Präsentationsangaben">
            <a:extLst>
              <a:ext uri="{FF2B5EF4-FFF2-40B4-BE49-F238E27FC236}">
                <a16:creationId xmlns:a16="http://schemas.microsoft.com/office/drawing/2014/main" id="{045E553E-BAA4-4E48-9285-09F5318E629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Flash- und RAM-Bedarf der 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rcRect t="50000" r="50000"/>
          <a:stretch>
            <a:fillRect/>
          </a:stretch>
        </p:blipFill>
        <p:spPr>
          <a:xfrm>
            <a:off x="552450" y="1543050"/>
            <a:ext cx="5429250" cy="3476625"/>
          </a:xfrm>
          <a:prstGeom prst="rect">
            <a:avLst/>
          </a:prstGeom>
        </p:spPr>
      </p:pic>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30" name="v11-math-34-4">
                <a:extLst>
                  <a:ext uri="{FF2B5EF4-FFF2-40B4-BE49-F238E27FC236}">
                    <a16:creationId xmlns:a16="http://schemas.microsoft.com/office/drawing/2014/main" id="{7759F966-AFAB-4797-9DFD-F0C8374068CA}"/>
                  </a:ext>
                </a:extLst>
              </p:cNvPr>
              <p:cNvSpPr>
                <a:spLocks noGrp="1"/>
              </p:cNvSpPr>
              <p:nvPr/>
            </p:nvSpPr>
            <p:spPr>
              <a:xfrm>
                <a:off x="1971675" y="5095875"/>
                <a:ext cx="4010025" cy="32385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𝐹𝑖𝑟𝑚𝑤𝑎𝑟𝑒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𝐺𝑒𝑤𝑖𝑐ℎ𝑡𝑒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𝐶𝑜𝑑𝑒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𝐾𝑜𝑛𝑠𝑡𝑎𝑛𝑡𝑒𝑛</m:t>
                          </m:r>
                        </m:sub>
                      </m:sSub>
                    </m:oMath>
                  </m:oMathPara>
                </a14:m>
                <a:endParaRPr/>
              </a:p>
            </p:txBody>
          </p:sp>
        </mc:Choice>
        <mc:Fallback xmlns="">
          <p:sp>
            <p:nvSpPr>
              <p:cNvPr id="30" name="v11-math-34-4">
                <a:extLst>
                  <a:ext uri="{FF2B5EF4-FFF2-40B4-BE49-F238E27FC236}">
                    <a16:creationId xmlns:a16="http://schemas.microsoft.com/office/drawing/2014/main" id="{7759F966-AFAB-4797-9DFD-F0C8374068CA}"/>
                  </a:ext>
                </a:extLst>
              </p:cNvPr>
              <p:cNvSpPr>
                <a:spLocks noGrp="1" noRot="1" noChangeAspect="1" noMove="1" noResize="1" noEditPoints="1" noAdjustHandles="1" noChangeArrowheads="1" noChangeShapeType="1" noTextEdit="1"/>
              </p:cNvSpPr>
              <p:nvPr/>
            </p:nvSpPr>
            <p:spPr>
              <a:xfrm>
                <a:off x="1971675" y="5095875"/>
                <a:ext cx="4010025" cy="323850"/>
              </a:xfrm>
              <a:prstGeom prst="rect">
                <a:avLst/>
              </a:prstGeom>
              <a:blipFill>
                <a:blip r:embed="rId5"/>
                <a:stretch>
                  <a:fillRect/>
                </a:stretch>
              </a:blipFill>
              <a:ln w="0">
                <a:noFill/>
              </a:ln>
            </p:spPr>
            <p:txBody>
              <a:bodyPr/>
              <a:lstStyle/>
              <a:p>
                <a:r>
                  <a:rPr lang="de-DE">
                    <a:noFill/>
                  </a:rPr>
                  <a:t> </a:t>
                </a:r>
              </a:p>
            </p:txBody>
          </p:sp>
        </mc:Fallback>
      </mc:AlternateContent>
      <p:sp>
        <p:nvSpPr>
          <p:cNvPr id="46" name="MS_ram_interpretation">
            <a:extLst>
              <a:ext uri="{FF2B5EF4-FFF2-40B4-BE49-F238E27FC236}">
                <a16:creationId xmlns:a16="http://schemas.microsoft.com/office/drawing/2014/main" id="{19F516A9-466D-4E25-878D-D75C6B9C91F7}"/>
              </a:ext>
            </a:extLst>
          </p:cNvPr>
          <p:cNvSpPr>
            <a:spLocks noGrp="1"/>
          </p:cNvSpPr>
          <p:nvPr/>
        </p:nvSpPr>
        <p:spPr>
          <a:xfrm>
            <a:off x="6372225" y="4972050"/>
            <a:ext cx="3581400" cy="8953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Begrenzte RAM-Ersparnis: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FP32-Zustände und Aktivierungen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auch bei Quantized</a:t>
            </a:r>
          </a:p>
        </p:txBody>
      </p:sp>
      <p:sp>
        <p:nvSpPr>
          <p:cNvPr id="47" name="MS_flash_label">
            <a:extLst>
              <a:ext uri="{FF2B5EF4-FFF2-40B4-BE49-F238E27FC236}">
                <a16:creationId xmlns:a16="http://schemas.microsoft.com/office/drawing/2014/main" id="{1607A952-49B0-440C-8C1E-9241AEF305E7}"/>
              </a:ext>
            </a:extLst>
          </p:cNvPr>
          <p:cNvSpPr>
            <a:spLocks noGrp="1"/>
          </p:cNvSpPr>
          <p:nvPr/>
        </p:nvSpPr>
        <p:spPr>
          <a:xfrm>
            <a:off x="552450" y="50958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Flash-Bilanz:</a:t>
            </a:r>
          </a:p>
        </p:txBody>
      </p:sp>
      <p:sp>
        <p:nvSpPr>
          <p:cNvPr id="48" name="ML_comparison_label">
            <a:extLst>
              <a:ext uri="{FF2B5EF4-FFF2-40B4-BE49-F238E27FC236}">
                <a16:creationId xmlns:a16="http://schemas.microsoft.com/office/drawing/2014/main" id="{ACD942EF-2EC2-4358-9BE7-7AC8155A08AE}"/>
              </a:ext>
            </a:extLst>
          </p:cNvPr>
          <p:cNvSpPr>
            <a:spLocks noGrp="1"/>
          </p:cNvSpPr>
          <p:nvPr/>
        </p:nvSpPr>
        <p:spPr>
          <a:xfrm>
            <a:off x="6372225" y="1514475"/>
            <a:ext cx="3581400" cy="3429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Einsparung gegenüber Base</a:t>
            </a:r>
          </a:p>
        </p:txBody>
      </p:sp>
      <p:graphicFrame>
        <p:nvGraphicFramePr>
          <p:cNvPr id="49" name="Tabelle 48"/>
          <p:cNvGraphicFramePr/>
          <p:nvPr/>
        </p:nvGraphicFramePr>
        <p:xfrm>
          <a:off x="6372225" y="1952625"/>
          <a:ext cx="3581400" cy="2667000"/>
        </p:xfrm>
        <a:graphic>
          <a:graphicData uri="http://schemas.openxmlformats.org/drawingml/2006/table">
            <a:tbl>
              <a:tblPr/>
              <a:tblGrid>
                <a:gridCol w="1123950">
                  <a:extLst>
                    <a:ext uri="{9D8B030D-6E8A-4147-A177-3AD203B41FA5}">
                      <a16:colId xmlns:a16="http://schemas.microsoft.com/office/drawing/2014/main" val="20000"/>
                    </a:ext>
                  </a:extLst>
                </a:gridCol>
                <a:gridCol w="1228725">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tblGrid>
              <a:tr h="381000">
                <a:tc>
                  <a:txBody>
                    <a:bodyPr/>
                    <a:lstStyle/>
                    <a:p>
                      <a:endParaRP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SOC</a:t>
                      </a: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95250" marR="95250" marT="28575" marB="28575" anchor="ctr">
                    <a:solidFill>
                      <a:srgbClr val="FFFFFF"/>
                    </a:solidFill>
                  </a:tcPr>
                </a:tc>
                <a:extLst>
                  <a:ext uri="{0D108BD9-81ED-4DB2-BD59-A6C34878D82A}">
                    <a16:rowId xmlns:a16="http://schemas.microsoft.com/office/drawing/2014/main" val="10000"/>
                  </a:ext>
                </a:extLst>
              </a:tr>
              <a:tr h="381000">
                <a:tc gridSpan="3">
                  <a:txBody>
                    <a:bodyPr/>
                    <a:lstStyle/>
                    <a:p>
                      <a:pPr algn="l">
                        <a:buNone/>
                      </a:pPr>
                      <a:r>
                        <a:rPr sz="1800" b="1">
                          <a:solidFill>
                            <a:srgbClr val="D00020"/>
                          </a:solidFill>
                          <a:latin typeface="Calibri"/>
                          <a:ea typeface="Calibri"/>
                          <a:cs typeface="Calibri"/>
                        </a:rPr>
                        <a:t>Pruning</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1"/>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40,9 %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45,5 %</a:t>
                      </a:r>
                    </a:p>
                  </a:txBody>
                  <a:tcPr marL="95250" marR="95250" marT="28575" marB="28575" anchor="ctr">
                    <a:solidFill>
                      <a:srgbClr val="FFFFFF"/>
                    </a:solidFill>
                  </a:tcPr>
                </a:tc>
                <a:extLst>
                  <a:ext uri="{0D108BD9-81ED-4DB2-BD59-A6C34878D82A}">
                    <a16:rowId xmlns:a16="http://schemas.microsoft.com/office/drawing/2014/main" val="10002"/>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18,3 %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19,9 %</a:t>
                      </a:r>
                    </a:p>
                  </a:txBody>
                  <a:tcPr marL="95250" marR="95250" marT="28575" marB="28575" anchor="ctr">
                    <a:solidFill>
                      <a:srgbClr val="FFFFFF"/>
                    </a:solidFill>
                  </a:tcPr>
                </a:tc>
                <a:extLst>
                  <a:ext uri="{0D108BD9-81ED-4DB2-BD59-A6C34878D82A}">
                    <a16:rowId xmlns:a16="http://schemas.microsoft.com/office/drawing/2014/main" val="10003"/>
                  </a:ext>
                </a:extLst>
              </a:tr>
              <a:tr h="381000">
                <a:tc gridSpan="3">
                  <a:txBody>
                    <a:bodyPr/>
                    <a:lstStyle/>
                    <a:p>
                      <a:pPr algn="l">
                        <a:buNone/>
                      </a:pPr>
                      <a:r>
                        <a:rPr sz="1800" b="1">
                          <a:solidFill>
                            <a:srgbClr val="D00020"/>
                          </a:solidFill>
                          <a:latin typeface="Calibri"/>
                          <a:ea typeface="Calibri"/>
                          <a:cs typeface="Calibri"/>
                        </a:rPr>
                        <a:t>Quantized</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4"/>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50,2 %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58,8 %</a:t>
                      </a:r>
                    </a:p>
                  </a:txBody>
                  <a:tcPr marL="95250" marR="95250" marT="28575" marB="28575" anchor="ctr">
                    <a:solidFill>
                      <a:srgbClr val="FFFFFF"/>
                    </a:solidFill>
                  </a:tcPr>
                </a:tc>
                <a:extLst>
                  <a:ext uri="{0D108BD9-81ED-4DB2-BD59-A6C34878D82A}">
                    <a16:rowId xmlns:a16="http://schemas.microsoft.com/office/drawing/2014/main" val="10005"/>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19,7 %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22,9 %</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50" name="ML_ram_label">
            <a:extLst>
              <a:ext uri="{FF2B5EF4-FFF2-40B4-BE49-F238E27FC236}">
                <a16:creationId xmlns:a16="http://schemas.microsoft.com/office/drawing/2014/main" id="{3E383C55-3CB7-4605-9A31-15244A295669}"/>
              </a:ext>
            </a:extLst>
          </p:cNvPr>
          <p:cNvSpPr>
            <a:spLocks noGrp="1"/>
          </p:cNvSpPr>
          <p:nvPr/>
        </p:nvSpPr>
        <p:spPr>
          <a:xfrm>
            <a:off x="552450" y="55530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RAM-Bilanz:</a:t>
            </a:r>
          </a:p>
        </p:txBody>
      </p:sp>
      <mc:AlternateContent xmlns:mc="http://schemas.openxmlformats.org/markup-compatibility/2006" xmlns:a14="http://schemas.microsoft.com/office/drawing/2010/main">
        <mc:Choice Requires="a14">
          <p:sp>
            <p:nvSpPr>
              <p:cNvPr id="51" name="ML_ram_formula">
                <a:extLst>
                  <a:ext uri="{FF2B5EF4-FFF2-40B4-BE49-F238E27FC236}">
                    <a16:creationId xmlns:a16="http://schemas.microsoft.com/office/drawing/2014/main" id="{EDD17664-6F47-45BF-AC9C-337B751A99B6}"/>
                  </a:ext>
                </a:extLst>
              </p:cNvPr>
              <p:cNvSpPr>
                <a:spLocks noGrp="1"/>
              </p:cNvSpPr>
              <p:nvPr/>
            </p:nvSpPr>
            <p:spPr>
              <a:xfrm>
                <a:off x="1971675" y="5553075"/>
                <a:ext cx="4010025" cy="361950"/>
              </a:xfrm>
              <a:prstGeom prst="rect">
                <a:avLst/>
              </a:prstGeom>
              <a:noFill/>
              <a:ln w="0">
                <a:noFill/>
              </a:ln>
            </p:spPr>
            <p:txBody>
              <a:bodyPr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gesamt</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Variablen</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Puffer</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Stack</m:t>
                          </m:r>
                          <m:r>
                            <a:rPr sz="1260">
                              <a:solidFill>
                                <a:srgbClr val="444444"/>
                              </a:solidFill>
                              <a:latin typeface="Cambria Math"/>
                              <a:ea typeface="Cambria Math"/>
                              <a:cs typeface="Cambria Math"/>
                            </a:rPr>
                            <m:t>,</m:t>
                          </m:r>
                          <m:r>
                            <m:rPr>
                              <m:sty m:val="p"/>
                            </m:rPr>
                            <a:rPr sz="1260">
                              <a:solidFill>
                                <a:srgbClr val="444444"/>
                              </a:solidFill>
                              <a:latin typeface="Cambria Math"/>
                              <a:ea typeface="Cambria Math"/>
                              <a:cs typeface="Cambria Math"/>
                            </a:rPr>
                            <m:t>max</m:t>
                          </m:r>
                        </m:sub>
                      </m:sSub>
                    </m:oMath>
                  </m:oMathPara>
                </a14:m>
                <a:endParaRPr/>
              </a:p>
            </p:txBody>
          </p:sp>
        </mc:Choice>
        <mc:Fallback xmlns="">
          <p:sp>
            <p:nvSpPr>
              <p:cNvPr id="51" name="ML_ram_formula">
                <a:extLst>
                  <a:ext uri="{FF2B5EF4-FFF2-40B4-BE49-F238E27FC236}">
                    <a16:creationId xmlns:a16="http://schemas.microsoft.com/office/drawing/2014/main" id="{EDD17664-6F47-45BF-AC9C-337B751A99B6}"/>
                  </a:ext>
                </a:extLst>
              </p:cNvPr>
              <p:cNvSpPr>
                <a:spLocks noGrp="1" noRot="1" noChangeAspect="1" noMove="1" noResize="1" noEditPoints="1" noAdjustHandles="1" noChangeArrowheads="1" noChangeShapeType="1" noTextEdit="1"/>
              </p:cNvSpPr>
              <p:nvPr/>
            </p:nvSpPr>
            <p:spPr>
              <a:xfrm>
                <a:off x="1971675" y="5553075"/>
                <a:ext cx="4010025" cy="361950"/>
              </a:xfrm>
              <a:prstGeom prst="rect">
                <a:avLst/>
              </a:prstGeom>
              <a:blipFill>
                <a:blip r:embed="rId6"/>
                <a:stretch>
                  <a:fillRect l="-1976"/>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099E6CD0-CBE5-4DB3-8B19-DF0016E6080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36 / 40</a:t>
            </a:r>
          </a:p>
        </p:txBody>
      </p:sp>
      <p:sp>
        <p:nvSpPr>
          <p:cNvPr id="53" name="Footer – Präsentationsangaben">
            <a:extLst>
              <a:ext uri="{FF2B5EF4-FFF2-40B4-BE49-F238E27FC236}">
                <a16:creationId xmlns:a16="http://schemas.microsoft.com/office/drawing/2014/main" id="{29D51BDC-4435-4BAC-A506-807483F3D60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5852BB09-7040-4974-92F0-88D4FADEAB20}"/>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Pruning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D00020"/>
                          </a:solidFill>
                          <a:latin typeface="Calibri"/>
                          <a:ea typeface="Calibri"/>
                          <a:cs typeface="Calibri"/>
                        </a:rPr>
                        <a:t>−42,9 %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−44,0 %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D00020"/>
                          </a:solidFill>
                          <a:latin typeface="Calibri"/>
                          <a:ea typeface="Calibri"/>
                          <a:cs typeface="Calibri"/>
                        </a:rPr>
                        <a:t>−3,9 %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−29,2 %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1B28898D-2FE8-49EA-AA5C-C867AB53ADC1}"/>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Ergebnis</a:t>
            </a:r>
            <a:endParaRPr sz="1800" b="1" dirty="0">
              <a:solidFill>
                <a:srgbClr val="D00020"/>
              </a:solidFill>
              <a:latin typeface="Calibri"/>
              <a:ea typeface="Calibri"/>
              <a:cs typeface="Calibri"/>
            </a:endParaRPr>
          </a:p>
        </p:txBody>
      </p:sp>
      <p:sp>
        <p:nvSpPr>
          <p:cNvPr id="34" name="LC_text_Ergebnis">
            <a:extLst>
              <a:ext uri="{FF2B5EF4-FFF2-40B4-BE49-F238E27FC236}">
                <a16:creationId xmlns:a16="http://schemas.microsoft.com/office/drawing/2014/main" id="{47408EE4-86D3-41F6-8959-30F97C98E857}"/>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Deutlich kürzere Kernelzeit; geringer Host-Gewinn beim SOC</a:t>
            </a:r>
          </a:p>
        </p:txBody>
      </p:sp>
      <p:sp>
        <p:nvSpPr>
          <p:cNvPr id="35" name="LC_label_Ursache">
            <a:extLst>
              <a:ext uri="{FF2B5EF4-FFF2-40B4-BE49-F238E27FC236}">
                <a16:creationId xmlns:a16="http://schemas.microsoft.com/office/drawing/2014/main" id="{1E0966D2-1798-45B6-8583-E2FFEF791FD8}"/>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9593F7F1-3E5F-4C1F-91E6-5E33FFD3EB87}"/>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Reduktion der Rechenoperationen durch weniger Hidden Units;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beim SOC hoher Zeitanteil für Übertragung und Scheduling</a:t>
            </a:r>
          </a:p>
        </p:txBody>
      </p:sp>
      <p:sp>
        <p:nvSpPr>
          <p:cNvPr id="37" name="LC_label_Fazit">
            <a:extLst>
              <a:ext uri="{FF2B5EF4-FFF2-40B4-BE49-F238E27FC236}">
                <a16:creationId xmlns:a16="http://schemas.microsoft.com/office/drawing/2014/main" id="{6231E57A-E4AA-41B7-8D64-6AAD05D96283}"/>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B5254F83-2150-49AB-8B5E-211662C3B789}"/>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Zusätzliche Optimierung von Übertragung und Scheduling</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für einen größeren End-to-End-Gewinn</a:t>
            </a:r>
          </a:p>
        </p:txBody>
      </p:sp>
      <p:sp>
        <p:nvSpPr>
          <p:cNvPr id="39" name="Footer – Seitennummer">
            <a:extLst>
              <a:ext uri="{FF2B5EF4-FFF2-40B4-BE49-F238E27FC236}">
                <a16:creationId xmlns:a16="http://schemas.microsoft.com/office/drawing/2014/main" id="{097E40FF-2614-48E2-9FF3-C7DD2DE4E9F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37 / 40</a:t>
            </a:r>
          </a:p>
        </p:txBody>
      </p:sp>
      <p:sp>
        <p:nvSpPr>
          <p:cNvPr id="40" name="Footer – Präsentationsangaben">
            <a:extLst>
              <a:ext uri="{FF2B5EF4-FFF2-40B4-BE49-F238E27FC236}">
                <a16:creationId xmlns:a16="http://schemas.microsoft.com/office/drawing/2014/main" id="{683B8A8D-D72C-40DA-BAB7-949FD32B2A0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5" name="Gerade Verbindung mit Pfeil 4">
            <a:extLst>
              <a:ext uri="{FF2B5EF4-FFF2-40B4-BE49-F238E27FC236}">
                <a16:creationId xmlns:a16="http://schemas.microsoft.com/office/drawing/2014/main" id="{19BE2B56-6178-F4EB-0EE7-10A09E6939A2}"/>
              </a:ext>
            </a:extLst>
          </p:cNvPr>
          <p:cNvCxnSpPr/>
          <p:nvPr/>
        </p:nvCxnSpPr>
        <p:spPr>
          <a:xfrm flipH="1">
            <a:off x="1688123"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1167B5EC-F969-735C-AA89-C0BA71A29FDA}"/>
              </a:ext>
            </a:extLst>
          </p:cNvPr>
          <p:cNvCxnSpPr/>
          <p:nvPr/>
        </p:nvCxnSpPr>
        <p:spPr>
          <a:xfrm flipH="1">
            <a:off x="5408602"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7B07CA2E-1A97-4F66-A5D9-6B2D48623FF4}"/>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1F77B4"/>
                </a:solidFill>
                <a:latin typeface="Calibri"/>
                <a:ea typeface="Calibri"/>
                <a:cs typeface="Calibri"/>
              </a:defRPr>
            </a:pPr>
            <a:r>
              <a:rPr sz="1800" b="1">
                <a:solidFill>
                  <a:srgbClr val="1F77B4"/>
                </a:solidFill>
                <a:latin typeface="Calibri"/>
                <a:ea typeface="Calibri"/>
                <a:cs typeface="Calibri"/>
              </a:rPr>
              <a:t>Quantized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1F77B4"/>
                          </a:solidFill>
                          <a:latin typeface="Calibri"/>
                          <a:ea typeface="Calibri"/>
                          <a:cs typeface="Calibri"/>
                        </a:rPr>
                        <a:t>+399,3 %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+28,5 %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1F77B4"/>
                          </a:solidFill>
                          <a:latin typeface="Calibri"/>
                          <a:ea typeface="Calibri"/>
                          <a:cs typeface="Calibri"/>
                        </a:rPr>
                        <a:t>+45,5 %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+18,2 %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9E2314AB-8FE6-4E27-ABAD-2CD8DF5F882C}"/>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Ergebnis</a:t>
            </a:r>
          </a:p>
        </p:txBody>
      </p:sp>
      <p:sp>
        <p:nvSpPr>
          <p:cNvPr id="34" name="LC_text_Ergebnis">
            <a:extLst>
              <a:ext uri="{FF2B5EF4-FFF2-40B4-BE49-F238E27FC236}">
                <a16:creationId xmlns:a16="http://schemas.microsoft.com/office/drawing/2014/main" id="{B876A8D3-172B-488D-968A-A3561DAF9A51}"/>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Längere Kernel- und Host-Zeiten trotz kleinerem Flashbedarf</a:t>
            </a:r>
          </a:p>
        </p:txBody>
      </p:sp>
      <p:sp>
        <p:nvSpPr>
          <p:cNvPr id="35" name="LC_label_Ursache">
            <a:extLst>
              <a:ext uri="{FF2B5EF4-FFF2-40B4-BE49-F238E27FC236}">
                <a16:creationId xmlns:a16="http://schemas.microsoft.com/office/drawing/2014/main" id="{02F6293A-ABC0-4B7E-A8C8-DEB3CF9C0F84}"/>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EE396EE2-FD8D-41AC-9DCD-FA159AA70013}"/>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Dequantization bei FP32-Arithmetik; mögliche zusätzliche</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Einflüsse durch Speicherzugriffe und Schleifen</a:t>
            </a:r>
          </a:p>
        </p:txBody>
      </p:sp>
      <p:sp>
        <p:nvSpPr>
          <p:cNvPr id="37" name="LC_label_Fazit">
            <a:extLst>
              <a:ext uri="{FF2B5EF4-FFF2-40B4-BE49-F238E27FC236}">
                <a16:creationId xmlns:a16="http://schemas.microsoft.com/office/drawing/2014/main" id="{1616A37F-930A-4E9E-8E4A-411DA127229F}"/>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13419236-F71F-4316-927E-D27D11C26ABB}"/>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Flash-Gewinn bei höherem Rechenaufwand im Referenzkernel;</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gezieltes Profiling als Basis weiterer Kernel-Optimierung</a:t>
            </a:r>
          </a:p>
        </p:txBody>
      </p:sp>
      <p:sp>
        <p:nvSpPr>
          <p:cNvPr id="39" name="Footer – Seitennummer">
            <a:extLst>
              <a:ext uri="{FF2B5EF4-FFF2-40B4-BE49-F238E27FC236}">
                <a16:creationId xmlns:a16="http://schemas.microsoft.com/office/drawing/2014/main" id="{FAFD3197-2348-4413-B65F-A3F02FB33D5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38 / 40</a:t>
            </a:r>
          </a:p>
        </p:txBody>
      </p:sp>
      <p:sp>
        <p:nvSpPr>
          <p:cNvPr id="40" name="Footer – Präsentationsangaben">
            <a:extLst>
              <a:ext uri="{FF2B5EF4-FFF2-40B4-BE49-F238E27FC236}">
                <a16:creationId xmlns:a16="http://schemas.microsoft.com/office/drawing/2014/main" id="{696BBEC0-E4B7-4591-B216-688C5438258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2" name="Gerade Verbindung mit Pfeil 1">
            <a:extLst>
              <a:ext uri="{FF2B5EF4-FFF2-40B4-BE49-F238E27FC236}">
                <a16:creationId xmlns:a16="http://schemas.microsoft.com/office/drawing/2014/main" id="{EC89E9E0-B1C8-1B5F-BD40-39E9B3DB399A}"/>
              </a:ext>
            </a:extLst>
          </p:cNvPr>
          <p:cNvCxnSpPr>
            <a:cxnSpLocks/>
          </p:cNvCxnSpPr>
          <p:nvPr/>
        </p:nvCxnSpPr>
        <p:spPr>
          <a:xfrm>
            <a:off x="1899138" y="2019301"/>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BF604F6A-9CB0-F319-257F-CDE8310564CB}"/>
              </a:ext>
            </a:extLst>
          </p:cNvPr>
          <p:cNvCxnSpPr>
            <a:cxnSpLocks/>
          </p:cNvCxnSpPr>
          <p:nvPr/>
        </p:nvCxnSpPr>
        <p:spPr>
          <a:xfrm>
            <a:off x="5872195" y="1889948"/>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Fazit: Antworten auf die Forschungsfragen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CQ_topic_0">
            <a:extLst>
              <a:ext uri="{FF2B5EF4-FFF2-40B4-BE49-F238E27FC236}">
                <a16:creationId xmlns:a16="http://schemas.microsoft.com/office/drawing/2014/main" id="{854204CF-9D67-40EB-A559-C4B5606749C0}"/>
              </a:ext>
            </a:extLst>
          </p:cNvPr>
          <p:cNvSpPr>
            <a:spLocks noGrp="1"/>
          </p:cNvSpPr>
          <p:nvPr/>
        </p:nvSpPr>
        <p:spPr>
          <a:xfrm>
            <a:off x="4714875" y="142875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Feature Engineering</a:t>
            </a:r>
          </a:p>
        </p:txBody>
      </p:sp>
      <p:sp>
        <p:nvSpPr>
          <p:cNvPr id="46" name="CQ_answer_0">
            <a:extLst>
              <a:ext uri="{FF2B5EF4-FFF2-40B4-BE49-F238E27FC236}">
                <a16:creationId xmlns:a16="http://schemas.microsoft.com/office/drawing/2014/main" id="{22FA9098-2EAE-4FFE-9732-C6134C1BD791}"/>
              </a:ext>
            </a:extLst>
          </p:cNvPr>
          <p:cNvSpPr>
            <a:spLocks noGrp="1"/>
          </p:cNvSpPr>
          <p:nvPr/>
        </p:nvSpPr>
        <p:spPr>
          <a:xfrm>
            <a:off x="4714875" y="1743075"/>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err="1">
                <a:solidFill>
                  <a:srgbClr val="444444"/>
                </a:solidFill>
                <a:latin typeface="Calibri"/>
                <a:ea typeface="Calibri"/>
                <a:cs typeface="Calibri"/>
              </a:rPr>
              <a:t>Zeitabhängige</a:t>
            </a:r>
            <a:r>
              <a:rPr sz="1800" b="1" dirty="0">
                <a:solidFill>
                  <a:srgbClr val="444444"/>
                </a:solidFill>
                <a:latin typeface="Calibri"/>
                <a:ea typeface="Calibri"/>
                <a:cs typeface="Calibri"/>
              </a:rPr>
              <a:t> SOH-</a:t>
            </a:r>
            <a:r>
              <a:rPr sz="1800" b="1" dirty="0" err="1">
                <a:solidFill>
                  <a:srgbClr val="444444"/>
                </a:solidFill>
                <a:latin typeface="Calibri"/>
                <a:ea typeface="Calibri"/>
                <a:cs typeface="Calibri"/>
              </a:rPr>
              <a:t>Schätzung</a:t>
            </a:r>
            <a:r>
              <a:rPr lang="de-DE" b="1" dirty="0">
                <a:solidFill>
                  <a:srgbClr val="444444"/>
                </a:solidFill>
                <a:latin typeface="Calibri"/>
                <a:ea typeface="Calibri"/>
                <a:cs typeface="Calibri"/>
              </a:rPr>
              <a:t> </a:t>
            </a:r>
            <a:r>
              <a:rPr sz="1800" b="1" dirty="0" err="1">
                <a:solidFill>
                  <a:srgbClr val="444444"/>
                </a:solidFill>
                <a:latin typeface="Calibri"/>
                <a:ea typeface="Calibri"/>
                <a:cs typeface="Calibri"/>
              </a:rPr>
              <a:t>auch</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ohne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rekurrente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Architektur</a:t>
            </a:r>
            <a:endParaRPr sz="1800" b="1" dirty="0">
              <a:solidFill>
                <a:srgbClr val="444444"/>
              </a:solidFill>
              <a:latin typeface="Calibri"/>
              <a:ea typeface="Calibri"/>
              <a:cs typeface="Calibri"/>
            </a:endParaRPr>
          </a:p>
        </p:txBody>
      </p:sp>
      <p:sp>
        <p:nvSpPr>
          <p:cNvPr id="47" name="CQ_detail_0">
            <a:extLst>
              <a:ext uri="{FF2B5EF4-FFF2-40B4-BE49-F238E27FC236}">
                <a16:creationId xmlns:a16="http://schemas.microsoft.com/office/drawing/2014/main" id="{F09F76E8-B8C2-492B-BB3A-8317C95B1EE3}"/>
              </a:ext>
            </a:extLst>
          </p:cNvPr>
          <p:cNvSpPr>
            <a:spLocks noGrp="1"/>
          </p:cNvSpPr>
          <p:nvPr/>
        </p:nvSpPr>
        <p:spPr>
          <a:xfrm>
            <a:off x="4714875" y="233362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Belastungshistorie</a:t>
            </a:r>
            <a:r>
              <a:rPr sz="1800" b="0" dirty="0">
                <a:solidFill>
                  <a:srgbClr val="444444"/>
                </a:solidFill>
                <a:latin typeface="Calibri"/>
                <a:ea typeface="Calibri"/>
                <a:cs typeface="Calibri"/>
              </a:rPr>
              <a:t> und Lag Sequences</a:t>
            </a:r>
            <a:r>
              <a:rPr lang="de-DE" sz="1800" b="0" dirty="0">
                <a:solidFill>
                  <a:srgbClr val="444444"/>
                </a:solidFill>
                <a:latin typeface="Calibri"/>
                <a:ea typeface="Calibri"/>
                <a:cs typeface="Calibri"/>
              </a:rPr>
              <a:t> </a:t>
            </a:r>
            <a:r>
              <a:rPr sz="1800" b="0" dirty="0" err="1">
                <a:solidFill>
                  <a:srgbClr val="444444"/>
                </a:solidFill>
                <a:latin typeface="Calibri"/>
                <a:ea typeface="Calibri"/>
                <a:cs typeface="Calibri"/>
              </a:rPr>
              <a:t>als</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explizite</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Zeitinformation</a:t>
            </a:r>
            <a:r>
              <a:rPr sz="1800" b="0" dirty="0">
                <a:solidFill>
                  <a:srgbClr val="444444"/>
                </a:solidFill>
                <a:latin typeface="Calibri"/>
                <a:ea typeface="Calibri"/>
                <a:cs typeface="Calibri"/>
              </a:rPr>
              <a:t> für </a:t>
            </a:r>
            <a:r>
              <a:rPr sz="1800" b="0" dirty="0" err="1">
                <a:solidFill>
                  <a:srgbClr val="444444"/>
                </a:solidFill>
                <a:latin typeface="Calibri"/>
                <a:ea typeface="Calibri"/>
                <a:cs typeface="Calibri"/>
              </a:rPr>
              <a:t>ein</a:t>
            </a:r>
            <a:r>
              <a:rPr sz="1800" b="0" dirty="0">
                <a:solidFill>
                  <a:srgbClr val="444444"/>
                </a:solidFill>
                <a:latin typeface="Calibri"/>
                <a:ea typeface="Calibri"/>
                <a:cs typeface="Calibri"/>
              </a:rPr>
              <a:t> MLP</a:t>
            </a:r>
          </a:p>
        </p:txBody>
      </p:sp>
      <p:sp>
        <p:nvSpPr>
          <p:cNvPr id="48" name="CQ_topic_1">
            <a:extLst>
              <a:ext uri="{FF2B5EF4-FFF2-40B4-BE49-F238E27FC236}">
                <a16:creationId xmlns:a16="http://schemas.microsoft.com/office/drawing/2014/main" id="{2302C89A-BEAB-4013-96F3-E79679AF21F8}"/>
              </a:ext>
            </a:extLst>
          </p:cNvPr>
          <p:cNvSpPr>
            <a:spLocks noGrp="1"/>
          </p:cNvSpPr>
          <p:nvPr/>
        </p:nvSpPr>
        <p:spPr>
          <a:xfrm>
            <a:off x="4714875" y="2943225"/>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Zuverlässigkeit</a:t>
            </a:r>
            <a:endParaRPr sz="1800" b="1" dirty="0">
              <a:solidFill>
                <a:srgbClr val="D00020"/>
              </a:solidFill>
              <a:latin typeface="Calibri"/>
              <a:ea typeface="Calibri"/>
              <a:cs typeface="Calibri"/>
            </a:endParaRPr>
          </a:p>
        </p:txBody>
      </p:sp>
      <p:sp>
        <p:nvSpPr>
          <p:cNvPr id="49" name="CQ_answer_1">
            <a:extLst>
              <a:ext uri="{FF2B5EF4-FFF2-40B4-BE49-F238E27FC236}">
                <a16:creationId xmlns:a16="http://schemas.microsoft.com/office/drawing/2014/main" id="{ABBD3A2A-88A5-4EA2-9875-02196B46B190}"/>
              </a:ext>
            </a:extLst>
          </p:cNvPr>
          <p:cNvSpPr>
            <a:spLocks noGrp="1"/>
          </p:cNvSpPr>
          <p:nvPr/>
        </p:nvSpPr>
        <p:spPr>
          <a:xfrm>
            <a:off x="4714875" y="3257550"/>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a:solidFill>
                  <a:srgbClr val="444444"/>
                </a:solidFill>
                <a:latin typeface="Calibri"/>
                <a:ea typeface="Calibri"/>
                <a:cs typeface="Calibri"/>
              </a:rPr>
              <a:t>DD: </a:t>
            </a:r>
            <a:r>
              <a:rPr sz="1800" b="1" dirty="0" err="1">
                <a:solidFill>
                  <a:srgbClr val="444444"/>
                </a:solidFill>
                <a:latin typeface="Calibri"/>
                <a:ea typeface="Calibri"/>
                <a:cs typeface="Calibri"/>
              </a:rPr>
              <a:t>höchste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nominale</a:t>
            </a:r>
            <a:r>
              <a:rPr sz="1800" b="1" dirty="0">
                <a:solidFill>
                  <a:srgbClr val="444444"/>
                </a:solidFill>
                <a:latin typeface="Calibri"/>
                <a:ea typeface="Calibri"/>
                <a:cs typeface="Calibri"/>
              </a:rPr>
              <a:t> Accuracy</a:t>
            </a:r>
            <a:r>
              <a:rPr lang="de-DE" sz="1800" b="1" dirty="0">
                <a:solidFill>
                  <a:srgbClr val="444444"/>
                </a:solidFill>
                <a:latin typeface="Calibri"/>
                <a:ea typeface="Calibri"/>
                <a:cs typeface="Calibri"/>
              </a:rPr>
              <a:t> </a:t>
            </a:r>
            <a:r>
              <a:rPr sz="1800" b="1" dirty="0">
                <a:solidFill>
                  <a:srgbClr val="444444"/>
                </a:solidFill>
                <a:latin typeface="Calibri"/>
                <a:ea typeface="Calibri"/>
                <a:cs typeface="Calibri"/>
              </a:rPr>
              <a:t>und </a:t>
            </a:r>
            <a:r>
              <a:rPr sz="1800" b="1" dirty="0" err="1">
                <a:solidFill>
                  <a:srgbClr val="444444"/>
                </a:solidFill>
                <a:latin typeface="Calibri"/>
                <a:ea typeface="Calibri"/>
                <a:cs typeface="Calibri"/>
              </a:rPr>
              <a:t>breite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Robustheit</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im</a:t>
            </a:r>
            <a:r>
              <a:rPr sz="1800" b="1" dirty="0">
                <a:solidFill>
                  <a:srgbClr val="444444"/>
                </a:solidFill>
                <a:latin typeface="Calibri"/>
                <a:ea typeface="Calibri"/>
                <a:cs typeface="Calibri"/>
              </a:rPr>
              <a:t> Benchmark</a:t>
            </a:r>
          </a:p>
        </p:txBody>
      </p:sp>
      <p:sp>
        <p:nvSpPr>
          <p:cNvPr id="50" name="CQ_detail_1">
            <a:extLst>
              <a:ext uri="{FF2B5EF4-FFF2-40B4-BE49-F238E27FC236}">
                <a16:creationId xmlns:a16="http://schemas.microsoft.com/office/drawing/2014/main" id="{F68E716D-B82E-40A2-B3CE-7A6515C2DB04}"/>
              </a:ext>
            </a:extLst>
          </p:cNvPr>
          <p:cNvSpPr>
            <a:spLocks noGrp="1"/>
          </p:cNvSpPr>
          <p:nvPr/>
        </p:nvSpPr>
        <p:spPr>
          <a:xfrm>
            <a:off x="4714875" y="3848100"/>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Multivariater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zeitlicher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Kontext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als</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Stärke</a:t>
            </a:r>
            <a:r>
              <a:rPr sz="1800" b="0" dirty="0">
                <a:solidFill>
                  <a:srgbClr val="444444"/>
                </a:solidFill>
                <a:latin typeface="Calibri"/>
                <a:ea typeface="Calibri"/>
                <a:cs typeface="Calibri"/>
              </a:rPr>
              <a:t>;</a:t>
            </a:r>
            <a:r>
              <a:rPr lang="de-DE" sz="1800" b="0" dirty="0">
                <a:solidFill>
                  <a:srgbClr val="444444"/>
                </a:solidFill>
                <a:latin typeface="Calibri"/>
                <a:ea typeface="Calibri"/>
                <a:cs typeface="Calibri"/>
              </a:rPr>
              <a:t> </a:t>
            </a:r>
          </a:p>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Störtests</a:t>
            </a:r>
            <a:r>
              <a:rPr sz="1800" b="0" dirty="0">
                <a:solidFill>
                  <a:srgbClr val="444444"/>
                </a:solidFill>
                <a:latin typeface="Calibri"/>
                <a:ea typeface="Calibri"/>
                <a:cs typeface="Calibri"/>
              </a:rPr>
              <a:t> und State-Verwaltung </a:t>
            </a:r>
            <a:r>
              <a:rPr sz="1800" b="0" dirty="0" err="1">
                <a:solidFill>
                  <a:srgbClr val="444444"/>
                </a:solidFill>
                <a:latin typeface="Calibri"/>
                <a:ea typeface="Calibri"/>
                <a:cs typeface="Calibri"/>
              </a:rPr>
              <a:t>entscheidend</a:t>
            </a:r>
            <a:endParaRPr sz="1800" b="0" dirty="0">
              <a:solidFill>
                <a:srgbClr val="444444"/>
              </a:solidFill>
              <a:latin typeface="Calibri"/>
              <a:ea typeface="Calibri"/>
              <a:cs typeface="Calibri"/>
            </a:endParaRPr>
          </a:p>
        </p:txBody>
      </p:sp>
      <p:sp>
        <p:nvSpPr>
          <p:cNvPr id="51" name="CQ_topic_2">
            <a:extLst>
              <a:ext uri="{FF2B5EF4-FFF2-40B4-BE49-F238E27FC236}">
                <a16:creationId xmlns:a16="http://schemas.microsoft.com/office/drawing/2014/main" id="{D80858D4-566D-4BA5-BB66-D97A15F1D371}"/>
              </a:ext>
            </a:extLst>
          </p:cNvPr>
          <p:cNvSpPr>
            <a:spLocks noGrp="1"/>
          </p:cNvSpPr>
          <p:nvPr/>
        </p:nvSpPr>
        <p:spPr>
          <a:xfrm>
            <a:off x="4714875" y="445770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Embedded AI</a:t>
            </a:r>
          </a:p>
        </p:txBody>
      </p:sp>
      <p:sp>
        <p:nvSpPr>
          <p:cNvPr id="52" name="CQ_answer_2">
            <a:extLst>
              <a:ext uri="{FF2B5EF4-FFF2-40B4-BE49-F238E27FC236}">
                <a16:creationId xmlns:a16="http://schemas.microsoft.com/office/drawing/2014/main" id="{6CC2CF52-5FCA-4F0E-A131-78B4D336E3C8}"/>
              </a:ext>
            </a:extLst>
          </p:cNvPr>
          <p:cNvSpPr>
            <a:spLocks noGrp="1"/>
          </p:cNvSpPr>
          <p:nvPr/>
        </p:nvSpPr>
        <p:spPr>
          <a:xfrm>
            <a:off x="4714875" y="4772025"/>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err="1">
                <a:solidFill>
                  <a:srgbClr val="444444"/>
                </a:solidFill>
                <a:latin typeface="Calibri"/>
                <a:ea typeface="Calibri"/>
                <a:cs typeface="Calibri"/>
              </a:rPr>
              <a:t>Neuronale</a:t>
            </a:r>
            <a:r>
              <a:rPr sz="1800" b="1" dirty="0">
                <a:solidFill>
                  <a:srgbClr val="444444"/>
                </a:solidFill>
                <a:latin typeface="Calibri"/>
                <a:ea typeface="Calibri"/>
                <a:cs typeface="Calibri"/>
              </a:rPr>
              <a:t> SOC-/SOH-</a:t>
            </a:r>
            <a:r>
              <a:rPr sz="1800" b="1" dirty="0" err="1">
                <a:solidFill>
                  <a:srgbClr val="444444"/>
                </a:solidFill>
                <a:latin typeface="Calibri"/>
                <a:ea typeface="Calibri"/>
                <a:cs typeface="Calibri"/>
              </a:rPr>
              <a:t>Schätzung</a:t>
            </a:r>
            <a:r>
              <a:rPr lang="de-DE" b="1" dirty="0">
                <a:solidFill>
                  <a:srgbClr val="444444"/>
                </a:solidFill>
                <a:latin typeface="Calibri"/>
                <a:ea typeface="Calibri"/>
                <a:cs typeface="Calibri"/>
              </a:rPr>
              <a:t> </a:t>
            </a:r>
            <a:r>
              <a:rPr sz="1800" b="1" dirty="0">
                <a:solidFill>
                  <a:srgbClr val="444444"/>
                </a:solidFill>
                <a:latin typeface="Calibri"/>
                <a:ea typeface="Calibri"/>
                <a:cs typeface="Calibri"/>
              </a:rPr>
              <a:t>auf dem </a:t>
            </a:r>
            <a:r>
              <a:rPr sz="1800" b="1" dirty="0" err="1">
                <a:solidFill>
                  <a:srgbClr val="444444"/>
                </a:solidFill>
                <a:latin typeface="Calibri"/>
                <a:ea typeface="Calibri"/>
                <a:cs typeface="Calibri"/>
              </a:rPr>
              <a:t>Mikrocontroller</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realisierbar</a:t>
            </a:r>
            <a:endParaRPr sz="1800" b="1" dirty="0">
              <a:solidFill>
                <a:srgbClr val="444444"/>
              </a:solidFill>
              <a:latin typeface="Calibri"/>
              <a:ea typeface="Calibri"/>
              <a:cs typeface="Calibri"/>
            </a:endParaRPr>
          </a:p>
        </p:txBody>
      </p:sp>
      <p:sp>
        <p:nvSpPr>
          <p:cNvPr id="53" name="CQ_detail_2">
            <a:extLst>
              <a:ext uri="{FF2B5EF4-FFF2-40B4-BE49-F238E27FC236}">
                <a16:creationId xmlns:a16="http://schemas.microsoft.com/office/drawing/2014/main" id="{73C6368A-5AF6-431D-A9C5-BF8387B9EEAF}"/>
              </a:ext>
            </a:extLst>
          </p:cNvPr>
          <p:cNvSpPr>
            <a:spLocks noGrp="1"/>
          </p:cNvSpPr>
          <p:nvPr/>
        </p:nvSpPr>
        <p:spPr>
          <a:xfrm>
            <a:off x="4714875" y="536257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Ressourcengewinne durch Modellkompression;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Trade-off zwischen Accuracy und Ressourcen</a:t>
            </a:r>
          </a:p>
        </p:txBody>
      </p:sp>
      <p:sp>
        <p:nvSpPr>
          <p:cNvPr id="54" name="Footer – Seitennummer">
            <a:extLst>
              <a:ext uri="{FF2B5EF4-FFF2-40B4-BE49-F238E27FC236}">
                <a16:creationId xmlns:a16="http://schemas.microsoft.com/office/drawing/2014/main" id="{5D3B8202-8B58-46A6-A225-DFEB0D550E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39 / 40</a:t>
            </a:r>
          </a:p>
        </p:txBody>
      </p:sp>
      <p:sp>
        <p:nvSpPr>
          <p:cNvPr id="55" name="Footer – Präsentationsangaben">
            <a:extLst>
              <a:ext uri="{FF2B5EF4-FFF2-40B4-BE49-F238E27FC236}">
                <a16:creationId xmlns:a16="http://schemas.microsoft.com/office/drawing/2014/main" id="{ACCA588E-76A9-41B5-827D-D899220E866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TY_closing_title">
            <a:extLst>
              <a:ext uri="{FF2B5EF4-FFF2-40B4-BE49-F238E27FC236}">
                <a16:creationId xmlns:a16="http://schemas.microsoft.com/office/drawing/2014/main" id="{2F8C0EB5-14AB-4457-BD8C-B5A72721E1B5}"/>
              </a:ext>
            </a:extLst>
          </p:cNvPr>
          <p:cNvSpPr>
            <a:spLocks noGrp="1"/>
          </p:cNvSpPr>
          <p:nvPr/>
        </p:nvSpPr>
        <p:spPr>
          <a:xfrm>
            <a:off x="4714875" y="3152775"/>
            <a:ext cx="5238750" cy="952500"/>
          </a:xfrm>
          <a:prstGeom prst="rect">
            <a:avLst/>
          </a:prstGeom>
          <a:noFill/>
          <a:ln w="0">
            <a:noFill/>
          </a:ln>
        </p:spPr>
        <p:txBody>
          <a:bodyPr lIns="0" tIns="0" rIns="0" bIns="0" anchor="t">
            <a:noAutofit/>
          </a:bodyPr>
          <a:lstStyle/>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Vielen Dank</a:t>
            </a:r>
          </a:p>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für Ihre Aufmerksamkeit!</a:t>
            </a:r>
          </a:p>
        </p:txBody>
      </p:sp>
      <p:sp>
        <p:nvSpPr>
          <p:cNvPr id="46" name="Footer – Seitennummer">
            <a:extLst>
              <a:ext uri="{FF2B5EF4-FFF2-40B4-BE49-F238E27FC236}">
                <a16:creationId xmlns:a16="http://schemas.microsoft.com/office/drawing/2014/main" id="{A07C2AE1-9431-4FD1-B786-550621485010}"/>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40 / 40</a:t>
            </a:r>
          </a:p>
        </p:txBody>
      </p:sp>
      <p:sp>
        <p:nvSpPr>
          <p:cNvPr id="47" name="Footer – Präsentationsangaben">
            <a:extLst>
              <a:ext uri="{FF2B5EF4-FFF2-40B4-BE49-F238E27FC236}">
                <a16:creationId xmlns:a16="http://schemas.microsoft.com/office/drawing/2014/main" id="{2364B75F-B2E3-4286-92E5-AB84C6787B5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Korrelation der SOH-Eingangsmerkmale</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908471" y="1562100"/>
            <a:ext cx="4764833" cy="3648075"/>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496050" y="1514475"/>
            <a:ext cx="3457575" cy="128587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Merkmale:</a:t>
            </a:r>
            <a:r>
              <a:rPr sz="1800" b="0">
                <a:latin typeface="Calibri"/>
                <a:ea typeface="Calibri"/>
                <a:cs typeface="Calibri"/>
              </a:rPr>
              <a:t> Pearson-Korrelation von SOH mit U, T und getrenntem Lade- und Entladedurchsatz</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496050" y="3000375"/>
            <a:ext cx="3457575" cy="1343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Befund:</a:t>
            </a:r>
            <a:r>
              <a:rPr sz="1800" b="0">
                <a:latin typeface="Calibri"/>
                <a:ea typeface="Calibri"/>
                <a:cs typeface="Calibri"/>
              </a:rPr>
              <a:t> Temperatur und kumulative Ströme zeigen deutlichere lineare Beziehungen zu SOH als Spannung</a:t>
            </a: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065BED09-2CE4-40B6-B102-FF86D5FAF6C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C948B53-DA5C-4EDD-8D85-C3ED52BAC8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4C48789-329B-431B-AA48-3ECF7B0E6C3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88898300-12F9-4BFE-8103-A0504C2A32D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A034181D-8828-4514-8B87-37DF6586AD58}"/>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E514FDA1-194C-4834-994F-3E257D70CC1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B1D23639-0E80-4CD3-87E9-947AC2F7242B}"/>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53BC500-52BC-47D3-84C8-D8622B45048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9-3">
            <a:extLst>
              <a:ext uri="{FF2B5EF4-FFF2-40B4-BE49-F238E27FC236}">
                <a16:creationId xmlns:a16="http://schemas.microsoft.com/office/drawing/2014/main" id="{CBBFA3DC-79D0-42B4-B61D-FC9DC400CE25}"/>
              </a:ext>
            </a:extLst>
          </p:cNvPr>
          <p:cNvSpPr>
            <a:spLocks noGrp="1"/>
          </p:cNvSpPr>
          <p:nvPr/>
        </p:nvSpPr>
        <p:spPr>
          <a:xfrm>
            <a:off x="6496050" y="4552950"/>
            <a:ext cx="3457575" cy="12573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Grenze:</a:t>
            </a:r>
            <a:r>
              <a:rPr sz="1800" b="0">
                <a:latin typeface="Calibri"/>
                <a:ea typeface="Calibri"/>
                <a:cs typeface="Calibri"/>
              </a:rPr>
              <a:t> Pearson erfasst lineare Beziehungen und belegt keine kausalen Alterungsmechanismen</a:t>
            </a:r>
          </a:p>
        </p:txBody>
      </p:sp>
      <p:sp>
        <p:nvSpPr>
          <p:cNvPr id="40" name="Footer – Seitennummer">
            <a:extLst>
              <a:ext uri="{FF2B5EF4-FFF2-40B4-BE49-F238E27FC236}">
                <a16:creationId xmlns:a16="http://schemas.microsoft.com/office/drawing/2014/main" id="{F6EA2814-4ED7-40A1-AB16-CA8318D5D2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a:t>
            </a:r>
          </a:p>
        </p:txBody>
      </p:sp>
      <p:sp>
        <p:nvSpPr>
          <p:cNvPr id="41" name="Footer – Präsentationsangaben">
            <a:extLst>
              <a:ext uri="{FF2B5EF4-FFF2-40B4-BE49-F238E27FC236}">
                <a16:creationId xmlns:a16="http://schemas.microsoft.com/office/drawing/2014/main" id="{C5FB6443-FC22-49B3-8B92-B00BA8CCACA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2" name="Quellenverweis 4">
            <a:extLst>
              <a:ext uri="{FF2B5EF4-FFF2-40B4-BE49-F238E27FC236}">
                <a16:creationId xmlns:a16="http://schemas.microsoft.com/office/drawing/2014/main" id="{C7B408A3-82B3-4F3A-95D7-A969052EDD70}"/>
              </a:ext>
            </a:extLst>
          </p:cNvPr>
          <p:cNvSpPr>
            <a:spLocks noGrp="1"/>
          </p:cNvSpPr>
          <p:nvPr/>
        </p:nvSpPr>
        <p:spPr>
          <a:xfrm>
            <a:off x="5410200" y="524827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950996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Störungsszenarien im Robustheitsvergleich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8958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Strom-Offset:</a:t>
            </a:r>
            <a:r>
              <a:rPr sz="1800" b="0">
                <a:latin typeface="Calibri"/>
                <a:ea typeface="Calibri"/>
                <a:cs typeface="Calibri"/>
              </a:rPr>
              <a:t> Größter globaler MAE-Anstieg bei allen vier Verfahren, DD bleibt am wenigsten betroffen</a:t>
            </a:r>
          </a:p>
        </p:txBody>
      </p:sp>
      <p:pic>
        <p:nvPicPr>
          <p:cNvPr id="31" name="V5_Figure_11"/>
          <p:cNvPicPr>
            <a:picLocks noChangeAspect="1"/>
          </p:cNvPicPr>
          <p:nvPr/>
        </p:nvPicPr>
        <p:blipFill>
          <a:blip r:embed="rId3"/>
          <a:stretch/>
        </p:blipFill>
        <p:spPr>
          <a:xfrm>
            <a:off x="552450" y="1555533"/>
            <a:ext cx="9353550" cy="2965885"/>
          </a:xfrm>
          <a:prstGeom prst="rect">
            <a:avLst/>
          </a:prstGeom>
        </p:spPr>
      </p:pic>
      <p:sp>
        <p:nvSpPr>
          <p:cNvPr id="15" name="Structure separator">
            <a:extLst>
              <a:ext uri="{FF2B5EF4-FFF2-40B4-BE49-F238E27FC236}">
                <a16:creationId xmlns:a16="http://schemas.microsoft.com/office/drawing/2014/main" id="{034BFC71-1F01-467E-8C90-B80B5A33711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8F4D3BC-B452-4C79-B353-C4C683B6596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555B7D7F-0326-43C8-A303-2CE1303DC9F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AC332418-C591-42C8-88AE-F8F0A105C4F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B2EADC8-0EDF-496B-9B6B-72169A108B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5D6561FC-9AB7-4631-B88B-C588BF1320E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C8AB9551-A44B-4E24-8496-1530BB29E0B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0AB4746D-78A2-4424-B851-159FCC49587F}"/>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40-2">
            <a:extLst>
              <a:ext uri="{FF2B5EF4-FFF2-40B4-BE49-F238E27FC236}">
                <a16:creationId xmlns:a16="http://schemas.microsoft.com/office/drawing/2014/main" id="{3A0360FD-A7EF-4E6F-9DDD-9236408A9F63}"/>
              </a:ext>
            </a:extLst>
          </p:cNvPr>
          <p:cNvSpPr>
            <a:spLocks noGrp="1"/>
          </p:cNvSpPr>
          <p:nvPr/>
        </p:nvSpPr>
        <p:spPr>
          <a:xfrm>
            <a:off x="552450" y="5486400"/>
            <a:ext cx="9353550" cy="5715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ΔMAE:</a:t>
            </a:r>
            <a:r>
              <a:rPr sz="1800" b="0">
                <a:latin typeface="Calibri"/>
                <a:ea typeface="Calibri"/>
                <a:cs typeface="Calibri"/>
              </a:rPr>
              <a:t> Änderung gegenüber der Baseline. Negative Werte können aus Fehlerkompensation im Testfenster entstehen</a:t>
            </a:r>
          </a:p>
        </p:txBody>
      </p:sp>
      <p:sp>
        <p:nvSpPr>
          <p:cNvPr id="32" name="Footer – Seitennummer">
            <a:extLst>
              <a:ext uri="{FF2B5EF4-FFF2-40B4-BE49-F238E27FC236}">
                <a16:creationId xmlns:a16="http://schemas.microsoft.com/office/drawing/2014/main" id="{9C121A05-A342-47D6-BC7B-C9E6E5C3481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a:t>
            </a:r>
          </a:p>
        </p:txBody>
      </p:sp>
      <p:sp>
        <p:nvSpPr>
          <p:cNvPr id="33" name="Footer – Präsentationsangaben">
            <a:extLst>
              <a:ext uri="{FF2B5EF4-FFF2-40B4-BE49-F238E27FC236}">
                <a16:creationId xmlns:a16="http://schemas.microsoft.com/office/drawing/2014/main" id="{F173BB15-7633-4FAB-8018-15359B34F2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Stromrauschen und lokale SOC-Schwankungen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715125" y="1552575"/>
            <a:ext cx="3238500" cy="11144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Integration:</a:t>
            </a:r>
            <a:r>
              <a:rPr sz="1800" b="0">
                <a:latin typeface="Calibri"/>
                <a:ea typeface="Calibri"/>
                <a:cs typeface="Calibri"/>
              </a:rPr>
              <a:t> Rauschanteile heben sich teilweise auf. Streuung der Summe wächst mit √N</a:t>
            </a:r>
          </a:p>
        </p:txBody>
      </p:sp>
      <p:sp>
        <p:nvSpPr>
          <p:cNvPr id="15" name="Structure separator">
            <a:extLst>
              <a:ext uri="{FF2B5EF4-FFF2-40B4-BE49-F238E27FC236}">
                <a16:creationId xmlns:a16="http://schemas.microsoft.com/office/drawing/2014/main" id="{C5FB202D-EFA5-43A7-ACE9-520C8D550FB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2FA50135-848F-4865-9341-46B9FA99E1A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9EA13D9D-14B2-4A34-B17B-2F500283BD8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7437F1D1-2487-45AA-B48D-5E403CFD405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8D40D91A-4170-4CCF-8E8B-601857E7450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FF622501-4996-4FCC-B13D-F84E6B83DA3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55A4940-01B1-4249-9A15-3537AB6A1A0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5CEE2A39-58DD-4115-807A-B04893318D1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775308" y="1419225"/>
            <a:ext cx="5326434" cy="4400550"/>
          </a:xfrm>
          <a:prstGeom prst="rect">
            <a:avLst/>
          </a:prstGeom>
        </p:spPr>
      </p:pic>
      <p:sp>
        <p:nvSpPr>
          <p:cNvPr id="24" name="v11-text-41-2">
            <a:extLst>
              <a:ext uri="{FF2B5EF4-FFF2-40B4-BE49-F238E27FC236}">
                <a16:creationId xmlns:a16="http://schemas.microsoft.com/office/drawing/2014/main" id="{AAFED736-47C7-4D64-8458-8789F9A42B78}"/>
              </a:ext>
            </a:extLst>
          </p:cNvPr>
          <p:cNvSpPr>
            <a:spLocks noGrp="1"/>
          </p:cNvSpPr>
          <p:nvPr/>
        </p:nvSpPr>
        <p:spPr>
          <a:xfrm>
            <a:off x="6715125" y="2838450"/>
            <a:ext cx="3238500" cy="12096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DD:</a:t>
            </a:r>
            <a:r>
              <a:rPr sz="1800" b="0">
                <a:latin typeface="Calibri"/>
                <a:ea typeface="Calibri"/>
                <a:cs typeface="Calibri"/>
              </a:rPr>
              <a:t> Sichtbare lokale Schwankungen bei nahezu unverändertem globalem MAE</a:t>
            </a:r>
          </a:p>
        </p:txBody>
      </p:sp>
      <mc:AlternateContent xmlns:mc="http://schemas.openxmlformats.org/markup-compatibility/2006" xmlns:a14="http://schemas.microsoft.com/office/drawing/2010/main">
        <mc:Choice Requires="a14">
          <p:sp>
            <p:nvSpPr>
              <p:cNvPr id="25" name="v11-math-41-3">
                <a:extLst>
                  <a:ext uri="{FF2B5EF4-FFF2-40B4-BE49-F238E27FC236}">
                    <a16:creationId xmlns:a16="http://schemas.microsoft.com/office/drawing/2014/main" id="{1CDF9187-CA1D-4610-AF7F-2760FDA738BB}"/>
                  </a:ext>
                </a:extLst>
              </p:cNvPr>
              <p:cNvSpPr>
                <a:spLocks noGrp="1"/>
              </p:cNvSpPr>
              <p:nvPr/>
            </p:nvSpPr>
            <p:spPr>
              <a:xfrm>
                <a:off x="7248525" y="4324350"/>
                <a:ext cx="2085975" cy="381000"/>
              </a:xfrm>
              <a:prstGeom prst="rect">
                <a:avLst/>
              </a:prstGeom>
              <a:noFill/>
              <a:ln w="0">
                <a:noFill/>
              </a:ln>
            </p:spPr>
            <p:txBody>
              <a:bodyPr wrap="square" lIns="0" tIns="0" rIns="0" bIns="0" anchor="t">
                <a:noAutofit/>
              </a:bodyPr>
              <a:lstStyle/>
              <a:p>
                <a:pPr algn="ctr"/>
                <a14:m>
                  <m:oMathPara xmlns:m="http://schemas.openxmlformats.org/officeDocument/2006/math">
                    <m:oMath>
                      <m:r>
                        <a:rPr sz="1875">
                          <a:latin typeface="Cambria Math"/>
                          <a:ea typeface="Cambria Math"/>
                          <a:cs typeface="Cambria Math"/>
                        </a:rPr>
                        <m:t>𝑆𝑡𝑑</m:t>
                      </m:r>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sSubSup>
                      <m:sSub>
                        <m:sSubPr>
                          <m:ctrlPr>
                            <a:rPr sz="1875">
                              <a:latin typeface="Cambria Math"/>
                              <a:ea typeface="Cambria Math"/>
                              <a:cs typeface="Cambria Math"/>
                            </a:rPr>
                          </m:ctrlPr>
                        </m:sSubPr>
                        <m:e>
                          <m:r>
                            <a:rPr sz="1875">
                              <a:latin typeface="Cambria Math"/>
                              <a:ea typeface="Cambria Math"/>
                              <a:cs typeface="Cambria Math"/>
                            </a:rPr>
                            <m:t>𝜀</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𝜎</m:t>
                      </m:r>
                      <m:rad>
                        <m:radPr>
                          <m:degHide m:val="on"/>
                          <m:ctrlPr>
                            <a:rPr sz="1875" i="1">
                              <a:latin typeface="Cambria Math" panose="02040503050406030204" pitchFamily="18" charset="0"/>
                              <a:ea typeface="Cambria Math"/>
                              <a:cs typeface="Cambria Math"/>
                            </a:rPr>
                          </m:ctrlPr>
                        </m:radPr>
                        <m:deg/>
                        <m:e>
                          <m:r>
                            <a:rPr sz="1875">
                              <a:latin typeface="Cambria Math"/>
                              <a:ea typeface="Cambria Math"/>
                              <a:cs typeface="Cambria Math"/>
                            </a:rPr>
                            <m:t>𝑁</m:t>
                          </m:r>
                        </m:e>
                      </m:rad>
                    </m:oMath>
                  </m:oMathPara>
                </a14:m>
                <a:endParaRPr/>
              </a:p>
            </p:txBody>
          </p:sp>
        </mc:Choice>
        <mc:Fallback xmlns="">
          <p:sp>
            <p:nvSpPr>
              <p:cNvPr id="25" name="v11-math-41-3">
                <a:extLst>
                  <a:ext uri="{FF2B5EF4-FFF2-40B4-BE49-F238E27FC236}">
                    <a16:creationId xmlns:a16="http://schemas.microsoft.com/office/drawing/2014/main" id="{1CDF9187-CA1D-4610-AF7F-2760FDA738BB}"/>
                  </a:ext>
                </a:extLst>
              </p:cNvPr>
              <p:cNvSpPr>
                <a:spLocks noGrp="1" noRot="1" noChangeAspect="1" noMove="1" noResize="1" noEditPoints="1" noAdjustHandles="1" noChangeArrowheads="1" noChangeShapeType="1" noTextEdit="1"/>
              </p:cNvSpPr>
              <p:nvPr/>
            </p:nvSpPr>
            <p:spPr>
              <a:xfrm>
                <a:off x="7248525" y="4324350"/>
                <a:ext cx="2085975" cy="381000"/>
              </a:xfrm>
              <a:prstGeom prst="rect">
                <a:avLst/>
              </a:prstGeom>
              <a:blipFill>
                <a:blip r:embed="rId4"/>
                <a:stretch>
                  <a:fillRect l="-2339" b="-11111"/>
                </a:stretch>
              </a:blipFill>
              <a:ln w="0">
                <a:noFill/>
              </a:ln>
            </p:spPr>
            <p:txBody>
              <a:bodyPr/>
              <a:lstStyle/>
              <a:p>
                <a:r>
                  <a:rPr lang="de-DE">
                    <a:noFill/>
                  </a:rPr>
                  <a:t> </a:t>
                </a:r>
              </a:p>
            </p:txBody>
          </p:sp>
        </mc:Fallback>
      </mc:AlternateContent>
      <p:sp>
        <p:nvSpPr>
          <p:cNvPr id="26" name="v11-text-41-4">
            <a:extLst>
              <a:ext uri="{FF2B5EF4-FFF2-40B4-BE49-F238E27FC236}">
                <a16:creationId xmlns:a16="http://schemas.microsoft.com/office/drawing/2014/main" id="{0C83AE00-DB28-4EC7-9BE1-EF2BA9880FE7}"/>
              </a:ext>
            </a:extLst>
          </p:cNvPr>
          <p:cNvSpPr>
            <a:spLocks noGrp="1"/>
          </p:cNvSpPr>
          <p:nvPr/>
        </p:nvSpPr>
        <p:spPr>
          <a:xfrm>
            <a:off x="6715125" y="5000625"/>
            <a:ext cx="3238500" cy="8477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Annahme:</a:t>
            </a:r>
            <a:r>
              <a:rPr sz="1800" b="0">
                <a:latin typeface="Calibri"/>
                <a:ea typeface="Calibri"/>
                <a:cs typeface="Calibri"/>
              </a:rPr>
              <a:t> Unabhängige, mittelwertfreie Fehler mit gleicher Standardabweichung σ</a:t>
            </a:r>
          </a:p>
        </p:txBody>
      </p:sp>
      <p:sp>
        <p:nvSpPr>
          <p:cNvPr id="42" name="Footer – Seitennummer">
            <a:extLst>
              <a:ext uri="{FF2B5EF4-FFF2-40B4-BE49-F238E27FC236}">
                <a16:creationId xmlns:a16="http://schemas.microsoft.com/office/drawing/2014/main" id="{EB46A631-2D8A-4698-8943-739B62862F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a:t>
            </a:r>
          </a:p>
        </p:txBody>
      </p:sp>
      <p:sp>
        <p:nvSpPr>
          <p:cNvPr id="43" name="Footer – Präsentationsangaben">
            <a:extLst>
              <a:ext uri="{FF2B5EF4-FFF2-40B4-BE49-F238E27FC236}">
                <a16:creationId xmlns:a16="http://schemas.microsoft.com/office/drawing/2014/main" id="{E27FEBFB-E57B-43DB-91CB-0404CB9E732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LSTM- und GRU-Gleichungen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Gate convention">
            <a:extLst>
              <a:ext uri="{FF2B5EF4-FFF2-40B4-BE49-F238E27FC236}">
                <a16:creationId xmlns:a16="http://schemas.microsoft.com/office/drawing/2014/main" id="{F4EDA27D-8FC6-4A1E-B734-81C093FD847D}"/>
              </a:ext>
            </a:extLst>
          </p:cNvPr>
          <p:cNvSpPr>
            <a:spLocks noGrp="1"/>
          </p:cNvSpPr>
          <p:nvPr/>
        </p:nvSpPr>
        <p:spPr>
          <a:xfrm>
            <a:off x="552450" y="1466850"/>
            <a:ext cx="9353550" cy="36195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LSTM:</a:t>
            </a:r>
            <a:r>
              <a:rPr sz="1800" b="0">
                <a:latin typeface="Calibri"/>
                <a:ea typeface="Calibri"/>
                <a:cs typeface="Calibri"/>
              </a:rPr>
              <a:t> Gates f/i/o, Kandidat c̃ und Zustände c/h. σ bezeichnet Sigmoid</a:t>
            </a:r>
          </a:p>
        </p:txBody>
      </p:sp>
      <p:sp>
        <p:nvSpPr>
          <p:cNvPr id="16" name="Structure separator">
            <a:extLst>
              <a:ext uri="{FF2B5EF4-FFF2-40B4-BE49-F238E27FC236}">
                <a16:creationId xmlns:a16="http://schemas.microsoft.com/office/drawing/2014/main" id="{BD37389F-A514-466A-A114-BA138D08109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F39B22-347C-4B69-A9D4-D80333EDE66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D9376E42-D4C7-4BD0-AF90-7AD10E302D2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7FED6755-0253-4EB9-9146-3CAE479481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5097EF74-76D4-402C-9B17-849BD86F040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3E990E89-E7F0-4013-8296-3F7A37BDB04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DF032045-F196-4621-B53C-13C81BF819D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569B8752-6D0A-4484-9983-CBCEEF00CE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4" name="v11-math-42-1">
                <a:extLst>
                  <a:ext uri="{FF2B5EF4-FFF2-40B4-BE49-F238E27FC236}">
                    <a16:creationId xmlns:a16="http://schemas.microsoft.com/office/drawing/2014/main" id="{47748C11-2302-4E4F-86AF-17F14AE29401}"/>
                  </a:ext>
                </a:extLst>
              </p:cNvPr>
              <p:cNvSpPr>
                <a:spLocks noGrp="1"/>
              </p:cNvSpPr>
              <p:nvPr/>
            </p:nvSpPr>
            <p:spPr>
              <a:xfrm>
                <a:off x="2676525" y="1995488"/>
                <a:ext cx="5105400"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𝑓</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𝑓</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𝑓</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𝑖</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𝑖</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𝑖</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𝑖</m:t>
                          </m:r>
                        </m:sub>
                      </m:sSub>
                      <m:r>
                        <a:rPr sz="1875">
                          <a:latin typeface="Cambria Math"/>
                          <a:ea typeface="Cambria Math"/>
                          <a:cs typeface="Cambria Math"/>
                        </a:rPr>
                        <m:t>)</m:t>
                      </m:r>
                    </m:oMath>
                  </m:oMathPara>
                </a14:m>
                <a:endParaRPr/>
              </a:p>
            </p:txBody>
          </p:sp>
        </mc:Choice>
        <mc:Fallback xmlns="">
          <p:sp>
            <p:nvSpPr>
              <p:cNvPr id="24" name="v11-math-42-1">
                <a:extLst>
                  <a:ext uri="{FF2B5EF4-FFF2-40B4-BE49-F238E27FC236}">
                    <a16:creationId xmlns:a16="http://schemas.microsoft.com/office/drawing/2014/main" id="{47748C11-2302-4E4F-86AF-17F14AE29401}"/>
                  </a:ext>
                </a:extLst>
              </p:cNvPr>
              <p:cNvSpPr>
                <a:spLocks noGrp="1" noRot="1" noChangeAspect="1" noMove="1" noResize="1" noEditPoints="1" noAdjustHandles="1" noChangeArrowheads="1" noChangeShapeType="1" noTextEdit="1"/>
              </p:cNvSpPr>
              <p:nvPr/>
            </p:nvSpPr>
            <p:spPr>
              <a:xfrm>
                <a:off x="2676525" y="1995488"/>
                <a:ext cx="5105400" cy="314325"/>
              </a:xfrm>
              <a:prstGeom prst="rect">
                <a:avLst/>
              </a:prstGeom>
              <a:blipFill>
                <a:blip r:embed="rId3"/>
                <a:stretch>
                  <a:fillRect b="-119231"/>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v11-math-42-2">
                <a:extLst>
                  <a:ext uri="{FF2B5EF4-FFF2-40B4-BE49-F238E27FC236}">
                    <a16:creationId xmlns:a16="http://schemas.microsoft.com/office/drawing/2014/main" id="{3D30FF30-917A-4F1F-87BE-7068DD46C197}"/>
                  </a:ext>
                </a:extLst>
              </p:cNvPr>
              <p:cNvSpPr>
                <a:spLocks noGrp="1"/>
              </p:cNvSpPr>
              <p:nvPr/>
            </p:nvSpPr>
            <p:spPr>
              <a:xfrm>
                <a:off x="2371725" y="2576513"/>
                <a:ext cx="5715000"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𝑐</m:t>
                              </m:r>
                            </m:e>
                          </m:acc>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𝑔</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𝑔</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𝑔</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𝑜</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𝑜</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𝑜</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𝑜</m:t>
                          </m:r>
                        </m:sub>
                      </m:sSub>
                      <m:r>
                        <a:rPr sz="1875">
                          <a:latin typeface="Cambria Math"/>
                          <a:ea typeface="Cambria Math"/>
                          <a:cs typeface="Cambria Math"/>
                        </a:rPr>
                        <m:t>)</m:t>
                      </m:r>
                    </m:oMath>
                  </m:oMathPara>
                </a14:m>
                <a:endParaRPr/>
              </a:p>
            </p:txBody>
          </p:sp>
        </mc:Choice>
        <mc:Fallback xmlns="">
          <p:sp>
            <p:nvSpPr>
              <p:cNvPr id="25" name="v11-math-42-2">
                <a:extLst>
                  <a:ext uri="{FF2B5EF4-FFF2-40B4-BE49-F238E27FC236}">
                    <a16:creationId xmlns:a16="http://schemas.microsoft.com/office/drawing/2014/main" id="{3D30FF30-917A-4F1F-87BE-7068DD46C197}"/>
                  </a:ext>
                </a:extLst>
              </p:cNvPr>
              <p:cNvSpPr>
                <a:spLocks noGrp="1" noRot="1" noChangeAspect="1" noMove="1" noResize="1" noEditPoints="1" noAdjustHandles="1" noChangeArrowheads="1" noChangeShapeType="1" noTextEdit="1"/>
              </p:cNvSpPr>
              <p:nvPr/>
            </p:nvSpPr>
            <p:spPr>
              <a:xfrm>
                <a:off x="2371725" y="2576513"/>
                <a:ext cx="5715000" cy="314325"/>
              </a:xfrm>
              <a:prstGeom prst="rect">
                <a:avLst/>
              </a:prstGeom>
              <a:blipFill>
                <a:blip r:embed="rId4"/>
                <a:stretch>
                  <a:fillRect l="-1706" t="-1961" r="-1279" b="-27451"/>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v11-math-42-3">
                <a:extLst>
                  <a:ext uri="{FF2B5EF4-FFF2-40B4-BE49-F238E27FC236}">
                    <a16:creationId xmlns:a16="http://schemas.microsoft.com/office/drawing/2014/main" id="{8CDE35FD-F24A-46B1-927D-EE95F0683CF5}"/>
                  </a:ext>
                </a:extLst>
              </p:cNvPr>
              <p:cNvSpPr>
                <a:spLocks noGrp="1"/>
              </p:cNvSpPr>
              <p:nvPr/>
            </p:nvSpPr>
            <p:spPr>
              <a:xfrm>
                <a:off x="3262313" y="3152775"/>
                <a:ext cx="3933825" cy="3048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𝑖</m:t>
                          </m:r>
                        </m:e>
                        <m:sub>
                          <m:r>
                            <a:rPr sz="1313">
                              <a:latin typeface="Cambria Math"/>
                              <a:ea typeface="Cambria Math"/>
                              <a:cs typeface="Cambria Math"/>
                            </a:rPr>
                            <m:t>𝑡</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𝑐</m:t>
                              </m:r>
                            </m:e>
                          </m:acc>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𝑜</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sub>
                      </m:sSub>
                      <m:r>
                        <a:rPr sz="1875">
                          <a:latin typeface="Cambria Math"/>
                          <a:ea typeface="Cambria Math"/>
                          <a:cs typeface="Cambria Math"/>
                        </a:rPr>
                        <m:t>)</m:t>
                      </m:r>
                    </m:oMath>
                  </m:oMathPara>
                </a14:m>
                <a:endParaRPr/>
              </a:p>
            </p:txBody>
          </p:sp>
        </mc:Choice>
        <mc:Fallback xmlns="">
          <p:sp>
            <p:nvSpPr>
              <p:cNvPr id="26" name="v11-math-42-3">
                <a:extLst>
                  <a:ext uri="{FF2B5EF4-FFF2-40B4-BE49-F238E27FC236}">
                    <a16:creationId xmlns:a16="http://schemas.microsoft.com/office/drawing/2014/main" id="{8CDE35FD-F24A-46B1-927D-EE95F0683CF5}"/>
                  </a:ext>
                </a:extLst>
              </p:cNvPr>
              <p:cNvSpPr>
                <a:spLocks noGrp="1" noRot="1" noChangeAspect="1" noMove="1" noResize="1" noEditPoints="1" noAdjustHandles="1" noChangeArrowheads="1" noChangeShapeType="1" noTextEdit="1"/>
              </p:cNvSpPr>
              <p:nvPr/>
            </p:nvSpPr>
            <p:spPr>
              <a:xfrm>
                <a:off x="3262313" y="3152775"/>
                <a:ext cx="3933825" cy="304800"/>
              </a:xfrm>
              <a:prstGeom prst="rect">
                <a:avLst/>
              </a:prstGeom>
              <a:blipFill>
                <a:blip r:embed="rId5"/>
                <a:stretch>
                  <a:fillRect b="-120000"/>
                </a:stretch>
              </a:blipFill>
              <a:ln w="0">
                <a:noFill/>
              </a:ln>
            </p:spPr>
            <p:txBody>
              <a:bodyPr/>
              <a:lstStyle/>
              <a:p>
                <a:r>
                  <a:rPr lang="de-DE">
                    <a:noFill/>
                  </a:rPr>
                  <a:t> </a:t>
                </a:r>
              </a:p>
            </p:txBody>
          </p:sp>
        </mc:Fallback>
      </mc:AlternateContent>
      <p:sp>
        <p:nvSpPr>
          <p:cNvPr id="27" name="v11-text-42-4">
            <a:extLst>
              <a:ext uri="{FF2B5EF4-FFF2-40B4-BE49-F238E27FC236}">
                <a16:creationId xmlns:a16="http://schemas.microsoft.com/office/drawing/2014/main" id="{7DC83DFE-71D0-4117-BD61-7CD7916DB315}"/>
              </a:ext>
            </a:extLst>
          </p:cNvPr>
          <p:cNvSpPr>
            <a:spLocks noGrp="1"/>
          </p:cNvSpPr>
          <p:nvPr/>
        </p:nvSpPr>
        <p:spPr>
          <a:xfrm>
            <a:off x="552450" y="3762375"/>
            <a:ext cx="9353550" cy="3524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GRU:</a:t>
            </a:r>
            <a:r>
              <a:rPr sz="1800" b="0">
                <a:latin typeface="Calibri"/>
                <a:ea typeface="Calibri"/>
                <a:cs typeface="Calibri"/>
              </a:rPr>
              <a:t> z gewichtet den Kandidaten, r steuert die Historie. ⊙ bedeutet elementweise</a:t>
            </a:r>
          </a:p>
        </p:txBody>
      </p:sp>
      <mc:AlternateContent xmlns:mc="http://schemas.openxmlformats.org/markup-compatibility/2006" xmlns:a14="http://schemas.microsoft.com/office/drawing/2010/main">
        <mc:Choice Requires="a14">
          <p:sp>
            <p:nvSpPr>
              <p:cNvPr id="28" name="v11-math-42-5">
                <a:extLst>
                  <a:ext uri="{FF2B5EF4-FFF2-40B4-BE49-F238E27FC236}">
                    <a16:creationId xmlns:a16="http://schemas.microsoft.com/office/drawing/2014/main" id="{04457D91-C6AB-430C-B43A-AFB30832889E}"/>
                  </a:ext>
                </a:extLst>
              </p:cNvPr>
              <p:cNvSpPr>
                <a:spLocks noGrp="1"/>
              </p:cNvSpPr>
              <p:nvPr/>
            </p:nvSpPr>
            <p:spPr>
              <a:xfrm>
                <a:off x="2595563" y="4291013"/>
                <a:ext cx="5267325" cy="29527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𝑧</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𝑧</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𝑧</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𝑟</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𝑟</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𝑟</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𝑟</m:t>
                          </m:r>
                        </m:sub>
                      </m:sSub>
                      <m:r>
                        <a:rPr sz="1875">
                          <a:latin typeface="Cambria Math"/>
                          <a:ea typeface="Cambria Math"/>
                          <a:cs typeface="Cambria Math"/>
                        </a:rPr>
                        <m:t>)</m:t>
                      </m:r>
                    </m:oMath>
                  </m:oMathPara>
                </a14:m>
                <a:endParaRPr/>
              </a:p>
            </p:txBody>
          </p:sp>
        </mc:Choice>
        <mc:Fallback xmlns="">
          <p:sp>
            <p:nvSpPr>
              <p:cNvPr id="28" name="v11-math-42-5">
                <a:extLst>
                  <a:ext uri="{FF2B5EF4-FFF2-40B4-BE49-F238E27FC236}">
                    <a16:creationId xmlns:a16="http://schemas.microsoft.com/office/drawing/2014/main" id="{04457D91-C6AB-430C-B43A-AFB30832889E}"/>
                  </a:ext>
                </a:extLst>
              </p:cNvPr>
              <p:cNvSpPr>
                <a:spLocks noGrp="1" noRot="1" noChangeAspect="1" noMove="1" noResize="1" noEditPoints="1" noAdjustHandles="1" noChangeArrowheads="1" noChangeShapeType="1" noTextEdit="1"/>
              </p:cNvSpPr>
              <p:nvPr/>
            </p:nvSpPr>
            <p:spPr>
              <a:xfrm>
                <a:off x="2595563" y="4291013"/>
                <a:ext cx="5267325" cy="295275"/>
              </a:xfrm>
              <a:prstGeom prst="rect">
                <a:avLst/>
              </a:prstGeom>
              <a:blipFill>
                <a:blip r:embed="rId6"/>
                <a:stretch>
                  <a:fillRect l="-1620" t="-2083" r="-1620" b="-35417"/>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v11-math-42-6">
                <a:extLst>
                  <a:ext uri="{FF2B5EF4-FFF2-40B4-BE49-F238E27FC236}">
                    <a16:creationId xmlns:a16="http://schemas.microsoft.com/office/drawing/2014/main" id="{7EE0B73F-629F-4311-A5E7-CD42065B68F0}"/>
                  </a:ext>
                </a:extLst>
              </p:cNvPr>
              <p:cNvSpPr>
                <a:spLocks noGrp="1"/>
              </p:cNvSpPr>
              <p:nvPr/>
            </p:nvSpPr>
            <p:spPr>
              <a:xfrm>
                <a:off x="3471863" y="4867275"/>
                <a:ext cx="3514725" cy="3429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ℎ</m:t>
                              </m:r>
                            </m:e>
                          </m:acc>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ℎ</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ℎ</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𝑟</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ℎ</m:t>
                          </m:r>
                        </m:sub>
                      </m:sSub>
                      <m:r>
                        <a:rPr sz="1875">
                          <a:latin typeface="Cambria Math"/>
                          <a:ea typeface="Cambria Math"/>
                          <a:cs typeface="Cambria Math"/>
                        </a:rPr>
                        <m:t>)</m:t>
                      </m:r>
                    </m:oMath>
                  </m:oMathPara>
                </a14:m>
                <a:endParaRPr/>
              </a:p>
            </p:txBody>
          </p:sp>
        </mc:Choice>
        <mc:Fallback xmlns="">
          <p:sp>
            <p:nvSpPr>
              <p:cNvPr id="29" name="v11-math-42-6">
                <a:extLst>
                  <a:ext uri="{FF2B5EF4-FFF2-40B4-BE49-F238E27FC236}">
                    <a16:creationId xmlns:a16="http://schemas.microsoft.com/office/drawing/2014/main" id="{7EE0B73F-629F-4311-A5E7-CD42065B68F0}"/>
                  </a:ext>
                </a:extLst>
              </p:cNvPr>
              <p:cNvSpPr>
                <a:spLocks noGrp="1" noRot="1" noChangeAspect="1" noMove="1" noResize="1" noEditPoints="1" noAdjustHandles="1" noChangeArrowheads="1" noChangeShapeType="1" noTextEdit="1"/>
              </p:cNvSpPr>
              <p:nvPr/>
            </p:nvSpPr>
            <p:spPr>
              <a:xfrm>
                <a:off x="3471863" y="4867275"/>
                <a:ext cx="3514725" cy="342900"/>
              </a:xfrm>
              <a:prstGeom prst="rect">
                <a:avLst/>
              </a:prstGeom>
              <a:blipFill>
                <a:blip r:embed="rId7"/>
                <a:stretch>
                  <a:fillRect l="-2257" r="-1563" b="-92982"/>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v11-math-42-7">
                <a:extLst>
                  <a:ext uri="{FF2B5EF4-FFF2-40B4-BE49-F238E27FC236}">
                    <a16:creationId xmlns:a16="http://schemas.microsoft.com/office/drawing/2014/main" id="{1A41DF06-9BD3-4A18-A775-DED9C9540A9D}"/>
                  </a:ext>
                </a:extLst>
              </p:cNvPr>
              <p:cNvSpPr>
                <a:spLocks noGrp="1"/>
              </p:cNvSpPr>
              <p:nvPr/>
            </p:nvSpPr>
            <p:spPr>
              <a:xfrm>
                <a:off x="3876675" y="5462588"/>
                <a:ext cx="2705100" cy="3429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=(1−</m:t>
                      </m:r>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ℎ</m:t>
                              </m:r>
                            </m:e>
                          </m:acc>
                        </m:e>
                        <m:sub>
                          <m:r>
                            <a:rPr sz="1313">
                              <a:latin typeface="Cambria Math"/>
                              <a:ea typeface="Cambria Math"/>
                              <a:cs typeface="Cambria Math"/>
                            </a:rPr>
                            <m:t>𝑡</m:t>
                          </m:r>
                        </m:sub>
                      </m:sSub>
                    </m:oMath>
                  </m:oMathPara>
                </a14:m>
                <a:endParaRPr/>
              </a:p>
            </p:txBody>
          </p:sp>
        </mc:Choice>
        <mc:Fallback xmlns="">
          <p:sp>
            <p:nvSpPr>
              <p:cNvPr id="30" name="v11-math-42-7">
                <a:extLst>
                  <a:ext uri="{FF2B5EF4-FFF2-40B4-BE49-F238E27FC236}">
                    <a16:creationId xmlns:a16="http://schemas.microsoft.com/office/drawing/2014/main" id="{1A41DF06-9BD3-4A18-A775-DED9C9540A9D}"/>
                  </a:ext>
                </a:extLst>
              </p:cNvPr>
              <p:cNvSpPr>
                <a:spLocks noGrp="1" noRot="1" noChangeAspect="1" noMove="1" noResize="1" noEditPoints="1" noAdjustHandles="1" noChangeArrowheads="1" noChangeShapeType="1" noTextEdit="1"/>
              </p:cNvSpPr>
              <p:nvPr/>
            </p:nvSpPr>
            <p:spPr>
              <a:xfrm>
                <a:off x="3876675" y="5462588"/>
                <a:ext cx="2705100" cy="342900"/>
              </a:xfrm>
              <a:prstGeom prst="rect">
                <a:avLst/>
              </a:prstGeom>
              <a:blipFill>
                <a:blip r:embed="rId8"/>
                <a:stretch>
                  <a:fillRect b="-169643"/>
                </a:stretch>
              </a:blipFill>
              <a:ln w="0">
                <a:noFill/>
              </a:ln>
            </p:spPr>
            <p:txBody>
              <a:bodyPr/>
              <a:lstStyle/>
              <a:p>
                <a:r>
                  <a:rPr lang="de-DE">
                    <a:noFill/>
                  </a:rPr>
                  <a:t> </a:t>
                </a:r>
              </a:p>
            </p:txBody>
          </p:sp>
        </mc:Fallback>
      </mc:AlternateContent>
      <p:sp>
        <p:nvSpPr>
          <p:cNvPr id="31" name="Footer – Seitennummer">
            <a:extLst>
              <a:ext uri="{FF2B5EF4-FFF2-40B4-BE49-F238E27FC236}">
                <a16:creationId xmlns:a16="http://schemas.microsoft.com/office/drawing/2014/main" id="{0BF2C420-1D15-421C-BBBE-76C90292C30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a:t>
            </a:r>
          </a:p>
        </p:txBody>
      </p:sp>
      <p:sp>
        <p:nvSpPr>
          <p:cNvPr id="32" name="Footer – Präsentationsangaben">
            <a:extLst>
              <a:ext uri="{FF2B5EF4-FFF2-40B4-BE49-F238E27FC236}">
                <a16:creationId xmlns:a16="http://schemas.microsoft.com/office/drawing/2014/main" id="{1D110F5C-D71A-4B8F-AE0C-B30288F63726}"/>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4" name="Quellenverweis 14">
            <a:extLst>
              <a:ext uri="{FF2B5EF4-FFF2-40B4-BE49-F238E27FC236}">
                <a16:creationId xmlns:a16="http://schemas.microsoft.com/office/drawing/2014/main" id="{3A4C1B92-8323-4CEF-87C7-B3ABD649E741}"/>
              </a:ext>
            </a:extLst>
          </p:cNvPr>
          <p:cNvSpPr>
            <a:spLocks noGrp="1"/>
          </p:cNvSpPr>
          <p:nvPr/>
        </p:nvSpPr>
        <p:spPr>
          <a:xfrm>
            <a:off x="7065037" y="1467002"/>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
        <p:nvSpPr>
          <p:cNvPr id="35" name="Quellenverweis 27">
            <a:extLst>
              <a:ext uri="{FF2B5EF4-FFF2-40B4-BE49-F238E27FC236}">
                <a16:creationId xmlns:a16="http://schemas.microsoft.com/office/drawing/2014/main" id="{C3B2AC36-762F-4AF1-9521-2E447DEF0059}"/>
              </a:ext>
            </a:extLst>
          </p:cNvPr>
          <p:cNvSpPr>
            <a:spLocks noGrp="1"/>
          </p:cNvSpPr>
          <p:nvPr/>
        </p:nvSpPr>
        <p:spPr>
          <a:xfrm>
            <a:off x="8265834" y="3762362"/>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Zelltrennung und statistische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95425"/>
          <a:ext cx="9353550" cy="33528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6496050">
                  <a:extLst>
                    <a:ext uri="{9D8B030D-6E8A-4147-A177-3AD203B41FA5}">
                      <a16:colId xmlns:a16="http://schemas.microsoft.com/office/drawing/2014/main" val="20001"/>
                    </a:ext>
                  </a:extLst>
                </a:gridCol>
              </a:tblGrid>
              <a:tr h="670560">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Aufteilung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LFP-Robustness-Benchmark</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Training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Validierung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Test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unabhängige Holdout-Zellen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Auswertung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16 verfügbare Zell-/SOH-Fenster</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bl>
          </a:graphicData>
        </a:graphic>
      </p:graphicFrame>
      <p:sp>
        <p:nvSpPr>
          <p:cNvPr id="11" name="V5_Text_11">
            <a:extLst>
              <a:ext uri="{FF2B5EF4-FFF2-40B4-BE49-F238E27FC236}">
                <a16:creationId xmlns:a16="http://schemas.microsoft.com/office/drawing/2014/main" id="{72E3C4B5-EF90-4440-A9A5-71772EB759B9}"/>
              </a:ext>
            </a:extLst>
          </p:cNvPr>
          <p:cNvSpPr>
            <a:spLocks noGrp="1"/>
          </p:cNvSpPr>
          <p:nvPr/>
        </p:nvSpPr>
        <p:spPr>
          <a:xfrm>
            <a:off x="552450" y="50482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Statistik:</a:t>
            </a:r>
            <a:r>
              <a:rPr sz="1800" b="0">
                <a:latin typeface="Calibri"/>
                <a:ea typeface="Calibri"/>
                <a:cs typeface="Calibri"/>
              </a:rPr>
              <a:t> Zellmittel aus Fenstern und Seeds bilden, sechs Zellen gleich gewichten</a:t>
            </a: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3-2">
            <a:extLst>
              <a:ext uri="{FF2B5EF4-FFF2-40B4-BE49-F238E27FC236}">
                <a16:creationId xmlns:a16="http://schemas.microsoft.com/office/drawing/2014/main" id="{BFD9E86C-E619-440B-9148-267B70E4E29A}"/>
              </a:ext>
            </a:extLst>
          </p:cNvPr>
          <p:cNvSpPr>
            <a:spLocks noGrp="1"/>
          </p:cNvSpPr>
          <p:nvPr/>
        </p:nvSpPr>
        <p:spPr>
          <a:xfrm>
            <a:off x="552450" y="5572125"/>
            <a:ext cx="9353550" cy="39052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Modellwahl:</a:t>
            </a:r>
            <a:r>
              <a:rPr sz="1800" b="0">
                <a:latin typeface="Calibri"/>
                <a:ea typeface="Calibri"/>
                <a:cs typeface="Calibri"/>
              </a:rPr>
              <a:t> Training, Skalierung und Abstimmung ohne Zugriff auf die Holdout-Zellen</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598912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STM32-Kennzahlen und Messgrenzen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76375"/>
          <a:ext cx="9353550" cy="3400425"/>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24075">
                  <a:extLst>
                    <a:ext uri="{9D8B030D-6E8A-4147-A177-3AD203B41FA5}">
                      <a16:colId xmlns:a16="http://schemas.microsoft.com/office/drawing/2014/main" val="20004"/>
                    </a:ext>
                  </a:extLst>
                </a:gridCol>
              </a:tblGrid>
              <a:tr h="485775">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Flash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RAM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Zeit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105,32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4,93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62,27</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4,03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52,48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335,00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8,69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182,41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138,00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6"/>
                  </a:ext>
                </a:extLst>
              </a:tr>
            </a:tbl>
          </a:graphicData>
        </a:graphic>
      </p:graphicFrame>
      <p:sp>
        <p:nvSpPr>
          <p:cNvPr id="11" name="V5_Text_11">
            <a:extLst>
              <a:ext uri="{FF2B5EF4-FFF2-40B4-BE49-F238E27FC236}">
                <a16:creationId xmlns:a16="http://schemas.microsoft.com/office/drawing/2014/main" id="{849DB070-65C4-4F9E-A570-ECE42A6F9B21}"/>
              </a:ext>
            </a:extLst>
          </p:cNvPr>
          <p:cNvSpPr>
            <a:spLocks noGrp="1"/>
          </p:cNvSpPr>
          <p:nvPr/>
        </p:nvSpPr>
        <p:spPr>
          <a:xfrm>
            <a:off x="552450" y="5086350"/>
            <a:ext cx="9353550" cy="5334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Kernelmessung:</a:t>
            </a:r>
            <a:r>
              <a:rPr sz="1800" b="0">
                <a:latin typeface="Calibri"/>
                <a:ea typeface="Calibri"/>
                <a:cs typeface="Calibri"/>
              </a:rPr>
              <a:t> DWT-Zähler um LSTM und MLP, ohne UART und Feature-Berechnung</a:t>
            </a:r>
          </a:p>
        </p:txBody>
      </p:sp>
      <p:sp>
        <p:nvSpPr>
          <p:cNvPr id="14" name="Structure separator">
            <a:extLst>
              <a:ext uri="{FF2B5EF4-FFF2-40B4-BE49-F238E27FC236}">
                <a16:creationId xmlns:a16="http://schemas.microsoft.com/office/drawing/2014/main" id="{B50A7B44-8F45-4CEC-8C8C-C29C0263E4A2}"/>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D71C2D3D-41A6-4885-AF99-11C63FB91221}"/>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7B47CA48-D11E-42EC-ABC8-7B85EBDDBB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BFFDAAED-E773-4CD5-8F50-2A05995E530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a:ext uri="{FF2B5EF4-FFF2-40B4-BE49-F238E27FC236}">
                <a16:creationId xmlns:a16="http://schemas.microsoft.com/office/drawing/2014/main" id="{86961144-C27B-45D8-8B97-A72BF52CA25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5FBECDE7-5866-4F10-8FEA-4638DDA35FA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D3F5094-D91D-4270-BEBF-AACE752E390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F4B9ABE3-8DEE-47BC-B162-43A59CC8EB8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4-2">
            <a:extLst>
              <a:ext uri="{FF2B5EF4-FFF2-40B4-BE49-F238E27FC236}">
                <a16:creationId xmlns:a16="http://schemas.microsoft.com/office/drawing/2014/main" id="{45C9E032-6F67-4ECA-AA5E-2CEF4598A85C}"/>
              </a:ext>
            </a:extLst>
          </p:cNvPr>
          <p:cNvSpPr>
            <a:spLocks noGrp="1"/>
          </p:cNvSpPr>
          <p:nvPr/>
        </p:nvSpPr>
        <p:spPr>
          <a:xfrm>
            <a:off x="552450" y="5562600"/>
            <a:ext cx="9353550" cy="3333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Energieproxy:</a:t>
            </a:r>
            <a:r>
              <a:rPr sz="1800" b="0">
                <a:latin typeface="Calibri"/>
                <a:ea typeface="Calibri"/>
                <a:cs typeface="Calibri"/>
              </a:rPr>
              <a:t> 0,5 W × Kernelzeit, keine separate Leistungsmessung</a:t>
            </a:r>
          </a:p>
        </p:txBody>
      </p:sp>
      <p:sp>
        <p:nvSpPr>
          <p:cNvPr id="30" name="Footer – Seitennummer">
            <a:extLst>
              <a:ext uri="{FF2B5EF4-FFF2-40B4-BE49-F238E27FC236}">
                <a16:creationId xmlns:a16="http://schemas.microsoft.com/office/drawing/2014/main" id="{8F5DAA0F-2BA3-4A93-91E1-8A539221F4F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6</a:t>
            </a:r>
          </a:p>
        </p:txBody>
      </p:sp>
      <p:sp>
        <p:nvSpPr>
          <p:cNvPr id="31" name="Footer – Präsentationsangaben">
            <a:extLst>
              <a:ext uri="{FF2B5EF4-FFF2-40B4-BE49-F238E27FC236}">
                <a16:creationId xmlns:a16="http://schemas.microsoft.com/office/drawing/2014/main" id="{D9340ED4-924D-4819-B353-9ABADA6DF06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92774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Parameterspeicher und Firmwarebedarf</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7162800" y="1457325"/>
            <a:ext cx="2790825" cy="12573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Messwerte:</a:t>
            </a:r>
            <a:r>
              <a:rPr sz="1800" b="0">
                <a:latin typeface="Calibri"/>
                <a:ea typeface="Calibri"/>
                <a:cs typeface="Calibri"/>
              </a:rPr>
              <a:t> Flash aus Linkerbericht, RAM aus Daten und maximalem Stack</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7162800" y="2990850"/>
            <a:ext cx="2790825" cy="12192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SOC-RAM Quantized:</a:t>
            </a:r>
            <a:r>
              <a:rPr sz="1800" b="0">
                <a:latin typeface="Calibri"/>
                <a:ea typeface="Calibri"/>
                <a:cs typeface="Calibri"/>
              </a:rPr>
              <a:t> 3,96 KB laut Tabelle 7.1, Grafik ca. 3,5 KB</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572555" y="1419225"/>
            <a:ext cx="6151039" cy="4391025"/>
          </a:xfrm>
          <a:prstGeom prst="rect">
            <a:avLst/>
          </a:prstGeom>
        </p:spPr>
      </p:pic>
      <p:sp>
        <p:nvSpPr>
          <p:cNvPr id="29" name="v11-text-45-3">
            <a:extLst>
              <a:ext uri="{FF2B5EF4-FFF2-40B4-BE49-F238E27FC236}">
                <a16:creationId xmlns:a16="http://schemas.microsoft.com/office/drawing/2014/main" id="{35ABFB3D-2BBF-4EAE-9FE4-BA0F8955AA9D}"/>
              </a:ext>
            </a:extLst>
          </p:cNvPr>
          <p:cNvSpPr>
            <a:spLocks noGrp="1"/>
          </p:cNvSpPr>
          <p:nvPr/>
        </p:nvSpPr>
        <p:spPr>
          <a:xfrm>
            <a:off x="7162800" y="4362450"/>
            <a:ext cx="2790825" cy="15240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Parameterzahl:</a:t>
            </a:r>
            <a:r>
              <a:rPr sz="1800" b="0">
                <a:latin typeface="Calibri"/>
                <a:ea typeface="Calibri"/>
                <a:cs typeface="Calibri"/>
              </a:rPr>
              <a:t> Für die verwendete Architektur gelten 22 657 (SOC) und 86 273 (SOH)</a:t>
            </a:r>
          </a:p>
        </p:txBody>
      </p:sp>
      <p:sp>
        <p:nvSpPr>
          <p:cNvPr id="48" name="Footer – Seitennummer">
            <a:extLst>
              <a:ext uri="{FF2B5EF4-FFF2-40B4-BE49-F238E27FC236}">
                <a16:creationId xmlns:a16="http://schemas.microsoft.com/office/drawing/2014/main" id="{92C05995-5A23-4980-8358-CA239E779A9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7</a:t>
            </a:r>
          </a:p>
        </p:txBody>
      </p:sp>
      <p:sp>
        <p:nvSpPr>
          <p:cNvPr id="49" name="Footer – Präsentationsangaben">
            <a:extLst>
              <a:ext uri="{FF2B5EF4-FFF2-40B4-BE49-F238E27FC236}">
                <a16:creationId xmlns:a16="http://schemas.microsoft.com/office/drawing/2014/main" id="{A98EA959-3581-411D-B7C1-EC0F4514E90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DD-Ausführung und Zustandsführung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B65EFC6B-0E80-471D-92AE-C9A8AC1F4139}"/>
              </a:ext>
            </a:extLst>
          </p:cNvPr>
          <p:cNvSpPr>
            <a:spLocks noGrp="1"/>
          </p:cNvSpPr>
          <p:nvPr/>
        </p:nvSpPr>
        <p:spPr>
          <a:xfrm>
            <a:off x="552450" y="457200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Rolling Window: </a:t>
            </a:r>
            <a:r>
              <a:rPr sz="1800" b="0">
                <a:solidFill>
                  <a:srgbClr val="444444"/>
                </a:solidFill>
                <a:latin typeface="Calibri"/>
                <a:ea typeface="Calibri"/>
                <a:cs typeface="Calibri"/>
              </a:rPr>
              <a:t>Hoher Aufwand durch erneute Auswertung aller 2024 Schritte</a:t>
            </a:r>
          </a:p>
        </p:txBody>
      </p:sp>
      <p:pic>
        <p:nvPicPr>
          <p:cNvPr id="32" name="V5_Figure_11"/>
          <p:cNvPicPr>
            <a:picLocks noChangeAspect="1"/>
          </p:cNvPicPr>
          <p:nvPr/>
        </p:nvPicPr>
        <p:blipFill>
          <a:blip r:embed="rId3"/>
          <a:stretch/>
        </p:blipFill>
        <p:spPr>
          <a:xfrm>
            <a:off x="943570" y="1409700"/>
            <a:ext cx="8571309" cy="2981325"/>
          </a:xfrm>
          <a:prstGeom prst="rect">
            <a:avLst/>
          </a:prstGeom>
        </p:spPr>
      </p:pic>
      <p:sp>
        <p:nvSpPr>
          <p:cNvPr id="15" name="Structure separator">
            <a:extLst>
              <a:ext uri="{FF2B5EF4-FFF2-40B4-BE49-F238E27FC236}">
                <a16:creationId xmlns:a16="http://schemas.microsoft.com/office/drawing/2014/main" id="{4C5264AE-1BFD-43F0-A48B-6A9C34FA7CE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E57E6A2D-D2EF-4AD4-B611-11B528B39546}"/>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2A9B45DB-A1C3-4A53-8C1A-E787E5445C4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17FC0192-B2C3-4B71-8A7E-A5A269E7D4C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413E838-54FB-43E5-BC24-6010481C76D7}"/>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BF4DF7C7-0937-45C0-AD17-C3B8F470DC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E0278D5C-BC59-412A-9B64-764DC5965C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3B45E2-F240-4123-96D3-89FAC74F5FCA}"/>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4-2">
            <a:extLst>
              <a:ext uri="{FF2B5EF4-FFF2-40B4-BE49-F238E27FC236}">
                <a16:creationId xmlns:a16="http://schemas.microsoft.com/office/drawing/2014/main" id="{9C573195-611C-4BE7-B885-E357EF2AB80A}"/>
              </a:ext>
            </a:extLst>
          </p:cNvPr>
          <p:cNvSpPr>
            <a:spLocks noGrp="1"/>
          </p:cNvSpPr>
          <p:nvPr/>
        </p:nvSpPr>
        <p:spPr>
          <a:xfrm>
            <a:off x="552450" y="49244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Continuous State: </a:t>
            </a:r>
            <a:r>
              <a:rPr sz="1800" b="0">
                <a:solidFill>
                  <a:srgbClr val="444444"/>
                </a:solidFill>
                <a:latin typeface="Calibri"/>
                <a:ea typeface="Calibri"/>
                <a:cs typeface="Calibri"/>
              </a:rPr>
              <a:t>Ein Update bei erhaltener Historie und ähnlichem Nominalfehler</a:t>
            </a:r>
          </a:p>
        </p:txBody>
      </p:sp>
      <p:sp>
        <p:nvSpPr>
          <p:cNvPr id="25" name="v11-text-24-3">
            <a:extLst>
              <a:ext uri="{FF2B5EF4-FFF2-40B4-BE49-F238E27FC236}">
                <a16:creationId xmlns:a16="http://schemas.microsoft.com/office/drawing/2014/main" id="{534E11BF-2780-4A85-B131-1B0E17C17ADD}"/>
              </a:ext>
            </a:extLst>
          </p:cNvPr>
          <p:cNvSpPr>
            <a:spLocks noGrp="1"/>
          </p:cNvSpPr>
          <p:nvPr/>
        </p:nvSpPr>
        <p:spPr>
          <a:xfrm>
            <a:off x="552450" y="527685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Periodic Reset: </a:t>
            </a:r>
            <a:r>
              <a:rPr sz="1800" b="0">
                <a:solidFill>
                  <a:srgbClr val="444444"/>
                </a:solidFill>
                <a:latin typeface="Calibri"/>
                <a:ea typeface="Calibri"/>
                <a:cs typeface="Calibri"/>
              </a:rPr>
              <a:t>Große Fehlerpeaks durch wiederholten Verlust der Historie</a:t>
            </a:r>
          </a:p>
        </p:txBody>
      </p:sp>
      <p:sp>
        <p:nvSpPr>
          <p:cNvPr id="3003" name="IR_state_takeaway">
            <a:extLst>
              <a:ext uri="{FF2B5EF4-FFF2-40B4-BE49-F238E27FC236}">
                <a16:creationId xmlns:a16="http://schemas.microsoft.com/office/drawing/2014/main" id="{0BC37AF6-F3CC-4671-919E-11C6A186FBC1}"/>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Continuous State als effiziente Betriebsart mit eigenem Validierungsbedarf</a:t>
            </a:r>
          </a:p>
        </p:txBody>
      </p:sp>
      <p:sp>
        <p:nvSpPr>
          <p:cNvPr id="3004" name="Footer – Seitennummer">
            <a:extLst>
              <a:ext uri="{FF2B5EF4-FFF2-40B4-BE49-F238E27FC236}">
                <a16:creationId xmlns:a16="http://schemas.microsoft.com/office/drawing/2014/main" id="{D45D3A4F-87D5-48BB-94A0-72E0E4C2E5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8</a:t>
            </a:r>
          </a:p>
        </p:txBody>
      </p:sp>
      <p:sp>
        <p:nvSpPr>
          <p:cNvPr id="3005" name="Footer – Präsentationsangaben">
            <a:extLst>
              <a:ext uri="{FF2B5EF4-FFF2-40B4-BE49-F238E27FC236}">
                <a16:creationId xmlns:a16="http://schemas.microsoft.com/office/drawing/2014/main" id="{FF614111-EA22-4B0E-B7D2-277A373819D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54796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Stateful LSTM und MLP-Head</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1" name="V5_Text_21">
            <a:extLst>
              <a:ext uri="{FF2B5EF4-FFF2-40B4-BE49-F238E27FC236}">
                <a16:creationId xmlns:a16="http://schemas.microsoft.com/office/drawing/2014/main" id="{490E02B1-60AF-49F2-A9E0-046A3C478EAD}"/>
              </a:ext>
            </a:extLst>
          </p:cNvPr>
          <p:cNvSpPr>
            <a:spLocks noGrp="1"/>
          </p:cNvSpPr>
          <p:nvPr/>
        </p:nvSpPr>
        <p:spPr>
          <a:xfrm>
            <a:off x="552450" y="4057650"/>
            <a:ext cx="9353550" cy="4286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Stateful LSTM:</a:t>
            </a:r>
            <a:r>
              <a:rPr sz="1800" b="0">
                <a:latin typeface="Calibri"/>
                <a:ea typeface="Calibri"/>
                <a:cs typeface="Calibri"/>
              </a:rPr>
              <a:t> hₜ und cₜ über den gesamten 1-Hz-Datenstrom weitergeben</a:t>
            </a:r>
          </a:p>
        </p:txBody>
      </p:sp>
      <p:sp>
        <p:nvSpPr>
          <p:cNvPr id="22" name="V5_Text_22">
            <a:extLst>
              <a:ext uri="{FF2B5EF4-FFF2-40B4-BE49-F238E27FC236}">
                <a16:creationId xmlns:a16="http://schemas.microsoft.com/office/drawing/2014/main" id="{0DA398DD-61BC-4ABF-AB97-D071C9222883}"/>
              </a:ext>
            </a:extLst>
          </p:cNvPr>
          <p:cNvSpPr>
            <a:spLocks noGrp="1"/>
          </p:cNvSpPr>
          <p:nvPr/>
        </p:nvSpPr>
        <p:spPr>
          <a:xfrm>
            <a:off x="552450" y="4543425"/>
            <a:ext cx="9353550" cy="5715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Eingänge:</a:t>
            </a:r>
            <a:r>
              <a:rPr sz="1800" b="0">
                <a:latin typeface="Calibri"/>
                <a:ea typeface="Calibri"/>
                <a:cs typeface="Calibri"/>
              </a:rPr>
              <a:t> SOC mit U, I, T, Qc, dU/dt, dI/dt. SOH mit t, U, I, T, EFC, Qc</a:t>
            </a:r>
          </a:p>
        </p:txBody>
      </p:sp>
      <p:sp>
        <p:nvSpPr>
          <p:cNvPr id="23" name="V5_Text_23">
            <a:extLst>
              <a:ext uri="{FF2B5EF4-FFF2-40B4-BE49-F238E27FC236}">
                <a16:creationId xmlns:a16="http://schemas.microsoft.com/office/drawing/2014/main" id="{28E8EBC4-65D0-4557-8247-3DBA25628172}"/>
              </a:ext>
            </a:extLst>
          </p:cNvPr>
          <p:cNvSpPr>
            <a:spLocks noGrp="1"/>
          </p:cNvSpPr>
          <p:nvPr/>
        </p:nvSpPr>
        <p:spPr>
          <a:xfrm>
            <a:off x="552450" y="5238750"/>
            <a:ext cx="9353550" cy="30480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SOC:</a:t>
            </a:r>
            <a:r>
              <a:rPr sz="1800" b="0">
                <a:latin typeface="Calibri"/>
                <a:ea typeface="Calibri"/>
                <a:cs typeface="Calibri"/>
              </a:rPr>
              <a:t> H = M = 64, Sigmoid. SOH: H = M = 128, linearer Ausgang</a:t>
            </a: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mc:AlternateContent xmlns:mc="http://schemas.openxmlformats.org/markup-compatibility/2006" xmlns:a14="http://schemas.microsoft.com/office/drawing/2010/main">
        <mc:Choice Requires="a14">
          <p:sp>
            <p:nvSpPr>
              <p:cNvPr id="34" name="v11-math-26-4">
                <a:extLst>
                  <a:ext uri="{FF2B5EF4-FFF2-40B4-BE49-F238E27FC236}">
                    <a16:creationId xmlns:a16="http://schemas.microsoft.com/office/drawing/2014/main" id="{C3FBA9BA-7352-450D-9E21-3334D972602B}"/>
                  </a:ext>
                </a:extLst>
              </p:cNvPr>
              <p:cNvSpPr>
                <a:spLocks noGrp="1"/>
              </p:cNvSpPr>
              <p:nvPr/>
            </p:nvSpPr>
            <p:spPr>
              <a:xfrm>
                <a:off x="3519488" y="5648325"/>
                <a:ext cx="3419475"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𝑜𝑢𝑡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2</m:t>
                          </m:r>
                        </m:sub>
                      </m:sSub>
                      <m:r>
                        <a:rPr sz="1875">
                          <a:latin typeface="Cambria Math"/>
                          <a:ea typeface="Cambria Math"/>
                          <a:cs typeface="Cambria Math"/>
                        </a:rPr>
                        <m:t>𝑅𝑒𝐿𝑈</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1</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2</m:t>
                          </m:r>
                        </m:sub>
                      </m:sSub>
                      <m:r>
                        <a:rPr sz="1875">
                          <a:latin typeface="Cambria Math"/>
                          <a:ea typeface="Cambria Math"/>
                          <a:cs typeface="Cambria Math"/>
                        </a:rPr>
                        <m:t>)</m:t>
                      </m:r>
                    </m:oMath>
                  </m:oMathPara>
                </a14:m>
                <a:endParaRPr/>
              </a:p>
            </p:txBody>
          </p:sp>
        </mc:Choice>
        <mc:Fallback xmlns="">
          <p:sp>
            <p:nvSpPr>
              <p:cNvPr id="34" name="v11-math-26-4">
                <a:extLst>
                  <a:ext uri="{FF2B5EF4-FFF2-40B4-BE49-F238E27FC236}">
                    <a16:creationId xmlns:a16="http://schemas.microsoft.com/office/drawing/2014/main" id="{C3FBA9BA-7352-450D-9E21-3334D972602B}"/>
                  </a:ext>
                </a:extLst>
              </p:cNvPr>
              <p:cNvSpPr>
                <a:spLocks noGrp="1" noRot="1" noChangeAspect="1" noMove="1" noResize="1" noEditPoints="1" noAdjustHandles="1" noChangeArrowheads="1" noChangeShapeType="1" noTextEdit="1"/>
              </p:cNvSpPr>
              <p:nvPr/>
            </p:nvSpPr>
            <p:spPr>
              <a:xfrm>
                <a:off x="3519488" y="5648325"/>
                <a:ext cx="3419475" cy="314325"/>
              </a:xfrm>
              <a:prstGeom prst="rect">
                <a:avLst/>
              </a:prstGeom>
              <a:blipFill>
                <a:blip r:embed="rId4"/>
                <a:stretch>
                  <a:fillRect l="-4991" t="-43137" r="-2496" b="-37255"/>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2C2FA003-CE9E-4317-91C8-76CDE42E75D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9</a:t>
            </a:r>
          </a:p>
        </p:txBody>
      </p:sp>
      <p:sp>
        <p:nvSpPr>
          <p:cNvPr id="53" name="Footer – Präsentationsangaben">
            <a:extLst>
              <a:ext uri="{FF2B5EF4-FFF2-40B4-BE49-F238E27FC236}">
                <a16:creationId xmlns:a16="http://schemas.microsoft.com/office/drawing/2014/main" id="{CAE12FB7-B456-484F-A450-B097E3B27DC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Anhang: Parameterzahl und MACs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C_mac_parameters">
            <a:extLst>
              <a:ext uri="{FF2B5EF4-FFF2-40B4-BE49-F238E27FC236}">
                <a16:creationId xmlns:a16="http://schemas.microsoft.com/office/drawing/2014/main" id="{5694EB15-B071-4DBE-B2C9-4BFF93E0A1FF}"/>
              </a:ext>
            </a:extLst>
          </p:cNvPr>
          <p:cNvSpPr>
            <a:spLocks noGrp="1"/>
          </p:cNvSpPr>
          <p:nvPr/>
        </p:nvSpPr>
        <p:spPr>
          <a:xfrm>
            <a:off x="552450" y="149542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Parameter: Gespeicherte Gewichte und Biaswerte</a:t>
            </a:r>
          </a:p>
        </p:txBody>
      </p:sp>
      <p:sp>
        <p:nvSpPr>
          <p:cNvPr id="2001" name="PC_mac_definition">
            <a:extLst>
              <a:ext uri="{FF2B5EF4-FFF2-40B4-BE49-F238E27FC236}">
                <a16:creationId xmlns:a16="http://schemas.microsoft.com/office/drawing/2014/main" id="{5B69C444-13B3-4FF5-B639-218451169610}"/>
              </a:ext>
            </a:extLst>
          </p:cNvPr>
          <p:cNvSpPr>
            <a:spLocks noGrp="1"/>
          </p:cNvSpPr>
          <p:nvPr/>
        </p:nvSpPr>
        <p:spPr>
          <a:xfrm>
            <a:off x="552450" y="19050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MAC (Multiply–Accumulate): Multiplikation mit anschließendem Aufsummieren</a:t>
            </a:r>
          </a:p>
        </p:txBody>
      </p:sp>
      <p:sp>
        <p:nvSpPr>
          <p:cNvPr id="2002" name="PC_mac_formula">
            <a:extLst>
              <a:ext uri="{FF2B5EF4-FFF2-40B4-BE49-F238E27FC236}">
                <a16:creationId xmlns:a16="http://schemas.microsoft.com/office/drawing/2014/main" id="{9FC04401-E548-4304-B8B2-EA48858852A9}"/>
              </a:ext>
            </a:extLst>
          </p:cNvPr>
          <p:cNvSpPr>
            <a:spLocks noGrp="1"/>
          </p:cNvSpPr>
          <p:nvPr/>
        </p:nvSpPr>
        <p:spPr>
          <a:xfrm>
            <a:off x="552450" y="236220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MACs pro Update = 4H(D + H) + HM + M</a:t>
            </a:r>
          </a:p>
        </p:txBody>
      </p:sp>
      <p:sp>
        <p:nvSpPr>
          <p:cNvPr id="2003" name="PC_mac_scope">
            <a:extLst>
              <a:ext uri="{FF2B5EF4-FFF2-40B4-BE49-F238E27FC236}">
                <a16:creationId xmlns:a16="http://schemas.microsoft.com/office/drawing/2014/main" id="{B228DDB6-7EEC-4062-B7AD-8EF8F8496BBB}"/>
              </a:ext>
            </a:extLst>
          </p:cNvPr>
          <p:cNvSpPr>
            <a:spLocks noGrp="1"/>
          </p:cNvSpPr>
          <p:nvPr/>
        </p:nvSpPr>
        <p:spPr>
          <a:xfrm>
            <a:off x="552450" y="27432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Matrixprodukte je Update, ohne Biasadditionen und Aktivierungsfunktionen</a:t>
            </a:r>
          </a:p>
        </p:txBody>
      </p:sp>
      <p:graphicFrame>
        <p:nvGraphicFramePr>
          <p:cNvPr id="2004" name="Tabelle 2003"/>
          <p:cNvGraphicFramePr/>
          <p:nvPr/>
        </p:nvGraphicFramePr>
        <p:xfrm>
          <a:off x="552450" y="3190875"/>
          <a:ext cx="9391650" cy="1114425"/>
        </p:xfrm>
        <a:graphic>
          <a:graphicData uri="http://schemas.openxmlformats.org/drawingml/2006/table">
            <a:tbl>
              <a:tblPr/>
              <a:tblGrid>
                <a:gridCol w="4667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371475">
                <a:tc>
                  <a:txBody>
                    <a:bodyPr/>
                    <a:lstStyle/>
                    <a:p>
                      <a:pPr algn="l">
                        <a:buNone/>
                      </a:pPr>
                      <a:r>
                        <a:rPr sz="1800" b="1">
                          <a:solidFill>
                            <a:srgbClr val="444444"/>
                          </a:solidFill>
                          <a:latin typeface="Calibri"/>
                          <a:ea typeface="Calibri"/>
                          <a:cs typeface="Calibri"/>
                        </a:rPr>
                        <a:t>Base-Modell</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Parameter</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MACs je Update</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(D = 6,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22 657</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22 080</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(D = 6,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86 273</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85 120</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5" name="PC_mac_example">
            <a:extLst>
              <a:ext uri="{FF2B5EF4-FFF2-40B4-BE49-F238E27FC236}">
                <a16:creationId xmlns:a16="http://schemas.microsoft.com/office/drawing/2014/main" id="{A027C4BF-5C22-404D-8AE4-BEFAFE5EA482}"/>
              </a:ext>
            </a:extLst>
          </p:cNvPr>
          <p:cNvSpPr>
            <a:spLocks noGrp="1"/>
          </p:cNvSpPr>
          <p:nvPr/>
        </p:nvSpPr>
        <p:spPr>
          <a:xfrm>
            <a:off x="552450" y="462915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Beispiel Dense Layer (D = 6, H = 64):</a:t>
            </a:r>
          </a:p>
        </p:txBody>
      </p:sp>
      <p:sp>
        <p:nvSpPr>
          <p:cNvPr id="2006" name="PC_mac_example_detail">
            <a:extLst>
              <a:ext uri="{FF2B5EF4-FFF2-40B4-BE49-F238E27FC236}">
                <a16:creationId xmlns:a16="http://schemas.microsoft.com/office/drawing/2014/main" id="{21B174A4-4D3B-4DBC-891D-795DF93BA508}"/>
              </a:ext>
            </a:extLst>
          </p:cNvPr>
          <p:cNvSpPr>
            <a:spLocks noGrp="1"/>
          </p:cNvSpPr>
          <p:nvPr/>
        </p:nvSpPr>
        <p:spPr>
          <a:xfrm>
            <a:off x="552450" y="50101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448 Parameter = 384 Gewichte + 64 Bias, bei 384 MACs je Update</a:t>
            </a:r>
          </a:p>
        </p:txBody>
      </p:sp>
      <p:sp>
        <p:nvSpPr>
          <p:cNvPr id="2007" name="PC_mac_takeaway">
            <a:extLst>
              <a:ext uri="{FF2B5EF4-FFF2-40B4-BE49-F238E27FC236}">
                <a16:creationId xmlns:a16="http://schemas.microsoft.com/office/drawing/2014/main" id="{A89DFFCE-076D-4E2D-9BC6-B0864F042F3E}"/>
              </a:ext>
            </a:extLst>
          </p:cNvPr>
          <p:cNvSpPr>
            <a:spLocks noGrp="1"/>
          </p:cNvSpPr>
          <p:nvPr/>
        </p:nvSpPr>
        <p:spPr>
          <a:xfrm>
            <a:off x="552450" y="55435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MAC-Zahl als Rechenmaß, tatsächliche Laufzeit zusätzlich vom Kernel abhängig</a:t>
            </a:r>
          </a:p>
        </p:txBody>
      </p:sp>
      <p:sp>
        <p:nvSpPr>
          <p:cNvPr id="2008" name="Footer – Seitennummer">
            <a:extLst>
              <a:ext uri="{FF2B5EF4-FFF2-40B4-BE49-F238E27FC236}">
                <a16:creationId xmlns:a16="http://schemas.microsoft.com/office/drawing/2014/main" id="{CEF04B45-36AA-40A6-A234-97F58A3F38E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10</a:t>
            </a:r>
          </a:p>
        </p:txBody>
      </p:sp>
      <p:sp>
        <p:nvSpPr>
          <p:cNvPr id="2009" name="Footer – Präsentationsangaben">
            <a:extLst>
              <a:ext uri="{FF2B5EF4-FFF2-40B4-BE49-F238E27FC236}">
                <a16:creationId xmlns:a16="http://schemas.microsoft.com/office/drawing/2014/main" id="{F36F19B0-AEBB-4F2A-BA32-8A5E519AE4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LSTM-Pruning und Matrixindizes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2686050"/>
            <a:ext cx="93535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 </a:t>
            </a:r>
            <a:r>
              <a:rPr sz="1800" b="0">
                <a:solidFill>
                  <a:srgbClr val="444444"/>
                </a:solidFill>
                <a:latin typeface="Calibri"/>
                <a:ea typeface="Calibri"/>
                <a:cs typeface="Calibri"/>
              </a:rPr>
              <a:t>Beibehaltene Hidden Units, gemeinsame Indexmenge für Iₒᵤₜ und Iᵢₙ</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4" name="v11-math-30-2">
                <a:extLst>
                  <a:ext uri="{FF2B5EF4-FFF2-40B4-BE49-F238E27FC236}">
                    <a16:creationId xmlns:a16="http://schemas.microsoft.com/office/drawing/2014/main" id="{7D21FDE8-880F-4954-8A5E-45B1E6904866}"/>
                  </a:ext>
                </a:extLst>
              </p:cNvPr>
              <p:cNvSpPr>
                <a:spLocks noGrp="1"/>
              </p:cNvSpPr>
              <p:nvPr/>
            </p:nvSpPr>
            <p:spPr>
              <a:xfrm>
                <a:off x="3409950" y="3314700"/>
                <a:ext cx="3638550" cy="371475"/>
              </a:xfrm>
              <a:prstGeom prst="rect">
                <a:avLst/>
              </a:prstGeom>
              <a:noFill/>
              <a:ln w="0">
                <a:noFill/>
              </a:ln>
            </p:spPr>
            <p:txBody>
              <a:bodyPr wrap="square" lIns="0" tIns="0" rIns="0" bIns="0" anchor="t">
                <a:noAutofit/>
              </a:bodyPr>
              <a:lstStyle/>
              <a:p>
                <a:pPr algn="ctr">
                  <a:buNone/>
                </a:pPr>
                <a14:m>
                  <m:oMathPara xmlns:m="http://schemas.openxmlformats.org/officeDocument/2006/math">
                    <m:oMath>
                      <m:sSubSup>
                        <m:sSubSupPr>
                          <m:ctrlPr>
                            <a:rPr sz="1875" i="1">
                              <a:latin typeface="Cambria Math" panose="02040503050406030204" pitchFamily="18" charset="0"/>
                              <a:ea typeface="Cambria Math"/>
                              <a:cs typeface="Cambria Math"/>
                            </a:rPr>
                          </m:ctrlPr>
                        </m:sSubSup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sSubSup>
                        <m:sSubSupPr>
                          <m:ctrlPr>
                            <a:rPr sz="1875" i="1">
                              <a:latin typeface="Cambria Math" panose="02040503050406030204" pitchFamily="18" charset="0"/>
                              <a:ea typeface="Cambria Math"/>
                              <a:cs typeface="Cambria Math"/>
                            </a:rPr>
                          </m:ctrlPr>
                        </m:sSubSup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oMath>
                  </m:oMathPara>
                </a14:m>
                <a:endParaRPr/>
              </a:p>
            </p:txBody>
          </p:sp>
        </mc:Choice>
        <mc:Fallback xmlns="">
          <p:sp>
            <p:nvSpPr>
              <p:cNvPr id="24" name="v11-math-30-2">
                <a:extLst>
                  <a:ext uri="{FF2B5EF4-FFF2-40B4-BE49-F238E27FC236}">
                    <a16:creationId xmlns:a16="http://schemas.microsoft.com/office/drawing/2014/main" id="{7D21FDE8-880F-4954-8A5E-45B1E6904866}"/>
                  </a:ext>
                </a:extLst>
              </p:cNvPr>
              <p:cNvSpPr>
                <a:spLocks noGrp="1" noRot="1" noChangeAspect="1" noMove="1" noResize="1" noEditPoints="1" noAdjustHandles="1" noChangeArrowheads="1" noChangeShapeType="1" noTextEdit="1"/>
              </p:cNvSpPr>
              <p:nvPr/>
            </p:nvSpPr>
            <p:spPr>
              <a:xfrm>
                <a:off x="3409950" y="3314700"/>
                <a:ext cx="3638550" cy="371475"/>
              </a:xfrm>
              <a:prstGeom prst="rect">
                <a:avLst/>
              </a:prstGeom>
              <a:blipFill>
                <a:blip r:embed="rId4"/>
                <a:stretch>
                  <a:fillRect l="-1843" r="-1340" b="-8197"/>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v11-math-30-3">
                <a:extLst>
                  <a:ext uri="{FF2B5EF4-FFF2-40B4-BE49-F238E27FC236}">
                    <a16:creationId xmlns:a16="http://schemas.microsoft.com/office/drawing/2014/main" id="{861FA803-02E8-4CD0-88A1-326637D12556}"/>
                  </a:ext>
                </a:extLst>
              </p:cNvPr>
              <p:cNvSpPr>
                <a:spLocks noGrp="1"/>
              </p:cNvSpPr>
              <p:nvPr/>
            </p:nvSpPr>
            <p:spPr>
              <a:xfrm>
                <a:off x="4067175" y="3914775"/>
                <a:ext cx="2324100" cy="3524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𝑀𝐿𝑃</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𝑀𝐿𝑃</m:t>
                          </m:r>
                          <m:r>
                            <a:rPr sz="1313">
                              <a:latin typeface="Cambria Math"/>
                              <a:ea typeface="Cambria Math"/>
                              <a:cs typeface="Cambria Math"/>
                            </a:rPr>
                            <m:t>,1</m:t>
                          </m:r>
                        </m:sub>
                      </m:sSub>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oMath>
                  </m:oMathPara>
                </a14:m>
                <a:endParaRPr/>
              </a:p>
            </p:txBody>
          </p:sp>
        </mc:Choice>
        <mc:Fallback xmlns="">
          <p:sp>
            <p:nvSpPr>
              <p:cNvPr id="25" name="v11-math-30-3">
                <a:extLst>
                  <a:ext uri="{FF2B5EF4-FFF2-40B4-BE49-F238E27FC236}">
                    <a16:creationId xmlns:a16="http://schemas.microsoft.com/office/drawing/2014/main" id="{861FA803-02E8-4CD0-88A1-326637D12556}"/>
                  </a:ext>
                </a:extLst>
              </p:cNvPr>
              <p:cNvSpPr>
                <a:spLocks noGrp="1" noRot="1" noChangeAspect="1" noMove="1" noResize="1" noEditPoints="1" noAdjustHandles="1" noChangeArrowheads="1" noChangeShapeType="1" noTextEdit="1"/>
              </p:cNvSpPr>
              <p:nvPr/>
            </p:nvSpPr>
            <p:spPr>
              <a:xfrm>
                <a:off x="4067175" y="3914775"/>
                <a:ext cx="2324100" cy="352425"/>
              </a:xfrm>
              <a:prstGeom prst="rect">
                <a:avLst/>
              </a:prstGeom>
              <a:blipFill>
                <a:blip r:embed="rId5"/>
                <a:stretch>
                  <a:fillRect t="-1724" b="-12069"/>
                </a:stretch>
              </a:blipFill>
              <a:ln w="0">
                <a:noFill/>
              </a:ln>
            </p:spPr>
            <p:txBody>
              <a:bodyPr/>
              <a:lstStyle/>
              <a:p>
                <a:r>
                  <a:rPr lang="de-DE">
                    <a:noFill/>
                  </a:rPr>
                  <a:t> </a:t>
                </a:r>
              </a:p>
            </p:txBody>
          </p:sp>
        </mc:Fallback>
      </mc:AlternateContent>
      <p:sp>
        <p:nvSpPr>
          <p:cNvPr id="26" name="v11-text-30-4">
            <a:extLst>
              <a:ext uri="{FF2B5EF4-FFF2-40B4-BE49-F238E27FC236}">
                <a16:creationId xmlns:a16="http://schemas.microsoft.com/office/drawing/2014/main" id="{FA53529F-8443-47C1-AF12-4DFA8CA6B3D8}"/>
              </a:ext>
            </a:extLst>
          </p:cNvPr>
          <p:cNvSpPr>
            <a:spLocks noGrp="1"/>
          </p:cNvSpPr>
          <p:nvPr/>
        </p:nvSpPr>
        <p:spPr>
          <a:xfrm>
            <a:off x="552450" y="4486275"/>
            <a:ext cx="9353550" cy="6762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Gekoppelte Kürzung:</a:t>
            </a:r>
            <a:r>
              <a:rPr sz="1800" b="0">
                <a:latin typeface="Calibri"/>
                <a:ea typeface="Calibri"/>
                <a:cs typeface="Calibri"/>
              </a:rPr>
              <a:t> Gates, Bias, Zustände und MLP-Eingänge konsistent verkleinern, anschließend Fine-Tuning</a:t>
            </a:r>
          </a:p>
        </p:txBody>
      </p:sp>
      <p:sp>
        <p:nvSpPr>
          <p:cNvPr id="27" name="v11-text-30-5">
            <a:extLst>
              <a:ext uri="{FF2B5EF4-FFF2-40B4-BE49-F238E27FC236}">
                <a16:creationId xmlns:a16="http://schemas.microsoft.com/office/drawing/2014/main" id="{143CEB4B-6730-41A0-B44E-5BB7695E18ED}"/>
              </a:ext>
            </a:extLst>
          </p:cNvPr>
          <p:cNvSpPr>
            <a:spLocks noGrp="1"/>
          </p:cNvSpPr>
          <p:nvPr/>
        </p:nvSpPr>
        <p:spPr>
          <a:xfrm>
            <a:off x="552450" y="5314950"/>
            <a:ext cx="9353550" cy="6381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Rechenaufwand:</a:t>
            </a:r>
            <a:r>
              <a:rPr sz="1800" b="0">
                <a:latin typeface="Calibri"/>
                <a:ea typeface="Calibri"/>
                <a:cs typeface="Calibri"/>
              </a:rPr>
              <a:t> 45,1 % weniger MACs für SOC und 45,7 % für SOH bei unveränderter MLP-Breite</a:t>
            </a:r>
          </a:p>
        </p:txBody>
      </p:sp>
      <p:sp>
        <p:nvSpPr>
          <p:cNvPr id="28" name="v12-text-30-6">
            <a:extLst>
              <a:ext uri="{FF2B5EF4-FFF2-40B4-BE49-F238E27FC236}">
                <a16:creationId xmlns:a16="http://schemas.microsoft.com/office/drawing/2014/main" id="{94F020C4-1293-41EE-8D98-69DA00E955C0}"/>
              </a:ext>
            </a:extLst>
          </p:cNvPr>
          <p:cNvSpPr>
            <a:spLocks noGrp="1"/>
          </p:cNvSpPr>
          <p:nvPr/>
        </p:nvSpPr>
        <p:spPr>
          <a:xfrm>
            <a:off x="552450" y="1409700"/>
            <a:ext cx="9353550" cy="4953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Score sₕ:</a:t>
            </a:r>
            <a:r>
              <a:rPr sz="1800" b="0">
                <a:latin typeface="Calibri"/>
                <a:ea typeface="Calibri"/>
                <a:cs typeface="Calibri"/>
              </a:rPr>
              <a:t> L2-Zeilennormen der Eingangs- und Rekurrenzgewichte über alle Gates</a:t>
            </a:r>
          </a:p>
        </p:txBody>
      </p:sp>
      <p:sp>
        <p:nvSpPr>
          <p:cNvPr id="29" name="Footer – Seitennummer">
            <a:extLst>
              <a:ext uri="{FF2B5EF4-FFF2-40B4-BE49-F238E27FC236}">
                <a16:creationId xmlns:a16="http://schemas.microsoft.com/office/drawing/2014/main" id="{9619D74C-DE57-474C-8E54-55E5843515B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11</a:t>
            </a:r>
          </a:p>
        </p:txBody>
      </p:sp>
      <p:sp>
        <p:nvSpPr>
          <p:cNvPr id="30" name="Footer – Präsentationsangaben">
            <a:extLst>
              <a:ext uri="{FF2B5EF4-FFF2-40B4-BE49-F238E27FC236}">
                <a16:creationId xmlns:a16="http://schemas.microsoft.com/office/drawing/2014/main" id="{5E54AF4F-FA31-428E-A3B7-E68AF06531C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Quellenverweis 26">
            <a:extLst>
              <a:ext uri="{FF2B5EF4-FFF2-40B4-BE49-F238E27FC236}">
                <a16:creationId xmlns:a16="http://schemas.microsoft.com/office/drawing/2014/main" id="{35F9DB2B-AADD-4B41-89D8-3EB5387E0AD6}"/>
              </a:ext>
            </a:extLst>
          </p:cNvPr>
          <p:cNvSpPr>
            <a:spLocks noGrp="1"/>
          </p:cNvSpPr>
          <p:nvPr/>
        </p:nvSpPr>
        <p:spPr>
          <a:xfrm>
            <a:off x="1680426" y="4760646"/>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Signed Error Distributions von SOC und SOH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definition">
            <a:extLst>
              <a:ext uri="{FF2B5EF4-FFF2-40B4-BE49-F238E27FC236}">
                <a16:creationId xmlns:a16="http://schemas.microsoft.com/office/drawing/2014/main" id="{B1BBA781-BEC8-4A6C-BF3A-F4F2B8DED9F9}"/>
              </a:ext>
            </a:extLst>
          </p:cNvPr>
          <p:cNvSpPr>
            <a:spLocks noGrp="1"/>
          </p:cNvSpPr>
          <p:nvPr/>
        </p:nvSpPr>
        <p:spPr>
          <a:xfrm>
            <a:off x="552450" y="5257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Signed error: Prediction minus Ground Truth</a:t>
            </a:r>
          </a:p>
        </p:txBody>
      </p:sp>
      <p:sp>
        <p:nvSpPr>
          <p:cNvPr id="24" name="AM_interpretation">
            <a:extLst>
              <a:ext uri="{FF2B5EF4-FFF2-40B4-BE49-F238E27FC236}">
                <a16:creationId xmlns:a16="http://schemas.microsoft.com/office/drawing/2014/main" id="{57DDFF62-6A5C-4A25-A7E2-D138D6AF6C39}"/>
              </a:ext>
            </a:extLst>
          </p:cNvPr>
          <p:cNvSpPr>
            <a:spLocks noGrp="1"/>
          </p:cNvSpPr>
          <p:nvPr/>
        </p:nvSpPr>
        <p:spPr>
          <a:xfrm>
            <a:off x="552450" y="56197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Positive Fehler: Überschätzung, negative Fehler: Unterschätzung</a:t>
            </a:r>
          </a:p>
        </p:txBody>
      </p:sp>
      <p:pic>
        <p:nvPicPr>
          <p:cNvPr id="25" name="AM_SOC_histogram"/>
          <p:cNvPicPr>
            <a:picLocks noChangeAspect="1"/>
          </p:cNvPicPr>
          <p:nvPr/>
        </p:nvPicPr>
        <p:blipFill>
          <a:blip r:embed="rId3"/>
          <a:srcRect l="50000"/>
          <a:stretch/>
        </p:blipFill>
        <p:spPr>
          <a:xfrm>
            <a:off x="552450" y="1409700"/>
            <a:ext cx="4381500" cy="3651250"/>
          </a:xfrm>
          <a:prstGeom prst="rect">
            <a:avLst/>
          </a:prstGeom>
        </p:spPr>
      </p:pic>
      <p:pic>
        <p:nvPicPr>
          <p:cNvPr id="26" name="AM_SOH_histogram"/>
          <p:cNvPicPr>
            <a:picLocks noChangeAspect="1"/>
          </p:cNvPicPr>
          <p:nvPr/>
        </p:nvPicPr>
        <p:blipFill>
          <a:blip r:embed="rId4"/>
          <a:srcRect l="50000"/>
          <a:stretch/>
        </p:blipFill>
        <p:spPr>
          <a:xfrm>
            <a:off x="5562600" y="1409700"/>
            <a:ext cx="4381500" cy="3651250"/>
          </a:xfrm>
          <a:prstGeom prst="rect">
            <a:avLst/>
          </a:prstGeom>
        </p:spPr>
      </p:pic>
      <p:sp>
        <p:nvSpPr>
          <p:cNvPr id="27" name="Footer – Seitennummer">
            <a:extLst>
              <a:ext uri="{FF2B5EF4-FFF2-40B4-BE49-F238E27FC236}">
                <a16:creationId xmlns:a16="http://schemas.microsoft.com/office/drawing/2014/main" id="{EB0C9849-A6B5-499B-80F1-7821E56A1AE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12</a:t>
            </a:r>
          </a:p>
        </p:txBody>
      </p:sp>
      <p:sp>
        <p:nvSpPr>
          <p:cNvPr id="28" name="Footer – Präsentationsangaben">
            <a:extLst>
              <a:ext uri="{FF2B5EF4-FFF2-40B4-BE49-F238E27FC236}">
                <a16:creationId xmlns:a16="http://schemas.microsoft.com/office/drawing/2014/main" id="{0C4F65AC-868F-4D4A-AB88-9C8B1DA4963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SOH-Ergebnisse im Überblick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3"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44" name="Tabelle 43"/>
          <p:cNvGraphicFramePr/>
          <p:nvPr/>
        </p:nvGraphicFramePr>
        <p:xfrm>
          <a:off x="552450" y="1562100"/>
          <a:ext cx="9391650" cy="3657600"/>
        </p:xfrm>
        <a:graphic>
          <a:graphicData uri="http://schemas.openxmlformats.org/drawingml/2006/table">
            <a:tbl>
              <a:tblPr/>
              <a:tblGrid>
                <a:gridCol w="2047875">
                  <a:extLst>
                    <a:ext uri="{9D8B030D-6E8A-4147-A177-3AD203B41FA5}">
                      <a16:colId xmlns:a16="http://schemas.microsoft.com/office/drawing/2014/main" val="20000"/>
                    </a:ext>
                  </a:extLst>
                </a:gridCol>
                <a:gridCol w="2581275">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333500">
                  <a:extLst>
                    <a:ext uri="{9D8B030D-6E8A-4147-A177-3AD203B41FA5}">
                      <a16:colId xmlns:a16="http://schemas.microsoft.com/office/drawing/2014/main" val="20005"/>
                    </a:ext>
                  </a:extLst>
                </a:gridCol>
              </a:tblGrid>
              <a:tr h="609600">
                <a:tc>
                  <a:txBody>
                    <a:bodyPr/>
                    <a:lstStyle/>
                    <a:p>
                      <a:pPr algn="l">
                        <a:buNone/>
                      </a:pPr>
                      <a:r>
                        <a:rPr sz="1800" b="1">
                          <a:solidFill>
                            <a:srgbClr val="444444"/>
                          </a:solidFill>
                          <a:latin typeface="Calibri"/>
                          <a:ea typeface="Calibri"/>
                          <a:cs typeface="Calibri"/>
                        </a:rPr>
                        <a:t>SOH-Modell</a:t>
                      </a:r>
                    </a:p>
                  </a:txBody>
                  <a:tcPr marL="95250" marR="95250" marT="28575" marB="28575" anchor="ctr">
                    <a:solidFill>
                      <a:srgbClr val="F0F0F0"/>
                    </a:solidFill>
                  </a:tcPr>
                </a:tc>
                <a:tc>
                  <a:txBody>
                    <a:bodyPr/>
                    <a:lstStyle/>
                    <a:p>
                      <a:pPr algn="l">
                        <a:buNone/>
                      </a:pPr>
                      <a:r>
                        <a:rPr sz="1800" b="1">
                          <a:solidFill>
                            <a:srgbClr val="444444"/>
                          </a:solidFill>
                          <a:latin typeface="Calibri"/>
                          <a:ea typeface="Calibri"/>
                          <a:cs typeface="Calibri"/>
                        </a:rPr>
                        <a:t>Variante</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MAE</a:t>
                      </a:r>
                    </a:p>
                    <a:p>
                      <a:pPr algn="ctr">
                        <a:buNone/>
                      </a:pPr>
                      <a:r>
                        <a:rPr sz="1800" b="1">
                          <a:solidFill>
                            <a:srgbClr val="444444"/>
                          </a:solidFill>
                          <a:latin typeface="Calibri"/>
                          <a:ea typeface="Calibri"/>
                          <a:cs typeface="Calibri"/>
                        </a:rPr>
                        <a:t>[pp]</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Flash</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RAM</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Inferenz</a:t>
                      </a:r>
                    </a:p>
                    <a:p>
                      <a:pPr algn="ctr">
                        <a:buNone/>
                      </a:pPr>
                      <a:r>
                        <a:rPr sz="1800" b="1">
                          <a:solidFill>
                            <a:srgbClr val="444444"/>
                          </a:solidFill>
                          <a:latin typeface="Calibri"/>
                          <a:ea typeface="Calibri"/>
                          <a:cs typeface="Calibri"/>
                        </a:rPr>
                        <a:t>[ms]</a:t>
                      </a:r>
                    </a:p>
                  </a:txBody>
                  <a:tcPr marL="95250" marR="95250" marT="28575" marB="28575" anchor="ctr">
                    <a:solidFill>
                      <a:srgbClr val="F0F0F0"/>
                    </a:solidFill>
                  </a:tcPr>
                </a:tc>
                <a:extLst>
                  <a:ext uri="{0D108BD9-81ED-4DB2-BD59-A6C34878D82A}">
                    <a16:rowId xmlns:a16="http://schemas.microsoft.com/office/drawing/2014/main" val="10000"/>
                  </a:ext>
                </a:extLst>
              </a:tr>
              <a:tr h="457200">
                <a:tc>
                  <a:txBody>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Standard</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1,10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1"/>
                  </a:ext>
                </a:extLst>
              </a:tr>
              <a:tr h="609600">
                <a:tc>
                  <a:txBody>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Training ohne</a:t>
                      </a:r>
                    </a:p>
                    <a:p>
                      <a:pPr algn="l">
                        <a:buNone/>
                      </a:pPr>
                      <a:r>
                        <a:rPr sz="1800" b="0">
                          <a:solidFill>
                            <a:srgbClr val="444444"/>
                          </a:solidFill>
                          <a:latin typeface="Calibri"/>
                          <a:ea typeface="Calibri"/>
                          <a:cs typeface="Calibri"/>
                        </a:rPr>
                        <a:t>Zellen 3 und 4</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1,07</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2"/>
                  </a:ext>
                </a:extLst>
              </a:tr>
              <a:tr h="609600">
                <a:tc>
                  <a:txBody>
                    <a:bodyPr/>
                    <a:lstStyle/>
                    <a:p>
                      <a:pPr algn="l">
                        <a:buNone/>
                      </a:pPr>
                      <a:r>
                        <a:rPr sz="1800" b="0">
                          <a:solidFill>
                            <a:srgbClr val="444444"/>
                          </a:solidFill>
                          <a:latin typeface="Calibri"/>
                          <a:ea typeface="Calibri"/>
                          <a:cs typeface="Calibri"/>
                        </a:rPr>
                        <a:t>LSTM (Kap. 6)</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SOH-Hilfsmodell</a:t>
                      </a:r>
                    </a:p>
                    <a:p>
                      <a:pPr algn="l">
                        <a:buNone/>
                      </a:pPr>
                      <a:r>
                        <a:rPr sz="1800" b="0">
                          <a:solidFill>
                            <a:srgbClr val="444444"/>
                          </a:solidFill>
                          <a:latin typeface="Calibri"/>
                          <a:ea typeface="Calibri"/>
                          <a:cs typeface="Calibri"/>
                        </a:rPr>
                        <a:t>2 Layer, H = 112</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nicht</a:t>
                      </a:r>
                    </a:p>
                    <a:p>
                      <a:pPr algn="ctr">
                        <a:buNone/>
                      </a:pPr>
                      <a:r>
                        <a:rPr sz="1800" b="0">
                          <a:solidFill>
                            <a:srgbClr val="444444"/>
                          </a:solidFill>
                          <a:latin typeface="Calibri"/>
                          <a:ea typeface="Calibri"/>
                          <a:cs typeface="Calibri"/>
                        </a:rPr>
                        <a:t>berichtet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3"/>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Base, H = 128</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0,85</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335,00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8,69</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22,73</a:t>
                      </a:r>
                    </a:p>
                  </a:txBody>
                  <a:tcPr marL="95250" marR="95250" marT="28575" marB="28575" anchor="ctr">
                    <a:solidFill>
                      <a:srgbClr val="FFFFFF"/>
                    </a:solidFill>
                  </a:tcPr>
                </a:tc>
                <a:extLst>
                  <a:ext uri="{0D108BD9-81ED-4DB2-BD59-A6C34878D82A}">
                    <a16:rowId xmlns:a16="http://schemas.microsoft.com/office/drawing/2014/main" val="10004"/>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Pruned, H = 90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1,46</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182,41</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6,96</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12,72</a:t>
                      </a:r>
                    </a:p>
                  </a:txBody>
                  <a:tcPr marL="95250" marR="95250" marT="28575" marB="28575" anchor="ctr">
                    <a:solidFill>
                      <a:srgbClr val="FFFFFF"/>
                    </a:solidFill>
                  </a:tcPr>
                </a:tc>
                <a:extLst>
                  <a:ext uri="{0D108BD9-81ED-4DB2-BD59-A6C34878D82A}">
                    <a16:rowId xmlns:a16="http://schemas.microsoft.com/office/drawing/2014/main" val="10005"/>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Quantized, H = 128</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1,41</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138,00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6,70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29,21</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45" name="MS_units">
            <a:extLst>
              <a:ext uri="{FF2B5EF4-FFF2-40B4-BE49-F238E27FC236}">
                <a16:creationId xmlns:a16="http://schemas.microsoft.com/office/drawing/2014/main" id="{17C46570-A290-438D-8975-2AC8A13A24EE}"/>
              </a:ext>
            </a:extLst>
          </p:cNvPr>
          <p:cNvSpPr>
            <a:spLocks noGrp="1"/>
          </p:cNvSpPr>
          <p:nvPr/>
        </p:nvSpPr>
        <p:spPr>
          <a:xfrm>
            <a:off x="552450" y="53721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pp = Prozentpunkte. Kap. 7: MAE nach kausaler Filterung.</a:t>
            </a:r>
          </a:p>
        </p:txBody>
      </p:sp>
      <p:sp>
        <p:nvSpPr>
          <p:cNvPr id="46" name="MS_comparison">
            <a:extLst>
              <a:ext uri="{FF2B5EF4-FFF2-40B4-BE49-F238E27FC236}">
                <a16:creationId xmlns:a16="http://schemas.microsoft.com/office/drawing/2014/main" id="{5FA9BE96-83DC-436A-BF05-A6525EA5E7C9}"/>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Unterschiedliche Datensätze und Auswertung: kein direkter Architekturvergleich</a:t>
            </a:r>
          </a:p>
        </p:txBody>
      </p:sp>
      <p:sp>
        <p:nvSpPr>
          <p:cNvPr id="47" name="Footer – Seitennummer">
            <a:extLst>
              <a:ext uri="{FF2B5EF4-FFF2-40B4-BE49-F238E27FC236}">
                <a16:creationId xmlns:a16="http://schemas.microsoft.com/office/drawing/2014/main" id="{BDB5A0F7-FDDF-4D5D-B76F-EE35B7154C1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13</a:t>
            </a:r>
          </a:p>
        </p:txBody>
      </p:sp>
      <p:sp>
        <p:nvSpPr>
          <p:cNvPr id="48" name="Footer – Präsentationsangaben">
            <a:extLst>
              <a:ext uri="{FF2B5EF4-FFF2-40B4-BE49-F238E27FC236}">
                <a16:creationId xmlns:a16="http://schemas.microsoft.com/office/drawing/2014/main" id="{2716D081-400C-4CE2-A447-0A1A32F9616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Host-Latenz und Kernelzeit</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26" name="Tabelle 25"/>
          <p:cNvGraphicFramePr/>
          <p:nvPr/>
        </p:nvGraphicFramePr>
        <p:xfrm>
          <a:off x="552450" y="1476375"/>
          <a:ext cx="9391650" cy="3120390"/>
        </p:xfrm>
        <a:graphic>
          <a:graphicData uri="http://schemas.openxmlformats.org/drawingml/2006/table">
            <a:tbl>
              <a:tblPr/>
              <a:tblGrid>
                <a:gridCol w="2571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571500">
                <a:tc>
                  <a:txBody>
                    <a:bodyPr/>
                    <a:lstStyle/>
                    <a:p>
                      <a:endParaRP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Base</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Pruned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Quantized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Pruning:</a:t>
                      </a:r>
                    </a:p>
                    <a:p>
                      <a:pPr algn="ctr">
                        <a:buNone/>
                      </a:pPr>
                      <a:r>
                        <a:rPr sz="1800" b="1">
                          <a:solidFill>
                            <a:srgbClr val="444444"/>
                          </a:solidFill>
                          <a:latin typeface="Calibri"/>
                          <a:ea typeface="Calibri"/>
                          <a:cs typeface="Calibri"/>
                        </a:rPr>
                        <a:t>Zeitersparnis</a:t>
                      </a:r>
                    </a:p>
                  </a:txBody>
                  <a:tcPr marL="114300" marR="114300" marT="28575" marB="28575" anchor="ctr">
                    <a:solidFill>
                      <a:srgbClr val="FFFFFF"/>
                    </a:solidFill>
                  </a:tcPr>
                </a:tc>
                <a:extLst>
                  <a:ext uri="{0D108BD9-81ED-4DB2-BD59-A6C34878D82A}">
                    <a16:rowId xmlns:a16="http://schemas.microsoft.com/office/drawing/2014/main" val="10000"/>
                  </a:ext>
                </a:extLst>
              </a:tr>
              <a:tr h="342900">
                <a:tc gridSpan="5">
                  <a:txBody>
                    <a:bodyPr/>
                    <a:lstStyle/>
                    <a:p>
                      <a:pPr algn="l">
                        <a:buNone/>
                      </a:pPr>
                      <a:r>
                        <a:rPr sz="1800" b="1">
                          <a:solidFill>
                            <a:srgbClr val="D00020"/>
                          </a:solidFill>
                          <a:latin typeface="Calibri"/>
                          <a:ea typeface="Calibri"/>
                          <a:cs typeface="Calibri"/>
                        </a:rPr>
                        <a:t>SOC</a:t>
                      </a: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extLst>
                  <a:ext uri="{0D108BD9-81ED-4DB2-BD59-A6C34878D82A}">
                    <a16:rowId xmlns:a16="http://schemas.microsoft.com/office/drawing/2014/main" val="10001"/>
                  </a:ext>
                </a:extLst>
              </a:tr>
              <a:tr h="457200">
                <a:tc>
                  <a:txBody>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12,70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12,20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18,48</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3,9 %</a:t>
                      </a:r>
                    </a:p>
                  </a:txBody>
                  <a:tcPr marL="114300" marR="114300" marT="28575" marB="28575" anchor="ctr">
                    <a:solidFill>
                      <a:srgbClr val="FFFFFF"/>
                    </a:solidFill>
                  </a:tcPr>
                </a:tc>
                <a:extLst>
                  <a:ext uri="{0D108BD9-81ED-4DB2-BD59-A6C34878D82A}">
                    <a16:rowId xmlns:a16="http://schemas.microsoft.com/office/drawing/2014/main" val="10002"/>
                  </a:ext>
                </a:extLst>
              </a:tr>
              <a:tr h="457200">
                <a:tc>
                  <a:txBody>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1,40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0,80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6,99</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42,9 %</a:t>
                      </a:r>
                    </a:p>
                  </a:txBody>
                  <a:tcPr marL="114300" marR="114300" marT="28575" marB="28575" anchor="ctr">
                    <a:solidFill>
                      <a:srgbClr val="FFFFFF"/>
                    </a:solidFill>
                  </a:tcPr>
                </a:tc>
                <a:extLst>
                  <a:ext uri="{0D108BD9-81ED-4DB2-BD59-A6C34878D82A}">
                    <a16:rowId xmlns:a16="http://schemas.microsoft.com/office/drawing/2014/main" val="10003"/>
                  </a:ext>
                </a:extLst>
              </a:tr>
              <a:tr h="342900">
                <a:tc gridSpan="5">
                  <a:txBody>
                    <a:bodyPr/>
                    <a:lstStyle/>
                    <a:p>
                      <a:pPr algn="l">
                        <a:buNone/>
                      </a:pPr>
                      <a:r>
                        <a:rPr sz="1800" b="1">
                          <a:solidFill>
                            <a:srgbClr val="D00020"/>
                          </a:solidFill>
                          <a:latin typeface="Calibri"/>
                          <a:ea typeface="Calibri"/>
                          <a:cs typeface="Calibri"/>
                        </a:rPr>
                        <a:t>SOH</a:t>
                      </a: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extLst>
                  <a:ext uri="{0D108BD9-81ED-4DB2-BD59-A6C34878D82A}">
                    <a16:rowId xmlns:a16="http://schemas.microsoft.com/office/drawing/2014/main" val="10004"/>
                  </a:ext>
                </a:extLst>
              </a:tr>
              <a:tr h="457200">
                <a:tc>
                  <a:txBody>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34,88</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24,69</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41,23</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29,2 %</a:t>
                      </a:r>
                    </a:p>
                  </a:txBody>
                  <a:tcPr marL="114300" marR="114300" marT="28575" marB="28575" anchor="ctr">
                    <a:solidFill>
                      <a:srgbClr val="FFFFFF"/>
                    </a:solidFill>
                  </a:tcPr>
                </a:tc>
                <a:extLst>
                  <a:ext uri="{0D108BD9-81ED-4DB2-BD59-A6C34878D82A}">
                    <a16:rowId xmlns:a16="http://schemas.microsoft.com/office/drawing/2014/main" val="10005"/>
                  </a:ext>
                </a:extLst>
              </a:tr>
              <a:tr h="457200">
                <a:tc>
                  <a:txBody>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22,73</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12,72</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29,21</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44,0 %</a:t>
                      </a:r>
                    </a:p>
                  </a:txBody>
                  <a:tcPr marL="114300" marR="11430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27" name="LT_kernel_definition">
            <a:extLst>
              <a:ext uri="{FF2B5EF4-FFF2-40B4-BE49-F238E27FC236}">
                <a16:creationId xmlns:a16="http://schemas.microsoft.com/office/drawing/2014/main" id="{2B8C445C-0E71-40AD-8173-A1F2E9CD08BF}"/>
              </a:ext>
            </a:extLst>
          </p:cNvPr>
          <p:cNvSpPr>
            <a:spLocks noGrp="1"/>
          </p:cNvSpPr>
          <p:nvPr/>
        </p:nvSpPr>
        <p:spPr>
          <a:xfrm>
            <a:off x="552450" y="4819650"/>
            <a:ext cx="9391650" cy="3619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Kernelzeit: </a:t>
            </a:r>
            <a:r>
              <a:rPr sz="1800" b="0">
                <a:solidFill>
                  <a:srgbClr val="444444"/>
                </a:solidFill>
                <a:latin typeface="Calibri"/>
                <a:ea typeface="Calibri"/>
                <a:cs typeface="Calibri"/>
              </a:rPr>
              <a:t>Rechenzeit des LSTM- und MLP-Kerns auf dem STM32</a:t>
            </a:r>
          </a:p>
        </p:txBody>
      </p:sp>
      <p:sp>
        <p:nvSpPr>
          <p:cNvPr id="28" name="LT_host_definition">
            <a:extLst>
              <a:ext uri="{FF2B5EF4-FFF2-40B4-BE49-F238E27FC236}">
                <a16:creationId xmlns:a16="http://schemas.microsoft.com/office/drawing/2014/main" id="{4996AD11-B67F-4BBD-8213-9087AC4B0FA7}"/>
              </a:ext>
            </a:extLst>
          </p:cNvPr>
          <p:cNvSpPr>
            <a:spLocks noGrp="1"/>
          </p:cNvSpPr>
          <p:nvPr/>
        </p:nvSpPr>
        <p:spPr>
          <a:xfrm>
            <a:off x="552450" y="5238750"/>
            <a:ext cx="9391650" cy="3619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Host-Latenz: </a:t>
            </a:r>
            <a:r>
              <a:rPr sz="1800" b="0">
                <a:solidFill>
                  <a:srgbClr val="444444"/>
                </a:solidFill>
                <a:latin typeface="Calibri"/>
                <a:ea typeface="Calibri"/>
                <a:cs typeface="Calibri"/>
              </a:rPr>
              <a:t>Kernelzeit plus Übertragung, Scheduling und Rückgabe</a:t>
            </a:r>
          </a:p>
        </p:txBody>
      </p:sp>
      <p:sp>
        <p:nvSpPr>
          <p:cNvPr id="29" name="Footer – Seitennummer">
            <a:extLst>
              <a:ext uri="{FF2B5EF4-FFF2-40B4-BE49-F238E27FC236}">
                <a16:creationId xmlns:a16="http://schemas.microsoft.com/office/drawing/2014/main" id="{7E13DB17-208A-47FE-A726-9F7E0368A05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14</a:t>
            </a:r>
          </a:p>
        </p:txBody>
      </p:sp>
      <p:sp>
        <p:nvSpPr>
          <p:cNvPr id="30" name="Footer – Präsentationsangaben">
            <a:extLst>
              <a:ext uri="{FF2B5EF4-FFF2-40B4-BE49-F238E27FC236}">
                <a16:creationId xmlns:a16="http://schemas.microsoft.com/office/drawing/2014/main" id="{36386A13-85B6-4988-AA84-4DDB9936E75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Kernelzeit und Kompressionseffekte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66850"/>
          <a:ext cx="9353550" cy="3095624"/>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24075">
                  <a:extLst>
                    <a:ext uri="{9D8B030D-6E8A-4147-A177-3AD203B41FA5}">
                      <a16:colId xmlns:a16="http://schemas.microsoft.com/office/drawing/2014/main" val="20004"/>
                    </a:ext>
                  </a:extLst>
                </a:gridCol>
              </a:tblGrid>
              <a:tr h="442232">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Kernel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Δ zu 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Host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−43 %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12,20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34,88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−44 %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24,69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41,23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6"/>
                  </a:ext>
                </a:extLst>
              </a:tr>
            </a:tbl>
          </a:graphicData>
        </a:graphic>
      </p:graphicFrame>
      <p:sp>
        <p:nvSpPr>
          <p:cNvPr id="11" name="V5_Text_11">
            <a:extLst>
              <a:ext uri="{FF2B5EF4-FFF2-40B4-BE49-F238E27FC236}">
                <a16:creationId xmlns:a16="http://schemas.microsoft.com/office/drawing/2014/main" id="{849DB070-65C4-4F9E-A570-ECE42A6F9B21}"/>
              </a:ext>
            </a:extLst>
          </p:cNvPr>
          <p:cNvSpPr>
            <a:spLocks noGrp="1"/>
          </p:cNvSpPr>
          <p:nvPr/>
        </p:nvSpPr>
        <p:spPr>
          <a:xfrm>
            <a:off x="552450" y="4752975"/>
            <a:ext cx="9353550" cy="6191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Pruning:</a:t>
            </a:r>
            <a:r>
              <a:rPr sz="1800" b="0">
                <a:latin typeface="Calibri"/>
                <a:ea typeface="Calibri"/>
                <a:cs typeface="Calibri"/>
              </a:rPr>
              <a:t> Rund 45 % weniger MACs entsprechen 43–44 % kürzerer Kernelzeit</a:t>
            </a:r>
          </a:p>
        </p:txBody>
      </p:sp>
      <p:sp>
        <p:nvSpPr>
          <p:cNvPr id="14" name="Structure separator">
            <a:extLst>
              <a:ext uri="{FF2B5EF4-FFF2-40B4-BE49-F238E27FC236}">
                <a16:creationId xmlns:a16="http://schemas.microsoft.com/office/drawing/2014/main" id="{AF5C435C-3ED7-4297-B7F2-F31B89E77D3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AB64F56B-C2CF-43E9-A526-3DB3D8AE66D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0EAF8EE2-3563-48F3-A5E6-C190FE82FC3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E5C32DBF-BBE6-4604-9439-DA7B858038B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a:ext uri="{FF2B5EF4-FFF2-40B4-BE49-F238E27FC236}">
                <a16:creationId xmlns:a16="http://schemas.microsoft.com/office/drawing/2014/main" id="{488FE591-F84D-4812-AA44-ED8A92A265E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80D3D8CE-AFD1-4B89-AF36-CB2A5E63595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0B76D5C2-3AFF-4FE4-8E53-A304E050F08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F831D13C-148A-4550-B31D-69822AA5D8B4}"/>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36-2">
            <a:extLst>
              <a:ext uri="{FF2B5EF4-FFF2-40B4-BE49-F238E27FC236}">
                <a16:creationId xmlns:a16="http://schemas.microsoft.com/office/drawing/2014/main" id="{74FE52DD-ED3E-4D39-8D6B-25DD48DB715E}"/>
              </a:ext>
            </a:extLst>
          </p:cNvPr>
          <p:cNvSpPr>
            <a:spLocks noGrp="1"/>
          </p:cNvSpPr>
          <p:nvPr/>
        </p:nvSpPr>
        <p:spPr>
          <a:xfrm>
            <a:off x="552450" y="5467350"/>
            <a:ext cx="9353550" cy="62865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Messbasis:</a:t>
            </a:r>
            <a:r>
              <a:rPr sz="1800" b="0">
                <a:latin typeface="Calibri"/>
                <a:ea typeface="Calibri"/>
                <a:cs typeface="Calibri"/>
              </a:rPr>
              <a:t> Manuelle Kernels ohne Compileroptimierung, INT8-Gewichte mit zusätzlicher FP32-Konvertierung</a:t>
            </a:r>
          </a:p>
        </p:txBody>
      </p:sp>
      <p:sp>
        <p:nvSpPr>
          <p:cNvPr id="30" name="Footer – Seitennummer">
            <a:extLst>
              <a:ext uri="{FF2B5EF4-FFF2-40B4-BE49-F238E27FC236}">
                <a16:creationId xmlns:a16="http://schemas.microsoft.com/office/drawing/2014/main" id="{5C09B803-0075-4B0B-A382-4E1696395A4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15</a:t>
            </a:r>
          </a:p>
        </p:txBody>
      </p:sp>
      <p:sp>
        <p:nvSpPr>
          <p:cNvPr id="31" name="Footer – Präsentationsangaben">
            <a:extLst>
              <a:ext uri="{FF2B5EF4-FFF2-40B4-BE49-F238E27FC236}">
                <a16:creationId xmlns:a16="http://schemas.microsoft.com/office/drawing/2014/main" id="{16C2D90B-926A-4941-B737-26B001CBB2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927743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a:solidFill>
                  <a:srgbClr val="D00020"/>
                </a:solidFill>
                <a:latin typeface="Calibri"/>
                <a:ea typeface="Calibri"/>
                <a:cs typeface="Calibri"/>
              </a:defRPr>
            </a:pPr>
            <a:r>
              <a:rPr sz="2400" b="0">
                <a:solidFill>
                  <a:srgbClr val="D00020"/>
                </a:solidFill>
                <a:latin typeface="Calibri"/>
                <a:ea typeface="Calibri"/>
                <a:cs typeface="Calibri"/>
              </a:rPr>
              <a:t>MLP: Hidden Layers und Activation Functions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tretch/>
        </p:blipFill>
        <p:spPr>
          <a:xfrm>
            <a:off x="552450" y="1463873"/>
            <a:ext cx="5667375" cy="2692003"/>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648450" y="1514475"/>
            <a:ext cx="3305175" cy="1114425"/>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Weighted Sum + Bias:</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Berechnung von z mit</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Weights W, Bias b und Inputs a</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aus dem vorherigen Layer</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648450" y="2819400"/>
            <a:ext cx="3305175" cy="1104900"/>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Activation Function a = f(z):</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Nonlinear Transformation</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in den Hidden Layers;</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Trainable Parameters: W und b</a:t>
            </a:r>
          </a:p>
        </p:txBody>
      </p:sp>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B31B0582-2B91-4A4D-AA57-F0D483B527E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EB050EF2-14AC-403A-BBAC-2A5E3435256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EA5A00D-8BDD-4341-8F12-DDFAABCA27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CE7F5C5B-5576-44AE-AB99-2EF70DB7737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06DD0971-4D36-42C8-8E50-5EBE204CB199}"/>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6D2E0B23-A715-4F17-989B-28BDEECA4FE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95E92BD0-1B31-4A81-89E5-C32C47DFD7A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56E32B54-E522-4221-8600-7F7C989898C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9" name="v11-math-8-3">
                <a:extLst>
                  <a:ext uri="{FF2B5EF4-FFF2-40B4-BE49-F238E27FC236}">
                    <a16:creationId xmlns:a16="http://schemas.microsoft.com/office/drawing/2014/main" id="{D1CA509F-10E6-4161-A909-FA7327EB3733}"/>
                  </a:ext>
                </a:extLst>
              </p:cNvPr>
              <p:cNvSpPr>
                <a:spLocks noGrp="1"/>
              </p:cNvSpPr>
              <p:nvPr/>
            </p:nvSpPr>
            <p:spPr>
              <a:xfrm>
                <a:off x="3233738" y="4476750"/>
                <a:ext cx="3990975" cy="333375"/>
              </a:xfrm>
              <a:prstGeom prst="rect">
                <a:avLst/>
              </a:prstGeom>
              <a:noFill/>
              <a:ln w="0">
                <a:noFill/>
              </a:ln>
            </p:spPr>
            <p:txBody>
              <a:bodyPr wrap="square" lIns="0" tIns="0" rIns="0" bIns="0" anchor="t">
                <a:noAutofit/>
              </a:bodyPr>
              <a:lstStyle/>
              <a:p>
                <a:pPr algn="ctr">
                  <a:buNone/>
                </a:pPr>
                <a14:m>
                  <m:oMathPara xmlns:m="http://schemas.openxmlformats.org/officeDocument/2006/math">
                    <m:oMath>
                      <m:sSup>
                        <m:sSupPr>
                          <m:ctrlPr>
                            <a:rPr sz="1875">
                              <a:latin typeface="Cambria Math"/>
                              <a:ea typeface="Cambria Math"/>
                              <a:cs typeface="Cambria Math"/>
                            </a:rPr>
                          </m:ctrlPr>
                        </m:sSupPr>
                        <m:e>
                          <m:r>
                            <a:rPr sz="1875">
                              <a:latin typeface="Cambria Math"/>
                              <a:ea typeface="Cambria Math"/>
                              <a:cs typeface="Cambria Math"/>
                            </a:rPr>
                            <m:t>𝑧</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𝑊</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sSup>
                        <m:sSupPr>
                          <m:ctrlPr>
                            <a:rPr sz="1875">
                              <a:latin typeface="Cambria Math"/>
                              <a:ea typeface="Cambria Math"/>
                              <a:cs typeface="Cambria Math"/>
                            </a:rPr>
                          </m:ctrlPr>
                        </m:sSupPr>
                        <m:e>
                          <m:r>
                            <a:rPr sz="1875">
                              <a:latin typeface="Cambria Math"/>
                              <a:ea typeface="Cambria Math"/>
                              <a:cs typeface="Cambria Math"/>
                            </a:rPr>
                            <m:t>𝑎</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−1)</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𝑏</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𝑎</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𝑓</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𝑧</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oMath>
                  </m:oMathPara>
                </a14:m>
                <a:endParaRPr/>
              </a:p>
            </p:txBody>
          </p:sp>
        </mc:Choice>
        <mc:Fallback xmlns="">
          <p:sp>
            <p:nvSpPr>
              <p:cNvPr id="29" name="v11-math-8-3">
                <a:extLst>
                  <a:ext uri="{FF2B5EF4-FFF2-40B4-BE49-F238E27FC236}">
                    <a16:creationId xmlns:a16="http://schemas.microsoft.com/office/drawing/2014/main" id="{D1CA509F-10E6-4161-A909-FA7327EB3733}"/>
                  </a:ext>
                </a:extLst>
              </p:cNvPr>
              <p:cNvSpPr>
                <a:spLocks noGrp="1" noRot="1" noChangeAspect="1" noMove="1" noResize="1" noEditPoints="1" noAdjustHandles="1" noChangeArrowheads="1" noChangeShapeType="1" noTextEdit="1"/>
              </p:cNvSpPr>
              <p:nvPr/>
            </p:nvSpPr>
            <p:spPr>
              <a:xfrm>
                <a:off x="3233738" y="4476750"/>
                <a:ext cx="3990975" cy="333375"/>
              </a:xfrm>
              <a:prstGeom prst="rect">
                <a:avLst/>
              </a:prstGeom>
              <a:blipFill>
                <a:blip r:embed="rId5"/>
                <a:stretch>
                  <a:fillRect b="-18182"/>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v11-math-8-4">
                <a:extLst>
                  <a:ext uri="{FF2B5EF4-FFF2-40B4-BE49-F238E27FC236}">
                    <a16:creationId xmlns:a16="http://schemas.microsoft.com/office/drawing/2014/main" id="{ACA53358-2FF9-4428-B4F1-5C8BC725E0D7}"/>
                  </a:ext>
                </a:extLst>
              </p:cNvPr>
              <p:cNvSpPr>
                <a:spLocks noGrp="1"/>
              </p:cNvSpPr>
              <p:nvPr/>
            </p:nvSpPr>
            <p:spPr>
              <a:xfrm>
                <a:off x="4110038" y="5395913"/>
                <a:ext cx="2238375" cy="2762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𝑁</m:t>
                          </m:r>
                        </m:e>
                        <m:sub>
                          <m:r>
                            <a:rPr sz="1313">
                              <a:latin typeface="Cambria Math"/>
                              <a:ea typeface="Cambria Math"/>
                              <a:cs typeface="Cambria Math"/>
                            </a:rPr>
                            <m:t>𝐿𝑎𝑦𝑒𝑟</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𝑖𝑛</m:t>
                          </m:r>
                        </m:sub>
                      </m:sSub>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𝑜𝑢𝑡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𝑜𝑢𝑡</m:t>
                          </m:r>
                        </m:sub>
                      </m:sSub>
                    </m:oMath>
                  </m:oMathPara>
                </a14:m>
                <a:endParaRPr/>
              </a:p>
            </p:txBody>
          </p:sp>
        </mc:Choice>
        <mc:Fallback xmlns="">
          <p:sp>
            <p:nvSpPr>
              <p:cNvPr id="30" name="v11-math-8-4">
                <a:extLst>
                  <a:ext uri="{FF2B5EF4-FFF2-40B4-BE49-F238E27FC236}">
                    <a16:creationId xmlns:a16="http://schemas.microsoft.com/office/drawing/2014/main" id="{ACA53358-2FF9-4428-B4F1-5C8BC725E0D7}"/>
                  </a:ext>
                </a:extLst>
              </p:cNvPr>
              <p:cNvSpPr>
                <a:spLocks noGrp="1" noRot="1" noChangeAspect="1" noMove="1" noResize="1" noEditPoints="1" noAdjustHandles="1" noChangeArrowheads="1" noChangeShapeType="1" noTextEdit="1"/>
              </p:cNvSpPr>
              <p:nvPr/>
            </p:nvSpPr>
            <p:spPr>
              <a:xfrm>
                <a:off x="4110038" y="5395913"/>
                <a:ext cx="2238375" cy="276225"/>
              </a:xfrm>
              <a:prstGeom prst="rect">
                <a:avLst/>
              </a:prstGeom>
              <a:blipFill>
                <a:blip r:embed="rId6"/>
                <a:stretch>
                  <a:fillRect l="-817" b="-28889"/>
                </a:stretch>
              </a:blipFill>
              <a:ln w="0">
                <a:noFill/>
              </a:ln>
            </p:spPr>
            <p:txBody>
              <a:bodyPr/>
              <a:lstStyle/>
              <a:p>
                <a:r>
                  <a:rPr lang="de-DE">
                    <a:noFill/>
                  </a:rPr>
                  <a:t> </a:t>
                </a:r>
              </a:p>
            </p:txBody>
          </p:sp>
        </mc:Fallback>
      </mc:AlternateContent>
      <p:sp>
        <p:nvSpPr>
          <p:cNvPr id="33" name="v12-text-8-5">
            <a:extLst>
              <a:ext uri="{FF2B5EF4-FFF2-40B4-BE49-F238E27FC236}">
                <a16:creationId xmlns:a16="http://schemas.microsoft.com/office/drawing/2014/main" id="{F8F69B9C-345C-474B-B52F-582792A7DF6C}"/>
              </a:ext>
            </a:extLst>
          </p:cNvPr>
          <p:cNvSpPr>
            <a:spLocks noGrp="1"/>
          </p:cNvSpPr>
          <p:nvPr/>
        </p:nvSpPr>
        <p:spPr>
          <a:xfrm>
            <a:off x="552450" y="4914900"/>
            <a:ext cx="9353550" cy="304800"/>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Parameter Count pro Layer: </a:t>
            </a:r>
            <a:r>
              <a:rPr sz="1800" b="0">
                <a:solidFill>
                  <a:srgbClr val="444444"/>
                </a:solidFill>
                <a:latin typeface="Calibri"/>
                <a:ea typeface="Calibri"/>
                <a:cs typeface="Calibri"/>
              </a:rPr>
              <a:t>nᵢₙ Inputs, nₒᵤₜ Outputs; Weights + Bias</a:t>
            </a:r>
          </a:p>
        </p:txBody>
      </p:sp>
      <p:sp>
        <p:nvSpPr>
          <p:cNvPr id="44" name="Footer – Seitennummer">
            <a:extLst>
              <a:ext uri="{FF2B5EF4-FFF2-40B4-BE49-F238E27FC236}">
                <a16:creationId xmlns:a16="http://schemas.microsoft.com/office/drawing/2014/main" id="{5D3F5898-183B-471C-BC03-7F1403B9B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16</a:t>
            </a:r>
          </a:p>
        </p:txBody>
      </p:sp>
      <p:sp>
        <p:nvSpPr>
          <p:cNvPr id="45" name="Footer – Präsentationsangaben">
            <a:extLst>
              <a:ext uri="{FF2B5EF4-FFF2-40B4-BE49-F238E27FC236}">
                <a16:creationId xmlns:a16="http://schemas.microsoft.com/office/drawing/2014/main" id="{E1817B57-2EBF-4AF6-A7BB-15C310DCBE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1">
            <a:extLst>
              <a:ext uri="{FF2B5EF4-FFF2-40B4-BE49-F238E27FC236}">
                <a16:creationId xmlns:a16="http://schemas.microsoft.com/office/drawing/2014/main" id="{34A59329-3310-44ED-A659-FCC1A30BB920}"/>
              </a:ext>
            </a:extLst>
          </p:cNvPr>
          <p:cNvSpPr>
            <a:spLocks noGrp="1"/>
          </p:cNvSpPr>
          <p:nvPr/>
        </p:nvSpPr>
        <p:spPr>
          <a:xfrm>
            <a:off x="495300" y="1619250"/>
            <a:ext cx="4705350" cy="2724150"/>
          </a:xfrm>
          <a:prstGeom prst="rect">
            <a:avLst/>
          </a:prstGeom>
          <a:noFill/>
          <a:ln w="28575">
            <a:solidFill>
              <a:srgbClr val="D00020"/>
            </a:solidFill>
          </a:ln>
        </p:spPr>
        <p:txBody>
          <a:bodyPr/>
          <a:lstStyle/>
          <a:p>
            <a:endParaRPr lang="de-DE"/>
          </a:p>
        </p:txBody>
      </p:sp>
      <p:sp>
        <p:nvSpPr>
          <p:cNvPr id="1001" name="BM_process_step_2">
            <a:extLst>
              <a:ext uri="{FF2B5EF4-FFF2-40B4-BE49-F238E27FC236}">
                <a16:creationId xmlns:a16="http://schemas.microsoft.com/office/drawing/2014/main" id="{7C3148B1-2A03-43C1-A99F-BC5451793150}"/>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1. Datenauswahl und Feature Engineering</a:t>
            </a:r>
          </a:p>
        </p:txBody>
      </p:sp>
      <p:sp>
        <p:nvSpPr>
          <p:cNvPr id="1002" name="BM_process_explanation_0_3">
            <a:extLst>
              <a:ext uri="{FF2B5EF4-FFF2-40B4-BE49-F238E27FC236}">
                <a16:creationId xmlns:a16="http://schemas.microsoft.com/office/drawing/2014/main" id="{A4C6D6D3-81D7-489C-80A9-557D22029CED}"/>
              </a:ext>
            </a:extLst>
          </p:cNvPr>
          <p:cNvSpPr>
            <a:spLocks noGrp="1"/>
          </p:cNvSpPr>
          <p:nvPr/>
        </p:nvSpPr>
        <p:spPr>
          <a:xfrm>
            <a:off x="552450" y="4972050"/>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Daten: </a:t>
            </a:r>
            <a:r>
              <a:t>Sechs unabhängige LFP-Testzellen mit 16 repräsentativen Zell-/SOH-Fenstern</a:t>
            </a:r>
          </a:p>
        </p:txBody>
      </p:sp>
      <p:sp>
        <p:nvSpPr>
          <p:cNvPr id="1003" name="BM_process_explanation_1_4">
            <a:extLst>
              <a:ext uri="{FF2B5EF4-FFF2-40B4-BE49-F238E27FC236}">
                <a16:creationId xmlns:a16="http://schemas.microsoft.com/office/drawing/2014/main" id="{FDF3C44F-2791-4598-BAA9-26AB54D9E9FA}"/>
              </a:ext>
            </a:extLst>
          </p:cNvPr>
          <p:cNvSpPr>
            <a:spLocks noGrp="1"/>
          </p:cNvSpPr>
          <p:nvPr/>
        </p:nvSpPr>
        <p:spPr>
          <a:xfrm>
            <a:off x="552450" y="5381625"/>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Features: </a:t>
            </a:r>
            <a:r>
              <a:t>Ergänzung von U, I und T um kausal berechnete Größen wie Qc, EFC und Ableitungen</a:t>
            </a:r>
          </a:p>
        </p:txBody>
      </p:sp>
      <p:sp>
        <p:nvSpPr>
          <p:cNvPr id="1004" name="Footer – Seitennummer">
            <a:extLst>
              <a:ext uri="{FF2B5EF4-FFF2-40B4-BE49-F238E27FC236}">
                <a16:creationId xmlns:a16="http://schemas.microsoft.com/office/drawing/2014/main" id="{EB8D88B3-04A1-4068-8ACC-4DE4E7590B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17</a:t>
            </a:r>
          </a:p>
        </p:txBody>
      </p:sp>
      <p:sp>
        <p:nvSpPr>
          <p:cNvPr id="1005" name="Footer – Präsentationsangaben">
            <a:extLst>
              <a:ext uri="{FF2B5EF4-FFF2-40B4-BE49-F238E27FC236}">
                <a16:creationId xmlns:a16="http://schemas.microsoft.com/office/drawing/2014/main" id="{108BDD19-FC33-43A3-95AA-4A4F9022F5D6}"/>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5">
            <a:extLst>
              <a:ext uri="{FF2B5EF4-FFF2-40B4-BE49-F238E27FC236}">
                <a16:creationId xmlns:a16="http://schemas.microsoft.com/office/drawing/2014/main" id="{DDF05013-C3C1-44BF-8ABB-C1891B8D370E}"/>
              </a:ext>
            </a:extLst>
          </p:cNvPr>
          <p:cNvSpPr>
            <a:spLocks noGrp="1"/>
          </p:cNvSpPr>
          <p:nvPr/>
        </p:nvSpPr>
        <p:spPr>
          <a:xfrm>
            <a:off x="5429250" y="1619250"/>
            <a:ext cx="2171700" cy="2724150"/>
          </a:xfrm>
          <a:prstGeom prst="rect">
            <a:avLst/>
          </a:prstGeom>
          <a:noFill/>
          <a:ln w="28575">
            <a:solidFill>
              <a:srgbClr val="D00020"/>
            </a:solidFill>
          </a:ln>
        </p:spPr>
        <p:txBody>
          <a:bodyPr/>
          <a:lstStyle/>
          <a:p>
            <a:endParaRPr lang="de-DE"/>
          </a:p>
        </p:txBody>
      </p:sp>
      <p:sp>
        <p:nvSpPr>
          <p:cNvPr id="1001" name="BM_process_step_6">
            <a:extLst>
              <a:ext uri="{FF2B5EF4-FFF2-40B4-BE49-F238E27FC236}">
                <a16:creationId xmlns:a16="http://schemas.microsoft.com/office/drawing/2014/main" id="{2B8FCF67-0A1F-4A6E-BF11-265447E9E72C}"/>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2. Vier Modelle aus drei Grundfamilien</a:t>
            </a:r>
          </a:p>
        </p:txBody>
      </p:sp>
      <p:sp>
        <p:nvSpPr>
          <p:cNvPr id="1002" name="BM_process_explanation_0_7">
            <a:extLst>
              <a:ext uri="{FF2B5EF4-FFF2-40B4-BE49-F238E27FC236}">
                <a16:creationId xmlns:a16="http://schemas.microsoft.com/office/drawing/2014/main" id="{E31A1FDC-138F-4013-A552-09E35E4A5465}"/>
              </a:ext>
            </a:extLst>
          </p:cNvPr>
          <p:cNvSpPr>
            <a:spLocks noGrp="1"/>
          </p:cNvSpPr>
          <p:nvPr/>
        </p:nvSpPr>
        <p:spPr>
          <a:xfrm>
            <a:off x="552450" y="4972050"/>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Familien: </a:t>
            </a:r>
            <a:r>
              <a:t>Direct Measurement (DM, HDM), Model-Based (HECM) und Data-Driven (DD)</a:t>
            </a:r>
          </a:p>
        </p:txBody>
      </p:sp>
      <p:sp>
        <p:nvSpPr>
          <p:cNvPr id="1003" name="BM_process_explanation_1_8">
            <a:extLst>
              <a:ext uri="{FF2B5EF4-FFF2-40B4-BE49-F238E27FC236}">
                <a16:creationId xmlns:a16="http://schemas.microsoft.com/office/drawing/2014/main" id="{996D7BC2-384A-4E30-AA4D-F0A3385767E9}"/>
              </a:ext>
            </a:extLst>
          </p:cNvPr>
          <p:cNvSpPr>
            <a:spLocks noGrp="1"/>
          </p:cNvSpPr>
          <p:nvPr/>
        </p:nvSpPr>
        <p:spPr>
          <a:xfrm>
            <a:off x="552450" y="5381625"/>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Hybride Ansätze: </a:t>
            </a:r>
            <a:r>
              <a:t>Ergänzung der SOC-Kerne von HDM und HECM um einen datengetriebenen SOH-Kontext</a:t>
            </a:r>
          </a:p>
        </p:txBody>
      </p:sp>
      <p:sp>
        <p:nvSpPr>
          <p:cNvPr id="1004" name="Footer – Seitennummer">
            <a:extLst>
              <a:ext uri="{FF2B5EF4-FFF2-40B4-BE49-F238E27FC236}">
                <a16:creationId xmlns:a16="http://schemas.microsoft.com/office/drawing/2014/main" id="{82B74D18-7E72-409F-AD42-6F305B550C2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18</a:t>
            </a:r>
          </a:p>
        </p:txBody>
      </p:sp>
      <p:sp>
        <p:nvSpPr>
          <p:cNvPr id="1005" name="Footer – Präsentationsangaben">
            <a:extLst>
              <a:ext uri="{FF2B5EF4-FFF2-40B4-BE49-F238E27FC236}">
                <a16:creationId xmlns:a16="http://schemas.microsoft.com/office/drawing/2014/main" id="{7F7021C6-CDC1-4F90-BE5F-8B9872FA72D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9">
            <a:extLst>
              <a:ext uri="{FF2B5EF4-FFF2-40B4-BE49-F238E27FC236}">
                <a16:creationId xmlns:a16="http://schemas.microsoft.com/office/drawing/2014/main" id="{CE69BB44-5618-4DF6-9F5B-D8D9B4292DE2}"/>
              </a:ext>
            </a:extLst>
          </p:cNvPr>
          <p:cNvSpPr>
            <a:spLocks noGrp="1"/>
          </p:cNvSpPr>
          <p:nvPr/>
        </p:nvSpPr>
        <p:spPr>
          <a:xfrm>
            <a:off x="7839075" y="1619250"/>
            <a:ext cx="2162175" cy="2724150"/>
          </a:xfrm>
          <a:prstGeom prst="rect">
            <a:avLst/>
          </a:prstGeom>
          <a:noFill/>
          <a:ln w="28575">
            <a:solidFill>
              <a:srgbClr val="D00020"/>
            </a:solidFill>
          </a:ln>
        </p:spPr>
        <p:txBody>
          <a:bodyPr/>
          <a:lstStyle/>
          <a:p>
            <a:endParaRPr lang="de-DE"/>
          </a:p>
        </p:txBody>
      </p:sp>
      <p:sp>
        <p:nvSpPr>
          <p:cNvPr id="1001" name="BM_process_step_10">
            <a:extLst>
              <a:ext uri="{FF2B5EF4-FFF2-40B4-BE49-F238E27FC236}">
                <a16:creationId xmlns:a16="http://schemas.microsoft.com/office/drawing/2014/main" id="{6059E4EF-06CB-4AA2-84F1-2FCCD46537E9}"/>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3. Drei Gruppen von Disturbance Scenarios</a:t>
            </a:r>
          </a:p>
        </p:txBody>
      </p:sp>
      <p:sp>
        <p:nvSpPr>
          <p:cNvPr id="1002" name="BM_process_explanation_0_11">
            <a:extLst>
              <a:ext uri="{FF2B5EF4-FFF2-40B4-BE49-F238E27FC236}">
                <a16:creationId xmlns:a16="http://schemas.microsoft.com/office/drawing/2014/main" id="{2C4F520D-DD71-4700-BE1B-C5B20166CDDA}"/>
              </a:ext>
            </a:extLst>
          </p:cNvPr>
          <p:cNvSpPr>
            <a:spLocks noGrp="1"/>
          </p:cNvSpPr>
          <p:nvPr/>
        </p:nvSpPr>
        <p:spPr>
          <a:xfrm>
            <a:off x="552450" y="497205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Input Disturbances: </a:t>
            </a:r>
            <a:r>
              <a:t>Gain, Offset, Noise, Spikes und ADC-Quantisierung</a:t>
            </a:r>
          </a:p>
        </p:txBody>
      </p:sp>
      <p:sp>
        <p:nvSpPr>
          <p:cNvPr id="1003" name="BM_process_explanation_1_12">
            <a:extLst>
              <a:ext uri="{FF2B5EF4-FFF2-40B4-BE49-F238E27FC236}">
                <a16:creationId xmlns:a16="http://schemas.microsoft.com/office/drawing/2014/main" id="{4B58263B-123A-42B6-A01F-B9D33E838E99}"/>
              </a:ext>
            </a:extLst>
          </p:cNvPr>
          <p:cNvSpPr>
            <a:spLocks noGrp="1"/>
          </p:cNvSpPr>
          <p:nvPr/>
        </p:nvSpPr>
        <p:spPr>
          <a:xfrm>
            <a:off x="552450" y="525780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Initialization Errors: </a:t>
            </a:r>
            <a:r>
              <a:t>Fehler im SOC-Startzustand</a:t>
            </a:r>
          </a:p>
        </p:txBody>
      </p:sp>
      <p:sp>
        <p:nvSpPr>
          <p:cNvPr id="1004" name="BM_process_explanation_2_13">
            <a:extLst>
              <a:ext uri="{FF2B5EF4-FFF2-40B4-BE49-F238E27FC236}">
                <a16:creationId xmlns:a16="http://schemas.microsoft.com/office/drawing/2014/main" id="{52F9856A-6D3B-4544-BCB5-D1A3F7D96E8D}"/>
              </a:ext>
            </a:extLst>
          </p:cNvPr>
          <p:cNvSpPr>
            <a:spLocks noGrp="1"/>
          </p:cNvSpPr>
          <p:nvPr/>
        </p:nvSpPr>
        <p:spPr>
          <a:xfrm>
            <a:off x="552450" y="554355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Signal-Integrity Faults: </a:t>
            </a:r>
            <a:r>
              <a:t>Sample Loss, Dropout und Timing Jitter</a:t>
            </a:r>
          </a:p>
        </p:txBody>
      </p:sp>
      <p:sp>
        <p:nvSpPr>
          <p:cNvPr id="1005" name="Footer – Seitennummer">
            <a:extLst>
              <a:ext uri="{FF2B5EF4-FFF2-40B4-BE49-F238E27FC236}">
                <a16:creationId xmlns:a16="http://schemas.microsoft.com/office/drawing/2014/main" id="{BB6FB7E7-A5AC-49B0-BE91-EAB4E9770C4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19</a:t>
            </a:r>
          </a:p>
        </p:txBody>
      </p:sp>
      <p:sp>
        <p:nvSpPr>
          <p:cNvPr id="1006" name="Footer – Präsentationsangaben">
            <a:extLst>
              <a:ext uri="{FF2B5EF4-FFF2-40B4-BE49-F238E27FC236}">
                <a16:creationId xmlns:a16="http://schemas.microsoft.com/office/drawing/2014/main" id="{C37C7A6F-F253-47F8-8388-7FB4B415416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Flash- und RAM-Bedarf der SOC-Verfahren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4FFBDB5B-EF21-44E3-9122-6033D1CE83DE}"/>
              </a:ext>
            </a:extLst>
          </p:cNvPr>
          <p:cNvSpPr>
            <a:spLocks noGrp="1"/>
          </p:cNvSpPr>
          <p:nvPr/>
        </p:nvSpPr>
        <p:spPr>
          <a:xfrm>
            <a:off x="552450" y="493395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Hoher Flash-Bedarf durch Parameter- und OCV-Kennfelder</a:t>
            </a:r>
          </a:p>
        </p:txBody>
      </p:sp>
      <p:sp>
        <p:nvSpPr>
          <p:cNvPr id="13" name="V5_Text_13">
            <a:extLst>
              <a:ext uri="{FF2B5EF4-FFF2-40B4-BE49-F238E27FC236}">
                <a16:creationId xmlns:a16="http://schemas.microsoft.com/office/drawing/2014/main" id="{739728C6-1D87-4F11-A222-91728605352C}"/>
              </a:ext>
            </a:extLst>
          </p:cNvPr>
          <p:cNvSpPr>
            <a:spLocks noGrp="1"/>
          </p:cNvSpPr>
          <p:nvPr/>
        </p:nvSpPr>
        <p:spPr>
          <a:xfrm>
            <a:off x="552450" y="5286375"/>
            <a:ext cx="9391650" cy="628650"/>
          </a:xfrm>
          <a:prstGeom prst="rect">
            <a:avLst/>
          </a:prstGeom>
          <a:noFill/>
          <a:ln w="0">
            <a:noFill/>
          </a:ln>
        </p:spPr>
        <p:txBody>
          <a:bodyPr vert="horz"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DD mit Continuous State: Rund 1 700× schneller</a:t>
            </a:r>
          </a:p>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und 94 % weniger RAM als Rolling Window</a:t>
            </a:r>
          </a:p>
        </p:txBody>
      </p:sp>
      <p:pic>
        <p:nvPicPr>
          <p:cNvPr id="31" name="V5_Figure_11"/>
          <p:cNvPicPr>
            <a:picLocks noChangeAspect="1"/>
          </p:cNvPicPr>
          <p:nvPr/>
        </p:nvPicPr>
        <p:blipFill>
          <a:blip r:embed="rId3"/>
          <a:stretch/>
        </p:blipFill>
        <p:spPr>
          <a:xfrm>
            <a:off x="1605808" y="1419225"/>
            <a:ext cx="7246834" cy="3028950"/>
          </a:xfrm>
          <a:prstGeom prst="rect">
            <a:avLst/>
          </a:prstGeom>
        </p:spPr>
      </p:pic>
      <p:sp>
        <p:nvSpPr>
          <p:cNvPr id="16" name="Structure separator">
            <a:extLst>
              <a:ext uri="{FF2B5EF4-FFF2-40B4-BE49-F238E27FC236}">
                <a16:creationId xmlns:a16="http://schemas.microsoft.com/office/drawing/2014/main" id="{2BB459C4-0A3A-41A8-847F-2C34FBF077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627503-561B-4DD3-83F9-D4DC40884BC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6FC14A9D-96CA-4287-9854-865D452796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F0E50906-092B-40E6-8298-198BE183BFC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E1272A1C-E903-44B1-A0C0-EA9A4E08BE3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BC85B164-AD0D-4CC4-AE93-E9ED9AE4A8D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2BEB0F9B-A834-4AC0-91ED-5224B759C6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D795E694-5C8F-4116-A220-39902717152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00" name="IR_scalar_memory">
            <a:extLst>
              <a:ext uri="{FF2B5EF4-FFF2-40B4-BE49-F238E27FC236}">
                <a16:creationId xmlns:a16="http://schemas.microsoft.com/office/drawing/2014/main" id="{EC3F42B2-6123-4F9D-A400-27D12D67E053}"/>
              </a:ext>
            </a:extLst>
          </p:cNvPr>
          <p:cNvSpPr>
            <a:spLocks noGrp="1"/>
          </p:cNvSpPr>
          <p:nvPr/>
        </p:nvSpPr>
        <p:spPr>
          <a:xfrm>
            <a:off x="552450" y="45815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Geringer Speicherbedarf durch wenige skalare Zustandsgrößen</a:t>
            </a:r>
          </a:p>
        </p:txBody>
      </p:sp>
      <p:sp>
        <p:nvSpPr>
          <p:cNvPr id="3001" name="Footer – Seitennummer">
            <a:extLst>
              <a:ext uri="{FF2B5EF4-FFF2-40B4-BE49-F238E27FC236}">
                <a16:creationId xmlns:a16="http://schemas.microsoft.com/office/drawing/2014/main" id="{AE56853D-E2CD-42C7-8A55-D4729272A27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20</a:t>
            </a:r>
          </a:p>
        </p:txBody>
      </p:sp>
      <p:sp>
        <p:nvSpPr>
          <p:cNvPr id="3002" name="Footer – Präsentationsangaben">
            <a:extLst>
              <a:ext uri="{FF2B5EF4-FFF2-40B4-BE49-F238E27FC236}">
                <a16:creationId xmlns:a16="http://schemas.microsoft.com/office/drawing/2014/main" id="{47EBA913-7826-4FC9-B356-7ED9F0557C2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2340655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(1/9)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
            <a:extLst>
              <a:ext uri="{FF2B5EF4-FFF2-40B4-BE49-F238E27FC236}">
                <a16:creationId xmlns:a16="http://schemas.microsoft.com/office/drawing/2014/main" id="{3437C301-2A1D-4563-AD3C-70E294390BDD}"/>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a:t>
            </a:r>
          </a:p>
        </p:txBody>
      </p:sp>
      <p:sp>
        <p:nvSpPr>
          <p:cNvPr id="41" name="Quelle 1 author">
            <a:extLst>
              <a:ext uri="{FF2B5EF4-FFF2-40B4-BE49-F238E27FC236}">
                <a16:creationId xmlns:a16="http://schemas.microsoft.com/office/drawing/2014/main" id="{36C8BF2B-81C9-422A-8DC0-3012B0AC3AF4}"/>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MG-FARM-Konsortium</a:t>
            </a:r>
          </a:p>
        </p:txBody>
      </p:sp>
      <p:sp>
        <p:nvSpPr>
          <p:cNvPr id="42" name="Quelle 1 title">
            <a:extLst>
              <a:ext uri="{FF2B5EF4-FFF2-40B4-BE49-F238E27FC236}">
                <a16:creationId xmlns:a16="http://schemas.microsoft.com/office/drawing/2014/main" id="{FDB89969-B8A3-4CC3-B332-31A63E167B23}"/>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Projektbericht: Projektübersicht (Abbildung)</a:t>
            </a:r>
          </a:p>
        </p:txBody>
      </p:sp>
      <p:sp>
        <p:nvSpPr>
          <p:cNvPr id="43" name="Quelle 1 pub">
            <a:extLst>
              <a:ext uri="{FF2B5EF4-FFF2-40B4-BE49-F238E27FC236}">
                <a16:creationId xmlns:a16="http://schemas.microsoft.com/office/drawing/2014/main" id="{905B78D2-D03F-48B6-BB48-090FEEA3E0CA}"/>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Bildquelle laut Verfasser; genaue Berichtsangabe nicht vorliegend.</a:t>
            </a:r>
          </a:p>
        </p:txBody>
      </p:sp>
      <p:sp>
        <p:nvSpPr>
          <p:cNvPr id="44" name="Quellennummer 2">
            <a:extLst>
              <a:ext uri="{FF2B5EF4-FFF2-40B4-BE49-F238E27FC236}">
                <a16:creationId xmlns:a16="http://schemas.microsoft.com/office/drawing/2014/main" id="{27FDF1B1-E706-419B-B3E8-CDE18FFE6E6E}"/>
              </a:ext>
            </a:extLst>
          </p:cNvPr>
          <p:cNvSpPr>
            <a:spLocks noGrp="1"/>
          </p:cNvSpPr>
          <p:nvPr/>
        </p:nvSpPr>
        <p:spPr>
          <a:xfrm>
            <a:off x="552450" y="24098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45" name="Quelle 2 author">
            <a:extLst>
              <a:ext uri="{FF2B5EF4-FFF2-40B4-BE49-F238E27FC236}">
                <a16:creationId xmlns:a16="http://schemas.microsoft.com/office/drawing/2014/main" id="{E81E9F0F-EEE8-4679-9F55-31F58E32867F}"/>
              </a:ext>
            </a:extLst>
          </p:cNvPr>
          <p:cNvSpPr>
            <a:spLocks noGrp="1"/>
          </p:cNvSpPr>
          <p:nvPr/>
        </p:nvSpPr>
        <p:spPr>
          <a:xfrm>
            <a:off x="1162050" y="24098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Kim et al. (2018)</a:t>
            </a:r>
          </a:p>
        </p:txBody>
      </p:sp>
      <p:sp>
        <p:nvSpPr>
          <p:cNvPr id="46" name="Quelle 2 title">
            <a:extLst>
              <a:ext uri="{FF2B5EF4-FFF2-40B4-BE49-F238E27FC236}">
                <a16:creationId xmlns:a16="http://schemas.microsoft.com/office/drawing/2014/main" id="{81A7C9B9-3C9F-45A3-9894-B6F81427BD85}"/>
              </a:ext>
            </a:extLst>
          </p:cNvPr>
          <p:cNvSpPr>
            <a:spLocks noGrp="1"/>
          </p:cNvSpPr>
          <p:nvPr/>
        </p:nvSpPr>
        <p:spPr>
          <a:xfrm>
            <a:off x="1162050" y="266700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Estimation of Li-ion Battery State of Health Based on Multilayer Perceptron: As an EV</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Application</a:t>
            </a:r>
          </a:p>
        </p:txBody>
      </p:sp>
      <p:sp>
        <p:nvSpPr>
          <p:cNvPr id="47" name="Quelle 2 pub">
            <a:extLst>
              <a:ext uri="{FF2B5EF4-FFF2-40B4-BE49-F238E27FC236}">
                <a16:creationId xmlns:a16="http://schemas.microsoft.com/office/drawing/2014/main" id="{528D5EEC-9F59-4340-ACBD-A5973C71C1A7}"/>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IFAC-PapersOnLine 51(28), 392–397.</a:t>
            </a:r>
          </a:p>
        </p:txBody>
      </p:sp>
      <p:sp>
        <p:nvSpPr>
          <p:cNvPr id="48" name="Quelle 2 link">
            <a:extLst>
              <a:ext uri="{FF2B5EF4-FFF2-40B4-BE49-F238E27FC236}">
                <a16:creationId xmlns:a16="http://schemas.microsoft.com/office/drawing/2014/main" id="{F34BDF76-159F-4636-AE34-6E835AD0C1C7}"/>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10.1016/j.ifacol.2018.11.734</a:t>
            </a:r>
          </a:p>
        </p:txBody>
      </p:sp>
      <p:sp>
        <p:nvSpPr>
          <p:cNvPr id="49" name="Quellennummer 3">
            <a:extLst>
              <a:ext uri="{FF2B5EF4-FFF2-40B4-BE49-F238E27FC236}">
                <a16:creationId xmlns:a16="http://schemas.microsoft.com/office/drawing/2014/main" id="{54DF8053-F8C7-4B30-9074-DF3918CFAA4D}"/>
              </a:ext>
            </a:extLst>
          </p:cNvPr>
          <p:cNvSpPr>
            <a:spLocks noGrp="1"/>
          </p:cNvSpPr>
          <p:nvPr/>
        </p:nvSpPr>
        <p:spPr>
          <a:xfrm>
            <a:off x="552450" y="39052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[3]</a:t>
            </a:r>
          </a:p>
        </p:txBody>
      </p:sp>
      <p:sp>
        <p:nvSpPr>
          <p:cNvPr id="50" name="Quelle 3 author">
            <a:extLst>
              <a:ext uri="{FF2B5EF4-FFF2-40B4-BE49-F238E27FC236}">
                <a16:creationId xmlns:a16="http://schemas.microsoft.com/office/drawing/2014/main" id="{B1EBC6CF-8713-4BBD-BFA7-86DE4D73C636}"/>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H. Chaoui, C. C. Ibe-Ekeocha und H. Gualous (2017)</a:t>
            </a:r>
          </a:p>
        </p:txBody>
      </p:sp>
      <p:sp>
        <p:nvSpPr>
          <p:cNvPr id="51" name="Quelle 3 title">
            <a:extLst>
              <a:ext uri="{FF2B5EF4-FFF2-40B4-BE49-F238E27FC236}">
                <a16:creationId xmlns:a16="http://schemas.microsoft.com/office/drawing/2014/main" id="{822636D4-4237-4523-8B0B-2052AD298400}"/>
              </a:ext>
            </a:extLst>
          </p:cNvPr>
          <p:cNvSpPr>
            <a:spLocks noGrp="1"/>
          </p:cNvSpPr>
          <p:nvPr/>
        </p:nvSpPr>
        <p:spPr>
          <a:xfrm>
            <a:off x="1162050" y="41624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Aging Prediction and State of Charge Estimation of a LiFePO4 Battery Using Input Time-Delayed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Networks</a:t>
            </a:r>
          </a:p>
        </p:txBody>
      </p:sp>
      <p:sp>
        <p:nvSpPr>
          <p:cNvPr id="52" name="Quelle 3 pub">
            <a:extLst>
              <a:ext uri="{FF2B5EF4-FFF2-40B4-BE49-F238E27FC236}">
                <a16:creationId xmlns:a16="http://schemas.microsoft.com/office/drawing/2014/main" id="{D25D9E68-B63A-456B-BE51-6A46086CBB84}"/>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Electric Power Systems Research 146, 189–197.</a:t>
            </a:r>
          </a:p>
        </p:txBody>
      </p:sp>
      <p:sp>
        <p:nvSpPr>
          <p:cNvPr id="53" name="Quelle 3 link">
            <a:extLst>
              <a:ext uri="{FF2B5EF4-FFF2-40B4-BE49-F238E27FC236}">
                <a16:creationId xmlns:a16="http://schemas.microsoft.com/office/drawing/2014/main" id="{0ECA1092-ABF6-4579-83E2-17BEE192E803}"/>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10.1016/j.epsr.2017.01.032</a:t>
            </a:r>
          </a:p>
        </p:txBody>
      </p:sp>
      <p:sp>
        <p:nvSpPr>
          <p:cNvPr id="54" name="Footer – Seitennummer">
            <a:extLst>
              <a:ext uri="{FF2B5EF4-FFF2-40B4-BE49-F238E27FC236}">
                <a16:creationId xmlns:a16="http://schemas.microsoft.com/office/drawing/2014/main" id="{37E62823-22E1-464D-9236-3F183F7B7EE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1 / 9</a:t>
            </a:r>
          </a:p>
        </p:txBody>
      </p:sp>
      <p:sp>
        <p:nvSpPr>
          <p:cNvPr id="55" name="Footer – Präsentationsangaben">
            <a:extLst>
              <a:ext uri="{FF2B5EF4-FFF2-40B4-BE49-F238E27FC236}">
                <a16:creationId xmlns:a16="http://schemas.microsoft.com/office/drawing/2014/main" id="{A961C8AE-610D-4050-8681-2A77FB55FA1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(2/9)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4">
            <a:extLst>
              <a:ext uri="{FF2B5EF4-FFF2-40B4-BE49-F238E27FC236}">
                <a16:creationId xmlns:a16="http://schemas.microsoft.com/office/drawing/2014/main" id="{2FA9E148-4669-4749-9EE0-A616F8548D50}"/>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[4]</a:t>
            </a:r>
          </a:p>
        </p:txBody>
      </p:sp>
      <p:sp>
        <p:nvSpPr>
          <p:cNvPr id="41" name="Quelle 4 author">
            <a:extLst>
              <a:ext uri="{FF2B5EF4-FFF2-40B4-BE49-F238E27FC236}">
                <a16:creationId xmlns:a16="http://schemas.microsoft.com/office/drawing/2014/main" id="{9D77ED31-2AC5-45E0-A60F-60474D03F17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Li et al. (2021)</a:t>
            </a:r>
          </a:p>
        </p:txBody>
      </p:sp>
      <p:sp>
        <p:nvSpPr>
          <p:cNvPr id="42" name="Quelle 4 title">
            <a:extLst>
              <a:ext uri="{FF2B5EF4-FFF2-40B4-BE49-F238E27FC236}">
                <a16:creationId xmlns:a16="http://schemas.microsoft.com/office/drawing/2014/main" id="{3117A1BF-58D3-4B5E-A6FE-E34EFACA6F1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Online Capacity Estimation of Lithium-Ion Batteries with Deep Long Short-Term Memory</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Networks</a:t>
            </a:r>
          </a:p>
        </p:txBody>
      </p:sp>
      <p:sp>
        <p:nvSpPr>
          <p:cNvPr id="43" name="Quelle 4 pub">
            <a:extLst>
              <a:ext uri="{FF2B5EF4-FFF2-40B4-BE49-F238E27FC236}">
                <a16:creationId xmlns:a16="http://schemas.microsoft.com/office/drawing/2014/main" id="{0E1DCF64-F29D-419C-974A-57CDFB19F02B}"/>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Power Sources 482, 228863.</a:t>
            </a:r>
          </a:p>
        </p:txBody>
      </p:sp>
      <p:sp>
        <p:nvSpPr>
          <p:cNvPr id="44" name="Quelle 4 link">
            <a:extLst>
              <a:ext uri="{FF2B5EF4-FFF2-40B4-BE49-F238E27FC236}">
                <a16:creationId xmlns:a16="http://schemas.microsoft.com/office/drawing/2014/main" id="{64E8FE90-BD05-46C6-ADF4-F1AF1963E537}"/>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10.1016/j.jpowsour.2020.228863</a:t>
            </a:r>
          </a:p>
        </p:txBody>
      </p:sp>
      <p:sp>
        <p:nvSpPr>
          <p:cNvPr id="45" name="Quellennummer 5">
            <a:extLst>
              <a:ext uri="{FF2B5EF4-FFF2-40B4-BE49-F238E27FC236}">
                <a16:creationId xmlns:a16="http://schemas.microsoft.com/office/drawing/2014/main" id="{975C51F3-19BE-4FCF-A0FC-B18361CB1A10}"/>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[5]</a:t>
            </a:r>
          </a:p>
        </p:txBody>
      </p:sp>
      <p:sp>
        <p:nvSpPr>
          <p:cNvPr id="46" name="Quelle 5 author">
            <a:extLst>
              <a:ext uri="{FF2B5EF4-FFF2-40B4-BE49-F238E27FC236}">
                <a16:creationId xmlns:a16="http://schemas.microsoft.com/office/drawing/2014/main" id="{9B107F74-EF1A-45F5-A49B-0859A4BBA5B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X. Li et al. (2015)</a:t>
            </a:r>
          </a:p>
        </p:txBody>
      </p:sp>
      <p:sp>
        <p:nvSpPr>
          <p:cNvPr id="47" name="Quelle 5 title">
            <a:extLst>
              <a:ext uri="{FF2B5EF4-FFF2-40B4-BE49-F238E27FC236}">
                <a16:creationId xmlns:a16="http://schemas.microsoft.com/office/drawing/2014/main" id="{309946BB-5E28-46AE-A4B0-35E28F517385}"/>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Robustness of SOC Estimation Algorithms for EV Lithium-Ion Batteries against Modeling Errors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and Measurement Noise</a:t>
            </a:r>
          </a:p>
        </p:txBody>
      </p:sp>
      <p:sp>
        <p:nvSpPr>
          <p:cNvPr id="48" name="Quelle 5 pub">
            <a:extLst>
              <a:ext uri="{FF2B5EF4-FFF2-40B4-BE49-F238E27FC236}">
                <a16:creationId xmlns:a16="http://schemas.microsoft.com/office/drawing/2014/main" id="{7926F4A7-C636-4D8A-95F4-8CA7D729553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Mathematical Problems in Engineering, Artikel 719490.</a:t>
            </a:r>
          </a:p>
        </p:txBody>
      </p:sp>
      <p:sp>
        <p:nvSpPr>
          <p:cNvPr id="49" name="Quelle 5 link">
            <a:extLst>
              <a:ext uri="{FF2B5EF4-FFF2-40B4-BE49-F238E27FC236}">
                <a16:creationId xmlns:a16="http://schemas.microsoft.com/office/drawing/2014/main" id="{47EE1BBF-6A42-45A8-B87E-0415D01C38B4}"/>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10.1155/2015/719490</a:t>
            </a:r>
          </a:p>
        </p:txBody>
      </p:sp>
      <p:sp>
        <p:nvSpPr>
          <p:cNvPr id="50" name="Quellennummer 6">
            <a:extLst>
              <a:ext uri="{FF2B5EF4-FFF2-40B4-BE49-F238E27FC236}">
                <a16:creationId xmlns:a16="http://schemas.microsoft.com/office/drawing/2014/main" id="{3947FEEE-59EB-4DCA-94C2-E3A43991466E}"/>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[6]</a:t>
            </a:r>
          </a:p>
        </p:txBody>
      </p:sp>
      <p:sp>
        <p:nvSpPr>
          <p:cNvPr id="51" name="Quelle 6 author">
            <a:extLst>
              <a:ext uri="{FF2B5EF4-FFF2-40B4-BE49-F238E27FC236}">
                <a16:creationId xmlns:a16="http://schemas.microsoft.com/office/drawing/2014/main" id="{3DCD3635-1742-42C5-BB75-C8EC03AA41DC}"/>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Berger et al. (2024)</a:t>
            </a:r>
          </a:p>
        </p:txBody>
      </p:sp>
      <p:sp>
        <p:nvSpPr>
          <p:cNvPr id="52" name="Quelle 6 title">
            <a:extLst>
              <a:ext uri="{FF2B5EF4-FFF2-40B4-BE49-F238E27FC236}">
                <a16:creationId xmlns:a16="http://schemas.microsoft.com/office/drawing/2014/main" id="{315712C0-8B04-45C7-87DC-F59323EB27A3}"/>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Benchmarking Battery Management System Algorithms – Requirements, Scenarios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Validation for Automotive Applications</a:t>
            </a:r>
          </a:p>
        </p:txBody>
      </p:sp>
      <p:sp>
        <p:nvSpPr>
          <p:cNvPr id="53" name="Quelle 6 pub">
            <a:extLst>
              <a:ext uri="{FF2B5EF4-FFF2-40B4-BE49-F238E27FC236}">
                <a16:creationId xmlns:a16="http://schemas.microsoft.com/office/drawing/2014/main" id="{6DE3A453-2FD1-415B-B46F-806E11953B22}"/>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eTransportation 22, 100355.</a:t>
            </a:r>
          </a:p>
        </p:txBody>
      </p:sp>
      <p:sp>
        <p:nvSpPr>
          <p:cNvPr id="54" name="Quelle 6 link">
            <a:extLst>
              <a:ext uri="{FF2B5EF4-FFF2-40B4-BE49-F238E27FC236}">
                <a16:creationId xmlns:a16="http://schemas.microsoft.com/office/drawing/2014/main" id="{37463B0D-4D02-40F7-9BCC-EEE4A0EC134F}"/>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10.1016/j.etran.2024.100355</a:t>
            </a:r>
          </a:p>
        </p:txBody>
      </p:sp>
      <p:sp>
        <p:nvSpPr>
          <p:cNvPr id="55" name="Footer – Seitennummer">
            <a:extLst>
              <a:ext uri="{FF2B5EF4-FFF2-40B4-BE49-F238E27FC236}">
                <a16:creationId xmlns:a16="http://schemas.microsoft.com/office/drawing/2014/main" id="{FEF10D23-0D0C-4FF5-AE6C-39532842E96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2 / 9</a:t>
            </a:r>
          </a:p>
        </p:txBody>
      </p:sp>
      <p:sp>
        <p:nvSpPr>
          <p:cNvPr id="56" name="Footer – Präsentationsangaben">
            <a:extLst>
              <a:ext uri="{FF2B5EF4-FFF2-40B4-BE49-F238E27FC236}">
                <a16:creationId xmlns:a16="http://schemas.microsoft.com/office/drawing/2014/main" id="{21D1E6C7-56D7-49F7-A35E-F9E5E82871D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(3/9)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7">
            <a:extLst>
              <a:ext uri="{FF2B5EF4-FFF2-40B4-BE49-F238E27FC236}">
                <a16:creationId xmlns:a16="http://schemas.microsoft.com/office/drawing/2014/main" id="{23EB343A-A6AE-4A43-BD01-3B6DFD88AF1A}"/>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[7]</a:t>
            </a:r>
          </a:p>
        </p:txBody>
      </p:sp>
      <p:sp>
        <p:nvSpPr>
          <p:cNvPr id="41" name="Quelle 7 author">
            <a:extLst>
              <a:ext uri="{FF2B5EF4-FFF2-40B4-BE49-F238E27FC236}">
                <a16:creationId xmlns:a16="http://schemas.microsoft.com/office/drawing/2014/main" id="{1B70D698-9082-4A5E-A05D-DB3305AE470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O. Aiello (2020)</a:t>
            </a:r>
          </a:p>
        </p:txBody>
      </p:sp>
      <p:sp>
        <p:nvSpPr>
          <p:cNvPr id="42" name="Quelle 7 title">
            <a:extLst>
              <a:ext uri="{FF2B5EF4-FFF2-40B4-BE49-F238E27FC236}">
                <a16:creationId xmlns:a16="http://schemas.microsoft.com/office/drawing/2014/main" id="{94447A73-2B6B-485B-9775-BA264017A40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Electromagnetic Susceptibility of Battery Management Systems’ ICs for Electric Vehicles: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Experimental Study</a:t>
            </a:r>
          </a:p>
        </p:txBody>
      </p:sp>
      <p:sp>
        <p:nvSpPr>
          <p:cNvPr id="43" name="Quelle 7 pub">
            <a:extLst>
              <a:ext uri="{FF2B5EF4-FFF2-40B4-BE49-F238E27FC236}">
                <a16:creationId xmlns:a16="http://schemas.microsoft.com/office/drawing/2014/main" id="{510054D6-E5AF-4510-B5ED-D9537D126108}"/>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9(3), 510.</a:t>
            </a:r>
          </a:p>
        </p:txBody>
      </p:sp>
      <p:sp>
        <p:nvSpPr>
          <p:cNvPr id="44" name="Quelle 7 link">
            <a:extLst>
              <a:ext uri="{FF2B5EF4-FFF2-40B4-BE49-F238E27FC236}">
                <a16:creationId xmlns:a16="http://schemas.microsoft.com/office/drawing/2014/main" id="{92FF1732-9F73-4A47-9D94-D9A298B1E732}"/>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10.3390/electronics9030510</a:t>
            </a:r>
          </a:p>
        </p:txBody>
      </p:sp>
      <p:sp>
        <p:nvSpPr>
          <p:cNvPr id="45" name="Quellennummer 8">
            <a:extLst>
              <a:ext uri="{FF2B5EF4-FFF2-40B4-BE49-F238E27FC236}">
                <a16:creationId xmlns:a16="http://schemas.microsoft.com/office/drawing/2014/main" id="{D728A380-DB9F-429E-857C-E3A126E54EB9}"/>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[8]</a:t>
            </a:r>
          </a:p>
        </p:txBody>
      </p:sp>
      <p:sp>
        <p:nvSpPr>
          <p:cNvPr id="46" name="Quelle 8 author">
            <a:extLst>
              <a:ext uri="{FF2B5EF4-FFF2-40B4-BE49-F238E27FC236}">
                <a16:creationId xmlns:a16="http://schemas.microsoft.com/office/drawing/2014/main" id="{5AE47B13-2FA1-4198-A4BD-CDF8F1595F20}"/>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Crocioni et al. (2020)</a:t>
            </a:r>
          </a:p>
        </p:txBody>
      </p:sp>
      <p:sp>
        <p:nvSpPr>
          <p:cNvPr id="47" name="Quelle 8 title">
            <a:extLst>
              <a:ext uri="{FF2B5EF4-FFF2-40B4-BE49-F238E27FC236}">
                <a16:creationId xmlns:a16="http://schemas.microsoft.com/office/drawing/2014/main" id="{F547C65D-DC0D-49E6-837D-0BF08022A5AA}"/>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Li-Ion Batteries Parameter Estimation With Tiny Neural Networks Embedded on Intelligent IoT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Microcontrollers</a:t>
            </a:r>
          </a:p>
        </p:txBody>
      </p:sp>
      <p:sp>
        <p:nvSpPr>
          <p:cNvPr id="48" name="Quelle 8 pub">
            <a:extLst>
              <a:ext uri="{FF2B5EF4-FFF2-40B4-BE49-F238E27FC236}">
                <a16:creationId xmlns:a16="http://schemas.microsoft.com/office/drawing/2014/main" id="{813F74CD-C2F6-4B36-808A-945C94AB91D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IEEE Access 8, 122135–122146.</a:t>
            </a:r>
          </a:p>
        </p:txBody>
      </p:sp>
      <p:sp>
        <p:nvSpPr>
          <p:cNvPr id="49" name="Quelle 8 link">
            <a:extLst>
              <a:ext uri="{FF2B5EF4-FFF2-40B4-BE49-F238E27FC236}">
                <a16:creationId xmlns:a16="http://schemas.microsoft.com/office/drawing/2014/main" id="{83F277F5-0227-4753-892C-EE5FE8E66D0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10.1109/ACCESS.2020.3007046</a:t>
            </a:r>
          </a:p>
        </p:txBody>
      </p:sp>
      <p:sp>
        <p:nvSpPr>
          <p:cNvPr id="50" name="Quellennummer 9">
            <a:extLst>
              <a:ext uri="{FF2B5EF4-FFF2-40B4-BE49-F238E27FC236}">
                <a16:creationId xmlns:a16="http://schemas.microsoft.com/office/drawing/2014/main" id="{482A326A-154F-4EED-A327-3D830283A409}"/>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[9]</a:t>
            </a:r>
          </a:p>
        </p:txBody>
      </p:sp>
      <p:sp>
        <p:nvSpPr>
          <p:cNvPr id="51" name="Quelle 9 author">
            <a:extLst>
              <a:ext uri="{FF2B5EF4-FFF2-40B4-BE49-F238E27FC236}">
                <a16:creationId xmlns:a16="http://schemas.microsoft.com/office/drawing/2014/main" id="{68825D5A-4A41-4363-8AEC-0631659C3702}"/>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Giazitzis et al. (2024)</a:t>
            </a:r>
          </a:p>
        </p:txBody>
      </p:sp>
      <p:sp>
        <p:nvSpPr>
          <p:cNvPr id="52" name="Quelle 9 title">
            <a:extLst>
              <a:ext uri="{FF2B5EF4-FFF2-40B4-BE49-F238E27FC236}">
                <a16:creationId xmlns:a16="http://schemas.microsoft.com/office/drawing/2014/main" id="{FC63FC66-42CE-4926-B91D-FA9968F714C1}"/>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Case Study of a Tiny Machine Learning Application for Battery State-of-Charge Estimation</a:t>
            </a:r>
          </a:p>
        </p:txBody>
      </p:sp>
      <p:sp>
        <p:nvSpPr>
          <p:cNvPr id="53" name="Quelle 9 pub">
            <a:extLst>
              <a:ext uri="{FF2B5EF4-FFF2-40B4-BE49-F238E27FC236}">
                <a16:creationId xmlns:a16="http://schemas.microsoft.com/office/drawing/2014/main" id="{030BECB9-D631-4AA6-B652-9B85D4AD88A8}"/>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13(10), 1964.</a:t>
            </a:r>
          </a:p>
        </p:txBody>
      </p:sp>
      <p:sp>
        <p:nvSpPr>
          <p:cNvPr id="54" name="Quelle 9 link">
            <a:extLst>
              <a:ext uri="{FF2B5EF4-FFF2-40B4-BE49-F238E27FC236}">
                <a16:creationId xmlns:a16="http://schemas.microsoft.com/office/drawing/2014/main" id="{81C29963-999E-4499-907F-E27A251A676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10.3390/electronics13101964</a:t>
            </a:r>
          </a:p>
        </p:txBody>
      </p:sp>
      <p:sp>
        <p:nvSpPr>
          <p:cNvPr id="55" name="Footer – Seitennummer">
            <a:extLst>
              <a:ext uri="{FF2B5EF4-FFF2-40B4-BE49-F238E27FC236}">
                <a16:creationId xmlns:a16="http://schemas.microsoft.com/office/drawing/2014/main" id="{D3155131-A323-4B16-A058-8D506FE37D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3 / 9</a:t>
            </a:r>
          </a:p>
        </p:txBody>
      </p:sp>
      <p:sp>
        <p:nvSpPr>
          <p:cNvPr id="56" name="Footer – Präsentationsangaben">
            <a:extLst>
              <a:ext uri="{FF2B5EF4-FFF2-40B4-BE49-F238E27FC236}">
                <a16:creationId xmlns:a16="http://schemas.microsoft.com/office/drawing/2014/main" id="{819ED60A-F60F-4AAE-9432-38199D89E9E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(4/9)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0">
            <a:extLst>
              <a:ext uri="{FF2B5EF4-FFF2-40B4-BE49-F238E27FC236}">
                <a16:creationId xmlns:a16="http://schemas.microsoft.com/office/drawing/2014/main" id="{DC71E97C-13CC-4711-AE21-55BE34CDCFD6}"/>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[10]</a:t>
            </a:r>
          </a:p>
        </p:txBody>
      </p:sp>
      <p:sp>
        <p:nvSpPr>
          <p:cNvPr id="41" name="Quelle 10 author">
            <a:extLst>
              <a:ext uri="{FF2B5EF4-FFF2-40B4-BE49-F238E27FC236}">
                <a16:creationId xmlns:a16="http://schemas.microsoft.com/office/drawing/2014/main" id="{A6F12260-1B98-4500-9B6E-E6B56EAA381E}"/>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D. H. Park, H.-d. Jang und D. E. Chang (2023)</a:t>
            </a:r>
          </a:p>
        </p:txBody>
      </p:sp>
      <p:sp>
        <p:nvSpPr>
          <p:cNvPr id="42" name="Quelle 10 title">
            <a:extLst>
              <a:ext uri="{FF2B5EF4-FFF2-40B4-BE49-F238E27FC236}">
                <a16:creationId xmlns:a16="http://schemas.microsoft.com/office/drawing/2014/main" id="{175F1CF0-8D27-4041-891F-533347400F9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Optimized Network Pruning Method for Li-ion Batteries State-of-charge Estimation on Robot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System</a:t>
            </a:r>
          </a:p>
        </p:txBody>
      </p:sp>
      <p:sp>
        <p:nvSpPr>
          <p:cNvPr id="43" name="Quelle 10 pub">
            <a:extLst>
              <a:ext uri="{FF2B5EF4-FFF2-40B4-BE49-F238E27FC236}">
                <a16:creationId xmlns:a16="http://schemas.microsoft.com/office/drawing/2014/main" id="{85949D29-E0CD-45CE-BA49-C71EDDE70D9C}"/>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Korea Robotics Society 18(1), 88–92.</a:t>
            </a:r>
          </a:p>
        </p:txBody>
      </p:sp>
      <p:sp>
        <p:nvSpPr>
          <p:cNvPr id="44" name="Quelle 10 link">
            <a:extLst>
              <a:ext uri="{FF2B5EF4-FFF2-40B4-BE49-F238E27FC236}">
                <a16:creationId xmlns:a16="http://schemas.microsoft.com/office/drawing/2014/main" id="{B86D9200-B89D-4CD0-AB9E-679B2B88114A}"/>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10.7746/jkros.2023.18.1.088</a:t>
            </a:r>
          </a:p>
        </p:txBody>
      </p:sp>
      <p:sp>
        <p:nvSpPr>
          <p:cNvPr id="45" name="Quellennummer 11">
            <a:extLst>
              <a:ext uri="{FF2B5EF4-FFF2-40B4-BE49-F238E27FC236}">
                <a16:creationId xmlns:a16="http://schemas.microsoft.com/office/drawing/2014/main" id="{7713F247-1489-48E1-AE7A-3F2914C952BC}"/>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[11]</a:t>
            </a:r>
          </a:p>
        </p:txBody>
      </p:sp>
      <p:sp>
        <p:nvSpPr>
          <p:cNvPr id="46" name="Quelle 11 author">
            <a:extLst>
              <a:ext uri="{FF2B5EF4-FFF2-40B4-BE49-F238E27FC236}">
                <a16:creationId xmlns:a16="http://schemas.microsoft.com/office/drawing/2014/main" id="{0ED34ECD-A72F-4BAB-B08E-4A7CBFE1FE5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(2026)</a:t>
            </a:r>
          </a:p>
        </p:txBody>
      </p:sp>
      <p:sp>
        <p:nvSpPr>
          <p:cNvPr id="47" name="Quelle 11 title">
            <a:extLst>
              <a:ext uri="{FF2B5EF4-FFF2-40B4-BE49-F238E27FC236}">
                <a16:creationId xmlns:a16="http://schemas.microsoft.com/office/drawing/2014/main" id="{84F253B4-B2CD-49A0-9E3F-BF28436D5C4B}"/>
              </a:ext>
            </a:extLst>
          </p:cNvPr>
          <p:cNvSpPr>
            <a:spLocks noGrp="1"/>
          </p:cNvSpPr>
          <p:nvPr/>
        </p:nvSpPr>
        <p:spPr>
          <a:xfrm>
            <a:off x="1162050" y="3181350"/>
            <a:ext cx="8886825" cy="81915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Deployment-Oriented Neural Network State-Estimation Methods for Battery Management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Systems: Ageing Estimation, Robustness Benchmarking, Embedded Optimization,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Hardware Integration</a:t>
            </a:r>
          </a:p>
        </p:txBody>
      </p:sp>
      <p:sp>
        <p:nvSpPr>
          <p:cNvPr id="48" name="Quelle 11 pub">
            <a:extLst>
              <a:ext uri="{FF2B5EF4-FFF2-40B4-BE49-F238E27FC236}">
                <a16:creationId xmlns:a16="http://schemas.microsoft.com/office/drawing/2014/main" id="{4B9D2B89-ADBF-44E1-A284-903241DD8596}"/>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Dissertationsmanuskript, TU Berlin. Grundlage: bereitgestellte main.pdf.</a:t>
            </a:r>
          </a:p>
        </p:txBody>
      </p:sp>
      <p:sp>
        <p:nvSpPr>
          <p:cNvPr id="49" name="Quellennummer 12">
            <a:extLst>
              <a:ext uri="{FF2B5EF4-FFF2-40B4-BE49-F238E27FC236}">
                <a16:creationId xmlns:a16="http://schemas.microsoft.com/office/drawing/2014/main" id="{CD074E23-F1CD-4396-9826-AD42AC846870}"/>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[12]</a:t>
            </a:r>
          </a:p>
        </p:txBody>
      </p:sp>
      <p:sp>
        <p:nvSpPr>
          <p:cNvPr id="50" name="Quelle 12 author">
            <a:extLst>
              <a:ext uri="{FF2B5EF4-FFF2-40B4-BE49-F238E27FC236}">
                <a16:creationId xmlns:a16="http://schemas.microsoft.com/office/drawing/2014/main" id="{8980D91A-C57A-4D89-85D9-EE6FCAE8AD5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P. Hematty, M. Schmitz und J. Kowal (2023)</a:t>
            </a:r>
          </a:p>
        </p:txBody>
      </p:sp>
      <p:sp>
        <p:nvSpPr>
          <p:cNvPr id="51" name="Quelle 12 title">
            <a:extLst>
              <a:ext uri="{FF2B5EF4-FFF2-40B4-BE49-F238E27FC236}">
                <a16:creationId xmlns:a16="http://schemas.microsoft.com/office/drawing/2014/main" id="{AA63FEE1-BAC7-414A-A092-F25F83608E1E}"/>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 Architecture for Determining the Aging of Stationary Storage Systems in Smart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Grids</a:t>
            </a:r>
          </a:p>
        </p:txBody>
      </p:sp>
      <p:sp>
        <p:nvSpPr>
          <p:cNvPr id="52" name="Quelle 12 pub">
            <a:extLst>
              <a:ext uri="{FF2B5EF4-FFF2-40B4-BE49-F238E27FC236}">
                <a16:creationId xmlns:a16="http://schemas.microsoft.com/office/drawing/2014/main" id="{995C2CFF-7B1A-40D7-8339-0EFDD3CD270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Energies 16(17), 6103.</a:t>
            </a:r>
          </a:p>
        </p:txBody>
      </p:sp>
      <p:sp>
        <p:nvSpPr>
          <p:cNvPr id="53" name="Quelle 12 link">
            <a:extLst>
              <a:ext uri="{FF2B5EF4-FFF2-40B4-BE49-F238E27FC236}">
                <a16:creationId xmlns:a16="http://schemas.microsoft.com/office/drawing/2014/main" id="{F290692D-79BD-465E-A2DE-F5A7B97F9271}"/>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10.3390/en16176103</a:t>
            </a:r>
          </a:p>
        </p:txBody>
      </p:sp>
      <p:sp>
        <p:nvSpPr>
          <p:cNvPr id="54" name="Footer – Seitennummer">
            <a:extLst>
              <a:ext uri="{FF2B5EF4-FFF2-40B4-BE49-F238E27FC236}">
                <a16:creationId xmlns:a16="http://schemas.microsoft.com/office/drawing/2014/main" id="{54586390-9A87-4ECF-BFFA-3995ED4E4DC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4 / 9</a:t>
            </a:r>
          </a:p>
        </p:txBody>
      </p:sp>
      <p:sp>
        <p:nvSpPr>
          <p:cNvPr id="55" name="Footer – Präsentationsangaben">
            <a:extLst>
              <a:ext uri="{FF2B5EF4-FFF2-40B4-BE49-F238E27FC236}">
                <a16:creationId xmlns:a16="http://schemas.microsoft.com/office/drawing/2014/main" id="{7E84A50A-0A64-42AB-914C-27B62E312ED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(5/9)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3">
            <a:extLst>
              <a:ext uri="{FF2B5EF4-FFF2-40B4-BE49-F238E27FC236}">
                <a16:creationId xmlns:a16="http://schemas.microsoft.com/office/drawing/2014/main" id="{AB7AA30C-883C-4AB0-BBC9-BB3E52C76E11}"/>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[13]</a:t>
            </a:r>
          </a:p>
        </p:txBody>
      </p:sp>
      <p:sp>
        <p:nvSpPr>
          <p:cNvPr id="41" name="Quelle 13 author">
            <a:extLst>
              <a:ext uri="{FF2B5EF4-FFF2-40B4-BE49-F238E27FC236}">
                <a16:creationId xmlns:a16="http://schemas.microsoft.com/office/drawing/2014/main" id="{F3DF7C5A-6852-4DFB-9F6D-A0B3E4D1BDDD}"/>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(2025)</a:t>
            </a:r>
          </a:p>
        </p:txBody>
      </p:sp>
      <p:sp>
        <p:nvSpPr>
          <p:cNvPr id="42" name="Quelle 13 title">
            <a:extLst>
              <a:ext uri="{FF2B5EF4-FFF2-40B4-BE49-F238E27FC236}">
                <a16:creationId xmlns:a16="http://schemas.microsoft.com/office/drawing/2014/main" id="{D9DAABBC-CF45-49C9-BEE4-A827EEF47522}"/>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Design of Experiments for Cyclic Aging of LFP 18650 Cells: Impact of Charge/Discharge C-Rates,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Depth of Discharge, and Temperature on Battery Degradation</a:t>
            </a:r>
          </a:p>
        </p:txBody>
      </p:sp>
      <p:sp>
        <p:nvSpPr>
          <p:cNvPr id="43" name="Quelle 13 pub">
            <a:extLst>
              <a:ext uri="{FF2B5EF4-FFF2-40B4-BE49-F238E27FC236}">
                <a16:creationId xmlns:a16="http://schemas.microsoft.com/office/drawing/2014/main" id="{6B1725EB-F7C8-4B4A-AE35-3122CBA704DD}"/>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Datensatz, TU Berlin / DepositOnce, 13. November 2025.</a:t>
            </a:r>
          </a:p>
        </p:txBody>
      </p:sp>
      <p:sp>
        <p:nvSpPr>
          <p:cNvPr id="44" name="Quelle 13 link">
            <a:extLst>
              <a:ext uri="{FF2B5EF4-FFF2-40B4-BE49-F238E27FC236}">
                <a16:creationId xmlns:a16="http://schemas.microsoft.com/office/drawing/2014/main" id="{03B71585-4756-4B76-B17A-1AF797E700DF}"/>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10.14279/DEPOSITONCE-24800</a:t>
            </a:r>
          </a:p>
        </p:txBody>
      </p:sp>
      <p:sp>
        <p:nvSpPr>
          <p:cNvPr id="45" name="Quellennummer 14">
            <a:extLst>
              <a:ext uri="{FF2B5EF4-FFF2-40B4-BE49-F238E27FC236}">
                <a16:creationId xmlns:a16="http://schemas.microsoft.com/office/drawing/2014/main" id="{ACAF70D6-7787-43C4-BC06-FFEAE903DA38}"/>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[14]</a:t>
            </a:r>
          </a:p>
        </p:txBody>
      </p:sp>
      <p:sp>
        <p:nvSpPr>
          <p:cNvPr id="46" name="Quelle 14 author">
            <a:extLst>
              <a:ext uri="{FF2B5EF4-FFF2-40B4-BE49-F238E27FC236}">
                <a16:creationId xmlns:a16="http://schemas.microsoft.com/office/drawing/2014/main" id="{7D60D9AC-C199-4F1C-9244-6162530EB3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STMicroelectronics</a:t>
            </a:r>
          </a:p>
        </p:txBody>
      </p:sp>
      <p:sp>
        <p:nvSpPr>
          <p:cNvPr id="47" name="Quelle 14 title">
            <a:extLst>
              <a:ext uri="{FF2B5EF4-FFF2-40B4-BE49-F238E27FC236}">
                <a16:creationId xmlns:a16="http://schemas.microsoft.com/office/drawing/2014/main" id="{9128A4AC-5848-4C91-BC59-FF5E5D1E81D1}"/>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STM32 Nucleo-144 Boards</a:t>
            </a:r>
          </a:p>
        </p:txBody>
      </p:sp>
      <p:sp>
        <p:nvSpPr>
          <p:cNvPr id="48" name="Quelle 14 pub">
            <a:extLst>
              <a:ext uri="{FF2B5EF4-FFF2-40B4-BE49-F238E27FC236}">
                <a16:creationId xmlns:a16="http://schemas.microsoft.com/office/drawing/2014/main" id="{294DCD00-D411-4FC6-ADF3-C367E1989BFB}"/>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NUCLEO-H753ZI, Data Brief. Hardwarequelle aus der Dissertation.</a:t>
            </a:r>
          </a:p>
        </p:txBody>
      </p:sp>
      <p:sp>
        <p:nvSpPr>
          <p:cNvPr id="49" name="Quelle 14 link">
            <a:extLst>
              <a:ext uri="{FF2B5EF4-FFF2-40B4-BE49-F238E27FC236}">
                <a16:creationId xmlns:a16="http://schemas.microsoft.com/office/drawing/2014/main" id="{1747C76D-D05B-4939-AE42-3B13FE496C9E}"/>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st.com: NUCLEO-H753ZI Data Brief</a:t>
            </a:r>
          </a:p>
        </p:txBody>
      </p:sp>
      <p:sp>
        <p:nvSpPr>
          <p:cNvPr id="50" name="Quellennummer 15">
            <a:extLst>
              <a:ext uri="{FF2B5EF4-FFF2-40B4-BE49-F238E27FC236}">
                <a16:creationId xmlns:a16="http://schemas.microsoft.com/office/drawing/2014/main" id="{6303F4A4-469E-404A-9467-6051B23A04FD}"/>
              </a:ext>
            </a:extLst>
          </p:cNvPr>
          <p:cNvSpPr>
            <a:spLocks noGrp="1"/>
          </p:cNvSpPr>
          <p:nvPr/>
        </p:nvSpPr>
        <p:spPr>
          <a:xfrm>
            <a:off x="552450" y="41624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[15]</a:t>
            </a:r>
          </a:p>
        </p:txBody>
      </p:sp>
      <p:sp>
        <p:nvSpPr>
          <p:cNvPr id="51" name="Quelle 15 author">
            <a:extLst>
              <a:ext uri="{FF2B5EF4-FFF2-40B4-BE49-F238E27FC236}">
                <a16:creationId xmlns:a16="http://schemas.microsoft.com/office/drawing/2014/main" id="{6A47826B-7ACC-46C5-ADCB-ABDC3763C36E}"/>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L. Li et al. (2016)</a:t>
            </a:r>
          </a:p>
        </p:txBody>
      </p:sp>
      <p:sp>
        <p:nvSpPr>
          <p:cNvPr id="52" name="Quelle 15 title">
            <a:extLst>
              <a:ext uri="{FF2B5EF4-FFF2-40B4-BE49-F238E27FC236}">
                <a16:creationId xmlns:a16="http://schemas.microsoft.com/office/drawing/2014/main" id="{529ACAF6-E7A7-44E6-8CD7-496DB217F556}"/>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Hyperband: A Novel Bandit-Based Approach to Hyperparameter Optimization</a:t>
            </a:r>
          </a:p>
        </p:txBody>
      </p:sp>
      <p:sp>
        <p:nvSpPr>
          <p:cNvPr id="53" name="Quelle 15 pub">
            <a:extLst>
              <a:ext uri="{FF2B5EF4-FFF2-40B4-BE49-F238E27FC236}">
                <a16:creationId xmlns:a16="http://schemas.microsoft.com/office/drawing/2014/main" id="{20465A3F-CBA1-4BED-BC4D-6C4476D164BC}"/>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 Fassung gemäß Dissertation.</a:t>
            </a:r>
          </a:p>
        </p:txBody>
      </p:sp>
      <p:sp>
        <p:nvSpPr>
          <p:cNvPr id="54" name="Quelle 15 link">
            <a:extLst>
              <a:ext uri="{FF2B5EF4-FFF2-40B4-BE49-F238E27FC236}">
                <a16:creationId xmlns:a16="http://schemas.microsoft.com/office/drawing/2014/main" id="{9AA3B7E3-BB2C-43BF-885C-4C69B621FFEF}"/>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arXiv: 1603.06560</a:t>
            </a:r>
          </a:p>
        </p:txBody>
      </p:sp>
      <p:sp>
        <p:nvSpPr>
          <p:cNvPr id="55" name="Footer – Seitennummer">
            <a:extLst>
              <a:ext uri="{FF2B5EF4-FFF2-40B4-BE49-F238E27FC236}">
                <a16:creationId xmlns:a16="http://schemas.microsoft.com/office/drawing/2014/main" id="{5A34A577-A822-42BF-9A22-8C8175C50A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5 / 9</a:t>
            </a:r>
          </a:p>
        </p:txBody>
      </p:sp>
      <p:sp>
        <p:nvSpPr>
          <p:cNvPr id="56" name="Footer – Präsentationsangaben">
            <a:extLst>
              <a:ext uri="{FF2B5EF4-FFF2-40B4-BE49-F238E27FC236}">
                <a16:creationId xmlns:a16="http://schemas.microsoft.com/office/drawing/2014/main" id="{B0F9D8DB-9848-4BAA-8B20-635735F62A4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(6/9)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6">
            <a:extLst>
              <a:ext uri="{FF2B5EF4-FFF2-40B4-BE49-F238E27FC236}">
                <a16:creationId xmlns:a16="http://schemas.microsoft.com/office/drawing/2014/main" id="{B390ABEA-4481-4228-B686-F22B49CCE53F}"/>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[16]</a:t>
            </a:r>
          </a:p>
        </p:txBody>
      </p:sp>
      <p:sp>
        <p:nvSpPr>
          <p:cNvPr id="41" name="Quelle 16 author">
            <a:extLst>
              <a:ext uri="{FF2B5EF4-FFF2-40B4-BE49-F238E27FC236}">
                <a16:creationId xmlns:a16="http://schemas.microsoft.com/office/drawing/2014/main" id="{07682424-67C1-48C2-8C3C-037F478BB7E2}"/>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Q. Chen und J. Kowal (2026)</a:t>
            </a:r>
          </a:p>
        </p:txBody>
      </p:sp>
      <p:sp>
        <p:nvSpPr>
          <p:cNvPr id="42" name="Quelle 16 title">
            <a:extLst>
              <a:ext uri="{FF2B5EF4-FFF2-40B4-BE49-F238E27FC236}">
                <a16:creationId xmlns:a16="http://schemas.microsoft.com/office/drawing/2014/main" id="{56CC1DF9-BBD0-483A-874B-13172DF84C6B}"/>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Performance and Robustness Benchmarking Across Battery State-of-Charge Estimator Classes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for Embedded Applications</a:t>
            </a:r>
          </a:p>
        </p:txBody>
      </p:sp>
      <p:sp>
        <p:nvSpPr>
          <p:cNvPr id="43" name="Quelle 16 pub">
            <a:extLst>
              <a:ext uri="{FF2B5EF4-FFF2-40B4-BE49-F238E27FC236}">
                <a16:creationId xmlns:a16="http://schemas.microsoft.com/office/drawing/2014/main" id="{01DB2624-F5FA-425B-8D59-6D576F582401}"/>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Manuskript, bei Engineering Applications of Artificial Intelligence eingereicht.</a:t>
            </a:r>
          </a:p>
        </p:txBody>
      </p:sp>
      <p:sp>
        <p:nvSpPr>
          <p:cNvPr id="44" name="Quellennummer 17">
            <a:extLst>
              <a:ext uri="{FF2B5EF4-FFF2-40B4-BE49-F238E27FC236}">
                <a16:creationId xmlns:a16="http://schemas.microsoft.com/office/drawing/2014/main" id="{2F9C9CF1-14DB-42D8-8C1D-BAAF899A83F7}"/>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[17]</a:t>
            </a:r>
          </a:p>
        </p:txBody>
      </p:sp>
      <p:sp>
        <p:nvSpPr>
          <p:cNvPr id="45" name="Quelle 17 author">
            <a:extLst>
              <a:ext uri="{FF2B5EF4-FFF2-40B4-BE49-F238E27FC236}">
                <a16:creationId xmlns:a16="http://schemas.microsoft.com/office/drawing/2014/main" id="{284436E9-E4AC-4DED-AEA9-0862E61F5DE7}"/>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L. Plett (2015)</a:t>
            </a:r>
          </a:p>
        </p:txBody>
      </p:sp>
      <p:sp>
        <p:nvSpPr>
          <p:cNvPr id="46" name="Quelle 17 title">
            <a:extLst>
              <a:ext uri="{FF2B5EF4-FFF2-40B4-BE49-F238E27FC236}">
                <a16:creationId xmlns:a16="http://schemas.microsoft.com/office/drawing/2014/main" id="{AB120120-7543-4D49-BA93-37648E9E516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Battery Management Systems. Volume 1: Battery Modeling</a:t>
            </a:r>
          </a:p>
        </p:txBody>
      </p:sp>
      <p:sp>
        <p:nvSpPr>
          <p:cNvPr id="47" name="Quelle 17 pub">
            <a:extLst>
              <a:ext uri="{FF2B5EF4-FFF2-40B4-BE49-F238E27FC236}">
                <a16:creationId xmlns:a16="http://schemas.microsoft.com/office/drawing/2014/main" id="{C378BBEB-2D3E-42B3-9866-548F155AF0D5}"/>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Artech House. Grundlagen zu Batteriemodellen und Zustandsbestimmung.</a:t>
            </a:r>
          </a:p>
        </p:txBody>
      </p:sp>
      <p:sp>
        <p:nvSpPr>
          <p:cNvPr id="48" name="Quellennummer 18">
            <a:extLst>
              <a:ext uri="{FF2B5EF4-FFF2-40B4-BE49-F238E27FC236}">
                <a16:creationId xmlns:a16="http://schemas.microsoft.com/office/drawing/2014/main" id="{AA813756-BE4B-464E-B98C-BA3E4784D153}"/>
              </a:ext>
            </a:extLst>
          </p:cNvPr>
          <p:cNvSpPr>
            <a:spLocks noGrp="1"/>
          </p:cNvSpPr>
          <p:nvPr/>
        </p:nvSpPr>
        <p:spPr>
          <a:xfrm>
            <a:off x="552450" y="36480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[18]</a:t>
            </a:r>
          </a:p>
        </p:txBody>
      </p:sp>
      <p:sp>
        <p:nvSpPr>
          <p:cNvPr id="49" name="Quelle 18 author">
            <a:extLst>
              <a:ext uri="{FF2B5EF4-FFF2-40B4-BE49-F238E27FC236}">
                <a16:creationId xmlns:a16="http://schemas.microsoft.com/office/drawing/2014/main" id="{24FBD353-3CE0-4994-9A03-8549818FCB82}"/>
              </a:ext>
            </a:extLst>
          </p:cNvPr>
          <p:cNvSpPr>
            <a:spLocks noGrp="1"/>
          </p:cNvSpPr>
          <p:nvPr/>
        </p:nvSpPr>
        <p:spPr>
          <a:xfrm>
            <a:off x="1162050" y="36480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Z. C. Lipton, J. Berkowitz und C. Elkan (2015)</a:t>
            </a:r>
          </a:p>
        </p:txBody>
      </p:sp>
      <p:sp>
        <p:nvSpPr>
          <p:cNvPr id="50" name="Quelle 18 title">
            <a:extLst>
              <a:ext uri="{FF2B5EF4-FFF2-40B4-BE49-F238E27FC236}">
                <a16:creationId xmlns:a16="http://schemas.microsoft.com/office/drawing/2014/main" id="{D0E21694-B711-4518-926C-0DADE1E28FFE}"/>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Critical Review of Recurrent Neural Networks for Sequence Learning</a:t>
            </a:r>
          </a:p>
        </p:txBody>
      </p:sp>
      <p:sp>
        <p:nvSpPr>
          <p:cNvPr id="51" name="Quelle 18 pub">
            <a:extLst>
              <a:ext uri="{FF2B5EF4-FFF2-40B4-BE49-F238E27FC236}">
                <a16:creationId xmlns:a16="http://schemas.microsoft.com/office/drawing/2014/main" id="{9C175B6F-B595-4E50-BD04-28973ACF46E5}"/>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52" name="Quelle 18 link">
            <a:extLst>
              <a:ext uri="{FF2B5EF4-FFF2-40B4-BE49-F238E27FC236}">
                <a16:creationId xmlns:a16="http://schemas.microsoft.com/office/drawing/2014/main" id="{DB9EA521-9F16-4F2D-90E4-0C4388EEBE4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1506.00019</a:t>
            </a:r>
          </a:p>
        </p:txBody>
      </p:sp>
      <p:sp>
        <p:nvSpPr>
          <p:cNvPr id="53" name="Footer – Seitennummer">
            <a:extLst>
              <a:ext uri="{FF2B5EF4-FFF2-40B4-BE49-F238E27FC236}">
                <a16:creationId xmlns:a16="http://schemas.microsoft.com/office/drawing/2014/main" id="{5BE84286-734B-42CD-BF53-9E53D438F5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6 / 9</a:t>
            </a:r>
          </a:p>
        </p:txBody>
      </p:sp>
      <p:sp>
        <p:nvSpPr>
          <p:cNvPr id="54" name="Footer – Präsentationsangaben">
            <a:extLst>
              <a:ext uri="{FF2B5EF4-FFF2-40B4-BE49-F238E27FC236}">
                <a16:creationId xmlns:a16="http://schemas.microsoft.com/office/drawing/2014/main" id="{986B9FD7-D8A0-49B9-88FD-77AF9A2319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(7/9)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9">
            <a:extLst>
              <a:ext uri="{FF2B5EF4-FFF2-40B4-BE49-F238E27FC236}">
                <a16:creationId xmlns:a16="http://schemas.microsoft.com/office/drawing/2014/main" id="{6E4BE561-52D8-49EA-8F3C-489132332915}"/>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[19]</a:t>
            </a:r>
          </a:p>
        </p:txBody>
      </p:sp>
      <p:sp>
        <p:nvSpPr>
          <p:cNvPr id="41" name="Quelle 19 author">
            <a:extLst>
              <a:ext uri="{FF2B5EF4-FFF2-40B4-BE49-F238E27FC236}">
                <a16:creationId xmlns:a16="http://schemas.microsoft.com/office/drawing/2014/main" id="{D07A5832-0813-44F9-881E-E8FC26F0131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Li et al. (2021)</a:t>
            </a:r>
          </a:p>
        </p:txBody>
      </p:sp>
      <p:sp>
        <p:nvSpPr>
          <p:cNvPr id="42" name="Quelle 19 title">
            <a:extLst>
              <a:ext uri="{FF2B5EF4-FFF2-40B4-BE49-F238E27FC236}">
                <a16:creationId xmlns:a16="http://schemas.microsoft.com/office/drawing/2014/main" id="{67F05617-33F3-4987-96EA-FB4C45BBD3D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Joint Estimation of State of Charge and State of Health for Lithium-ion Battery Based on Dual</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Adaptive Extended Kalman Filter</a:t>
            </a:r>
          </a:p>
        </p:txBody>
      </p:sp>
      <p:sp>
        <p:nvSpPr>
          <p:cNvPr id="43" name="Quelle 19 pub">
            <a:extLst>
              <a:ext uri="{FF2B5EF4-FFF2-40B4-BE49-F238E27FC236}">
                <a16:creationId xmlns:a16="http://schemas.microsoft.com/office/drawing/2014/main" id="{3A22A670-E4EE-4242-8F2F-A64CC6B781E0}"/>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International Journal of Energy Research 45(9), 13307–13322.</a:t>
            </a:r>
          </a:p>
        </p:txBody>
      </p:sp>
      <p:sp>
        <p:nvSpPr>
          <p:cNvPr id="44" name="Quelle 19 link">
            <a:extLst>
              <a:ext uri="{FF2B5EF4-FFF2-40B4-BE49-F238E27FC236}">
                <a16:creationId xmlns:a16="http://schemas.microsoft.com/office/drawing/2014/main" id="{33967021-EA55-4793-A183-2CFADE57684C}"/>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10.1002/er.6658</a:t>
            </a:r>
          </a:p>
        </p:txBody>
      </p:sp>
      <p:sp>
        <p:nvSpPr>
          <p:cNvPr id="45" name="Quellennummer 20">
            <a:extLst>
              <a:ext uri="{FF2B5EF4-FFF2-40B4-BE49-F238E27FC236}">
                <a16:creationId xmlns:a16="http://schemas.microsoft.com/office/drawing/2014/main" id="{5D5AB461-2D5F-4DE2-8BAE-FD358D13761B}"/>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[20]</a:t>
            </a:r>
          </a:p>
        </p:txBody>
      </p:sp>
      <p:sp>
        <p:nvSpPr>
          <p:cNvPr id="46" name="Quelle 20 author">
            <a:extLst>
              <a:ext uri="{FF2B5EF4-FFF2-40B4-BE49-F238E27FC236}">
                <a16:creationId xmlns:a16="http://schemas.microsoft.com/office/drawing/2014/main" id="{AA19B724-E983-4BBD-8764-98034B601F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und J. Kowal (2026)</a:t>
            </a:r>
          </a:p>
        </p:txBody>
      </p:sp>
      <p:sp>
        <p:nvSpPr>
          <p:cNvPr id="47" name="Quelle 20 title">
            <a:extLst>
              <a:ext uri="{FF2B5EF4-FFF2-40B4-BE49-F238E27FC236}">
                <a16:creationId xmlns:a16="http://schemas.microsoft.com/office/drawing/2014/main" id="{3F701E60-EAD5-4104-901B-64230A772C67}"/>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Artificial Intelligence in Battery Management Systems: Pruning and Quantization for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Efficient State-of-Charge and State-of-Health Estimation</a:t>
            </a:r>
          </a:p>
        </p:txBody>
      </p:sp>
      <p:sp>
        <p:nvSpPr>
          <p:cNvPr id="48" name="Quelle 20 pub">
            <a:extLst>
              <a:ext uri="{FF2B5EF4-FFF2-40B4-BE49-F238E27FC236}">
                <a16:creationId xmlns:a16="http://schemas.microsoft.com/office/drawing/2014/main" id="{5EF983A1-64BC-4CB0-B1A0-6B9111635A04}"/>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SSRN-Preprint, 24. Februar 2026.</a:t>
            </a:r>
          </a:p>
        </p:txBody>
      </p:sp>
      <p:sp>
        <p:nvSpPr>
          <p:cNvPr id="49" name="Quelle 20 link">
            <a:extLst>
              <a:ext uri="{FF2B5EF4-FFF2-40B4-BE49-F238E27FC236}">
                <a16:creationId xmlns:a16="http://schemas.microsoft.com/office/drawing/2014/main" id="{0C8D507C-836F-4D01-A776-DD942CE46FF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10.2139/ssrn.6298526</a:t>
            </a:r>
          </a:p>
        </p:txBody>
      </p:sp>
      <p:sp>
        <p:nvSpPr>
          <p:cNvPr id="50" name="Quellennummer 21">
            <a:extLst>
              <a:ext uri="{FF2B5EF4-FFF2-40B4-BE49-F238E27FC236}">
                <a16:creationId xmlns:a16="http://schemas.microsoft.com/office/drawing/2014/main" id="{781CB002-42A4-43D5-A26C-D7844FFD1318}"/>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[21]</a:t>
            </a:r>
          </a:p>
        </p:txBody>
      </p:sp>
      <p:sp>
        <p:nvSpPr>
          <p:cNvPr id="51" name="Quelle 21 author">
            <a:extLst>
              <a:ext uri="{FF2B5EF4-FFF2-40B4-BE49-F238E27FC236}">
                <a16:creationId xmlns:a16="http://schemas.microsoft.com/office/drawing/2014/main" id="{066028FB-D247-4E9C-8A3D-B473EDE5951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Han, J. Pool, J. Tran und W. J. Dally (2015)</a:t>
            </a:r>
          </a:p>
        </p:txBody>
      </p:sp>
      <p:sp>
        <p:nvSpPr>
          <p:cNvPr id="52" name="Quelle 21 title">
            <a:extLst>
              <a:ext uri="{FF2B5EF4-FFF2-40B4-BE49-F238E27FC236}">
                <a16:creationId xmlns:a16="http://schemas.microsoft.com/office/drawing/2014/main" id="{30BEBD2B-7F3C-493C-9868-CB49F00E30AD}"/>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Both Weights and Connections for Efficient Neural Networks</a:t>
            </a:r>
          </a:p>
        </p:txBody>
      </p:sp>
      <p:sp>
        <p:nvSpPr>
          <p:cNvPr id="53" name="Quelle 21 pub">
            <a:extLst>
              <a:ext uri="{FF2B5EF4-FFF2-40B4-BE49-F238E27FC236}">
                <a16:creationId xmlns:a16="http://schemas.microsoft.com/office/drawing/2014/main" id="{9BF99727-FCAB-44F4-BE61-74A55E7D674A}"/>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28, 1135–1143.</a:t>
            </a:r>
          </a:p>
        </p:txBody>
      </p:sp>
      <p:sp>
        <p:nvSpPr>
          <p:cNvPr id="54" name="Quelle 21 link">
            <a:extLst>
              <a:ext uri="{FF2B5EF4-FFF2-40B4-BE49-F238E27FC236}">
                <a16:creationId xmlns:a16="http://schemas.microsoft.com/office/drawing/2014/main" id="{240BA32B-4CF0-4BB0-84E0-075DA4F40637}"/>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NeurIPS Proceedings (2015)</a:t>
            </a:r>
          </a:p>
        </p:txBody>
      </p:sp>
      <p:sp>
        <p:nvSpPr>
          <p:cNvPr id="55" name="Footer – Seitennummer">
            <a:extLst>
              <a:ext uri="{FF2B5EF4-FFF2-40B4-BE49-F238E27FC236}">
                <a16:creationId xmlns:a16="http://schemas.microsoft.com/office/drawing/2014/main" id="{FC38F064-6E48-4096-BF09-AFB3C6D6F2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7 / 9</a:t>
            </a:r>
          </a:p>
        </p:txBody>
      </p:sp>
      <p:sp>
        <p:nvSpPr>
          <p:cNvPr id="56" name="Footer – Präsentationsangaben">
            <a:extLst>
              <a:ext uri="{FF2B5EF4-FFF2-40B4-BE49-F238E27FC236}">
                <a16:creationId xmlns:a16="http://schemas.microsoft.com/office/drawing/2014/main" id="{3E61F88F-6F4B-4BC5-8209-86A160E36E8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(8/9)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2">
            <a:extLst>
              <a:ext uri="{FF2B5EF4-FFF2-40B4-BE49-F238E27FC236}">
                <a16:creationId xmlns:a16="http://schemas.microsoft.com/office/drawing/2014/main" id="{AACBAFDC-5C53-4ECB-8587-D112AEE3EA0B}"/>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[22]</a:t>
            </a:r>
          </a:p>
        </p:txBody>
      </p:sp>
      <p:sp>
        <p:nvSpPr>
          <p:cNvPr id="41" name="Quelle 22 author">
            <a:extLst>
              <a:ext uri="{FF2B5EF4-FFF2-40B4-BE49-F238E27FC236}">
                <a16:creationId xmlns:a16="http://schemas.microsoft.com/office/drawing/2014/main" id="{DE3C019C-208D-416D-A9DF-CF4A2BFBD9CB}"/>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Wen et al. (2016)</a:t>
            </a:r>
          </a:p>
        </p:txBody>
      </p:sp>
      <p:sp>
        <p:nvSpPr>
          <p:cNvPr id="42" name="Quelle 22 title">
            <a:extLst>
              <a:ext uri="{FF2B5EF4-FFF2-40B4-BE49-F238E27FC236}">
                <a16:creationId xmlns:a16="http://schemas.microsoft.com/office/drawing/2014/main" id="{1FF42E99-3D84-4EAC-A875-AAA79FAF1589}"/>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Structured Sparsity in Deep Neural Networks</a:t>
            </a:r>
          </a:p>
        </p:txBody>
      </p:sp>
      <p:sp>
        <p:nvSpPr>
          <p:cNvPr id="43" name="Quelle 22 pub">
            <a:extLst>
              <a:ext uri="{FF2B5EF4-FFF2-40B4-BE49-F238E27FC236}">
                <a16:creationId xmlns:a16="http://schemas.microsoft.com/office/drawing/2014/main" id="{359C0FC2-88D6-4631-A978-6F65D8A7A038}"/>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29, 2074–2082.</a:t>
            </a:r>
          </a:p>
        </p:txBody>
      </p:sp>
      <p:sp>
        <p:nvSpPr>
          <p:cNvPr id="44" name="Quelle 22 link">
            <a:extLst>
              <a:ext uri="{FF2B5EF4-FFF2-40B4-BE49-F238E27FC236}">
                <a16:creationId xmlns:a16="http://schemas.microsoft.com/office/drawing/2014/main" id="{162204AC-A8FC-491B-8AA8-F710449C7E97}"/>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1608.03665</a:t>
            </a:r>
          </a:p>
        </p:txBody>
      </p:sp>
      <p:sp>
        <p:nvSpPr>
          <p:cNvPr id="45" name="Quellennummer 23">
            <a:extLst>
              <a:ext uri="{FF2B5EF4-FFF2-40B4-BE49-F238E27FC236}">
                <a16:creationId xmlns:a16="http://schemas.microsoft.com/office/drawing/2014/main" id="{34D92939-3675-428F-8754-1503E73BACFD}"/>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[23]</a:t>
            </a:r>
          </a:p>
        </p:txBody>
      </p:sp>
      <p:sp>
        <p:nvSpPr>
          <p:cNvPr id="46" name="Quelle 23 author">
            <a:extLst>
              <a:ext uri="{FF2B5EF4-FFF2-40B4-BE49-F238E27FC236}">
                <a16:creationId xmlns:a16="http://schemas.microsoft.com/office/drawing/2014/main" id="{938CDF7E-2029-4594-A521-C9343B9D0E92}"/>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E. Lobacheva et al. (2020)</a:t>
            </a:r>
          </a:p>
        </p:txBody>
      </p:sp>
      <p:sp>
        <p:nvSpPr>
          <p:cNvPr id="47" name="Quelle 23 title">
            <a:extLst>
              <a:ext uri="{FF2B5EF4-FFF2-40B4-BE49-F238E27FC236}">
                <a16:creationId xmlns:a16="http://schemas.microsoft.com/office/drawing/2014/main" id="{FE1404F5-1EBA-4631-B337-9B48C55E5F69}"/>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Structured Sparsification of Gated Recurrent Neural Networks</a:t>
            </a:r>
          </a:p>
        </p:txBody>
      </p:sp>
      <p:sp>
        <p:nvSpPr>
          <p:cNvPr id="48" name="Quelle 23 pub">
            <a:extLst>
              <a:ext uri="{FF2B5EF4-FFF2-40B4-BE49-F238E27FC236}">
                <a16:creationId xmlns:a16="http://schemas.microsoft.com/office/drawing/2014/main" id="{F13152B6-791F-44EF-8C38-D58448482A44}"/>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AAAI 34(04), 4989–4996.</a:t>
            </a:r>
          </a:p>
        </p:txBody>
      </p:sp>
      <p:sp>
        <p:nvSpPr>
          <p:cNvPr id="49" name="Quelle 23 link">
            <a:extLst>
              <a:ext uri="{FF2B5EF4-FFF2-40B4-BE49-F238E27FC236}">
                <a16:creationId xmlns:a16="http://schemas.microsoft.com/office/drawing/2014/main" id="{22C090F7-D7AC-4BAC-AD69-284956DD6B92}"/>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10.1609/aaai.v34i04.5938</a:t>
            </a:r>
          </a:p>
        </p:txBody>
      </p:sp>
      <p:sp>
        <p:nvSpPr>
          <p:cNvPr id="50" name="Footer – Seitennummer">
            <a:extLst>
              <a:ext uri="{FF2B5EF4-FFF2-40B4-BE49-F238E27FC236}">
                <a16:creationId xmlns:a16="http://schemas.microsoft.com/office/drawing/2014/main" id="{12ACDCB7-C3BB-40E0-9D5A-6C035AFC590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8 / 9</a:t>
            </a:r>
          </a:p>
        </p:txBody>
      </p:sp>
      <p:sp>
        <p:nvSpPr>
          <p:cNvPr id="51" name="Footer – Präsentationsangaben">
            <a:extLst>
              <a:ext uri="{FF2B5EF4-FFF2-40B4-BE49-F238E27FC236}">
                <a16:creationId xmlns:a16="http://schemas.microsoft.com/office/drawing/2014/main" id="{7696CADE-9715-4A55-B7AF-FD720521FA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(9/9)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4">
            <a:extLst>
              <a:ext uri="{FF2B5EF4-FFF2-40B4-BE49-F238E27FC236}">
                <a16:creationId xmlns:a16="http://schemas.microsoft.com/office/drawing/2014/main" id="{1402B8B6-CB4E-4593-8C83-30DC43997BBE}"/>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[24]</a:t>
            </a:r>
          </a:p>
        </p:txBody>
      </p:sp>
      <p:sp>
        <p:nvSpPr>
          <p:cNvPr id="41" name="Quelle 24 author">
            <a:extLst>
              <a:ext uri="{FF2B5EF4-FFF2-40B4-BE49-F238E27FC236}">
                <a16:creationId xmlns:a16="http://schemas.microsoft.com/office/drawing/2014/main" id="{F60FF103-E893-4F5E-96E8-1804C30437A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 Jacob et al. (2018)</a:t>
            </a:r>
          </a:p>
        </p:txBody>
      </p:sp>
      <p:sp>
        <p:nvSpPr>
          <p:cNvPr id="42" name="Quelle 24 title">
            <a:extLst>
              <a:ext uri="{FF2B5EF4-FFF2-40B4-BE49-F238E27FC236}">
                <a16:creationId xmlns:a16="http://schemas.microsoft.com/office/drawing/2014/main" id="{2C4967EC-2003-4916-974B-7E32A46BC4E8}"/>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Quantization and Training of Neural Networks for Efficient Integer-Arithmetic-Only Inference</a:t>
            </a:r>
          </a:p>
        </p:txBody>
      </p:sp>
      <p:sp>
        <p:nvSpPr>
          <p:cNvPr id="43" name="Quelle 24 pub">
            <a:extLst>
              <a:ext uri="{FF2B5EF4-FFF2-40B4-BE49-F238E27FC236}">
                <a16:creationId xmlns:a16="http://schemas.microsoft.com/office/drawing/2014/main" id="{DB85BDE2-FACE-49FC-8962-E618BEC19562}"/>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CVPR, 2704–2713.</a:t>
            </a:r>
          </a:p>
        </p:txBody>
      </p:sp>
      <p:sp>
        <p:nvSpPr>
          <p:cNvPr id="44" name="Quelle 24 link">
            <a:extLst>
              <a:ext uri="{FF2B5EF4-FFF2-40B4-BE49-F238E27FC236}">
                <a16:creationId xmlns:a16="http://schemas.microsoft.com/office/drawing/2014/main" id="{E4B4D912-5E02-43A0-A3FD-56D3997BB203}"/>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10.1109/CVPR.2018.00286</a:t>
            </a:r>
          </a:p>
        </p:txBody>
      </p:sp>
      <p:sp>
        <p:nvSpPr>
          <p:cNvPr id="45" name="Quellennummer 25">
            <a:extLst>
              <a:ext uri="{FF2B5EF4-FFF2-40B4-BE49-F238E27FC236}">
                <a16:creationId xmlns:a16="http://schemas.microsoft.com/office/drawing/2014/main" id="{9433DAA8-B4AC-4545-8A20-DF03EC8237D8}"/>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[25]</a:t>
            </a:r>
          </a:p>
        </p:txBody>
      </p:sp>
      <p:sp>
        <p:nvSpPr>
          <p:cNvPr id="46" name="Quelle 25 author">
            <a:extLst>
              <a:ext uri="{FF2B5EF4-FFF2-40B4-BE49-F238E27FC236}">
                <a16:creationId xmlns:a16="http://schemas.microsoft.com/office/drawing/2014/main" id="{7489F974-AFB9-4193-B7D8-D199921187F3}"/>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R. Krishnamoorthi (2018)</a:t>
            </a:r>
          </a:p>
        </p:txBody>
      </p:sp>
      <p:sp>
        <p:nvSpPr>
          <p:cNvPr id="47" name="Quelle 25 title">
            <a:extLst>
              <a:ext uri="{FF2B5EF4-FFF2-40B4-BE49-F238E27FC236}">
                <a16:creationId xmlns:a16="http://schemas.microsoft.com/office/drawing/2014/main" id="{94AFD71D-616A-47A3-9FF4-7A9ABDAEEB5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Quantizing Deep Convolutional Networks for Efficient Inference: A Whitepaper</a:t>
            </a:r>
          </a:p>
        </p:txBody>
      </p:sp>
      <p:sp>
        <p:nvSpPr>
          <p:cNvPr id="48" name="Quelle 25 pub">
            <a:extLst>
              <a:ext uri="{FF2B5EF4-FFF2-40B4-BE49-F238E27FC236}">
                <a16:creationId xmlns:a16="http://schemas.microsoft.com/office/drawing/2014/main" id="{CF72271E-301B-480E-9625-6541D482A090}"/>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49" name="Quelle 25 link">
            <a:extLst>
              <a:ext uri="{FF2B5EF4-FFF2-40B4-BE49-F238E27FC236}">
                <a16:creationId xmlns:a16="http://schemas.microsoft.com/office/drawing/2014/main" id="{6A737F4B-0832-4624-B850-BAC27645874C}"/>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arXiv: 1806.08342</a:t>
            </a:r>
          </a:p>
        </p:txBody>
      </p:sp>
      <p:sp>
        <p:nvSpPr>
          <p:cNvPr id="50" name="Footer – Seitennummer">
            <a:extLst>
              <a:ext uri="{FF2B5EF4-FFF2-40B4-BE49-F238E27FC236}">
                <a16:creationId xmlns:a16="http://schemas.microsoft.com/office/drawing/2014/main" id="{4F79511E-8DB0-4A8E-9D50-CB64F8F84A4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9 / 9</a:t>
            </a:r>
          </a:p>
        </p:txBody>
      </p:sp>
      <p:sp>
        <p:nvSpPr>
          <p:cNvPr id="51" name="Footer – Präsentationsangaben">
            <a:extLst>
              <a:ext uri="{FF2B5EF4-FFF2-40B4-BE49-F238E27FC236}">
                <a16:creationId xmlns:a16="http://schemas.microsoft.com/office/drawing/2014/main" id="{C28DB2A0-95EA-4F63-97B3-2062AAA4E0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Sign-Flip-Test und Holm-Korrektur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8276C2A0-0D5B-4E74-A280-50E52D54332C}"/>
              </a:ext>
            </a:extLst>
          </p:cNvPr>
          <p:cNvSpPr>
            <a:spLocks noGrp="1"/>
          </p:cNvSpPr>
          <p:nvPr/>
        </p:nvSpPr>
        <p:spPr>
          <a:xfrm>
            <a:off x="552450" y="1390650"/>
            <a:ext cx="4619625"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n = 6 unabhängige Testzellen</a:t>
            </a:r>
          </a:p>
        </p:txBody>
      </p:sp>
      <p:sp>
        <p:nvSpPr>
          <p:cNvPr id="503" name="">
            <a:extLst>
              <a:ext uri="{FF2B5EF4-FFF2-40B4-BE49-F238E27FC236}">
                <a16:creationId xmlns:a16="http://schemas.microsoft.com/office/drawing/2014/main" id="{A357D690-3F81-43EF-B507-5DE7490B2F83}"/>
              </a:ext>
            </a:extLst>
          </p:cNvPr>
          <p:cNvSpPr>
            <a:spLocks noGrp="1"/>
          </p:cNvSpPr>
          <p:nvPr/>
        </p:nvSpPr>
        <p:spPr>
          <a:xfrm>
            <a:off x="552450" y="1724025"/>
            <a:ext cx="4619625"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 Fenster je Zelle mitteln. Dann je Zelle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den MAE-Unterschied zweier Modelle bilden.</a:t>
            </a:r>
          </a:p>
        </p:txBody>
      </p:sp>
      <p:sp>
        <p:nvSpPr>
          <p:cNvPr id="504" name="">
            <a:extLst>
              <a:ext uri="{FF2B5EF4-FFF2-40B4-BE49-F238E27FC236}">
                <a16:creationId xmlns:a16="http://schemas.microsoft.com/office/drawing/2014/main" id="{F2C9D182-BB44-4EBD-A899-6C4A4680E41C}"/>
              </a:ext>
            </a:extLst>
          </p:cNvPr>
          <p:cNvSpPr>
            <a:spLocks noGrp="1"/>
          </p:cNvSpPr>
          <p:nvPr/>
        </p:nvSpPr>
        <p:spPr>
          <a:xfrm>
            <a:off x="552450" y="2276475"/>
            <a:ext cx="4619625"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Beispiel: HECM 5 %, DD 3 % MAE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Differenz HECM − DD = +2 Prozentpunkte</a:t>
            </a:r>
          </a:p>
        </p:txBody>
      </p:sp>
      <p:sp>
        <p:nvSpPr>
          <p:cNvPr id="505" name="">
            <a:extLst>
              <a:ext uri="{FF2B5EF4-FFF2-40B4-BE49-F238E27FC236}">
                <a16:creationId xmlns:a16="http://schemas.microsoft.com/office/drawing/2014/main" id="{EE6E705A-2802-4541-A03A-C60394E267DC}"/>
              </a:ext>
            </a:extLst>
          </p:cNvPr>
          <p:cNvSpPr>
            <a:spLocks noGrp="1"/>
          </p:cNvSpPr>
          <p:nvPr/>
        </p:nvSpPr>
        <p:spPr>
          <a:xfrm>
            <a:off x="5343525" y="1390650"/>
            <a:ext cx="457200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m = 6 Paare aus 4 Modellen</a:t>
            </a:r>
          </a:p>
        </p:txBody>
      </p:sp>
      <p:sp>
        <p:nvSpPr>
          <p:cNvPr id="506" name="">
            <a:extLst>
              <a:ext uri="{FF2B5EF4-FFF2-40B4-BE49-F238E27FC236}">
                <a16:creationId xmlns:a16="http://schemas.microsoft.com/office/drawing/2014/main" id="{F862A1D9-0655-4AAA-8732-197A794DFC49}"/>
              </a:ext>
            </a:extLst>
          </p:cNvPr>
          <p:cNvSpPr>
            <a:spLocks noGrp="1"/>
          </p:cNvSpPr>
          <p:nvPr/>
        </p:nvSpPr>
        <p:spPr>
          <a:xfrm>
            <a:off x="5343525" y="1724025"/>
            <a:ext cx="4572000"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DM–HDM, DM–HECM, DM–DD</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HDM–HECM, HDM–DD, HECM–DD</a:t>
            </a:r>
          </a:p>
        </p:txBody>
      </p:sp>
      <p:sp>
        <p:nvSpPr>
          <p:cNvPr id="507" name="">
            <a:extLst>
              <a:ext uri="{FF2B5EF4-FFF2-40B4-BE49-F238E27FC236}">
                <a16:creationId xmlns:a16="http://schemas.microsoft.com/office/drawing/2014/main" id="{6CD65F9C-FD4B-48E2-8254-E5A42E384DAC}"/>
              </a:ext>
            </a:extLst>
          </p:cNvPr>
          <p:cNvSpPr>
            <a:spLocks noGrp="1"/>
          </p:cNvSpPr>
          <p:nvPr/>
        </p:nvSpPr>
        <p:spPr>
          <a:xfrm>
            <a:off x="5343525" y="2276475"/>
            <a:ext cx="4572000"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3 + 2 + 1 = 6 Vergleiche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Auch bei 8 Zellen bleiben es diese 6 Paare.</a:t>
            </a:r>
          </a:p>
        </p:txBody>
      </p:sp>
      <p:sp>
        <p:nvSpPr>
          <p:cNvPr id="508" name="">
            <a:extLst>
              <a:ext uri="{FF2B5EF4-FFF2-40B4-BE49-F238E27FC236}">
                <a16:creationId xmlns:a16="http://schemas.microsoft.com/office/drawing/2014/main" id="{194031DB-1D20-49FC-850D-7ED655195804}"/>
              </a:ext>
            </a:extLst>
          </p:cNvPr>
          <p:cNvSpPr>
            <a:spLocks noGrp="1"/>
          </p:cNvSpPr>
          <p:nvPr/>
        </p:nvSpPr>
        <p:spPr>
          <a:xfrm>
            <a:off x="552450" y="2819400"/>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Sign-Flip: Vorzeichen wechseln, Beträge beibehalten</a:t>
            </a:r>
          </a:p>
        </p:txBody>
      </p:sp>
      <p:sp>
        <p:nvSpPr>
          <p:cNvPr id="509" name="">
            <a:extLst>
              <a:ext uri="{FF2B5EF4-FFF2-40B4-BE49-F238E27FC236}">
                <a16:creationId xmlns:a16="http://schemas.microsoft.com/office/drawing/2014/main" id="{7BD4515B-1B98-4624-BC7F-079DC6F057F4}"/>
              </a:ext>
            </a:extLst>
          </p:cNvPr>
          <p:cNvSpPr>
            <a:spLocks noGrp="1"/>
          </p:cNvSpPr>
          <p:nvPr/>
        </p:nvSpPr>
        <p:spPr>
          <a:xfrm>
            <a:off x="552450" y="3162300"/>
            <a:ext cx="9353550" cy="5524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Beispieldifferenzen: +1, +2, +1, +2, +1, +2 Prozentpunkte. Mittel = +1,5.</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64 Muster. Nur alle + und alle − sind so extrem: p = 2 / 64 = 0,03125 (zweiseitig).</a:t>
            </a:r>
          </a:p>
        </p:txBody>
      </p:sp>
      <p:sp>
        <p:nvSpPr>
          <p:cNvPr id="510" name="">
            <a:extLst>
              <a:ext uri="{FF2B5EF4-FFF2-40B4-BE49-F238E27FC236}">
                <a16:creationId xmlns:a16="http://schemas.microsoft.com/office/drawing/2014/main" id="{BBB10B1E-9E34-4940-A921-0779999AC62E}"/>
              </a:ext>
            </a:extLst>
          </p:cNvPr>
          <p:cNvSpPr>
            <a:spLocks noGrp="1"/>
          </p:cNvSpPr>
          <p:nvPr/>
        </p:nvSpPr>
        <p:spPr>
          <a:xfrm>
            <a:off x="552450" y="3762375"/>
            <a:ext cx="9353550" cy="266700"/>
          </a:xfrm>
          <a:prstGeom prst="rect">
            <a:avLst/>
          </a:prstGeom>
          <a:noFill/>
          <a:ln w="0">
            <a:noFill/>
          </a:ln>
        </p:spPr>
        <p:txBody>
          <a:bodyPr>
            <a:noAutofit/>
          </a:bodyPr>
          <a:lstStyle/>
          <a:p>
            <a:pPr>
              <a:defRPr sz="1650" b="1">
                <a:solidFill>
                  <a:srgbClr val="454545"/>
                </a:solidFill>
                <a:latin typeface="Calibri"/>
                <a:ea typeface="Calibri"/>
                <a:cs typeface="Calibri"/>
              </a:defRPr>
            </a:pPr>
            <a:r>
              <a:rPr sz="1650" b="1">
                <a:solidFill>
                  <a:srgbClr val="454545"/>
                </a:solidFill>
                <a:latin typeface="Calibri"/>
                <a:ea typeface="Calibri"/>
                <a:cs typeface="Calibri"/>
              </a:rPr>
              <a:t>Holm: gewählte Fehlergrenze α = 0,05 für die Familie der 6 Vergleiche</a:t>
            </a:r>
          </a:p>
        </p:txBody>
      </p:sp>
      <p:sp>
        <p:nvSpPr>
          <p:cNvPr id="511" name="">
            <a:extLst>
              <a:ext uri="{FF2B5EF4-FFF2-40B4-BE49-F238E27FC236}">
                <a16:creationId xmlns:a16="http://schemas.microsoft.com/office/drawing/2014/main" id="{34191498-E8FE-4FE8-8B1D-055B616DEF4A}"/>
              </a:ext>
            </a:extLst>
          </p:cNvPr>
          <p:cNvSpPr>
            <a:spLocks noGrp="1"/>
          </p:cNvSpPr>
          <p:nvPr/>
        </p:nvSpPr>
        <p:spPr>
          <a:xfrm>
            <a:off x="552450" y="4086225"/>
            <a:ext cx="9353550" cy="25717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Erste Hürde für den kleinsten p-Wert: α / m = 0,05 / 6 = 0,008333…</a:t>
            </a:r>
          </a:p>
        </p:txBody>
      </p:sp>
      <p:graphicFrame>
        <p:nvGraphicFramePr>
          <p:cNvPr id="512" name=""/>
          <p:cNvGraphicFramePr/>
          <p:nvPr/>
        </p:nvGraphicFramePr>
        <p:xfrm>
          <a:off x="552450" y="4448175"/>
          <a:ext cx="9353550" cy="1066800"/>
        </p:xfrm>
        <a:graphic>
          <a:graphicData uri="http://schemas.openxmlformats.org/drawingml/2006/table">
            <a:tbl>
              <a:tblPr/>
              <a:tblGrid>
                <a:gridCol w="1333500"/>
                <a:gridCol w="2543175"/>
                <a:gridCol w="2667000"/>
                <a:gridCol w="2809875"/>
              </a:tblGrid>
              <a:tr h="266700">
                <a:tc>
                  <a:txBody>
                    <a:bodyPr/>
                    <a:lstStyle/>
                    <a:p>
                      <a:r>
                        <a:rPr sz="1425" b="1">
                          <a:solidFill>
                            <a:srgbClr val="454545"/>
                          </a:solidFill>
                          <a:latin typeface="Calibri"/>
                          <a:ea typeface="Calibri"/>
                          <a:cs typeface="Calibri"/>
                        </a:rPr>
                        <a:t>Zellen n</a:t>
                      </a:r>
                    </a:p>
                  </a:txBody>
                  <a:tcPr marL="91440" marR="91440" marT="45720" marB="45720">
                    <a:solidFill>
                      <a:srgbClr val="F1E3E6"/>
                    </a:solidFill>
                  </a:tcPr>
                </a:tc>
                <a:tc>
                  <a:txBody>
                    <a:bodyPr/>
                    <a:lstStyle/>
                    <a:p>
                      <a:r>
                        <a:rPr sz="1425" b="1">
                          <a:solidFill>
                            <a:srgbClr val="454545"/>
                          </a:solidFill>
                          <a:latin typeface="Calibri"/>
                          <a:ea typeface="Calibri"/>
                          <a:cs typeface="Calibri"/>
                        </a:rPr>
                        <a:t>Vorzeichenmuster 2ⁿ</a:t>
                      </a:r>
                    </a:p>
                  </a:txBody>
                  <a:tcPr marL="91440" marR="91440" marT="45720" marB="45720">
                    <a:solidFill>
                      <a:srgbClr val="F1E3E6"/>
                    </a:solidFill>
                  </a:tcPr>
                </a:tc>
                <a:tc>
                  <a:txBody>
                    <a:bodyPr/>
                    <a:lstStyle/>
                    <a:p>
                      <a:r>
                        <a:rPr sz="1425" b="1">
                          <a:solidFill>
                            <a:srgbClr val="454545"/>
                          </a:solidFill>
                          <a:latin typeface="Calibri"/>
                          <a:ea typeface="Calibri"/>
                          <a:cs typeface="Calibri"/>
                        </a:rPr>
                        <a:t>Kleinstes p = 2 / 2ⁿ</a:t>
                      </a:r>
                    </a:p>
                  </a:txBody>
                  <a:tcPr marL="91440" marR="91440" marT="45720" marB="45720">
                    <a:solidFill>
                      <a:srgbClr val="F1E3E6"/>
                    </a:solidFill>
                  </a:tcPr>
                </a:tc>
                <a:tc>
                  <a:txBody>
                    <a:bodyPr/>
                    <a:lstStyle/>
                    <a:p>
                      <a:r>
                        <a:rPr sz="1425" b="1">
                          <a:solidFill>
                            <a:srgbClr val="454545"/>
                          </a:solidFill>
                          <a:latin typeface="Calibri"/>
                          <a:ea typeface="Calibri"/>
                          <a:cs typeface="Calibri"/>
                        </a:rPr>
                        <a:t>Erste Holm-Hürde</a:t>
                      </a:r>
                    </a:p>
                  </a:txBody>
                  <a:tcPr marL="91440" marR="91440" marT="45720" marB="45720">
                    <a:solidFill>
                      <a:srgbClr val="F1E3E6"/>
                    </a:solidFill>
                  </a:tcPr>
                </a:tc>
              </a:tr>
              <a:tr h="266700">
                <a:tc>
                  <a:txBody>
                    <a:bodyPr/>
                    <a:lstStyle/>
                    <a:p>
                      <a:r>
                        <a:rPr sz="1425" b="0">
                          <a:solidFill>
                            <a:srgbClr val="454545"/>
                          </a:solidFill>
                          <a:latin typeface="Calibri"/>
                          <a:ea typeface="Calibri"/>
                          <a:cs typeface="Calibri"/>
                        </a:rPr>
                        <a:t>6</a:t>
                      </a:r>
                    </a:p>
                  </a:txBody>
                  <a:tcPr marL="91440" marR="91440" marT="45720" marB="45720">
                    <a:solidFill>
                      <a:srgbClr val="FFFFFF"/>
                    </a:solidFill>
                  </a:tcPr>
                </a:tc>
                <a:tc>
                  <a:txBody>
                    <a:bodyPr/>
                    <a:lstStyle/>
                    <a:p>
                      <a:r>
                        <a:rPr sz="1425" b="0">
                          <a:solidFill>
                            <a:srgbClr val="454545"/>
                          </a:solidFill>
                          <a:latin typeface="Calibri"/>
                          <a:ea typeface="Calibri"/>
                          <a:cs typeface="Calibri"/>
                        </a:rPr>
                        <a:t>64</a:t>
                      </a:r>
                    </a:p>
                  </a:txBody>
                  <a:tcPr marL="91440" marR="91440" marT="45720" marB="45720">
                    <a:solidFill>
                      <a:srgbClr val="FFFFFF"/>
                    </a:solidFill>
                  </a:tcPr>
                </a:tc>
                <a:tc>
                  <a:txBody>
                    <a:bodyPr/>
                    <a:lstStyle/>
                    <a:p>
                      <a:r>
                        <a:rPr sz="1425" b="0">
                          <a:solidFill>
                            <a:srgbClr val="454545"/>
                          </a:solidFill>
                          <a:latin typeface="Calibri"/>
                          <a:ea typeface="Calibri"/>
                          <a:cs typeface="Calibri"/>
                        </a:rPr>
                        <a:t>0,03125</a:t>
                      </a:r>
                    </a:p>
                  </a:txBody>
                  <a:tcPr marL="91440" marR="91440" marT="45720" marB="45720">
                    <a:solidFill>
                      <a:srgbClr val="FFFFFF"/>
                    </a:solidFill>
                  </a:tcPr>
                </a:tc>
                <a:tc>
                  <a:txBody>
                    <a:bodyPr/>
                    <a:lstStyle/>
                    <a:p>
                      <a:r>
                        <a:rPr sz="1425" b="0">
                          <a:solidFill>
                            <a:srgbClr val="454545"/>
                          </a:solidFill>
                          <a:latin typeface="Calibri"/>
                          <a:ea typeface="Calibri"/>
                          <a:cs typeface="Calibri"/>
                        </a:rPr>
                        <a:t>nicht erreichbar</a:t>
                      </a:r>
                    </a:p>
                  </a:txBody>
                  <a:tcPr marL="91440" marR="91440" marT="45720" marB="45720">
                    <a:solidFill>
                      <a:srgbClr val="FFFFFF"/>
                    </a:solidFill>
                  </a:tcPr>
                </a:tc>
              </a:tr>
              <a:tr h="266700">
                <a:tc>
                  <a:txBody>
                    <a:bodyPr/>
                    <a:lstStyle/>
                    <a:p>
                      <a:r>
                        <a:rPr sz="1425" b="0">
                          <a:solidFill>
                            <a:srgbClr val="454545"/>
                          </a:solidFill>
                          <a:latin typeface="Calibri"/>
                          <a:ea typeface="Calibri"/>
                          <a:cs typeface="Calibri"/>
                        </a:rPr>
                        <a:t>7</a:t>
                      </a:r>
                    </a:p>
                  </a:txBody>
                  <a:tcPr marL="91440" marR="91440" marT="45720" marB="45720">
                    <a:solidFill>
                      <a:srgbClr val="F4F4F4"/>
                    </a:solidFill>
                  </a:tcPr>
                </a:tc>
                <a:tc>
                  <a:txBody>
                    <a:bodyPr/>
                    <a:lstStyle/>
                    <a:p>
                      <a:r>
                        <a:rPr sz="1425" b="0">
                          <a:solidFill>
                            <a:srgbClr val="454545"/>
                          </a:solidFill>
                          <a:latin typeface="Calibri"/>
                          <a:ea typeface="Calibri"/>
                          <a:cs typeface="Calibri"/>
                        </a:rPr>
                        <a:t>128</a:t>
                      </a:r>
                    </a:p>
                  </a:txBody>
                  <a:tcPr marL="91440" marR="91440" marT="45720" marB="45720">
                    <a:solidFill>
                      <a:srgbClr val="F4F4F4"/>
                    </a:solidFill>
                  </a:tcPr>
                </a:tc>
                <a:tc>
                  <a:txBody>
                    <a:bodyPr/>
                    <a:lstStyle/>
                    <a:p>
                      <a:r>
                        <a:rPr sz="1425" b="0">
                          <a:solidFill>
                            <a:srgbClr val="454545"/>
                          </a:solidFill>
                          <a:latin typeface="Calibri"/>
                          <a:ea typeface="Calibri"/>
                          <a:cs typeface="Calibri"/>
                        </a:rPr>
                        <a:t>0,015625</a:t>
                      </a:r>
                    </a:p>
                  </a:txBody>
                  <a:tcPr marL="91440" marR="91440" marT="45720" marB="45720">
                    <a:solidFill>
                      <a:srgbClr val="F4F4F4"/>
                    </a:solidFill>
                  </a:tcPr>
                </a:tc>
                <a:tc>
                  <a:txBody>
                    <a:bodyPr/>
                    <a:lstStyle/>
                    <a:p>
                      <a:r>
                        <a:rPr sz="1425" b="0">
                          <a:solidFill>
                            <a:srgbClr val="454545"/>
                          </a:solidFill>
                          <a:latin typeface="Calibri"/>
                          <a:ea typeface="Calibri"/>
                          <a:cs typeface="Calibri"/>
                        </a:rPr>
                        <a:t>nicht erreichbar</a:t>
                      </a:r>
                    </a:p>
                  </a:txBody>
                  <a:tcPr marL="91440" marR="91440" marT="45720" marB="45720">
                    <a:solidFill>
                      <a:srgbClr val="F4F4F4"/>
                    </a:solidFill>
                  </a:tcPr>
                </a:tc>
              </a:tr>
              <a:tr h="266700">
                <a:tc>
                  <a:txBody>
                    <a:bodyPr/>
                    <a:lstStyle/>
                    <a:p>
                      <a:r>
                        <a:rPr sz="1425" b="0">
                          <a:solidFill>
                            <a:srgbClr val="454545"/>
                          </a:solidFill>
                          <a:latin typeface="Calibri"/>
                          <a:ea typeface="Calibri"/>
                          <a:cs typeface="Calibri"/>
                        </a:rPr>
                        <a:t>8</a:t>
                      </a:r>
                    </a:p>
                  </a:txBody>
                  <a:tcPr marL="91440" marR="91440" marT="45720" marB="45720">
                    <a:solidFill>
                      <a:srgbClr val="FFFFFF"/>
                    </a:solidFill>
                  </a:tcPr>
                </a:tc>
                <a:tc>
                  <a:txBody>
                    <a:bodyPr/>
                    <a:lstStyle/>
                    <a:p>
                      <a:r>
                        <a:rPr sz="1425" b="0">
                          <a:solidFill>
                            <a:srgbClr val="454545"/>
                          </a:solidFill>
                          <a:latin typeface="Calibri"/>
                          <a:ea typeface="Calibri"/>
                          <a:cs typeface="Calibri"/>
                        </a:rPr>
                        <a:t>256</a:t>
                      </a:r>
                    </a:p>
                  </a:txBody>
                  <a:tcPr marL="91440" marR="91440" marT="45720" marB="45720">
                    <a:solidFill>
                      <a:srgbClr val="FFFFFF"/>
                    </a:solidFill>
                  </a:tcPr>
                </a:tc>
                <a:tc>
                  <a:txBody>
                    <a:bodyPr/>
                    <a:lstStyle/>
                    <a:p>
                      <a:r>
                        <a:rPr sz="1425" b="0">
                          <a:solidFill>
                            <a:srgbClr val="454545"/>
                          </a:solidFill>
                          <a:latin typeface="Calibri"/>
                          <a:ea typeface="Calibri"/>
                          <a:cs typeface="Calibri"/>
                        </a:rPr>
                        <a:t>0,0078125</a:t>
                      </a:r>
                    </a:p>
                  </a:txBody>
                  <a:tcPr marL="91440" marR="91440" marT="45720" marB="45720">
                    <a:solidFill>
                      <a:srgbClr val="FFFFFF"/>
                    </a:solidFill>
                  </a:tcPr>
                </a:tc>
                <a:tc>
                  <a:txBody>
                    <a:bodyPr/>
                    <a:lstStyle/>
                    <a:p>
                      <a:r>
                        <a:rPr sz="1425" b="0">
                          <a:solidFill>
                            <a:srgbClr val="454545"/>
                          </a:solidFill>
                          <a:latin typeface="Calibri"/>
                          <a:ea typeface="Calibri"/>
                          <a:cs typeface="Calibri"/>
                        </a:rPr>
                        <a:t>erreichbar</a:t>
                      </a:r>
                    </a:p>
                  </a:txBody>
                  <a:tcPr marL="91440" marR="91440" marT="45720" marB="45720">
                    <a:solidFill>
                      <a:srgbClr val="FFFFFF"/>
                    </a:solidFill>
                  </a:tcPr>
                </a:tc>
              </a:tr>
            </a:tbl>
          </a:graphicData>
        </a:graphic>
      </p:graphicFrame>
      <p:sp>
        <p:nvSpPr>
          <p:cNvPr id="513" name="">
            <a:extLst>
              <a:ext uri="{FF2B5EF4-FFF2-40B4-BE49-F238E27FC236}">
                <a16:creationId xmlns:a16="http://schemas.microsoft.com/office/drawing/2014/main" id="{05906663-91DB-49EF-BD2E-6257774B1D2E}"/>
              </a:ext>
            </a:extLst>
          </p:cNvPr>
          <p:cNvSpPr>
            <a:spLocks noGrp="1"/>
          </p:cNvSpPr>
          <p:nvPr/>
        </p:nvSpPr>
        <p:spPr>
          <a:xfrm>
            <a:off x="552450" y="5715000"/>
            <a:ext cx="9353550" cy="2667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8 Zellen ermöglichen Signifikanz rechnerisch. Sie garantieren sie nicht.</a:t>
            </a:r>
          </a:p>
        </p:txBody>
      </p:sp>
    </p:spTree>
    <p:extLst>
      <p:ext uri="{BB962C8B-B14F-4D97-AF65-F5344CB8AC3E}">
        <p14:creationId xmlns:p14="http://schemas.microsoft.com/office/powerpoint/2010/main" val="15989129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Bootstrap und 95%-Konfidenzintervall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22</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7D0AB3D3-0155-4CCE-97AD-6B867D00B8F3}"/>
              </a:ext>
            </a:extLst>
          </p:cNvPr>
          <p:cNvSpPr>
            <a:spLocks noGrp="1"/>
          </p:cNvSpPr>
          <p:nvPr/>
        </p:nvSpPr>
        <p:spPr>
          <a:xfrm>
            <a:off x="552450" y="1381125"/>
            <a:ext cx="935355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1  Ausgangspunkt: sechs gleich gewichtete Zellwerte</a:t>
            </a:r>
          </a:p>
        </p:txBody>
      </p:sp>
      <p:sp>
        <p:nvSpPr>
          <p:cNvPr id="503" name="">
            <a:extLst>
              <a:ext uri="{FF2B5EF4-FFF2-40B4-BE49-F238E27FC236}">
                <a16:creationId xmlns:a16="http://schemas.microsoft.com/office/drawing/2014/main" id="{FFE13186-3C2D-4B87-B964-3E7ECD7CEC3A}"/>
              </a:ext>
            </a:extLst>
          </p:cNvPr>
          <p:cNvSpPr>
            <a:spLocks noGrp="1"/>
          </p:cNvSpPr>
          <p:nvPr/>
        </p:nvSpPr>
        <p:spPr>
          <a:xfrm>
            <a:off x="552450" y="1733550"/>
            <a:ext cx="9353550" cy="2857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16 Fenster zuerst je Zelle mitteln. Der Balken mittelt die sechs Zellwerte gleich gewichtet.</a:t>
            </a:r>
          </a:p>
        </p:txBody>
      </p:sp>
      <p:sp>
        <p:nvSpPr>
          <p:cNvPr id="504" name="">
            <a:extLst>
              <a:ext uri="{FF2B5EF4-FFF2-40B4-BE49-F238E27FC236}">
                <a16:creationId xmlns:a16="http://schemas.microsoft.com/office/drawing/2014/main" id="{E24081F5-5529-449D-8357-3A113DFF43AA}"/>
              </a:ext>
            </a:extLst>
          </p:cNvPr>
          <p:cNvSpPr>
            <a:spLocks noGrp="1"/>
          </p:cNvSpPr>
          <p:nvPr/>
        </p:nvSpPr>
        <p:spPr>
          <a:xfrm>
            <a:off x="552450" y="2085975"/>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2  Zufällig sechs Zellen ziehen, mit Zurücklegen</a:t>
            </a:r>
          </a:p>
        </p:txBody>
      </p:sp>
      <p:sp>
        <p:nvSpPr>
          <p:cNvPr id="505" name="">
            <a:extLst>
              <a:ext uri="{FF2B5EF4-FFF2-40B4-BE49-F238E27FC236}">
                <a16:creationId xmlns:a16="http://schemas.microsoft.com/office/drawing/2014/main" id="{30AE5B61-DDE2-4FF9-AABF-B7F91484E477}"/>
              </a:ext>
            </a:extLst>
          </p:cNvPr>
          <p:cNvSpPr>
            <a:spLocks noGrp="1"/>
          </p:cNvSpPr>
          <p:nvPr/>
        </p:nvSpPr>
        <p:spPr>
          <a:xfrm>
            <a:off x="552450" y="2390775"/>
            <a:ext cx="9353550" cy="2762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Erfundenes Beispiel: Zellen dürfen mehrfach vorkommen, andere fehlen.</a:t>
            </a:r>
          </a:p>
        </p:txBody>
      </p:sp>
      <p:graphicFrame>
        <p:nvGraphicFramePr>
          <p:cNvPr id="506" name=""/>
          <p:cNvGraphicFramePr/>
          <p:nvPr/>
        </p:nvGraphicFramePr>
        <p:xfrm>
          <a:off x="552450" y="2714625"/>
          <a:ext cx="9353550" cy="1066800"/>
        </p:xfrm>
        <a:graphic>
          <a:graphicData uri="http://schemas.openxmlformats.org/drawingml/2006/table">
            <a:tbl>
              <a:tblPr/>
              <a:tblGrid>
                <a:gridCol w="2190750"/>
                <a:gridCol w="5238750"/>
                <a:gridCol w="1924050"/>
              </a:tblGrid>
              <a:tr h="266700">
                <a:tc>
                  <a:txBody>
                    <a:bodyPr/>
                    <a:lstStyle/>
                    <a:p>
                      <a:r>
                        <a:rPr sz="1425" b="1">
                          <a:solidFill>
                            <a:srgbClr val="454545"/>
                          </a:solidFill>
                          <a:latin typeface="Calibri"/>
                          <a:ea typeface="Calibri"/>
                          <a:cs typeface="Calibri"/>
                        </a:rPr>
                        <a:t>Zusammenstellung</a:t>
                      </a:r>
                    </a:p>
                  </a:txBody>
                  <a:tcPr marL="91440" marR="91440" marT="45720" marB="45720">
                    <a:solidFill>
                      <a:srgbClr val="F1E3E6"/>
                    </a:solidFill>
                  </a:tcPr>
                </a:tc>
                <a:tc>
                  <a:txBody>
                    <a:bodyPr/>
                    <a:lstStyle/>
                    <a:p>
                      <a:r>
                        <a:rPr sz="1425" b="1">
                          <a:solidFill>
                            <a:srgbClr val="454545"/>
                          </a:solidFill>
                          <a:latin typeface="Calibri"/>
                          <a:ea typeface="Calibri"/>
                          <a:cs typeface="Calibri"/>
                        </a:rPr>
                        <a:t>Sechs Zell-MAE-Werte in %</a:t>
                      </a:r>
                    </a:p>
                  </a:txBody>
                  <a:tcPr marL="91440" marR="91440" marT="45720" marB="45720">
                    <a:solidFill>
                      <a:srgbClr val="F1E3E6"/>
                    </a:solidFill>
                  </a:tcPr>
                </a:tc>
                <a:tc>
                  <a:txBody>
                    <a:bodyPr/>
                    <a:lstStyle/>
                    <a:p>
                      <a:r>
                        <a:rPr sz="1425" b="1">
                          <a:solidFill>
                            <a:srgbClr val="454545"/>
                          </a:solidFill>
                          <a:latin typeface="Calibri"/>
                          <a:ea typeface="Calibri"/>
                          <a:cs typeface="Calibri"/>
                        </a:rPr>
                        <a:t>Mittelwert</a:t>
                      </a:r>
                    </a:p>
                  </a:txBody>
                  <a:tcPr marL="91440" marR="91440" marT="45720" marB="45720">
                    <a:solidFill>
                      <a:srgbClr val="F1E3E6"/>
                    </a:solidFill>
                  </a:tcPr>
                </a:tc>
              </a:tr>
              <a:tr h="266700">
                <a:tc>
                  <a:txBody>
                    <a:bodyPr/>
                    <a:lstStyle/>
                    <a:p>
                      <a:r>
                        <a:rPr sz="1425" b="0">
                          <a:solidFill>
                            <a:srgbClr val="454545"/>
                          </a:solidFill>
                          <a:latin typeface="Calibri"/>
                          <a:ea typeface="Calibri"/>
                          <a:cs typeface="Calibri"/>
                        </a:rPr>
                        <a:t>Original: A B C D E F</a:t>
                      </a:r>
                    </a:p>
                  </a:txBody>
                  <a:tcPr marL="91440" marR="91440" marT="45720" marB="45720">
                    <a:solidFill>
                      <a:srgbClr val="FFFFFF"/>
                    </a:solidFill>
                  </a:tcPr>
                </a:tc>
                <a:tc>
                  <a:txBody>
                    <a:bodyPr/>
                    <a:lstStyle/>
                    <a:p>
                      <a:r>
                        <a:rPr sz="1425" b="0">
                          <a:solidFill>
                            <a:srgbClr val="454545"/>
                          </a:solidFill>
                          <a:latin typeface="Calibri"/>
                          <a:ea typeface="Calibri"/>
                          <a:cs typeface="Calibri"/>
                        </a:rPr>
                        <a:t>2 + 3 + 4 + 5 + 6 + 10</a:t>
                      </a:r>
                    </a:p>
                  </a:txBody>
                  <a:tcPr marL="91440" marR="91440" marT="45720" marB="45720">
                    <a:solidFill>
                      <a:srgbClr val="FFFFFF"/>
                    </a:solidFill>
                  </a:tcPr>
                </a:tc>
                <a:tc>
                  <a:txBody>
                    <a:bodyPr/>
                    <a:lstStyle/>
                    <a:p>
                      <a:r>
                        <a:rPr sz="1425" b="0">
                          <a:solidFill>
                            <a:srgbClr val="454545"/>
                          </a:solidFill>
                          <a:latin typeface="Calibri"/>
                          <a:ea typeface="Calibri"/>
                          <a:cs typeface="Calibri"/>
                        </a:rPr>
                        <a:t>30 / 6 = 5 %</a:t>
                      </a:r>
                    </a:p>
                  </a:txBody>
                  <a:tcPr marL="91440" marR="91440" marT="45720" marB="45720">
                    <a:solidFill>
                      <a:srgbClr val="FFFFFF"/>
                    </a:solidFill>
                  </a:tcPr>
                </a:tc>
              </a:tr>
              <a:tr h="266700">
                <a:tc>
                  <a:txBody>
                    <a:bodyPr/>
                    <a:lstStyle/>
                    <a:p>
                      <a:r>
                        <a:rPr sz="1425" b="0">
                          <a:solidFill>
                            <a:srgbClr val="454545"/>
                          </a:solidFill>
                          <a:latin typeface="Calibri"/>
                          <a:ea typeface="Calibri"/>
                          <a:cs typeface="Calibri"/>
                        </a:rPr>
                        <a:t>Ziehung 1: A A B C D F</a:t>
                      </a:r>
                    </a:p>
                  </a:txBody>
                  <a:tcPr marL="91440" marR="91440" marT="45720" marB="45720">
                    <a:solidFill>
                      <a:srgbClr val="F4F4F4"/>
                    </a:solidFill>
                  </a:tcPr>
                </a:tc>
                <a:tc>
                  <a:txBody>
                    <a:bodyPr/>
                    <a:lstStyle/>
                    <a:p>
                      <a:r>
                        <a:rPr sz="1425" b="0">
                          <a:solidFill>
                            <a:srgbClr val="454545"/>
                          </a:solidFill>
                          <a:latin typeface="Calibri"/>
                          <a:ea typeface="Calibri"/>
                          <a:cs typeface="Calibri"/>
                        </a:rPr>
                        <a:t>2 + 2 + 3 + 4 + 5 + 10</a:t>
                      </a:r>
                    </a:p>
                  </a:txBody>
                  <a:tcPr marL="91440" marR="91440" marT="45720" marB="45720">
                    <a:solidFill>
                      <a:srgbClr val="F4F4F4"/>
                    </a:solidFill>
                  </a:tcPr>
                </a:tc>
                <a:tc>
                  <a:txBody>
                    <a:bodyPr/>
                    <a:lstStyle/>
                    <a:p>
                      <a:r>
                        <a:rPr sz="1425" b="0">
                          <a:solidFill>
                            <a:srgbClr val="454545"/>
                          </a:solidFill>
                          <a:latin typeface="Calibri"/>
                          <a:ea typeface="Calibri"/>
                          <a:cs typeface="Calibri"/>
                        </a:rPr>
                        <a:t>26 / 6 ≈ 4,33 %</a:t>
                      </a:r>
                    </a:p>
                  </a:txBody>
                  <a:tcPr marL="91440" marR="91440" marT="45720" marB="45720">
                    <a:solidFill>
                      <a:srgbClr val="F4F4F4"/>
                    </a:solidFill>
                  </a:tcPr>
                </a:tc>
              </a:tr>
              <a:tr h="266700">
                <a:tc>
                  <a:txBody>
                    <a:bodyPr/>
                    <a:lstStyle/>
                    <a:p>
                      <a:r>
                        <a:rPr sz="1425" b="0">
                          <a:solidFill>
                            <a:srgbClr val="454545"/>
                          </a:solidFill>
                          <a:latin typeface="Calibri"/>
                          <a:ea typeface="Calibri"/>
                          <a:cs typeface="Calibri"/>
                        </a:rPr>
                        <a:t>Ziehung 2: F F E D C B</a:t>
                      </a:r>
                    </a:p>
                  </a:txBody>
                  <a:tcPr marL="91440" marR="91440" marT="45720" marB="45720">
                    <a:solidFill>
                      <a:srgbClr val="FFFFFF"/>
                    </a:solidFill>
                  </a:tcPr>
                </a:tc>
                <a:tc>
                  <a:txBody>
                    <a:bodyPr/>
                    <a:lstStyle/>
                    <a:p>
                      <a:r>
                        <a:rPr sz="1425" b="0">
                          <a:solidFill>
                            <a:srgbClr val="454545"/>
                          </a:solidFill>
                          <a:latin typeface="Calibri"/>
                          <a:ea typeface="Calibri"/>
                          <a:cs typeface="Calibri"/>
                        </a:rPr>
                        <a:t>10 + 10 + 6 + 5 + 4 + 3</a:t>
                      </a:r>
                    </a:p>
                  </a:txBody>
                  <a:tcPr marL="91440" marR="91440" marT="45720" marB="45720">
                    <a:solidFill>
                      <a:srgbClr val="FFFFFF"/>
                    </a:solidFill>
                  </a:tcPr>
                </a:tc>
                <a:tc>
                  <a:txBody>
                    <a:bodyPr/>
                    <a:lstStyle/>
                    <a:p>
                      <a:r>
                        <a:rPr sz="1425" b="0">
                          <a:solidFill>
                            <a:srgbClr val="454545"/>
                          </a:solidFill>
                          <a:latin typeface="Calibri"/>
                          <a:ea typeface="Calibri"/>
                          <a:cs typeface="Calibri"/>
                        </a:rPr>
                        <a:t>38 / 6 ≈ 6,33 %</a:t>
                      </a:r>
                    </a:p>
                  </a:txBody>
                  <a:tcPr marL="91440" marR="91440" marT="45720" marB="45720">
                    <a:solidFill>
                      <a:srgbClr val="FFFFFF"/>
                    </a:solidFill>
                  </a:tcPr>
                </a:tc>
              </a:tr>
            </a:tbl>
          </a:graphicData>
        </a:graphic>
      </p:graphicFrame>
      <p:sp>
        <p:nvSpPr>
          <p:cNvPr id="507" name="">
            <a:extLst>
              <a:ext uri="{FF2B5EF4-FFF2-40B4-BE49-F238E27FC236}">
                <a16:creationId xmlns:a16="http://schemas.microsoft.com/office/drawing/2014/main" id="{2C85167D-1D30-44F0-992F-50F3504B0CA8}"/>
              </a:ext>
            </a:extLst>
          </p:cNvPr>
          <p:cNvSpPr>
            <a:spLocks noGrp="1"/>
          </p:cNvSpPr>
          <p:nvPr/>
        </p:nvSpPr>
        <p:spPr>
          <a:xfrm>
            <a:off x="552450" y="4010025"/>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3  10.000-mal neu ziehen und jeweils den Mittelwert berechnen</a:t>
            </a:r>
          </a:p>
        </p:txBody>
      </p:sp>
      <p:sp>
        <p:nvSpPr>
          <p:cNvPr id="508" name="">
            <a:extLst>
              <a:ext uri="{FF2B5EF4-FFF2-40B4-BE49-F238E27FC236}">
                <a16:creationId xmlns:a16="http://schemas.microsoft.com/office/drawing/2014/main" id="{1C477A5A-191A-4B89-99FA-247F5F032B51}"/>
              </a:ext>
            </a:extLst>
          </p:cNvPr>
          <p:cNvSpPr>
            <a:spLocks noGrp="1"/>
          </p:cNvSpPr>
          <p:nvPr/>
        </p:nvSpPr>
        <p:spPr>
          <a:xfrm>
            <a:off x="552450" y="4324350"/>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vorhandenen Daten werden neu kombiniert. Es entstehen 10.000 Mittelwerte.</a:t>
            </a:r>
          </a:p>
        </p:txBody>
      </p:sp>
      <p:sp>
        <p:nvSpPr>
          <p:cNvPr id="509" name="">
            <a:extLst>
              <a:ext uri="{FF2B5EF4-FFF2-40B4-BE49-F238E27FC236}">
                <a16:creationId xmlns:a16="http://schemas.microsoft.com/office/drawing/2014/main" id="{2FE86BD4-0965-4765-A143-D613D0AC0707}"/>
              </a:ext>
            </a:extLst>
          </p:cNvPr>
          <p:cNvSpPr>
            <a:spLocks noGrp="1"/>
          </p:cNvSpPr>
          <p:nvPr/>
        </p:nvSpPr>
        <p:spPr>
          <a:xfrm>
            <a:off x="552450" y="4648200"/>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4  95%-Intervall: 2,5%- bis 97,5%-Perzentil der Mittelwerte</a:t>
            </a:r>
          </a:p>
        </p:txBody>
      </p:sp>
      <p:sp>
        <p:nvSpPr>
          <p:cNvPr id="510" name="">
            <a:extLst>
              <a:ext uri="{FF2B5EF4-FFF2-40B4-BE49-F238E27FC236}">
                <a16:creationId xmlns:a16="http://schemas.microsoft.com/office/drawing/2014/main" id="{D2EDDB03-4DBD-4361-A061-D8E9A630653B}"/>
              </a:ext>
            </a:extLst>
          </p:cNvPr>
          <p:cNvSpPr>
            <a:spLocks noGrp="1"/>
          </p:cNvSpPr>
          <p:nvPr/>
        </p:nvSpPr>
        <p:spPr>
          <a:xfrm>
            <a:off x="552450" y="4962525"/>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mittleren 95 % bilden den Bereich. 95 % ist gewählt; 99 % ergibt ein breiteres Intervall.</a:t>
            </a:r>
          </a:p>
        </p:txBody>
      </p:sp>
      <p:sp>
        <p:nvSpPr>
          <p:cNvPr id="511" name="">
            <a:extLst>
              <a:ext uri="{FF2B5EF4-FFF2-40B4-BE49-F238E27FC236}">
                <a16:creationId xmlns:a16="http://schemas.microsoft.com/office/drawing/2014/main" id="{0B576A80-01FE-48F7-B697-72F46D217BBF}"/>
              </a:ext>
            </a:extLst>
          </p:cNvPr>
          <p:cNvSpPr>
            <a:spLocks noGrp="1"/>
          </p:cNvSpPr>
          <p:nvPr/>
        </p:nvSpPr>
        <p:spPr>
          <a:xfrm>
            <a:off x="552450" y="5191125"/>
            <a:ext cx="9353550" cy="285750"/>
          </a:xfrm>
          <a:prstGeom prst="rect">
            <a:avLst/>
          </a:prstGeom>
          <a:noFill/>
          <a:ln w="0">
            <a:noFill/>
          </a:ln>
        </p:spPr>
        <p:txBody>
          <a:bodyPr>
            <a:noAutofit/>
          </a:bodyPr>
          <a:lstStyle/>
          <a:p>
            <a:pPr>
              <a:defRPr sz="1650" b="1">
                <a:solidFill>
                  <a:srgbClr val="C8102E"/>
                </a:solidFill>
                <a:latin typeface="Calibri"/>
                <a:ea typeface="Calibri"/>
                <a:cs typeface="Calibri"/>
              </a:defRPr>
            </a:pPr>
            <a:r>
              <a:rPr sz="1650" b="1">
                <a:solidFill>
                  <a:srgbClr val="C8102E"/>
                </a:solidFill>
                <a:latin typeface="Calibri"/>
                <a:ea typeface="Calibri"/>
                <a:cs typeface="Calibri"/>
              </a:rPr>
              <a:t>Warum Bootstrap statt eines Intervalls mit Normalitätsannahme?</a:t>
            </a:r>
          </a:p>
        </p:txBody>
      </p:sp>
      <p:sp>
        <p:nvSpPr>
          <p:cNvPr id="512" name="">
            <a:extLst>
              <a:ext uri="{FF2B5EF4-FFF2-40B4-BE49-F238E27FC236}">
                <a16:creationId xmlns:a16="http://schemas.microsoft.com/office/drawing/2014/main" id="{6E84AD8F-817D-496B-B061-B01F96F1BF16}"/>
              </a:ext>
            </a:extLst>
          </p:cNvPr>
          <p:cNvSpPr>
            <a:spLocks noGrp="1"/>
          </p:cNvSpPr>
          <p:nvPr/>
        </p:nvSpPr>
        <p:spPr>
          <a:xfrm>
            <a:off x="552450" y="5476875"/>
            <a:ext cx="9353550" cy="49530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Bootstrap setzt keine Normalverteilung der Zellwerte voraus und bildet ihre Gruppierung ab.</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Ein t-Intervall wäre bei plausibler Normalität möglich. Sechs Zellen bleiben bei beiden wenig.</a:t>
            </a:r>
          </a:p>
        </p:txBody>
      </p:sp>
    </p:spTree>
    <p:extLst>
      <p:ext uri="{BB962C8B-B14F-4D97-AF65-F5344CB8AC3E}">
        <p14:creationId xmlns:p14="http://schemas.microsoft.com/office/powerpoint/2010/main" val="15989129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DoE: systematische Kombination von Belastungen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23</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0C4E6581-D06E-4FB1-9602-CEEF0825BE9E}"/>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Mit begrenzten Zellen mehrere Betriebsbedingungen gezielt abdecken.</a:t>
            </a:r>
          </a:p>
        </p:txBody>
      </p:sp>
      <p:sp>
        <p:nvSpPr>
          <p:cNvPr id="503" name="">
            <a:extLst>
              <a:ext uri="{FF2B5EF4-FFF2-40B4-BE49-F238E27FC236}">
                <a16:creationId xmlns:a16="http://schemas.microsoft.com/office/drawing/2014/main" id="{82450314-6630-487E-A757-59A574513E18}"/>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LFP-Kampagne: Lade-C-Rate, Entlade-C-Rate und Entladetiefe variieren.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15 Zellen decken acht Betriebspunkte eines gemischten faktoriellen Plans ab.</a:t>
            </a:r>
          </a:p>
        </p:txBody>
      </p:sp>
      <p:sp>
        <p:nvSpPr>
          <p:cNvPr id="504" name="">
            <a:extLst>
              <a:ext uri="{FF2B5EF4-FFF2-40B4-BE49-F238E27FC236}">
                <a16:creationId xmlns:a16="http://schemas.microsoft.com/office/drawing/2014/main" id="{18F62545-4FB6-4201-A18C-B599C554E864}"/>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mit zwei Faktoren, dritter Faktor konstant</a:t>
            </a:r>
          </a:p>
        </p:txBody>
      </p:sp>
      <p:graphicFrame>
        <p:nvGraphicFramePr>
          <p:cNvPr id="505" name=""/>
          <p:cNvGraphicFramePr/>
          <p:nvPr/>
        </p:nvGraphicFramePr>
        <p:xfrm>
          <a:off x="552450" y="3048000"/>
          <a:ext cx="9353550" cy="1619250"/>
        </p:xfrm>
        <a:graphic>
          <a:graphicData uri="http://schemas.openxmlformats.org/drawingml/2006/table">
            <a:tbl>
              <a:tblPr/>
              <a:tblGrid>
                <a:gridCol w="2190750"/>
                <a:gridCol w="2190750"/>
                <a:gridCol w="2190750"/>
                <a:gridCol w="2781300"/>
              </a:tblGrid>
              <a:tr h="323850">
                <a:tc>
                  <a:txBody>
                    <a:bodyPr/>
                    <a:lstStyle/>
                    <a:p>
                      <a:r>
                        <a:rPr sz="1425" b="1">
                          <a:solidFill>
                            <a:srgbClr val="454545"/>
                          </a:solidFill>
                          <a:latin typeface="Calibri"/>
                          <a:ea typeface="Calibri"/>
                          <a:cs typeface="Calibri"/>
                        </a:rPr>
                        <a:t>Versuch</a:t>
                      </a:r>
                    </a:p>
                  </a:txBody>
                  <a:tcPr marL="91440" marR="91440" marT="45720" marB="45720">
                    <a:solidFill>
                      <a:srgbClr val="F1E3E6"/>
                    </a:solidFill>
                  </a:tcPr>
                </a:tc>
                <a:tc>
                  <a:txBody>
                    <a:bodyPr/>
                    <a:lstStyle/>
                    <a:p>
                      <a:r>
                        <a:rPr sz="1425" b="1">
                          <a:solidFill>
                            <a:srgbClr val="454545"/>
                          </a:solidFill>
                          <a:latin typeface="Calibri"/>
                          <a:ea typeface="Calibri"/>
                          <a:cs typeface="Calibri"/>
                        </a:rPr>
                        <a:t>Ladestrom</a:t>
                      </a:r>
                    </a:p>
                  </a:txBody>
                  <a:tcPr marL="91440" marR="91440" marT="45720" marB="45720">
                    <a:solidFill>
                      <a:srgbClr val="F1E3E6"/>
                    </a:solidFill>
                  </a:tcPr>
                </a:tc>
                <a:tc>
                  <a:txBody>
                    <a:bodyPr/>
                    <a:lstStyle/>
                    <a:p>
                      <a:r>
                        <a:rPr sz="1425" b="1">
                          <a:solidFill>
                            <a:srgbClr val="454545"/>
                          </a:solidFill>
                          <a:latin typeface="Calibri"/>
                          <a:ea typeface="Calibri"/>
                          <a:cs typeface="Calibri"/>
                        </a:rPr>
                        <a:t>Entladetiefe</a:t>
                      </a:r>
                    </a:p>
                  </a:txBody>
                  <a:tcPr marL="91440" marR="91440" marT="45720" marB="45720">
                    <a:solidFill>
                      <a:srgbClr val="F1E3E6"/>
                    </a:solidFill>
                  </a:tcPr>
                </a:tc>
                <a:tc>
                  <a:txBody>
                    <a:bodyPr/>
                    <a:lstStyle/>
                    <a:p>
                      <a:r>
                        <a:rPr sz="1425" b="1">
                          <a:solidFill>
                            <a:srgbClr val="454545"/>
                          </a:solidFill>
                          <a:latin typeface="Calibri"/>
                          <a:ea typeface="Calibri"/>
                          <a:cs typeface="Calibri"/>
                        </a:rPr>
                        <a:t>Kapazitätsverlust</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A</a:t>
                      </a:r>
                    </a:p>
                  </a:txBody>
                  <a:tcPr marL="91440" marR="91440" marT="45720" marB="45720">
                    <a:solidFill>
                      <a:srgbClr val="FFFFFF"/>
                    </a:solidFill>
                  </a:tcPr>
                </a:tc>
                <a:tc>
                  <a:txBody>
                    <a:bodyPr/>
                    <a:lstStyle/>
                    <a:p>
                      <a:r>
                        <a:rPr sz="1425" b="0">
                          <a:solidFill>
                            <a:srgbClr val="454545"/>
                          </a:solidFill>
                          <a:latin typeface="Calibri"/>
                          <a:ea typeface="Calibri"/>
                          <a:cs typeface="Calibri"/>
                        </a:rPr>
                        <a:t>niedrig</a:t>
                      </a:r>
                    </a:p>
                  </a:txBody>
                  <a:tcPr marL="91440" marR="91440" marT="45720" marB="45720">
                    <a:solidFill>
                      <a:srgbClr val="FFFFFF"/>
                    </a:solidFill>
                  </a:tcPr>
                </a:tc>
                <a:tc>
                  <a:txBody>
                    <a:bodyPr/>
                    <a:lstStyle/>
                    <a:p>
                      <a:r>
                        <a:rPr sz="1425" b="0">
                          <a:solidFill>
                            <a:srgbClr val="454545"/>
                          </a:solidFill>
                          <a:latin typeface="Calibri"/>
                          <a:ea typeface="Calibri"/>
                          <a:cs typeface="Calibri"/>
                        </a:rPr>
                        <a:t>flach</a:t>
                      </a:r>
                    </a:p>
                  </a:txBody>
                  <a:tcPr marL="91440" marR="91440" marT="45720" marB="45720">
                    <a:solidFill>
                      <a:srgbClr val="FFFFFF"/>
                    </a:solidFill>
                  </a:tcPr>
                </a:tc>
                <a:tc>
                  <a:txBody>
                    <a:bodyPr/>
                    <a:lstStyle/>
                    <a:p>
                      <a:r>
                        <a:rPr sz="1425" b="0">
                          <a:solidFill>
                            <a:srgbClr val="454545"/>
                          </a:solidFill>
                          <a:latin typeface="Calibri"/>
                          <a:ea typeface="Calibri"/>
                          <a:cs typeface="Calibri"/>
                        </a:rPr>
                        <a:t>1 %</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B</a:t>
                      </a:r>
                    </a:p>
                  </a:txBody>
                  <a:tcPr marL="91440" marR="91440" marT="45720" marB="45720">
                    <a:solidFill>
                      <a:srgbClr val="F4F4F4"/>
                    </a:solidFill>
                  </a:tcPr>
                </a:tc>
                <a:tc>
                  <a:txBody>
                    <a:bodyPr/>
                    <a:lstStyle/>
                    <a:p>
                      <a:r>
                        <a:rPr sz="1425" b="0">
                          <a:solidFill>
                            <a:srgbClr val="454545"/>
                          </a:solidFill>
                          <a:latin typeface="Calibri"/>
                          <a:ea typeface="Calibri"/>
                          <a:cs typeface="Calibri"/>
                        </a:rPr>
                        <a:t>hoch</a:t>
                      </a:r>
                    </a:p>
                  </a:txBody>
                  <a:tcPr marL="91440" marR="91440" marT="45720" marB="45720">
                    <a:solidFill>
                      <a:srgbClr val="F4F4F4"/>
                    </a:solidFill>
                  </a:tcPr>
                </a:tc>
                <a:tc>
                  <a:txBody>
                    <a:bodyPr/>
                    <a:lstStyle/>
                    <a:p>
                      <a:r>
                        <a:rPr sz="1425" b="0">
                          <a:solidFill>
                            <a:srgbClr val="454545"/>
                          </a:solidFill>
                          <a:latin typeface="Calibri"/>
                          <a:ea typeface="Calibri"/>
                          <a:cs typeface="Calibri"/>
                        </a:rPr>
                        <a:t>flach</a:t>
                      </a:r>
                    </a:p>
                  </a:txBody>
                  <a:tcPr marL="91440" marR="91440" marT="45720" marB="45720">
                    <a:solidFill>
                      <a:srgbClr val="F4F4F4"/>
                    </a:solidFill>
                  </a:tcPr>
                </a:tc>
                <a:tc>
                  <a:txBody>
                    <a:bodyPr/>
                    <a:lstStyle/>
                    <a:p>
                      <a:r>
                        <a:rPr sz="1425" b="0">
                          <a:solidFill>
                            <a:srgbClr val="454545"/>
                          </a:solidFill>
                          <a:latin typeface="Calibri"/>
                          <a:ea typeface="Calibri"/>
                          <a:cs typeface="Calibri"/>
                        </a:rPr>
                        <a:t>2 %</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C</a:t>
                      </a:r>
                    </a:p>
                  </a:txBody>
                  <a:tcPr marL="91440" marR="91440" marT="45720" marB="45720">
                    <a:solidFill>
                      <a:srgbClr val="FFFFFF"/>
                    </a:solidFill>
                  </a:tcPr>
                </a:tc>
                <a:tc>
                  <a:txBody>
                    <a:bodyPr/>
                    <a:lstStyle/>
                    <a:p>
                      <a:r>
                        <a:rPr sz="1425" b="0">
                          <a:solidFill>
                            <a:srgbClr val="454545"/>
                          </a:solidFill>
                          <a:latin typeface="Calibri"/>
                          <a:ea typeface="Calibri"/>
                          <a:cs typeface="Calibri"/>
                        </a:rPr>
                        <a:t>niedrig</a:t>
                      </a:r>
                    </a:p>
                  </a:txBody>
                  <a:tcPr marL="91440" marR="91440" marT="45720" marB="45720">
                    <a:solidFill>
                      <a:srgbClr val="FFFFFF"/>
                    </a:solidFill>
                  </a:tcPr>
                </a:tc>
                <a:tc>
                  <a:txBody>
                    <a:bodyPr/>
                    <a:lstStyle/>
                    <a:p>
                      <a:r>
                        <a:rPr sz="1425" b="0">
                          <a:solidFill>
                            <a:srgbClr val="454545"/>
                          </a:solidFill>
                          <a:latin typeface="Calibri"/>
                          <a:ea typeface="Calibri"/>
                          <a:cs typeface="Calibri"/>
                        </a:rPr>
                        <a:t>tief</a:t>
                      </a:r>
                    </a:p>
                  </a:txBody>
                  <a:tcPr marL="91440" marR="91440" marT="45720" marB="45720">
                    <a:solidFill>
                      <a:srgbClr val="FFFFFF"/>
                    </a:solidFill>
                  </a:tcPr>
                </a:tc>
                <a:tc>
                  <a:txBody>
                    <a:bodyPr/>
                    <a:lstStyle/>
                    <a:p>
                      <a:r>
                        <a:rPr sz="1425" b="0">
                          <a:solidFill>
                            <a:srgbClr val="454545"/>
                          </a:solidFill>
                          <a:latin typeface="Calibri"/>
                          <a:ea typeface="Calibri"/>
                          <a:cs typeface="Calibri"/>
                        </a:rPr>
                        <a:t>3 %</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D</a:t>
                      </a:r>
                    </a:p>
                  </a:txBody>
                  <a:tcPr marL="91440" marR="91440" marT="45720" marB="45720">
                    <a:solidFill>
                      <a:srgbClr val="F4F4F4"/>
                    </a:solidFill>
                  </a:tcPr>
                </a:tc>
                <a:tc>
                  <a:txBody>
                    <a:bodyPr/>
                    <a:lstStyle/>
                    <a:p>
                      <a:r>
                        <a:rPr sz="1425" b="0">
                          <a:solidFill>
                            <a:srgbClr val="454545"/>
                          </a:solidFill>
                          <a:latin typeface="Calibri"/>
                          <a:ea typeface="Calibri"/>
                          <a:cs typeface="Calibri"/>
                        </a:rPr>
                        <a:t>hoch</a:t>
                      </a:r>
                    </a:p>
                  </a:txBody>
                  <a:tcPr marL="91440" marR="91440" marT="45720" marB="45720">
                    <a:solidFill>
                      <a:srgbClr val="F4F4F4"/>
                    </a:solidFill>
                  </a:tcPr>
                </a:tc>
                <a:tc>
                  <a:txBody>
                    <a:bodyPr/>
                    <a:lstStyle/>
                    <a:p>
                      <a:r>
                        <a:rPr sz="1425" b="0">
                          <a:solidFill>
                            <a:srgbClr val="454545"/>
                          </a:solidFill>
                          <a:latin typeface="Calibri"/>
                          <a:ea typeface="Calibri"/>
                          <a:cs typeface="Calibri"/>
                        </a:rPr>
                        <a:t>tief</a:t>
                      </a:r>
                    </a:p>
                  </a:txBody>
                  <a:tcPr marL="91440" marR="91440" marT="45720" marB="45720">
                    <a:solidFill>
                      <a:srgbClr val="F4F4F4"/>
                    </a:solidFill>
                  </a:tcPr>
                </a:tc>
                <a:tc>
                  <a:txBody>
                    <a:bodyPr/>
                    <a:lstStyle/>
                    <a:p>
                      <a:r>
                        <a:rPr sz="1425" b="0">
                          <a:solidFill>
                            <a:srgbClr val="454545"/>
                          </a:solidFill>
                          <a:latin typeface="Calibri"/>
                          <a:ea typeface="Calibri"/>
                          <a:cs typeface="Calibri"/>
                        </a:rPr>
                        <a:t>6 %</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B0EEB8AF-754C-4BD5-8849-A9B34C29C427}"/>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Ladestrom-Effekt: B − A = 1 pp, D − C = 3 pp.</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Die Differenz zeigt eine Wechselwirkung im erfundenen Beispiel.</a:t>
            </a:r>
          </a:p>
        </p:txBody>
      </p:sp>
      <p:sp>
        <p:nvSpPr>
          <p:cNvPr id="507" name="">
            <a:extLst>
              <a:ext uri="{FF2B5EF4-FFF2-40B4-BE49-F238E27FC236}">
                <a16:creationId xmlns:a16="http://schemas.microsoft.com/office/drawing/2014/main" id="{B27F1700-B945-4F4F-B5CB-8021198F152C}"/>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Versuch liefert mehrere Vergleiche. Der Plan allein beweist noch keine Alterungsursache.</a:t>
            </a:r>
          </a:p>
        </p:txBody>
      </p:sp>
    </p:spTree>
    <p:extLst>
      <p:ext uri="{BB962C8B-B14F-4D97-AF65-F5344CB8AC3E}">
        <p14:creationId xmlns:p14="http://schemas.microsoft.com/office/powerpoint/2010/main" val="15989129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Referenzwerte und Coulomb Counting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5A53B9D8-97E6-4592-8F92-33EFC5349611}"/>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SOC und SOH als klar definierte Trainings- und Bewertungsziele aufbauen.</a:t>
            </a:r>
          </a:p>
        </p:txBody>
      </p:sp>
      <p:sp>
        <p:nvSpPr>
          <p:cNvPr id="503" name="">
            <a:extLst>
              <a:ext uri="{FF2B5EF4-FFF2-40B4-BE49-F238E27FC236}">
                <a16:creationId xmlns:a16="http://schemas.microsoft.com/office/drawing/2014/main" id="{65947CBB-1BF5-413B-9C51-8ACBC72B6389}"/>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Ladestrom positiv: SOC = SOC₀ + ΔQ / C, mit ΔQ = Σ I · Δt / 3600 in Ah.</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Volladeanker begrenzen Integrationsdrift. Kapazitätstests liefern SOH-Referenzen.</a:t>
            </a:r>
          </a:p>
        </p:txBody>
      </p:sp>
      <p:sp>
        <p:nvSpPr>
          <p:cNvPr id="504" name="">
            <a:extLst>
              <a:ext uri="{FF2B5EF4-FFF2-40B4-BE49-F238E27FC236}">
                <a16:creationId xmlns:a16="http://schemas.microsoft.com/office/drawing/2014/main" id="{231AD84B-1C63-462D-A832-0D3F048F13A9}"/>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Lehrbeispiele: Nenner und Vorzeichen entscheiden</a:t>
            </a:r>
          </a:p>
        </p:txBody>
      </p:sp>
      <p:graphicFrame>
        <p:nvGraphicFramePr>
          <p:cNvPr id="505" name=""/>
          <p:cNvGraphicFramePr/>
          <p:nvPr/>
        </p:nvGraphicFramePr>
        <p:xfrm>
          <a:off x="552450" y="3048000"/>
          <a:ext cx="9353550" cy="1295400"/>
        </p:xfrm>
        <a:graphic>
          <a:graphicData uri="http://schemas.openxmlformats.org/drawingml/2006/table">
            <a:tbl>
              <a:tblPr/>
              <a:tblGrid>
                <a:gridCol w="2333625"/>
                <a:gridCol w="4667250"/>
                <a:gridCol w="2352675"/>
              </a:tblGrid>
              <a:tr h="323850">
                <a:tc>
                  <a:txBody>
                    <a:bodyPr/>
                    <a:lstStyle/>
                    <a:p>
                      <a:r>
                        <a:rPr sz="1425" b="1">
                          <a:solidFill>
                            <a:srgbClr val="454545"/>
                          </a:solidFill>
                          <a:latin typeface="Calibri"/>
                          <a:ea typeface="Calibri"/>
                          <a:cs typeface="Calibri"/>
                        </a:rPr>
                        <a:t>Größe</a:t>
                      </a:r>
                    </a:p>
                  </a:txBody>
                  <a:tcPr marL="91440" marR="91440" marT="45720" marB="45720">
                    <a:solidFill>
                      <a:srgbClr val="F1E3E6"/>
                    </a:solidFill>
                  </a:tcPr>
                </a:tc>
                <a:tc>
                  <a:txBody>
                    <a:bodyPr/>
                    <a:lstStyle/>
                    <a:p>
                      <a:r>
                        <a:rPr sz="1425" b="1">
                          <a:solidFill>
                            <a:srgbClr val="454545"/>
                          </a:solidFill>
                          <a:latin typeface="Calibri"/>
                          <a:ea typeface="Calibri"/>
                          <a:cs typeface="Calibri"/>
                        </a:rPr>
                        <a:t>Rechnung</a:t>
                      </a:r>
                    </a:p>
                  </a:txBody>
                  <a:tcPr marL="91440" marR="91440" marT="45720" marB="45720">
                    <a:solidFill>
                      <a:srgbClr val="F1E3E6"/>
                    </a:solidFill>
                  </a:tcPr>
                </a:tc>
                <a:tc>
                  <a:txBody>
                    <a:bodyPr/>
                    <a:lstStyle/>
                    <a:p>
                      <a:r>
                        <a:rPr sz="1425" b="1">
                          <a:solidFill>
                            <a:srgbClr val="454545"/>
                          </a:solidFill>
                          <a:latin typeface="Calibri"/>
                          <a:ea typeface="Calibri"/>
                          <a:cs typeface="Calibri"/>
                        </a:rPr>
                        <a:t>Ergebnis</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SOC nach Entladen</a:t>
                      </a:r>
                    </a:p>
                  </a:txBody>
                  <a:tcPr marL="91440" marR="91440" marT="45720" marB="45720">
                    <a:solidFill>
                      <a:srgbClr val="FFFFFF"/>
                    </a:solidFill>
                  </a:tcPr>
                </a:tc>
                <a:tc>
                  <a:txBody>
                    <a:bodyPr/>
                    <a:lstStyle/>
                    <a:p>
                      <a:r>
                        <a:rPr sz="1425" b="0">
                          <a:solidFill>
                            <a:srgbClr val="454545"/>
                          </a:solidFill>
                          <a:latin typeface="Calibri"/>
                          <a:ea typeface="Calibri"/>
                          <a:cs typeface="Calibri"/>
                        </a:rPr>
                        <a:t>100 % + (−0,2 Ah / 2 Ah) · 100</a:t>
                      </a:r>
                    </a:p>
                  </a:txBody>
                  <a:tcPr marL="91440" marR="91440" marT="45720" marB="45720">
                    <a:solidFill>
                      <a:srgbClr val="FFFFFF"/>
                    </a:solidFill>
                  </a:tcPr>
                </a:tc>
                <a:tc>
                  <a:txBody>
                    <a:bodyPr/>
                    <a:lstStyle/>
                    <a:p>
                      <a:r>
                        <a:rPr sz="1425" b="0">
                          <a:solidFill>
                            <a:srgbClr val="454545"/>
                          </a:solidFill>
                          <a:latin typeface="Calibri"/>
                          <a:ea typeface="Calibri"/>
                          <a:cs typeface="Calibri"/>
                        </a:rPr>
                        <a:t>90 %</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SOH, nominal</a:t>
                      </a:r>
                    </a:p>
                  </a:txBody>
                  <a:tcPr marL="91440" marR="91440" marT="45720" marB="45720">
                    <a:solidFill>
                      <a:srgbClr val="F4F4F4"/>
                    </a:solidFill>
                  </a:tcPr>
                </a:tc>
                <a:tc>
                  <a:txBody>
                    <a:bodyPr/>
                    <a:lstStyle/>
                    <a:p>
                      <a:r>
                        <a:rPr sz="1425" b="0">
                          <a:solidFill>
                            <a:srgbClr val="454545"/>
                          </a:solidFill>
                          <a:latin typeface="Calibri"/>
                          <a:ea typeface="Calibri"/>
                          <a:cs typeface="Calibri"/>
                        </a:rPr>
                        <a:t>1,52 Ah / 1,8 Ah</a:t>
                      </a:r>
                    </a:p>
                  </a:txBody>
                  <a:tcPr marL="91440" marR="91440" marT="45720" marB="45720">
                    <a:solidFill>
                      <a:srgbClr val="F4F4F4"/>
                    </a:solidFill>
                  </a:tcPr>
                </a:tc>
                <a:tc>
                  <a:txBody>
                    <a:bodyPr/>
                    <a:lstStyle/>
                    <a:p>
                      <a:r>
                        <a:rPr sz="1425" b="0">
                          <a:solidFill>
                            <a:srgbClr val="454545"/>
                          </a:solidFill>
                          <a:latin typeface="Calibri"/>
                          <a:ea typeface="Calibri"/>
                          <a:cs typeface="Calibri"/>
                        </a:rPr>
                        <a:t>84,44 %</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SOH, erste Referenz</a:t>
                      </a:r>
                    </a:p>
                  </a:txBody>
                  <a:tcPr marL="91440" marR="91440" marT="45720" marB="45720">
                    <a:solidFill>
                      <a:srgbClr val="FFFFFF"/>
                    </a:solidFill>
                  </a:tcPr>
                </a:tc>
                <a:tc>
                  <a:txBody>
                    <a:bodyPr/>
                    <a:lstStyle/>
                    <a:p>
                      <a:r>
                        <a:rPr sz="1425" b="0">
                          <a:solidFill>
                            <a:srgbClr val="454545"/>
                          </a:solidFill>
                          <a:latin typeface="Calibri"/>
                          <a:ea typeface="Calibri"/>
                          <a:cs typeface="Calibri"/>
                        </a:rPr>
                        <a:t>1,52 Ah / 1,9 Ah</a:t>
                      </a:r>
                    </a:p>
                  </a:txBody>
                  <a:tcPr marL="91440" marR="91440" marT="45720" marB="45720">
                    <a:solidFill>
                      <a:srgbClr val="FFFFFF"/>
                    </a:solidFill>
                  </a:tcPr>
                </a:tc>
                <a:tc>
                  <a:txBody>
                    <a:bodyPr/>
                    <a:lstStyle/>
                    <a:p>
                      <a:r>
                        <a:rPr sz="1425" b="0">
                          <a:solidFill>
                            <a:srgbClr val="454545"/>
                          </a:solidFill>
                          <a:latin typeface="Calibri"/>
                          <a:ea typeface="Calibri"/>
                          <a:cs typeface="Calibri"/>
                        </a:rPr>
                        <a:t>80 %</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8A4AA1BB-9A94-4725-B8DE-9ACEC903457E}"/>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DM nutzt einen festen Kapazitätsnenner. HDM passt ihn über SOH an.</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Der SOH-Nenner muss zur verwendeten Kapazitätsbasis passen.</a:t>
            </a:r>
          </a:p>
        </p:txBody>
      </p:sp>
      <p:sp>
        <p:nvSpPr>
          <p:cNvPr id="507" name="">
            <a:extLst>
              <a:ext uri="{FF2B5EF4-FFF2-40B4-BE49-F238E27FC236}">
                <a16:creationId xmlns:a16="http://schemas.microsoft.com/office/drawing/2014/main" id="{0A63EC0C-BD16-43ED-A075-F4B39D27590B}"/>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Die Dataset-Referenz ist konstruiert und messunsicher. Ein kleiner MAE beweist Referenznähe.</a:t>
            </a:r>
          </a:p>
        </p:txBody>
      </p:sp>
    </p:spTree>
    <p:extLst>
      <p:ext uri="{BB962C8B-B14F-4D97-AF65-F5344CB8AC3E}">
        <p14:creationId xmlns:p14="http://schemas.microsoft.com/office/powerpoint/2010/main" val="15989129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Repräsentative Testfenster und Perzentile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EB93CD72-29F9-4C72-B1FD-111B1F1A5BD6}"/>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Typische Betriebsausschnitte auswählen, ohne den Modellfehler zur Auswahl zu nutzen.</a:t>
            </a:r>
          </a:p>
        </p:txBody>
      </p:sp>
      <p:sp>
        <p:nvSpPr>
          <p:cNvPr id="503" name="">
            <a:extLst>
              <a:ext uri="{FF2B5EF4-FFF2-40B4-BE49-F238E27FC236}">
                <a16:creationId xmlns:a16="http://schemas.microsoft.com/office/drawing/2014/main" id="{203D3479-7CB7-4B43-B100-F3178B1E288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Je Zelle und beobachtetem SOH-Bereich: Kandidaten ab Volladeanker bilden.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Das reale 24-h-Fenster mit kleinstem robust skalierten Abstand zur Mitte wählen.</a:t>
            </a:r>
          </a:p>
        </p:txBody>
      </p:sp>
      <p:sp>
        <p:nvSpPr>
          <p:cNvPr id="504" name="">
            <a:extLst>
              <a:ext uri="{FF2B5EF4-FFF2-40B4-BE49-F238E27FC236}">
                <a16:creationId xmlns:a16="http://schemas.microsoft.com/office/drawing/2014/main" id="{F5B9330B-BC1D-4997-A719-6353BB32665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Sechs Merkmale beschreiben jedes Kandidatenfenster</a:t>
            </a:r>
          </a:p>
        </p:txBody>
      </p:sp>
      <p:graphicFrame>
        <p:nvGraphicFramePr>
          <p:cNvPr id="505" name=""/>
          <p:cNvGraphicFramePr/>
          <p:nvPr/>
        </p:nvGraphicFramePr>
        <p:xfrm>
          <a:off x="552450" y="3048000"/>
          <a:ext cx="9353550" cy="1295400"/>
        </p:xfrm>
        <a:graphic>
          <a:graphicData uri="http://schemas.openxmlformats.org/drawingml/2006/table">
            <a:tbl>
              <a:tblPr/>
              <a:tblGrid>
                <a:gridCol w="4676775"/>
                <a:gridCol w="4676775"/>
              </a:tblGrid>
              <a:tr h="323850">
                <a:tc>
                  <a:txBody>
                    <a:bodyPr/>
                    <a:lstStyle/>
                    <a:p>
                      <a:r>
                        <a:rPr sz="1425" b="1">
                          <a:solidFill>
                            <a:srgbClr val="454545"/>
                          </a:solidFill>
                          <a:latin typeface="Calibri"/>
                          <a:ea typeface="Calibri"/>
                          <a:cs typeface="Calibri"/>
                        </a:rPr>
                        <a:t>Zustand und Temperatur</a:t>
                      </a:r>
                    </a:p>
                  </a:txBody>
                  <a:tcPr marL="91440" marR="91440" marT="45720" marB="45720">
                    <a:solidFill>
                      <a:srgbClr val="F1E3E6"/>
                    </a:solidFill>
                  </a:tcPr>
                </a:tc>
                <a:tc>
                  <a:txBody>
                    <a:bodyPr/>
                    <a:lstStyle/>
                    <a:p>
                      <a:r>
                        <a:rPr sz="1425" b="1">
                          <a:solidFill>
                            <a:srgbClr val="454545"/>
                          </a:solidFill>
                          <a:latin typeface="Calibri"/>
                          <a:ea typeface="Calibri"/>
                          <a:cs typeface="Calibri"/>
                        </a:rPr>
                        <a:t>Belastung und Nutzung</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Median des SOH</a:t>
                      </a:r>
                    </a:p>
                  </a:txBody>
                  <a:tcPr marL="91440" marR="91440" marT="45720" marB="45720">
                    <a:solidFill>
                      <a:srgbClr val="FFFFFF"/>
                    </a:solidFill>
                  </a:tcPr>
                </a:tc>
                <a:tc>
                  <a:txBody>
                    <a:bodyPr/>
                    <a:lstStyle/>
                    <a:p>
                      <a:r>
                        <a:rPr sz="1425" b="0">
                          <a:solidFill>
                            <a:srgbClr val="454545"/>
                          </a:solidFill>
                          <a:latin typeface="Calibri"/>
                          <a:ea typeface="Calibri"/>
                          <a:cs typeface="Calibri"/>
                        </a:rPr>
                        <a:t>P95 des absoluten C-Rates</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Mittlere Temperatur</a:t>
                      </a:r>
                    </a:p>
                  </a:txBody>
                  <a:tcPr marL="91440" marR="91440" marT="45720" marB="45720">
                    <a:solidFill>
                      <a:srgbClr val="F4F4F4"/>
                    </a:solidFill>
                  </a:tcPr>
                </a:tc>
                <a:tc>
                  <a:txBody>
                    <a:bodyPr/>
                    <a:lstStyle/>
                    <a:p>
                      <a:r>
                        <a:rPr sz="1425" b="0">
                          <a:solidFill>
                            <a:srgbClr val="454545"/>
                          </a:solidFill>
                          <a:latin typeface="Calibri"/>
                          <a:ea typeface="Calibri"/>
                          <a:cs typeface="Calibri"/>
                        </a:rPr>
                        <a:t>Absoluter Ladungsdurchsatz</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P95 der Temperatur</a:t>
                      </a:r>
                    </a:p>
                  </a:txBody>
                  <a:tcPr marL="91440" marR="91440" marT="45720" marB="45720">
                    <a:solidFill>
                      <a:srgbClr val="FFFFFF"/>
                    </a:solidFill>
                  </a:tcPr>
                </a:tc>
                <a:tc>
                  <a:txBody>
                    <a:bodyPr/>
                    <a:lstStyle/>
                    <a:p>
                      <a:r>
                        <a:rPr sz="1425" b="0">
                          <a:solidFill>
                            <a:srgbClr val="454545"/>
                          </a:solidFill>
                          <a:latin typeface="Calibri"/>
                          <a:ea typeface="Calibri"/>
                          <a:cs typeface="Calibri"/>
                        </a:rPr>
                        <a:t>Zeitanteil mit SOC &lt; 20 %</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3FCA676F-5316-4348-A109-2DE8D4EA723E}"/>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für ein Merkmal: 30, 31, 50 °C. Median = 31 °C, Mittelwert = 37 °C.</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Real gehen alle sechs Merkmale ein, jeweils durch ihre MAD skaliert.</a:t>
            </a:r>
          </a:p>
        </p:txBody>
      </p:sp>
      <p:sp>
        <p:nvSpPr>
          <p:cNvPr id="507" name="">
            <a:extLst>
              <a:ext uri="{FF2B5EF4-FFF2-40B4-BE49-F238E27FC236}">
                <a16:creationId xmlns:a16="http://schemas.microsoft.com/office/drawing/2014/main" id="{07ED7085-C7C2-482D-87A6-152ADA35D576}"/>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Nächster Punkt zum Koordinatenmedian. Das ist nicht zwingend der klassische Medoid.</a:t>
            </a:r>
          </a:p>
        </p:txBody>
      </p:sp>
    </p:spTree>
    <p:extLst>
      <p:ext uri="{BB962C8B-B14F-4D97-AF65-F5344CB8AC3E}">
        <p14:creationId xmlns:p14="http://schemas.microsoft.com/office/powerpoint/2010/main" val="15989129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Zeitliche Merkmale und robuste Skalierung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26813106-E31D-445C-BAD2-718AD468876C}"/>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Messhistorie und Betriebsbelastung für das Netz nutzbar und vergleichbar machen.</a:t>
            </a:r>
          </a:p>
        </p:txBody>
      </p:sp>
      <p:sp>
        <p:nvSpPr>
          <p:cNvPr id="503" name="">
            <a:extLst>
              <a:ext uri="{FF2B5EF4-FFF2-40B4-BE49-F238E27FC236}">
                <a16:creationId xmlns:a16="http://schemas.microsoft.com/office/drawing/2014/main" id="{C866049B-0DD9-42D7-947C-A4D23EAE0A28}"/>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Alle Online-Merkmale verwenden nur Informationen bis zum aktuellen Zeitpunkt.</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Skalierungsparameter auf Trainingsdaten bestimmen und danach unverändert anwenden.</a:t>
            </a:r>
          </a:p>
        </p:txBody>
      </p:sp>
      <p:sp>
        <p:nvSpPr>
          <p:cNvPr id="504" name="">
            <a:extLst>
              <a:ext uri="{FF2B5EF4-FFF2-40B4-BE49-F238E27FC236}">
                <a16:creationId xmlns:a16="http://schemas.microsoft.com/office/drawing/2014/main" id="{DC640C48-B064-440A-BFD4-0BC5BECEE846}"/>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Verschiedene Merkmale erfüllen verschiedene Aufgaben</a:t>
            </a:r>
          </a:p>
        </p:txBody>
      </p:sp>
      <p:graphicFrame>
        <p:nvGraphicFramePr>
          <p:cNvPr id="505" name=""/>
          <p:cNvGraphicFramePr/>
          <p:nvPr/>
        </p:nvGraphicFramePr>
        <p:xfrm>
          <a:off x="552450" y="3048000"/>
          <a:ext cx="9353550" cy="1619250"/>
        </p:xfrm>
        <a:graphic>
          <a:graphicData uri="http://schemas.openxmlformats.org/drawingml/2006/table">
            <a:tbl>
              <a:tblPr/>
              <a:tblGrid>
                <a:gridCol w="2381250"/>
                <a:gridCol w="3714750"/>
                <a:gridCol w="3257550"/>
              </a:tblGrid>
              <a:tr h="323850">
                <a:tc>
                  <a:txBody>
                    <a:bodyPr/>
                    <a:lstStyle/>
                    <a:p>
                      <a:r>
                        <a:rPr sz="1425" b="1">
                          <a:solidFill>
                            <a:srgbClr val="454545"/>
                          </a:solidFill>
                          <a:latin typeface="Calibri"/>
                          <a:ea typeface="Calibri"/>
                          <a:cs typeface="Calibri"/>
                        </a:rPr>
                        <a:t>Methode</a:t>
                      </a:r>
                    </a:p>
                  </a:txBody>
                  <a:tcPr marL="91440" marR="91440" marT="45720" marB="45720">
                    <a:solidFill>
                      <a:srgbClr val="F1E3E6"/>
                    </a:solidFill>
                  </a:tcPr>
                </a:tc>
                <a:tc>
                  <a:txBody>
                    <a:bodyPr/>
                    <a:lstStyle/>
                    <a:p>
                      <a:r>
                        <a:rPr sz="1425" b="1">
                          <a:solidFill>
                            <a:srgbClr val="454545"/>
                          </a:solidFill>
                          <a:latin typeface="Calibri"/>
                          <a:ea typeface="Calibri"/>
                          <a:cs typeface="Calibri"/>
                        </a:rPr>
                        <a:t>Rechenidee</a:t>
                      </a:r>
                    </a:p>
                  </a:txBody>
                  <a:tcPr marL="91440" marR="91440" marT="45720" marB="45720">
                    <a:solidFill>
                      <a:srgbClr val="F1E3E6"/>
                    </a:solidFill>
                  </a:tcPr>
                </a:tc>
                <a:tc>
                  <a:txBody>
                    <a:bodyPr/>
                    <a:lstStyle/>
                    <a:p>
                      <a:r>
                        <a:rPr sz="1425" b="1">
                          <a:solidFill>
                            <a:srgbClr val="454545"/>
                          </a:solidFill>
                          <a:latin typeface="Calibri"/>
                          <a:ea typeface="Calibri"/>
                          <a:cs typeface="Calibri"/>
                        </a:rPr>
                        <a:t>Nutzen</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Getrennter Durchsatz</a:t>
                      </a:r>
                    </a:p>
                  </a:txBody>
                  <a:tcPr marL="91440" marR="91440" marT="45720" marB="45720">
                    <a:solidFill>
                      <a:srgbClr val="FFFFFF"/>
                    </a:solidFill>
                  </a:tcPr>
                </a:tc>
                <a:tc>
                  <a:txBody>
                    <a:bodyPr/>
                    <a:lstStyle/>
                    <a:p>
                      <a:r>
                        <a:rPr sz="1425" b="0">
                          <a:solidFill>
                            <a:srgbClr val="454545"/>
                          </a:solidFill>
                          <a:latin typeface="Calibri"/>
                          <a:ea typeface="Calibri"/>
                          <a:cs typeface="Calibri"/>
                        </a:rPr>
                        <a:t>Laden und Entladen getrennt integrieren</a:t>
                      </a:r>
                    </a:p>
                  </a:txBody>
                  <a:tcPr marL="91440" marR="91440" marT="45720" marB="45720">
                    <a:solidFill>
                      <a:srgbClr val="FFFFFF"/>
                    </a:solidFill>
                  </a:tcPr>
                </a:tc>
                <a:tc>
                  <a:txBody>
                    <a:bodyPr/>
                    <a:lstStyle/>
                    <a:p>
                      <a:r>
                        <a:rPr sz="1425" b="0">
                          <a:solidFill>
                            <a:srgbClr val="454545"/>
                          </a:solidFill>
                          <a:latin typeface="Calibri"/>
                          <a:ea typeface="Calibri"/>
                          <a:cs typeface="Calibri"/>
                        </a:rPr>
                        <a:t>Zyklen heben sich nicht auf</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Lag-Sequenz</a:t>
                      </a:r>
                    </a:p>
                  </a:txBody>
                  <a:tcPr marL="91440" marR="91440" marT="45720" marB="45720">
                    <a:solidFill>
                      <a:srgbClr val="F4F4F4"/>
                    </a:solidFill>
                  </a:tcPr>
                </a:tc>
                <a:tc>
                  <a:txBody>
                    <a:bodyPr/>
                    <a:lstStyle/>
                    <a:p>
                      <a:r>
                        <a:rPr sz="1425" b="0">
                          <a:solidFill>
                            <a:srgbClr val="454545"/>
                          </a:solidFill>
                          <a:latin typeface="Calibri"/>
                          <a:ea typeface="Calibri"/>
                          <a:cs typeface="Calibri"/>
                        </a:rPr>
                        <a:t>Aktuelle und vergangene Werte stapeln</a:t>
                      </a:r>
                    </a:p>
                  </a:txBody>
                  <a:tcPr marL="91440" marR="91440" marT="45720" marB="45720">
                    <a:solidFill>
                      <a:srgbClr val="F4F4F4"/>
                    </a:solidFill>
                  </a:tcPr>
                </a:tc>
                <a:tc>
                  <a:txBody>
                    <a:bodyPr/>
                    <a:lstStyle/>
                    <a:p>
                      <a:r>
                        <a:rPr sz="1425" b="0">
                          <a:solidFill>
                            <a:srgbClr val="454545"/>
                          </a:solidFill>
                          <a:latin typeface="Calibri"/>
                          <a:ea typeface="Calibri"/>
                          <a:cs typeface="Calibri"/>
                        </a:rPr>
                        <a:t>MLP erhält explizite Historie</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Rückwärtsdifferenz</a:t>
                      </a:r>
                    </a:p>
                  </a:txBody>
                  <a:tcPr marL="91440" marR="91440" marT="45720" marB="45720">
                    <a:solidFill>
                      <a:srgbClr val="FFFFFF"/>
                    </a:solidFill>
                  </a:tcPr>
                </a:tc>
                <a:tc>
                  <a:txBody>
                    <a:bodyPr/>
                    <a:lstStyle/>
                    <a:p>
                      <a:r>
                        <a:rPr sz="1425" b="0">
                          <a:solidFill>
                            <a:srgbClr val="454545"/>
                          </a:solidFill>
                          <a:latin typeface="Calibri"/>
                          <a:ea typeface="Calibri"/>
                          <a:cs typeface="Calibri"/>
                        </a:rPr>
                        <a:t>(Uₜ − Uₜ₋₁) / Δt</a:t>
                      </a:r>
                    </a:p>
                  </a:txBody>
                  <a:tcPr marL="91440" marR="91440" marT="45720" marB="45720">
                    <a:solidFill>
                      <a:srgbClr val="FFFFFF"/>
                    </a:solidFill>
                  </a:tcPr>
                </a:tc>
                <a:tc>
                  <a:txBody>
                    <a:bodyPr/>
                    <a:lstStyle/>
                    <a:p>
                      <a:r>
                        <a:rPr sz="1425" b="0">
                          <a:solidFill>
                            <a:srgbClr val="454545"/>
                          </a:solidFill>
                          <a:latin typeface="Calibri"/>
                          <a:ea typeface="Calibri"/>
                          <a:cs typeface="Calibri"/>
                        </a:rPr>
                        <a:t>Geschwindigkeit der Änderung</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RobustScaler, Kap. 7</a:t>
                      </a:r>
                    </a:p>
                  </a:txBody>
                  <a:tcPr marL="91440" marR="91440" marT="45720" marB="45720">
                    <a:solidFill>
                      <a:srgbClr val="F4F4F4"/>
                    </a:solidFill>
                  </a:tcPr>
                </a:tc>
                <a:tc>
                  <a:txBody>
                    <a:bodyPr/>
                    <a:lstStyle/>
                    <a:p>
                      <a:r>
                        <a:rPr sz="1425" b="0">
                          <a:solidFill>
                            <a:srgbClr val="454545"/>
                          </a:solidFill>
                          <a:latin typeface="Calibri"/>
                          <a:ea typeface="Calibri"/>
                          <a:cs typeface="Calibri"/>
                        </a:rPr>
                        <a:t>(x − Trainingsmedian) / Trainings-IQR</a:t>
                      </a:r>
                    </a:p>
                  </a:txBody>
                  <a:tcPr marL="91440" marR="91440" marT="45720" marB="45720">
                    <a:solidFill>
                      <a:srgbClr val="F4F4F4"/>
                    </a:solidFill>
                  </a:tcPr>
                </a:tc>
                <a:tc>
                  <a:txBody>
                    <a:bodyPr/>
                    <a:lstStyle/>
                    <a:p>
                      <a:r>
                        <a:rPr sz="1425" b="0">
                          <a:solidFill>
                            <a:srgbClr val="454545"/>
                          </a:solidFill>
                          <a:latin typeface="Calibri"/>
                          <a:ea typeface="Calibri"/>
                          <a:cs typeface="Calibri"/>
                        </a:rPr>
                        <a:t>Vergleichbare Eingangsskalen</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652B97BF-CD37-45CC-A933-CF3687E32CF1}"/>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+1 Ah laden, −1 Ah entladen. Nettoladung = 0, Durchsatz = 2 Ah.</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Skalierung: x = 35, Median = 30, IQR = 5 ergibt den Eingangswert 1.</a:t>
            </a:r>
          </a:p>
        </p:txBody>
      </p:sp>
      <p:sp>
        <p:nvSpPr>
          <p:cNvPr id="507" name="">
            <a:extLst>
              <a:ext uri="{FF2B5EF4-FFF2-40B4-BE49-F238E27FC236}">
                <a16:creationId xmlns:a16="http://schemas.microsoft.com/office/drawing/2014/main" id="{4A293354-7057-4906-9842-2BF946C5AEA8}"/>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Ableitungen reagieren auf Rauschen. Historie und Skalierung ersetzen keine neue Testzelle.</a:t>
            </a:r>
          </a:p>
        </p:txBody>
      </p:sp>
    </p:spTree>
    <p:extLst>
      <p:ext uri="{BB962C8B-B14F-4D97-AF65-F5344CB8AC3E}">
        <p14:creationId xmlns:p14="http://schemas.microsoft.com/office/powerpoint/2010/main" val="15989129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Hyperband und Auswahl der Hyperparameter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08ADD651-D01A-4536-B27B-7BAF7DC4670C}"/>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Viele Trainingskonfigurationen unter begrenztem Rechenbudget vergleichen.</a:t>
            </a:r>
          </a:p>
        </p:txBody>
      </p:sp>
      <p:sp>
        <p:nvSpPr>
          <p:cNvPr id="503" name="">
            <a:extLst>
              <a:ext uri="{FF2B5EF4-FFF2-40B4-BE49-F238E27FC236}">
                <a16:creationId xmlns:a16="http://schemas.microsoft.com/office/drawing/2014/main" id="{C628322E-1BE5-44F1-B45C-22D2A9733F67}"/>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Hyperparameter legen das Training fest, etwa Tiefe, Breite, Lernrate und Lag-Länge.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Hyperband kombiniert verschiedene Startbudgets mit schrittweiser Kandidatenauswahl.</a:t>
            </a:r>
          </a:p>
        </p:txBody>
      </p:sp>
      <p:sp>
        <p:nvSpPr>
          <p:cNvPr id="504" name="">
            <a:extLst>
              <a:ext uri="{FF2B5EF4-FFF2-40B4-BE49-F238E27FC236}">
                <a16:creationId xmlns:a16="http://schemas.microsoft.com/office/drawing/2014/main" id="{615F2698-30A3-4AA7-B6D9-3F633B091B73}"/>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Vereinfachtes Lehrbeispiel für einen Auslesepfad</a:t>
            </a:r>
          </a:p>
        </p:txBody>
      </p:sp>
      <p:graphicFrame>
        <p:nvGraphicFramePr>
          <p:cNvPr id="505" name=""/>
          <p:cNvGraphicFramePr/>
          <p:nvPr/>
        </p:nvGraphicFramePr>
        <p:xfrm>
          <a:off x="552450" y="3048000"/>
          <a:ext cx="9353550" cy="1295400"/>
        </p:xfrm>
        <a:graphic>
          <a:graphicData uri="http://schemas.openxmlformats.org/drawingml/2006/table">
            <a:tbl>
              <a:tblPr/>
              <a:tblGrid>
                <a:gridCol w="2571750"/>
                <a:gridCol w="3429000"/>
                <a:gridCol w="3352800"/>
              </a:tblGrid>
              <a:tr h="323850">
                <a:tc>
                  <a:txBody>
                    <a:bodyPr/>
                    <a:lstStyle/>
                    <a:p>
                      <a:r>
                        <a:rPr sz="1425" b="1">
                          <a:solidFill>
                            <a:srgbClr val="454545"/>
                          </a:solidFill>
                          <a:latin typeface="Calibri"/>
                          <a:ea typeface="Calibri"/>
                          <a:cs typeface="Calibri"/>
                        </a:rPr>
                        <a:t>Stufe</a:t>
                      </a:r>
                    </a:p>
                  </a:txBody>
                  <a:tcPr marL="91440" marR="91440" marT="45720" marB="45720">
                    <a:solidFill>
                      <a:srgbClr val="F1E3E6"/>
                    </a:solidFill>
                  </a:tcPr>
                </a:tc>
                <a:tc>
                  <a:txBody>
                    <a:bodyPr/>
                    <a:lstStyle/>
                    <a:p>
                      <a:r>
                        <a:rPr sz="1425" b="1">
                          <a:solidFill>
                            <a:srgbClr val="454545"/>
                          </a:solidFill>
                          <a:latin typeface="Calibri"/>
                          <a:ea typeface="Calibri"/>
                          <a:cs typeface="Calibri"/>
                        </a:rPr>
                        <a:t>Kandidaten</a:t>
                      </a:r>
                    </a:p>
                  </a:txBody>
                  <a:tcPr marL="91440" marR="91440" marT="45720" marB="45720">
                    <a:solidFill>
                      <a:srgbClr val="F1E3E6"/>
                    </a:solidFill>
                  </a:tcPr>
                </a:tc>
                <a:tc>
                  <a:txBody>
                    <a:bodyPr/>
                    <a:lstStyle/>
                    <a:p>
                      <a:r>
                        <a:rPr sz="1425" b="1">
                          <a:solidFill>
                            <a:srgbClr val="454545"/>
                          </a:solidFill>
                          <a:latin typeface="Calibri"/>
                          <a:ea typeface="Calibri"/>
                          <a:cs typeface="Calibri"/>
                        </a:rPr>
                        <a:t>Budget je Kandidat</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1: kurz prüfen</a:t>
                      </a:r>
                    </a:p>
                  </a:txBody>
                  <a:tcPr marL="91440" marR="91440" marT="45720" marB="45720">
                    <a:solidFill>
                      <a:srgbClr val="FFFFFF"/>
                    </a:solidFill>
                  </a:tcPr>
                </a:tc>
                <a:tc>
                  <a:txBody>
                    <a:bodyPr/>
                    <a:lstStyle/>
                    <a:p>
                      <a:r>
                        <a:rPr sz="1425" b="0">
                          <a:solidFill>
                            <a:srgbClr val="454545"/>
                          </a:solidFill>
                          <a:latin typeface="Calibri"/>
                          <a:ea typeface="Calibri"/>
                          <a:cs typeface="Calibri"/>
                        </a:rPr>
                        <a:t>9 Konfigurationen</a:t>
                      </a:r>
                    </a:p>
                  </a:txBody>
                  <a:tcPr marL="91440" marR="91440" marT="45720" marB="45720">
                    <a:solidFill>
                      <a:srgbClr val="FFFFFF"/>
                    </a:solidFill>
                  </a:tcPr>
                </a:tc>
                <a:tc>
                  <a:txBody>
                    <a:bodyPr/>
                    <a:lstStyle/>
                    <a:p>
                      <a:r>
                        <a:rPr sz="1425" b="0">
                          <a:solidFill>
                            <a:srgbClr val="454545"/>
                          </a:solidFill>
                          <a:latin typeface="Calibri"/>
                          <a:ea typeface="Calibri"/>
                          <a:cs typeface="Calibri"/>
                        </a:rPr>
                        <a:t>1 Epoche</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2: Auswahl fortsetzen</a:t>
                      </a:r>
                    </a:p>
                  </a:txBody>
                  <a:tcPr marL="91440" marR="91440" marT="45720" marB="45720">
                    <a:solidFill>
                      <a:srgbClr val="F4F4F4"/>
                    </a:solidFill>
                  </a:tcPr>
                </a:tc>
                <a:tc>
                  <a:txBody>
                    <a:bodyPr/>
                    <a:lstStyle/>
                    <a:p>
                      <a:r>
                        <a:rPr sz="1425" b="0">
                          <a:solidFill>
                            <a:srgbClr val="454545"/>
                          </a:solidFill>
                          <a:latin typeface="Calibri"/>
                          <a:ea typeface="Calibri"/>
                          <a:cs typeface="Calibri"/>
                        </a:rPr>
                        <a:t>3 vielversprechende</a:t>
                      </a:r>
                    </a:p>
                  </a:txBody>
                  <a:tcPr marL="91440" marR="91440" marT="45720" marB="45720">
                    <a:solidFill>
                      <a:srgbClr val="F4F4F4"/>
                    </a:solidFill>
                  </a:tcPr>
                </a:tc>
                <a:tc>
                  <a:txBody>
                    <a:bodyPr/>
                    <a:lstStyle/>
                    <a:p>
                      <a:r>
                        <a:rPr sz="1425" b="0">
                          <a:solidFill>
                            <a:srgbClr val="454545"/>
                          </a:solidFill>
                          <a:latin typeface="Calibri"/>
                          <a:ea typeface="Calibri"/>
                          <a:cs typeface="Calibri"/>
                        </a:rPr>
                        <a:t>3 Epochen insgesamt</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3: länger trainieren</a:t>
                      </a:r>
                    </a:p>
                  </a:txBody>
                  <a:tcPr marL="91440" marR="91440" marT="45720" marB="45720">
                    <a:solidFill>
                      <a:srgbClr val="FFFFFF"/>
                    </a:solidFill>
                  </a:tcPr>
                </a:tc>
                <a:tc>
                  <a:txBody>
                    <a:bodyPr/>
                    <a:lstStyle/>
                    <a:p>
                      <a:r>
                        <a:rPr sz="1425" b="0">
                          <a:solidFill>
                            <a:srgbClr val="454545"/>
                          </a:solidFill>
                          <a:latin typeface="Calibri"/>
                          <a:ea typeface="Calibri"/>
                          <a:cs typeface="Calibri"/>
                        </a:rPr>
                        <a:t>1 verbleibende</a:t>
                      </a:r>
                    </a:p>
                  </a:txBody>
                  <a:tcPr marL="91440" marR="91440" marT="45720" marB="45720">
                    <a:solidFill>
                      <a:srgbClr val="FFFFFF"/>
                    </a:solidFill>
                  </a:tcPr>
                </a:tc>
                <a:tc>
                  <a:txBody>
                    <a:bodyPr/>
                    <a:lstStyle/>
                    <a:p>
                      <a:r>
                        <a:rPr sz="1425" b="0">
                          <a:solidFill>
                            <a:srgbClr val="454545"/>
                          </a:solidFill>
                          <a:latin typeface="Calibri"/>
                          <a:ea typeface="Calibri"/>
                          <a:cs typeface="Calibri"/>
                        </a:rPr>
                        <a:t>9 Epochen insgesamt</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52F5B6E3-CDF8-4386-B51A-8214D15D2D49}"/>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Netzgewichte lernt das Training. Hyperband sucht eine geeignete Konfiguration.</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Für die Auswahl zählt die Validierung, für die abschließende Bewertung der Test.</a:t>
            </a:r>
          </a:p>
        </p:txBody>
      </p:sp>
      <p:sp>
        <p:nvSpPr>
          <p:cNvPr id="507" name="">
            <a:extLst>
              <a:ext uri="{FF2B5EF4-FFF2-40B4-BE49-F238E27FC236}">
                <a16:creationId xmlns:a16="http://schemas.microsoft.com/office/drawing/2014/main" id="{42EA56E1-0B41-4D53-9E04-1DD6716AE383}"/>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Früh schwache Kandidaten können später gut werden. Hyperband garantiert kein globales Optimum.</a:t>
            </a:r>
          </a:p>
        </p:txBody>
      </p:sp>
    </p:spTree>
    <p:extLst>
      <p:ext uri="{BB962C8B-B14F-4D97-AF65-F5344CB8AC3E}">
        <p14:creationId xmlns:p14="http://schemas.microsoft.com/office/powerpoint/2010/main" val="15989129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HECM: Ersatzschaltbild und EKF-Korrektur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8E392954-CFEA-49E4-9FF6-357864693ADA}"/>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Strombasierte Zustandsfortschreibung mit gemessener Spannung korrigieren.</a:t>
            </a:r>
          </a:p>
        </p:txBody>
      </p:sp>
      <p:sp>
        <p:nvSpPr>
          <p:cNvPr id="503" name="">
            <a:extLst>
              <a:ext uri="{FF2B5EF4-FFF2-40B4-BE49-F238E27FC236}">
                <a16:creationId xmlns:a16="http://schemas.microsoft.com/office/drawing/2014/main" id="{38ABB42E-A8D4-457D-B1D5-B5D8EA7290D5}"/>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Das 2RC-Modell beschreibt ohmschen Spannungsabfall und zwei verzögerte Anteile.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Der Extended Kalman Filter linearisiert lokal und gewichtet Modell- und Messunsicherheit.</a:t>
            </a:r>
          </a:p>
        </p:txBody>
      </p:sp>
      <p:sp>
        <p:nvSpPr>
          <p:cNvPr id="504" name="">
            <a:extLst>
              <a:ext uri="{FF2B5EF4-FFF2-40B4-BE49-F238E27FC236}">
                <a16:creationId xmlns:a16="http://schemas.microsoft.com/office/drawing/2014/main" id="{09DF4C2A-1CF2-42B6-929B-0B806BF29667}"/>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Ein Update: vorhersagen, vergleichen, korrigieren</a:t>
            </a:r>
          </a:p>
        </p:txBody>
      </p:sp>
      <p:graphicFrame>
        <p:nvGraphicFramePr>
          <p:cNvPr id="505" name=""/>
          <p:cNvGraphicFramePr/>
          <p:nvPr/>
        </p:nvGraphicFramePr>
        <p:xfrm>
          <a:off x="552450" y="3048000"/>
          <a:ext cx="9353550" cy="1295400"/>
        </p:xfrm>
        <a:graphic>
          <a:graphicData uri="http://schemas.openxmlformats.org/drawingml/2006/table">
            <a:tbl>
              <a:tblPr/>
              <a:tblGrid>
                <a:gridCol w="2238375"/>
                <a:gridCol w="4191000"/>
                <a:gridCol w="2924175"/>
              </a:tblGrid>
              <a:tr h="323850">
                <a:tc>
                  <a:txBody>
                    <a:bodyPr/>
                    <a:lstStyle/>
                    <a:p>
                      <a:r>
                        <a:rPr sz="1425" b="1">
                          <a:solidFill>
                            <a:srgbClr val="454545"/>
                          </a:solidFill>
                          <a:latin typeface="Calibri"/>
                          <a:ea typeface="Calibri"/>
                          <a:cs typeface="Calibri"/>
                        </a:rPr>
                        <a:t>Schritt</a:t>
                      </a:r>
                    </a:p>
                  </a:txBody>
                  <a:tcPr marL="91440" marR="91440" marT="45720" marB="45720">
                    <a:solidFill>
                      <a:srgbClr val="F1E3E6"/>
                    </a:solidFill>
                  </a:tcPr>
                </a:tc>
                <a:tc>
                  <a:txBody>
                    <a:bodyPr/>
                    <a:lstStyle/>
                    <a:p>
                      <a:r>
                        <a:rPr sz="1425" b="1">
                          <a:solidFill>
                            <a:srgbClr val="454545"/>
                          </a:solidFill>
                          <a:latin typeface="Calibri"/>
                          <a:ea typeface="Calibri"/>
                          <a:cs typeface="Calibri"/>
                        </a:rPr>
                        <a:t>Was passiert?</a:t>
                      </a:r>
                    </a:p>
                  </a:txBody>
                  <a:tcPr marL="91440" marR="91440" marT="45720" marB="45720">
                    <a:solidFill>
                      <a:srgbClr val="F1E3E6"/>
                    </a:solidFill>
                  </a:tcPr>
                </a:tc>
                <a:tc>
                  <a:txBody>
                    <a:bodyPr/>
                    <a:lstStyle/>
                    <a:p>
                      <a:r>
                        <a:rPr sz="1425" b="1">
                          <a:solidFill>
                            <a:srgbClr val="454545"/>
                          </a:solidFill>
                          <a:latin typeface="Calibri"/>
                          <a:ea typeface="Calibri"/>
                          <a:cs typeface="Calibri"/>
                        </a:rPr>
                        <a:t>Lehrbeispiel</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Vorhersage</a:t>
                      </a:r>
                    </a:p>
                  </a:txBody>
                  <a:tcPr marL="91440" marR="91440" marT="45720" marB="45720">
                    <a:solidFill>
                      <a:srgbClr val="FFFFFF"/>
                    </a:solidFill>
                  </a:tcPr>
                </a:tc>
                <a:tc>
                  <a:txBody>
                    <a:bodyPr/>
                    <a:lstStyle/>
                    <a:p>
                      <a:r>
                        <a:rPr sz="1425" b="0">
                          <a:solidFill>
                            <a:srgbClr val="454545"/>
                          </a:solidFill>
                          <a:latin typeface="Calibri"/>
                          <a:ea typeface="Calibri"/>
                          <a:cs typeface="Calibri"/>
                        </a:rPr>
                        <a:t>Zustand und Klemmenspannung fortschreiben</a:t>
                      </a:r>
                    </a:p>
                  </a:txBody>
                  <a:tcPr marL="91440" marR="91440" marT="45720" marB="45720">
                    <a:solidFill>
                      <a:srgbClr val="FFFFFF"/>
                    </a:solidFill>
                  </a:tcPr>
                </a:tc>
                <a:tc>
                  <a:txBody>
                    <a:bodyPr/>
                    <a:lstStyle/>
                    <a:p>
                      <a:r>
                        <a:rPr sz="1425" b="0">
                          <a:solidFill>
                            <a:srgbClr val="454545"/>
                          </a:solidFill>
                          <a:latin typeface="Calibri"/>
                          <a:ea typeface="Calibri"/>
                          <a:cs typeface="Calibri"/>
                        </a:rPr>
                        <a:t>Û = 3,30 V</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Innovation</a:t>
                      </a:r>
                    </a:p>
                  </a:txBody>
                  <a:tcPr marL="91440" marR="91440" marT="45720" marB="45720">
                    <a:solidFill>
                      <a:srgbClr val="F4F4F4"/>
                    </a:solidFill>
                  </a:tcPr>
                </a:tc>
                <a:tc>
                  <a:txBody>
                    <a:bodyPr/>
                    <a:lstStyle/>
                    <a:p>
                      <a:r>
                        <a:rPr sz="1425" b="0">
                          <a:solidFill>
                            <a:srgbClr val="454545"/>
                          </a:solidFill>
                          <a:latin typeface="Calibri"/>
                          <a:ea typeface="Calibri"/>
                          <a:cs typeface="Calibri"/>
                        </a:rPr>
                        <a:t>Messung minus vorhergesagte Spannung</a:t>
                      </a:r>
                    </a:p>
                  </a:txBody>
                  <a:tcPr marL="91440" marR="91440" marT="45720" marB="45720">
                    <a:solidFill>
                      <a:srgbClr val="F4F4F4"/>
                    </a:solidFill>
                  </a:tcPr>
                </a:tc>
                <a:tc>
                  <a:txBody>
                    <a:bodyPr/>
                    <a:lstStyle/>
                    <a:p>
                      <a:r>
                        <a:rPr sz="1425" b="0">
                          <a:solidFill>
                            <a:srgbClr val="454545"/>
                          </a:solidFill>
                          <a:latin typeface="Calibri"/>
                          <a:ea typeface="Calibri"/>
                          <a:cs typeface="Calibri"/>
                        </a:rPr>
                        <a:t>3,32 − 3,30 = +0,02 V</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Korrektur</a:t>
                      </a:r>
                    </a:p>
                  </a:txBody>
                  <a:tcPr marL="91440" marR="91440" marT="45720" marB="45720">
                    <a:solidFill>
                      <a:srgbClr val="FFFFFF"/>
                    </a:solidFill>
                  </a:tcPr>
                </a:tc>
                <a:tc>
                  <a:txBody>
                    <a:bodyPr/>
                    <a:lstStyle/>
                    <a:p>
                      <a:r>
                        <a:rPr sz="1425" b="0">
                          <a:solidFill>
                            <a:srgbClr val="454545"/>
                          </a:solidFill>
                          <a:latin typeface="Calibri"/>
                          <a:ea typeface="Calibri"/>
                          <a:cs typeface="Calibri"/>
                        </a:rPr>
                        <a:t>Kalman-Gain verteilt die Innovation</a:t>
                      </a:r>
                    </a:p>
                  </a:txBody>
                  <a:tcPr marL="91440" marR="91440" marT="45720" marB="45720">
                    <a:solidFill>
                      <a:srgbClr val="FFFFFF"/>
                    </a:solidFill>
                  </a:tcPr>
                </a:tc>
                <a:tc>
                  <a:txBody>
                    <a:bodyPr/>
                    <a:lstStyle/>
                    <a:p>
                      <a:r>
                        <a:rPr sz="1425" b="0">
                          <a:solidFill>
                            <a:srgbClr val="454545"/>
                          </a:solidFill>
                          <a:latin typeface="Calibri"/>
                          <a:ea typeface="Calibri"/>
                          <a:cs typeface="Calibri"/>
                        </a:rPr>
                        <a:t>x = x̂ + K · 0,02 V</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1DA98281-2D0C-4D5B-84E2-DA1975645852}"/>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P beschreibt Zustandsunsicherheit, Q Prozessunsicherheit, R Messunsicherheit.</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Größeres R senkt bei sonst gleichen Bedingungen den Einfluss der Messung.</a:t>
            </a:r>
          </a:p>
        </p:txBody>
      </p:sp>
      <p:sp>
        <p:nvSpPr>
          <p:cNvPr id="507" name="">
            <a:extLst>
              <a:ext uri="{FF2B5EF4-FFF2-40B4-BE49-F238E27FC236}">
                <a16:creationId xmlns:a16="http://schemas.microsoft.com/office/drawing/2014/main" id="{BEBCDF2B-8EE1-4733-B041-F290D659FCEA}"/>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Eine flache LFP-OCV-Kurve enthält wenig SOC-Information. Tabellen und Filterannahmen bleiben wichtig.</a:t>
            </a:r>
          </a:p>
        </p:txBody>
      </p:sp>
    </p:spTree>
    <p:extLst>
      <p:ext uri="{BB962C8B-B14F-4D97-AF65-F5344CB8AC3E}">
        <p14:creationId xmlns:p14="http://schemas.microsoft.com/office/powerpoint/2010/main" val="15989129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Fehlermaße und gleich gewichtete 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29</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73F430D2-0170-4B6A-9B26-F74263B818E0}"/>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Größe und Verteilung der Fehler berichten, ohne Zellen mit mehr Fenstern zu bevorzugen.</a:t>
            </a:r>
          </a:p>
        </p:txBody>
      </p:sp>
      <p:sp>
        <p:nvSpPr>
          <p:cNvPr id="503" name="">
            <a:extLst>
              <a:ext uri="{FF2B5EF4-FFF2-40B4-BE49-F238E27FC236}">
                <a16:creationId xmlns:a16="http://schemas.microsoft.com/office/drawing/2014/main" id="{9CBCA32A-3F8E-4C2C-9448-139A957E15C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Fehler e = Schätzung − Referenz. MAE mittelt |e|, RMSE ist √Mittel(e²).</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P95 beschreibt ein oberes Fehlerniveau. Es ist kein Konfidenzintervall.</a:t>
            </a:r>
          </a:p>
        </p:txBody>
      </p:sp>
      <p:sp>
        <p:nvSpPr>
          <p:cNvPr id="504" name="">
            <a:extLst>
              <a:ext uri="{FF2B5EF4-FFF2-40B4-BE49-F238E27FC236}">
                <a16:creationId xmlns:a16="http://schemas.microsoft.com/office/drawing/2014/main" id="{F4F19CEF-6F19-4553-BEBB-8FB1E0583D8B}"/>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Lehrbeispiele: Fehlermaß und Aggregation getrennt betrachten</a:t>
            </a:r>
          </a:p>
        </p:txBody>
      </p:sp>
      <p:graphicFrame>
        <p:nvGraphicFramePr>
          <p:cNvPr id="505" name=""/>
          <p:cNvGraphicFramePr/>
          <p:nvPr/>
        </p:nvGraphicFramePr>
        <p:xfrm>
          <a:off x="552450" y="3048000"/>
          <a:ext cx="9353550" cy="1295400"/>
        </p:xfrm>
        <a:graphic>
          <a:graphicData uri="http://schemas.openxmlformats.org/drawingml/2006/table">
            <a:tbl>
              <a:tblPr/>
              <a:tblGrid>
                <a:gridCol w="3238500"/>
                <a:gridCol w="4191000"/>
                <a:gridCol w="1924050"/>
              </a:tblGrid>
              <a:tr h="323850">
                <a:tc>
                  <a:txBody>
                    <a:bodyPr/>
                    <a:lstStyle/>
                    <a:p>
                      <a:r>
                        <a:rPr sz="1425" b="1">
                          <a:solidFill>
                            <a:srgbClr val="454545"/>
                          </a:solidFill>
                          <a:latin typeface="Calibri"/>
                          <a:ea typeface="Calibri"/>
                          <a:cs typeface="Calibri"/>
                        </a:rPr>
                        <a:t>Berechnung</a:t>
                      </a:r>
                    </a:p>
                  </a:txBody>
                  <a:tcPr marL="91440" marR="91440" marT="45720" marB="45720">
                    <a:solidFill>
                      <a:srgbClr val="F1E3E6"/>
                    </a:solidFill>
                  </a:tcPr>
                </a:tc>
                <a:tc>
                  <a:txBody>
                    <a:bodyPr/>
                    <a:lstStyle/>
                    <a:p>
                      <a:r>
                        <a:rPr sz="1425" b="1">
                          <a:solidFill>
                            <a:srgbClr val="454545"/>
                          </a:solidFill>
                          <a:latin typeface="Calibri"/>
                          <a:ea typeface="Calibri"/>
                          <a:cs typeface="Calibri"/>
                        </a:rPr>
                        <a:t>Beispieldaten</a:t>
                      </a:r>
                    </a:p>
                  </a:txBody>
                  <a:tcPr marL="91440" marR="91440" marT="45720" marB="45720">
                    <a:solidFill>
                      <a:srgbClr val="F1E3E6"/>
                    </a:solidFill>
                  </a:tcPr>
                </a:tc>
                <a:tc>
                  <a:txBody>
                    <a:bodyPr/>
                    <a:lstStyle/>
                    <a:p>
                      <a:r>
                        <a:rPr sz="1425" b="1">
                          <a:solidFill>
                            <a:srgbClr val="454545"/>
                          </a:solidFill>
                          <a:latin typeface="Calibri"/>
                          <a:ea typeface="Calibri"/>
                          <a:cs typeface="Calibri"/>
                        </a:rPr>
                        <a:t>Ergebnis</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MAE</a:t>
                      </a:r>
                    </a:p>
                  </a:txBody>
                  <a:tcPr marL="91440" marR="91440" marT="45720" marB="45720">
                    <a:solidFill>
                      <a:srgbClr val="FFFFFF"/>
                    </a:solidFill>
                  </a:tcPr>
                </a:tc>
                <a:tc>
                  <a:txBody>
                    <a:bodyPr/>
                    <a:lstStyle/>
                    <a:p>
                      <a:r>
                        <a:rPr sz="1425" b="0">
                          <a:solidFill>
                            <a:srgbClr val="454545"/>
                          </a:solidFill>
                          <a:latin typeface="Calibri"/>
                          <a:ea typeface="Calibri"/>
                          <a:cs typeface="Calibri"/>
                        </a:rPr>
                        <a:t>Fehler 1, 1, 4 pp: (1 + 1 + 4) / 3</a:t>
                      </a:r>
                    </a:p>
                  </a:txBody>
                  <a:tcPr marL="91440" marR="91440" marT="45720" marB="45720">
                    <a:solidFill>
                      <a:srgbClr val="FFFFFF"/>
                    </a:solidFill>
                  </a:tcPr>
                </a:tc>
                <a:tc>
                  <a:txBody>
                    <a:bodyPr/>
                    <a:lstStyle/>
                    <a:p>
                      <a:r>
                        <a:rPr sz="1425" b="0">
                          <a:solidFill>
                            <a:srgbClr val="454545"/>
                          </a:solidFill>
                          <a:latin typeface="Calibri"/>
                          <a:ea typeface="Calibri"/>
                          <a:cs typeface="Calibri"/>
                        </a:rPr>
                        <a:t>2 pp</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RMSE</a:t>
                      </a:r>
                    </a:p>
                  </a:txBody>
                  <a:tcPr marL="91440" marR="91440" marT="45720" marB="45720">
                    <a:solidFill>
                      <a:srgbClr val="F4F4F4"/>
                    </a:solidFill>
                  </a:tcPr>
                </a:tc>
                <a:tc>
                  <a:txBody>
                    <a:bodyPr/>
                    <a:lstStyle/>
                    <a:p>
                      <a:r>
                        <a:rPr sz="1425" b="0">
                          <a:solidFill>
                            <a:srgbClr val="454545"/>
                          </a:solidFill>
                          <a:latin typeface="Calibri"/>
                          <a:ea typeface="Calibri"/>
                          <a:cs typeface="Calibri"/>
                        </a:rPr>
                        <a:t>√[(1² + 1² + 4²) / 3]</a:t>
                      </a:r>
                    </a:p>
                  </a:txBody>
                  <a:tcPr marL="91440" marR="91440" marT="45720" marB="45720">
                    <a:solidFill>
                      <a:srgbClr val="F4F4F4"/>
                    </a:solidFill>
                  </a:tcPr>
                </a:tc>
                <a:tc>
                  <a:txBody>
                    <a:bodyPr/>
                    <a:lstStyle/>
                    <a:p>
                      <a:r>
                        <a:rPr sz="1425" b="0">
                          <a:solidFill>
                            <a:srgbClr val="454545"/>
                          </a:solidFill>
                          <a:latin typeface="Calibri"/>
                          <a:ea typeface="Calibri"/>
                          <a:cs typeface="Calibri"/>
                        </a:rPr>
                        <a:t>≈ 2,45 pp</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Zell-Macro, zwei Zellen</a:t>
                      </a:r>
                    </a:p>
                  </a:txBody>
                  <a:tcPr marL="91440" marR="91440" marT="45720" marB="45720">
                    <a:solidFill>
                      <a:srgbClr val="FFFFFF"/>
                    </a:solidFill>
                  </a:tcPr>
                </a:tc>
                <a:tc>
                  <a:txBody>
                    <a:bodyPr/>
                    <a:lstStyle/>
                    <a:p>
                      <a:r>
                        <a:rPr sz="1425" b="0">
                          <a:solidFill>
                            <a:srgbClr val="454545"/>
                          </a:solidFill>
                          <a:latin typeface="Calibri"/>
                          <a:ea typeface="Calibri"/>
                          <a:cs typeface="Calibri"/>
                        </a:rPr>
                        <a:t>Zelle A: 1,1,1 %; Zelle B: 5 %</a:t>
                      </a:r>
                    </a:p>
                  </a:txBody>
                  <a:tcPr marL="91440" marR="91440" marT="45720" marB="45720">
                    <a:solidFill>
                      <a:srgbClr val="FFFFFF"/>
                    </a:solidFill>
                  </a:tcPr>
                </a:tc>
                <a:tc>
                  <a:txBody>
                    <a:bodyPr/>
                    <a:lstStyle/>
                    <a:p>
                      <a:r>
                        <a:rPr sz="1425" b="0">
                          <a:solidFill>
                            <a:srgbClr val="454545"/>
                          </a:solidFill>
                          <a:latin typeface="Calibri"/>
                          <a:ea typeface="Calibri"/>
                          <a:cs typeface="Calibri"/>
                        </a:rPr>
                        <a:t>(1 + 5) / 2 = 3 %</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FCB1AAD5-F7DB-4618-B0F0-A459B72F0B4B}"/>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Alle vier Fenster im letzten Beispiel gleich zu zählen ergäbe nur 2 %.</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Cell-Macro zählt dagegen jede unabhängige Zelle einmal, unabhängig von ihrer Fensterzahl.</a:t>
            </a:r>
          </a:p>
        </p:txBody>
      </p:sp>
      <p:sp>
        <p:nvSpPr>
          <p:cNvPr id="507" name="">
            <a:extLst>
              <a:ext uri="{FF2B5EF4-FFF2-40B4-BE49-F238E27FC236}">
                <a16:creationId xmlns:a16="http://schemas.microsoft.com/office/drawing/2014/main" id="{66F8CF5A-D33E-4976-AD91-43337C012A45}"/>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kleiner globaler MAE kann kurze Spitzen verdecken. Lokale Fehler und Recovery ergänzen ihn.</a:t>
            </a:r>
          </a:p>
        </p:txBody>
      </p:sp>
    </p:spTree>
    <p:extLst>
      <p:ext uri="{BB962C8B-B14F-4D97-AF65-F5344CB8AC3E}">
        <p14:creationId xmlns:p14="http://schemas.microsoft.com/office/powerpoint/2010/main" val="15989129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Gepaarte Störungstests und ungünstige Richtung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30</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902669CD-20EB-46B4-9855-508A4DE38F88}"/>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Den zusätzlichen Einfluss einer definierten Störung unter gleichen Bedingungen messen.</a:t>
            </a:r>
          </a:p>
        </p:txBody>
      </p:sp>
      <p:sp>
        <p:nvSpPr>
          <p:cNvPr id="503" name="">
            <a:extLst>
              <a:ext uri="{FF2B5EF4-FFF2-40B4-BE49-F238E27FC236}">
                <a16:creationId xmlns:a16="http://schemas.microsoft.com/office/drawing/2014/main" id="{94411028-66EB-4884-A9CC-DF497DA2354B}"/>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Dasselbe Modell auf derselben Zelle einmal sauber und einmal gestört ausführen.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ΔMAE = MAEgestört − MAEsauber. Zufallsmuster zwischen Modellen gleich halten.</a:t>
            </a:r>
          </a:p>
        </p:txBody>
      </p:sp>
      <p:sp>
        <p:nvSpPr>
          <p:cNvPr id="504" name="">
            <a:extLst>
              <a:ext uri="{FF2B5EF4-FFF2-40B4-BE49-F238E27FC236}">
                <a16:creationId xmlns:a16="http://schemas.microsoft.com/office/drawing/2014/main" id="{627EFC98-C61B-4E69-A3ED-B306AE47AD41}"/>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Interventionen verändern unterschiedliche Teile des Datenstroms</a:t>
            </a:r>
          </a:p>
        </p:txBody>
      </p:sp>
      <p:graphicFrame>
        <p:nvGraphicFramePr>
          <p:cNvPr id="505" name=""/>
          <p:cNvGraphicFramePr/>
          <p:nvPr/>
        </p:nvGraphicFramePr>
        <p:xfrm>
          <a:off x="552450" y="3048000"/>
          <a:ext cx="9353550" cy="1619250"/>
        </p:xfrm>
        <a:graphic>
          <a:graphicData uri="http://schemas.openxmlformats.org/drawingml/2006/table">
            <a:tbl>
              <a:tblPr/>
              <a:tblGrid>
                <a:gridCol w="2381250"/>
                <a:gridCol w="6972300"/>
              </a:tblGrid>
              <a:tr h="323850">
                <a:tc>
                  <a:txBody>
                    <a:bodyPr/>
                    <a:lstStyle/>
                    <a:p>
                      <a:r>
                        <a:rPr sz="1425" b="1">
                          <a:solidFill>
                            <a:srgbClr val="454545"/>
                          </a:solidFill>
                          <a:latin typeface="Calibri"/>
                          <a:ea typeface="Calibri"/>
                          <a:cs typeface="Calibri"/>
                        </a:rPr>
                        <a:t>Störung</a:t>
                      </a:r>
                    </a:p>
                  </a:txBody>
                  <a:tcPr marL="91440" marR="91440" marT="45720" marB="45720">
                    <a:solidFill>
                      <a:srgbClr val="F1E3E6"/>
                    </a:solidFill>
                  </a:tcPr>
                </a:tc>
                <a:tc>
                  <a:txBody>
                    <a:bodyPr/>
                    <a:lstStyle/>
                    <a:p>
                      <a:r>
                        <a:rPr sz="1425" b="1">
                          <a:solidFill>
                            <a:srgbClr val="454545"/>
                          </a:solidFill>
                          <a:latin typeface="Calibri"/>
                          <a:ea typeface="Calibri"/>
                          <a:cs typeface="Calibri"/>
                        </a:rPr>
                        <a:t>Gezielte Veränderung</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Gain / Bias</a:t>
                      </a:r>
                    </a:p>
                  </a:txBody>
                  <a:tcPr marL="91440" marR="91440" marT="45720" marB="45720">
                    <a:solidFill>
                      <a:srgbClr val="FFFFFF"/>
                    </a:solidFill>
                  </a:tcPr>
                </a:tc>
                <a:tc>
                  <a:txBody>
                    <a:bodyPr/>
                    <a:lstStyle/>
                    <a:p>
                      <a:r>
                        <a:rPr sz="1425" b="0">
                          <a:solidFill>
                            <a:srgbClr val="454545"/>
                          </a:solidFill>
                          <a:latin typeface="Calibri"/>
                          <a:ea typeface="Calibri"/>
                          <a:cs typeface="Calibri"/>
                        </a:rPr>
                        <a:t>Strom multiplizieren / konstanten Stromoffset addieren</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Rauschen / Spikes</a:t>
                      </a:r>
                    </a:p>
                  </a:txBody>
                  <a:tcPr marL="91440" marR="91440" marT="45720" marB="45720">
                    <a:solidFill>
                      <a:srgbClr val="F4F4F4"/>
                    </a:solidFill>
                  </a:tcPr>
                </a:tc>
                <a:tc>
                  <a:txBody>
                    <a:bodyPr/>
                    <a:lstStyle/>
                    <a:p>
                      <a:r>
                        <a:rPr sz="1425" b="0">
                          <a:solidFill>
                            <a:srgbClr val="454545"/>
                          </a:solidFill>
                          <a:latin typeface="Calibri"/>
                          <a:ea typeface="Calibri"/>
                          <a:cs typeface="Calibri"/>
                        </a:rPr>
                        <a:t>Zufällige Schwankungen / kurze Messwertspitzen</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Jitter / Sampleverlust</a:t>
                      </a:r>
                    </a:p>
                  </a:txBody>
                  <a:tcPr marL="91440" marR="91440" marT="45720" marB="45720">
                    <a:solidFill>
                      <a:srgbClr val="FFFFFF"/>
                    </a:solidFill>
                  </a:tcPr>
                </a:tc>
                <a:tc>
                  <a:txBody>
                    <a:bodyPr/>
                    <a:lstStyle/>
                    <a:p>
                      <a:r>
                        <a:rPr sz="1425" b="0">
                          <a:solidFill>
                            <a:srgbClr val="454545"/>
                          </a:solidFill>
                          <a:latin typeface="Calibri"/>
                          <a:ea typeface="Calibri"/>
                          <a:cs typeface="Calibri"/>
                        </a:rPr>
                        <a:t>Zeitabstände verändern / einzelne Messungen entfernen</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Burst-Dropout</a:t>
                      </a:r>
                    </a:p>
                  </a:txBody>
                  <a:tcPr marL="91440" marR="91440" marT="45720" marB="45720">
                    <a:solidFill>
                      <a:srgbClr val="F4F4F4"/>
                    </a:solidFill>
                  </a:tcPr>
                </a:tc>
                <a:tc>
                  <a:txBody>
                    <a:bodyPr/>
                    <a:lstStyle/>
                    <a:p>
                      <a:r>
                        <a:rPr sz="1425" b="0">
                          <a:solidFill>
                            <a:srgbClr val="454545"/>
                          </a:solidFill>
                          <a:latin typeface="Calibri"/>
                          <a:ea typeface="Calibri"/>
                          <a:cs typeface="Calibri"/>
                        </a:rPr>
                        <a:t>Zusammenhängenden Messausfall simulieren</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60D44315-8D7D-487C-94F7-8A8490646962}"/>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einer Zelle: ΔMAE bei +Gain = 1 pp, bei −Gain = 3 pp.</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Adverse direction wählt 3 pp. Danach diese Auswahl gleich über die Zellen mitteln.</a:t>
            </a:r>
          </a:p>
        </p:txBody>
      </p:sp>
      <p:sp>
        <p:nvSpPr>
          <p:cNvPr id="507" name="">
            <a:extLst>
              <a:ext uri="{FF2B5EF4-FFF2-40B4-BE49-F238E27FC236}">
                <a16:creationId xmlns:a16="http://schemas.microsoft.com/office/drawing/2014/main" id="{A311A8DB-B45C-419A-8954-1B15695D7783}"/>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Die ungünstigere getestete Richtung ist kein allgemeiner Worst-Case-Beweis.</a:t>
            </a:r>
          </a:p>
        </p:txBody>
      </p:sp>
    </p:spTree>
    <p:extLst>
      <p:ext uri="{BB962C8B-B14F-4D97-AF65-F5344CB8AC3E}">
        <p14:creationId xmlns:p14="http://schemas.microsoft.com/office/powerpoint/2010/main" val="15989129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Recovery: Bandeintritt, Rückfall und Zensierung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6022E839-DA86-4AA5-A320-73BAF963090F}"/>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Prüfen, wie eine initial gestörte Schätzung zur sauber initialisierten Ausgabe zurückkehrt.</a:t>
            </a:r>
          </a:p>
        </p:txBody>
      </p:sp>
      <p:sp>
        <p:nvSpPr>
          <p:cNvPr id="503" name="">
            <a:extLst>
              <a:ext uri="{FF2B5EF4-FFF2-40B4-BE49-F238E27FC236}">
                <a16:creationId xmlns:a16="http://schemas.microsoft.com/office/drawing/2014/main" id="{C1ADC9BF-495E-44F5-97EA-06DFE9CBEF94}"/>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Kapitel 6: |SOCgestört − SOCsauber| ≤ 0,02 für mindestens 300 Sekunden.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Persistent heißt: Danach bis zum Ende des 24-h-Horizonts im Band bleiben.</a:t>
            </a:r>
          </a:p>
        </p:txBody>
      </p:sp>
      <p:sp>
        <p:nvSpPr>
          <p:cNvPr id="504" name="">
            <a:extLst>
              <a:ext uri="{FF2B5EF4-FFF2-40B4-BE49-F238E27FC236}">
                <a16:creationId xmlns:a16="http://schemas.microsoft.com/office/drawing/2014/main" id="{5849704B-3331-491E-9206-34AC274A900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eines Verlaufs mit Rückfall</a:t>
            </a:r>
          </a:p>
        </p:txBody>
      </p:sp>
      <p:graphicFrame>
        <p:nvGraphicFramePr>
          <p:cNvPr id="505" name=""/>
          <p:cNvGraphicFramePr/>
          <p:nvPr/>
        </p:nvGraphicFramePr>
        <p:xfrm>
          <a:off x="552450" y="3048000"/>
          <a:ext cx="9353550" cy="1619250"/>
        </p:xfrm>
        <a:graphic>
          <a:graphicData uri="http://schemas.openxmlformats.org/drawingml/2006/table">
            <a:tbl>
              <a:tblPr/>
              <a:tblGrid>
                <a:gridCol w="2000250"/>
                <a:gridCol w="4857750"/>
                <a:gridCol w="2495550"/>
              </a:tblGrid>
              <a:tr h="323850">
                <a:tc>
                  <a:txBody>
                    <a:bodyPr/>
                    <a:lstStyle/>
                    <a:p>
                      <a:r>
                        <a:rPr sz="1425" b="1">
                          <a:solidFill>
                            <a:srgbClr val="454545"/>
                          </a:solidFill>
                          <a:latin typeface="Calibri"/>
                          <a:ea typeface="Calibri"/>
                          <a:cs typeface="Calibri"/>
                        </a:rPr>
                        <a:t>Zeit</a:t>
                      </a:r>
                    </a:p>
                  </a:txBody>
                  <a:tcPr marL="91440" marR="91440" marT="45720" marB="45720">
                    <a:solidFill>
                      <a:srgbClr val="F1E3E6"/>
                    </a:solidFill>
                  </a:tcPr>
                </a:tc>
                <a:tc>
                  <a:txBody>
                    <a:bodyPr/>
                    <a:lstStyle/>
                    <a:p>
                      <a:r>
                        <a:rPr sz="1425" b="1">
                          <a:solidFill>
                            <a:srgbClr val="454545"/>
                          </a:solidFill>
                          <a:latin typeface="Calibri"/>
                          <a:ea typeface="Calibri"/>
                          <a:cs typeface="Calibri"/>
                        </a:rPr>
                        <a:t>Verlauf</a:t>
                      </a:r>
                    </a:p>
                  </a:txBody>
                  <a:tcPr marL="91440" marR="91440" marT="45720" marB="45720">
                    <a:solidFill>
                      <a:srgbClr val="F1E3E6"/>
                    </a:solidFill>
                  </a:tcPr>
                </a:tc>
                <a:tc>
                  <a:txBody>
                    <a:bodyPr/>
                    <a:lstStyle/>
                    <a:p>
                      <a:r>
                        <a:rPr sz="1425" b="1">
                          <a:solidFill>
                            <a:srgbClr val="454545"/>
                          </a:solidFill>
                          <a:latin typeface="Calibri"/>
                          <a:ea typeface="Calibri"/>
                          <a:cs typeface="Calibri"/>
                        </a:rPr>
                        <a:t>Auswertung</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1 h</a:t>
                      </a:r>
                    </a:p>
                  </a:txBody>
                  <a:tcPr marL="91440" marR="91440" marT="45720" marB="45720">
                    <a:solidFill>
                      <a:srgbClr val="FFFFFF"/>
                    </a:solidFill>
                  </a:tcPr>
                </a:tc>
                <a:tc>
                  <a:txBody>
                    <a:bodyPr/>
                    <a:lstStyle/>
                    <a:p>
                      <a:r>
                        <a:rPr sz="1425" b="0">
                          <a:solidFill>
                            <a:srgbClr val="454545"/>
                          </a:solidFill>
                          <a:latin typeface="Calibri"/>
                          <a:ea typeface="Calibri"/>
                          <a:cs typeface="Calibri"/>
                        </a:rPr>
                        <a:t>10 Minuten innerhalb von ±2 pp</a:t>
                      </a:r>
                    </a:p>
                  </a:txBody>
                  <a:tcPr marL="91440" marR="91440" marT="45720" marB="45720">
                    <a:solidFill>
                      <a:srgbClr val="FFFFFF"/>
                    </a:solidFill>
                  </a:tcPr>
                </a:tc>
                <a:tc>
                  <a:txBody>
                    <a:bodyPr/>
                    <a:lstStyle/>
                    <a:p>
                      <a:r>
                        <a:rPr sz="1425" b="0">
                          <a:solidFill>
                            <a:srgbClr val="454545"/>
                          </a:solidFill>
                          <a:latin typeface="Calibri"/>
                          <a:ea typeface="Calibri"/>
                          <a:cs typeface="Calibri"/>
                        </a:rPr>
                        <a:t>Erster Bandeintritt</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1,2 h</a:t>
                      </a:r>
                    </a:p>
                  </a:txBody>
                  <a:tcPr marL="91440" marR="91440" marT="45720" marB="45720">
                    <a:solidFill>
                      <a:srgbClr val="F4F4F4"/>
                    </a:solidFill>
                  </a:tcPr>
                </a:tc>
                <a:tc>
                  <a:txBody>
                    <a:bodyPr/>
                    <a:lstStyle/>
                    <a:p>
                      <a:r>
                        <a:rPr sz="1425" b="0">
                          <a:solidFill>
                            <a:srgbClr val="454545"/>
                          </a:solidFill>
                          <a:latin typeface="Calibri"/>
                          <a:ea typeface="Calibri"/>
                          <a:cs typeface="Calibri"/>
                        </a:rPr>
                        <a:t>Band wieder verlassen</a:t>
                      </a:r>
                    </a:p>
                  </a:txBody>
                  <a:tcPr marL="91440" marR="91440" marT="45720" marB="45720">
                    <a:solidFill>
                      <a:srgbClr val="F4F4F4"/>
                    </a:solidFill>
                  </a:tcPr>
                </a:tc>
                <a:tc>
                  <a:txBody>
                    <a:bodyPr/>
                    <a:lstStyle/>
                    <a:p>
                      <a:r>
                        <a:rPr sz="1425" b="0">
                          <a:solidFill>
                            <a:srgbClr val="454545"/>
                          </a:solidFill>
                          <a:latin typeface="Calibri"/>
                          <a:ea typeface="Calibri"/>
                          <a:cs typeface="Calibri"/>
                        </a:rPr>
                        <a:t>Rückfall</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3 h bis Ende</a:t>
                      </a:r>
                    </a:p>
                  </a:txBody>
                  <a:tcPr marL="91440" marR="91440" marT="45720" marB="45720">
                    <a:solidFill>
                      <a:srgbClr val="FFFFFF"/>
                    </a:solidFill>
                  </a:tcPr>
                </a:tc>
                <a:tc>
                  <a:txBody>
                    <a:bodyPr/>
                    <a:lstStyle/>
                    <a:p>
                      <a:r>
                        <a:rPr sz="1425" b="0">
                          <a:solidFill>
                            <a:srgbClr val="454545"/>
                          </a:solidFill>
                          <a:latin typeface="Calibri"/>
                          <a:ea typeface="Calibri"/>
                          <a:cs typeface="Calibri"/>
                        </a:rPr>
                        <a:t>Dauerhaft innerhalb des Bandes</a:t>
                      </a:r>
                    </a:p>
                  </a:txBody>
                  <a:tcPr marL="91440" marR="91440" marT="45720" marB="45720">
                    <a:solidFill>
                      <a:srgbClr val="FFFFFF"/>
                    </a:solidFill>
                  </a:tcPr>
                </a:tc>
                <a:tc>
                  <a:txBody>
                    <a:bodyPr/>
                    <a:lstStyle/>
                    <a:p>
                      <a:r>
                        <a:rPr sz="1425" b="0">
                          <a:solidFill>
                            <a:srgbClr val="454545"/>
                          </a:solidFill>
                          <a:latin typeface="Calibri"/>
                          <a:ea typeface="Calibri"/>
                          <a:cs typeface="Calibri"/>
                        </a:rPr>
                        <a:t>Persistente Recovery</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Alternativer Fall</a:t>
                      </a:r>
                    </a:p>
                  </a:txBody>
                  <a:tcPr marL="91440" marR="91440" marT="45720" marB="45720">
                    <a:solidFill>
                      <a:srgbClr val="F4F4F4"/>
                    </a:solidFill>
                  </a:tcPr>
                </a:tc>
                <a:tc>
                  <a:txBody>
                    <a:bodyPr/>
                    <a:lstStyle/>
                    <a:p>
                      <a:r>
                        <a:rPr sz="1425" b="0">
                          <a:solidFill>
                            <a:srgbClr val="454545"/>
                          </a:solidFill>
                          <a:latin typeface="Calibri"/>
                          <a:ea typeface="Calibri"/>
                          <a:cs typeface="Calibri"/>
                        </a:rPr>
                        <a:t>Bis Ende keine dauerhafte Rückkehr</a:t>
                      </a:r>
                    </a:p>
                  </a:txBody>
                  <a:tcPr marL="91440" marR="91440" marT="45720" marB="45720">
                    <a:solidFill>
                      <a:srgbClr val="F4F4F4"/>
                    </a:solidFill>
                  </a:tcPr>
                </a:tc>
                <a:tc>
                  <a:txBody>
                    <a:bodyPr/>
                    <a:lstStyle/>
                    <a:p>
                      <a:r>
                        <a:rPr sz="1425" b="0">
                          <a:solidFill>
                            <a:srgbClr val="454545"/>
                          </a:solidFill>
                          <a:latin typeface="Calibri"/>
                          <a:ea typeface="Calibri"/>
                          <a:cs typeface="Calibri"/>
                        </a:rPr>
                        <a:t>Rechtszensiert</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33DB36AA-CA53-4838-B3EB-A5188ABC7FB3}"/>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Im Beispiel: first entry = 1 h, persistent recovery = 3 h.</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Ein zensierter Wert bei 24 h bedeutet nicht, dass die Recovery nach 24 h gelang.</a:t>
            </a:r>
          </a:p>
        </p:txBody>
      </p:sp>
      <p:sp>
        <p:nvSpPr>
          <p:cNvPr id="507" name="">
            <a:extLst>
              <a:ext uri="{FF2B5EF4-FFF2-40B4-BE49-F238E27FC236}">
                <a16:creationId xmlns:a16="http://schemas.microsoft.com/office/drawing/2014/main" id="{746F7A06-F04E-4B54-B20D-F04A5DE34474}"/>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Nähe zur sauberen Modellausgabe ist keine Garantie für Nähe zum tatsächlichen Referenz-SOC.</a:t>
            </a:r>
          </a:p>
        </p:txBody>
      </p:sp>
    </p:spTree>
    <p:extLst>
      <p:ext uri="{BB962C8B-B14F-4D97-AF65-F5344CB8AC3E}">
        <p14:creationId xmlns:p14="http://schemas.microsoft.com/office/powerpoint/2010/main" val="15989129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Sensitivitätsanalyse und SOH-Ablation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32</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D5E1C7DC-109A-4ABC-BFC2-08B98FA94CF6}"/>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Prüfen, wie stark Aussagen von Tabellenparametern oder vom SOH-Eingang abhängen.</a:t>
            </a:r>
          </a:p>
        </p:txBody>
      </p:sp>
      <p:sp>
        <p:nvSpPr>
          <p:cNvPr id="503" name="">
            <a:extLst>
              <a:ext uri="{FF2B5EF4-FFF2-40B4-BE49-F238E27FC236}">
                <a16:creationId xmlns:a16="http://schemas.microsoft.com/office/drawing/2014/main" id="{FE9D66C3-D7C5-4EF7-BEE8-D133A3FE434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HECM: Widerstandsgruppe ±10 %, Zeitkonstanten ±10 %, OCV ±10 mV.</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Jeweils eine Gruppe ändern und dieselben sauberen sowie gestörten Läufe wiederholen.</a:t>
            </a:r>
          </a:p>
        </p:txBody>
      </p:sp>
      <p:sp>
        <p:nvSpPr>
          <p:cNvPr id="504" name="">
            <a:extLst>
              <a:ext uri="{FF2B5EF4-FFF2-40B4-BE49-F238E27FC236}">
                <a16:creationId xmlns:a16="http://schemas.microsoft.com/office/drawing/2014/main" id="{F53F5EAD-8143-4E87-A3A2-D8DE13854A46}"/>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Zusatzschaden relativ zur eigenen Baseline</a:t>
            </a:r>
          </a:p>
        </p:txBody>
      </p:sp>
      <p:graphicFrame>
        <p:nvGraphicFramePr>
          <p:cNvPr id="505" name=""/>
          <p:cNvGraphicFramePr/>
          <p:nvPr/>
        </p:nvGraphicFramePr>
        <p:xfrm>
          <a:off x="552450" y="3048000"/>
          <a:ext cx="9353550" cy="971550"/>
        </p:xfrm>
        <a:graphic>
          <a:graphicData uri="http://schemas.openxmlformats.org/drawingml/2006/table">
            <a:tbl>
              <a:tblPr/>
              <a:tblGrid>
                <a:gridCol w="2857500"/>
                <a:gridCol w="2095500"/>
                <a:gridCol w="2190750"/>
                <a:gridCol w="2209800"/>
              </a:tblGrid>
              <a:tr h="323850">
                <a:tc>
                  <a:txBody>
                    <a:bodyPr/>
                    <a:lstStyle/>
                    <a:p>
                      <a:r>
                        <a:rPr sz="1425" b="1">
                          <a:solidFill>
                            <a:srgbClr val="454545"/>
                          </a:solidFill>
                          <a:latin typeface="Calibri"/>
                          <a:ea typeface="Calibri"/>
                          <a:cs typeface="Calibri"/>
                        </a:rPr>
                        <a:t>HECM-Variante</a:t>
                      </a:r>
                    </a:p>
                  </a:txBody>
                  <a:tcPr marL="91440" marR="91440" marT="45720" marB="45720">
                    <a:solidFill>
                      <a:srgbClr val="F1E3E6"/>
                    </a:solidFill>
                  </a:tcPr>
                </a:tc>
                <a:tc>
                  <a:txBody>
                    <a:bodyPr/>
                    <a:lstStyle/>
                    <a:p>
                      <a:r>
                        <a:rPr sz="1425" b="1">
                          <a:solidFill>
                            <a:srgbClr val="454545"/>
                          </a:solidFill>
                          <a:latin typeface="Calibri"/>
                          <a:ea typeface="Calibri"/>
                          <a:cs typeface="Calibri"/>
                        </a:rPr>
                        <a:t>Sauberer MAE</a:t>
                      </a:r>
                    </a:p>
                  </a:txBody>
                  <a:tcPr marL="91440" marR="91440" marT="45720" marB="45720">
                    <a:solidFill>
                      <a:srgbClr val="F1E3E6"/>
                    </a:solidFill>
                  </a:tcPr>
                </a:tc>
                <a:tc>
                  <a:txBody>
                    <a:bodyPr/>
                    <a:lstStyle/>
                    <a:p>
                      <a:r>
                        <a:rPr sz="1425" b="1">
                          <a:solidFill>
                            <a:srgbClr val="454545"/>
                          </a:solidFill>
                          <a:latin typeface="Calibri"/>
                          <a:ea typeface="Calibri"/>
                          <a:cs typeface="Calibri"/>
                        </a:rPr>
                        <a:t>Gestörter MAE</a:t>
                      </a:r>
                    </a:p>
                  </a:txBody>
                  <a:tcPr marL="91440" marR="91440" marT="45720" marB="45720">
                    <a:solidFill>
                      <a:srgbClr val="F1E3E6"/>
                    </a:solidFill>
                  </a:tcPr>
                </a:tc>
                <a:tc>
                  <a:txBody>
                    <a:bodyPr/>
                    <a:lstStyle/>
                    <a:p>
                      <a:r>
                        <a:rPr sz="1425" b="1">
                          <a:solidFill>
                            <a:srgbClr val="454545"/>
                          </a:solidFill>
                          <a:latin typeface="Calibri"/>
                          <a:ea typeface="Calibri"/>
                          <a:cs typeface="Calibri"/>
                        </a:rPr>
                        <a:t>ΔMAE</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Originaltabellen</a:t>
                      </a:r>
                    </a:p>
                  </a:txBody>
                  <a:tcPr marL="91440" marR="91440" marT="45720" marB="45720">
                    <a:solidFill>
                      <a:srgbClr val="FFFFFF"/>
                    </a:solidFill>
                  </a:tcPr>
                </a:tc>
                <a:tc>
                  <a:txBody>
                    <a:bodyPr/>
                    <a:lstStyle/>
                    <a:p>
                      <a:r>
                        <a:rPr sz="1425" b="0">
                          <a:solidFill>
                            <a:srgbClr val="454545"/>
                          </a:solidFill>
                          <a:latin typeface="Calibri"/>
                          <a:ea typeface="Calibri"/>
                          <a:cs typeface="Calibri"/>
                        </a:rPr>
                        <a:t>3 %</a:t>
                      </a:r>
                    </a:p>
                  </a:txBody>
                  <a:tcPr marL="91440" marR="91440" marT="45720" marB="45720">
                    <a:solidFill>
                      <a:srgbClr val="FFFFFF"/>
                    </a:solidFill>
                  </a:tcPr>
                </a:tc>
                <a:tc>
                  <a:txBody>
                    <a:bodyPr/>
                    <a:lstStyle/>
                    <a:p>
                      <a:r>
                        <a:rPr sz="1425" b="0">
                          <a:solidFill>
                            <a:srgbClr val="454545"/>
                          </a:solidFill>
                          <a:latin typeface="Calibri"/>
                          <a:ea typeface="Calibri"/>
                          <a:cs typeface="Calibri"/>
                        </a:rPr>
                        <a:t>10 %</a:t>
                      </a:r>
                    </a:p>
                  </a:txBody>
                  <a:tcPr marL="91440" marR="91440" marT="45720" marB="45720">
                    <a:solidFill>
                      <a:srgbClr val="FFFFFF"/>
                    </a:solidFill>
                  </a:tcPr>
                </a:tc>
                <a:tc>
                  <a:txBody>
                    <a:bodyPr/>
                    <a:lstStyle/>
                    <a:p>
                      <a:r>
                        <a:rPr sz="1425" b="0">
                          <a:solidFill>
                            <a:srgbClr val="454545"/>
                          </a:solidFill>
                          <a:latin typeface="Calibri"/>
                          <a:ea typeface="Calibri"/>
                          <a:cs typeface="Calibri"/>
                        </a:rPr>
                        <a:t>7 pp</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Geänderte Tabellen</a:t>
                      </a:r>
                    </a:p>
                  </a:txBody>
                  <a:tcPr marL="91440" marR="91440" marT="45720" marB="45720">
                    <a:solidFill>
                      <a:srgbClr val="F4F4F4"/>
                    </a:solidFill>
                  </a:tcPr>
                </a:tc>
                <a:tc>
                  <a:txBody>
                    <a:bodyPr/>
                    <a:lstStyle/>
                    <a:p>
                      <a:r>
                        <a:rPr sz="1425" b="0">
                          <a:solidFill>
                            <a:srgbClr val="454545"/>
                          </a:solidFill>
                          <a:latin typeface="Calibri"/>
                          <a:ea typeface="Calibri"/>
                          <a:cs typeface="Calibri"/>
                        </a:rPr>
                        <a:t>4 %</a:t>
                      </a:r>
                    </a:p>
                  </a:txBody>
                  <a:tcPr marL="91440" marR="91440" marT="45720" marB="45720">
                    <a:solidFill>
                      <a:srgbClr val="F4F4F4"/>
                    </a:solidFill>
                  </a:tcPr>
                </a:tc>
                <a:tc>
                  <a:txBody>
                    <a:bodyPr/>
                    <a:lstStyle/>
                    <a:p>
                      <a:r>
                        <a:rPr sz="1425" b="0">
                          <a:solidFill>
                            <a:srgbClr val="454545"/>
                          </a:solidFill>
                          <a:latin typeface="Calibri"/>
                          <a:ea typeface="Calibri"/>
                          <a:cs typeface="Calibri"/>
                        </a:rPr>
                        <a:t>11 %</a:t>
                      </a:r>
                    </a:p>
                  </a:txBody>
                  <a:tcPr marL="91440" marR="91440" marT="45720" marB="45720">
                    <a:solidFill>
                      <a:srgbClr val="F4F4F4"/>
                    </a:solidFill>
                  </a:tcPr>
                </a:tc>
                <a:tc>
                  <a:txBody>
                    <a:bodyPr/>
                    <a:lstStyle/>
                    <a:p>
                      <a:r>
                        <a:rPr sz="1425" b="0">
                          <a:solidFill>
                            <a:srgbClr val="454545"/>
                          </a:solidFill>
                          <a:latin typeface="Calibri"/>
                          <a:ea typeface="Calibri"/>
                          <a:cs typeface="Calibri"/>
                        </a:rPr>
                        <a:t>7 pp</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E823C99F-4EEE-4761-BE31-483E9A1B6E48}"/>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Interaktion ΔΔMAE = 7 − 7 = 0 pp: gleicher Zusatzschaden trotz anderer Baseline.</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SOH-Ablation: Modell-SOH durch Referenz-SOH ersetzen und Auswirkungen vergleichen.</a:t>
            </a:r>
          </a:p>
        </p:txBody>
      </p:sp>
      <p:sp>
        <p:nvSpPr>
          <p:cNvPr id="507" name="">
            <a:extLst>
              <a:ext uri="{FF2B5EF4-FFF2-40B4-BE49-F238E27FC236}">
                <a16:creationId xmlns:a16="http://schemas.microsoft.com/office/drawing/2014/main" id="{D321B993-666B-430F-A86C-9E9F7AAB2514}"/>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Lokale Parameterrobustheit gilt nur im geprüften Bereich. Auch Recovery kann sich verändern.</a:t>
            </a:r>
          </a:p>
        </p:txBody>
      </p:sp>
    </p:spTree>
    <p:extLst>
      <p:ext uri="{BB962C8B-B14F-4D97-AF65-F5344CB8AC3E}">
        <p14:creationId xmlns:p14="http://schemas.microsoft.com/office/powerpoint/2010/main" val="15989129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INT8-Quantisierung: speichern und rekonstruieren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33</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C283D36A-2148-4DF7-A7E2-977739185854}"/>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Rekurrente Gewichte mit weniger Speicher ablegen, bei unveränderter Netzbreite.</a:t>
            </a:r>
          </a:p>
        </p:txBody>
      </p:sp>
      <p:sp>
        <p:nvSpPr>
          <p:cNvPr id="503" name="">
            <a:extLst>
              <a:ext uri="{FF2B5EF4-FFF2-40B4-BE49-F238E27FC236}">
                <a16:creationId xmlns:a16="http://schemas.microsoft.com/office/drawing/2014/main" id="{5560BDDC-ED66-4008-AFF3-BCBD72E115DF}"/>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Je Matrixzeile: s = max(|w|) / 127, q = round(w / s), Rekonstruktion ŵ = s · q.</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Die geprüfte Variante quantisiert die rekurrenten Gewichte nach dem Training zeilenweise.</a:t>
            </a:r>
          </a:p>
        </p:txBody>
      </p:sp>
      <p:sp>
        <p:nvSpPr>
          <p:cNvPr id="504" name="">
            <a:extLst>
              <a:ext uri="{FF2B5EF4-FFF2-40B4-BE49-F238E27FC236}">
                <a16:creationId xmlns:a16="http://schemas.microsoft.com/office/drawing/2014/main" id="{29039D0C-DBDE-424E-80F7-21F87CDFF65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einer Zeile mit max(|w|) = 1 und s = 1/127</a:t>
            </a:r>
          </a:p>
        </p:txBody>
      </p:sp>
      <p:graphicFrame>
        <p:nvGraphicFramePr>
          <p:cNvPr id="505" name=""/>
          <p:cNvGraphicFramePr/>
          <p:nvPr/>
        </p:nvGraphicFramePr>
        <p:xfrm>
          <a:off x="552450" y="3048000"/>
          <a:ext cx="9353550" cy="1295400"/>
        </p:xfrm>
        <a:graphic>
          <a:graphicData uri="http://schemas.openxmlformats.org/drawingml/2006/table">
            <a:tbl>
              <a:tblPr/>
              <a:tblGrid>
                <a:gridCol w="3114675"/>
                <a:gridCol w="3114675"/>
                <a:gridCol w="3124200"/>
              </a:tblGrid>
              <a:tr h="323850">
                <a:tc>
                  <a:txBody>
                    <a:bodyPr/>
                    <a:lstStyle/>
                    <a:p>
                      <a:r>
                        <a:rPr sz="1425" b="1">
                          <a:solidFill>
                            <a:srgbClr val="454545"/>
                          </a:solidFill>
                          <a:latin typeface="Calibri"/>
                          <a:ea typeface="Calibri"/>
                          <a:cs typeface="Calibri"/>
                        </a:rPr>
                        <a:t>Originalgewicht w</a:t>
                      </a:r>
                    </a:p>
                  </a:txBody>
                  <a:tcPr marL="91440" marR="91440" marT="45720" marB="45720">
                    <a:solidFill>
                      <a:srgbClr val="F1E3E6"/>
                    </a:solidFill>
                  </a:tcPr>
                </a:tc>
                <a:tc>
                  <a:txBody>
                    <a:bodyPr/>
                    <a:lstStyle/>
                    <a:p>
                      <a:r>
                        <a:rPr sz="1425" b="1">
                          <a:solidFill>
                            <a:srgbClr val="454545"/>
                          </a:solidFill>
                          <a:latin typeface="Calibri"/>
                          <a:ea typeface="Calibri"/>
                          <a:cs typeface="Calibri"/>
                        </a:rPr>
                        <a:t>INT8-Code q</a:t>
                      </a:r>
                    </a:p>
                  </a:txBody>
                  <a:tcPr marL="91440" marR="91440" marT="45720" marB="45720">
                    <a:solidFill>
                      <a:srgbClr val="F1E3E6"/>
                    </a:solidFill>
                  </a:tcPr>
                </a:tc>
                <a:tc>
                  <a:txBody>
                    <a:bodyPr/>
                    <a:lstStyle/>
                    <a:p>
                      <a:r>
                        <a:rPr sz="1425" b="1">
                          <a:solidFill>
                            <a:srgbClr val="454545"/>
                          </a:solidFill>
                          <a:latin typeface="Calibri"/>
                          <a:ea typeface="Calibri"/>
                          <a:cs typeface="Calibri"/>
                        </a:rPr>
                        <a:t>Rekonstruktion ŵ</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−0,50</a:t>
                      </a:r>
                    </a:p>
                  </a:txBody>
                  <a:tcPr marL="91440" marR="91440" marT="45720" marB="45720">
                    <a:solidFill>
                      <a:srgbClr val="FFFFFF"/>
                    </a:solidFill>
                  </a:tcPr>
                </a:tc>
                <a:tc>
                  <a:txBody>
                    <a:bodyPr/>
                    <a:lstStyle/>
                    <a:p>
                      <a:r>
                        <a:rPr sz="1425" b="0">
                          <a:solidFill>
                            <a:srgbClr val="454545"/>
                          </a:solidFill>
                          <a:latin typeface="Calibri"/>
                          <a:ea typeface="Calibri"/>
                          <a:cs typeface="Calibri"/>
                        </a:rPr>
                        <a:t>−64</a:t>
                      </a:r>
                    </a:p>
                  </a:txBody>
                  <a:tcPr marL="91440" marR="91440" marT="45720" marB="45720">
                    <a:solidFill>
                      <a:srgbClr val="FFFFFF"/>
                    </a:solidFill>
                  </a:tcPr>
                </a:tc>
                <a:tc>
                  <a:txBody>
                    <a:bodyPr/>
                    <a:lstStyle/>
                    <a:p>
                      <a:r>
                        <a:rPr sz="1425" b="0">
                          <a:solidFill>
                            <a:srgbClr val="454545"/>
                          </a:solidFill>
                          <a:latin typeface="Calibri"/>
                          <a:ea typeface="Calibri"/>
                          <a:cs typeface="Calibri"/>
                        </a:rPr>
                        <a:t>≈ −0,50394</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+0,13</a:t>
                      </a:r>
                    </a:p>
                  </a:txBody>
                  <a:tcPr marL="91440" marR="91440" marT="45720" marB="45720">
                    <a:solidFill>
                      <a:srgbClr val="F4F4F4"/>
                    </a:solidFill>
                  </a:tcPr>
                </a:tc>
                <a:tc>
                  <a:txBody>
                    <a:bodyPr/>
                    <a:lstStyle/>
                    <a:p>
                      <a:r>
                        <a:rPr sz="1425" b="0">
                          <a:solidFill>
                            <a:srgbClr val="454545"/>
                          </a:solidFill>
                          <a:latin typeface="Calibri"/>
                          <a:ea typeface="Calibri"/>
                          <a:cs typeface="Calibri"/>
                        </a:rPr>
                        <a:t>+17</a:t>
                      </a:r>
                    </a:p>
                  </a:txBody>
                  <a:tcPr marL="91440" marR="91440" marT="45720" marB="45720">
                    <a:solidFill>
                      <a:srgbClr val="F4F4F4"/>
                    </a:solidFill>
                  </a:tcPr>
                </a:tc>
                <a:tc>
                  <a:txBody>
                    <a:bodyPr/>
                    <a:lstStyle/>
                    <a:p>
                      <a:r>
                        <a:rPr sz="1425" b="0">
                          <a:solidFill>
                            <a:srgbClr val="454545"/>
                          </a:solidFill>
                          <a:latin typeface="Calibri"/>
                          <a:ea typeface="Calibri"/>
                          <a:cs typeface="Calibri"/>
                        </a:rPr>
                        <a:t>≈ +0,13386</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+1,00</a:t>
                      </a:r>
                    </a:p>
                  </a:txBody>
                  <a:tcPr marL="91440" marR="91440" marT="45720" marB="45720">
                    <a:solidFill>
                      <a:srgbClr val="FFFFFF"/>
                    </a:solidFill>
                  </a:tcPr>
                </a:tc>
                <a:tc>
                  <a:txBody>
                    <a:bodyPr/>
                    <a:lstStyle/>
                    <a:p>
                      <a:r>
                        <a:rPr sz="1425" b="0">
                          <a:solidFill>
                            <a:srgbClr val="454545"/>
                          </a:solidFill>
                          <a:latin typeface="Calibri"/>
                          <a:ea typeface="Calibri"/>
                          <a:cs typeface="Calibri"/>
                        </a:rPr>
                        <a:t>+127</a:t>
                      </a:r>
                    </a:p>
                  </a:txBody>
                  <a:tcPr marL="91440" marR="91440" marT="45720" marB="45720">
                    <a:solidFill>
                      <a:srgbClr val="FFFFFF"/>
                    </a:solidFill>
                  </a:tcPr>
                </a:tc>
                <a:tc>
                  <a:txBody>
                    <a:bodyPr/>
                    <a:lstStyle/>
                    <a:p>
                      <a:r>
                        <a:rPr sz="1425" b="0">
                          <a:solidFill>
                            <a:srgbClr val="454545"/>
                          </a:solidFill>
                          <a:latin typeface="Calibri"/>
                          <a:ea typeface="Calibri"/>
                          <a:cs typeface="Calibri"/>
                        </a:rPr>
                        <a:t>1,00000</a:t>
                      </a:r>
                    </a:p>
                  </a:txBody>
                  <a:tcPr marL="91440" marR="91440" marT="45720" marB="45720">
                    <a:solidFill>
                      <a:srgbClr val="FFFFFF"/>
                    </a:solidFill>
                  </a:tcPr>
                </a:tc>
              </a:tr>
            </a:tbl>
          </a:graphicData>
        </a:graphic>
      </p:graphicFrame>
      <p:sp>
        <p:nvSpPr>
          <p:cNvPr id="506" name="">
            <a:extLst>
              <a:ext uri="{FF2B5EF4-FFF2-40B4-BE49-F238E27FC236}">
                <a16:creationId xmlns:a16="http://schemas.microsoft.com/office/drawing/2014/main" id="{1A9C8B86-BF55-44B2-8079-97F79B77C096}"/>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Codes belegen je ein Byte. Jede Zeile benötigt zusätzlich einen FP32-Skalierungswert.</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Bias, Zustände und die Berechnung bleiben im geprüften Kernel in FP32.</a:t>
            </a:r>
          </a:p>
        </p:txBody>
      </p:sp>
      <p:sp>
        <p:nvSpPr>
          <p:cNvPr id="507" name="">
            <a:extLst>
              <a:ext uri="{FF2B5EF4-FFF2-40B4-BE49-F238E27FC236}">
                <a16:creationId xmlns:a16="http://schemas.microsoft.com/office/drawing/2014/main" id="{22307196-B91D-48C7-8FC3-F4AC1748386E}"/>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Weight-only INT8 spart Speicher. Die Rekonstruktion kann diesen Kernel langsamer machen.</a:t>
            </a:r>
          </a:p>
        </p:txBody>
      </p:sp>
    </p:spTree>
    <p:extLst>
      <p:ext uri="{BB962C8B-B14F-4D97-AF65-F5344CB8AC3E}">
        <p14:creationId xmlns:p14="http://schemas.microsoft.com/office/powerpoint/2010/main" val="15989129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Kausale SOH-Filterung und ihre Verzögerung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60B56F61-CE11-4BA8-9930-D379CE6E3F94}"/>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Unruhige SOH-Rohschätzungen glätten und schnelle Zustandsänderungen begrenzen.</a:t>
            </a:r>
          </a:p>
        </p:txBody>
      </p:sp>
      <p:sp>
        <p:nvSpPr>
          <p:cNvPr id="503" name="">
            <a:extLst>
              <a:ext uri="{FF2B5EF4-FFF2-40B4-BE49-F238E27FC236}">
                <a16:creationId xmlns:a16="http://schemas.microsoft.com/office/drawing/2014/main" id="{9046C197-1BA1-4DF3-A02F-24E5546542FC}"/>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Zuerst die Rohvorhersage am bekannten Start-SOH ausrichten.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Danach zwei Stufen aus exponentieller Mittelung und Änderungsbegrenzung anwenden.</a:t>
            </a:r>
          </a:p>
        </p:txBody>
      </p:sp>
      <p:sp>
        <p:nvSpPr>
          <p:cNvPr id="504" name="">
            <a:extLst>
              <a:ext uri="{FF2B5EF4-FFF2-40B4-BE49-F238E27FC236}">
                <a16:creationId xmlns:a16="http://schemas.microsoft.com/office/drawing/2014/main" id="{81D2C59E-258D-4EE9-A3F6-91286A814A4F}"/>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Lineare EMA-Anteile bei einem Update pro Sekunde</a:t>
            </a:r>
          </a:p>
        </p:txBody>
      </p:sp>
      <p:graphicFrame>
        <p:nvGraphicFramePr>
          <p:cNvPr id="505" name=""/>
          <p:cNvGraphicFramePr/>
          <p:nvPr/>
        </p:nvGraphicFramePr>
        <p:xfrm>
          <a:off x="552450" y="3048000"/>
          <a:ext cx="9353550" cy="971550"/>
        </p:xfrm>
        <a:graphic>
          <a:graphicData uri="http://schemas.openxmlformats.org/drawingml/2006/table">
            <a:tbl>
              <a:tblPr/>
              <a:tblGrid>
                <a:gridCol w="2286000"/>
                <a:gridCol w="2381250"/>
                <a:gridCol w="2381250"/>
                <a:gridCol w="2305050"/>
              </a:tblGrid>
              <a:tr h="323850">
                <a:tc>
                  <a:txBody>
                    <a:bodyPr/>
                    <a:lstStyle/>
                    <a:p>
                      <a:r>
                        <a:rPr sz="1425" b="1">
                          <a:solidFill>
                            <a:srgbClr val="454545"/>
                          </a:solidFill>
                          <a:latin typeface="Calibri"/>
                          <a:ea typeface="Calibri"/>
                          <a:cs typeface="Calibri"/>
                        </a:rPr>
                        <a:t>Stufe</a:t>
                      </a:r>
                    </a:p>
                  </a:txBody>
                  <a:tcPr marL="91440" marR="91440" marT="45720" marB="45720">
                    <a:solidFill>
                      <a:srgbClr val="F1E3E6"/>
                    </a:solidFill>
                  </a:tcPr>
                </a:tc>
                <a:tc>
                  <a:txBody>
                    <a:bodyPr/>
                    <a:lstStyle/>
                    <a:p>
                      <a:r>
                        <a:rPr sz="1425" b="1">
                          <a:solidFill>
                            <a:srgbClr val="454545"/>
                          </a:solidFill>
                          <a:latin typeface="Calibri"/>
                          <a:ea typeface="Calibri"/>
                          <a:cs typeface="Calibri"/>
                        </a:rPr>
                        <a:t>Glättungsfaktor α</a:t>
                      </a:r>
                    </a:p>
                  </a:txBody>
                  <a:tcPr marL="91440" marR="91440" marT="45720" marB="45720">
                    <a:solidFill>
                      <a:srgbClr val="F1E3E6"/>
                    </a:solidFill>
                  </a:tcPr>
                </a:tc>
                <a:tc>
                  <a:txBody>
                    <a:bodyPr/>
                    <a:lstStyle/>
                    <a:p>
                      <a:r>
                        <a:rPr sz="1425" b="1">
                          <a:solidFill>
                            <a:srgbClr val="454545"/>
                          </a:solidFill>
                          <a:latin typeface="Calibri"/>
                          <a:ea typeface="Calibri"/>
                          <a:cs typeface="Calibri"/>
                        </a:rPr>
                        <a:t>Zeitkonstante</a:t>
                      </a:r>
                    </a:p>
                  </a:txBody>
                  <a:tcPr marL="91440" marR="91440" marT="45720" marB="45720">
                    <a:solidFill>
                      <a:srgbClr val="F1E3E6"/>
                    </a:solidFill>
                  </a:tcPr>
                </a:tc>
                <a:tc>
                  <a:txBody>
                    <a:bodyPr/>
                    <a:lstStyle/>
                    <a:p>
                      <a:r>
                        <a:rPr sz="1425" b="1">
                          <a:solidFill>
                            <a:srgbClr val="454545"/>
                          </a:solidFill>
                          <a:latin typeface="Calibri"/>
                          <a:ea typeface="Calibri"/>
                          <a:cs typeface="Calibri"/>
                        </a:rPr>
                        <a:t>90%-Antwortzeit</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1</a:t>
                      </a:r>
                    </a:p>
                  </a:txBody>
                  <a:tcPr marL="91440" marR="91440" marT="45720" marB="45720">
                    <a:solidFill>
                      <a:srgbClr val="FFFFFF"/>
                    </a:solidFill>
                  </a:tcPr>
                </a:tc>
                <a:tc>
                  <a:txBody>
                    <a:bodyPr/>
                    <a:lstStyle/>
                    <a:p>
                      <a:r>
                        <a:rPr sz="1425" b="0">
                          <a:solidFill>
                            <a:srgbClr val="454545"/>
                          </a:solidFill>
                          <a:latin typeface="Calibri"/>
                          <a:ea typeface="Calibri"/>
                          <a:cs typeface="Calibri"/>
                        </a:rPr>
                        <a:t>0,02</a:t>
                      </a:r>
                    </a:p>
                  </a:txBody>
                  <a:tcPr marL="91440" marR="91440" marT="45720" marB="45720">
                    <a:solidFill>
                      <a:srgbClr val="FFFFFF"/>
                    </a:solidFill>
                  </a:tcPr>
                </a:tc>
                <a:tc>
                  <a:txBody>
                    <a:bodyPr/>
                    <a:lstStyle/>
                    <a:p>
                      <a:r>
                        <a:rPr sz="1425" b="0">
                          <a:solidFill>
                            <a:srgbClr val="454545"/>
                          </a:solidFill>
                          <a:latin typeface="Calibri"/>
                          <a:ea typeface="Calibri"/>
                          <a:cs typeface="Calibri"/>
                        </a:rPr>
                        <a:t>≈ 49,5 s</a:t>
                      </a:r>
                    </a:p>
                  </a:txBody>
                  <a:tcPr marL="91440" marR="91440" marT="45720" marB="45720">
                    <a:solidFill>
                      <a:srgbClr val="FFFFFF"/>
                    </a:solidFill>
                  </a:tcPr>
                </a:tc>
                <a:tc>
                  <a:txBody>
                    <a:bodyPr/>
                    <a:lstStyle/>
                    <a:p>
                      <a:r>
                        <a:rPr sz="1425" b="0">
                          <a:solidFill>
                            <a:srgbClr val="454545"/>
                          </a:solidFill>
                          <a:latin typeface="Calibri"/>
                          <a:ea typeface="Calibri"/>
                          <a:cs typeface="Calibri"/>
                        </a:rPr>
                        <a:t>≈ 114 s</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2</a:t>
                      </a:r>
                    </a:p>
                  </a:txBody>
                  <a:tcPr marL="91440" marR="91440" marT="45720" marB="45720">
                    <a:solidFill>
                      <a:srgbClr val="F4F4F4"/>
                    </a:solidFill>
                  </a:tcPr>
                </a:tc>
                <a:tc>
                  <a:txBody>
                    <a:bodyPr/>
                    <a:lstStyle/>
                    <a:p>
                      <a:r>
                        <a:rPr sz="1425" b="0">
                          <a:solidFill>
                            <a:srgbClr val="454545"/>
                          </a:solidFill>
                          <a:latin typeface="Calibri"/>
                          <a:ea typeface="Calibri"/>
                          <a:cs typeface="Calibri"/>
                        </a:rPr>
                        <a:t>0,000001</a:t>
                      </a:r>
                    </a:p>
                  </a:txBody>
                  <a:tcPr marL="91440" marR="91440" marT="45720" marB="45720">
                    <a:solidFill>
                      <a:srgbClr val="F4F4F4"/>
                    </a:solidFill>
                  </a:tcPr>
                </a:tc>
                <a:tc>
                  <a:txBody>
                    <a:bodyPr/>
                    <a:lstStyle/>
                    <a:p>
                      <a:r>
                        <a:rPr sz="1425" b="0">
                          <a:solidFill>
                            <a:srgbClr val="454545"/>
                          </a:solidFill>
                          <a:latin typeface="Calibri"/>
                          <a:ea typeface="Calibri"/>
                          <a:cs typeface="Calibri"/>
                        </a:rPr>
                        <a:t>≈ 11,57 Tage</a:t>
                      </a:r>
                    </a:p>
                  </a:txBody>
                  <a:tcPr marL="91440" marR="91440" marT="45720" marB="45720">
                    <a:solidFill>
                      <a:srgbClr val="F4F4F4"/>
                    </a:solidFill>
                  </a:tcPr>
                </a:tc>
                <a:tc>
                  <a:txBody>
                    <a:bodyPr/>
                    <a:lstStyle/>
                    <a:p>
                      <a:r>
                        <a:rPr sz="1425" b="0">
                          <a:solidFill>
                            <a:srgbClr val="454545"/>
                          </a:solidFill>
                          <a:latin typeface="Calibri"/>
                          <a:ea typeface="Calibri"/>
                          <a:cs typeface="Calibri"/>
                        </a:rPr>
                        <a:t>≈ 26,65 Tage</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2BD18A90-F318-45D5-BE03-C4B36FD5B69C}"/>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EMA-Lehrbeispiel ohne Begrenzung: alter Wert 95 %, Rohwert 90 %, α = 0,02.</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Neuer Wert = 0,98 · 95 + 0,02 · 90 = 94,9 %.</a:t>
            </a:r>
          </a:p>
        </p:txBody>
      </p:sp>
      <p:sp>
        <p:nvSpPr>
          <p:cNvPr id="507" name="">
            <a:extLst>
              <a:ext uri="{FF2B5EF4-FFF2-40B4-BE49-F238E27FC236}">
                <a16:creationId xmlns:a16="http://schemas.microsoft.com/office/drawing/2014/main" id="{164658D8-5D87-4B6C-B86F-6F6604C7450D}"/>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Glatt kann stark verzögert bedeuten. Die Rate-Limiter sind zusätzlich nichtlinear.</a:t>
            </a:r>
          </a:p>
        </p:txBody>
      </p:sp>
    </p:spTree>
    <p:extLst>
      <p:ext uri="{BB962C8B-B14F-4D97-AF65-F5344CB8AC3E}">
        <p14:creationId xmlns:p14="http://schemas.microsoft.com/office/powerpoint/2010/main" val="15989129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Gewichtete Scores und Prioritätensensitivität</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B2879172-B731-4E5C-A645-371AD4C12499}"/>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Genauigkeit und Ressourcen für ausdrücklich gewählte Anwendungsprioritäten zusammenfassen.</a:t>
            </a:r>
          </a:p>
        </p:txBody>
      </p:sp>
      <p:sp>
        <p:nvSpPr>
          <p:cNvPr id="503" name="">
            <a:extLst>
              <a:ext uri="{FF2B5EF4-FFF2-40B4-BE49-F238E27FC236}">
                <a16:creationId xmlns:a16="http://schemas.microsoft.com/office/drawing/2014/main" id="{7FAC51D4-64D5-41F6-906C-DADF6534412D}"/>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Kapitel 7: U = Σ wⱼ · (KennzahlVariante / KennzahlBase), mit Σ wⱼ = 1.</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Vier Kriterien: MAE, Flash, RAM und Energieproxy. Base hat U = 1, kleiner ist günstiger.</a:t>
            </a:r>
          </a:p>
        </p:txBody>
      </p:sp>
      <p:sp>
        <p:nvSpPr>
          <p:cNvPr id="504" name="">
            <a:extLst>
              <a:ext uri="{FF2B5EF4-FFF2-40B4-BE49-F238E27FC236}">
                <a16:creationId xmlns:a16="http://schemas.microsoft.com/office/drawing/2014/main" id="{6C5C04C6-99E5-4757-8585-873899655663}"/>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Erfundenes Beispiel mit gleichen Gewichten von je 0,25</a:t>
            </a:r>
          </a:p>
        </p:txBody>
      </p:sp>
      <p:graphicFrame>
        <p:nvGraphicFramePr>
          <p:cNvPr id="505" name=""/>
          <p:cNvGraphicFramePr/>
          <p:nvPr/>
        </p:nvGraphicFramePr>
        <p:xfrm>
          <a:off x="552450" y="3048000"/>
          <a:ext cx="9353550" cy="1619250"/>
        </p:xfrm>
        <a:graphic>
          <a:graphicData uri="http://schemas.openxmlformats.org/drawingml/2006/table">
            <a:tbl>
              <a:tblPr/>
              <a:tblGrid>
                <a:gridCol w="2857500"/>
                <a:gridCol w="3143250"/>
                <a:gridCol w="3352800"/>
              </a:tblGrid>
              <a:tr h="323850">
                <a:tc>
                  <a:txBody>
                    <a:bodyPr/>
                    <a:lstStyle/>
                    <a:p>
                      <a:r>
                        <a:rPr sz="1425" b="1">
                          <a:solidFill>
                            <a:srgbClr val="454545"/>
                          </a:solidFill>
                          <a:latin typeface="Calibri"/>
                          <a:ea typeface="Calibri"/>
                          <a:cs typeface="Calibri"/>
                        </a:rPr>
                        <a:t>Kriterium</a:t>
                      </a:r>
                    </a:p>
                  </a:txBody>
                  <a:tcPr marL="91440" marR="91440" marT="45720" marB="45720">
                    <a:solidFill>
                      <a:srgbClr val="F1E3E6"/>
                    </a:solidFill>
                  </a:tcPr>
                </a:tc>
                <a:tc>
                  <a:txBody>
                    <a:bodyPr/>
                    <a:lstStyle/>
                    <a:p>
                      <a:r>
                        <a:rPr sz="1425" b="1">
                          <a:solidFill>
                            <a:srgbClr val="454545"/>
                          </a:solidFill>
                          <a:latin typeface="Calibri"/>
                          <a:ea typeface="Calibri"/>
                          <a:cs typeface="Calibri"/>
                        </a:rPr>
                        <a:t>Verhältnis zur Base</a:t>
                      </a:r>
                    </a:p>
                  </a:txBody>
                  <a:tcPr marL="91440" marR="91440" marT="45720" marB="45720">
                    <a:solidFill>
                      <a:srgbClr val="F1E3E6"/>
                    </a:solidFill>
                  </a:tcPr>
                </a:tc>
                <a:tc>
                  <a:txBody>
                    <a:bodyPr/>
                    <a:lstStyle/>
                    <a:p>
                      <a:r>
                        <a:rPr sz="1425" b="1">
                          <a:solidFill>
                            <a:srgbClr val="454545"/>
                          </a:solidFill>
                          <a:latin typeface="Calibri"/>
                          <a:ea typeface="Calibri"/>
                          <a:cs typeface="Calibri"/>
                        </a:rPr>
                        <a:t>Gewichteter Beitrag</a:t>
                      </a:r>
                    </a:p>
                  </a:txBody>
                  <a:tcPr marL="91440" marR="91440" marT="45720" marB="45720">
                    <a:solidFill>
                      <a:srgbClr val="F1E3E6"/>
                    </a:solidFill>
                  </a:tcPr>
                </a:tc>
              </a:tr>
              <a:tr h="323850">
                <a:tc>
                  <a:txBody>
                    <a:bodyPr/>
                    <a:lstStyle/>
                    <a:p>
                      <a:r>
                        <a:rPr sz="1425" b="0">
                          <a:solidFill>
                            <a:srgbClr val="454545"/>
                          </a:solidFill>
                          <a:latin typeface="Calibri"/>
                          <a:ea typeface="Calibri"/>
                          <a:cs typeface="Calibri"/>
                        </a:rPr>
                        <a:t>MAE</a:t>
                      </a:r>
                    </a:p>
                  </a:txBody>
                  <a:tcPr marL="91440" marR="91440" marT="45720" marB="45720">
                    <a:solidFill>
                      <a:srgbClr val="FFFFFF"/>
                    </a:solidFill>
                  </a:tcPr>
                </a:tc>
                <a:tc>
                  <a:txBody>
                    <a:bodyPr/>
                    <a:lstStyle/>
                    <a:p>
                      <a:r>
                        <a:rPr sz="1425" b="0">
                          <a:solidFill>
                            <a:srgbClr val="454545"/>
                          </a:solidFill>
                          <a:latin typeface="Calibri"/>
                          <a:ea typeface="Calibri"/>
                          <a:cs typeface="Calibri"/>
                        </a:rPr>
                        <a:t>0,90</a:t>
                      </a:r>
                    </a:p>
                  </a:txBody>
                  <a:tcPr marL="91440" marR="91440" marT="45720" marB="45720">
                    <a:solidFill>
                      <a:srgbClr val="FFFFFF"/>
                    </a:solidFill>
                  </a:tcPr>
                </a:tc>
                <a:tc>
                  <a:txBody>
                    <a:bodyPr/>
                    <a:lstStyle/>
                    <a:p>
                      <a:r>
                        <a:rPr sz="1425" b="0">
                          <a:solidFill>
                            <a:srgbClr val="454545"/>
                          </a:solidFill>
                          <a:latin typeface="Calibri"/>
                          <a:ea typeface="Calibri"/>
                          <a:cs typeface="Calibri"/>
                        </a:rPr>
                        <a:t>0,225</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Flash</a:t>
                      </a:r>
                    </a:p>
                  </a:txBody>
                  <a:tcPr marL="91440" marR="91440" marT="45720" marB="45720">
                    <a:solidFill>
                      <a:srgbClr val="F4F4F4"/>
                    </a:solidFill>
                  </a:tcPr>
                </a:tc>
                <a:tc>
                  <a:txBody>
                    <a:bodyPr/>
                    <a:lstStyle/>
                    <a:p>
                      <a:r>
                        <a:rPr sz="1425" b="0">
                          <a:solidFill>
                            <a:srgbClr val="454545"/>
                          </a:solidFill>
                          <a:latin typeface="Calibri"/>
                          <a:ea typeface="Calibri"/>
                          <a:cs typeface="Calibri"/>
                        </a:rPr>
                        <a:t>0,60</a:t>
                      </a:r>
                    </a:p>
                  </a:txBody>
                  <a:tcPr marL="91440" marR="91440" marT="45720" marB="45720">
                    <a:solidFill>
                      <a:srgbClr val="F4F4F4"/>
                    </a:solidFill>
                  </a:tcPr>
                </a:tc>
                <a:tc>
                  <a:txBody>
                    <a:bodyPr/>
                    <a:lstStyle/>
                    <a:p>
                      <a:r>
                        <a:rPr sz="1425" b="0">
                          <a:solidFill>
                            <a:srgbClr val="454545"/>
                          </a:solidFill>
                          <a:latin typeface="Calibri"/>
                          <a:ea typeface="Calibri"/>
                          <a:cs typeface="Calibri"/>
                        </a:rPr>
                        <a:t>0,150</a:t>
                      </a:r>
                    </a:p>
                  </a:txBody>
                  <a:tcPr marL="91440" marR="91440" marT="45720" marB="45720">
                    <a:solidFill>
                      <a:srgbClr val="F4F4F4"/>
                    </a:solidFill>
                  </a:tcPr>
                </a:tc>
              </a:tr>
              <a:tr h="323850">
                <a:tc>
                  <a:txBody>
                    <a:bodyPr/>
                    <a:lstStyle/>
                    <a:p>
                      <a:r>
                        <a:rPr sz="1425" b="0">
                          <a:solidFill>
                            <a:srgbClr val="454545"/>
                          </a:solidFill>
                          <a:latin typeface="Calibri"/>
                          <a:ea typeface="Calibri"/>
                          <a:cs typeface="Calibri"/>
                        </a:rPr>
                        <a:t>RAM</a:t>
                      </a:r>
                    </a:p>
                  </a:txBody>
                  <a:tcPr marL="91440" marR="91440" marT="45720" marB="45720">
                    <a:solidFill>
                      <a:srgbClr val="FFFFFF"/>
                    </a:solidFill>
                  </a:tcPr>
                </a:tc>
                <a:tc>
                  <a:txBody>
                    <a:bodyPr/>
                    <a:lstStyle/>
                    <a:p>
                      <a:r>
                        <a:rPr sz="1425" b="0">
                          <a:solidFill>
                            <a:srgbClr val="454545"/>
                          </a:solidFill>
                          <a:latin typeface="Calibri"/>
                          <a:ea typeface="Calibri"/>
                          <a:cs typeface="Calibri"/>
                        </a:rPr>
                        <a:t>0,80</a:t>
                      </a:r>
                    </a:p>
                  </a:txBody>
                  <a:tcPr marL="91440" marR="91440" marT="45720" marB="45720">
                    <a:solidFill>
                      <a:srgbClr val="FFFFFF"/>
                    </a:solidFill>
                  </a:tcPr>
                </a:tc>
                <a:tc>
                  <a:txBody>
                    <a:bodyPr/>
                    <a:lstStyle/>
                    <a:p>
                      <a:r>
                        <a:rPr sz="1425" b="0">
                          <a:solidFill>
                            <a:srgbClr val="454545"/>
                          </a:solidFill>
                          <a:latin typeface="Calibri"/>
                          <a:ea typeface="Calibri"/>
                          <a:cs typeface="Calibri"/>
                        </a:rPr>
                        <a:t>0,200</a:t>
                      </a:r>
                    </a:p>
                  </a:txBody>
                  <a:tcPr marL="91440" marR="91440" marT="45720" marB="45720">
                    <a:solidFill>
                      <a:srgbClr val="FFFFFF"/>
                    </a:solidFill>
                  </a:tcPr>
                </a:tc>
              </a:tr>
              <a:tr h="323850">
                <a:tc>
                  <a:txBody>
                    <a:bodyPr/>
                    <a:lstStyle/>
                    <a:p>
                      <a:r>
                        <a:rPr sz="1425" b="0">
                          <a:solidFill>
                            <a:srgbClr val="454545"/>
                          </a:solidFill>
                          <a:latin typeface="Calibri"/>
                          <a:ea typeface="Calibri"/>
                          <a:cs typeface="Calibri"/>
                        </a:rPr>
                        <a:t>Energieproxy</a:t>
                      </a:r>
                    </a:p>
                  </a:txBody>
                  <a:tcPr marL="91440" marR="91440" marT="45720" marB="45720">
                    <a:solidFill>
                      <a:srgbClr val="F4F4F4"/>
                    </a:solidFill>
                  </a:tcPr>
                </a:tc>
                <a:tc>
                  <a:txBody>
                    <a:bodyPr/>
                    <a:lstStyle/>
                    <a:p>
                      <a:r>
                        <a:rPr sz="1425" b="0">
                          <a:solidFill>
                            <a:srgbClr val="454545"/>
                          </a:solidFill>
                          <a:latin typeface="Calibri"/>
                          <a:ea typeface="Calibri"/>
                          <a:cs typeface="Calibri"/>
                        </a:rPr>
                        <a:t>0,70</a:t>
                      </a:r>
                    </a:p>
                  </a:txBody>
                  <a:tcPr marL="91440" marR="91440" marT="45720" marB="45720">
                    <a:solidFill>
                      <a:srgbClr val="F4F4F4"/>
                    </a:solidFill>
                  </a:tcPr>
                </a:tc>
                <a:tc>
                  <a:txBody>
                    <a:bodyPr/>
                    <a:lstStyle/>
                    <a:p>
                      <a:r>
                        <a:rPr sz="1425" b="0">
                          <a:solidFill>
                            <a:srgbClr val="454545"/>
                          </a:solidFill>
                          <a:latin typeface="Calibri"/>
                          <a:ea typeface="Calibri"/>
                          <a:cs typeface="Calibri"/>
                        </a:rPr>
                        <a:t>0,175</a:t>
                      </a:r>
                    </a:p>
                  </a:txBody>
                  <a:tcPr marL="91440" marR="91440" marT="45720" marB="45720">
                    <a:solidFill>
                      <a:srgbClr val="F4F4F4"/>
                    </a:solidFill>
                  </a:tcPr>
                </a:tc>
              </a:tr>
            </a:tbl>
          </a:graphicData>
        </a:graphic>
      </p:graphicFrame>
      <p:sp>
        <p:nvSpPr>
          <p:cNvPr id="506" name="">
            <a:extLst>
              <a:ext uri="{FF2B5EF4-FFF2-40B4-BE49-F238E27FC236}">
                <a16:creationId xmlns:a16="http://schemas.microsoft.com/office/drawing/2014/main" id="{15DE56BB-62D1-429F-8D8E-C4F81F3ECC47}"/>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U = 0,225 + 0,150 + 0,200 + 0,175 = 0,75.</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1.771 Gewichtskombinationen im 0,05-Raster prüfen die Abhängigkeit von Prioritäten.</a:t>
            </a:r>
          </a:p>
        </p:txBody>
      </p:sp>
      <p:sp>
        <p:nvSpPr>
          <p:cNvPr id="507" name="">
            <a:extLst>
              <a:ext uri="{FF2B5EF4-FFF2-40B4-BE49-F238E27FC236}">
                <a16:creationId xmlns:a16="http://schemas.microsoft.com/office/drawing/2014/main" id="{0394D4E3-52DE-44B3-8B0C-47F2F9ED0F09}"/>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Score ist keine physikalische Effizienz. Der Energieproxy enthält hier nur Timinginformation.</a:t>
            </a:r>
          </a:p>
        </p:txBody>
      </p:sp>
    </p:spTree>
    <p:extLst>
      <p:ext uri="{BB962C8B-B14F-4D97-AF65-F5344CB8AC3E}">
        <p14:creationId xmlns:p14="http://schemas.microsoft.com/office/powerpoint/2010/main" val="15989129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Pruning und die quadratische MAC-Einsparung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AE557C26-860B-44A0-9C60-5AFE24B7573D}"/>
              </a:ext>
            </a:extLst>
          </p:cNvPr>
          <p:cNvSpPr>
            <a:spLocks noGrp="1"/>
          </p:cNvSpPr>
          <p:nvPr/>
        </p:nvSpPr>
        <p:spPr>
          <a:xfrm>
            <a:off x="552450" y="1381125"/>
            <a:ext cx="9353550" cy="361950"/>
          </a:xfrm>
          <a:prstGeom prst="rect">
            <a:avLst/>
          </a:prstGeom>
          <a:noFill/>
          <a:ln w="0">
            <a:noFill/>
          </a:ln>
        </p:spPr>
        <p:txBody>
          <a:bodyPr>
            <a:noAutofit/>
          </a:bodyPr>
          <a:lstStyle/>
          <a:p>
            <a:pPr>
              <a:defRPr sz="2025" b="1">
                <a:solidFill>
                  <a:srgbClr val="C8102E"/>
                </a:solidFill>
                <a:latin typeface="Calibri"/>
                <a:ea typeface="Calibri"/>
                <a:cs typeface="Calibri"/>
              </a:defRPr>
            </a:pPr>
            <a:r>
              <a:rPr sz="2025" b="1">
                <a:solidFill>
                  <a:srgbClr val="C8102E"/>
                </a:solidFill>
                <a:latin typeface="Calibri"/>
                <a:ea typeface="Calibri"/>
                <a:cs typeface="Calibri"/>
              </a:rPr>
              <a:t>MACs pro Zeitschritt: N(H) = 4HD + 4H² + HM + M</a:t>
            </a:r>
          </a:p>
        </p:txBody>
      </p:sp>
      <p:sp>
        <p:nvSpPr>
          <p:cNvPr id="503" name="">
            <a:extLst>
              <a:ext uri="{FF2B5EF4-FFF2-40B4-BE49-F238E27FC236}">
                <a16:creationId xmlns:a16="http://schemas.microsoft.com/office/drawing/2014/main" id="{85232B20-6B96-4B75-8172-1779042232E4}"/>
              </a:ext>
            </a:extLst>
          </p:cNvPr>
          <p:cNvSpPr>
            <a:spLocks noGrp="1"/>
          </p:cNvSpPr>
          <p:nvPr/>
        </p:nvSpPr>
        <p:spPr>
          <a:xfrm>
            <a:off x="552450" y="1781175"/>
            <a:ext cx="9353550" cy="33337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 Inputs     H: Hidden Channels     M: MLP-Breite     p: entfernter Anteil</a:t>
            </a:r>
          </a:p>
        </p:txBody>
      </p:sp>
      <p:sp>
        <p:nvSpPr>
          <p:cNvPr id="504" name="">
            <a:extLst>
              <a:ext uri="{FF2B5EF4-FFF2-40B4-BE49-F238E27FC236}">
                <a16:creationId xmlns:a16="http://schemas.microsoft.com/office/drawing/2014/main" id="{79A6B3CA-4941-47E4-B11B-7976755BC53D}"/>
              </a:ext>
            </a:extLst>
          </p:cNvPr>
          <p:cNvSpPr>
            <a:spLocks noGrp="1"/>
          </p:cNvSpPr>
          <p:nvPr/>
        </p:nvSpPr>
        <p:spPr>
          <a:xfrm>
            <a:off x="552450" y="2343150"/>
            <a:ext cx="4524375" cy="30480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Herleitung aus Gl. 7.9 und 7.10</a:t>
            </a:r>
          </a:p>
        </p:txBody>
      </p:sp>
      <p:sp>
        <p:nvSpPr>
          <p:cNvPr id="505" name="">
            <a:extLst>
              <a:ext uri="{FF2B5EF4-FFF2-40B4-BE49-F238E27FC236}">
                <a16:creationId xmlns:a16="http://schemas.microsoft.com/office/drawing/2014/main" id="{0007273C-15C1-4E26-A291-0C21C3BC8122}"/>
              </a:ext>
            </a:extLst>
          </p:cNvPr>
          <p:cNvSpPr>
            <a:spLocks noGrp="1"/>
          </p:cNvSpPr>
          <p:nvPr/>
        </p:nvSpPr>
        <p:spPr>
          <a:xfrm>
            <a:off x="552450" y="2762250"/>
            <a:ext cx="4572000" cy="342900"/>
          </a:xfrm>
          <a:prstGeom prst="rect">
            <a:avLst/>
          </a:prstGeom>
          <a:noFill/>
          <a:ln w="0">
            <a:noFill/>
          </a:ln>
        </p:spPr>
        <p:txBody>
          <a:bodyPr>
            <a:noAutofit/>
          </a:bodyPr>
          <a:lstStyle/>
          <a:p>
            <a:pPr>
              <a:defRPr sz="1800" b="0">
                <a:solidFill>
                  <a:srgbClr val="454545"/>
                </a:solidFill>
                <a:latin typeface="Calibri"/>
                <a:ea typeface="Calibri"/>
                <a:cs typeface="Calibri"/>
              </a:defRPr>
            </a:pPr>
            <a:r>
              <a:rPr sz="1800" b="0">
                <a:solidFill>
                  <a:srgbClr val="454545"/>
                </a:solidFill>
                <a:latin typeface="Calibri"/>
                <a:ea typeface="Calibri"/>
                <a:cs typeface="Calibri"/>
              </a:rPr>
              <a:t>Nach Pruning: Hₚ = (1 − p)H</a:t>
            </a:r>
          </a:p>
        </p:txBody>
      </p:sp>
      <p:sp>
        <p:nvSpPr>
          <p:cNvPr id="506" name="">
            <a:extLst>
              <a:ext uri="{FF2B5EF4-FFF2-40B4-BE49-F238E27FC236}">
                <a16:creationId xmlns:a16="http://schemas.microsoft.com/office/drawing/2014/main" id="{9CFE59BE-F75F-4F83-A89B-B8C4339F0833}"/>
              </a:ext>
            </a:extLst>
          </p:cNvPr>
          <p:cNvSpPr>
            <a:spLocks noGrp="1"/>
          </p:cNvSpPr>
          <p:nvPr/>
        </p:nvSpPr>
        <p:spPr>
          <a:xfrm>
            <a:off x="552450" y="3200400"/>
            <a:ext cx="4572000" cy="381000"/>
          </a:xfrm>
          <a:prstGeom prst="rect">
            <a:avLst/>
          </a:prstGeom>
          <a:noFill/>
          <a:ln w="0">
            <a:noFill/>
          </a:ln>
        </p:spPr>
        <p:txBody>
          <a:bodyPr>
            <a:noAutofit/>
          </a:bodyPr>
          <a:lstStyle/>
          <a:p>
            <a:pPr>
              <a:defRPr sz="1725" b="0">
                <a:solidFill>
                  <a:srgbClr val="454545"/>
                </a:solidFill>
                <a:latin typeface="Calibri"/>
                <a:ea typeface="Calibri"/>
                <a:cs typeface="Calibri"/>
              </a:defRPr>
            </a:pPr>
            <a:r>
              <a:rPr sz="1725" b="0">
                <a:solidFill>
                  <a:srgbClr val="454545"/>
                </a:solidFill>
                <a:latin typeface="Calibri"/>
                <a:ea typeface="Calibri"/>
                <a:cs typeface="Calibri"/>
              </a:rPr>
              <a:t>R(H,p) = 1 − N((1 − p)H) / N(H)</a:t>
            </a:r>
          </a:p>
        </p:txBody>
      </p:sp>
      <p:sp>
        <p:nvSpPr>
          <p:cNvPr id="507" name="">
            <a:extLst>
              <a:ext uri="{FF2B5EF4-FFF2-40B4-BE49-F238E27FC236}">
                <a16:creationId xmlns:a16="http://schemas.microsoft.com/office/drawing/2014/main" id="{9BE181EF-297B-4011-8120-44EE7C39AB6F}"/>
              </a:ext>
            </a:extLst>
          </p:cNvPr>
          <p:cNvSpPr>
            <a:spLocks noGrp="1"/>
          </p:cNvSpPr>
          <p:nvPr/>
        </p:nvSpPr>
        <p:spPr>
          <a:xfrm>
            <a:off x="552450" y="3714750"/>
            <a:ext cx="4572000" cy="6191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Für H → ∞ bei festem D und M</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dominiert der Hidden-to-Hidden-Term 4H².</a:t>
            </a:r>
          </a:p>
        </p:txBody>
      </p:sp>
      <p:sp>
        <p:nvSpPr>
          <p:cNvPr id="508" name="">
            <a:extLst>
              <a:ext uri="{FF2B5EF4-FFF2-40B4-BE49-F238E27FC236}">
                <a16:creationId xmlns:a16="http://schemas.microsoft.com/office/drawing/2014/main" id="{D867E4D6-F950-4D81-B784-C066F85A3994}"/>
              </a:ext>
            </a:extLst>
          </p:cNvPr>
          <p:cNvSpPr>
            <a:spLocks noGrp="1"/>
          </p:cNvSpPr>
          <p:nvPr/>
        </p:nvSpPr>
        <p:spPr>
          <a:xfrm>
            <a:off x="552450" y="4476750"/>
            <a:ext cx="4619625" cy="400050"/>
          </a:xfrm>
          <a:prstGeom prst="rect">
            <a:avLst/>
          </a:prstGeom>
          <a:noFill/>
          <a:ln w="0">
            <a:noFill/>
          </a:ln>
        </p:spPr>
        <p:txBody>
          <a:bodyPr>
            <a:noAutofit/>
          </a:bodyPr>
          <a:lstStyle/>
          <a:p>
            <a:pPr>
              <a:defRPr sz="1950" b="1">
                <a:solidFill>
                  <a:srgbClr val="C8102E"/>
                </a:solidFill>
                <a:latin typeface="Calibri"/>
                <a:ea typeface="Calibri"/>
                <a:cs typeface="Calibri"/>
              </a:defRPr>
            </a:pPr>
            <a:r>
              <a:rPr sz="1950" b="1">
                <a:solidFill>
                  <a:srgbClr val="C8102E"/>
                </a:solidFill>
                <a:latin typeface="Calibri"/>
                <a:ea typeface="Calibri"/>
                <a:cs typeface="Calibri"/>
              </a:rPr>
              <a:t>R∞(p) = 1 − (1 − p)² = 2p − p²</a:t>
            </a:r>
          </a:p>
        </p:txBody>
      </p:sp>
      <p:sp>
        <p:nvSpPr>
          <p:cNvPr id="509" name="">
            <a:extLst>
              <a:ext uri="{FF2B5EF4-FFF2-40B4-BE49-F238E27FC236}">
                <a16:creationId xmlns:a16="http://schemas.microsoft.com/office/drawing/2014/main" id="{D0A449B6-D8B6-45B6-A20F-E6B002BA30C9}"/>
              </a:ext>
            </a:extLst>
          </p:cNvPr>
          <p:cNvSpPr>
            <a:spLocks noGrp="1"/>
          </p:cNvSpPr>
          <p:nvPr/>
        </p:nvSpPr>
        <p:spPr>
          <a:xfrm>
            <a:off x="552450" y="5000625"/>
            <a:ext cx="4524375" cy="342900"/>
          </a:xfrm>
          <a:prstGeom prst="rect">
            <a:avLst/>
          </a:prstGeom>
          <a:noFill/>
          <a:ln w="0">
            <a:noFill/>
          </a:ln>
        </p:spPr>
        <p:txBody>
          <a:bodyPr>
            <a:noAutofit/>
          </a:bodyPr>
          <a:lstStyle/>
          <a:p>
            <a:pPr>
              <a:defRPr sz="1650" b="0">
                <a:solidFill>
                  <a:srgbClr val="454545"/>
                </a:solidFill>
                <a:latin typeface="Calibri"/>
                <a:ea typeface="Calibri"/>
                <a:cs typeface="Calibri"/>
              </a:defRPr>
            </a:pPr>
            <a:r>
              <a:rPr sz="1650" b="0">
                <a:solidFill>
                  <a:srgbClr val="454545"/>
                </a:solidFill>
                <a:latin typeface="Calibri"/>
                <a:ea typeface="Calibri"/>
                <a:cs typeface="Calibri"/>
              </a:rPr>
              <a:t>Bei p = 0,30: 0,60 − 0,09 = 0,51</a:t>
            </a:r>
          </a:p>
        </p:txBody>
      </p:sp>
      <p:graphicFrame>
        <p:nvGraphicFramePr>
          <p:cNvPr id="510" name="Chart"/>
          <p:cNvGraphicFramePr/>
          <p:nvPr/>
        </p:nvGraphicFramePr>
        <p:xfrm>
          <a:off x="5295900" y="2247900"/>
          <a:ext cx="4667250" cy="3171825"/>
        </p:xfrm>
        <a:graphic>
          <a:graphicData uri="http://schemas.openxmlformats.org/drawingml/2006/chart">
            <c:chart xmlns:c="http://schemas.openxmlformats.org/drawingml/2006/chart" r:id="rIdPruningChart"/>
          </a:graphicData>
        </a:graphic>
      </p:graphicFrame>
      <p:sp>
        <p:nvSpPr>
          <p:cNvPr id="511" name="">
            <a:extLst>
              <a:ext uri="{FF2B5EF4-FFF2-40B4-BE49-F238E27FC236}">
                <a16:creationId xmlns:a16="http://schemas.microsoft.com/office/drawing/2014/main" id="{386D67FD-FFC0-4A66-9B8F-63EB0406F018}"/>
              </a:ext>
            </a:extLst>
          </p:cNvPr>
          <p:cNvSpPr>
            <a:spLocks noGrp="1"/>
          </p:cNvSpPr>
          <p:nvPr/>
        </p:nvSpPr>
        <p:spPr>
          <a:xfrm>
            <a:off x="5286375" y="5476875"/>
            <a:ext cx="46672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30 % → 51 %     40 % → 64 %     50 % → 75 %</a:t>
            </a:r>
          </a:p>
        </p:txBody>
      </p:sp>
      <p:sp>
        <p:nvSpPr>
          <p:cNvPr id="512" name="">
            <a:extLst>
              <a:ext uri="{FF2B5EF4-FFF2-40B4-BE49-F238E27FC236}">
                <a16:creationId xmlns:a16="http://schemas.microsoft.com/office/drawing/2014/main" id="{C1F5BC1D-61EA-416A-80D5-13B8A11E3127}"/>
              </a:ext>
            </a:extLst>
          </p:cNvPr>
          <p:cNvSpPr>
            <a:spLocks noGrp="1"/>
          </p:cNvSpPr>
          <p:nvPr/>
        </p:nvSpPr>
        <p:spPr>
          <a:xfrm>
            <a:off x="552450" y="5505450"/>
            <a:ext cx="4572000" cy="571500"/>
          </a:xfrm>
          <a:prstGeom prst="rect">
            <a:avLst/>
          </a:prstGeom>
          <a:noFill/>
          <a:ln w="0">
            <a:noFill/>
          </a:ln>
        </p:spPr>
        <p:txBody>
          <a:bodyPr>
            <a:noAutofit/>
          </a:bodyPr>
          <a:lstStyle/>
          <a:p>
            <a:pPr>
              <a:defRPr sz="1425" b="0">
                <a:solidFill>
                  <a:srgbClr val="454545"/>
                </a:solidFill>
                <a:latin typeface="Calibri"/>
                <a:ea typeface="Calibri"/>
                <a:cs typeface="Calibri"/>
              </a:defRPr>
            </a:pPr>
            <a:r>
              <a:rPr sz="1425" b="0">
                <a:solidFill>
                  <a:srgbClr val="454545"/>
                </a:solidFill>
                <a:latin typeface="Calibri"/>
                <a:ea typeface="Calibri"/>
                <a:cs typeface="Calibri"/>
              </a:rPr>
              <a:t>Reale Modelle bei 30 % Pruning:</a:t>
            </a:r>
          </a:p>
          <a:p>
            <a:pPr>
              <a:defRPr sz="1425" b="0">
                <a:solidFill>
                  <a:srgbClr val="454545"/>
                </a:solidFill>
                <a:latin typeface="Calibri"/>
                <a:ea typeface="Calibri"/>
                <a:cs typeface="Calibri"/>
              </a:defRPr>
            </a:pPr>
            <a:r>
              <a:rPr sz="1425" b="0">
                <a:solidFill>
                  <a:srgbClr val="454545"/>
                </a:solidFill>
                <a:latin typeface="Calibri"/>
                <a:ea typeface="Calibri"/>
                <a:cs typeface="Calibri"/>
              </a:rPr>
              <a:t>SOC 45,1 %, SOH 45,7 % (ganzzahlige H).</a:t>
            </a:r>
          </a:p>
        </p:txBody>
      </p:sp>
    </p:spTree>
    <p:extLst>
      <p:ext uri="{BB962C8B-B14F-4D97-AF65-F5344CB8AC3E}">
        <p14:creationId xmlns:p14="http://schemas.microsoft.com/office/powerpoint/2010/main" val="15989129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Quantization und Wege zu schnellerer Inferenz</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
            <a:extLst>
              <a:ext uri="{FF2B5EF4-FFF2-40B4-BE49-F238E27FC236}">
                <a16:creationId xmlns:a16="http://schemas.microsoft.com/office/drawing/2014/main" id="{B63BACF2-3CA4-4B7E-B4E2-577A6A0B8301}"/>
              </a:ext>
            </a:extLst>
          </p:cNvPr>
          <p:cNvSpPr>
            <a:spLocks noGrp="1"/>
          </p:cNvSpPr>
          <p:nvPr/>
        </p:nvSpPr>
        <p:spPr>
          <a:xfrm>
            <a:off x="552450" y="1381125"/>
            <a:ext cx="9353550" cy="342900"/>
          </a:xfrm>
          <a:prstGeom prst="rect">
            <a:avLst/>
          </a:prstGeom>
          <a:noFill/>
          <a:ln w="0">
            <a:noFill/>
          </a:ln>
        </p:spPr>
        <p:txBody>
          <a:bodyPr>
            <a:noAutofit/>
          </a:bodyPr>
          <a:lstStyle/>
          <a:p>
            <a:pPr>
              <a:defRPr sz="1950" b="1">
                <a:solidFill>
                  <a:srgbClr val="C8102E"/>
                </a:solidFill>
                <a:latin typeface="Calibri"/>
                <a:ea typeface="Calibri"/>
                <a:cs typeface="Calibri"/>
              </a:defRPr>
            </a:pPr>
            <a:r>
              <a:rPr sz="1950" b="1">
                <a:solidFill>
                  <a:srgbClr val="C8102E"/>
                </a:solidFill>
                <a:latin typeface="Calibri"/>
                <a:ea typeface="Calibri"/>
                <a:cs typeface="Calibri"/>
              </a:rPr>
              <a:t>INT8-Gewichte speichern, mit FP32 rechnen</a:t>
            </a:r>
          </a:p>
        </p:txBody>
      </p:sp>
      <p:sp>
        <p:nvSpPr>
          <p:cNvPr id="503" name="">
            <a:extLst>
              <a:ext uri="{FF2B5EF4-FFF2-40B4-BE49-F238E27FC236}">
                <a16:creationId xmlns:a16="http://schemas.microsoft.com/office/drawing/2014/main" id="{82258941-5E57-463C-B56F-26E60C8225F6}"/>
              </a:ext>
            </a:extLst>
          </p:cNvPr>
          <p:cNvSpPr>
            <a:spLocks noGrp="1"/>
          </p:cNvSpPr>
          <p:nvPr/>
        </p:nvSpPr>
        <p:spPr>
          <a:xfrm>
            <a:off x="552450" y="1819275"/>
            <a:ext cx="9353550" cy="609600"/>
          </a:xfrm>
          <a:prstGeom prst="rect">
            <a:avLst/>
          </a:prstGeom>
          <a:noFill/>
          <a:ln w="0">
            <a:noFill/>
          </a:ln>
        </p:spPr>
        <p:txBody>
          <a:bodyPr>
            <a:noAutofit/>
          </a:bodyPr>
          <a:lstStyle/>
          <a:p>
            <a:pPr>
              <a:defRPr sz="1650" b="0">
                <a:solidFill>
                  <a:srgbClr val="454545"/>
                </a:solidFill>
                <a:latin typeface="Calibri"/>
                <a:ea typeface="Calibri"/>
                <a:cs typeface="Calibri"/>
              </a:defRPr>
            </a:pPr>
            <a:r>
              <a:rPr sz="1650" b="0">
                <a:solidFill>
                  <a:srgbClr val="454545"/>
                </a:solidFill>
                <a:latin typeface="Calibri"/>
                <a:ea typeface="Calibri"/>
                <a:cs typeface="Calibri"/>
              </a:rPr>
              <a:t>LSTM-Matrizen INT8; MLP, Bias, States und Activations FP32.</a:t>
            </a:r>
          </a:p>
          <a:p>
            <a:pPr>
              <a:defRPr sz="1650" b="0">
                <a:solidFill>
                  <a:srgbClr val="454545"/>
                </a:solidFill>
                <a:latin typeface="Calibri"/>
                <a:ea typeface="Calibri"/>
                <a:cs typeface="Calibri"/>
              </a:defRPr>
            </a:pPr>
            <a:r>
              <a:rPr sz="1650" b="0">
                <a:solidFill>
                  <a:srgbClr val="454545"/>
                </a:solidFill>
                <a:latin typeface="Calibri"/>
                <a:ea typeface="Calibri"/>
                <a:cs typeface="Calibri"/>
              </a:rPr>
              <a:t>Konversion und Skalierung kosten Zeit. Die Modell-MAC-Zahl bleibt gleich.</a:t>
            </a:r>
          </a:p>
        </p:txBody>
      </p:sp>
      <p:graphicFrame>
        <p:nvGraphicFramePr>
          <p:cNvPr id="504" name=""/>
          <p:cNvGraphicFramePr/>
          <p:nvPr/>
        </p:nvGraphicFramePr>
        <p:xfrm>
          <a:off x="552450" y="2676525"/>
          <a:ext cx="9353550" cy="2152650"/>
        </p:xfrm>
        <a:graphic>
          <a:graphicData uri="http://schemas.openxmlformats.org/drawingml/2006/table">
            <a:tbl>
              <a:tblPr/>
              <a:tblGrid>
                <a:gridCol w="1971675"/>
                <a:gridCol w="3714750"/>
                <a:gridCol w="3667125"/>
              </a:tblGrid>
              <a:tr h="352425">
                <a:tc>
                  <a:txBody>
                    <a:bodyPr/>
                    <a:lstStyle/>
                    <a:p>
                      <a:r>
                        <a:rPr sz="1500" b="1">
                          <a:solidFill>
                            <a:srgbClr val="454545"/>
                          </a:solidFill>
                          <a:latin typeface="Calibri"/>
                          <a:ea typeface="Calibri"/>
                          <a:cs typeface="Calibri"/>
                        </a:rPr>
                        <a:t>Ansatz</a:t>
                      </a:r>
                    </a:p>
                  </a:txBody>
                  <a:tcPr marL="91440" marR="91440" marT="45720" marB="45720">
                    <a:solidFill>
                      <a:srgbClr val="F1E3E6"/>
                    </a:solidFill>
                  </a:tcPr>
                </a:tc>
                <a:tc>
                  <a:txBody>
                    <a:bodyPr/>
                    <a:lstStyle/>
                    <a:p>
                      <a:r>
                        <a:rPr sz="1500" b="1">
                          <a:solidFill>
                            <a:srgbClr val="454545"/>
                          </a:solidFill>
                          <a:latin typeface="Calibri"/>
                          <a:ea typeface="Calibri"/>
                          <a:cs typeface="Calibri"/>
                        </a:rPr>
                        <a:t>Was sich ändern würde</a:t>
                      </a:r>
                    </a:p>
                  </a:txBody>
                  <a:tcPr marL="91440" marR="91440" marT="45720" marB="45720">
                    <a:solidFill>
                      <a:srgbClr val="F1E3E6"/>
                    </a:solidFill>
                  </a:tcPr>
                </a:tc>
                <a:tc>
                  <a:txBody>
                    <a:bodyPr/>
                    <a:lstStyle/>
                    <a:p>
                      <a:r>
                        <a:rPr sz="1500" b="1">
                          <a:solidFill>
                            <a:srgbClr val="454545"/>
                          </a:solidFill>
                          <a:latin typeface="Calibri"/>
                          <a:ea typeface="Calibri"/>
                          <a:cs typeface="Calibri"/>
                        </a:rPr>
                        <a:t>Was noch zu prüfen ist</a:t>
                      </a:r>
                    </a:p>
                  </a:txBody>
                  <a:tcPr marL="91440" marR="91440" marT="45720" marB="45720">
                    <a:solidFill>
                      <a:srgbClr val="F1E3E6"/>
                    </a:solidFill>
                  </a:tcPr>
                </a:tc>
              </a:tr>
              <a:tr h="600075">
                <a:tc>
                  <a:txBody>
                    <a:bodyPr/>
                    <a:lstStyle/>
                    <a:p>
                      <a:r>
                        <a:rPr sz="1500" b="0">
                          <a:solidFill>
                            <a:srgbClr val="454545"/>
                          </a:solidFill>
                          <a:latin typeface="Calibri"/>
                          <a:ea typeface="Calibri"/>
                          <a:cs typeface="Calibri"/>
                        </a:rPr>
                        <a:t>CPU optimieren</a:t>
                      </a:r>
                    </a:p>
                  </a:txBody>
                  <a:tcPr marL="91440" marR="91440" marT="45720" marB="45720">
                    <a:solidFill>
                      <a:srgbClr val="FFFFFF"/>
                    </a:solidFill>
                  </a:tcPr>
                </a:tc>
                <a:tc>
                  <a:txBody>
                    <a:bodyPr/>
                    <a:lstStyle/>
                    <a:p>
                      <a:r>
                        <a:rPr sz="1500" b="0">
                          <a:solidFill>
                            <a:srgbClr val="454545"/>
                          </a:solidFill>
                          <a:latin typeface="Calibri"/>
                          <a:ea typeface="Calibri"/>
                          <a:cs typeface="Calibri"/>
                        </a:rPr>
                        <a:t>Compileroptimierung, Profiling,</a:t>
                      </a:r>
                    </a:p>
                    <a:p>
                      <a:r>
                        <a:rPr sz="1500" b="0">
                          <a:solidFill>
                            <a:srgbClr val="454545"/>
                          </a:solidFill>
                          <a:latin typeface="Calibri"/>
                          <a:ea typeface="Calibri"/>
                          <a:cs typeface="Calibri"/>
                        </a:rPr>
                        <a:t>identische Zeitmessgrenzen</a:t>
                      </a:r>
                    </a:p>
                  </a:txBody>
                  <a:tcPr marL="91440" marR="91440" marT="45720" marB="45720">
                    <a:solidFill>
                      <a:srgbClr val="FFFFFF"/>
                    </a:solidFill>
                  </a:tcPr>
                </a:tc>
                <a:tc>
                  <a:txBody>
                    <a:bodyPr/>
                    <a:lstStyle/>
                    <a:p>
                      <a:r>
                        <a:rPr sz="1500" b="0">
                          <a:solidFill>
                            <a:srgbClr val="454545"/>
                          </a:solidFill>
                          <a:latin typeface="Calibri"/>
                          <a:ea typeface="Calibri"/>
                          <a:cs typeface="Calibri"/>
                        </a:rPr>
                        <a:t>Genauigkeit und Laufzeit</a:t>
                      </a:r>
                    </a:p>
                    <a:p>
                      <a:r>
                        <a:rPr sz="1500" b="0">
                          <a:solidFill>
                            <a:srgbClr val="454545"/>
                          </a:solidFill>
                          <a:latin typeface="Calibri"/>
                          <a:ea typeface="Calibri"/>
                          <a:cs typeface="Calibri"/>
                        </a:rPr>
                        <a:t>unter gleichen Bedingungen</a:t>
                      </a:r>
                    </a:p>
                  </a:txBody>
                  <a:tcPr marL="91440" marR="91440" marT="45720" marB="45720">
                    <a:solidFill>
                      <a:srgbClr val="FFFFFF"/>
                    </a:solidFill>
                  </a:tcPr>
                </a:tc>
              </a:tr>
              <a:tr h="600075">
                <a:tc>
                  <a:txBody>
                    <a:bodyPr/>
                    <a:lstStyle/>
                    <a:p>
                      <a:r>
                        <a:rPr sz="1500" b="0">
                          <a:solidFill>
                            <a:srgbClr val="454545"/>
                          </a:solidFill>
                          <a:latin typeface="Calibri"/>
                          <a:ea typeface="Calibri"/>
                          <a:cs typeface="Calibri"/>
                        </a:rPr>
                        <a:t>Integer Kernels</a:t>
                      </a:r>
                    </a:p>
                    <a:p>
                      <a:r>
                        <a:rPr sz="1500" b="0">
                          <a:solidFill>
                            <a:srgbClr val="454545"/>
                          </a:solidFill>
                          <a:latin typeface="Calibri"/>
                          <a:ea typeface="Calibri"/>
                          <a:cs typeface="Calibri"/>
                        </a:rPr>
                        <a:t>(z. B. CMSIS-NN)</a:t>
                      </a:r>
                    </a:p>
                  </a:txBody>
                  <a:tcPr marL="91440" marR="91440" marT="45720" marB="45720">
                    <a:solidFill>
                      <a:srgbClr val="F4F4F4"/>
                    </a:solidFill>
                  </a:tcPr>
                </a:tc>
                <a:tc>
                  <a:txBody>
                    <a:bodyPr/>
                    <a:lstStyle/>
                    <a:p>
                      <a:r>
                        <a:rPr sz="1500" b="0">
                          <a:solidFill>
                            <a:srgbClr val="454545"/>
                          </a:solidFill>
                          <a:latin typeface="Calibri"/>
                          <a:ea typeface="Calibri"/>
                          <a:cs typeface="Calibri"/>
                        </a:rPr>
                        <a:t>Passende Integer-Operationen;</a:t>
                      </a:r>
                    </a:p>
                    <a:p>
                      <a:r>
                        <a:rPr sz="1500" b="0">
                          <a:solidFill>
                            <a:srgbClr val="454545"/>
                          </a:solidFill>
                          <a:latin typeface="Calibri"/>
                          <a:ea typeface="Calibri"/>
                          <a:cs typeface="Calibri"/>
                        </a:rPr>
                        <a:t>z. B. INT8 mit INT32-Accumulator</a:t>
                      </a:r>
                    </a:p>
                  </a:txBody>
                  <a:tcPr marL="91440" marR="91440" marT="45720" marB="45720">
                    <a:solidFill>
                      <a:srgbClr val="F4F4F4"/>
                    </a:solidFill>
                  </a:tcPr>
                </a:tc>
                <a:tc>
                  <a:txBody>
                    <a:bodyPr/>
                    <a:lstStyle/>
                    <a:p>
                      <a:r>
                        <a:rPr sz="1500" b="0">
                          <a:solidFill>
                            <a:srgbClr val="454545"/>
                          </a:solidFill>
                          <a:latin typeface="Calibri"/>
                          <a:ea typeface="Calibri"/>
                          <a:cs typeface="Calibri"/>
                        </a:rPr>
                        <a:t>LSTM-Support, Quantization der</a:t>
                      </a:r>
                    </a:p>
                    <a:p>
                      <a:r>
                        <a:rPr sz="1500" b="0">
                          <a:solidFill>
                            <a:srgbClr val="454545"/>
                          </a:solidFill>
                          <a:latin typeface="Calibri"/>
                          <a:ea typeface="Calibri"/>
                          <a:cs typeface="Calibri"/>
                        </a:rPr>
                        <a:t>Activations und Zustandsformate</a:t>
                      </a:r>
                    </a:p>
                  </a:txBody>
                  <a:tcPr marL="91440" marR="91440" marT="45720" marB="45720">
                    <a:solidFill>
                      <a:srgbClr val="F4F4F4"/>
                    </a:solidFill>
                  </a:tcPr>
                </a:tc>
              </a:tr>
              <a:tr h="600075">
                <a:tc>
                  <a:txBody>
                    <a:bodyPr/>
                    <a:lstStyle/>
                    <a:p>
                      <a:r>
                        <a:rPr sz="1500" b="0">
                          <a:solidFill>
                            <a:srgbClr val="454545"/>
                          </a:solidFill>
                          <a:latin typeface="Calibri"/>
                          <a:ea typeface="Calibri"/>
                          <a:cs typeface="Calibri"/>
                        </a:rPr>
                        <a:t>NPU einsetzen</a:t>
                      </a:r>
                    </a:p>
                  </a:txBody>
                  <a:tcPr marL="91440" marR="91440" marT="45720" marB="45720">
                    <a:solidFill>
                      <a:srgbClr val="FFFFFF"/>
                    </a:solidFill>
                  </a:tcPr>
                </a:tc>
                <a:tc>
                  <a:txBody>
                    <a:bodyPr/>
                    <a:lstStyle/>
                    <a:p>
                      <a:r>
                        <a:rPr sz="1500" b="0">
                          <a:solidFill>
                            <a:srgbClr val="454545"/>
                          </a:solidFill>
                          <a:latin typeface="Calibri"/>
                          <a:ea typeface="Calibri"/>
                          <a:cs typeface="Calibri"/>
                        </a:rPr>
                        <a:t>STM32N6: Neural-ART</a:t>
                      </a:r>
                    </a:p>
                    <a:p>
                      <a:r>
                        <a:rPr sz="1500" b="0">
                          <a:solidFill>
                            <a:srgbClr val="454545"/>
                          </a:solidFill>
                          <a:latin typeface="Calibri"/>
                          <a:ea typeface="Calibri"/>
                          <a:cs typeface="Calibri"/>
                        </a:rPr>
                        <a:t>Arm Ethos-U55: INT8 / INT16</a:t>
                      </a:r>
                    </a:p>
                  </a:txBody>
                  <a:tcPr marL="91440" marR="91440" marT="45720" marB="45720">
                    <a:solidFill>
                      <a:srgbClr val="FFFFFF"/>
                    </a:solidFill>
                  </a:tcPr>
                </a:tc>
                <a:tc>
                  <a:txBody>
                    <a:bodyPr/>
                    <a:lstStyle/>
                    <a:p>
                      <a:r>
                        <a:rPr sz="1500" b="0">
                          <a:solidFill>
                            <a:srgbClr val="454545"/>
                          </a:solidFill>
                          <a:latin typeface="Calibri"/>
                          <a:ea typeface="Calibri"/>
                          <a:cs typeface="Calibri"/>
                        </a:rPr>
                        <a:t>Operator-Support, CPU-Anteile,</a:t>
                      </a:r>
                    </a:p>
                    <a:p>
                      <a:r>
                        <a:rPr sz="1500" b="0">
                          <a:solidFill>
                            <a:srgbClr val="454545"/>
                          </a:solidFill>
                          <a:latin typeface="Calibri"/>
                          <a:ea typeface="Calibri"/>
                          <a:cs typeface="Calibri"/>
                        </a:rPr>
                        <a:t>Speicher und Datentransfers</a:t>
                      </a:r>
                    </a:p>
                  </a:txBody>
                  <a:tcPr marL="91440" marR="91440" marT="45720" marB="45720">
                    <a:solidFill>
                      <a:srgbClr val="FFFFFF"/>
                    </a:solidFill>
                  </a:tcPr>
                </a:tc>
              </a:tr>
            </a:tbl>
          </a:graphicData>
        </a:graphic>
      </p:graphicFrame>
      <p:sp>
        <p:nvSpPr>
          <p:cNvPr id="505" name="">
            <a:extLst>
              <a:ext uri="{FF2B5EF4-FFF2-40B4-BE49-F238E27FC236}">
                <a16:creationId xmlns:a16="http://schemas.microsoft.com/office/drawing/2014/main" id="{3C7B2419-A712-4CD5-B67F-2D89A5032AC6}"/>
              </a:ext>
            </a:extLst>
          </p:cNvPr>
          <p:cNvSpPr>
            <a:spLocks noGrp="1"/>
          </p:cNvSpPr>
          <p:nvPr/>
        </p:nvSpPr>
        <p:spPr>
          <a:xfrm>
            <a:off x="552450" y="5029200"/>
            <a:ext cx="9353550" cy="60007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NPU: parallele MACs und Datenwiederverwendung. Quantization: kleinere Zahlen.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Die MAC-Zahl kann gleich bleiben, obwohl die Ausführung schneller wird.</a:t>
            </a:r>
          </a:p>
        </p:txBody>
      </p:sp>
      <p:sp>
        <p:nvSpPr>
          <p:cNvPr id="506" name="">
            <a:extLst>
              <a:ext uri="{FF2B5EF4-FFF2-40B4-BE49-F238E27FC236}">
                <a16:creationId xmlns:a16="http://schemas.microsoft.com/office/drawing/2014/main" id="{B9CE0126-3C07-44B1-8C69-7D75E3F5FEA2}"/>
              </a:ext>
            </a:extLst>
          </p:cNvPr>
          <p:cNvSpPr>
            <a:spLocks noGrp="1"/>
          </p:cNvSpPr>
          <p:nvPr/>
        </p:nvSpPr>
        <p:spPr>
          <a:xfrm>
            <a:off x="552450" y="5734050"/>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Weitere Optimierungswege; für unser LSTM noch kein gemessener Speed-up.</a:t>
            </a:r>
          </a:p>
        </p:txBody>
      </p:sp>
    </p:spTree>
    <p:extLst>
      <p:ext uri="{BB962C8B-B14F-4D97-AF65-F5344CB8AC3E}">
        <p14:creationId xmlns:p14="http://schemas.microsoft.com/office/powerpoint/2010/main" val="1598912944"/>
      </p:ext>
    </p:extLst>
  </p:cSld>
  <p:clrMapOvr>
    <a:masterClrMapping/>
  </p:clrMapOvr>
</p:sld>
</file>

<file path=ppt/theme/theme1.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32337</Words>
  <Application>Microsoft Office PowerPoint</Application>
  <DocSecurity>0</DocSecurity>
  <PresentationFormat>Breitbild</PresentationFormat>
  <Paragraphs>2704</Paragraphs>
  <Slides>86</Slides>
  <Notes>69</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69</vt:i4>
      </vt:variant>
    </vt:vector>
  </HeadingPairs>
  <TitlesOfParts>
    <vt:vector size="75" baseType="lpstr">
      <vt:lpstr>Arial</vt:lpstr>
      <vt:lpstr>Calibri</vt:lpstr>
      <vt:lpstr>Cambria Math</vt:lpstr>
      <vt:lpstr>Symbol</vt:lpstr>
      <vt:lpstr>Wingdings</vt:lpstr>
      <vt:lpstr>Master für Folgeseiten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Florian Rzepka</cp:lastModifiedBy>
  <cp:revision>2</cp:revision>
  <dcterms:created xsi:type="dcterms:W3CDTF">2026-09-08T15:48:05Z</dcterms:created>
  <dcterms:modified xsi:type="dcterms:W3CDTF">2026-09-20T09:09:09Z</dcterms:modified>
</cp:coreProperties>
</file>