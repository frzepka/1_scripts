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</p:sldMasterIdLst>
  <p:notesMasterIdLst>
    <p:notesMasterId r:id="rId29"/>
  </p:notesMasterIdLst>
  <p:handoutMasterIdLst>
    <p:handoutMasterId r:id="rId30"/>
  </p:handoutMasterIdLst>
  <p:sldIdLst>
    <p:sldId id="404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EFD"/>
    <a:srgbClr val="B2E1C1"/>
    <a:srgbClr val="C7DFED"/>
    <a:srgbClr val="DBF5D9"/>
    <a:srgbClr val="DC6E7B"/>
    <a:srgbClr val="EFF7F5"/>
    <a:srgbClr val="7DCD96"/>
    <a:srgbClr val="BAE4C7"/>
    <a:srgbClr val="D9D9D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8" autoAdjust="0"/>
    <p:restoredTop sz="96327"/>
  </p:normalViewPr>
  <p:slideViewPr>
    <p:cSldViewPr snapToGrid="0" snapToObjects="1">
      <p:cViewPr varScale="1">
        <p:scale>
          <a:sx n="117" d="100"/>
          <a:sy n="117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5" d="100"/>
          <a:sy n="95" d="100"/>
        </p:scale>
        <p:origin x="356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3131527-C7E3-490D-B090-3ACC335788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86F279-702D-4870-8D30-3EF893E10C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9F0CD-77CA-402D-AEAB-C0807171C2DC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FD5FA2-025C-44FE-A255-A1D48A835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E6CF89-78B7-4BA4-9386-3EBB95CBEB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C4770-5E22-4763-980C-C62FB9BDDA9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049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14.08.2026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91809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0221" y="1373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4F835FC2-209C-B623-B2FE-93104346F5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322685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6531CAD3-CD14-C701-E880-CF6FFC010DF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74132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07866423"/>
              </p:ext>
            </p:extLst>
          </p:nvPr>
        </p:nvGraphicFramePr>
        <p:xfrm>
          <a:off x="555867" y="1619296"/>
          <a:ext cx="10515600" cy="28080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 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8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9" name="Tabelle 3">
            <a:extLst>
              <a:ext uri="{FF2B5EF4-FFF2-40B4-BE49-F238E27FC236}">
                <a16:creationId xmlns:a16="http://schemas.microsoft.com/office/drawing/2014/main" id="{21EE799C-704F-3D4E-6952-86E9F1A7A87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44605626"/>
              </p:ext>
            </p:extLst>
          </p:nvPr>
        </p:nvGraphicFramePr>
        <p:xfrm>
          <a:off x="555867" y="1619296"/>
          <a:ext cx="10512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endParaRPr lang="en-US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Regular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44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3329497"/>
              </p:ext>
            </p:extLst>
          </p:nvPr>
        </p:nvGraphicFramePr>
        <p:xfrm>
          <a:off x="6096000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5" name="Textplatzhalter 2">
            <a:extLst>
              <a:ext uri="{FF2B5EF4-FFF2-40B4-BE49-F238E27FC236}">
                <a16:creationId xmlns:a16="http://schemas.microsoft.com/office/drawing/2014/main" id="{91015A61-BBF3-58D4-B646-D7F07D397D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71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0FA6DEC0-2DEB-E663-4450-A41FA125E4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21515962"/>
              </p:ext>
            </p:extLst>
          </p:nvPr>
        </p:nvGraphicFramePr>
        <p:xfrm>
          <a:off x="555867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A52B688-20A1-8CFE-428A-BC897BDC49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409939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218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4400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</p:spTree>
    <p:extLst>
      <p:ext uri="{BB962C8B-B14F-4D97-AF65-F5344CB8AC3E}">
        <p14:creationId xmlns:p14="http://schemas.microsoft.com/office/powerpoint/2010/main" val="1198594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65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842000"/>
            <a:ext cx="12195175" cy="1015999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 EET | Interim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Embedded AI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BMS| 9. April 2025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3FC34A-DB88-456F-BDA4-DF3311B9A28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21" r:id="rId3"/>
    <p:sldLayoutId id="2147483712" r:id="rId4"/>
    <p:sldLayoutId id="2147483719" r:id="rId5"/>
    <p:sldLayoutId id="2147483715" r:id="rId6"/>
    <p:sldLayoutId id="2147483716" r:id="rId7"/>
    <p:sldLayoutId id="2147483720" r:id="rId8"/>
    <p:sldLayoutId id="2147483717" r:id="rId9"/>
    <p:sldLayoutId id="2147483718" r:id="rId10"/>
    <p:sldLayoutId id="2147483723" r:id="rId11"/>
    <p:sldLayoutId id="21474837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9354-FA27-8654-6A72-20BEAFB9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74E4C292-6091-BC8D-3D69-AEA48894FCF7}"/>
              </a:ext>
            </a:extLst>
          </p:cNvPr>
          <p:cNvSpPr/>
          <p:nvPr/>
        </p:nvSpPr>
        <p:spPr>
          <a:xfrm>
            <a:off x="0" y="4445000"/>
            <a:ext cx="12192001" cy="2413001"/>
          </a:xfrm>
          <a:custGeom>
            <a:avLst/>
            <a:gdLst/>
            <a:ahLst/>
            <a:cxnLst/>
            <a:rect l="0" t="0" r="0" b="0"/>
            <a:pathLst>
              <a:path w="12192001" h="2413001">
                <a:moveTo>
                  <a:pt x="0" y="355600"/>
                </a:moveTo>
                <a:lnTo>
                  <a:pt x="12192000" y="0"/>
                </a:lnTo>
                <a:lnTo>
                  <a:pt x="12192000" y="2413000"/>
                </a:lnTo>
                <a:lnTo>
                  <a:pt x="0" y="2413000"/>
                </a:lnTo>
              </a:path>
            </a:pathLst>
          </a:custGeom>
          <a:solidFill>
            <a:srgbClr val="C40D1E"/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2F3C9D0-5220-CFC7-AE3B-69EC55002DAD}"/>
              </a:ext>
            </a:extLst>
          </p:cNvPr>
          <p:cNvSpPr txBox="1"/>
          <p:nvPr/>
        </p:nvSpPr>
        <p:spPr>
          <a:xfrm>
            <a:off x="550801" y="4973943"/>
            <a:ext cx="8328079" cy="883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Deployment-Oriented Neural Network State Estimation for Battery Management Systems</a:t>
            </a:r>
            <a:endParaRPr lang="de-DE" sz="2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43AE148-4299-567F-BE3B-F4562C5D233A}"/>
              </a:ext>
            </a:extLst>
          </p:cNvPr>
          <p:cNvSpPr txBox="1"/>
          <p:nvPr/>
        </p:nvSpPr>
        <p:spPr>
          <a:xfrm>
            <a:off x="550801" y="6085778"/>
            <a:ext cx="8328079" cy="271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 Technische Universität Berlin | Disputation 2026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53A3E79E-2D9E-BD0A-B88B-E012698D185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25289" b="25289"/>
          <a:stretch>
            <a:fillRect/>
          </a:stretch>
        </p:blipFill>
        <p:spPr>
          <a:xfrm>
            <a:off x="-14400" y="1260572"/>
            <a:ext cx="8885359" cy="3273604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240AB1-EB5F-44E0-E6F1-6FF2AFF7E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D9EB07A-C09E-5488-E608-CA34E756AA80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FD695F6-8898-65DC-5547-7B65C5E4EB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6CE20CE-EF76-746A-6332-1BB9F98F4ED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0954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A3232-C6A4-70BD-A9B5-94EF2563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150EE96-5124-2626-2779-1D1C483381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497751"/>
            <a:ext cx="9721850" cy="2872450"/>
          </a:xfrm>
        </p:spPr>
        <p:txBody>
          <a:bodyPr/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Motivation und Forschungsfragen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Bewertungsrahmen und experimentelle Basis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Kompakte neuronale Alterungsbestimmung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Robustheitsbenchmark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Embedded AI und Modellkompression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Gesamtergebnisse und Ausblick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8952D4-199E-5D3B-4B03-15F7332035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Gliederung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DF81028-FC0E-3C04-3E96-EC0397E54BC6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7878EA4-279D-9A70-90B6-6630DDB95EF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8CC726-FE04-0140-F049-29C84E9D0BA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557320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05DDC-C960-AF9D-B6EB-372780E1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B9ACD0F-5BDF-B8D1-CC60-1CA61A6B5F2D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9D6B329-4C03-F68D-F4A2-B37D57F90086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Motivation und Forschungsfragen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19FDC82-BDDE-4057-AA70-CC08E37D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2AD38653-858F-6226-F97C-26B941BBC17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14DB9F6-C985-3169-B543-EF654C708F79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9E3FD1E-39DB-2310-36FA-93FFE78C88CD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12744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3DB7-70A5-FF03-DE0A-88E259174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60FEF8-3DFE-FFBB-6168-B9347B00B3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Warum deployment-orientierte Zustandsbestimmung?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0DC0B83E-04B2-7E13-9221-A23906531D9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F77500-9838-EEE5-3212-465C6E504BDF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0FA4794-EA4A-C074-5DD3-B4985C8EBB26}"/>
              </a:ext>
            </a:extLst>
          </p:cNvPr>
          <p:cNvSpPr txBox="1"/>
          <p:nvPr/>
        </p:nvSpPr>
        <p:spPr>
          <a:xfrm>
            <a:off x="635000" y="158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Stationäre Microgrids und mobile Systeme mit begrenzter Kommunikation oder Wartung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SOC und SOH müssen lokal, kontinuierlich und kausal verfügbar sein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Embedded systems begrenzen Speicher, Rechenzeit und Energie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Praktische Eignung verbindet Accuracy, Robustness und Hardwarebedarf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6F8424F-11D5-49AA-0D40-6EA18E8B4A4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3632"/>
            <a:ext cx="5397500" cy="32002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D133844-B3CA-2B08-38E5-C3BF0B0CA6EB}"/>
              </a:ext>
            </a:extLst>
          </p:cNvPr>
          <p:cNvSpPr txBox="1"/>
          <p:nvPr/>
        </p:nvSpPr>
        <p:spPr>
          <a:xfrm>
            <a:off x="4889500" y="53340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Lokale Zustandsbestimmung als Voraussetzung für autonomen Betrieb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04CF737-87CF-DA69-7FE5-D7D1C1F17A1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C84A0C5-E164-2F19-02C1-0E0A47222C31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4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188B89B-16AC-259A-0960-E82BBA8A341A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15137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4544-25B7-2F28-99D8-735209A2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E15D2E-87E9-D807-9C3D-C58853585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Forschungsfragen und roter Faden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C362C8C-D3E1-4899-43E2-D8AE25D1E65B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8D8886A-2411-70F7-93A5-980BF706F694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6C10F8F-05D3-9F39-3AB5-FB05CD974F86}"/>
              </a:ext>
            </a:extLst>
          </p:cNvPr>
          <p:cNvSpPr/>
          <p:nvPr/>
        </p:nvSpPr>
        <p:spPr>
          <a:xfrm>
            <a:off x="609600" y="16510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A64BAEE-E295-1D62-C482-F8B602037716}"/>
              </a:ext>
            </a:extLst>
          </p:cNvPr>
          <p:cNvSpPr/>
          <p:nvPr/>
        </p:nvSpPr>
        <p:spPr>
          <a:xfrm>
            <a:off x="7620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17B5722-0761-CE44-8517-FB257EE616C6}"/>
              </a:ext>
            </a:extLst>
          </p:cNvPr>
          <p:cNvSpPr txBox="1"/>
          <p:nvPr/>
        </p:nvSpPr>
        <p:spPr>
          <a:xfrm>
            <a:off x="13081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Modellkomplexität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82BDED6-74A3-EF78-8E02-D1A38A2BB8DA}"/>
              </a:ext>
            </a:extLst>
          </p:cNvPr>
          <p:cNvSpPr txBox="1"/>
          <p:nvPr/>
        </p:nvSpPr>
        <p:spPr>
          <a:xfrm>
            <a:off x="8128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einfach darf das neuronale Netz sein?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3A13BFB-51D9-DC20-CB8F-861145F96FDC}"/>
              </a:ext>
            </a:extLst>
          </p:cNvPr>
          <p:cNvSpPr/>
          <p:nvPr/>
        </p:nvSpPr>
        <p:spPr>
          <a:xfrm>
            <a:off x="3873500" y="16510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E9696D6-DE83-46FC-EDFE-005D7AB453DA}"/>
              </a:ext>
            </a:extLst>
          </p:cNvPr>
          <p:cNvSpPr/>
          <p:nvPr/>
        </p:nvSpPr>
        <p:spPr>
          <a:xfrm>
            <a:off x="40259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D63C304-3884-A374-6E2D-9C017F1FBEDE}"/>
              </a:ext>
            </a:extLst>
          </p:cNvPr>
          <p:cNvSpPr txBox="1"/>
          <p:nvPr/>
        </p:nvSpPr>
        <p:spPr>
          <a:xfrm>
            <a:off x="45720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Robustness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E7D7CB2-5CF0-CD98-3F79-190AE50E3CE3}"/>
              </a:ext>
            </a:extLst>
          </p:cNvPr>
          <p:cNvSpPr txBox="1"/>
          <p:nvPr/>
        </p:nvSpPr>
        <p:spPr>
          <a:xfrm>
            <a:off x="40767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stabil bleibt der Estimator bei Störungen?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BCD11EB-5BDA-5429-7CDB-3B91B475DF19}"/>
              </a:ext>
            </a:extLst>
          </p:cNvPr>
          <p:cNvSpPr/>
          <p:nvPr/>
        </p:nvSpPr>
        <p:spPr>
          <a:xfrm>
            <a:off x="7137400" y="16510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94886D1-D2CE-9828-7FDC-4AE76E13220D}"/>
              </a:ext>
            </a:extLst>
          </p:cNvPr>
          <p:cNvSpPr/>
          <p:nvPr/>
        </p:nvSpPr>
        <p:spPr>
          <a:xfrm>
            <a:off x="72898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7C667CC-9240-850F-3383-B9398F5B0F5E}"/>
              </a:ext>
            </a:extLst>
          </p:cNvPr>
          <p:cNvSpPr txBox="1"/>
          <p:nvPr/>
        </p:nvSpPr>
        <p:spPr>
          <a:xfrm>
            <a:off x="78359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Embedded deployment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9794E77-5ABA-0906-ECD4-A11AB3147965}"/>
              </a:ext>
            </a:extLst>
          </p:cNvPr>
          <p:cNvSpPr txBox="1"/>
          <p:nvPr/>
        </p:nvSpPr>
        <p:spPr>
          <a:xfrm>
            <a:off x="73406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gelingt die Ausführung auf dem MCU?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168CB9CD-356C-0C75-17C2-76CE547E81B0}"/>
              </a:ext>
            </a:extLst>
          </p:cNvPr>
          <p:cNvSpPr/>
          <p:nvPr/>
        </p:nvSpPr>
        <p:spPr>
          <a:xfrm>
            <a:off x="3479800" y="21844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4DF37E15-BD66-C290-9D0F-8A107A96AA36}"/>
              </a:ext>
            </a:extLst>
          </p:cNvPr>
          <p:cNvSpPr/>
          <p:nvPr/>
        </p:nvSpPr>
        <p:spPr>
          <a:xfrm>
            <a:off x="6743700" y="21844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F21167A-6375-CF3C-89CB-34A8FC8E46C9}"/>
              </a:ext>
            </a:extLst>
          </p:cNvPr>
          <p:cNvSpPr txBox="1"/>
          <p:nvPr/>
        </p:nvSpPr>
        <p:spPr>
          <a:xfrm>
            <a:off x="889000" y="36195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RQ1: Wie komplex müssen neuronale Netze für eine genaue SOC- und SOH-Bestimmung tatsächlich sein?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RQ2: Wie verändern Messstörungen und Zustandsfehler die Zuverlässigkeit verschiedener Estimator-Klassen?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RQ3: Wie lassen sich neuronale Estimatoren innerhalb der Memory-, Latency- und Energy-Limits eines BMS einsetzen?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D4E8E40-F154-68A0-1102-710133B3851C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53B0647-2D08-1C10-45BD-5F1E94D7339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5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956FCA6-A730-C9D2-1B2B-9B47FB53AE5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11381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C5270-8CFF-9B51-2F19-C5403728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3962259-6E31-000B-0AB8-3E63F2E7AE95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49F8528-D3F3-49FE-EC4F-89DABCB5CF03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Bewertungsrahmen und experimentelle Basis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4BD92CA-7AA2-5EE1-4AE9-284438FD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D0FF6B7-2083-728F-A8E5-9D1973CB11E3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9EFCC7-5FD2-EEEC-514E-C5DF8768DB12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F528DCA-2A59-B59C-B269-60C76B288F87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33674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A16F-45AE-FB7B-65EC-EFF285DD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3D58FF-ED0F-30BC-837D-D7EE90FF52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BMS-Anforderungen als gemeinsamer Bewertungsrahmen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F3F5E0E0-CED5-B3C6-5EEB-C7A56FCF8256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9211B22-305D-969D-A0E0-718C67827E68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ABDB4D2-E822-2BCC-7E5B-CF669172A31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506947"/>
            <a:ext cx="6413500" cy="4034605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7C815A1-03E3-A988-1902-38195D6C28DC}"/>
              </a:ext>
            </a:extLst>
          </p:cNvPr>
          <p:cNvSpPr/>
          <p:nvPr/>
        </p:nvSpPr>
        <p:spPr>
          <a:xfrm>
            <a:off x="7112000" y="1727200"/>
            <a:ext cx="2730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5E906FB-2753-99AA-0C19-3317A2DDF655}"/>
              </a:ext>
            </a:extLst>
          </p:cNvPr>
          <p:cNvSpPr txBox="1"/>
          <p:nvPr/>
        </p:nvSpPr>
        <p:spPr>
          <a:xfrm>
            <a:off x="7112000" y="14224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Gemeinsame Bewertung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15720E9-85C8-6DE0-ACF0-FC55E26FE13E}"/>
              </a:ext>
            </a:extLst>
          </p:cNvPr>
          <p:cNvSpPr txBox="1"/>
          <p:nvPr/>
        </p:nvSpPr>
        <p:spPr>
          <a:xfrm>
            <a:off x="7112000" y="1968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SOC und SOH sind interne, nicht direkt messbare Zustände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Reale Signale enthalten Bias, Noise, Dropouts und Timingfehler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Flash, RAM, Latency und Energy setzen harte Grenzen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Accuracy allein beschreibt keine Deployment-Eignung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B33874F-2E9A-3CFB-0DA6-3E775AD1D5F5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115B4C5-CF9C-270A-D856-2E746C064B8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7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064E41D-7CF0-7678-3BD0-668D6F35D6FE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6409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88D8-889C-626B-91C9-49875ACF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8C6DE7-F0D9-EE99-0FD5-0A95FDC5D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Estimator-Klassen und Evaluationslogik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D980636-95EE-1339-6356-587695E8371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0708968-0485-159E-8586-7D1F29586C24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1EDFF7-D9F7-224C-D5B5-5CD27631B92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4668"/>
            <a:ext cx="9271000" cy="297996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2B922E0-C611-9CE0-7A95-EED74CC34D07}"/>
              </a:ext>
            </a:extLst>
          </p:cNvPr>
          <p:cNvSpPr txBox="1"/>
          <p:nvPr/>
        </p:nvSpPr>
        <p:spPr>
          <a:xfrm>
            <a:off x="952500" y="444500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Ein gemeinsamer Messstrom trennt Modellverhalten von Testbedingungen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Der jeweilige Korrekturmechanismus bestimmt die Fehlersensitivität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Baseline accuracy, disturbance response und recovery werden getrennt bewertet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392049C-B82E-7E06-6CDB-97C13471E34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C42945D-C1C0-F4C6-D68C-9EC555A00D0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8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AABAB22-FD3E-0584-6CB6-A029A24A34F4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03117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54B9-BCB0-CF1E-38D8-A0644018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B5516F-523B-E882-3036-FFF5902F20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Datenbasis und Embedded Zielsystem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6404DF5-9D09-B19C-25D9-5CC970822B56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0524196-F2D3-7969-C41A-556EE46AF698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084DA02-75D0-DBF0-8287-EF230D53248A}"/>
              </a:ext>
            </a:extLst>
          </p:cNvPr>
          <p:cNvSpPr/>
          <p:nvPr/>
        </p:nvSpPr>
        <p:spPr>
          <a:xfrm>
            <a:off x="571500" y="1651000"/>
            <a:ext cx="4127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1B084F6-F13B-7203-291A-CB4CA66B6396}"/>
              </a:ext>
            </a:extLst>
          </p:cNvPr>
          <p:cNvSpPr txBox="1"/>
          <p:nvPr/>
        </p:nvSpPr>
        <p:spPr>
          <a:xfrm>
            <a:off x="571500" y="13462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Datenbasis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2AEE395-6C33-182C-AEED-1082B80325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79377"/>
            <a:ext cx="1968500" cy="965745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9C205A3-3911-05F3-29D8-AA8FF4B717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998305"/>
            <a:ext cx="1968500" cy="1527889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D069757-B370-67C6-8258-FF38A048C580}"/>
              </a:ext>
            </a:extLst>
          </p:cNvPr>
          <p:cNvSpPr txBox="1"/>
          <p:nvPr/>
        </p:nvSpPr>
        <p:spPr>
          <a:xfrm>
            <a:off x="571500" y="3937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NMC: 14 Zellen und 7 Alterungsszenarien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LFP: 15 Zellen, 8 operating points und 1-Hz stream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9DA6C0E-886D-7614-8059-A666D033CA23}"/>
              </a:ext>
            </a:extLst>
          </p:cNvPr>
          <p:cNvSpPr/>
          <p:nvPr/>
        </p:nvSpPr>
        <p:spPr>
          <a:xfrm>
            <a:off x="5143500" y="1651000"/>
            <a:ext cx="4699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1287CDB-4AC9-E2BB-63E5-E1001DB0C18B}"/>
              </a:ext>
            </a:extLst>
          </p:cNvPr>
          <p:cNvSpPr txBox="1"/>
          <p:nvPr/>
        </p:nvSpPr>
        <p:spPr>
          <a:xfrm>
            <a:off x="5143500" y="13462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Custom BMS und Zielhardware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DC783BF-C8AD-7E30-6787-801F0555B1F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2409825"/>
            <a:ext cx="4826000" cy="229235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F0396FF7-8635-9974-4431-7764FEECC2B1}"/>
              </a:ext>
            </a:extLst>
          </p:cNvPr>
          <p:cNvSpPr txBox="1"/>
          <p:nvPr/>
        </p:nvSpPr>
        <p:spPr>
          <a:xfrm>
            <a:off x="5334000" y="52705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Gemeinsame Basis für sensing, firmware und inference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AC08A8F-2767-D92E-9FF5-FE63B69C296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B01737E-7685-1F3F-28AE-2EAF359DF1D3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22A79DE-1D38-17D1-CC7E-E4E25C2494A7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12045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AF1B-14C9-90FA-D872-B9C7F294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03AF832-B6BB-E1B8-DD9E-486D2EE3B342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E555B66-5685-E496-4FB7-D8E7F5B51491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Kompakte neuronale Alterungsbestimmung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7EC8381-5AD2-B8A5-EA1C-81188B36D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997BE57-C18B-07FA-D691-C2602C535144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FC60963-850B-7B81-C63F-1048AA6CC049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10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E59089E-D582-A78C-B9C7-F247F7286F9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16039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9D33-32D6-337D-146C-60FC11E1E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AAAEFE-4C6F-6C31-7504-5058047BD3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Zeitliche Information statt größerem Netz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6FB40C0D-DA2B-1548-45C5-CCD163794F69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6C631CF-54F1-440E-CA28-6AD80111985F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2276BA-A0CE-38A8-3632-FDFC521BBBD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4067"/>
            <a:ext cx="6540500" cy="293556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0263E68A-3A28-A42C-EB18-C6D674591E93}"/>
              </a:ext>
            </a:extLst>
          </p:cNvPr>
          <p:cNvSpPr/>
          <p:nvPr/>
        </p:nvSpPr>
        <p:spPr>
          <a:xfrm>
            <a:off x="7302500" y="1803400"/>
            <a:ext cx="260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FD5503E-9035-6B76-B932-A0FD7942BC7F}"/>
              </a:ext>
            </a:extLst>
          </p:cNvPr>
          <p:cNvSpPr txBox="1"/>
          <p:nvPr/>
        </p:nvSpPr>
        <p:spPr>
          <a:xfrm>
            <a:off x="7302500" y="14986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Expliziter zeitlicher Kontext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BF65E8-72F1-1D6C-F882-466BD550ADB4}"/>
              </a:ext>
            </a:extLst>
          </p:cNvPr>
          <p:cNvSpPr txBox="1"/>
          <p:nvPr/>
        </p:nvSpPr>
        <p:spPr>
          <a:xfrm>
            <a:off x="7302500" y="2095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Historie wird in den Feature-Vektor verlagert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Das MLP benötigt dadurch keinen recurrent state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Kontextlänge steuert Informationsgehalt und Eingangsgröße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F5829A3-ADFE-B786-98F3-53BA8E05B595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6C9DDC-E90F-E6B6-3E9F-0C7340ECAF0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B35A50C-3B77-12A5-2A13-EDFC08EE4DF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4041317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ED48-A08A-921C-A518-CC217767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9B4256-59FF-7FAF-7B26-B8C567CEF7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Kompakte MLP-Architektur für die SOH-Bestimmung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543C3D68-E5F8-1383-EF60-0565566F5932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DF53B82-11DF-4479-A0BD-676525A28535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8550A95-B229-5DB0-821B-E34CD4CF312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5681" y="1308100"/>
            <a:ext cx="5814637" cy="431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30721AA-50CC-4CB2-2C5C-B55A6BCF3591}"/>
              </a:ext>
            </a:extLst>
          </p:cNvPr>
          <p:cNvSpPr txBox="1"/>
          <p:nvPr/>
        </p:nvSpPr>
        <p:spPr>
          <a:xfrm>
            <a:off x="7048500" y="17145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Bewusst einfache feedforward architecture als Test der Repräsentation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Zeitliche Information entsteht außerhalb des Netzes durch Feature Engineering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Modellkapazität und zeitliche Informationsaufbereitung bleiben getrennt bewertbar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81A98B1-B090-DF5B-312A-C9D54A6BDBAE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95E7EB9-5E4F-19E7-6A49-C39E46E7549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BCE7E17-5CE3-4FE0-A588-356F7BB055A7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22971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9E52-64D8-1FF2-336B-CDB0EE7B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16DFE7-CC30-26E9-F12E-E57026AEF5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Ergebnis: Kleine Netze bei geeigneter Repräsentation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7559C30F-A183-BED5-D4AC-9007F807A743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E669970-C625-C069-FDBA-256E8D3791A7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7C5539A-2514-308C-EFEE-4B8DECD774B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27150"/>
            <a:ext cx="9334500" cy="31115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B34A5786-F043-6909-94E9-771B10B0AB9D}"/>
              </a:ext>
            </a:extLst>
          </p:cNvPr>
          <p:cNvSpPr/>
          <p:nvPr/>
        </p:nvSpPr>
        <p:spPr>
          <a:xfrm>
            <a:off x="762000" y="46990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4D6CB98-4963-9AD9-CFCA-CCED21E8A61E}"/>
              </a:ext>
            </a:extLst>
          </p:cNvPr>
          <p:cNvSpPr txBox="1"/>
          <p:nvPr/>
        </p:nvSpPr>
        <p:spPr>
          <a:xfrm>
            <a:off x="901700" y="4673600"/>
            <a:ext cx="240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1,10 pp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B582F59-2111-0D7E-7826-1103A9F9EA0B}"/>
              </a:ext>
            </a:extLst>
          </p:cNvPr>
          <p:cNvSpPr txBox="1"/>
          <p:nvPr/>
        </p:nvSpPr>
        <p:spPr>
          <a:xfrm>
            <a:off x="901700" y="5041900"/>
            <a:ext cx="240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mittlerer SOH MAE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1EDCF4A-8382-4948-0166-82A1B7F68C64}"/>
              </a:ext>
            </a:extLst>
          </p:cNvPr>
          <p:cNvSpPr/>
          <p:nvPr/>
        </p:nvSpPr>
        <p:spPr>
          <a:xfrm>
            <a:off x="3619500" y="4699000"/>
            <a:ext cx="50800" cy="609600"/>
          </a:xfrm>
          <a:prstGeom prst="rect">
            <a:avLst/>
          </a:prstGeom>
          <a:solidFill>
            <a:srgbClr val="1F77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DECFEB-A73E-5AE1-CBC8-1A9E78B9C5B6}"/>
              </a:ext>
            </a:extLst>
          </p:cNvPr>
          <p:cNvSpPr txBox="1"/>
          <p:nvPr/>
        </p:nvSpPr>
        <p:spPr>
          <a:xfrm>
            <a:off x="3759200" y="46736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160 min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843C10C-AC4A-342B-6070-EE35ACD68D67}"/>
              </a:ext>
            </a:extLst>
          </p:cNvPr>
          <p:cNvSpPr txBox="1"/>
          <p:nvPr/>
        </p:nvSpPr>
        <p:spPr>
          <a:xfrm>
            <a:off x="3759200" y="50419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beste History-Konfiguration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41D65F2-69F4-07A7-7F41-4FFACCD9574C}"/>
              </a:ext>
            </a:extLst>
          </p:cNvPr>
          <p:cNvSpPr/>
          <p:nvPr/>
        </p:nvSpPr>
        <p:spPr>
          <a:xfrm>
            <a:off x="6794500" y="4699000"/>
            <a:ext cx="50800" cy="609600"/>
          </a:xfrm>
          <a:prstGeom prst="rect">
            <a:avLst/>
          </a:prstGeom>
          <a:solidFill>
            <a:srgbClr val="76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20C1176-D89C-06B3-E416-BE21EE96863A}"/>
              </a:ext>
            </a:extLst>
          </p:cNvPr>
          <p:cNvSpPr txBox="1"/>
          <p:nvPr/>
        </p:nvSpPr>
        <p:spPr>
          <a:xfrm>
            <a:off x="6934200" y="46736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Cell 9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C5B480-3F01-2C86-79EA-D1819407FB9F}"/>
              </a:ext>
            </a:extLst>
          </p:cNvPr>
          <p:cNvSpPr txBox="1"/>
          <p:nvPr/>
        </p:nvSpPr>
        <p:spPr>
          <a:xfrm>
            <a:off x="6934200" y="50419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Grenze bei atypischer Alterung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E26E9EB-C815-557E-3C59-C061DBF5896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A69B84E-2C1D-5F3D-0AE2-4DACDC67EFC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13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367390E-71AD-627F-94D6-9954A64D90F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03406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9888-0A24-7693-33AF-F259D2EC0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BD9BDF4-A9E6-C1BD-ABAB-6B397B8C5847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08EB6F8-C065-8F20-0BF6-8008E19994E4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Robustheitsbenchmark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54F9915-FC17-0777-A52A-94F055D3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8DEEF3E9-ECCE-3F92-131C-D3605FB7FF3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82D75EF-6D90-2DB3-5196-8AB6C0F054BE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679E831-6DCB-3AFA-6E55-A5EBD05B42C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4736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E96A-EB84-21D9-FE3F-3F2E19FC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460922-DC64-8A8A-C3DE-A033ABC554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Vergleich von vier Estimator-Klassen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F6FADB33-36A8-B503-42DD-B02FCE0A5C79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B22401D-C9D7-6BF3-D571-6E3D6C475EC6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BFFAAD1-B92A-C868-76EC-AC276570DC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6939"/>
            <a:ext cx="9334500" cy="257282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5FE5596-3692-7E87-6851-940C72F0706E}"/>
              </a:ext>
            </a:extLst>
          </p:cNvPr>
          <p:cNvSpPr txBox="1"/>
          <p:nvPr/>
        </p:nvSpPr>
        <p:spPr>
          <a:xfrm>
            <a:off x="889000" y="41275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Identischer Messstrom und gleiche Disturbance realizations isolieren das Estimator-Verhalten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Vier Korrekturprinzipien statt vier unterschiedlich getesteter Modelle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Getrennte Evidenz für nominale Accuracy, Recovery und Disturbance response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5426996-A2AF-48C7-A193-DC2127ACC7F3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C0CB7BC-D609-702B-0160-EFE6802055B3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15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A8A666C-3025-74EC-85C1-2C5A0ED0BEE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81927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1562-BC50-5E5F-B103-37D711CB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B9FDBF-1B59-B94F-2C02-E382213520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Nominale Accuracy ist nur der Ausgangspunkt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ECFF1C5F-6056-CA94-D655-4F125618AB83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B618D4D-B725-E91E-F3F1-19CA05E6B6AA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CDD2707-CED1-8C42-990B-3DD8AE3DC0B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7" y="1333500"/>
            <a:ext cx="5926667" cy="4445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11445B5-D37A-B30D-D4C1-DF2E4FE46E51}"/>
              </a:ext>
            </a:extLst>
          </p:cNvPr>
          <p:cNvSpPr txBox="1"/>
          <p:nvPr/>
        </p:nvSpPr>
        <p:spPr>
          <a:xfrm>
            <a:off x="7175500" y="16510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Unter nominalen Signalen profitiert HDM von der SOH-gestützten Kapazitätsanpassung</a:t>
            </a:r>
          </a:p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clean ranking dient nur als Referenz für die Disturbance tests</a:t>
            </a:r>
          </a:p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Der niedrigste MAE sagt noch nichts über Drift oder Recovery aus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1CFE57A-96E8-918B-33F6-DC763030E15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97933F0-F88B-1084-7D15-6BF44F1066CB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16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81E7298-A729-8A9A-420C-5528B28DB9A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43464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D75C-CBC3-B567-20B0-A142299D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353C2F-4E19-07C2-B270-18ADA31D2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Disturbances verändern die Estimator-Rangfolge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B8ACCBF4-D3DD-214D-6F56-D777064F427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D8170D1-37D6-A7E5-9CF0-F8587A602600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CB05EE1-E56F-6933-5528-FBAB1E3FE68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82587"/>
            <a:ext cx="6794500" cy="2807127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F686AA5-C7EC-C585-88F0-D282EE498CA4}"/>
              </a:ext>
            </a:extLst>
          </p:cNvPr>
          <p:cNvSpPr txBox="1"/>
          <p:nvPr/>
        </p:nvSpPr>
        <p:spPr>
          <a:xfrm>
            <a:off x="7556500" y="1587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Persistenter Bias akkumuliert in integrationsbasierten Pfaden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Voltage feedback begrenzt systematischen Drift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Temporal context unterstützt bei Dropouts und Recovery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Rangfolge folgt dem dominanten Fehlermechanismus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7477AF-A0E7-46B8-90F7-8E990CDB2D36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B8037E9-A653-D2EF-5A9C-32A84CBE756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17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B227F00-42E2-E2DE-4A66-EF8E75F99BC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415132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1441-E653-A0D5-1857-D7EAB57D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AF36F2-A60B-CF3D-F58D-FB52029E6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Robustness-Ergebnis: kein universeller Sieger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8656A85B-0D97-D550-D754-DD232C13656F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DC7F9EC-1DF0-C384-44A1-0B6AD5DA3F56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9223D34-77C0-9F44-881D-CC8DE9AC4BD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0388" y="1295400"/>
            <a:ext cx="9300523" cy="4318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BA38694-F763-C3B5-605A-3D79FB07D686}"/>
              </a:ext>
            </a:extLst>
          </p:cNvPr>
          <p:cNvSpPr txBox="1"/>
          <p:nvPr/>
        </p:nvSpPr>
        <p:spPr>
          <a:xfrm>
            <a:off x="990600" y="53086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Estimator-Auswahl = relevantes Störprofil + geeigneter Korrekturmechanismus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0F8AC3D-CD08-7DEC-0AD4-1422892EE45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72E76B-68BE-5B0F-FC62-A66173CF8A7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18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22D7790-5723-13F4-CB9B-A7194AB92BAA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143606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1C086-343E-082A-AC3B-D90B38D6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7B022B3-3E5C-18F9-AD22-8C6697002AED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0855B62-B2E1-B96D-52AA-19C728F9B6AC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Embedded AI und Modellkompression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3D6F389-EDD2-2229-1ACE-57214E773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EDD207B3-A78F-714B-5624-037B02D15FF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0AF14CB-0BA7-7D9D-1BBF-15CCE379055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19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FE98CCF-9262-AA0A-23BF-F86C5471C0FC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537828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860C-2447-1DC0-FD2D-C708973AC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C75F06-09F1-D6BA-230B-1C4316922E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Vom Modell zur stateful STM32-Ausführung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E07F5C1C-4A32-22F8-B30D-30AA587B2D1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2830DD-626D-C813-C59F-767940FF605B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3CDD205-D67A-CA4A-B3CA-8737057DAD2A}"/>
              </a:ext>
            </a:extLst>
          </p:cNvPr>
          <p:cNvSpPr/>
          <p:nvPr/>
        </p:nvSpPr>
        <p:spPr>
          <a:xfrm>
            <a:off x="571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847304B-2C98-3F23-EB65-3133B602E9E6}"/>
              </a:ext>
            </a:extLst>
          </p:cNvPr>
          <p:cNvSpPr txBox="1"/>
          <p:nvPr/>
        </p:nvSpPr>
        <p:spPr>
          <a:xfrm>
            <a:off x="571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Custom BMS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45264DD-480E-B200-C1AB-FB009D90716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76463"/>
            <a:ext cx="4445000" cy="2111375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ABDB4A89-8892-9811-FE7A-D979509CFB28}"/>
              </a:ext>
            </a:extLst>
          </p:cNvPr>
          <p:cNvSpPr/>
          <p:nvPr/>
        </p:nvSpPr>
        <p:spPr>
          <a:xfrm>
            <a:off x="5397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869429A-A985-174F-51EC-C854D9F92282}"/>
              </a:ext>
            </a:extLst>
          </p:cNvPr>
          <p:cNvSpPr txBox="1"/>
          <p:nvPr/>
        </p:nvSpPr>
        <p:spPr>
          <a:xfrm>
            <a:off x="5397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Deployment chain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295644E-2F93-3D79-437E-D9DC6D52E8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606541"/>
            <a:ext cx="4572000" cy="1251218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3E50673D-68CB-8602-6D7C-5DF224A28DBF}"/>
              </a:ext>
            </a:extLst>
          </p:cNvPr>
          <p:cNvSpPr txBox="1"/>
          <p:nvPr/>
        </p:nvSpPr>
        <p:spPr>
          <a:xfrm>
            <a:off x="698500" y="4851400"/>
            <a:ext cx="908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Sensing, recurrent inference und firmware execution in einer gemeinsamen chain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Stateful 1-Hz replay mit explizit weitergegebenen LSTM states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Flash, RAM und kernel time auf dem STM32H755 gemessen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F354E28-0AF6-33B0-27A0-85618E93F995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F2B0D18-2EBC-9AA9-2610-F05C6B5B0FEC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1253B1A-12FA-2583-A697-63A9A6AFD981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354258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87B7-7CC0-3A02-85C0-31103BD2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6B6080-C132-88AA-ACFF-8C086BC8CB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Zwei Wege der Modellkompression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8DB0C5C-087A-CC42-F4BC-E8FB0F326E52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5644FE1-62BB-1F6D-53A6-3527A87E877D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A62DDBA-B30E-56B2-629A-38CA87275B62}"/>
              </a:ext>
            </a:extLst>
          </p:cNvPr>
          <p:cNvSpPr/>
          <p:nvPr/>
        </p:nvSpPr>
        <p:spPr>
          <a:xfrm>
            <a:off x="571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C8D8D71-51CF-1075-5D7B-849A65AFA744}"/>
              </a:ext>
            </a:extLst>
          </p:cNvPr>
          <p:cNvSpPr txBox="1"/>
          <p:nvPr/>
        </p:nvSpPr>
        <p:spPr>
          <a:xfrm>
            <a:off x="571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Structured pruning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6B6660-A6BA-1E55-1EC2-60996789659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25192"/>
            <a:ext cx="4445000" cy="1940916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EFFA873-91A6-18A8-69D3-ADE6636D06BC}"/>
              </a:ext>
            </a:extLst>
          </p:cNvPr>
          <p:cNvSpPr txBox="1"/>
          <p:nvPr/>
        </p:nvSpPr>
        <p:spPr>
          <a:xfrm>
            <a:off x="698500" y="4953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Komplette hidden channels entfernt</a:t>
            </a:r>
          </a:p>
          <a:p>
            <a:pPr>
              <a:spcAft>
                <a:spcPts val="4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Kleinere dense tensors nach fine-tuning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B7EC7DE-973C-D5DC-3B35-49F79520A045}"/>
              </a:ext>
            </a:extLst>
          </p:cNvPr>
          <p:cNvSpPr/>
          <p:nvPr/>
        </p:nvSpPr>
        <p:spPr>
          <a:xfrm>
            <a:off x="5397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A4E3D0A-DFB5-3820-4E51-205422B6F6E2}"/>
              </a:ext>
            </a:extLst>
          </p:cNvPr>
          <p:cNvSpPr txBox="1"/>
          <p:nvPr/>
        </p:nvSpPr>
        <p:spPr>
          <a:xfrm>
            <a:off x="5397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INT8 weight quantization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A8E2732-20C8-BA8A-4A63-C292FC1182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2423530"/>
            <a:ext cx="4445000" cy="174424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BE81EED1-A24F-86F8-E782-3DFEFAEFCFFA}"/>
              </a:ext>
            </a:extLst>
          </p:cNvPr>
          <p:cNvSpPr txBox="1"/>
          <p:nvPr/>
        </p:nvSpPr>
        <p:spPr>
          <a:xfrm>
            <a:off x="5524500" y="4953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Recurrent weights auf signed INT8 gemappt</a:t>
            </a:r>
          </a:p>
          <a:p>
            <a:pPr>
              <a:spcAft>
                <a:spcPts val="4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States, scales und MLP bleiben FP32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0728373-39E6-293B-04FB-1F5764C5636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35C5FDD-457A-4E39-8ADC-0615F22BA92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21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D28CE7E-3F57-CE44-AAAA-3B3B042293D4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263404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0A03-CEC2-6AE4-F7B6-E62258123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5F6CB5-B295-843C-617F-B7094E34DC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Accuracy und Stabilität im Streaming Replay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FFE7BF3E-3B52-E41F-2E71-8A1B8F30C9D6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A717E-87B9-5629-361C-15A508A60101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F189250-585A-1A27-D262-09CFD838B27C}"/>
              </a:ext>
            </a:extLst>
          </p:cNvPr>
          <p:cNvSpPr/>
          <p:nvPr/>
        </p:nvSpPr>
        <p:spPr>
          <a:xfrm>
            <a:off x="533400" y="1612900"/>
            <a:ext cx="514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A7BF72C-6B92-AE44-5EDE-CFF5B71E78DE}"/>
              </a:ext>
            </a:extLst>
          </p:cNvPr>
          <p:cNvSpPr txBox="1"/>
          <p:nvPr/>
        </p:nvSpPr>
        <p:spPr>
          <a:xfrm>
            <a:off x="533400" y="13081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SOC streaming replay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3969F7A-D29D-E4B5-C4A9-31DE4752BDD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9750"/>
            <a:ext cx="5143500" cy="3429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08E1E97E-D365-C934-E844-52006334EB1B}"/>
              </a:ext>
            </a:extLst>
          </p:cNvPr>
          <p:cNvSpPr/>
          <p:nvPr/>
        </p:nvSpPr>
        <p:spPr>
          <a:xfrm>
            <a:off x="6032500" y="1612900"/>
            <a:ext cx="387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00B535B-BAD0-273D-1728-D0036670E694}"/>
              </a:ext>
            </a:extLst>
          </p:cNvPr>
          <p:cNvSpPr txBox="1"/>
          <p:nvPr/>
        </p:nvSpPr>
        <p:spPr>
          <a:xfrm>
            <a:off x="6032500" y="13081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SOH streaming replay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6CC52A4-3705-6129-5F66-47EDEAFD3E9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987550"/>
            <a:ext cx="3873500" cy="15494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258DEE8-B6A5-8BD2-4783-75202D42016E}"/>
              </a:ext>
            </a:extLst>
          </p:cNvPr>
          <p:cNvSpPr txBox="1"/>
          <p:nvPr/>
        </p:nvSpPr>
        <p:spPr>
          <a:xfrm>
            <a:off x="6159500" y="3873500"/>
            <a:ext cx="374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SOC MAE [pp]: Base 2,68 | Pruned 2,34 | Quantized 2,79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SOH MAE [pp]: Base 0,85 | Pruned 1,46 | Quantized 1,41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Kein wachsender Quantized-to-Base drift im vollständigen replay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0B83FC5-D882-F984-E4DE-C2E6D3EF912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5B6885E-D616-87FE-2FF2-6AB3A281163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DEDD9E3-A82A-EE28-DC3D-7E50F9F1C0DD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503800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1519-32B2-B8CA-8D2A-AD2C6EA6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4EA432-3689-EADE-6559-59A07A5B8E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Trade-offs bei Speicher, Latency und Utility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AED365B3-8FB2-D283-0FE7-D6B390D31963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1ABB016-378C-2B62-2227-88EFA539A465}"/>
              </a:ext>
            </a:extLst>
          </p:cNvPr>
          <p:cNvSpPr/>
          <p:nvPr/>
        </p:nvSpPr>
        <p:spPr>
          <a:xfrm>
            <a:off x="10350587" y="1483912"/>
            <a:ext cx="2215581" cy="255884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FAF723E-52EA-D619-1319-34B5A462531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0000"/>
            <a:ext cx="6223000" cy="4445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4AFB614A-29D8-3C03-2BDB-A73A36A87BBF}"/>
              </a:ext>
            </a:extLst>
          </p:cNvPr>
          <p:cNvSpPr/>
          <p:nvPr/>
        </p:nvSpPr>
        <p:spPr>
          <a:xfrm>
            <a:off x="7112000" y="1638300"/>
            <a:ext cx="2794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EAFED8F-6448-C2D5-A9A5-14728F598F14}"/>
              </a:ext>
            </a:extLst>
          </p:cNvPr>
          <p:cNvSpPr txBox="1"/>
          <p:nvPr/>
        </p:nvSpPr>
        <p:spPr>
          <a:xfrm>
            <a:off x="7112000" y="1333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SOC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95210BD-9B3B-D235-17DF-85D9E684A104}"/>
              </a:ext>
            </a:extLst>
          </p:cNvPr>
          <p:cNvSpPr txBox="1"/>
          <p:nvPr/>
        </p:nvSpPr>
        <p:spPr>
          <a:xfrm>
            <a:off x="7112000" y="1841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Pruned: -41% Flash | -43% kernel time</a:t>
            </a:r>
          </a:p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Quantized: -50% Flash | +399% kernel time</a:t>
            </a:r>
          </a:p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Utility: 0,71 vs. 1,83</a:t>
            </a:r>
            <a:endParaRPr lang="de-DE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2E738A7-5C90-30FB-94A4-CCD489E5B1A7}"/>
              </a:ext>
            </a:extLst>
          </p:cNvPr>
          <p:cNvSpPr/>
          <p:nvPr/>
        </p:nvSpPr>
        <p:spPr>
          <a:xfrm>
            <a:off x="7112000" y="3924300"/>
            <a:ext cx="2794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F1727B0-51A4-3561-DACA-05C070E73E57}"/>
              </a:ext>
            </a:extLst>
          </p:cNvPr>
          <p:cNvSpPr txBox="1"/>
          <p:nvPr/>
        </p:nvSpPr>
        <p:spPr>
          <a:xfrm>
            <a:off x="7112000" y="3619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1D11220-290E-B6A5-78DC-14146A7CA566}"/>
              </a:ext>
            </a:extLst>
          </p:cNvPr>
          <p:cNvSpPr txBox="1"/>
          <p:nvPr/>
        </p:nvSpPr>
        <p:spPr>
          <a:xfrm>
            <a:off x="7112000" y="4127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Pruned: -46% Flash | -44% kernel time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Quantized: -59% Flash | +29% kernel time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Hardwarelimit entscheidet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43CF891-94BB-8527-14E6-F6C125BD7AB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130A6A0-94CC-1D9F-1ED2-2AA27182DD5E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F525107-F4AA-5FD7-8B68-F2F4937EA93F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442343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D01A-FCCE-8827-44DA-DA30EFAD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5B23719-D528-B4DD-DD43-466993EA7D31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24D7842-D64B-A318-83C6-C5C044EB7A81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Gesamtergebnisse und Ausblick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4DB6DA9-26DF-4731-C568-B74B7D130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6F34BF9F-15B6-8F67-11CC-EC8691705D98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5992F67-8EAB-784E-9FB0-E804B666F9B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AC77263-A798-030E-C257-CD25D9BB428A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478789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DAA2-292A-5FC1-DDC5-F506A16D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5B65A7-3876-D4F7-CF31-8C092C7E61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Kernaussagen der drei Untersuchungen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ECE0848D-4CA7-3F52-3514-516A3026830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558E6E1-D795-F92D-FB8F-169E4CB45C1F}"/>
              </a:ext>
            </a:extLst>
          </p:cNvPr>
          <p:cNvSpPr/>
          <p:nvPr/>
        </p:nvSpPr>
        <p:spPr>
          <a:xfrm>
            <a:off x="10350587" y="1483912"/>
            <a:ext cx="2215581" cy="2547108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600" b="1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F1C4426-7379-B6FF-4237-83F48A568ADC}"/>
              </a:ext>
            </a:extLst>
          </p:cNvPr>
          <p:cNvSpPr/>
          <p:nvPr/>
        </p:nvSpPr>
        <p:spPr>
          <a:xfrm>
            <a:off x="609600" y="1587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7159013-88B0-4423-6820-A949E271074A}"/>
              </a:ext>
            </a:extLst>
          </p:cNvPr>
          <p:cNvSpPr/>
          <p:nvPr/>
        </p:nvSpPr>
        <p:spPr>
          <a:xfrm>
            <a:off x="7620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222DF8-66F5-CE65-75DA-CF4B2A61D16B}"/>
              </a:ext>
            </a:extLst>
          </p:cNvPr>
          <p:cNvSpPr txBox="1"/>
          <p:nvPr/>
        </p:nvSpPr>
        <p:spPr>
          <a:xfrm>
            <a:off x="13081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Repräsentation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0EFADCB-F721-F65C-5A3C-4DA5C9A08F1F}"/>
              </a:ext>
            </a:extLst>
          </p:cNvPr>
          <p:cNvSpPr txBox="1"/>
          <p:nvPr/>
        </p:nvSpPr>
        <p:spPr>
          <a:xfrm>
            <a:off x="8128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Explizite Historie ermöglicht kompakte Modelle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D128DE2-084F-6925-1344-32929DBECCAE}"/>
              </a:ext>
            </a:extLst>
          </p:cNvPr>
          <p:cNvSpPr/>
          <p:nvPr/>
        </p:nvSpPr>
        <p:spPr>
          <a:xfrm>
            <a:off x="3873500" y="1587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919BAEC-0756-02F5-1B04-59BDBBE20626}"/>
              </a:ext>
            </a:extLst>
          </p:cNvPr>
          <p:cNvSpPr/>
          <p:nvPr/>
        </p:nvSpPr>
        <p:spPr>
          <a:xfrm>
            <a:off x="40259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757BD3A-B005-FC47-6C9C-2BA3D735AA82}"/>
              </a:ext>
            </a:extLst>
          </p:cNvPr>
          <p:cNvSpPr txBox="1"/>
          <p:nvPr/>
        </p:nvSpPr>
        <p:spPr>
          <a:xfrm>
            <a:off x="45720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Validierung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F937C27-DC0D-A1A0-B3D7-AA0998D79666}"/>
              </a:ext>
            </a:extLst>
          </p:cNvPr>
          <p:cNvSpPr txBox="1"/>
          <p:nvPr/>
        </p:nvSpPr>
        <p:spPr>
          <a:xfrm>
            <a:off x="40767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767171"/>
                </a:solidFill>
                <a:latin typeface="Arial" panose="020B0604020202020204" pitchFamily="34" charset="0"/>
              </a:rPr>
              <a:t>Clean accuracy und Robustness liefern getrennte Evidenz</a:t>
            </a:r>
            <a:endParaRPr lang="de-DE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7C9D48E-14B5-F2C2-5811-A0D05F3D2A9E}"/>
              </a:ext>
            </a:extLst>
          </p:cNvPr>
          <p:cNvSpPr/>
          <p:nvPr/>
        </p:nvSpPr>
        <p:spPr>
          <a:xfrm>
            <a:off x="7137400" y="1587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6560D6F-4D3B-3B5B-7D87-E98D93D03C6B}"/>
              </a:ext>
            </a:extLst>
          </p:cNvPr>
          <p:cNvSpPr/>
          <p:nvPr/>
        </p:nvSpPr>
        <p:spPr>
          <a:xfrm>
            <a:off x="72898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16BB40B-86A0-4953-6501-602DF8ADD14F}"/>
              </a:ext>
            </a:extLst>
          </p:cNvPr>
          <p:cNvSpPr txBox="1"/>
          <p:nvPr/>
        </p:nvSpPr>
        <p:spPr>
          <a:xfrm>
            <a:off x="78359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Implementierung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8114E6B-E0C7-5990-BD82-D258C8FE00AE}"/>
              </a:ext>
            </a:extLst>
          </p:cNvPr>
          <p:cNvSpPr txBox="1"/>
          <p:nvPr/>
        </p:nvSpPr>
        <p:spPr>
          <a:xfrm>
            <a:off x="73406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Compression bleibt hardware- und firmwareabhängig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A3223BB-8AF5-2F84-E2FC-BC4E10377150}"/>
              </a:ext>
            </a:extLst>
          </p:cNvPr>
          <p:cNvSpPr txBox="1"/>
          <p:nvPr/>
        </p:nvSpPr>
        <p:spPr>
          <a:xfrm>
            <a:off x="952500" y="37465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Task-aligned features können notwendige Modellkomplexität begrenzen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Clean MAE kann operationale Robustness nicht nachweisen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Deployment-Eignung entsteht aus der gesamten signal-to-hardware chain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C84A17D-3A2B-9735-49D6-155E8203AC4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AF19E04-D269-0F3E-CBE0-84770EB9F232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6AE06D9-579E-10E9-75B9-3EDE1A417EF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454600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921E-2E4B-B9BD-0A3D-F6C196B95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0B1E70-8825-D344-0154-17B90DE0EC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Designregeln, Grenzen und nächste Schritte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50A26044-33BD-D82A-8A17-FE4820BCA0CC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6E0D7E8-7192-D9DD-B275-90B787BC8FC4}"/>
              </a:ext>
            </a:extLst>
          </p:cNvPr>
          <p:cNvSpPr/>
          <p:nvPr/>
        </p:nvSpPr>
        <p:spPr>
          <a:xfrm>
            <a:off x="10350587" y="1483912"/>
            <a:ext cx="2215581" cy="2547108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Ergebnisse</a:t>
            </a:r>
            <a:endParaRPr lang="de-DE" sz="1600" b="1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E1E0B61-E91D-5E7C-5576-72EFAC679E76}"/>
              </a:ext>
            </a:extLst>
          </p:cNvPr>
          <p:cNvSpPr/>
          <p:nvPr/>
        </p:nvSpPr>
        <p:spPr>
          <a:xfrm>
            <a:off x="635000" y="1676400"/>
            <a:ext cx="4254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3F90E3F-ABAB-DAC6-D357-73CCEE0F3E15}"/>
              </a:ext>
            </a:extLst>
          </p:cNvPr>
          <p:cNvSpPr txBox="1"/>
          <p:nvPr/>
        </p:nvSpPr>
        <p:spPr>
          <a:xfrm>
            <a:off x="635000" y="13716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Kernaussagen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0563410-DB65-8D14-FBD0-B176DB677B3E}"/>
              </a:ext>
            </a:extLst>
          </p:cNvPr>
          <p:cNvSpPr txBox="1"/>
          <p:nvPr/>
        </p:nvSpPr>
        <p:spPr>
          <a:xfrm>
            <a:off x="635000" y="19050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Representation vor unnötiger Modellkomplexität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Disturbance tests zusätzlich zu clean MAE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Compression passend zum tatsächlichen Bottleneck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Target-hardware validation vor dem Einsatz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C527E79-BEBA-D2AF-02ED-58A608D2844E}"/>
              </a:ext>
            </a:extLst>
          </p:cNvPr>
          <p:cNvSpPr/>
          <p:nvPr/>
        </p:nvSpPr>
        <p:spPr>
          <a:xfrm>
            <a:off x="5588000" y="1676400"/>
            <a:ext cx="4254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60E7CD1-C599-5C8A-9AEB-299BC0CB14FF}"/>
              </a:ext>
            </a:extLst>
          </p:cNvPr>
          <p:cNvSpPr txBox="1"/>
          <p:nvPr/>
        </p:nvSpPr>
        <p:spPr>
          <a:xfrm>
            <a:off x="5588000" y="13716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Nächste Schritte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7B535DF-5C2F-08AC-F373-7D5187C58A19}"/>
              </a:ext>
            </a:extLst>
          </p:cNvPr>
          <p:cNvSpPr txBox="1"/>
          <p:nvPr/>
        </p:nvSpPr>
        <p:spPr>
          <a:xfrm>
            <a:off x="5588000" y="19050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Weitere cells, chemistries und operating profiles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Fault injection in sensing und firmware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Joint pruning and quantization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Größere Packs und autonomer Langzeitbetrieb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BCF387-1B38-D9A3-9259-E80AD6200326}"/>
              </a:ext>
            </a:extLst>
          </p:cNvPr>
          <p:cNvSpPr txBox="1"/>
          <p:nvPr/>
        </p:nvSpPr>
        <p:spPr>
          <a:xfrm>
            <a:off x="1206500" y="51816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Zielbild: State estimation als integrierte, testbare und resource-aware BMS-Funktion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43EAA91-A37E-EEBA-D390-4E7BDEA65CB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48A4606-39A0-2F1E-AF93-AC6D796D476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26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6FEBFB-0204-3410-559E-468390A4F0EC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804646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DD9B-DDEB-1601-95FC-D7013F77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6904F02-3DEF-DD8A-CC2E-91A90C2454EE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8679DF6-A7CD-830D-330D-BE0AB139CEF9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Vielen Dank | Fragen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2BD6C4-997D-05E0-842C-0B56410C3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7BD6C84D-E8BD-0CE4-D19F-E8EB4DBBABDE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C235461-97EF-A0A8-DFAB-4126F79F484E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27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DE412D9-9770-84B6-09F9-BF2B7F73CA6E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765320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T_Master.pptx" id="{9E64158D-9991-4F76-B6D4-8CD845D898ED}" vid="{2BE3AA34-AB6A-4E14-AC19-13E0943D1B5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Diss_FR_220325</Template>
  <TotalTime>0</TotalTime>
  <Words>1381</Words>
  <Application>Microsoft Office PowerPoint</Application>
  <PresentationFormat>Breitbild</PresentationFormat>
  <Paragraphs>297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2" baseType="lpstr">
      <vt:lpstr>Arial</vt:lpstr>
      <vt:lpstr>Calibri</vt:lpstr>
      <vt:lpstr>Symbol</vt:lpstr>
      <vt:lpstr>Wingdings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</dc:creator>
  <cp:lastModifiedBy>TU-Pseudonym 0562860610859421</cp:lastModifiedBy>
  <cp:revision>148</cp:revision>
  <cp:lastPrinted>2021-03-24T16:10:50Z</cp:lastPrinted>
  <dcterms:created xsi:type="dcterms:W3CDTF">2025-03-28T09:19:50Z</dcterms:created>
  <dcterms:modified xsi:type="dcterms:W3CDTF">2026-08-14T12:18:51Z</dcterms:modified>
</cp:coreProperties>
</file>