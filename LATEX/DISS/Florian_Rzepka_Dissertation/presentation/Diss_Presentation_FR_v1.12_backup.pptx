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charts/chart1.xml" ContentType="application/vnd.openxmlformats-officedocument.drawingml.chart+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9"/>
  </p:notesMasterIdLst>
  <p:sldIdLst>
    <p:sldId id="256" r:id="rId2"/>
    <p:sldId id="257" r:id="rId3"/>
    <p:sldId id="258" r:id="rId4"/>
    <p:sldId id="315" r:id="rId5"/>
    <p:sldId id="259" r:id="rId6"/>
    <p:sldId id="260" r:id="rId7"/>
    <p:sldId id="261" r:id="rId8"/>
    <p:sldId id="262" r:id="rId9"/>
    <p:sldId id="264" r:id="rId10"/>
    <p:sldId id="265" r:id="rId11"/>
    <p:sldId id="266" r:id="rId12"/>
    <p:sldId id="267" r:id="rId13"/>
    <p:sldId id="268" r:id="rId14"/>
    <p:sldId id="301" r:id="rId15"/>
    <p:sldId id="302" r:id="rId16"/>
    <p:sldId id="303" r:id="rId17"/>
    <p:sldId id="304" r:id="rId18"/>
    <p:sldId id="272" r:id="rId19"/>
    <p:sldId id="305" r:id="rId20"/>
    <p:sldId id="306" r:id="rId21"/>
    <p:sldId id="273" r:id="rId22"/>
    <p:sldId id="274" r:id="rId23"/>
    <p:sldId id="275" r:id="rId24"/>
    <p:sldId id="276" r:id="rId25"/>
    <p:sldId id="277" r:id="rId26"/>
    <p:sldId id="280" r:id="rId27"/>
    <p:sldId id="282" r:id="rId28"/>
    <p:sldId id="308" r:id="rId29"/>
    <p:sldId id="309" r:id="rId30"/>
    <p:sldId id="283" r:id="rId31"/>
    <p:sldId id="284" r:id="rId32"/>
    <p:sldId id="285" r:id="rId33"/>
    <p:sldId id="286" r:id="rId34"/>
    <p:sldId id="287" r:id="rId35"/>
    <p:sldId id="289" r:id="rId36"/>
    <p:sldId id="290" r:id="rId37"/>
    <p:sldId id="314" r:id="rId38"/>
    <p:sldId id="292" r:id="rId39"/>
    <p:sldId id="293" r:id="rId40"/>
    <p:sldId id="294" r:id="rId41"/>
    <p:sldId id="295" r:id="rId42"/>
    <p:sldId id="296" r:id="rId43"/>
    <p:sldId id="297" r:id="rId44"/>
    <p:sldId id="344" r:id="rId45"/>
    <p:sldId id="355" r:id="rId46"/>
    <p:sldId id="300" r:id="rId47"/>
    <p:sldId id="279" r:id="rId48"/>
    <p:sldId id="281" r:id="rId49"/>
    <p:sldId id="345" r:id="rId50"/>
    <p:sldId id="310" r:id="rId51"/>
    <p:sldId id="288" r:id="rId52"/>
    <p:sldId id="263" r:id="rId53"/>
    <p:sldId id="346" r:id="rId54"/>
    <p:sldId id="347" r:id="rId55"/>
    <p:sldId id="348" r:id="rId56"/>
    <p:sldId id="278" r:id="rId57"/>
    <p:sldId id="325" r:id="rId58"/>
    <p:sldId id="326" r:id="rId59"/>
    <p:sldId id="327" r:id="rId60"/>
    <p:sldId id="349" r:id="rId61"/>
    <p:sldId id="350" r:id="rId62"/>
    <p:sldId id="351" r:id="rId63"/>
    <p:sldId id="352" r:id="rId64"/>
    <p:sldId id="353" r:id="rId65"/>
    <p:sldId id="354" r:id="rId66"/>
    <p:sldId id="340" r:id="rId67"/>
    <p:sldId id="356" r:id="rId68"/>
    <p:sldId id="343" r:id="rId69"/>
    <p:sldId id="316" r:id="rId70"/>
    <p:sldId id="317" r:id="rId71"/>
    <p:sldId id="318" r:id="rId72"/>
    <p:sldId id="319" r:id="rId73"/>
    <p:sldId id="320" r:id="rId74"/>
    <p:sldId id="321" r:id="rId75"/>
    <p:sldId id="322" r:id="rId76"/>
    <p:sldId id="323" r:id="rId77"/>
    <p:sldId id="324" r:id="rId7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DF2E48-385E-47EB-916C-FFC25404269F}" v="122" dt="2026-09-20T09:04:02.9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0270" autoAdjust="0"/>
  </p:normalViewPr>
  <p:slideViewPr>
    <p:cSldViewPr snapToGrid="0" snapToObjects="1">
      <p:cViewPr varScale="1">
        <p:scale>
          <a:sx n="121" d="100"/>
          <a:sy n="121" d="100"/>
        </p:scale>
        <p:origin x="177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lineChart>
        <c:grouping val="standard"/>
        <c:varyColors val="1"/>
        <c:ser>
          <c:idx val="0"/>
          <c:order val="0"/>
          <c:tx>
            <c:v>Grenzwert 2p − p²</c:v>
          </c:tx>
          <c:spPr>
            <a:ln w="28575">
              <a:solidFill>
                <a:srgbClr val="C8102E"/>
              </a:solidFill>
            </a:ln>
          </c:spPr>
          <c:marker>
            <c:symbol val="circle"/>
            <c:size val="5"/>
            <c:spPr>
              <a:solidFill>
                <a:srgbClr val="C8102E"/>
              </a:solidFill>
            </c:spPr>
          </c:marker>
          <c:dLbls>
            <c:dLbl>
              <c:idx val="3"/>
              <c:spPr/>
              <c:txPr>
                <a:bodyPr anchorCtr="1"/>
                <a:lstStyle/>
                <a:p>
                  <a:pPr>
                    <a:defRPr sz="1350" b="1">
                      <a:solidFill>
                        <a:srgbClr val="C8102E"/>
                      </a:solidFill>
                      <a:latin typeface="Calibri"/>
                      <a:ea typeface="Calibri"/>
                      <a:cs typeface="Calibri"/>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7E5-4354-B6B0-50B3CA09236E}"/>
                </c:ext>
              </c:extLst>
            </c:dLbl>
            <c:dLbl>
              <c:idx val="4"/>
              <c:spPr/>
              <c:txPr>
                <a:bodyPr anchorCtr="1"/>
                <a:lstStyle/>
                <a:p>
                  <a:pPr>
                    <a:defRPr sz="1350" b="1">
                      <a:solidFill>
                        <a:srgbClr val="C8102E"/>
                      </a:solidFill>
                      <a:latin typeface="Calibri"/>
                      <a:ea typeface="Calibri"/>
                      <a:cs typeface="Calibri"/>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7E5-4354-B6B0-50B3CA09236E}"/>
                </c:ext>
              </c:extLst>
            </c:dLbl>
            <c:dLbl>
              <c:idx val="5"/>
              <c:spPr/>
              <c:txPr>
                <a:bodyPr anchorCtr="1"/>
                <a:lstStyle/>
                <a:p>
                  <a:pPr>
                    <a:defRPr sz="1350" b="1">
                      <a:solidFill>
                        <a:srgbClr val="C8102E"/>
                      </a:solidFill>
                      <a:latin typeface="Calibri"/>
                      <a:ea typeface="Calibri"/>
                      <a:cs typeface="Calibri"/>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7E5-4354-B6B0-50B3CA09236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numRef>
              <c:f>'Chart Data'!$A$2:$A$8</c:f>
              <c:numCache>
                <c:formatCode>General</c:formatCode>
                <c:ptCount val="7"/>
                <c:pt idx="0">
                  <c:v>0</c:v>
                </c:pt>
                <c:pt idx="1">
                  <c:v>10</c:v>
                </c:pt>
                <c:pt idx="2">
                  <c:v>20</c:v>
                </c:pt>
                <c:pt idx="3">
                  <c:v>30</c:v>
                </c:pt>
                <c:pt idx="4">
                  <c:v>40</c:v>
                </c:pt>
                <c:pt idx="5">
                  <c:v>50</c:v>
                </c:pt>
                <c:pt idx="6">
                  <c:v>60</c:v>
                </c:pt>
              </c:numCache>
            </c:numRef>
          </c:cat>
          <c:val>
            <c:numRef>
              <c:f>'Chart Data'!$B$2:$B$8</c:f>
              <c:numCache>
                <c:formatCode>0%</c:formatCode>
                <c:ptCount val="7"/>
                <c:pt idx="0">
                  <c:v>0</c:v>
                </c:pt>
                <c:pt idx="1">
                  <c:v>0.19</c:v>
                </c:pt>
                <c:pt idx="2">
                  <c:v>0.36</c:v>
                </c:pt>
                <c:pt idx="3">
                  <c:v>0.51</c:v>
                </c:pt>
                <c:pt idx="4">
                  <c:v>0.64</c:v>
                </c:pt>
                <c:pt idx="5">
                  <c:v>0.75</c:v>
                </c:pt>
                <c:pt idx="6">
                  <c:v>0.84</c:v>
                </c:pt>
              </c:numCache>
            </c:numRef>
          </c:val>
          <c:smooth val="1"/>
          <c:extLst>
            <c:ext xmlns:c16="http://schemas.microsoft.com/office/drawing/2014/chart" uri="{C3380CC4-5D6E-409C-BE32-E72D297353CC}">
              <c16:uniqueId val="{00000003-C7E5-4354-B6B0-50B3CA09236E}"/>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lang="de-DE"/>
                  <a:t>Pruning-Anteil p [%]</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Calibri"/>
                <a:ea typeface="Calibri"/>
                <a:cs typeface="Calibri"/>
              </a:defRPr>
            </a:pPr>
            <a:endParaRPr lang="de-DE"/>
          </a:p>
        </c:txPr>
        <c:crossAx val="48672768"/>
        <c:crosses val="autoZero"/>
        <c:auto val="1"/>
        <c:lblAlgn val="ctr"/>
        <c:lblOffset val="100"/>
        <c:noMultiLvlLbl val="1"/>
      </c:catAx>
      <c:valAx>
        <c:axId val="48672768"/>
        <c:scaling>
          <c:orientation val="minMax"/>
          <c:max val="0.9"/>
          <c:min val="0"/>
        </c:scaling>
        <c:delete val="0"/>
        <c:axPos val="l"/>
        <c:majorGridlines>
          <c:spPr>
            <a:ln w="4763">
              <a:solidFill>
                <a:srgbClr val="DDDDDD"/>
              </a:solidFill>
            </a:ln>
          </c:spPr>
        </c:majorGridlines>
        <c:title>
          <c:tx>
            <c:rich>
              <a:bodyPr/>
              <a:lstStyle/>
              <a:p>
                <a:r>
                  <a:rPr lang="de-DE"/>
                  <a:t>MAC-Einsparung</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Calibri"/>
                <a:ea typeface="Calibri"/>
                <a:cs typeface="Calibri"/>
              </a:defRPr>
            </a:pPr>
            <a:endParaRPr lang="de-DE"/>
          </a:p>
        </c:txPr>
        <c:crossAx val="48650112"/>
        <c:crosses val="autoZero"/>
        <c:crossBetween val="between"/>
        <c:majorUnit val="0.15"/>
      </c:valAx>
      <c:spPr>
        <a:solidFill>
          <a:srgbClr val="FFFFFF"/>
        </a:solidFill>
      </c:spPr>
    </c:plotArea>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Guten Tag, Herr Professor Strunz, Frau Professor Kowal, Herr Professor </a:t>
            </a:r>
            <a:r>
              <a:rPr lang="de-DE" dirty="0" err="1"/>
              <a:t>Opferkuch</a:t>
            </a:r>
            <a:r>
              <a:rPr lang="de-DE" dirty="0"/>
              <a:t> und Herr Professor Li. Herzlich willkommen auch allen Gästen.</a:t>
            </a:r>
          </a:p>
          <a:p>
            <a:endParaRPr lang="de-DE" dirty="0"/>
          </a:p>
          <a:p>
            <a:pPr lvl="0"/>
            <a:r>
              <a:rPr lang="de-DE" dirty="0"/>
              <a:t>Vielen Dank an die Kommission. Frau Professor Kowal, Ihnen danke ich für die Betreuung meiner Promotion. Herrn Professor </a:t>
            </a:r>
            <a:r>
              <a:rPr lang="de-DE" dirty="0" err="1"/>
              <a:t>Opferkuch</a:t>
            </a:r>
            <a:r>
              <a:rPr lang="de-DE" dirty="0"/>
              <a:t> und Herrn Professor Li danke ich für die Anreise aus Nürnberg und Aachen. Herr Professor </a:t>
            </a:r>
            <a:r>
              <a:rPr lang="de-DE" dirty="0" err="1"/>
              <a:t>Opferkuch</a:t>
            </a:r>
            <a:r>
              <a:rPr lang="de-DE" dirty="0"/>
              <a:t>, nach meiner Bachelorarbeit zu Lithium-Ionen-Akkus an der TH Nürnberg freue ich mich, dass Sie auch heute wieder dabei sind.</a:t>
            </a:r>
          </a:p>
          <a:p>
            <a:endParaRPr lang="de-DE" dirty="0"/>
          </a:p>
          <a:p>
            <a:pPr lvl="0"/>
            <a:r>
              <a:rPr lang="de-DE" dirty="0"/>
              <a:t>Der Titel meiner Dissertation lautet:</a:t>
            </a:r>
          </a:p>
          <a:p>
            <a:endParaRPr lang="de-DE" dirty="0"/>
          </a:p>
          <a:p>
            <a:pPr lvl="0"/>
            <a:r>
              <a:rPr lang="de-DE" dirty="0" err="1"/>
              <a:t>Deployment-Oriented</a:t>
            </a:r>
            <a:r>
              <a:rPr lang="de-DE" dirty="0"/>
              <a:t> </a:t>
            </a:r>
            <a:r>
              <a:rPr lang="de-DE" dirty="0" err="1"/>
              <a:t>Neural</a:t>
            </a:r>
            <a:r>
              <a:rPr lang="de-DE" dirty="0"/>
              <a:t> Network State-</a:t>
            </a:r>
            <a:r>
              <a:rPr lang="de-DE" dirty="0" err="1"/>
              <a:t>Estimation</a:t>
            </a:r>
            <a:r>
              <a:rPr lang="de-DE" dirty="0"/>
              <a:t> Methods for </a:t>
            </a:r>
            <a:r>
              <a:rPr lang="de-DE" dirty="0" err="1"/>
              <a:t>Battery</a:t>
            </a:r>
            <a:r>
              <a:rPr lang="de-DE" dirty="0"/>
              <a:t> Management Systems: </a:t>
            </a:r>
            <a:r>
              <a:rPr lang="de-DE" dirty="0" err="1"/>
              <a:t>Ageing</a:t>
            </a:r>
            <a:r>
              <a:rPr lang="de-DE" dirty="0"/>
              <a:t> </a:t>
            </a:r>
            <a:r>
              <a:rPr lang="de-DE" dirty="0" err="1"/>
              <a:t>Estimation</a:t>
            </a:r>
            <a:r>
              <a:rPr lang="de-DE" dirty="0"/>
              <a:t>, </a:t>
            </a:r>
            <a:r>
              <a:rPr lang="de-DE" dirty="0" err="1"/>
              <a:t>Robustness</a:t>
            </a:r>
            <a:r>
              <a:rPr lang="de-DE" dirty="0"/>
              <a:t> Benchmarking, Embedded </a:t>
            </a:r>
            <a:r>
              <a:rPr lang="de-DE" dirty="0" err="1"/>
              <a:t>Optimization</a:t>
            </a:r>
            <a:r>
              <a:rPr lang="de-DE" dirty="0"/>
              <a:t>, and Hardware Integration.</a:t>
            </a:r>
          </a:p>
          <a:p>
            <a:endParaRPr lang="de-DE" dirty="0"/>
          </a:p>
          <a:p>
            <a:pPr lvl="0"/>
            <a:r>
              <a:rPr lang="de-DE" dirty="0"/>
              <a:t>Es geht um State </a:t>
            </a:r>
            <a:r>
              <a:rPr lang="de-DE" dirty="0" err="1"/>
              <a:t>Estimation</a:t>
            </a:r>
            <a:r>
              <a:rPr lang="de-DE" dirty="0"/>
              <a:t> mit </a:t>
            </a:r>
            <a:r>
              <a:rPr lang="de-DE" dirty="0" err="1"/>
              <a:t>Neural</a:t>
            </a:r>
            <a:r>
              <a:rPr lang="de-DE" dirty="0"/>
              <a:t> Networks direkt im </a:t>
            </a:r>
            <a:r>
              <a:rPr lang="de-DE" dirty="0" err="1"/>
              <a:t>Battery</a:t>
            </a:r>
            <a:r>
              <a:rPr lang="de-DE" dirty="0"/>
              <a:t> Management System: Wie lassen sich SOC und SOH zuverlässig bestimmen, und wie können die Modelle mit begrenztem Speicher und begrenzter Rechenleistung auf einem Microcontroller laufen?</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Die Motivation für meine Arbeit entstand aus meinen bisherigen Arbeiten zu autonomen und dezentralen Energiesystemen. Dazu zählen meine Masterarbeit am DLR zur mobilen Pflanzenanbaueinheit MEPA und vor allem das Projekt MG-Farm an der TU Berlin zu </a:t>
            </a:r>
            <a:r>
              <a:rPr lang="de-DE" dirty="0" err="1"/>
              <a:t>Microgrids</a:t>
            </a:r>
            <a:r>
              <a:rPr lang="de-DE" dirty="0"/>
              <a:t> in Nordafrika.</a:t>
            </a:r>
          </a:p>
          <a:p>
            <a:endParaRPr lang="de-DE" dirty="0"/>
          </a:p>
          <a:p>
            <a:pPr lvl="0"/>
            <a:r>
              <a:rPr lang="de-DE" dirty="0"/>
              <a:t>Für die hier genannten Anwendungen müssen Batteriespeicher zuverlässig arbeiten. </a:t>
            </a:r>
          </a:p>
          <a:p>
            <a:pPr lvl="0"/>
            <a:endParaRPr lang="de-DE" dirty="0"/>
          </a:p>
          <a:p>
            <a:pPr lvl="0"/>
            <a:r>
              <a:rPr lang="de-DE" dirty="0"/>
              <a:t>Auch außerhalb fester Infrastruktur muss die State </a:t>
            </a:r>
            <a:r>
              <a:rPr lang="de-DE" dirty="0" err="1"/>
              <a:t>Estimation</a:t>
            </a:r>
            <a:r>
              <a:rPr lang="de-DE" dirty="0"/>
              <a:t> mit wenig Rechenleistung und Speicher zuverlässig funktionieren. Daraus ergibt sich der Forschungsbedarf: zuverlässige Zustandsbestimmung direkt im BMS bei begrenztem Ressourcenbudget.</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Daraus ergeben sich drei Forschungsfragen.</a:t>
            </a:r>
          </a:p>
          <a:p>
            <a:endParaRPr lang="de-DE" dirty="0"/>
          </a:p>
          <a:p>
            <a:pPr lvl="0"/>
            <a:r>
              <a:rPr lang="de-DE" dirty="0"/>
              <a:t>Erstens: Wie lässt sich das komplexe, zeitabhängige Alterungsverhalten von Lithium-Ionen-Batterien mit einfachen, kompakten Modellen abbilden?</a:t>
            </a:r>
          </a:p>
          <a:p>
            <a:endParaRPr lang="de-DE" dirty="0"/>
          </a:p>
          <a:p>
            <a:pPr lvl="0"/>
            <a:r>
              <a:rPr lang="de-DE" dirty="0"/>
              <a:t>Zweitens: Wie verhalten sich Batteriezustandsmodelle unter realistischen Betriebs- und Messbedingungen, und welche Faktoren bestimmen ihre Robustheit?</a:t>
            </a:r>
          </a:p>
          <a:p>
            <a:endParaRPr lang="de-DE" dirty="0"/>
          </a:p>
          <a:p>
            <a:pPr lvl="0"/>
            <a:r>
              <a:rPr lang="de-DE" dirty="0"/>
              <a:t>Drittens: Wie lassen sich Batteriezustandsmodelle auf Embedded-Hardware übertragen und hinsichtlich Speicherbedarf, Laufzeit und Energiebedarf optimieren?</a:t>
            </a:r>
          </a:p>
          <a:p>
            <a:endParaRPr lang="de-DE" dirty="0"/>
          </a:p>
          <a:p>
            <a:pPr lvl="0"/>
            <a:r>
              <a:rPr lang="de-DE" dirty="0"/>
              <a:t>Rechts steht die Vortragsstruktur.</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Auf dieser Folie sehen wir den Stand der Technik zu den einzelnen Themengebieten. </a:t>
            </a:r>
            <a:r>
              <a:rPr lang="de-DE" dirty="0" err="1"/>
              <a:t>Neural</a:t>
            </a:r>
            <a:r>
              <a:rPr lang="de-DE" dirty="0"/>
              <a:t> Networks für SOH, Robustheitsstudien und MCU-Implementierungen sind bereits bekannt. </a:t>
            </a:r>
          </a:p>
          <a:p>
            <a:endParaRPr lang="de-DE" dirty="0"/>
          </a:p>
          <a:p>
            <a:pPr lvl="0"/>
            <a:r>
              <a:rPr lang="de-DE" dirty="0"/>
              <a:t>Der besondere Beitrag meiner Arbeit liegt darin diese oft getrennten Bereiche zu vereinen. </a:t>
            </a:r>
            <a:r>
              <a:rPr lang="de-DE" dirty="0" err="1"/>
              <a:t>Dh</a:t>
            </a:r>
            <a:r>
              <a:rPr lang="de-DE" dirty="0"/>
              <a:t>. Auch immer einen </a:t>
            </a:r>
            <a:r>
              <a:rPr lang="de-DE" dirty="0" err="1"/>
              <a:t>Hardwerbezug</a:t>
            </a:r>
            <a:r>
              <a:rPr lang="de-DE" dirty="0"/>
              <a:t> herzustellen, eine übergreifende </a:t>
            </a:r>
            <a:r>
              <a:rPr lang="de-DE" dirty="0" err="1"/>
              <a:t>bewertung</a:t>
            </a:r>
            <a:r>
              <a:rPr lang="de-DE" dirty="0"/>
              <a:t> zu finden die </a:t>
            </a:r>
            <a:r>
              <a:rPr lang="de-DE" dirty="0" err="1"/>
              <a:t>Accuracy</a:t>
            </a:r>
            <a:r>
              <a:rPr lang="de-DE" dirty="0"/>
              <a:t> aber auch das Störverhalten abdeckt und insbesondere mit dem </a:t>
            </a:r>
            <a:r>
              <a:rPr lang="de-DE" dirty="0" err="1"/>
              <a:t>Pruning</a:t>
            </a:r>
            <a:r>
              <a:rPr lang="de-DE" dirty="0"/>
              <a:t> und </a:t>
            </a:r>
            <a:r>
              <a:rPr lang="de-DE" dirty="0" err="1"/>
              <a:t>Quantization</a:t>
            </a:r>
            <a:r>
              <a:rPr lang="de-DE" dirty="0"/>
              <a:t> Optimierungsmethoden zu untersuchen für SOC und SOH Modelle die so bisher noch nicht durchgeführt wurden. </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Die erste Untersuchung basiert auf einem NMC Dataset mit vierzehn Zellen in sieben </a:t>
            </a:r>
            <a:r>
              <a:rPr lang="de-DE" dirty="0" err="1"/>
              <a:t>Ageing</a:t>
            </a:r>
            <a:r>
              <a:rPr lang="de-DE" dirty="0"/>
              <a:t>-Szenarien. Die Kurven zeigen, dass sich die </a:t>
            </a:r>
            <a:r>
              <a:rPr lang="de-DE" dirty="0" err="1"/>
              <a:t>Capacity</a:t>
            </a:r>
            <a:r>
              <a:rPr lang="de-DE" dirty="0"/>
              <a:t> je nach Betriebsbedingungen unterschiedlich entwickelt. Einfluss haben unter anderem </a:t>
            </a:r>
            <a:r>
              <a:rPr lang="de-DE" dirty="0" err="1"/>
              <a:t>Temperature</a:t>
            </a:r>
            <a:r>
              <a:rPr lang="de-DE" dirty="0"/>
              <a:t>, SOC, Depth of </a:t>
            </a:r>
            <a:r>
              <a:rPr lang="de-DE" dirty="0" err="1"/>
              <a:t>Discharge</a:t>
            </a:r>
            <a:r>
              <a:rPr lang="de-DE" dirty="0"/>
              <a:t> und </a:t>
            </a:r>
            <a:r>
              <a:rPr lang="de-DE" dirty="0" err="1"/>
              <a:t>Discharge</a:t>
            </a:r>
            <a:r>
              <a:rPr lang="de-DE" dirty="0"/>
              <a:t> Rate.</a:t>
            </a:r>
          </a:p>
          <a:p>
            <a:endParaRPr lang="de-DE" dirty="0"/>
          </a:p>
          <a:p>
            <a:pPr lvl="0"/>
            <a:r>
              <a:rPr lang="de-DE" dirty="0"/>
              <a:t>Die SOH Reference entsteht aus wiederholten </a:t>
            </a:r>
            <a:r>
              <a:rPr lang="de-DE" dirty="0" err="1"/>
              <a:t>Capacity</a:t>
            </a:r>
            <a:r>
              <a:rPr lang="de-DE" dirty="0"/>
              <a:t> </a:t>
            </a:r>
            <a:r>
              <a:rPr lang="de-DE" dirty="0" err="1"/>
              <a:t>Measurements</a:t>
            </a:r>
            <a:r>
              <a:rPr lang="de-DE" dirty="0"/>
              <a:t>. Der SOH beschreibt die verbleibende </a:t>
            </a:r>
            <a:r>
              <a:rPr lang="de-DE" dirty="0" err="1"/>
              <a:t>Capacity</a:t>
            </a:r>
            <a:r>
              <a:rPr lang="de-DE" dirty="0"/>
              <a:t> im Verhältnis zur Nominal </a:t>
            </a:r>
            <a:r>
              <a:rPr lang="de-DE" dirty="0" err="1"/>
              <a:t>Capacity</a:t>
            </a:r>
            <a:r>
              <a:rPr lang="de-DE" dirty="0"/>
              <a:t>. Eine gealterte Zelle kann also vollständig geladen sein und trotzdem weniger Ladung speichern als eine neue.</a:t>
            </a:r>
          </a:p>
          <a:p>
            <a:endParaRPr lang="de-DE" dirty="0"/>
          </a:p>
          <a:p>
            <a:pPr lvl="0"/>
            <a:r>
              <a:rPr lang="de-DE" dirty="0"/>
              <a:t>Dieses Dataset dient der Entwicklung der SOH-Modelle.</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Für das Robustness Benchmarking und die spätere Embedded Optimization dient ein zweites Dataset mit fünfzehn LFP-Zellen. Hier wurden Charge Rate, Discharge Rate und Depth of Discharge systematisch variiert, bei fünfundzwanzig Grad Umgebungstemperatur.</a:t>
            </a:r>
          </a:p>
          <a:p>
            <a:endParaRPr lang="de-DE"/>
          </a:p>
          <a:p>
            <a:pPr lvl="0"/>
            <a:r>
              <a:rPr lang="de-DE"/>
              <a:t>Die Kurven zeigen auch hier deutlich unterschiedliche Ageing-Verläufe.</a:t>
            </a:r>
          </a:p>
          <a:p>
            <a:endParaRPr lang="de-DE"/>
          </a:p>
          <a:p>
            <a:pPr lvl="0"/>
            <a:r>
              <a:rPr lang="de-DE"/>
              <a:t>ENDE DES SPRECHTEXTS</a:t>
            </a:r>
          </a:p>
          <a:p>
            <a:endParaRPr lang="de-DE"/>
          </a:p>
          <a:p>
            <a:pPr lvl="0"/>
            <a:r>
              <a:rPr lang="de-DE"/>
              <a:t>Bisherige Hintergrundnotizen und Quellen (nicht mitsprechen)</a:t>
            </a:r>
          </a:p>
          <a:p>
            <a:endParaRPr lang="de-DE"/>
          </a:p>
          <a:p>
            <a:pPr lvl="0"/>
            <a:r>
              <a:rPr lang="de-DE"/>
              <a:t>Der LFP-DoE-Datensatz umfasst 15 Zellen mit acht Betriebspunkten. Die Umgebungstemperatur bleibt bei 25 °C konstant. Systematisch variiert werden Lade-C-Rate (0,3–1,0 C), Entlade-C-Rate (0,5–3,0 C) und Entladetiefe (38–71 %). Gemessene Zelltemperatur ist weiterhin ein Eingangssignal. Der Datensatz bildet die Grundlage für den Robustheitsbenchmark und den Embedded-Kompressionsvergleich.</a:t>
            </a:r>
          </a:p>
          <a:p>
            <a:endParaRPr lang="de-DE"/>
          </a:p>
          <a:p>
            <a:pPr lvl="0"/>
            <a:r>
              <a:rPr lang="de-DE"/>
              <a:t>Quelle: Florian Rzepka, bereitgestellte Dissertation main(1).pdf, Abschn. 4.1.2, Abb. 4.2–4.4, S. 52–55.</a:t>
            </a:r>
          </a:p>
          <a:p>
            <a:endParaRPr lang="de-DE"/>
          </a:p>
          <a:p>
            <a:pPr lvl="0"/>
            <a:r>
              <a:rPr lang="de-DE"/>
              <a:t>Quellenverweise dieser Präsentation (eigene Nummerierung):</a:t>
            </a:r>
          </a:p>
          <a:p>
            <a:pPr lvl="0"/>
            <a:r>
              <a:rPr lang="de-DE"/>
              <a:t>LFP: eigener öffentlich verfügbarer Datensatz [13]; Aufbereitung und Darstellung nach [11], §4.1.2, S. 52–55, Abb. 4.4.</a:t>
            </a:r>
          </a:p>
          <a:p>
            <a:endParaRPr lang="de-DE"/>
          </a:p>
          <a:p>
            <a:pPr lvl="0"/>
            <a:r>
              <a:rPr lang="de-DE"/>
              <a:t>[11] F. Rzepka (2026). Deployment-Oriented Neural Network State-Estimation Methods for Battery Management Systems: Ageing Estimation, Robustness Benchmarking, Embedded Optimization, and Hardware Integration. Dissertationsmanuskript, TU Berlin. Grundlage: bereitgestellte main.pdf. </a:t>
            </a:r>
          </a:p>
          <a:p>
            <a:pPr lvl="0"/>
            <a:r>
              <a:rPr lang="de-DE"/>
              <a:t>[13] F. Rzepka (2025). Design of Experiments for Cyclic Aging of LFP 18650 Cells: Impact of Charge/Discharge C-Rates, Depth of Discharge, and Temperature on Battery Degradation. Datensatz, TU Berlin / DepositOnce, 13. November 2025. https://doi.org/10.14279/DEPOSITONCE-24800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Die entwickelte BMS </a:t>
            </a:r>
            <a:r>
              <a:rPr lang="de-DE" dirty="0" err="1"/>
              <a:t>Platform</a:t>
            </a:r>
            <a:r>
              <a:rPr lang="de-DE" dirty="0"/>
              <a:t> verbindet Measurement und Monitoring mit eigenen Modellen zur State </a:t>
            </a:r>
            <a:r>
              <a:rPr lang="de-DE" dirty="0" err="1"/>
              <a:t>Estimation</a:t>
            </a:r>
            <a:r>
              <a:rPr lang="de-DE" dirty="0"/>
              <a:t>. Im Foto sind die beiden zentralen Bausteine markiert: Der TLE9012 misst </a:t>
            </a:r>
            <a:r>
              <a:rPr lang="de-DE" dirty="0" err="1"/>
              <a:t>Cell</a:t>
            </a:r>
            <a:r>
              <a:rPr lang="de-DE" dirty="0"/>
              <a:t> </a:t>
            </a:r>
            <a:r>
              <a:rPr lang="de-DE" dirty="0" err="1"/>
              <a:t>Voltages</a:t>
            </a:r>
            <a:r>
              <a:rPr lang="de-DE" dirty="0"/>
              <a:t> und </a:t>
            </a:r>
            <a:r>
              <a:rPr lang="de-DE" dirty="0" err="1"/>
              <a:t>Temperatures</a:t>
            </a:r>
            <a:r>
              <a:rPr lang="de-DE" dirty="0"/>
              <a:t> und ermöglicht Passive </a:t>
            </a:r>
            <a:r>
              <a:rPr lang="de-DE" dirty="0" err="1"/>
              <a:t>Balancing</a:t>
            </a:r>
            <a:r>
              <a:rPr lang="de-DE" dirty="0"/>
              <a:t>.</a:t>
            </a:r>
          </a:p>
          <a:p>
            <a:endParaRPr lang="de-DE" dirty="0"/>
          </a:p>
          <a:p>
            <a:pPr lvl="0"/>
            <a:r>
              <a:rPr lang="de-DE" dirty="0"/>
              <a:t>Der STM32H755 verteilt die Aufgaben auf zwei Cores. Der Cortex-M4 übernimmt Data Acquisition und Communication, der Cortex-M7 ist für die State </a:t>
            </a:r>
            <a:r>
              <a:rPr lang="de-DE" dirty="0" err="1"/>
              <a:t>Estimation</a:t>
            </a:r>
            <a:r>
              <a:rPr lang="de-DE" dirty="0"/>
              <a:t> vorgesehen.</a:t>
            </a:r>
          </a:p>
          <a:p>
            <a:endParaRPr lang="de-DE" dirty="0"/>
          </a:p>
          <a:p>
            <a:pPr lvl="0"/>
            <a:r>
              <a:rPr lang="de-DE" dirty="0"/>
              <a:t>Die späteren Memory- und </a:t>
            </a:r>
            <a:r>
              <a:rPr lang="de-DE" dirty="0" err="1"/>
              <a:t>Runtime</a:t>
            </a:r>
            <a:r>
              <a:rPr lang="de-DE" dirty="0"/>
              <a:t>-Messungen erfolgen auf dem hier unten genannten STM32H753, ebenfalls mit Cortex-M7. Dieses Mikrocontroller-Modell bildet die Plattform für den Hardware Benchmark.</a:t>
            </a:r>
          </a:p>
          <a:p>
            <a:endParaRPr lang="de-DE" dirty="0"/>
          </a:p>
          <a:p>
            <a:pPr lvl="0"/>
            <a:r>
              <a:rPr lang="de-DE" dirty="0"/>
              <a:t>ENDE DES SPRECHTEXTS</a:t>
            </a:r>
          </a:p>
          <a:p>
            <a:endParaRPr lang="de-DE" dirty="0"/>
          </a:p>
          <a:p>
            <a:pPr lvl="0"/>
            <a:r>
              <a:rPr lang="de-DE" dirty="0"/>
              <a:t>Bisherige Hintergrundnotizen und Quellen (nicht mitsprechen)</a:t>
            </a:r>
          </a:p>
          <a:p>
            <a:endParaRPr lang="de-DE" dirty="0"/>
          </a:p>
          <a:p>
            <a:pPr lvl="0"/>
            <a:r>
              <a:rPr lang="de-DE" dirty="0"/>
              <a:t>Zielzeit: 50 Sekunden. Die </a:t>
            </a:r>
            <a:r>
              <a:rPr lang="de-DE" dirty="0" err="1"/>
              <a:t>Platinenabbildung</a:t>
            </a:r>
            <a:r>
              <a:rPr lang="de-DE" dirty="0"/>
              <a:t> zeigt die eigene BMS-Plattform. Markierung 1 bezeichnet den TLE9012DQU für Zellspannungs- und Temperaturmessung sowie passives </a:t>
            </a:r>
            <a:r>
              <a:rPr lang="de-DE" dirty="0" err="1"/>
              <a:t>Balancing</a:t>
            </a:r>
            <a:r>
              <a:rPr lang="de-DE" dirty="0"/>
              <a:t>. Die Strommessung erfolgt über einen zusätzlichen </a:t>
            </a:r>
            <a:r>
              <a:rPr lang="de-DE" dirty="0" err="1"/>
              <a:t>Messpfad</a:t>
            </a:r>
            <a:r>
              <a:rPr lang="de-DE" dirty="0"/>
              <a:t>. Markierung 2 bezeichnet den teilweise vom Display verdeckten STM32H755ZITx. Der Cortex-M4 übernimmt Messwerterfassung, Grenzwertüberwachung, Schutzansteuerung, </a:t>
            </a:r>
            <a:r>
              <a:rPr lang="de-DE" dirty="0" err="1"/>
              <a:t>Balancing</a:t>
            </a:r>
            <a:r>
              <a:rPr lang="de-DE" dirty="0"/>
              <a:t>-Koordination, Kommunikation und Systemmanagement; der Cortex-M7 führt die SOC- und SOH-Modelle aus. Der quantitative Hardwarebenchmark verwendet den STM32H753ZI auf einem Nucleo-144-Board. Beide Controller gehören zur STM32H7-Familie und besitzen einen Cortex-M7; die gezeigte H755-Platine und der H753ZI-Benchmark dürfen nicht gleichgesetzt werden. Der genaue Messumfang von Kernelzeit, Host-Latenz, Flash und Peak-RAM wird in der </a:t>
            </a:r>
            <a:r>
              <a:rPr lang="de-DE" dirty="0" err="1"/>
              <a:t>Benchmarkmethodik</a:t>
            </a:r>
            <a:r>
              <a:rPr lang="de-DE" dirty="0"/>
              <a:t> und im Anhang erläutert.</a:t>
            </a:r>
          </a:p>
          <a:p>
            <a:endParaRPr lang="de-DE" dirty="0"/>
          </a:p>
          <a:p>
            <a:pPr lvl="0"/>
            <a:r>
              <a:rPr lang="de-DE" dirty="0"/>
              <a:t>[Sources]</a:t>
            </a:r>
          </a:p>
          <a:p>
            <a:pPr lvl="0"/>
            <a:r>
              <a:rPr lang="de-DE" dirty="0"/>
              <a:t>Dissertation, Abb. 4.6; Abschn. 4.3.2–4.3.4 (TLE9012DQU, STM32H755 und Aufgabenteilung); Abschn. 6.2 und 7.6 (STM32H753ZI-Benchmark). Originalabbildung: 04_Abb_4-6_BMS_Platine.png.</a:t>
            </a:r>
          </a:p>
          <a:p>
            <a:pPr lvl="0"/>
            <a:r>
              <a:rPr lang="de-DE" dirty="0"/>
              <a:t>Quelle: bereitgestellte Dissertation </a:t>
            </a:r>
            <a:r>
              <a:rPr lang="de-DE" dirty="0" err="1"/>
              <a:t>main</a:t>
            </a:r>
            <a:r>
              <a:rPr lang="de-DE" dirty="0"/>
              <a:t>(1).</a:t>
            </a:r>
            <a:r>
              <a:rPr lang="de-DE" dirty="0" err="1"/>
              <a:t>pdf</a:t>
            </a:r>
            <a:r>
              <a:rPr lang="de-DE" dirty="0"/>
              <a:t>.</a:t>
            </a:r>
          </a:p>
          <a:p>
            <a:pPr lvl="0"/>
            <a:r>
              <a:rPr lang="de-DE" dirty="0"/>
              <a:t>[/Sources]</a:t>
            </a:r>
          </a:p>
          <a:p>
            <a:endParaRPr lang="de-DE" dirty="0"/>
          </a:p>
          <a:p>
            <a:pPr lvl="0"/>
            <a:r>
              <a:rPr lang="de-DE" dirty="0"/>
              <a:t>Quellenverweise dieser Präsentation (eigene Nummerierung):</a:t>
            </a:r>
          </a:p>
          <a:p>
            <a:pPr lvl="0"/>
            <a:r>
              <a:rPr lang="de-DE" dirty="0"/>
              <a:t>Eigene BMS-Platine: [11], §4.3, S. 59–63, Abb. 4.6/4.7. TLE9012DQU, STM32H755 und Aufgabenteilung gemäß eigener Plattformbeschreibung. [14] betrifft ausschließlich das getrennte STM32H753ZI-Benchmarkboard, nicht den Infineon-Chip.</a:t>
            </a:r>
          </a:p>
          <a:p>
            <a:endParaRPr lang="de-DE" dirty="0"/>
          </a:p>
          <a:p>
            <a:pPr lvl="0"/>
            <a:r>
              <a:rPr lang="de-DE" dirty="0"/>
              <a:t>[11] F. Rzepka (2026). </a:t>
            </a:r>
            <a:r>
              <a:rPr lang="de-DE" dirty="0" err="1"/>
              <a:t>Deployment-Oriented</a:t>
            </a:r>
            <a:r>
              <a:rPr lang="de-DE" dirty="0"/>
              <a:t> </a:t>
            </a:r>
            <a:r>
              <a:rPr lang="de-DE" dirty="0" err="1"/>
              <a:t>Neural</a:t>
            </a:r>
            <a:r>
              <a:rPr lang="de-DE" dirty="0"/>
              <a:t> Network State-</a:t>
            </a:r>
            <a:r>
              <a:rPr lang="de-DE" dirty="0" err="1"/>
              <a:t>Estimation</a:t>
            </a:r>
            <a:r>
              <a:rPr lang="de-DE" dirty="0"/>
              <a:t> Methods for </a:t>
            </a:r>
            <a:r>
              <a:rPr lang="de-DE" dirty="0" err="1"/>
              <a:t>Battery</a:t>
            </a:r>
            <a:r>
              <a:rPr lang="de-DE" dirty="0"/>
              <a:t> Management Systems: </a:t>
            </a:r>
            <a:r>
              <a:rPr lang="de-DE" dirty="0" err="1"/>
              <a:t>Ageing</a:t>
            </a:r>
            <a:r>
              <a:rPr lang="de-DE" dirty="0"/>
              <a:t> </a:t>
            </a:r>
            <a:r>
              <a:rPr lang="de-DE" dirty="0" err="1"/>
              <a:t>Estimation</a:t>
            </a:r>
            <a:r>
              <a:rPr lang="de-DE" dirty="0"/>
              <a:t>, </a:t>
            </a:r>
            <a:r>
              <a:rPr lang="de-DE" dirty="0" err="1"/>
              <a:t>Robustness</a:t>
            </a:r>
            <a:r>
              <a:rPr lang="de-DE" dirty="0"/>
              <a:t> Benchmarking, Embedded </a:t>
            </a:r>
            <a:r>
              <a:rPr lang="de-DE" dirty="0" err="1"/>
              <a:t>Optimization</a:t>
            </a:r>
            <a:r>
              <a:rPr lang="de-DE" dirty="0"/>
              <a:t>, and Hardware Integration. Dissertationsmanuskript, TU Berlin. Grundlage: bereitgestellte main.pdf. </a:t>
            </a:r>
          </a:p>
          <a:p>
            <a:pPr lvl="0"/>
            <a:r>
              <a:rPr lang="de-DE" dirty="0"/>
              <a:t>[14] STMicroelectronics. STM32 Nucleo-144 Boards. NUCLEO-H753ZI, Data Brief. Hardwarequelle aus der Dissertation. https://www.st.com/resource/en/data_brief/nucleo-h753zi.pdf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Im ersten Teil zu kompakten zeitbasierten Modellen steht das Feature Engineering für die SOH </a:t>
            </a:r>
            <a:r>
              <a:rPr lang="de-DE" dirty="0" err="1"/>
              <a:t>Estimation</a:t>
            </a:r>
            <a:r>
              <a:rPr lang="de-DE" dirty="0"/>
              <a:t> mit einem Multi-Layer </a:t>
            </a:r>
            <a:r>
              <a:rPr lang="de-DE" dirty="0" err="1"/>
              <a:t>Perceptron</a:t>
            </a:r>
            <a:r>
              <a:rPr lang="de-DE" dirty="0"/>
              <a:t>, kurz MLP, im Mittelpunkt. Die Motivation war hier ein Modell zu entwickeln das sehr einfach im Aufbau ist und trotzdem </a:t>
            </a:r>
            <a:r>
              <a:rPr lang="de-DE" dirty="0" err="1"/>
              <a:t>Zeitabhänigkeiten</a:t>
            </a:r>
            <a:r>
              <a:rPr lang="de-DE" dirty="0"/>
              <a:t> darstellen kann.</a:t>
            </a:r>
          </a:p>
          <a:p>
            <a:endParaRPr lang="de-DE" dirty="0"/>
          </a:p>
          <a:p>
            <a:pPr lvl="0"/>
            <a:r>
              <a:rPr lang="de-DE" dirty="0"/>
              <a:t>Ein </a:t>
            </a:r>
            <a:r>
              <a:rPr lang="de-DE" dirty="0" err="1"/>
              <a:t>Feedforward</a:t>
            </a:r>
            <a:r>
              <a:rPr lang="de-DE" dirty="0"/>
              <a:t> Network besitzt keinen internen </a:t>
            </a:r>
            <a:r>
              <a:rPr lang="de-DE" dirty="0" err="1"/>
              <a:t>Recurrent</a:t>
            </a:r>
            <a:r>
              <a:rPr lang="de-DE" dirty="0"/>
              <a:t> State. Die zeitliche </a:t>
            </a:r>
            <a:r>
              <a:rPr lang="de-DE" dirty="0" err="1"/>
              <a:t>History</a:t>
            </a:r>
            <a:r>
              <a:rPr lang="de-DE" dirty="0"/>
              <a:t> wird deshalb über die Inputs bereitgestellt. </a:t>
            </a:r>
          </a:p>
          <a:p>
            <a:pPr lvl="0"/>
            <a:endParaRPr lang="de-DE" dirty="0"/>
          </a:p>
          <a:p>
            <a:pPr lvl="0"/>
            <a:r>
              <a:rPr lang="de-DE" dirty="0"/>
              <a:t>Untersucht werden der Einfluss der Input Features, der Zeitauflösung und der Länge dieser </a:t>
            </a:r>
            <a:r>
              <a:rPr lang="de-DE" dirty="0" err="1"/>
              <a:t>History</a:t>
            </a:r>
            <a:r>
              <a:rPr lang="de-DE" dirty="0"/>
              <a:t> auf die Schätzgenauigkeit.</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Die </a:t>
            </a:r>
            <a:r>
              <a:rPr lang="de-DE" dirty="0" err="1"/>
              <a:t>History</a:t>
            </a:r>
            <a:r>
              <a:rPr lang="de-DE" dirty="0"/>
              <a:t> wird über Lag </a:t>
            </a:r>
            <a:r>
              <a:rPr lang="de-DE" dirty="0" err="1"/>
              <a:t>Sequences</a:t>
            </a:r>
            <a:r>
              <a:rPr lang="de-DE" dirty="0"/>
              <a:t> bereitgestellt. Dafür werden die Messwerte zunächst in Zeitintervallen zusammengefasst. Die Features sind </a:t>
            </a:r>
            <a:r>
              <a:rPr lang="de-DE" dirty="0" err="1"/>
              <a:t>Voltage</a:t>
            </a:r>
            <a:r>
              <a:rPr lang="de-DE" dirty="0"/>
              <a:t>, </a:t>
            </a:r>
            <a:r>
              <a:rPr lang="de-DE" dirty="0" err="1"/>
              <a:t>Temperature</a:t>
            </a:r>
            <a:r>
              <a:rPr lang="de-DE" dirty="0"/>
              <a:t> und kumulierter Strom, getrennt nach Charge und </a:t>
            </a:r>
            <a:r>
              <a:rPr lang="de-DE" dirty="0" err="1"/>
              <a:t>Discharge</a:t>
            </a:r>
            <a:r>
              <a:rPr lang="de-DE" dirty="0"/>
              <a:t>.</a:t>
            </a:r>
          </a:p>
          <a:p>
            <a:endParaRPr lang="de-DE" dirty="0"/>
          </a:p>
          <a:p>
            <a:pPr lvl="0"/>
            <a:r>
              <a:rPr lang="de-DE" dirty="0"/>
              <a:t>Die farbigen Markierungen zeigen zusammengehörige Zeitschritte. Diese werden unten zu einem gemeinsamen Input Vector zusammengefügt. Das MLP erhält damit aktuelle und vergangene Informationen; der Target Value ist der SOH am Ende des Windows.</a:t>
            </a:r>
          </a:p>
          <a:p>
            <a:endParaRPr lang="de-DE" dirty="0"/>
          </a:p>
          <a:p>
            <a:pPr lvl="0"/>
            <a:r>
              <a:rPr lang="de-DE" dirty="0" err="1"/>
              <a:t>Sequence</a:t>
            </a:r>
            <a:r>
              <a:rPr lang="de-DE" dirty="0"/>
              <a:t> </a:t>
            </a:r>
            <a:r>
              <a:rPr lang="de-DE" dirty="0" err="1"/>
              <a:t>Length</a:t>
            </a:r>
            <a:r>
              <a:rPr lang="de-DE" dirty="0"/>
              <a:t> und Time Resolution bestimmen die zeitliche Abdeckung: Sechzehn </a:t>
            </a:r>
            <a:r>
              <a:rPr lang="de-DE" dirty="0" err="1"/>
              <a:t>Steps</a:t>
            </a:r>
            <a:r>
              <a:rPr lang="de-DE" dirty="0"/>
              <a:t> mit zehn Minuten ergeben eine </a:t>
            </a:r>
            <a:r>
              <a:rPr lang="de-DE" dirty="0" err="1"/>
              <a:t>History</a:t>
            </a:r>
            <a:r>
              <a:rPr lang="de-DE" dirty="0"/>
              <a:t> von hundertsechzig Minuten.</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Das Ablaufdiagramm trennt Modellentwicklung und abschließenden Test. Zehn NMC-Zellen dienen Training und Validation. Vier weitere Zellen bleiben für den Test reserviert. Zwanzig Prozent der </a:t>
            </a:r>
            <a:r>
              <a:rPr lang="de-DE" dirty="0" err="1"/>
              <a:t>Sequences</a:t>
            </a:r>
            <a:r>
              <a:rPr lang="de-DE" dirty="0"/>
              <a:t> aus den zehn Entwicklungszellen werden für Validation und Hyperparameter Tuning verwendet.</a:t>
            </a:r>
          </a:p>
          <a:p>
            <a:endParaRPr lang="de-DE" dirty="0"/>
          </a:p>
          <a:p>
            <a:pPr lvl="0"/>
            <a:r>
              <a:rPr lang="de-DE" dirty="0"/>
              <a:t>Das Input </a:t>
            </a:r>
            <a:r>
              <a:rPr lang="de-DE" dirty="0" err="1"/>
              <a:t>Scaling</a:t>
            </a:r>
            <a:r>
              <a:rPr lang="de-DE" dirty="0"/>
              <a:t> bringt die Features auf den Bereich zwischen null und eins. Im Training werden die </a:t>
            </a:r>
            <a:r>
              <a:rPr lang="de-DE" dirty="0" err="1"/>
              <a:t>Weights</a:t>
            </a:r>
            <a:r>
              <a:rPr lang="de-DE" dirty="0"/>
              <a:t> so angepasst, dass die MSE Loss sinkt. Hyperband sucht unter anderem nach geeigneter Depth, Width und zeitlicher Input-Konfiguration.</a:t>
            </a:r>
          </a:p>
          <a:p>
            <a:endParaRPr lang="de-DE" dirty="0"/>
          </a:p>
          <a:p>
            <a:pPr lvl="0"/>
            <a:r>
              <a:rPr lang="de-DE" dirty="0"/>
              <a:t>Die Formeln unten unterscheiden die Fehlermaße: MSE quadriert die Abweichungen, MAE mittelt ihre Beträge. Die Evaluation auf den separaten Test Cells prüft die </a:t>
            </a:r>
            <a:r>
              <a:rPr lang="de-DE" dirty="0" err="1"/>
              <a:t>Generalization</a:t>
            </a:r>
            <a:r>
              <a:rPr lang="de-DE" dirty="0"/>
              <a:t> auf unbekannte Zellen.</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Die Fehler-Matrix zeigt den Einfluss von Time Resolution und </a:t>
            </a:r>
            <a:r>
              <a:rPr lang="de-DE" dirty="0" err="1"/>
              <a:t>Sequence</a:t>
            </a:r>
            <a:r>
              <a:rPr lang="de-DE" dirty="0"/>
              <a:t> </a:t>
            </a:r>
            <a:r>
              <a:rPr lang="de-DE" dirty="0" err="1"/>
              <a:t>Length</a:t>
            </a:r>
            <a:r>
              <a:rPr lang="de-DE" dirty="0"/>
              <a:t>. Jede Kachel steht für eine Kombination; ihre Farbe beschreibt den zugehörigen Fehler.</a:t>
            </a:r>
          </a:p>
          <a:p>
            <a:endParaRPr lang="de-DE" dirty="0"/>
          </a:p>
          <a:p>
            <a:pPr lvl="0"/>
            <a:r>
              <a:rPr lang="de-DE" dirty="0"/>
              <a:t>Eine grobe Time Resolution glättet die Messwerte und verdeckt dadurch relevante Charge- und </a:t>
            </a:r>
            <a:r>
              <a:rPr lang="de-DE" dirty="0" err="1"/>
              <a:t>Discharge</a:t>
            </a:r>
            <a:r>
              <a:rPr lang="de-DE" dirty="0"/>
              <a:t>-Dynamik. Bei feiner Time Resolution deckt dieselbe Zahl von </a:t>
            </a:r>
            <a:r>
              <a:rPr lang="de-DE" dirty="0" err="1"/>
              <a:t>Steps</a:t>
            </a:r>
            <a:r>
              <a:rPr lang="de-DE" dirty="0"/>
              <a:t> weniger Zeit ab. Für eine längere </a:t>
            </a:r>
            <a:r>
              <a:rPr lang="de-DE" dirty="0" err="1"/>
              <a:t>History</a:t>
            </a:r>
            <a:r>
              <a:rPr lang="de-DE" dirty="0"/>
              <a:t> muss dann der Input Vector wachsen.</a:t>
            </a:r>
          </a:p>
          <a:p>
            <a:endParaRPr lang="de-DE" dirty="0"/>
          </a:p>
          <a:p>
            <a:pPr lvl="0"/>
            <a:r>
              <a:rPr lang="de-DE" dirty="0"/>
              <a:t>Sechzehn </a:t>
            </a:r>
            <a:r>
              <a:rPr lang="de-DE" dirty="0" err="1"/>
              <a:t>Steps</a:t>
            </a:r>
            <a:r>
              <a:rPr lang="de-DE" dirty="0"/>
              <a:t> mit zehn Minuten bieten hier einen geeigneten Trade-off zwischen zeitlicher Abdeckung und Detailgrad. Längere </a:t>
            </a:r>
            <a:r>
              <a:rPr lang="de-DE" dirty="0" err="1"/>
              <a:t>Sequences</a:t>
            </a:r>
            <a:r>
              <a:rPr lang="de-DE" dirty="0"/>
              <a:t> oder feinere Daten verbessern die </a:t>
            </a:r>
            <a:r>
              <a:rPr lang="de-DE" dirty="0" err="1"/>
              <a:t>Accuracy</a:t>
            </a:r>
            <a:r>
              <a:rPr lang="de-DE" dirty="0"/>
              <a:t> nicht automatisch.</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Die drei Diagramme vergleichen SOH Prediction und Capacity Reference. Bei Cells eins und sieben, links und in der Mitte, stimmen die Verläufe recht gut überein. Der MAE liegt ungefähr zwischen einem Viertel und einem halben Prozentpunkt.</a:t>
            </a:r>
          </a:p>
          <a:p>
            <a:endParaRPr lang="de-DE"/>
          </a:p>
          <a:p>
            <a:pPr lvl="0"/>
            <a:r>
              <a:rPr lang="de-DE"/>
              <a:t>Cell neun rechts zeigt die Grenze deutlicher: systematische und lokale Abweichungen mit einem MAE von rund zweieinhalb Prozentpunkten.</a:t>
            </a:r>
          </a:p>
          <a:p>
            <a:endParaRPr lang="de-DE"/>
          </a:p>
          <a:p>
            <a:pPr lvl="0"/>
            <a:r>
              <a:rPr lang="de-DE"/>
              <a:t>Eine Feedforward Architecture kann mit geeigneter History also zeitabhängiges Ageing abbilden. Die Generalization auf andere Ageing-Verläufe ist jedoch nicht selbstverständlich. Damit stellt sich die nächste Frage: Wie zuverlässig arbeiten verschiedene Estimator bei gezielt gestörten Inputs oder einer falschen Initialization?</a:t>
            </a:r>
          </a:p>
          <a:p>
            <a:endParaRPr lang="de-DE"/>
          </a:p>
          <a:p>
            <a:pPr lvl="0"/>
            <a:r>
              <a:rPr lang="de-DE"/>
              <a:t>ENDE DES SPRECHTEXTS</a:t>
            </a:r>
          </a:p>
          <a:p>
            <a:endParaRPr lang="de-DE"/>
          </a:p>
          <a:p>
            <a:pPr lvl="0"/>
            <a:r>
              <a:rPr lang="de-DE"/>
              <a:t>Bisherige Hintergrundnotizen und Quellen (nicht mitsprechen)</a:t>
            </a:r>
          </a:p>
          <a:p>
            <a:endParaRPr lang="de-DE"/>
          </a:p>
          <a:p>
            <a:pPr lvl="0"/>
            <a:r>
              <a:rPr lang="de-DE"/>
              <a:t>Die beiden günstigeren Zellen erreichen MAE von 0,487 und 0,253 Prozentpunkten. Cell 9 erreicht 2,528 Prozentpunkte und MSE = 8,327 pp². Entscheidend sind die Abweichungen zwischen Vorhersage und kapazitätsbasierter Referenz. Aus einer ungewöhnlichen Kurvenform allein folgt kein hoher Fehler. Die dargestellten Trajektorien sind zusätzlich geglättet. Über die ausgewerteten Fälle berichtet die Dissertation einen mittleren MAE von 1,10 pp und MSE von 2,95 pp². Die beobachtete Übertragbarkeit bleibt an die repräsentierten Betriebs- und Alterungsmuster gebunden.</a:t>
            </a:r>
          </a:p>
          <a:p>
            <a:endParaRPr lang="de-DE"/>
          </a:p>
          <a:p>
            <a:pPr lvl="0"/>
            <a:r>
              <a:rPr lang="de-DE"/>
              <a:t>Quelle: Florian Rzepka, bereitgestellte Dissertation main(1).pdf, Abschn. 5.5–5.6, Abb. 5.6–5.7, S. 78–81.</a:t>
            </a:r>
          </a:p>
          <a:p>
            <a:endParaRPr lang="de-DE"/>
          </a:p>
          <a:p>
            <a:pPr lvl="0"/>
            <a:r>
              <a:rPr lang="de-DE"/>
              <a:t>Quellenverweise dieser Präsentation (eigene Nummerierung):</a:t>
            </a:r>
          </a:p>
          <a:p>
            <a:pPr lvl="0"/>
            <a:r>
              <a:rPr lang="de-DE"/>
              <a:t>Eigene SOH-Ergebnisse und Korrelationsanalyse: [11], Kap. 5, sowie [12].</a:t>
            </a:r>
          </a:p>
          <a:p>
            <a:endParaRPr lang="de-DE"/>
          </a:p>
          <a:p>
            <a:pPr lvl="0"/>
            <a:r>
              <a:rPr lang="de-DE"/>
              <a:t>[11] F. Rzepka (2026). Deployment-Oriented Neural Network State-Estimation Methods for Battery Management Systems: Ageing Estimation, Robustness Benchmarking, Embedded Optimization, and Hardware Integration. Dissertationsmanuskript, TU Berlin. Grundlage: bereitgestellte main.pdf. </a:t>
            </a:r>
          </a:p>
          <a:p>
            <a:pPr lvl="0"/>
            <a:r>
              <a:rPr lang="de-DE"/>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Im zweiten Teil der Arbeit geht es darum, wie zuverlässig die Modelle im realen Betrieb arbeiten. Da hier auch Messfehler und Datenausfälle auftreten können, reicht die nominale </a:t>
            </a:r>
            <a:r>
              <a:rPr lang="de-DE" dirty="0" err="1"/>
              <a:t>Accuracy</a:t>
            </a:r>
            <a:r>
              <a:rPr lang="de-DE" dirty="0"/>
              <a:t> allein für eine Bewertung nicht aus. </a:t>
            </a:r>
          </a:p>
          <a:p>
            <a:endParaRPr lang="de-DE" dirty="0"/>
          </a:p>
          <a:p>
            <a:pPr lvl="0"/>
            <a:r>
              <a:rPr lang="de-DE" dirty="0"/>
              <a:t>Verglichen werden vier SOC </a:t>
            </a:r>
            <a:r>
              <a:rPr lang="de-DE" dirty="0" err="1"/>
              <a:t>Estimator</a:t>
            </a:r>
            <a:r>
              <a:rPr lang="de-DE" dirty="0"/>
              <a:t> Classes: </a:t>
            </a:r>
            <a:r>
              <a:rPr lang="de-DE" dirty="0" err="1"/>
              <a:t>Direct</a:t>
            </a:r>
            <a:r>
              <a:rPr lang="de-DE" dirty="0"/>
              <a:t> Measurement, Hybrid </a:t>
            </a:r>
            <a:r>
              <a:rPr lang="de-DE" dirty="0" err="1"/>
              <a:t>Direct</a:t>
            </a:r>
            <a:r>
              <a:rPr lang="de-DE" dirty="0"/>
              <a:t> Measurement, ein Hybrid </a:t>
            </a:r>
            <a:r>
              <a:rPr lang="de-DE" dirty="0" err="1"/>
              <a:t>Equivalent</a:t>
            </a:r>
            <a:r>
              <a:rPr lang="de-DE" dirty="0"/>
              <a:t>-Circuit Model und ein Data-Driven Model. Neben der globalen </a:t>
            </a:r>
            <a:r>
              <a:rPr lang="de-DE" dirty="0" err="1"/>
              <a:t>Accuracy</a:t>
            </a:r>
            <a:r>
              <a:rPr lang="de-DE" dirty="0"/>
              <a:t> werden lokale Fehler, die Recovery Time und der Hardwarebedarf auf dem STM32 untersucht.</a:t>
            </a:r>
          </a:p>
          <a:p>
            <a:pPr lvl="0"/>
            <a:endParaRPr lang="de-DE" dirty="0"/>
          </a:p>
          <a:p>
            <a:pPr lvl="0"/>
            <a:r>
              <a:rPr lang="de-DE" dirty="0"/>
              <a:t>Ziel ist es </a:t>
            </a:r>
            <a:r>
              <a:rPr lang="de-DE" dirty="0" err="1"/>
              <a:t>Benchmarkkriterien</a:t>
            </a:r>
            <a:r>
              <a:rPr lang="de-DE" dirty="0"/>
              <a:t> zu entwickeln, die zusätzlich </a:t>
            </a:r>
            <a:r>
              <a:rPr lang="de-DE" dirty="0" err="1"/>
              <a:t>Robustness</a:t>
            </a:r>
            <a:r>
              <a:rPr lang="de-DE" dirty="0"/>
              <a:t> und Recovery berücksichtigen. Damit wird untersucht, wie stark Störungen die Schätzung beeinflussen und wie schnell sich die Modelle anschließend wieder erholen.</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Direct Measurement basiert auf Coulomb Counting. Das Blockdiagramm zeigt den Weg vom Current über die Integration zur SOC-Berechnung. Der kumulierte Strom beschreibt die umgesetzte Ladung; dividiert durch die feste Nominal Capacity ergibt sich die SOC-Änderung.</a:t>
            </a:r>
          </a:p>
          <a:p>
            <a:endParaRPr lang="de-DE"/>
          </a:p>
          <a:p>
            <a:pPr lvl="0"/>
            <a:r>
              <a:rPr lang="de-DE"/>
              <a:t>Ein Reset Point entsteht bei einer ausreichend langen Phase nahe der Ladeschlussspannung. Dieser Full-Charge-Zustand setzt den kumulierten Strom zurück und den SOC auf voll.</a:t>
            </a:r>
          </a:p>
          <a:p>
            <a:endParaRPr lang="de-DE"/>
          </a:p>
          <a:p>
            <a:pPr lvl="0"/>
            <a:r>
              <a:rPr lang="de-DE"/>
              <a:t>Zwischen diesen Punkten gibt es keine kontinuierliche Voltage Correction. Current Errors, eine unpassende Capacity und eine nicht berücksichtigte Coulombic Efficiency können deshalb zu SOC Drift beitragen.</a:t>
            </a:r>
          </a:p>
          <a:p>
            <a:endParaRPr lang="de-DE"/>
          </a:p>
          <a:p>
            <a:pPr lvl="0"/>
            <a:r>
              <a:rPr lang="de-DE"/>
              <a:t>ENDE DES SPRECHTEXTS</a:t>
            </a:r>
          </a:p>
          <a:p>
            <a:endParaRPr lang="de-DE"/>
          </a:p>
          <a:p>
            <a:pPr lvl="0"/>
            <a:r>
              <a:rPr lang="de-DE"/>
              <a:t>Bisherige Hintergrundnotizen und Quellen (nicht mitsprechen)</a:t>
            </a:r>
          </a:p>
          <a:p>
            <a:endParaRPr lang="de-DE"/>
          </a:p>
          <a:p>
            <a:pPr lvl="0"/>
            <a:r>
              <a:rPr lang="de-DE"/>
              <a:t>DM verwendet ausschließlich feste Kapazität und kausales Coulomb Counting. Aus I und Δt wird Qc berechnet. Die SOC-Abbildung lautet clip(1 + Qc / Cnom, 0, 1). Nach einem ausreichend langen CV-Volladeereignis wird Qc auf null gesetzt und der SOC bei Vollladung verankert. DM benötigt kein LSTM. Die einfache, transparente Integration dient als Referenz mit geringem Ressourcenbedarf. Zwischen Vollade-Ankern besitzt dieser Vertreter keine Spannungsresiduen-Korrektur.</a:t>
            </a:r>
          </a:p>
          <a:p>
            <a:pPr lvl="0"/>
            <a:r>
              <a:rPr lang="de-DE"/>
              <a:t>Quelle: Dissertation main(1).pdf, Tabelle 6.1 und Abschnitt 6.2.2, Gleichungen 6.1–6.2, S. 85–87.</a:t>
            </a:r>
          </a:p>
          <a:p>
            <a:endParaRPr lang="de-DE"/>
          </a:p>
          <a:p>
            <a:pPr lvl="0"/>
            <a:r>
              <a:rPr lang="de-DE"/>
              <a:t>Quellenverweise dieser Präsentation (eigene Nummerierung):</a:t>
            </a:r>
          </a:p>
          <a:p>
            <a:pPr lvl="0"/>
            <a:r>
              <a:rPr lang="de-DE"/>
              <a:t>DM mit Coulomb Counting: eigene Umsetzung [11], §6.2.2, Gl.6.1–6.2, S.86–87. Grundlagen der Batteriemodellierung und Ladungsbilanz: [17].</a:t>
            </a:r>
          </a:p>
          <a:p>
            <a:endParaRPr lang="de-DE"/>
          </a:p>
          <a:p>
            <a:pPr lvl="0"/>
            <a:r>
              <a:rPr lang="de-DE"/>
              <a:t>[11] F. Rzepka (2026). Deployment-Oriented Neural Network State-Estimation Methods for Battery Management Systems: Ageing Estimation, Robustness Benchmarking, Embedded Optimization, and Hardware Integration. Dissertationsmanuskript, TU Berlin. Grundlage: bereitgestellte main.pdf. </a:t>
            </a:r>
          </a:p>
          <a:p>
            <a:pPr lvl="0"/>
            <a:r>
              <a:rPr lang="de-DE"/>
              <a:t>[17] G. L. Plett (2015). Battery Management Systems. Volume 1: Battery Modeling. Artech House. Grundlagen zu Batteriemodellen und Zustandsbestimmung.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Hybrid Direct Measurement ergänzt diesen Ablauf um die Anpassung der Capacity. Im oberen Zweig liefert ein LSTM aus Stunden-Features eine SOH Estimation. Damit wird unten die Effective Capacity für das Coulomb Counting bestimmt.</a:t>
            </a:r>
          </a:p>
          <a:p>
            <a:endParaRPr lang="de-DE"/>
          </a:p>
          <a:p>
            <a:pPr lvl="0"/>
            <a:r>
              <a:rPr lang="de-DE"/>
              <a:t>Das LSTM verarbeitet eine History. Sein Cell State speichert Informationen, während Gates steuern, welche Anteile erhalten, ergänzt und ausgegeben werden.</a:t>
            </a:r>
          </a:p>
          <a:p>
            <a:endParaRPr lang="de-DE"/>
          </a:p>
          <a:p>
            <a:pPr lvl="0"/>
            <a:r>
              <a:rPr lang="de-DE"/>
              <a:t>So berücksichtigt HDM den Capacity Loss durch Ageing, ohne den grundlegenden Integrationspfad zu ändern. Die Accuracy hängt dadurch zusätzlich von der SOH Estimation ab. Current Errors sammeln sich weiterhin auf, und zwischen den Reset Points fehlt eine kontinuierliche Korrektur über die Spannung.</a:t>
            </a:r>
          </a:p>
          <a:p>
            <a:endParaRPr lang="de-DE"/>
          </a:p>
          <a:p>
            <a:pPr lvl="0"/>
            <a:r>
              <a:rPr lang="de-DE"/>
              <a:t>ENDE DES SPRECHTEXTS</a:t>
            </a:r>
          </a:p>
          <a:p>
            <a:endParaRPr lang="de-DE"/>
          </a:p>
          <a:p>
            <a:pPr lvl="0"/>
            <a:r>
              <a:rPr lang="de-DE"/>
              <a:t>Bisherige Hintergrundnotizen und Quellen (nicht mitsprechen)</a:t>
            </a:r>
          </a:p>
          <a:p>
            <a:endParaRPr lang="de-DE"/>
          </a:p>
          <a:p>
            <a:pPr lvl="0"/>
            <a:r>
              <a:rPr lang="de-DE"/>
              <a:t>HDM übernimmt Stromintegration und Vollade-Anker unverändert vom DM. Ausschließlich die Kapazität wird angepasst: Ceff = Cnom × geschätzter SOH. So lässt sich der Beitrag einer gelernten Kapazitätsanpassung isolieren, ohne bereits eine Spannungsrückführung einzuführen. Die gemeinsame SOH-Schätzung entsteht stündlich in einem LSTM. Sein Cell State transportiert zeitlichen Kontext. Forget-, Input- und Output-Gate steuern das Beibehalten, Ergänzen und Ausgeben von Information. Dieses LSTM liefert auch den SOH-Kontext für HECM und DD. Im Hardwarebenchmark wird die gemeinsame SOH-Spur extern bereitgestellt, das SOH-LSTM gehört nicht zum isoliert gemessenen SOC-Kern.</a:t>
            </a:r>
          </a:p>
          <a:p>
            <a:pPr lvl="0"/>
            <a:r>
              <a:rPr lang="de-DE"/>
              <a:t>Quelle: Dissertation main(1).pdf, Abschnitt 3.4.3, S. 17–19, Abschnitte 6.2.2–6.2.4, Gleichungen 6.3–6.4, S. 87–90.</a:t>
            </a:r>
          </a:p>
          <a:p>
            <a:endParaRPr lang="de-DE"/>
          </a:p>
          <a:p>
            <a:pPr lvl="0"/>
            <a:r>
              <a:rPr lang="de-DE"/>
              <a:t>Quellenverweise dieser Präsentation (eigene Nummerierung):</a:t>
            </a:r>
          </a:p>
          <a:p>
            <a:pPr lvl="0"/>
            <a:r>
              <a:rPr lang="de-DE"/>
              <a:t>HDM/SOH-LSTM: eigene Umsetzung [11], Gl.6.3–6.4 und §6.2.3, S.87–90. Gate-/Zustandsprinzipien rekurrenter Netze: [18].</a:t>
            </a:r>
          </a:p>
          <a:p>
            <a:endParaRPr lang="de-DE"/>
          </a:p>
          <a:p>
            <a:pPr lvl="0"/>
            <a:r>
              <a:rPr lang="de-DE"/>
              <a:t>[11] F. Rzepka (2026). Deployment-Oriented Neural Network State-Estimation Methods for Battery Management Systems: Ageing Estimation, Robustness Benchmarking, Embedded Optimization, and Hardware Integration. Dissertationsmanuskript, TU Berlin. Grundlage: bereitgestellte main.pdf. </a:t>
            </a:r>
          </a:p>
          <a:p>
            <a:pPr lvl="0"/>
            <a:r>
              <a:rPr lang="de-DE"/>
              <a:t>[18] Z. C. Lipton, J. Berkowitz und C. Elkan (2015). A Critical Review of Recurrent Neural Networks for Sequence Learning. arXiv-Preprint. https://arxiv.org/abs/1506.00019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Das Hybrid Equivalent-Circuit Model verbindet ein Ersatzschaltbild mit einem Extended Kalman Filter. Das Modell beschreibt den ohmschen Internal Resistance und verzögerte Spannungsanteile über zwei RC-Glieder.</a:t>
            </a:r>
          </a:p>
          <a:p>
            <a:endParaRPr lang="de-DE"/>
          </a:p>
          <a:p>
            <a:pPr lvl="0"/>
            <a:r>
              <a:rPr lang="de-DE"/>
              <a:t>Oben liefert das bereits bekannte SOH-LSTM den Ageing State. Daraus werden Capacity und passende Parameter aus vorab bestimmten Lookup Tables ausgewählt. Die Tabellen selbst werden dabei nicht verändert.</a:t>
            </a:r>
          </a:p>
          <a:p>
            <a:endParaRPr lang="de-DE"/>
          </a:p>
          <a:p>
            <a:pPr lvl="0"/>
            <a:r>
              <a:rPr lang="de-DE"/>
              <a:t>Im unteren Signalweg berechnet das ECM zunächst die State Prediction und eine erwartete Terminal Voltage. Der EKF vergleicht diese mit der gemessenen Spannung. Aus diesem Residual korrigiert er SOC und RC-States unter Berücksichtigung ihrer Unsicherheit. HECM nutzt damit eine kontinuierliche Rückmeldung aus der Spannung.</a:t>
            </a:r>
          </a:p>
          <a:p>
            <a:endParaRPr lang="de-DE"/>
          </a:p>
          <a:p>
            <a:pPr lvl="0"/>
            <a:r>
              <a:rPr lang="de-DE"/>
              <a:t>ENDE DES SPRECHTEXTS</a:t>
            </a:r>
          </a:p>
          <a:p>
            <a:endParaRPr lang="de-DE"/>
          </a:p>
          <a:p>
            <a:pPr lvl="0"/>
            <a:r>
              <a:rPr lang="de-DE"/>
              <a:t>Bisherige Hintergrundnotizen und Quellen (nicht mitsprechen)</a:t>
            </a:r>
          </a:p>
          <a:p>
            <a:endParaRPr lang="de-DE"/>
          </a:p>
          <a:p>
            <a:pPr lvl="0"/>
            <a:r>
              <a:rPr lang="de-DE"/>
              <a:t>HECM kombiniert ein Ersatzschaltbild zweiter Ordnung mit einem Extended Kalman Filter. Der Zustand enthält SOC und zwei Polarisationsspannungen. Die Prädiktion verwendet den vorherigen Strom, die Korrektur die aktuell gemessene Spannung. Das Spannungsresiduum zwischen vorhergesagter und gemessener Klemmenspannung korrigiert den Zustand. Der gemeinsame LSTM-SOH-Kontext skaliert die Kapazität und steuert SOC-/SOH-abhängige Kennfelder für Ri, R1, R2, Zeitkonstanten, OCV und OCV-Ableitung mit getrennten Lade-/Entladeparametrisierungen. HECM ergänzt damit die Stromintegration um physikalische Dynamik und einen Messfeedback-Pfad.</a:t>
            </a:r>
          </a:p>
          <a:p>
            <a:pPr lvl="0"/>
            <a:r>
              <a:rPr lang="de-DE"/>
              <a:t>Quelle: Dissertation main(1).pdf, Abschnitt 6.2.2, Gleichungen 6.5–6.8, S. 87–88, und Abschnitt 6.2.3, S. 89.</a:t>
            </a:r>
          </a:p>
          <a:p>
            <a:endParaRPr lang="de-DE"/>
          </a:p>
          <a:p>
            <a:pPr lvl="0"/>
            <a:r>
              <a:rPr lang="de-DE"/>
              <a:t>Quellenverweise dieser Präsentation (eigene Nummerierung):</a:t>
            </a:r>
          </a:p>
          <a:p>
            <a:pPr lvl="0"/>
            <a:r>
              <a:rPr lang="de-DE"/>
              <a:t>2RC-Ersatzschaltbild, Spannungsfeedback und SOH-Kennfelder: eigene Umsetzung [11], Gl.6.5–6.8, S.87–88. ECM-Grundlagen [17]. [19] als verwandte dual-adaptive EKF-SOC/SOH-Arbeit, nicht Quelle der exakten hier verwendeten HECM-Struktur.</a:t>
            </a:r>
          </a:p>
          <a:p>
            <a:endParaRPr lang="de-DE"/>
          </a:p>
          <a:p>
            <a:pPr lvl="0"/>
            <a:r>
              <a:rPr lang="de-DE"/>
              <a:t>[11] F. Rzepka (2026). Deployment-Oriented Neural Network State-Estimation Methods for Battery Management Systems: Ageing Estimation, Robustness Benchmarking, Embedded Optimization, and Hardware Integration. Dissertationsmanuskript, TU Berlin. Grundlage: bereitgestellte main.pdf. </a:t>
            </a:r>
          </a:p>
          <a:p>
            <a:pPr lvl="0"/>
            <a:r>
              <a:rPr lang="de-DE"/>
              <a:t>[17] G. L. Plett (2015). Battery Management Systems. Volume 1: Battery Modeling. Artech House. Grundlagen zu Batteriemodellen und Zustandsbestimmung. </a:t>
            </a:r>
          </a:p>
          <a:p>
            <a:pPr lvl="0"/>
            <a:r>
              <a:rPr lang="de-DE"/>
              <a:t>[19] J. Li et al. (2021). Joint Estimation of State of Charge and State of Health for Lithium-ion Battery Based on Dual Adaptive Extended Kalman Filter. International Journal of Energy Research 45(9), 13307–13322. https://doi.org/10.1002/er.6658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Beim Data-Driven Model arbeiten zwei Neural Networks zusammen. Oben liefert erneut das gemeinsame SOH-LSTM den Ageing State. Unten verarbeitet eine GRU die Signalhistorie und gibt ihren Hidden State an einen MLP-Head weiter, der den SOC ausgibt.</a:t>
            </a:r>
          </a:p>
          <a:p>
            <a:endParaRPr lang="de-DE"/>
          </a:p>
          <a:p>
            <a:pPr lvl="0"/>
            <a:r>
              <a:rPr lang="de-DE"/>
              <a:t>Die GRU ist ebenfalls rekurrent, besitzt gegenüber einem LSTM aber keinen separaten Cell State. Update Gate und Reset Gate steuern ihren Hidden State.</a:t>
            </a:r>
          </a:p>
          <a:p>
            <a:endParaRPr lang="de-DE"/>
          </a:p>
          <a:p>
            <a:pPr lvl="0"/>
            <a:r>
              <a:rPr lang="de-DE"/>
              <a:t>Die Inputs umfassen Voltage, Current, Temperature, kumulierten Strom, dynamische Features, Zeitabstände und SOH. Im Benchmark wird jeweils ein Window aus zweitausendvierundzwanzig Samples ausgewertet. Das Modell lernt also die Zuordnung aus Daten, ohne ein explizites ECM zu benötigen.</a:t>
            </a:r>
          </a:p>
          <a:p>
            <a:endParaRPr lang="de-DE"/>
          </a:p>
          <a:p>
            <a:pPr lvl="0"/>
            <a:r>
              <a:rPr lang="de-DE"/>
              <a:t>ENDE DES SPRECHTEXTS</a:t>
            </a:r>
          </a:p>
          <a:p>
            <a:endParaRPr lang="de-DE"/>
          </a:p>
          <a:p>
            <a:pPr lvl="0"/>
            <a:r>
              <a:rPr lang="de-DE"/>
              <a:t>Bisherige Hintergrundnotizen und Quellen (nicht mitsprechen)</a:t>
            </a:r>
          </a:p>
          <a:p>
            <a:endParaRPr lang="de-DE"/>
          </a:p>
          <a:p>
            <a:pPr lvl="0"/>
            <a:r>
              <a:rPr lang="de-DE"/>
              <a:t>DD ist der datengetriebene SOC-Vertreter. Seine acht Eingänge sind U, I, T, SOH, Qc, dU/dt, dI/dt und Δt. Die GRU nutzt Signalhistorie, weil SOC-Schätzung und Störungserholung von vorangegangenen Messungen abhängen. Ihre zwei Gates und ein einzelner Hidden State bilden eine kompakte rekurrente Struktur. Das Update-Gate gewichtet vorherigen Zustand und neuen Kandidaten. Das Reset-Gate beeinflusst die historische Information bei der Bildung des Kandidaten. Structured Pruning reduziert 96 auf 67 Einheiten, gefolgt von einem MLP-Head mit einer Hidden-Layer-Breite von 96 und Sigmoid-Ausgabe. Im primären Benchmark wird jede Schätzung aus dem letzten kausalen Fenster von 2024 Samples neu berechnet. Die gemeinsame LSTM-SOH-Schätzung ist ein separater Eingang und wird im MCU-Benchmark extern bereitgestellt. Die später untersuchte Embedded-AI-Kompression verwendet andere LSTM-Modelle für SOC und SOH.</a:t>
            </a:r>
          </a:p>
          <a:p>
            <a:pPr lvl="0"/>
            <a:r>
              <a:rPr lang="de-DE"/>
              <a:t>Quelle: Dissertation main(1).pdf, Abschnitt 3.4.3, S. 19–20, Abschnitt 6.2, S. 86, Abschnitt 6.2.2, Gleichungen 6.9–6.11, S. 88–89, und Abschnitt 6.2.4, S. 90.</a:t>
            </a:r>
          </a:p>
          <a:p>
            <a:endParaRPr lang="de-DE"/>
          </a:p>
          <a:p>
            <a:pPr lvl="0"/>
            <a:r>
              <a:rPr lang="de-DE"/>
              <a:t>Quellenverweise dieser Präsentation (eigene Nummerierung):</a:t>
            </a:r>
          </a:p>
          <a:p>
            <a:pPr lvl="0"/>
            <a:r>
              <a:rPr lang="de-DE"/>
              <a:t>DD-Architektur: eigene Studie [11], §6.2.2, S.88–89 und [16]. GRU-/Hidden-State-Prinzipien: [18].</a:t>
            </a:r>
          </a:p>
          <a:p>
            <a:endParaRPr lang="de-DE"/>
          </a:p>
          <a:p>
            <a:pPr lvl="0"/>
            <a:r>
              <a:rPr lang="de-DE"/>
              <a:t>[11] F. Rzepka (2026). Deployment-Oriented Neural Network State-Estimation Methods for Battery Management Systems: Ageing Estimation, Robustness Benchmarking, Embedded Optimization, and Hardware Integration. Dissertationsmanuskript, TU Berlin. Grundlage: bereitgestellte main.pdf. </a:t>
            </a:r>
          </a:p>
          <a:p>
            <a:pPr lvl="0"/>
            <a:r>
              <a:rPr lang="de-DE"/>
              <a:t>[16] F. Rzepka, Q. Chen und J. Kowal (2026). Performance and Robustness Benchmarking Across Battery State-of-Charge Estimator Classes for Embedded Applications. Manuskript, bei Engineering Applications of Artificial Intelligence eingereicht. </a:t>
            </a:r>
          </a:p>
          <a:p>
            <a:pPr lvl="0"/>
            <a:r>
              <a:rPr lang="de-DE"/>
              <a:t>[18] Z. C. Lipton, J. Berkowitz und C. Elkan (2015). A Critical Review of Recurrent Neural Networks for Sequence Learning. arXiv-Preprint. https://arxiv.org/abs/1506.00019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Die vier Modelle wurden dann in einem Benchmark untersucht. Die Kreisgrafik ordnet die Tests in drei Gruppen: Initialization Errors, Input Disturbances und Signal Integrity Faults. Alle Estimator erhalten jeweils dieselbe Störung.</a:t>
            </a:r>
          </a:p>
          <a:p>
            <a:endParaRPr lang="de-DE"/>
          </a:p>
          <a:p>
            <a:pPr lvl="0"/>
            <a:r>
              <a:rPr lang="de-DE"/>
              <a:t>Hier hervorgehoben sind Initialization Errors. Dabei startet der Test absichtlich mit einem falschen SOC. Gemessen wird, ob und wie schnell der Estimator wieder zum korrekt initialisierten Verlauf zurückfindet.</a:t>
            </a:r>
          </a:p>
          <a:p>
            <a:endParaRPr lang="de-DE"/>
          </a:p>
          <a:p>
            <a:pPr lvl="0"/>
            <a:r>
              <a:rPr lang="de-DE"/>
              <a:t>Das ist beispielsweise nach einem BMS-Neustart relevant. Bei LFP erschwert außerdem die flache OCV-Kennlinie in weiten SOC-Bereichen eine eindeutige Initialisierung allein aus der Spannung.</a:t>
            </a:r>
          </a:p>
          <a:p>
            <a:endParaRPr lang="de-DE"/>
          </a:p>
          <a:p>
            <a:pPr lvl="0"/>
            <a:r>
              <a:rPr lang="de-DE"/>
              <a:t>ENDE DES SPRECHTEXTS</a:t>
            </a:r>
          </a:p>
          <a:p>
            <a:endParaRPr lang="de-DE"/>
          </a:p>
          <a:p>
            <a:pPr lvl="0"/>
            <a:r>
              <a:rPr lang="de-DE"/>
              <a:t>Bisherige Hintergrundnotizen und Quellen (nicht mitsprechen)</a:t>
            </a:r>
          </a:p>
          <a:p>
            <a:endParaRPr lang="de-DE"/>
          </a:p>
          <a:p>
            <a:pPr lvl="0"/>
            <a:r>
              <a:rPr lang="de-DE"/>
              <a:t>Initialization Errors bilden unsichere Startzustände nach Neustart, Lagerung oder fehlender aktueller Historie ab. Bei LFP begrenzt die flache OCV-SOC-Kennlinie die Verankerung des SOC allein aus der Ruhespannung. Deshalb wird untersucht, ob und wie dauerhaft die Modelle einen Startfehler überwinden. Der feste Benchmark-Startfehler beträgt −0,10 SOC bzw. −10 Prozentpunkte. Beim DD wird der online zugängliche Qc-Eingang gestört, nicht willkürlich der Hidden State. Recovery ist die Annäherung an den passenden korrekt initialisierten Lauf und wird von der Genauigkeit gegenüber der SOC-Referenz getrennt. Die genannten Praxisbeispiele motivieren die Störmechanismen; die feste Störhöhe ist eine Benchmark-Konfiguration.</a:t>
            </a:r>
          </a:p>
          <a:p>
            <a:pPr lvl="0"/>
            <a:r>
              <a:rPr lang="de-DE"/>
              <a:t>Quelle: Dissertation main(1).pdf, Abschnitt 6.2.5, Abbildung 6.2 und Tabelle 6.2, S. 90–93; Abschnitt 6.2.6, S. 93–94.</a:t>
            </a:r>
          </a:p>
          <a:p>
            <a:endParaRPr lang="de-DE"/>
          </a:p>
          <a:p>
            <a:pPr lvl="0"/>
            <a:r>
              <a:rPr lang="de-DE"/>
              <a:t>Quellenverweise dieser Präsentation (eigene Nummerierung):</a:t>
            </a:r>
          </a:p>
          <a:p>
            <a:pPr lvl="0"/>
            <a:r>
              <a:rPr lang="de-DE"/>
              <a:t>Eigene Störklassenabbildung und Initialisierungsprotokoll: [11], §6.3, S.91–99, Abb.6.2. Fachlicher Kontext Initialisierung, Modellfehler und Validierung: [5], [6]. Betriebssituationen als motivierende Beispiele, keine Statistik realer Fehlerhäufigkeiten.</a:t>
            </a:r>
          </a:p>
          <a:p>
            <a:endParaRPr lang="de-DE"/>
          </a:p>
          <a:p>
            <a:pPr lvl="0"/>
            <a:r>
              <a:rPr lang="de-DE"/>
              <a:t>[5] X. Li et al. (2015). Robustness of SOC Estimation Algorithms for EV Lithium-Ion Batteries against Modeling Errors and Measurement Noise. Mathematical Problems in Engineering, Artikel 719490. https://doi.org/10.1155/2015/719490</a:t>
            </a:r>
          </a:p>
          <a:p>
            <a:pPr lvl="0"/>
            <a:r>
              <a:rPr lang="de-DE"/>
              <a:t>[6] F. Berger et al. (2024). Benchmarking Battery Management System Algorithms – Requirements, Scenarios and Validation for Automotive Applications. eTransportation 22, 100355. https://doi.org/10.1016/j.etran.2024.100355</a:t>
            </a:r>
          </a:p>
          <a:p>
            <a:pPr lvl="0"/>
            <a:r>
              <a:rPr lang="de-DE"/>
              <a:t>[11] F. Rzepka (2026). Deployment-Oriented Neural Network State-Estimation Methods for Battery Management Systems: Ageing Estimation, Robustness Benchmarking, Embedded Optimization, and Hardware Integration. Dissertationsmanuskript, TU Berlin. Grundlage: bereitgestellte main.pdf.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Der hervorgehobene Bereich zeigt nun die Input Disturbances. Dazu gehören Gain Errors, Offset Errors, Noise und einzelne Voltage Spikes.</a:t>
            </a:r>
          </a:p>
          <a:p>
            <a:endParaRPr lang="de-DE"/>
          </a:p>
          <a:p>
            <a:pPr lvl="0"/>
            <a:r>
              <a:rPr lang="de-DE"/>
              <a:t>Ein Gain Error skaliert den Messwert, ein Offset verschiebt ihn. Noise erzeugt schwankende Abweichungen. Solche Fehler können etwa durch Calibration, Sensor Drift oder elektromagnetische Störungen entstehen.</a:t>
            </a:r>
          </a:p>
          <a:p>
            <a:endParaRPr lang="de-DE"/>
          </a:p>
          <a:p>
            <a:pPr lvl="0"/>
            <a:r>
              <a:rPr lang="de-DE"/>
              <a:t>Ihre Wirkung hängt vom Modell ab: Current Errors beeinflussen die Ladungsbilanz, Voltage Errors das Spannungsfeedback und die daraus berechneten Features. Die Tests machen sichtbar, welche Signalabhängigkeiten besonders kritisch sind.</a:t>
            </a:r>
          </a:p>
          <a:p>
            <a:endParaRPr lang="de-DE"/>
          </a:p>
          <a:p>
            <a:pPr lvl="0"/>
            <a:r>
              <a:rPr lang="de-DE"/>
              <a:t>ENDE DES SPRECHTEXTS</a:t>
            </a:r>
          </a:p>
          <a:p>
            <a:endParaRPr lang="de-DE"/>
          </a:p>
          <a:p>
            <a:pPr lvl="0"/>
            <a:r>
              <a:rPr lang="de-DE"/>
              <a:t>Bisherige Hintergrundnotizen und Quellen (nicht mitsprechen)</a:t>
            </a:r>
          </a:p>
          <a:p>
            <a:endParaRPr lang="de-DE"/>
          </a:p>
          <a:p>
            <a:pPr lvl="0"/>
            <a:r>
              <a:rPr lang="de-DE"/>
              <a:t>Input Disturbances modellieren reale Grenzen und Störungen der Messkette. Gain- und Offsetfehler stehen für Sensorempfindlichkeit, Skalierungs- und Kalibrierabweichungen sowie Drift. Rauschen und Spannungsspitzen stehen unter anderem für Front-End-Rauschen, EMI und Schaltstörungen. Die ADC-Quantisierung bildet endliche Auflösung und Rundung ab. Stromfehler wirken über die Ladungsintegration und die davon abhängigen Features. Verfälschte Spannung beeinflusst das Messfeedback des HECM und die Merkmale des DD. Die Relevanz liegt daher im Verhalten der vollständigen Schätzpfade unter begrenzter Messqualität. Hier werden mögliche Wirkpfade erläutert, noch keine Ergebnisrangfolge.</a:t>
            </a:r>
          </a:p>
          <a:p>
            <a:pPr lvl="0"/>
            <a:r>
              <a:rPr lang="de-DE"/>
              <a:t>Quelle: Dissertation main(1).pdf, Abschnitt 6.2.5 und Tabelle 6.2, S. 90–93; Abschnitt 6.3, S. 95–97.</a:t>
            </a:r>
          </a:p>
          <a:p>
            <a:endParaRPr lang="de-DE"/>
          </a:p>
          <a:p>
            <a:pPr lvl="0"/>
            <a:r>
              <a:rPr lang="de-DE"/>
              <a:t>Quellenverweise dieser Präsentation (eigene Nummerierung):</a:t>
            </a:r>
          </a:p>
          <a:p>
            <a:pPr lvl="0"/>
            <a:r>
              <a:rPr lang="de-DE"/>
              <a:t>Eigene künstlich eingebrachte Input Disturbances auf realen LFP-Messdaten: [11], §6.3. Reale Störquellen und Messrauschen: [5], [7].</a:t>
            </a:r>
          </a:p>
          <a:p>
            <a:endParaRPr lang="de-DE"/>
          </a:p>
          <a:p>
            <a:pPr lvl="0"/>
            <a:r>
              <a:rPr lang="de-DE"/>
              <a:t>[5] X. Li et al. (2015). Robustness of SOC Estimation Algorithms for EV Lithium-Ion Batteries against Modeling Errors and Measurement Noise. Mathematical Problems in Engineering, Artikel 719490. https://doi.org/10.1155/2015/719490</a:t>
            </a:r>
          </a:p>
          <a:p>
            <a:pPr lvl="0"/>
            <a:r>
              <a:rPr lang="de-DE"/>
              <a:t>[7] O. Aiello (2020). Electromagnetic Susceptibility of Battery Management Systems’ ICs for Electric Vehicles: Experimental Study. Electronics 9(3), 510. https://doi.org/10.3390/electronics9030510</a:t>
            </a:r>
          </a:p>
          <a:p>
            <a:pPr lvl="0"/>
            <a:r>
              <a:rPr lang="de-DE"/>
              <a:t>[11] F. Rzepka (2026). Deployment-Oriented Neural Network State-Estimation Methods for Battery Management Systems: Ageing Estimation, Robustness Benchmarking, Embedded Optimization, and Hardware Integration. Dissertationsmanuskript, TU Berlin. Grundlage: bereitgestellte main.pdf.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Die dritte Gruppe in der Kreisgrafik sind Signal Integrity Faults. Hier geht es um fehlende Samples, längere Ausfälle und unregelmäßige Zeitabstände.</a:t>
            </a:r>
          </a:p>
          <a:p>
            <a:endParaRPr lang="de-DE"/>
          </a:p>
          <a:p>
            <a:pPr lvl="0"/>
            <a:r>
              <a:rPr lang="de-DE"/>
              <a:t>Solche Störungen entstehen im realen Betrieb durch Paketverluste, Kommunikationsausfälle und schwankende Latenzen.</a:t>
            </a:r>
          </a:p>
          <a:p>
            <a:endParaRPr lang="de-DE"/>
          </a:p>
          <a:p>
            <a:pPr lvl="0"/>
            <a:r>
              <a:rPr lang="de-DE"/>
              <a:t>ENDE DES SPRECHTEXTS</a:t>
            </a:r>
          </a:p>
          <a:p>
            <a:endParaRPr lang="de-DE"/>
          </a:p>
          <a:p>
            <a:pPr lvl="0"/>
            <a:r>
              <a:rPr lang="de-DE"/>
              <a:t>Bisherige Hintergrundnotizen und Quellen (nicht mitsprechen)</a:t>
            </a:r>
          </a:p>
          <a:p>
            <a:endParaRPr lang="de-DE"/>
          </a:p>
          <a:p>
            <a:pPr lvl="0"/>
            <a:r>
              <a:rPr lang="de-DE"/>
              <a:t>Signal-Integrity Faults verändern die Verfügbarkeit oder den Zeitbezug von Messungen. Missing Samples stehen für Paketverlust, blockierte Updates und Logger-Aussetzer. Burst Dropout bildet eine Kommunikationsunterbrechung, eine eingefrorene Task oder einen festhängenden Datenstrom ab. Irregular Sampling entspricht Scheduling Jitter, Bus-Latenz und asynchroner Erfassung. Der Zellbetrieb setzt sich auch bei unterbrochener oder verzögerter Übertragung fort. Die Schätzung muss daher mit unvollständiger beziehungsweise zeitlich veränderter Information umgehen. Im Benchmark werden fehlende Werte eingefroren; die daraus abhängigen Features werden kausal rekonstruiert. Timing Jitter und Sample Loss sind getrennte Mechanismen, deren Wirkung erst in den Ergebnissen bewertet wird.</a:t>
            </a:r>
          </a:p>
          <a:p>
            <a:pPr lvl="0"/>
            <a:r>
              <a:rPr lang="de-DE"/>
              <a:t>Quelle: Dissertation main(1).pdf, Abschnitt 6.2.5 und Tabelle 6.2, S. 91–93; Abschnitt 6.3, S. 95–97.</a:t>
            </a:r>
          </a:p>
          <a:p>
            <a:endParaRPr lang="de-DE"/>
          </a:p>
          <a:p>
            <a:pPr lvl="0"/>
            <a:r>
              <a:rPr lang="de-DE"/>
              <a:t>Quellenverweise dieser Präsentation (eigene Nummerierung):</a:t>
            </a:r>
          </a:p>
          <a:p>
            <a:pPr lvl="0"/>
            <a:r>
              <a:rPr lang="de-DE"/>
              <a:t>Eigene Signal-Integrity-Szenarien: [11], §6.3. Kontext praxisnaher BMS-Validierung: [6]. Keine Behauptung, alle Fehlerformen seien in [6] identisch umgesetzt.</a:t>
            </a:r>
          </a:p>
          <a:p>
            <a:endParaRPr lang="de-DE"/>
          </a:p>
          <a:p>
            <a:pPr lvl="0"/>
            <a:r>
              <a:rPr lang="de-DE"/>
              <a:t>[6] F. Berger et al. (2024). Benchmarking Battery Management System Algorithms – Requirements, Scenarios and Validation for Automotive Applications. eTransportation 22, 100355. https://doi.org/10.1016/j.etran.2024.100355</a:t>
            </a:r>
          </a:p>
          <a:p>
            <a:pPr lvl="0"/>
            <a:r>
              <a:rPr lang="de-DE"/>
              <a:t>[11] F. Rzepka (2026). Deployment-Oriented Neural Network State-Estimation Methods for Battery Management Systems: Ageing Estimation, Robustness Benchmarking, Embedded Optimization, and Hardware Integration. Dissertationsmanuskript, TU Berlin. Grundlage: bereitgestellte main.pdf.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Zunächst sehen Sie die Ergebnisse der Nominal Accuracy ohne zusätzliche Disturbance. Die Auswertung nutzt sechzehn feste Vierundzwanzig-Stunden-Windows aus sechs unabhängigen Holdout-Zellen.</a:t>
            </a:r>
          </a:p>
          <a:p>
            <a:endParaRPr lang="de-DE"/>
          </a:p>
          <a:p>
            <a:pPr lvl="0"/>
            <a:r>
              <a:rPr lang="de-DE"/>
              <a:t>Im Diagramm stehen die Punkte für einzelne Fenster. Die Balken zeigen die über die Zellen gleich gewichteten MAE-Werte, die Fehlerbalken deren fünfundneunzigprozentige Confidence Intervals.</a:t>
            </a:r>
          </a:p>
          <a:p>
            <a:endParaRPr lang="de-DE"/>
          </a:p>
          <a:p>
            <a:pPr lvl="0"/>
            <a:r>
              <a:rPr lang="de-DE"/>
              <a:t>Links steht der MAE, rechts der RMSE, der große Abweichungen stärker gewichtet. DD erreicht hier den niedrigsten mittleren MAE von rund zweieinhalb Prozentpunkten; auch die Fensterwerte streuen vergleichsweise wenig.</a:t>
            </a:r>
          </a:p>
          <a:p>
            <a:endParaRPr lang="de-DE"/>
          </a:p>
          <a:p>
            <a:pPr lvl="0"/>
            <a:r>
              <a:rPr lang="de-DE"/>
              <a:t>Diese Nominal Accuracy ist zunächst die Ausgangslage.</a:t>
            </a:r>
          </a:p>
          <a:p>
            <a:endParaRPr lang="de-DE"/>
          </a:p>
          <a:p>
            <a:pPr lvl="0"/>
            <a:r>
              <a:rPr lang="de-DE"/>
              <a:t>ENDE DES SPRECHTEXTS</a:t>
            </a:r>
          </a:p>
          <a:p>
            <a:endParaRPr lang="de-DE"/>
          </a:p>
          <a:p>
            <a:pPr lvl="0"/>
            <a:r>
              <a:rPr lang="de-DE"/>
              <a:t>Bisherige Hintergrundnotizen und Quellen (nicht mitsprechen)</a:t>
            </a:r>
          </a:p>
          <a:p>
            <a:endParaRPr lang="de-DE"/>
          </a:p>
          <a:p>
            <a:pPr lvl="0"/>
            <a:r>
              <a:rPr lang="de-DE"/>
              <a:t>16 repräsentative 24-h-Fenster decken die verfügbaren Zell-/SOH-Kombinationen von sechs unabhängigen Holdout-Zellen ab. Die Fensterauswahl verwendet gemessene Betriebs- und Alterungsmerkmale, keine Modellfehler. Alle Modelle werden ab dem ersten gültigen DD-Wert über dieselben Samples bewertet. Die Fenster werden innerhalb der Zelle zusammengefasst, danach erhält jede Zelle das gleiche Gewicht.</a:t>
            </a:r>
          </a:p>
          <a:p>
            <a:pPr lvl="0"/>
            <a:r>
              <a:rPr lang="de-DE"/>
              <a:t>Die Punkte in der Abbildung zeigen Fehlerwerte einzelner Zell-/SOH-Fenster. Die Balken zeigen das gleichgewichtete Zell-Makromittel. Die Fehlerbalken sind hierarchische 95-%-Konfidenzintervalle dieses Mittels. Die sichtbare Streuung beschreibt Unterschiede zwischen den Fensterfehlern. Hohe einzelne Fensterwerte kommen bei DM, HDM und HECM vor, während DD eine engere dargestellte Fehlerspanne aufweist. DM hat laut Abschnitt 6.4.1 die stärkste Variation zwischen Zellen und Fenstern.</a:t>
            </a:r>
          </a:p>
          <a:p>
            <a:pPr lvl="0"/>
            <a:r>
              <a:rPr lang="de-DE"/>
              <a:t>Die Fehlerquellen dienen der mechanistischen Einordnung. DM verwendet eine feste Nennkapazität trotz variierender Alterung und besitzt zwischen Volllade-Ankern keinen kontinuierlichen Korrekturpfad. HDM passt die Kapazität an den geschätzten SOH an, HECM verwendet zusätzlich Spannungsfeedback sowie SOH-abhängige Kennfelder. Fehler des gemeinsamen SOH-LSTM gehen daher in beide vollständigen SOC-Pipelines ein. Der diagnostische Austausch gegen Ground-truth-SOH reduziert den mittleren Baseline-MAE um 0,0370 bei HDM und 0,0166 bei HECM und stützt diesen zusätzlichen Fehlerbeitrag. Dies ist eine Attribution von Fehlerbeiträgen; eine vollständige Zerlegung der Streuung jedes Fensterpunkts wurde damit nicht vorgenommen.</a:t>
            </a:r>
          </a:p>
          <a:p>
            <a:pPr lvl="0"/>
            <a:r>
              <a:rPr lang="de-DE"/>
              <a:t>DD erzielt den niedrigsten nominalen Zell-Makro-MAE von 0,0258 mit 95-%-KI [0,0189; 0,0325]. Auch das RMSE-Ranking ist identisch. Die mehrkanalige zeitliche Historie erlaubt die gemeinsame Nutzung von Strom, Spannung, Temperatur und kausalen Features. Die Schlussaussage gilt für die nominale Genauigkeit der getesteten Vertreter. Die anschließenden Störtests untersuchen ihre Robustheit. Bei sechs unabhängigen Testzellen bleiben Holm-korrigierte Sign-flip-p-Werte über 0,05; Effektgrößen, Unsicherheitsintervalle und die beobachtete Rangfolge tragen die Interpretation.</a:t>
            </a:r>
          </a:p>
          <a:p>
            <a:pPr lvl="0"/>
            <a:r>
              <a:rPr lang="de-DE"/>
              <a:t>Quelle: Florian Rzepka, bereitgestellte Dissertation main(1).pdf, Abschnitte 6.2.6 und 6.3, S. 93–97; Abschnitt 6.4.1 und Abbildung 6.4, S. 97–98; Abschnitt 6.4.9, S. 109–110; Abschnitt 6.5, S. 116–118; Tabellen A.2–A.3, S. 189–190.</a:t>
            </a:r>
          </a:p>
          <a:p>
            <a:endParaRPr lang="de-DE"/>
          </a:p>
          <a:p>
            <a:pPr lvl="0"/>
            <a:r>
              <a:rPr lang="de-DE"/>
              <a:t>Quellenverweise dieser Präsentation (eigene Nummerierung):</a:t>
            </a:r>
          </a:p>
          <a:p>
            <a:pPr lvl="0"/>
            <a:r>
              <a:rPr lang="de-DE"/>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lang="de-DE"/>
          </a:p>
          <a:p>
            <a:pPr lvl="0"/>
            <a:r>
              <a:rPr lang="de-DE"/>
              <a:t>[11] F. Rzepka (2026). Deployment-Oriented Neural Network State-Estimation Methods for Battery Management Systems: Ageing Estimation, Robustness Benchmarking, Embedded Optimization, and Hardware Integration. Dissertationsmanuskript, TU Berlin. Grundlage: bereitgestellte main.pdf. </a:t>
            </a:r>
          </a:p>
          <a:p>
            <a:pPr lvl="0"/>
            <a:r>
              <a:rPr lang="de-DE"/>
              <a:t>[16] F. Rzepka, Q. Chen und J. Kowal (2026). Performance and Robustness Benchmarking Across Battery State-of-Charge Estimator Classes for Embedded Applications. Manuskript, bei Engineering Applications of Artificial Intelligence eingereicht.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Als erstes Beispiel dient ein Current Gain Error, also eine fehlerhafte Skalierung des Stroms. Oben sehen wir die Zunahme der Fehler der einzelnen Modelle bei Zunahme des Strom Gains. </a:t>
            </a:r>
          </a:p>
          <a:p>
            <a:pPr lvl="0"/>
            <a:endParaRPr lang="de-DE" dirty="0"/>
          </a:p>
          <a:p>
            <a:pPr lvl="0"/>
            <a:r>
              <a:rPr lang="de-DE" dirty="0"/>
              <a:t>Unten links ist zu sehen, wie der Gain Error den gemessenen Strom verändert. Der SOC-Verlauf unten rechts zeigt die Folge: </a:t>
            </a:r>
          </a:p>
          <a:p>
            <a:pPr lvl="0"/>
            <a:endParaRPr lang="de-DE" dirty="0"/>
          </a:p>
          <a:p>
            <a:pPr lvl="0"/>
            <a:r>
              <a:rPr lang="de-DE" dirty="0"/>
              <a:t>Beim Coulomb </a:t>
            </a:r>
            <a:r>
              <a:rPr lang="de-DE" dirty="0" err="1"/>
              <a:t>Counting</a:t>
            </a:r>
            <a:r>
              <a:rPr lang="de-DE" dirty="0"/>
              <a:t> wächst die Abweichung durch die fortgesetzte Integration des falschen Stroms.</a:t>
            </a:r>
          </a:p>
          <a:p>
            <a:endParaRPr lang="de-DE" dirty="0"/>
          </a:p>
          <a:p>
            <a:pPr lvl="0"/>
            <a:r>
              <a:rPr lang="de-DE" dirty="0"/>
              <a:t>HECM kann einen Teil davon über das Spannungsfeedback korrigieren. Bei DD ist die Nutzung mehrerer zeitabhängiger Features eine plausible Erklärung für die geringere Sensitivität. Der Plot allein beweist jedoch nicht, welchen Anteil jedes Feature daran hat.</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Bei der Recovery nach einem SOC-Initialisierungsfehler zeigt das obere Diagramm zunächst die SOC-Verläufe. Unten links wird die Abweichung zum jeweils korrekt initialisierten Lauf sichtbar.</a:t>
            </a:r>
          </a:p>
          <a:p>
            <a:endParaRPr lang="de-DE" dirty="0"/>
          </a:p>
          <a:p>
            <a:pPr lvl="0"/>
            <a:r>
              <a:rPr lang="de-DE" dirty="0"/>
              <a:t>Unterschieden wird zwischen einem ersten Aufenthalt von mindestens fünf Minuten im Toleranzband und einer persistenten Recovery. Bei letzterer bleibt die Abweichung bis zum Fensterende im Band. Die Balken unten rechts vergleichen diese Zeiten.</a:t>
            </a:r>
          </a:p>
          <a:p>
            <a:endParaRPr lang="de-DE" dirty="0"/>
          </a:p>
          <a:p>
            <a:pPr lvl="0"/>
            <a:r>
              <a:rPr lang="de-DE" dirty="0"/>
              <a:t>HECM erreicht im untersuchten Protokoll die schnellste persistente Recovery. DD kann früh in das Band gelangen, später aber wieder herausfallen. DM und HDM behalten ohne passenden </a:t>
            </a:r>
            <a:r>
              <a:rPr lang="de-DE" dirty="0" err="1"/>
              <a:t>Reset</a:t>
            </a:r>
            <a:r>
              <a:rPr lang="de-DE" dirty="0"/>
              <a:t> Point weitgehend ihren Initialisierungsfehler.</a:t>
            </a:r>
          </a:p>
          <a:p>
            <a:endParaRPr lang="de-DE" dirty="0"/>
          </a:p>
          <a:p>
            <a:pPr lvl="0"/>
            <a:r>
              <a:rPr lang="de-DE" dirty="0"/>
              <a:t>Damit zeigt sich bereits: Ein niedriger Nominal Error und eine schnelle, dauerhafte Recovery sind unterschiedliche Eigenschaften.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Lokale Fehler wie die </a:t>
            </a:r>
            <a:r>
              <a:rPr lang="de-DE" dirty="0" err="1"/>
              <a:t>Voltage</a:t>
            </a:r>
            <a:r>
              <a:rPr lang="de-DE" dirty="0"/>
              <a:t> Spikes zeigen einen weiteren Unterschied. Oben sind SOC-Verläufe um einen einzelnen Spike dargestellt. DD reagiert mit einem deutlichen Ausschlag und anschließendem Abklingen.</a:t>
            </a:r>
          </a:p>
          <a:p>
            <a:endParaRPr lang="de-DE" dirty="0"/>
          </a:p>
          <a:p>
            <a:pPr lvl="0"/>
            <a:r>
              <a:rPr lang="de-DE" dirty="0"/>
              <a:t>Unten links wird die Größe der lokalen Fehlerpeaks verglichen; unten rechts der mittlere zusätzliche Absolute Error über die Zeit nach den Spikes. Gerade diese lokale Darstellung macht die kurze, starke Reaktion sichtbar.</a:t>
            </a:r>
          </a:p>
          <a:p>
            <a:endParaRPr lang="de-DE" dirty="0"/>
          </a:p>
          <a:p>
            <a:pPr lvl="0"/>
            <a:r>
              <a:rPr lang="de-DE" dirty="0"/>
              <a:t>DM und HDM nutzen die Spannung zwischen den </a:t>
            </a:r>
            <a:r>
              <a:rPr lang="de-DE" dirty="0" err="1"/>
              <a:t>Reset</a:t>
            </a:r>
            <a:r>
              <a:rPr lang="de-DE" dirty="0"/>
              <a:t> Points nicht zur kontinuierlichen SOC-Korrektur. Bei HECM gewichtet der Kalman Gain die Spannungsabweichung entsprechend der Unsicherheit von Vorhersage und Messung. Einzelne </a:t>
            </a:r>
            <a:r>
              <a:rPr lang="de-DE" dirty="0" err="1"/>
              <a:t>Voltage</a:t>
            </a:r>
            <a:r>
              <a:rPr lang="de-DE" dirty="0"/>
              <a:t> Spikes führen hier nur zu einer kleinen SOC-Korrektur. DD verarbeitet dagegen sowohl die </a:t>
            </a:r>
            <a:r>
              <a:rPr lang="de-DE" dirty="0" err="1"/>
              <a:t>Voltage</a:t>
            </a:r>
            <a:r>
              <a:rPr lang="de-DE" dirty="0"/>
              <a:t> als auch ihre zeitliche Änderung.</a:t>
            </a:r>
          </a:p>
          <a:p>
            <a:endParaRPr lang="de-DE" dirty="0"/>
          </a:p>
          <a:p>
            <a:pPr lvl="0"/>
            <a:r>
              <a:rPr lang="de-DE" dirty="0"/>
              <a:t>Im MAE über vierundzwanzig Stunden fällt ein so kurzer Fehlerpeak kaum auf.</a:t>
            </a:r>
          </a:p>
          <a:p>
            <a:endParaRPr lang="de-DE" dirty="0"/>
          </a:p>
          <a:p>
            <a:pPr lvl="0"/>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Das Netzdiagramm links fasst die drei Bewertungsdimensionen </a:t>
            </a:r>
            <a:r>
              <a:rPr lang="de-DE" dirty="0" err="1"/>
              <a:t>Accuracy</a:t>
            </a:r>
            <a:r>
              <a:rPr lang="de-DE" dirty="0"/>
              <a:t>, </a:t>
            </a:r>
            <a:r>
              <a:rPr lang="de-DE" dirty="0" err="1"/>
              <a:t>Robustness</a:t>
            </a:r>
            <a:r>
              <a:rPr lang="de-DE" dirty="0"/>
              <a:t> und Recovery zusammen. DD zeigt hohe Scores bei </a:t>
            </a:r>
            <a:r>
              <a:rPr lang="de-DE" dirty="0" err="1"/>
              <a:t>Accuracy</a:t>
            </a:r>
            <a:r>
              <a:rPr lang="de-DE" dirty="0"/>
              <a:t> und </a:t>
            </a:r>
            <a:r>
              <a:rPr lang="de-DE" dirty="0" err="1"/>
              <a:t>Robustness</a:t>
            </a:r>
            <a:r>
              <a:rPr lang="de-DE" dirty="0"/>
              <a:t>; die besondere Stärke von HECM liegt in der persistenten Recovery.</a:t>
            </a:r>
          </a:p>
          <a:p>
            <a:endParaRPr lang="de-DE" dirty="0"/>
          </a:p>
          <a:p>
            <a:pPr lvl="0"/>
            <a:r>
              <a:rPr lang="de-DE" dirty="0"/>
              <a:t>Die Balken rechts zeigen den Gesamtscore bei unterschiedlichen Prioritäten: einmal mit Schwerpunkt </a:t>
            </a:r>
            <a:r>
              <a:rPr lang="de-DE" dirty="0" err="1"/>
              <a:t>Accuracy</a:t>
            </a:r>
            <a:r>
              <a:rPr lang="de-DE" dirty="0"/>
              <a:t>, einmal </a:t>
            </a:r>
            <a:r>
              <a:rPr lang="de-DE" dirty="0" err="1"/>
              <a:t>Robustness</a:t>
            </a:r>
            <a:r>
              <a:rPr lang="de-DE" dirty="0"/>
              <a:t> und einmal Recovery. In allen drei untersuchten Profilen liegt DD vorn.</a:t>
            </a:r>
          </a:p>
          <a:p>
            <a:endParaRPr lang="de-DE" dirty="0"/>
          </a:p>
          <a:p>
            <a:pPr lvl="0"/>
            <a:r>
              <a:rPr lang="de-DE" dirty="0"/>
              <a:t>Das bedeutet nicht, dass DD in jedem einzelnen Störfall überlegen ist. Die </a:t>
            </a:r>
            <a:r>
              <a:rPr lang="de-DE" dirty="0" err="1"/>
              <a:t>Voltage</a:t>
            </a:r>
            <a:r>
              <a:rPr lang="de-DE" dirty="0"/>
              <a:t> Spikes zeigen eine konkrete Schwäche. Für die Auswahl zählen deshalb Nominal </a:t>
            </a:r>
            <a:r>
              <a:rPr lang="de-DE" dirty="0" err="1"/>
              <a:t>Accuracy</a:t>
            </a:r>
            <a:r>
              <a:rPr lang="de-DE" dirty="0"/>
              <a:t>, lokale Fehler und Recovery gemeinsam. Der nächste Teil ergänzt diese Bewertung um den Ressourcenbedarf.</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Im dritten Teil werden komplexe Modelle mit hohem Speicher und Rechenbedarf untersucht. Um die Frage zu beantworten, wie sie für den Einsatz auf Microcontroller optimiert werden können </a:t>
            </a:r>
          </a:p>
          <a:p>
            <a:endParaRPr lang="de-DE" dirty="0"/>
          </a:p>
          <a:p>
            <a:pPr lvl="0"/>
            <a:r>
              <a:rPr lang="de-DE" dirty="0"/>
              <a:t>Zwei Verfahren stehen im Mittelpunkt: Structured </a:t>
            </a:r>
            <a:r>
              <a:rPr lang="de-DE" dirty="0" err="1"/>
              <a:t>Pruning</a:t>
            </a:r>
            <a:r>
              <a:rPr lang="de-DE" dirty="0"/>
              <a:t> und Weight-</a:t>
            </a:r>
            <a:r>
              <a:rPr lang="de-DE" dirty="0" err="1"/>
              <a:t>only</a:t>
            </a:r>
            <a:r>
              <a:rPr lang="de-DE" dirty="0"/>
              <a:t> INT8 </a:t>
            </a:r>
            <a:r>
              <a:rPr lang="de-DE" dirty="0" err="1"/>
              <a:t>Quantization</a:t>
            </a:r>
            <a:r>
              <a:rPr lang="de-DE" dirty="0"/>
              <a:t>.</a:t>
            </a:r>
          </a:p>
          <a:p>
            <a:endParaRPr lang="de-DE" dirty="0"/>
          </a:p>
          <a:p>
            <a:pPr lvl="0"/>
            <a:r>
              <a:rPr lang="de-DE" dirty="0"/>
              <a:t>Ziel ist, Speicherbedarf und </a:t>
            </a:r>
            <a:r>
              <a:rPr lang="de-DE" dirty="0" err="1"/>
              <a:t>Inference</a:t>
            </a:r>
            <a:r>
              <a:rPr lang="de-DE" dirty="0"/>
              <a:t> Time zu reduzieren und die </a:t>
            </a:r>
            <a:r>
              <a:rPr lang="de-DE" dirty="0" err="1"/>
              <a:t>Accuracy</a:t>
            </a:r>
            <a:r>
              <a:rPr lang="de-DE" dirty="0"/>
              <a:t> möglichst zu erhalten. Die Evaluation erfolgt auf dem PC und auf dem STM32. Dafür muss zunächst klar sein, welche Bereiche der Modelle optimiert werden können.</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Die Abbildung zeigt die Architektur der verwendeten Modelle. Sie bestehen jeweils aus einem LSTM und einem nachgeschalteten MLP-Head.</a:t>
            </a:r>
          </a:p>
          <a:p>
            <a:endParaRPr lang="de-DE" dirty="0"/>
          </a:p>
          <a:p>
            <a:r>
              <a:rPr lang="de-DE" dirty="0"/>
              <a:t>Ein wesentlicher Teil der Berechnungen in neuronalen Netzen erfolgt über Matrixoperationen. Die Parameteranzahl ist dabei ein wichtiges Maß für die Modellkomplexität.</a:t>
            </a:r>
          </a:p>
          <a:p>
            <a:endParaRPr lang="de-DE" dirty="0"/>
          </a:p>
          <a:p>
            <a:r>
              <a:rPr lang="de-DE" dirty="0"/>
              <a:t>Für das hier verwendete LSTM lässt sich diese Anzahl aus der Input-Größe D und der Anzahl der Hidden Units H berechnen. Dabei werden die Input </a:t>
            </a:r>
            <a:r>
              <a:rPr lang="de-DE" dirty="0" err="1"/>
              <a:t>Weights</a:t>
            </a:r>
            <a:r>
              <a:rPr lang="de-DE" dirty="0"/>
              <a:t>, </a:t>
            </a:r>
            <a:r>
              <a:rPr lang="de-DE" dirty="0" err="1"/>
              <a:t>Recurrent</a:t>
            </a:r>
            <a:r>
              <a:rPr lang="de-DE" dirty="0"/>
              <a:t> </a:t>
            </a:r>
            <a:r>
              <a:rPr lang="de-DE" dirty="0" err="1"/>
              <a:t>Weights</a:t>
            </a:r>
            <a:r>
              <a:rPr lang="de-DE" dirty="0"/>
              <a:t> und </a:t>
            </a:r>
            <a:r>
              <a:rPr lang="de-DE" dirty="0" err="1"/>
              <a:t>Biases</a:t>
            </a:r>
            <a:r>
              <a:rPr lang="de-DE" dirty="0"/>
              <a:t> der 3 Gates und des </a:t>
            </a:r>
            <a:r>
              <a:rPr lang="de-DE" dirty="0" err="1"/>
              <a:t>Candidate</a:t>
            </a:r>
            <a:r>
              <a:rPr lang="de-DE" dirty="0"/>
              <a:t> zusammengezählt.</a:t>
            </a:r>
          </a:p>
          <a:p>
            <a:endParaRPr lang="de-DE" dirty="0"/>
          </a:p>
          <a:p>
            <a:r>
              <a:rPr lang="de-DE" dirty="0"/>
              <a:t>Beide Modelle besitzen 6 Input Features. Mit 64 Hidden Units ergeben sich für den SOC-LSTM rund 18.400 Parameter. Beim SOH-LSTM mit 128 Hidden Units sind es rund 69.600.</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Der MLP-Head erhält den Hidden State des LSTM als Input und berechnet daraus den SOC- beziehungsweise SOH-Wert.</a:t>
            </a:r>
          </a:p>
          <a:p>
            <a:endParaRPr lang="de-DE" dirty="0"/>
          </a:p>
          <a:p>
            <a:r>
              <a:rPr lang="de-DE" dirty="0"/>
              <a:t>Seine Parameterzahl ergibt sich aus den Gewichten und </a:t>
            </a:r>
            <a:r>
              <a:rPr lang="de-DE" dirty="0" err="1"/>
              <a:t>Biases</a:t>
            </a:r>
            <a:r>
              <a:rPr lang="de-DE" dirty="0"/>
              <a:t> der Hidden Layer und der Output Layer. In unseren Modellen gilt M gleich H. Damit kommen beim SOC rund 4.200 und beim SOH rund 16.600 Parameter hinzu.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Damit ergeben sich insgesamt rund 23.000 Parameter für das SOC-Modell und 86.000 für das SOH-Modell. Rund 81 % liegen im LSTM-Kern, dessen Parameterzahl vom quadratischen Anteil H² dominiert wird – hier liegt deshalb das größte Potenzial zur Reduktion der Parameterzahl.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Der Ablauf der Versuchsdurchführung ist hier von links nach rechts dargestellt: Dataset, Training, </a:t>
            </a:r>
            <a:r>
              <a:rPr lang="de-DE" dirty="0" err="1"/>
              <a:t>Compression</a:t>
            </a:r>
            <a:r>
              <a:rPr lang="de-DE" dirty="0"/>
              <a:t>, Firmware Export und Hardware Benchmark.</a:t>
            </a:r>
          </a:p>
          <a:p>
            <a:endParaRPr lang="de-DE" dirty="0"/>
          </a:p>
          <a:p>
            <a:pPr lvl="0"/>
            <a:r>
              <a:rPr lang="de-DE" dirty="0"/>
              <a:t>Aus demselben trainierten Modell entstehen zwei getrennte Varianten. Der obere Pfad entfernt Hidden Units und enthält anschließend Fine-Tuning. Der untere Pfad quantisiert die LSTM-</a:t>
            </a:r>
            <a:r>
              <a:rPr lang="de-DE" dirty="0" err="1"/>
              <a:t>Weights</a:t>
            </a:r>
            <a:r>
              <a:rPr lang="de-DE" dirty="0"/>
              <a:t>.</a:t>
            </a:r>
          </a:p>
          <a:p>
            <a:endParaRPr lang="de-DE" dirty="0"/>
          </a:p>
          <a:p>
            <a:pPr lvl="0"/>
            <a:r>
              <a:rPr lang="de-DE" dirty="0"/>
              <a:t>Danach werden die Parameter für die C-Implementierung exportiert. Base, </a:t>
            </a:r>
            <a:r>
              <a:rPr lang="de-DE" dirty="0" err="1"/>
              <a:t>Pruned</a:t>
            </a:r>
            <a:r>
              <a:rPr lang="de-DE" dirty="0"/>
              <a:t> und </a:t>
            </a:r>
            <a:r>
              <a:rPr lang="de-DE" dirty="0" err="1"/>
              <a:t>Quantized</a:t>
            </a:r>
            <a:r>
              <a:rPr lang="de-DE" dirty="0"/>
              <a:t> erhalten denselben Input Stream. Verglichen werden </a:t>
            </a:r>
            <a:r>
              <a:rPr lang="de-DE" dirty="0" err="1"/>
              <a:t>Accuracy</a:t>
            </a:r>
            <a:r>
              <a:rPr lang="de-DE" dirty="0"/>
              <a:t>, Flash, RAM und </a:t>
            </a:r>
            <a:r>
              <a:rPr lang="de-DE" dirty="0" err="1"/>
              <a:t>Inference</a:t>
            </a:r>
            <a:r>
              <a:rPr lang="de-DE" dirty="0"/>
              <a:t> 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Als Nächstes möchte ich noch etwas genauer auf die angewandten Methoden eingehen. Beim Pruning werden ausgewählte Teile eines trainierten Netzes entfernt, um seinen Ressourcenbedarf zu reduzieren. Die Abbildung unterscheidet zwei Arten.</a:t>
            </a:r>
          </a:p>
          <a:p>
            <a:endParaRPr lang="de-DE"/>
          </a:p>
          <a:p>
            <a:pPr lvl="0"/>
            <a:r>
              <a:rPr lang="de-DE"/>
              <a:t>Links steht das unveränderte Modell. In der Mitte werden beim Unstructured Pruning einzelne Weights auf null gesetzt. Die Matrixdimensionen bleiben gleich, ebenso die Länge des Hidden Vectors. Ein Dense Kernel rechnet deshalb weiterhin über dieselben Positionen.</a:t>
            </a:r>
          </a:p>
          <a:p>
            <a:endParaRPr lang="de-DE"/>
          </a:p>
          <a:p>
            <a:pPr lvl="0"/>
            <a:r>
              <a:rPr lang="de-DE"/>
              <a:t>Rechts werden beim Structured Pruning ganze Hidden Units entfernt. Dazu entfallen die zugehörigen Rows, Einträge im Hidden Vector und Columns der folgenden Matrix.</a:t>
            </a:r>
          </a:p>
          <a:p>
            <a:endParaRPr lang="de-DE"/>
          </a:p>
          <a:p>
            <a:pPr lvl="0"/>
            <a:r>
              <a:rPr lang="de-DE"/>
              <a:t>So entstehen tatsächlich kleinere Dense Matrices, mit denen die bestehende FP32-Implementierung rechnen kann. In dieser Arbeit wird Structured Pruning verwendet.</a:t>
            </a:r>
          </a:p>
          <a:p>
            <a:endParaRPr lang="de-DE"/>
          </a:p>
          <a:p>
            <a:pPr lvl="0"/>
            <a:r>
              <a:rPr lang="de-DE"/>
              <a:t>ENDE DES SPRECHTEXTS</a:t>
            </a:r>
          </a:p>
          <a:p>
            <a:endParaRPr lang="de-DE"/>
          </a:p>
          <a:p>
            <a:pPr lvl="0"/>
            <a:r>
              <a:rPr lang="de-DE"/>
              <a:t>Bisherige Hintergrundnotizen und Quellen (nicht mitsprechen)</a:t>
            </a:r>
          </a:p>
          <a:p>
            <a:endParaRPr lang="de-DE"/>
          </a:p>
          <a:p>
            <a:pPr lvl="0"/>
            <a:r>
              <a:rPr lang="de-DE"/>
              <a:t>Unstructured Pruning erzeugt Nullgewichte. Ohne Sparse-Unterstützung werden die unveränderten dichten Matrizen weiterhin vollständig verarbeitet. Structured Pruning entfernt ganze Kanäle und verkleinert damit dichte Tensoren. Bei einem LSTM betrifft dies gekoppelte Gate-Zeilen, rekurrente Spalten, Bias, Zustände und nachgeschaltete MLP-Eingänge. Die Untersuchung nutzt Structured Pruning, damit der vorhandene manuelle FP32-Kernel kleinere Arrays unmittelbar ausführen kann.</a:t>
            </a:r>
          </a:p>
          <a:p>
            <a:endParaRPr lang="de-DE"/>
          </a:p>
          <a:p>
            <a:pPr lvl="0"/>
            <a:r>
              <a:rPr lang="de-DE"/>
              <a:t>Quelle: Florian Rzepka, bereitgestellte Dissertation main(1).pdf, Abschn. 3.5.1 und 7.4, Abb. 3.5, S. 25–27 und 130–132.</a:t>
            </a:r>
          </a:p>
          <a:p>
            <a:endParaRPr lang="de-DE"/>
          </a:p>
          <a:p>
            <a:pPr lvl="0"/>
            <a:r>
              <a:rPr lang="de-DE"/>
              <a:t>Quellenverweise dieser Präsentation (eigene Nummerierung):</a:t>
            </a:r>
          </a:p>
          <a:p>
            <a:pPr lvl="0"/>
            <a:r>
              <a:rPr lang="de-DE"/>
              <a:t>Eigene Pruning-Illustration nach [11], Abb.3.5, S.25. Prinzipien: unstructured [21], structured [22]. Nicht als unveränderte Abbildung aus diesen Papers ausgeben.</a:t>
            </a:r>
          </a:p>
          <a:p>
            <a:endParaRPr lang="de-DE"/>
          </a:p>
          <a:p>
            <a:pPr lvl="0"/>
            <a:r>
              <a:rPr lang="de-DE"/>
              <a:t>[11] F. Rzepka (2026). Deployment-Oriented Neural Network State-Estimation Methods for Battery Management Systems: Ageing Estimation, Robustness Benchmarking, Embedded Optimization, and Hardware Integration. Dissertationsmanuskript, TU Berlin. Grundlage: bereitgestellte main.pdf. </a:t>
            </a:r>
          </a:p>
          <a:p>
            <a:pPr lvl="0"/>
            <a:r>
              <a:rPr lang="de-DE"/>
              <a:t>[21] S. Han, J. Pool, J. Tran und W. J. Dally (2015). Learning Both Weights and Connections for Efficient Neural Networks. NeurIPS 28, 1135–1143. https://proceedings.neurips.cc/paper/2015/hash/ae0eb3eed39d2bcef4622b2499a05fe6-Abstract.html</a:t>
            </a:r>
          </a:p>
          <a:p>
            <a:pPr lvl="0"/>
            <a:r>
              <a:rPr lang="de-DE"/>
              <a:t>[22] W. Wen et al. (2016). Learning Structured Sparsity in Deep Neural Networks. NeurIPS 29, 2074–2082. https://arxiv.org/abs/1608.03665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Um auszuwählen, welche Hidden Units entfernt werden, wird für jede Unit ein </a:t>
            </a:r>
            <a:r>
              <a:rPr lang="de-DE" dirty="0" err="1"/>
              <a:t>Saliency</a:t>
            </a:r>
            <a:r>
              <a:rPr lang="de-DE" dirty="0"/>
              <a:t> Score berechnet, indem die L2-Normen ihrer Input und </a:t>
            </a:r>
            <a:r>
              <a:rPr lang="de-DE" dirty="0" err="1"/>
              <a:t>Recurrent</a:t>
            </a:r>
            <a:r>
              <a:rPr lang="de-DE" dirty="0"/>
              <a:t> Weight </a:t>
            </a:r>
            <a:r>
              <a:rPr lang="de-DE" dirty="0" err="1"/>
              <a:t>Rows</a:t>
            </a:r>
            <a:r>
              <a:rPr lang="de-DE" dirty="0"/>
              <a:t> über alle 4 LSTM-Blöcke addiert werden.</a:t>
            </a:r>
          </a:p>
          <a:p>
            <a:endParaRPr lang="de-DE" dirty="0"/>
          </a:p>
          <a:p>
            <a:pPr lvl="0"/>
            <a:r>
              <a:rPr lang="de-DE" dirty="0"/>
              <a:t>Die Formel oben fasst diese Zeilennormen zusammen. Ein hoher Score bedeutet große </a:t>
            </a:r>
            <a:r>
              <a:rPr lang="de-DE" dirty="0" err="1"/>
              <a:t>Weights</a:t>
            </a:r>
            <a:r>
              <a:rPr lang="de-DE" dirty="0"/>
              <a:t> nach diesem Kriterium und spricht für das Behalten der Unit.</a:t>
            </a:r>
          </a:p>
          <a:p>
            <a:endParaRPr lang="de-DE" dirty="0"/>
          </a:p>
          <a:p>
            <a:pPr lvl="0"/>
            <a:r>
              <a:rPr lang="de-DE" dirty="0"/>
              <a:t>Die Units werden nach ihren Scores sortiert. Der gewählte </a:t>
            </a:r>
            <a:r>
              <a:rPr lang="de-DE" dirty="0" err="1"/>
              <a:t>Pruning</a:t>
            </a:r>
            <a:r>
              <a:rPr lang="de-DE" dirty="0"/>
              <a:t>-Anteil bestimmt, wie viele Units mit den niedrigsten Scores entfernt werden, hier rund 30 %. Das Bild darunter zeigt, dass dadurch auch die zugehörigen Columns der MLP-Eingangsmatrix entfallen.</a:t>
            </a:r>
          </a:p>
          <a:p>
            <a:endParaRPr lang="de-DE" dirty="0"/>
          </a:p>
          <a:p>
            <a:pPr lvl="0"/>
            <a:r>
              <a:rPr lang="de-DE" dirty="0"/>
              <a:t>Die Hidden Size sinkt beim SOC von 64 auf 45, beim SOH von 128 auf 90. Anschließend werden die übernommenen </a:t>
            </a:r>
            <a:r>
              <a:rPr lang="de-DE" dirty="0" err="1"/>
              <a:t>Weights</a:t>
            </a:r>
            <a:r>
              <a:rPr lang="de-DE" dirty="0"/>
              <a:t> durch Fine-Tuning angepasst.</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Mit </a:t>
            </a:r>
            <a:r>
              <a:rPr lang="de-DE" dirty="0" err="1"/>
              <a:t>Quantization</a:t>
            </a:r>
            <a:r>
              <a:rPr lang="de-DE" dirty="0"/>
              <a:t> verändern wir das Zahlenformat der gespeicherten LSTM-</a:t>
            </a:r>
            <a:r>
              <a:rPr lang="de-DE" dirty="0" err="1"/>
              <a:t>Weights</a:t>
            </a:r>
            <a:r>
              <a:rPr lang="de-DE" dirty="0"/>
              <a:t> von FP32 zu INT8. Dabei werden die ursprünglichen Werte auf eine begrenzte Anzahl von Wertestufen abgebildet.</a:t>
            </a:r>
          </a:p>
          <a:p>
            <a:r>
              <a:rPr lang="de-DE" dirty="0"/>
              <a:t>8 Bit bieten grundsätzlich 256 mögliche Codes. Rechts sind verschiedene Varianten dieser Abbildung dargestellt: symmetrisch um 0, </a:t>
            </a:r>
            <a:r>
              <a:rPr lang="de-DE" dirty="0" err="1"/>
              <a:t>unsigned</a:t>
            </a:r>
            <a:r>
              <a:rPr lang="de-DE" dirty="0"/>
              <a:t> mit einem bei 0 beginnenden Wertebereich und asymmetrisch mit einem verschobenen Nullpunkt.</a:t>
            </a:r>
          </a:p>
          <a:p>
            <a:br>
              <a:rPr lang="de-DE" dirty="0"/>
            </a:br>
            <a:r>
              <a:rPr lang="de-DE" dirty="0"/>
              <a:t>In dieser Arbeit verwenden wir die symmetrische Variante von −127 bis +127. Dafür wird für jede Weight Row ein eigener Skalierungsfaktor berechnet: der größte Betrag innerhalb der Row, geteilt durch 127.</a:t>
            </a:r>
          </a:p>
          <a:p>
            <a:r>
              <a:rPr lang="de-DE" dirty="0"/>
              <a:t>Anschließend werden die </a:t>
            </a:r>
            <a:r>
              <a:rPr lang="de-DE" dirty="0" err="1"/>
              <a:t>Weights</a:t>
            </a:r>
            <a:r>
              <a:rPr lang="de-DE" dirty="0"/>
              <a:t> durch diesen Faktor geteilt, gerundet und auf den erlaubten Bereich begrenzt. Gespeichert werden die ganzzahligen Werte und der zugehörige Skalierungsfaktor.</a:t>
            </a:r>
          </a:p>
          <a:p>
            <a:br>
              <a:rPr lang="de-DE" dirty="0"/>
            </a:br>
            <a:r>
              <a:rPr lang="de-DE" dirty="0"/>
              <a:t>Während der Berechnung werden die Werte mit diesem Faktor wieder in FP32-Werte zurückgerechnet. Diese </a:t>
            </a:r>
            <a:r>
              <a:rPr lang="de-DE" dirty="0" err="1"/>
              <a:t>Dequantisierung</a:t>
            </a:r>
            <a:r>
              <a:rPr lang="de-DE" dirty="0"/>
              <a:t> rekonstruiert allerdings nur Näherungen der ursprünglichen </a:t>
            </a:r>
            <a:r>
              <a:rPr lang="de-DE" dirty="0" err="1"/>
              <a:t>Weights</a:t>
            </a:r>
            <a:r>
              <a:rPr lang="de-DE" dirty="0"/>
              <a:t>. Durch die Rundung gehen Informationen verloren, die sich beim Zurückrechnen nicht wiederherstellen lassen.</a:t>
            </a:r>
          </a:p>
          <a:p>
            <a:r>
              <a:rPr lang="de-DE" dirty="0"/>
              <a:t>Damit benötigt ein gespeichertes Weight nur noch 1 Byte statt 4, zuzüglich des Skalierungsfaktors pro Row.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Hier sehen wir die absoluten Schätzfehler der drei Modellvarianten Base, </a:t>
            </a:r>
            <a:r>
              <a:rPr lang="de-DE" dirty="0" err="1"/>
              <a:t>Pruned</a:t>
            </a:r>
            <a:r>
              <a:rPr lang="de-DE" dirty="0"/>
              <a:t> und </a:t>
            </a:r>
            <a:r>
              <a:rPr lang="de-DE" dirty="0" err="1"/>
              <a:t>Quantized</a:t>
            </a:r>
            <a:r>
              <a:rPr lang="de-DE" dirty="0"/>
              <a:t> als Boxplots.</a:t>
            </a:r>
          </a:p>
          <a:p>
            <a:endParaRPr lang="de-DE" dirty="0"/>
          </a:p>
          <a:p>
            <a:r>
              <a:rPr lang="de-DE" dirty="0"/>
              <a:t>Beim SOC liegt die </a:t>
            </a:r>
            <a:r>
              <a:rPr lang="de-DE" dirty="0" err="1"/>
              <a:t>Accuracy</a:t>
            </a:r>
            <a:r>
              <a:rPr lang="de-DE" dirty="0"/>
              <a:t> in einem ähnlichen Bereich: Die MAE-Werte liegen zwischen 2,3 und 2,8 Prozentpunkten. Beim SOH steigen die Fehler nach der Kompression von 0,85 auf etwa 1,4 bis 1,5 Prozentpunkte.</a:t>
            </a:r>
          </a:p>
          <a:p>
            <a:endParaRPr lang="de-DE" dirty="0"/>
          </a:p>
          <a:p>
            <a:r>
              <a:rPr lang="de-DE" dirty="0"/>
              <a:t>Diese Ergebnisse bilden die Grundlage für den anschließenden Vergleich von Speicherbedarf und Laufzeit. So können wir die Ressourcengewinne durch </a:t>
            </a:r>
            <a:r>
              <a:rPr lang="de-DE" dirty="0" err="1"/>
              <a:t>Pruning</a:t>
            </a:r>
            <a:r>
              <a:rPr lang="de-DE" dirty="0"/>
              <a:t> und </a:t>
            </a:r>
            <a:r>
              <a:rPr lang="de-DE" dirty="0" err="1"/>
              <a:t>Quantization</a:t>
            </a:r>
            <a:r>
              <a:rPr lang="de-DE" dirty="0"/>
              <a:t> gemeinsam mit den Veränderungen der </a:t>
            </a:r>
            <a:r>
              <a:rPr lang="de-DE" dirty="0" err="1"/>
              <a:t>Accuracy</a:t>
            </a:r>
            <a:r>
              <a:rPr lang="de-DE" dirty="0"/>
              <a:t> bewerten.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Das Balkendiagramm zeigt den Speicherbedarf im Flash, jeweils für Base, Pruned und Quantized. Die dunklen Balken stehen für SOC, die hellen für SOH. Die Einheit ist KiB.</a:t>
            </a:r>
          </a:p>
          <a:p>
            <a:endParaRPr lang="de-DE"/>
          </a:p>
          <a:p>
            <a:pPr lvl="0"/>
            <a:r>
              <a:rPr lang="de-DE"/>
              <a:t>Beide Methoden reduzieren den Speicherbedarf; Quantization spart hier mehr Flash. Die Tabelle rechts zeigt knapp fünfzig Prozent beim SOC und rund sechsundfünfzig Prozent beim SOH. Pruning erreicht etwa siebenunddreißig beziehungsweise dreiundvierzig Prozent.</a:t>
            </a:r>
          </a:p>
          <a:p>
            <a:endParaRPr lang="de-DE"/>
          </a:p>
          <a:p>
            <a:pPr lvl="0"/>
            <a:r>
              <a:rPr lang="de-DE"/>
              <a:t>Die Flash-Bilanz umfasst neben den Weights auch Programmcode und Runtime. Deshalb entspricht die Gesamtersparnis nicht einfach dem Faktor vier der INT8-Speicherung.</a:t>
            </a:r>
          </a:p>
          <a:p>
            <a:endParaRPr lang="de-DE"/>
          </a:p>
          <a:p>
            <a:pPr lvl="0"/>
            <a:r>
              <a:rPr lang="de-DE"/>
              <a:t>Die RAM-Bilanz umfasst statische Variablen und Puffer sowie den maximal beobachteten Stack. Die Einsparungen bleiben mit ungefähr achtzehn bis dreiundzwanzig Prozent kleiner, weil States und Activations weiterhin FP32 sind.</a:t>
            </a:r>
          </a:p>
          <a:p>
            <a:endParaRPr lang="de-DE"/>
          </a:p>
          <a:p>
            <a:pPr lvl="0"/>
            <a:r>
              <a:rPr lang="de-DE"/>
              <a:t>ENDE DES SPRECHTEXTS</a:t>
            </a:r>
          </a:p>
          <a:p>
            <a:endParaRPr lang="de-DE"/>
          </a:p>
          <a:p>
            <a:pPr lvl="0"/>
            <a:r>
              <a:rPr lang="de-DE"/>
              <a:t>Bisherige Hintergrundnotizen und Quellen (nicht mitsprechen)</a:t>
            </a:r>
          </a:p>
          <a:p>
            <a:endParaRPr lang="de-DE"/>
          </a:p>
          <a:p>
            <a:pPr lvl="0"/>
            <a:r>
              <a:rPr lang="de-DE"/>
              <a:t>Flash-Bilanz: F_Firmware = F_Gewichte + F_Code + F_Konstanten. F_Gewichte bezeichnet den persistenten Gewichtsspeicher; F_Code umfasst Programmcode; F_Konstanten umfasst weitere gespeicherte Konstanten wie Biaswerte, Feature-Skalierung und Quantisierungsskalen.</a:t>
            </a:r>
          </a:p>
          <a:p>
            <a:pPr lvl="0"/>
            <a:r>
              <a:rPr lang="de-DE"/>
              <a:t>Die Quantisierungsskalen sind FP32-Skalierungsfaktoren pro Matrixzeile. Zusammen mit den gespeicherten INT8-Gewichtscodes erlauben sie die näherungsweise Dequantization eines Gewichts: W_hat[r,k] = s_r q[r,k]. Ein Skalenwert gilt für mehrere Gewichte einer Zeile. Er ist kein zusätzliches trainiertes Gewicht. Die Skalen zählen hier zu F_Konstanten und nicht ein zweites Mal zu F_Gewichte.</a:t>
            </a:r>
          </a:p>
          <a:p>
            <a:pPr lvl="0"/>
            <a:r>
              <a:rPr lang="de-DE"/>
              <a:t>RAM in Kapitel 7: Summe aus initialisiertem statischem Speicher (.data), nullinitialisiertem statischem Speicher (.bss) und dem größten beobachteten Stack-Bedarf während des Streaming-Replays. Die statischen Speicherbereiche ergeben sich aus der gelinkten Firmware. Der Stack-Anteil wird während der Ausführung beobachtet. Dies ist ein beobachteter maximaler Bedarf im Test, keine formale Worst-Case-Grenze. Abschnitt 7.6.2 nennt keinen zusätzlichen Heap-Anteil und beschreibt keine konkrete Stack-Messinstrumentierung. Das detailliertere Heap-/High-Water-Mark-Protokoll aus Kapitel 6 wird deshalb nicht auf diese Studie übertragen.</a:t>
            </a:r>
          </a:p>
          <a:p>
            <a:pPr lvl="0"/>
            <a:r>
              <a:rPr lang="de-DE"/>
              <a:t>RAM-Werte gemäß Tabelle 7.1: SOC Base 4,93 KB, Pruned 4,03 KB, Quantized 3,96 KB. Gemäß Tabelle 7.2: SOH Base 8,69 KB, Pruned 6,96 KB, Quantized 6,70 KB. Einsparung = 100 × (1 − RAM_Variante / RAM_Base). Gerundet auf eine Nachkommastelle: Pruned 18,3 % (SOC) und 19,9 % (SOH), Quantized 19,7 % (SOC) und 22,9 % (SOH).</a:t>
            </a:r>
          </a:p>
          <a:p>
            <a:pPr lvl="0"/>
            <a:r>
              <a:rPr lang="de-DE"/>
              <a:t>Die RAM-Ersparnis liegt deutlich unter der Flash-Ersparnis. Quantized behält FP32-Zustände, Gate-Aktivierungen und FP32-Arithmetik bei. Die Weight-only-Quantisierung reduziert daher vor allem den persistenten Gewichtsspeicher. Die gemessene verbleibende RAM-Differenz ist ein Firmware-Befund; ohne Speicherprofiling folgt daraus keine quantifizierte kausale Zuordnung einzelner Buffer oder Stack-Anteile.</a:t>
            </a:r>
          </a:p>
          <a:p>
            <a:pPr lvl="0"/>
            <a:r>
              <a:rPr lang="de-DE"/>
              <a:t>Quellen: main(1).pdf, Kapitel 7, Abschnitte 7.5 und 7.6.2, S. 132–137, Tabellen 7.1 und 7.2 sowie Abbildung 7.12. Einheiten der tabellarischen Speicherwerte hier gemäß Dissertation (KB).</a:t>
            </a:r>
          </a:p>
          <a:p>
            <a:pPr lvl="0"/>
            <a:r>
              <a:rPr lang="de-DE"/>
              <a:t>RAM-Bilanz in der vereinfachten funktionalen Darstellung: R_gesamt = R_Variablen + R_Puffer + R_Stack,max. Variablen und Puffer bilden gemeinsam den statisch belegten RAM. Erfasst werden sowohl initialisierte als auch nullinitialisierte statische Speicherbereiche.</a:t>
            </a:r>
          </a:p>
          <a:p>
            <a:pPr lvl="0"/>
            <a:r>
              <a:rPr lang="de-DE"/>
              <a:t>Die drei Summanden sind disjunkt definiert: R_Variablen bezeichnet die übrigen statischen Variablen ohne die unter R_Puffer gezählten statischen Puffer. Temporäre Variablen oder Puffer auf dem Stack gehören ausschließlich zum Stack-Anteil. Damit wird kein Speicher doppelt gezählt. Die Dissertation berichtet den statischen Gesamtanteil und den beobachteten Stack-Höchstbedarf, keine separat gemessenen Variablen-/Puffer-KPIs.</a:t>
            </a:r>
          </a:p>
          <a:p>
            <a:pPr lvl="0"/>
            <a:r>
              <a:rPr lang="de-DE"/>
              <a:t>R_Stack,max bezeichnet den größten beobachteten Stack-Bedarf im Streaming-Replay. Die Formel erläutert dieselbe Messgrenze wie in Abschnitt 7.6.2, S. 137. Sie ist keine zusätzliche Worst-Case-Messung.</a:t>
            </a:r>
          </a:p>
          <a:p>
            <a:pPr lvl="0"/>
            <a:r>
              <a:rPr lang="de-DE"/>
              <a:t>Der Vergleich rechts gruppiert die prozentualen Einsparungen gegenüber der jeweiligen Base-Firmware nach Pruning und Quantized. SOC und SOH stehen in festen Spalten. Flash: Pruning 37,2 % / 43,3 %, Quantized 49,7 % / 55,9 %. RAM: Pruning 18,3 % / 19,9 %, Quantized 19,7 % / 22,9 %. Grundlage: Tabellen 7.1 und 7.2.</a:t>
            </a:r>
          </a:p>
          <a:p>
            <a:endParaRPr lang="de-DE"/>
          </a:p>
          <a:p>
            <a:pPr lvl="0"/>
            <a:r>
              <a:rPr lang="de-DE"/>
              <a:t>Quellenverweise dieser Präsentation (eigene Nummerierung):</a:t>
            </a:r>
          </a:p>
          <a:p>
            <a:pPr lvl="0"/>
            <a:r>
              <a:rPr lang="de-DE"/>
              <a:t>Eigene Messwerte und Abbildungen: [11], §§7.6–7.12, S.135–151. Studie [20]. Aktuelle Werte nach Dissertationsfassung, keine unabhängigen Messergebnisse der zitierten Grundlagenpapiere. Flash/RAM/Laufzeit: eigene Messmethodik S.135–137.</a:t>
            </a:r>
          </a:p>
          <a:p>
            <a:endParaRPr lang="de-DE"/>
          </a:p>
          <a:p>
            <a:pPr lvl="0"/>
            <a:r>
              <a:rPr lang="de-DE"/>
              <a:t>[11] F. Rzepka (2026). Deployment-Oriented Neural Network State-Estimation Methods for Battery Management Systems: Ageing Estimation, Robustness Benchmarking, Embedded Optimization, and Hardware Integration. Dissertationsmanuskript, TU Berlin. Grundlage: bereitgestellte main.pdf. </a:t>
            </a:r>
          </a:p>
          <a:p>
            <a:pPr lvl="0"/>
            <a:r>
              <a:rPr lang="de-DE"/>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Die Histogramme zeigen die Host Latency für SOC und SOH. Die Tabelle rechts trennt diese von der reinen Kernel Time auf dem STM32.</a:t>
            </a:r>
          </a:p>
          <a:p>
            <a:endParaRPr lang="de-DE"/>
          </a:p>
          <a:p>
            <a:pPr lvl="0"/>
            <a:r>
              <a:rPr lang="de-DE"/>
              <a:t>Ergebnis: Pruning verkürzt die Kernel Time bei beiden Modellen um etwa 43 bis 44 %. Bei der Host Latency ist der Gewinn beim SOC mit knapp 4 % deutlich kleiner als beim SOH mit rund 29 %.</a:t>
            </a:r>
          </a:p>
          <a:p>
            <a:endParaRPr lang="de-DE"/>
          </a:p>
          <a:p>
            <a:pPr lvl="0"/>
            <a:r>
              <a:rPr lang="de-DE"/>
              <a:t>Ursache: Weniger Hidden Units bedeuten weniger Rechenoperationen. Beim SOC entfällt aber ein großer Teil der Gesamtzeit auf Übertragung und Scheduling.</a:t>
            </a:r>
          </a:p>
          <a:p>
            <a:endParaRPr lang="de-DE"/>
          </a:p>
          <a:p>
            <a:pPr lvl="0"/>
            <a:r>
              <a:rPr lang="de-DE"/>
              <a:t>Fazit: Für einen größeren End-to-End-Gewinn müssen Übertragung und Scheduling weiter optimiert werden.</a:t>
            </a:r>
          </a:p>
          <a:p>
            <a:endParaRPr lang="de-DE"/>
          </a:p>
          <a:p>
            <a:pPr lvl="0"/>
            <a:r>
              <a:rPr lang="de-DE"/>
              <a:t>ENDE DES SPRECHTEXTS</a:t>
            </a:r>
          </a:p>
          <a:p>
            <a:endParaRPr lang="de-DE"/>
          </a:p>
          <a:p>
            <a:pPr lvl="0"/>
            <a:r>
              <a:rPr lang="de-DE"/>
              <a:t>Bisherige Hintergrundnotizen und Quellen (nicht mitsprechen)</a:t>
            </a:r>
          </a:p>
          <a:p>
            <a:endParaRPr lang="de-DE"/>
          </a:p>
          <a:p>
            <a:pPr lvl="0"/>
            <a:r>
              <a:rPr lang="de-DE"/>
              <a:t>Messbasis: Dissertation, Tabellen 7.1 und 7.2, S. 137; unveränderte Histogramme aus Abbildung 7.13, S. 148. Alle Prozentänderungen relativ zum jeweiligen Base-Modell derselben Aufgabe und desselben Messintervalls, aus den publizierten gerundeten Mittelwerten berechnet. Negative Werte bedeuten kürzere, positive Werte längere Zeiten. Vollständige absolute Werte in Anhang 14.</a:t>
            </a:r>
          </a:p>
          <a:p>
            <a:pPr lvl="0"/>
            <a:r>
              <a:rPr lang="de-DE"/>
              <a:t>Kernelzeit: DWT-Cycle-Counter um LSTM und MLP auf dem STM32; Mittelwert über 10 000 Streaming-Updates, einschließlich der im Kernel ausgeführten Instruktionen und Speicherzugriffe. Ohne UART, Host-Verarbeitung, Sensoraufnahme und hostseitige Feature-Erstellung. Host-Latenz: End-to-End-Dauer aus Sicht des Hosts, einschließlich Übertragung, Scheduling, Kernel-Ausführung und Rückgabe.</a:t>
            </a:r>
          </a:p>
          <a:p>
            <a:pPr lvl="0"/>
            <a:r>
              <a:rPr lang="de-DE"/>
              <a:t>Messgrenze: SOC-Feature-Skalierung innerhalb des gemessenen Aufrufs. Bei SOH liegt sie für Base und Pruned unmittelbar davor, im Quantized-Forward-Path innerhalb. Dieser kleine affine Anteil wurde nicht separat quantifiziert. Hard-float-Interface und Cortex-M7-FPU, deaktivierte Compileroptimierung. Ergebnisse der beschriebenen Referenzkernel, keine allgemeine Aussage über jede Pruning- oder Quantisierungsimplementierung.</a:t>
            </a:r>
          </a:p>
          <a:p>
            <a:pPr lvl="0"/>
            <a:r>
              <a:rPr lang="de-DE"/>
              <a:t>Pruning: Weniger Hidden Units, kleinere recurrent matrices und schmalerer Eingang des MLP-Heads; dadurch weniger Modelloperationen. Rund 30 % weniger Hidden Units reduzieren die Modell-MACs auf 54,9 % (SOC) beziehungsweise 54,3 % (SOH) der jeweiligen Base.</a:t>
            </a:r>
          </a:p>
          <a:p>
            <a:pPr lvl="0"/>
            <a:r>
              <a:rPr lang="de-DE"/>
              <a:t>SOC: Kernel 1,40 → 0,80 ms, also −42,9 %; Host 12,70 → 12,20 ms, also −3,9 %. SOH: Kernel 22,73 → 12,72 ms, also −44,0 %; Host 34,88 → 24,69 ms, also −29,2 %. Prozentänderung: 100 × (Zeit Variante / Zeit Base − 1). Die Formel wird zur Berechnung verwendet und bewusst nicht auf der Folie angezeigt.</a:t>
            </a:r>
          </a:p>
          <a:p>
            <a:pPr lvl="0"/>
            <a:r>
              <a:rPr lang="de-DE"/>
              <a:t>Interpretation: Die vergleichbare relative Kernel-Beschleunigung durch Pruning schlägt bei SOH stärker auf die Host-Latenz durch, weil der größere SOH-Kern mehr absolute Rechenzeit einspart. Beim SOC dominiert der außerhalb des Kernels liegende Anteil. Die Differenz von Host- und Kernel-Mittelwert beträgt für SOC ungefähr 11,3–11,5 ms, für SOH rund 12 ms. Dies sind abgeleitete Restzeiten, keine separat gemessenen UART-Zeitanteile. Übertragung, Scheduling und Rückgabe werden nicht isoliert profiliert.</a:t>
            </a:r>
          </a:p>
          <a:p>
            <a:pPr lvl="0"/>
            <a:r>
              <a:rPr lang="de-DE"/>
              <a:t>Ausblick: Übertragung und Scheduling des Test- und Deployment-Pfads untersuchen und optimieren, damit ein schnellerer Kernel stärker auf die End-to-End-Latenz durchschlägt. Pruning erzielt bereits einen messbaren Host-Gewinn; dieser ist bei SOC wesentlich kleiner als der Kernel-Gewinn. Quelle: Dissertation, Abschnitte 7.6.2, 7.11, 7.12.2 und 7.12.3, S. 136–137, 144–150.</a:t>
            </a:r>
          </a:p>
          <a:p>
            <a:pPr lvl="0"/>
            <a:r>
              <a:rPr lang="de-DE"/>
              <a:t>Messbereich in der Tabelle: Kernelzeit (STM32) bezeichnet die lokale Modellberechnung; Host-Latenz (PC ↔ STM32) bezeichnet den vollständigen Round Trip einschließlich Übertragung vom PC, Scheduling, Modellberechnung auf dem STM32 und Rückgabe an den PC. STM32 to PC allein würde nur die Rückrichtung beschreiben. Bei Quantized sind die individuellen Ursachenanteile nicht separat gemessen; Dequantization ist ein bekannter zusätzlicher Arbeitsschritt, weitere Beiträge bleiben mögliche Erklärungen.</a:t>
            </a:r>
          </a:p>
          <a:p>
            <a:endParaRPr lang="de-DE"/>
          </a:p>
          <a:p>
            <a:pPr lvl="0"/>
            <a:r>
              <a:rPr lang="de-DE"/>
              <a:t>Quellenverweise dieser Präsentation (eigene Nummerierung):</a:t>
            </a:r>
          </a:p>
          <a:p>
            <a:pPr lvl="0"/>
            <a:r>
              <a:rPr lang="de-DE"/>
              <a:t>Eigene Messwerte und Abbildungen: [11], §§7.6–7.12, S.135–151. Studie [20]. Aktuelle Werte nach Dissertationsfassung, keine unabhängigen Messergebnisse der zitierten Grundlagenpapiere. Flash/RAM/Laufzeit: eigene Messmethodik S.135–137.</a:t>
            </a:r>
          </a:p>
          <a:p>
            <a:endParaRPr lang="de-DE"/>
          </a:p>
          <a:p>
            <a:pPr lvl="0"/>
            <a:r>
              <a:rPr lang="de-DE"/>
              <a:t>[11] F. Rzepka (2026). Deployment-Oriented Neural Network State-Estimation Methods for Battery Management Systems: Ageing Estimation, Robustness Benchmarking, Embedded Optimization, and Hardware Integration. Dissertationsmanuskript, TU Berlin. Grundlage: bereitgestellte main.pdf. </a:t>
            </a:r>
          </a:p>
          <a:p>
            <a:pPr lvl="0"/>
            <a:r>
              <a:rPr lang="de-DE"/>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Bei Quantization verschieben sich die Histogramme dagegen zu längeren Host Latencies. Die Tabelle zeigt auch längere Kernel Times: beim SOC ungefähr auf das 5-Fache, beim SOH um rund 29 %.</a:t>
            </a:r>
          </a:p>
          <a:p>
            <a:endParaRPr lang="de-DE"/>
          </a:p>
          <a:p>
            <a:pPr lvl="0"/>
            <a:r>
              <a:rPr lang="de-DE"/>
              <a:t>Die INT8-Weights sparen Flash, werden hier aber in einer FP32-Rechnung verwendet. Konversion und Skalierung können zusätzlichen Aufwand erzeugen; die Zahl der Modell-MACs sinkt nicht. Welche Operation den Mehraufwand genau verursacht, müsste ein gezieltes Profiling auflösen.</a:t>
            </a:r>
          </a:p>
          <a:p>
            <a:endParaRPr lang="de-DE"/>
          </a:p>
          <a:p>
            <a:pPr lvl="0"/>
            <a:r>
              <a:rPr lang="de-DE"/>
              <a:t>Die Aussage gilt für diese Implementierung und die dokumentierte Benchmarkkonfiguration. Kleinere gespeicherte Zahlen machen einen bestehenden Kernel nicht automatisch schneller. Dafür muss auch die Ausführung das Zahlenformat effizient nutzen.</a:t>
            </a:r>
          </a:p>
          <a:p>
            <a:endParaRPr lang="de-DE"/>
          </a:p>
          <a:p>
            <a:pPr lvl="0"/>
            <a:r>
              <a:rPr lang="de-DE"/>
              <a:t>ENDE DES SPRECHTEXTS</a:t>
            </a:r>
          </a:p>
          <a:p>
            <a:endParaRPr lang="de-DE"/>
          </a:p>
          <a:p>
            <a:pPr lvl="0"/>
            <a:r>
              <a:rPr lang="de-DE"/>
              <a:t>Bisherige Hintergrundnotizen und Quellen (nicht mitsprechen)</a:t>
            </a:r>
          </a:p>
          <a:p>
            <a:endParaRPr lang="de-DE"/>
          </a:p>
          <a:p>
            <a:pPr lvl="0"/>
            <a:r>
              <a:rPr lang="de-DE"/>
              <a:t>Messbasis: Dissertation, Tabellen 7.1 und 7.2, S. 137; unveränderte Histogramme aus Abbildung 7.13, S. 148. Alle Prozentänderungen relativ zum jeweiligen Base-Modell derselben Aufgabe und desselben Messintervalls, aus den publizierten gerundeten Mittelwerten berechnet. Negative Werte bedeuten kürzere, positive Werte längere Zeiten. Vollständige absolute Werte in Anhang 14.</a:t>
            </a:r>
          </a:p>
          <a:p>
            <a:pPr lvl="0"/>
            <a:r>
              <a:rPr lang="de-DE"/>
              <a:t>Kernelzeit: DWT-Cycle-Counter um LSTM und MLP auf dem STM32; Mittelwert über 10 000 Streaming-Updates, einschließlich der im Kernel ausgeführten Instruktionen und Speicherzugriffe. Ohne UART, Host-Verarbeitung, Sensoraufnahme und hostseitige Feature-Erstellung. Host-Latenz: End-to-End-Dauer aus Sicht des Hosts, einschließlich Übertragung, Scheduling, Kernel-Ausführung und Rückgabe.</a:t>
            </a:r>
          </a:p>
          <a:p>
            <a:pPr lvl="0"/>
            <a:r>
              <a:rPr lang="de-DE"/>
              <a:t>Messgrenze: SOC-Feature-Skalierung innerhalb des gemessenen Aufrufs. Bei SOH liegt sie für Base und Pruned unmittelbar davor, im Quantized-Forward-Path innerhalb. Dieser kleine affine Anteil wurde nicht separat quantifiziert. Hard-float-Interface und Cortex-M7-FPU, deaktivierte Compileroptimierung. Ergebnisse der beschriebenen Referenzkernel, keine allgemeine Aussage über jede Pruning- oder Quantisierungsimplementierung.</a:t>
            </a:r>
          </a:p>
          <a:p>
            <a:pPr lvl="0"/>
            <a:r>
              <a:rPr lang="de-DE"/>
              <a:t>Quantized: SOC-Kernel 1,40 → 6,99 ms, also +399,3 % beziehungsweise rund fünffache Zeit; SOC-Host 12,70 → 18,48 ms, also +45,5 %. SOH-Kernel 22,73 → 29,21 ms, also +28,5 %; SOH-Host 34,88 → 41,23 ms, also +18,2 %. Alle Änderungen relativ zu Base, nicht relativ zu Pruned.</a:t>
            </a:r>
          </a:p>
          <a:p>
            <a:pPr lvl="0"/>
            <a:r>
              <a:rPr lang="de-DE"/>
              <a:t>Gesicherte Implementierungseigenschaften: Nur die recurrent matrices W_ih und W_hh sind als INT8 gespeichert. Jedes recurrent weight wird während der Akkumulation nach FP32 konvertiert und mit seiner FP32-Row-Scale multipliziert. Scales, Biases, Hidden/Cell State, Gate Activations, MLP und Akkumulation verbleiben in FP32. Daher zusätzlicher Konvertierungs- und Skalierungsaufwand bei unveränderter Topologie und Modell-MAC-Anzahl. Dies ist Weight-only Mixed Precision und keine vollintegere Inferenz. Die betrachteten handgeschriebenen C-Kernel sind ohne Compileroptimierung gebaut.</a:t>
            </a:r>
          </a:p>
          <a:p>
            <a:pPr lvl="0"/>
            <a:r>
              <a:rPr lang="de-DE"/>
              <a:t>Die Dissertation nennt 17 920 zusätzliche skalare Multiplikationen für SOC und 68 608 für SOH. Die vereinfachte statische Operationsquote ist für beide etwa 1,81; die gemessenen Kernelzeitquoten unterscheiden sich dagegen deutlich: 4,99 und 1,29. Daher keine vollständige Erklärung des SOC-Anstiegs allein durch Dequantization.</a:t>
            </a:r>
          </a:p>
          <a:p>
            <a:pPr lvl="0"/>
            <a:r>
              <a:rPr lang="de-DE"/>
              <a:t>Weitere mögliche Beiträge gemäß Dissertation: Integer-to-Float-Konvertierung, Indexierung, Schleifen, Loads/Stores, nichtlineare Funktionen, Cache-Verhalten und fehlender optimierter Integer-Dot-Product-Kernel. Kein operation-level oder memory-bandwidth Profiling; quantitative Ursachenanteile sind nicht gemessen. Die Folie trennt belegte Implementierungseigenschaften von möglichen zusätzlichen Einflüssen.</a:t>
            </a:r>
          </a:p>
          <a:p>
            <a:pPr lvl="0"/>
            <a:r>
              <a:rPr lang="de-DE"/>
              <a:t>Ausblick: Cycle- und Speicherprofiling, Scale-Hoisting aus der inneren Schleife, zusammengefasste Scale-/Bias-Verarbeitung und DSP-orientierte Dot Products prüfen. Vollinteger-Kernel wären ein weitergehender Ansatz mit quantisierten Aktivierungen und Zuständen und erneuter Genauigkeitsprüfung. Ein höherer Optimierungsgrad muss ebenfalls auf numerische Gleichwertigkeit geprüft werden. Diese Verbesserungen wurden hier nicht gemessen.</a:t>
            </a:r>
          </a:p>
          <a:p>
            <a:pPr lvl="0"/>
            <a:r>
              <a:rPr lang="de-DE"/>
              <a:t>Quelle: Dissertation, Abschnitte 7.5, 7.6.2, 7.11 und 7.12.2, S. 133–137 und 144–149. Ergänzender technischer Kontext, kein Nachweis für die hier gemessenen Ursachenanteile: Arm CMSIS-NN beschreibt architekturspezifisch optimierte Cortex-M-Kernel, DSP/SIMD-Implementierungen und den Einfluss von Compileroptionen auf die Laufzeit: https://github.com/ARM-software/CMSIS-NN (abgerufen 11.09.2026).</a:t>
            </a:r>
          </a:p>
          <a:p>
            <a:pPr lvl="0"/>
            <a:r>
              <a:rPr lang="de-DE"/>
              <a:t>Messbereich in der Tabelle: Kernelzeit (STM32) bezeichnet die lokale Modellberechnung; Host-Latenz (PC ↔ STM32) bezeichnet den vollständigen Round Trip einschließlich Übertragung vom PC, Scheduling, Modellberechnung auf dem STM32 und Rückgabe an den PC. STM32 to PC allein würde nur die Rückrichtung beschreiben. Bei Quantized sind die individuellen Ursachenanteile nicht separat gemessen; Dequantization ist ein bekannter zusätzlicher Arbeitsschritt, weitere Beiträge bleiben mögliche Erklärungen.</a:t>
            </a:r>
          </a:p>
          <a:p>
            <a:endParaRPr lang="de-DE"/>
          </a:p>
          <a:p>
            <a:pPr lvl="0"/>
            <a:r>
              <a:rPr lang="de-DE"/>
              <a:t>Quellenverweise dieser Präsentation (eigene Nummerierung):</a:t>
            </a:r>
          </a:p>
          <a:p>
            <a:pPr lvl="0"/>
            <a:r>
              <a:rPr lang="de-DE"/>
              <a:t>Eigene Messwerte und Abbildungen: [11], §§7.6–7.12, S.135–151. Studie [20]. Aktuelle Werte nach Dissertationsfassung, keine unabhängigen Messergebnisse der zitierten Grundlagenpapiere. Flash/RAM/Laufzeit: eigene Messmethodik S.135–137.</a:t>
            </a:r>
          </a:p>
          <a:p>
            <a:endParaRPr lang="de-DE"/>
          </a:p>
          <a:p>
            <a:pPr lvl="0"/>
            <a:r>
              <a:rPr lang="de-DE"/>
              <a:t>[11] F. Rzepka (2026). Deployment-Oriented Neural Network State-Estimation Methods for Battery Management Systems: Ageing Estimation, Robustness Benchmarking, Embedded Optimization, and Hardware Integration. Dissertationsmanuskript, TU Berlin. Grundlage: bereitgestellte main.pdf. </a:t>
            </a:r>
          </a:p>
          <a:p>
            <a:pPr lvl="0"/>
            <a:r>
              <a:rPr lang="de-DE"/>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a:t>Damit komme ich zum Fazit meiner Arbeit.</a:t>
            </a:r>
          </a:p>
          <a:p>
            <a:endParaRPr lang="de-DE"/>
          </a:p>
          <a:p>
            <a:pPr lvl="0"/>
            <a:r>
              <a:rPr lang="de-DE"/>
              <a:t>1. Geeignetes Feature Engineering und explizite Lag Sequences ermöglichen zeitabhängige SOH-Schätzungen mit einem MLP, also auch ohne rekurrente Architektur. Die Übertragbarkeit hängt dabei von den Trainingsdaten und den erfassten Ageing-Verläufen ab.</a:t>
            </a:r>
          </a:p>
          <a:p>
            <a:endParaRPr lang="de-DE"/>
          </a:p>
          <a:p>
            <a:pPr lvl="0"/>
            <a:r>
              <a:rPr lang="de-DE"/>
              <a:t>2. Nominal Accuracy allein reicht für einen aussagekräftigen Benchmark nicht aus. Dafür müssen Accuracy, Robustness und Hardwarebedarf gemeinsam betrachtet werden. Der Robustness Benchmark ergänzt die nominalen Fehlerwerte um das Verhalten bei Störungen und die Recovery.</a:t>
            </a:r>
          </a:p>
          <a:p>
            <a:endParaRPr lang="de-DE"/>
          </a:p>
          <a:p>
            <a:pPr lvl="0"/>
            <a:r>
              <a:rPr lang="de-DE"/>
              <a:t>3. Modellkompression ermöglicht Ressourcengewinne. Structured Pruning reduziert hier Speicherbedarf und Kernel Time. Weight-only INT8 Quantization spart Flash, erhöht in der verwendeten Implementierung aber die Kernel Time.</a:t>
            </a:r>
          </a:p>
          <a:p>
            <a:endParaRPr lang="de-DE"/>
          </a:p>
          <a:p>
            <a:pPr lvl="0"/>
            <a:r>
              <a:rPr lang="de-DE"/>
              <a:t>Die Arbeit zeigt, wie sich neuronale State Estimation vom Input bis zum Deployment auf dem Microcontroller systematisch bewerten und optimieren lässt.</a:t>
            </a:r>
          </a:p>
          <a:p>
            <a:endParaRPr lang="de-DE"/>
          </a:p>
          <a:p>
            <a:pPr lvl="0"/>
            <a:r>
              <a:rPr lang="de-DE"/>
              <a:t>ENDE DES SPRECHTEXTS</a:t>
            </a:r>
          </a:p>
          <a:p>
            <a:endParaRPr lang="de-DE"/>
          </a:p>
          <a:p>
            <a:pPr lvl="0"/>
            <a:r>
              <a:rPr lang="de-DE"/>
              <a:t>Bisherige Hintergrundnotizen und Quellen (nicht mitsprechen)</a:t>
            </a:r>
          </a:p>
          <a:p>
            <a:endParaRPr lang="de-DE"/>
          </a:p>
          <a:p>
            <a:pPr lvl="0"/>
            <a:r>
              <a:rPr lang="de-DE"/>
              <a:t>Antworten auf die drei Forschungsfragen aus Kapitel 1 und Folie 3. Die Aussagen fassen nachgewiesene Möglichkeiten und methodische Konsequenzen zusammen; sie sind keine universellen Leistungs- oder Effizienzgarantien für beliebige Zellen, Architekturen oder Hardware.</a:t>
            </a:r>
          </a:p>
          <a:p>
            <a:pPr lvl="0"/>
            <a:r>
              <a:rPr lang="de-DE"/>
              <a:t>Feature Engineering: Kapitel 5 zeigt eine SOH-Schätzung mit einem nichtrekurrenten MLP, dem kumulierte Stromgrößen und Lag Sequences alterungsrelevanten zeitlichen Kontext liefern. Damit kann Zeitabhängigkeit über die Eingabedarstellung erschlossen werden. Das Ergebnis belegt weder die universelle Überlegenheit von MLPs gegenüber rekurrenten Architekturen noch den kleinsten Hardwarebedarf. Zeitauflösung und Lag-Sequence Length hängen vom Datensatz und den Betriebsprofilen ab. Quellen: Dissertation, Abschnitte 1.1–1.2, 5.6 und 8.1, S. 2, 80–81 und 153.</a:t>
            </a:r>
          </a:p>
          <a:p>
            <a:pPr lvl="0"/>
            <a:r>
              <a:rPr lang="de-DE"/>
              <a:t>Zuverlässigkeit: Der untersuchte DD-GRU erreicht die höchste nominale Genauigkeit und zeigt starke Ergebnisse in mehreren Störklassen. Insbesondere bei systematischen Stromfehlern und vereinzeltem Sample Loss ist der Ansatz vergleichsweise robust. Mehrere gemessene und abgeleitete Eingangskanäle und deren zeitlicher Kontext bieten hierfür einen plausiblen Mechanismus. Diese Interpretation ist kein Ablationsnachweis. Lokale Spannungsspitzen und ungeeignete State-Resets legen zugleich spezifische Schwächen offen. Daher keine Aussage, dass DD bei jeder Störung, Recovery-Eigenschaft oder Hardwarekennzahl am besten abschneidet. Nominalfehler, lokale Störreaktionen, Recovery und State-Verwaltung müssen gemeinsam bewertet werden. Quellen: Dissertation, Abschnitte 6.5–6.6 und 8.1, S. 117–122 und 153–154.</a:t>
            </a:r>
          </a:p>
          <a:p>
            <a:pPr lvl="0"/>
            <a:r>
              <a:rPr lang="de-DE"/>
              <a:t>Embedded AI: Kapitel 7 belegt die kontinuierliche Ausführung neuronaler SOC- und SOH-Modelle auf dem STM32. Structured Pruning reduziert die rekurrente Dimension und kann dadurch Speicher- und Rechenbedarf senken. Weight-only Quantization reduziert die Gewichtsspeicherung; eine Beschleunigung folgt daraus nicht automatisch, wie der verwendete Mixed-Precision-Kernel zeigt. Die Genauigkeit bleibt beim SOC nahe an Base beziehungsweise verbessert sich beim Pruning im untersuchten Fall; bei SOH erhöhen die komprimierten Varianten den Fehler. Die belastbare übergreifende Aussage ist daher die Möglichkeit der Anpassung an Ressourcenbudgets bei anwendungsspezifischem Accuracy-Trade-off. Kompression, Ausführungsmodus und Firmware müssen gemeinsam auf der Zielhardware bewertet werden. Energie wurde nur als zeitbasierter Proxy unter konstanter Leistungsannahme untersucht; keine unabhängige Energiemessung. Quellen: Dissertation, Abschnitte 7.12–7.13 und 8.1, S. 148–154.</a:t>
            </a:r>
          </a:p>
          <a:p>
            <a:pPr lvl="0"/>
            <a:r>
              <a:rPr lang="de-DE"/>
              <a:t>Der BMS-Requirement-Rahmen ordnet die Aussagen in Performance, Hardware und Deployment ein. Quelle der unveränderten Abbildung: bestehende Präsentation und Dissertation, BMS-Requirement-Framework.</a:t>
            </a:r>
          </a:p>
          <a:p>
            <a:endParaRPr lang="de-DE"/>
          </a:p>
          <a:p>
            <a:pPr lvl="0"/>
            <a:r>
              <a:rPr lang="de-DE"/>
              <a:t>Quellenverweise dieser Präsentation (eigene Nummerierung):</a:t>
            </a:r>
          </a:p>
          <a:p>
            <a:pPr lvl="0"/>
            <a:r>
              <a:rPr lang="de-DE"/>
              <a:t>Zusammenfassung der eigenen Studien [12], [16], [20] in [11], Kap.5–7. Kein allgemeiner Beweis der Überlegenheit einer Architektur unter beliebigen Bedingungen.</a:t>
            </a:r>
          </a:p>
          <a:p>
            <a:endParaRPr lang="de-DE"/>
          </a:p>
          <a:p>
            <a:pPr lvl="0"/>
            <a:r>
              <a:rPr lang="de-DE"/>
              <a:t>[11] F. Rzepka (2026). Deployment-Oriented Neural Network State-Estimation Methods for Battery Management Systems: Ageing Estimation, Robustness Benchmarking, Embedded Optimization, and Hardware Integration. Dissertationsmanuskript, TU Berlin. Grundlage: bereitgestellte main.pdf. </a:t>
            </a:r>
          </a:p>
          <a:p>
            <a:pPr lvl="0"/>
            <a:r>
              <a:rPr lang="de-DE"/>
              <a:t>[12] F. Rzepka, P. Hematty, M. Schmitz und J. Kowal (2023). Neural Network Architecture for Determining the Aging of Stationary Storage Systems in Smart Grids. Energies 16(17), 6103. https://doi.org/10.3390/en16176103</a:t>
            </a:r>
          </a:p>
          <a:p>
            <a:pPr lvl="0"/>
            <a:r>
              <a:rPr lang="de-DE"/>
              <a:t>[16] F. Rzepka, Q. Chen und J. Kowal (2026). Performance and Robustness Benchmarking Across Battery State-of-Charge Estimator Classes for Embedded Applications. Manuskript, bei Engineering Applications of Artificial Intelligence eingereicht. </a:t>
            </a:r>
          </a:p>
          <a:p>
            <a:pPr lvl="0"/>
            <a:r>
              <a:rPr lang="de-DE"/>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dirty="0"/>
              <a:t>Vielen Dank für Ihre Aufmerksamkeit. Ich freue mich auf Ihre Fragen und die Diskussion.</a:t>
            </a:r>
          </a:p>
          <a:p>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Pearson-Matrix vergleicht SOH, Spannung, Temperatur sowie getrennte kumulative Lade- und Entladeströme auf resampelten, ausgerichteten Daten. Temperatur und kumulative Strommerkmale zeigen die klareren linearen Beziehungen zur SOH. Eine schwache lineare Korrelation schließt nichtlinearen Informationsgehalt nicht aus. Das Vorzeichen steht in den gedruckten Koeffizienten, während die Farbe den Betrag hervorhebt. Die Korrelation dient der begründeten Merkmalswahl und trennt keine kausal unabhängigen Alterungsmechanismen.</a:t>
            </a:r>
          </a:p>
          <a:p>
            <a:endParaRPr/>
          </a:p>
          <a:p>
            <a:r>
              <a:t>Quelle: Florian Rzepka, bereitgestellte Dissertation main(1).pdf, Abschn. 5.2.1–5.2.2, Abb. 5.1, S. 67–69.</a:t>
            </a:r>
          </a:p>
          <a:p>
            <a:endParaRPr/>
          </a:p>
          <a:p>
            <a:r>
              <a:t>Quellenverweise dieser Präsentation (eigene Nummerierung):</a:t>
            </a:r>
          </a:p>
          <a:p>
            <a:r>
              <a:t>Eigene SOH-Ergebnisse und Korrelationsanalyse: [11], Kap. 5, sowie [12].</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Heatmap fasst 18 Messstörungs- und Signalverfügbarkeitszeilen zusammen. Initialisierungs-Recovery wird separat ausgewertet. Strom-Offset ±50 mA erzeugt für alle Repräsentanten die größte globale Degradation. Gain und Offset verwenden je Zelle die ungünstigere Richtung. Andere Zeilen behalten ihre vorgegebene Störung. ΔMAE ist gegenüber der jeweiligen gepaarten Baseline definiert. Kleine negative Werte zeigen mögliche Kompensation eines schon vorhandenen Fehlers im begrenzten Fenster, keine bessere Fehlertoleranz durch eine Störung.</a:t>
            </a:r>
          </a:p>
          <a:p>
            <a:endParaRPr/>
          </a:p>
          <a:p>
            <a:r>
              <a:t>Quelle: Florian Rzepka, bereitgestellte Dissertation main(1).pdf, Abschn. 6.4.3 und 6.4.11, Abb. 6.15, S. 100–101 und 110–111.</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Für unabhängige mittelwertfreie Fehler mit Varianz σ² hat ihre Summe die Standardabweichung σ√N. Dies ist eine Aussage über die Summe der Rauschanteile, nicht über einen universellen SOC-Fehlerverlauf. Coulomb Counting glättet hochfrequente zufällige Anteile, obwohl jedes Sample eingeht. DD erhält Rohstrom und dI/dt, wodurch kurzfristige Schwankungen sichtbar werden. Bei der getesteten Stromrauschstufe bleibt der globale DD-ΔMAE nahe null. Lokale Transmission und globaler MAE beantworten unterschiedliche Fragen.</a:t>
            </a:r>
          </a:p>
          <a:p>
            <a:endParaRPr/>
          </a:p>
          <a:p>
            <a:r>
              <a:t>Quelle: Florian Rzepka, bereitgestellte Dissertation main(1).pdf, Abschn. 6.4.4, Abb. 6.7–6.8, S. 101–103.</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C:/Users/flori/SynologyDrive/TUB/1_Dissertation/1_Scripts/LATEX/DISS/Florian_Rzepka_Dissertation/main.tex, Abschnitt 3.4, Gl. 3.12 und Abb. 3.3; pictures/eaai_palette/lstm_cell_eaai_style.png</a:t>
            </a:r>
          </a:p>
          <a:p>
            <a:endParaRPr/>
          </a:p>
          <a:p>
            <a:r>
              <a:t>lstm: $\begin{aligned}\mathbf f_t&amp;=\sigma(W_f\mathbf x_t+U_f\mathbf h_{t-1}+\mathbf b_f)\\[4pt]\mathbf i_t&amp;=\sigma(W_i\mathbf x_t+U_i\mathbf h_{t-1}+\mathbf b_i)\\[4pt]\tilde{\mathbf c}_t&amp;=\tanh(W_g\mathbf x_t+U_g\mathbf h_{t-1}+\mathbf b_g)\\[4pt]\mathbf o_t&amp;=\sigma(W_o\mathbf x_t+U_o\mathbf h_{t-1}+\mathbf b_o)\\[7pt]\mathbf c_t&amp;=\mathbf f_t\odot\mathbf c_{t-1}+\mathbf i_t\odot\tilde{\mathbf c}_t\\[4pt]\mathbf h_t&amp;=\mathbf o_t\odot\tanh(\mathbf c_t)\end{aligned}$</a:t>
            </a:r>
          </a:p>
          <a:p>
            <a:endParaRPr/>
          </a:p>
          <a:p>
            <a:r>
              <a:t>Die Affintransformationen stehen vor den im Bild gezeichneten Aktivierungen. Alle Größen f,i,o,c,h sind Vektoren der Hidden Size. Die additive Speicherstruktur garantiert keinen ausbleibenden Vanishing Gradient.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C:/Users/flori/SynologyDrive/TUB/1_Dissertation/1_Scripts/LATEX/DISS/Florian_Rzepka_Dissertation/main.tex, Abschnitt 3.4, Gl. 3.14 und Abb. 3.4; pictures/eaai_palette/gru_cell_eaai_style.png</a:t>
            </a:r>
          </a:p>
          <a:p>
            <a:endParaRPr/>
          </a:p>
          <a:p>
            <a:r>
              <a:t>gru: $\begin{aligned}\mathbf z_t&amp;=\sigma(W_z\mathbf x_t+U_z\mathbf h_{t-1}+\mathbf b_z)\\[7pt]\mathbf r_t&amp;=\sigma(W_r\mathbf x_t+U_r\mathbf h_{t-1}+\mathbf b_r)\\[7pt]\tilde{\mathbf h}_t&amp;=\tanh\!\left(W_h\mathbf x_t+U_h(\mathbf r_t\odot\mathbf h_{t-1})+\mathbf b_h\right)\\[7pt]\mathbf h_t&amp;=(1-\mathbf z_t)\odot\mathbf h_{t-1}+\mathbf z_t\odot\tilde{\mathbf h}_t\end{aligned}$</a:t>
            </a:r>
          </a:p>
          <a:p>
            <a:endParaRPr/>
          </a:p>
          <a:p>
            <a:r>
              <a:t>Originalabbildung der Diss unverändert. Der untere Reset-Pfad ist schematisch: die zurückgesetzte Historie gehört nur in die Kandidatenberechnung. Die Formeln zeigen die Konvention der Diss, nicht eine unveränderte PyTorch-GRU-Gateformel. PyTorch gewichtet den alten Zustand mit z und setzt das Reset-Gate an einer anderen Stelle der rekurrenten Kandidatenabbildung ein.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Flash-Zahl wird auf dem PC aus den Flash-backed PT_LOAD-Segmenten des Firmware-ELF bestimmt: Summe von p_filesz im STM32-Flash-Adressbereich, einschließlich RAM-Initialwerten. Nicht die gesamte ELF-Dateigröße und keine Laufzeitmessung des Flashs.</a:t>
            </a:r>
          </a:p>
          <a:p>
            <a:r>
              <a:t>Der statische RAM wird aus den Linker-Symbolen _sdata/_edata und _sbss/_ebss ermittelt. Die Firmware erfasst den niedrigsten Stack Pointer an instrumentierten Stellen im LSTM-/MLP-Pfad. StackTop minus kleinster beobachteter SP ergibt den beobachteten Stackbedarf. Die UART-Metriken werden über 10 000 Updates ausgewertet. Kein vollständiges Heap-Profiling; kein bewiesener globaler Worst Case für alle Aufrufpfade und Interrupts.</a:t>
            </a:r>
          </a:p>
          <a:p>
            <a:r>
              <a:t>SOC Base: Static 4464 B + Stack 584 B = 5048 B = 4.9296875 KiB. Flash 108924 B = 106.37109375 KiB.</a:t>
            </a:r>
          </a:p>
          <a:p>
            <a:r>
              <a:t>Scope: Flash stammt aus den verfügbaren ELF-Builds, RAM aus historischen Benchmark-Records. Build-Identität ist nicht nachgewiesen (Dissertation S.145).</a:t>
            </a:r>
          </a:p>
          <a:p>
            <a:r>
              <a:t>Quellen:</a:t>
            </a:r>
          </a:p>
          <a:p>
            <a:r>
              <a:t>C:/Users/flori/SynologyDrive/TUB/1_Dissertation/1_Scripts/LATEX/DISS/Florian_Rzepka_Dissertation/main.pdf: gedruckte S.137,144–145; Gleichung 3.29 S.35 nur idealisierter Modellspeicher.</a:t>
            </a:r>
          </a:p>
          <a:p>
            <a:r>
              <a:t>C:/Users/flori/SynologyDrive/TUB/1_Dissertation/1_Scripts/DL_Models/LFP_LSTM_MLP/5_benchmark/PC/SOC_SOH_Combined_Results/generate_combined_report.py: update_flash_from_elf.</a:t>
            </a:r>
          </a:p>
          <a:p>
            <a:r>
              <a:t>C:/Users/flori/SynologyDrive/TUB/1_Dissertation/1_Scripts/DL_Models/LFP_LSTM_MLP/5_benchmark/PC/SOC_SOH_Combined_Results/flash_build_audit.json.</a:t>
            </a:r>
          </a:p>
          <a:p>
            <a:r>
              <a:t>C:/Users/flori/SynologyDrive/TUB/1_Dissertation/1_Scripts/STM32/workspace_1.17.0/AI_Project_LSTM_SOC_base/Core/Src/main.c: print_memory_info.</a:t>
            </a:r>
          </a:p>
          <a:p>
            <a:r>
              <a:t>C:/Users/flori/SynologyDrive/TUB/1_Dissertation/1_Scripts/STM32/workspace_1.17.0/AI_Project_LSTM_SOC_base/Core/Src/lstm_model.c: update_stack_measure.</a:t>
            </a:r>
          </a:p>
          <a:p>
            <a:r>
              <a:t>C:/Users/flori/SynologyDrive/TUB/1_Dissertation/1_Scripts/DL_Models/LFP_LSTM_MLP/5_benchmark/STM32/SOC/result_Base.json.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Originalgrafik enthält abweichende Zahlen. Für die beschriebene Architektur mit zwei LSTM-Biasvektoren ergeben sich 22 657 SOC- und 86 273 SOH-Parameter, während die Grafik 22 785 und 85 761 zeigt. Die Herleitung auf Folie 34 nennt ihre Zählkonvention ausdrücklich. Die Weight-only-Grenze erlaubt keine pauschale Vier-zu-eins-Reduktion aller Konstanten. Für die gemessenen Speicher-KPIs sind Tabellen 7.1 und 7.2 maßgeblich. Der SOC-RAM-Wert von Quantized beträgt dort 3,96 KB gegenüber ca. 3,5 KB in der Grafik.</a:t>
            </a:r>
          </a:p>
          <a:p>
            <a:endParaRPr/>
          </a:p>
          <a:p>
            <a:r>
              <a:t>Quelle: Florian Rzepka, bereitgestellte Dissertation main(1).pdf, Abschn. 3.4.3, 7.3 und 7.11, Abb. 7.12, Tab. 7.1–7.2.</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Alle drei Ausführungsarten verwenden dieselben pruned GRU-Gewichte, Skalierungen und FP32-Kernels. Die dargestellten Unterschiede stammen aus der wiederholten Sequenzauswertung und der Zustandsführung, nicht aus einer weiteren Modellkompression.</a:t>
            </a:r>
          </a:p>
          <a:p>
            <a:r>
              <a:t>Rolling Window setzt den Hidden State pro Ausgabe zurück und berechnet alle 2024 Samples des aktuellen Fensters erneut. Dies entspricht der primären Sequence-to-one-Semantik aus Training und Robustheitsbenchmark. Der hohe Wiederholungsaufwand erfordert ungefähr 724 ms Medianlatenz und 67,3 KiB Peak-RAM, entsprechend 72,4 % eines 1-s-Abtastintervalls.</a:t>
            </a:r>
          </a:p>
          <a:p>
            <a:r>
              <a:t>Continuous State übernimmt den Hidden State zum nächsten Update und berechnet nur den neuen Zeitschritt. Das reduziert die Medianlatenz auf etwa 0,425 ms und Peak-RAM auf 4,1 KiB. Auf den sechs nominalen Sequenzen bleibt der Schätzfehler ähnlich. Periodic Reset arbeitet ebenfalls inkrementell, setzt den Zustand jedoch nach jeweils 2024 Updates zurück. Dadurch geht akkumulierte Historie verloren, und es entstehen ausgeprägte Fehlerpeaks. Der Mittelwert der zellweisen Maximalfehler beträgt etwa 29 Prozentpunkte, einzelne Zellen erreichen ungefähr 39 Prozentpunkte. Das sind Maximalfehler, keine mittleren MAE-Werte.</a:t>
            </a:r>
          </a:p>
          <a:p>
            <a:r>
              <a:t>Continuous State ist damit die praktische effiziente DD-Konfiguration auf dieser Hardware. Seine Zustandssemantik unterscheidet sich jedoch vom trainierten Rolling Window. Die nominelle Vergleichsmessung allein überträgt deshalb nicht sämtliche Robustheitsergebnisse auf diesen Modus. Die Zustandsführung ist als eigene Deployment-Variante zu validieren.</a:t>
            </a:r>
          </a:p>
          <a:p>
            <a:r>
              <a:t>Quelle: Florian Rzepka, bereitgestellte Dissertation main(1).pdf, Abschnitt 6.2.4, S. 90; Abschnitt 6.4.12 und Abbildung 6.20, S. 115–116; Abschnitt 6.5.3, S. 119–120.</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C:/Users/flori/SynologyDrive/TUB/1_Dissertation/1_Scripts/LATEX/DISS/Florian_Rzepka_Dissertation/main.tex, Kapitel 7, Abb. 7.1(a); embedded_architecture.png</a:t>
            </a:r>
          </a:p>
          <a:p>
            <a:endParaRPr/>
          </a:p>
          <a:p>
            <a:r>
              <a:t>embedded_soc: $\mathbf x_t^{\mathrm{SOC}}=[U,I,T,Q_c,\mathrm dU/\mathrm dt,\mathrm dI/\mathrm dt]^T,\quad(H,M)=(64,64)$</a:t>
            </a:r>
          </a:p>
          <a:p>
            <a:endParaRPr/>
          </a:p>
          <a:p>
            <a:r>
              <a:t>embedded_head: $\hat y_t=f_{\mathrm{out}}\!\left(W_2\operatorname{ReLU}(W_1\mathbf h_t+\mathbf b_1)+b_2\right)$</a:t>
            </a:r>
          </a:p>
          <a:p>
            <a:endParaRPr/>
          </a:p>
          <a:p>
            <a:r>
              <a:t>Base-Modell: Linear 64→64, ReLU, Linear 64→1, Sigmoid. Nach strukturiertem Pruning: LSTM-Hidden Size 45; MLP-Head bleibt 64 breit, seine Eingangsbreite wird 45. Abbildung zeigt die Base-Topologie.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C:/Users/flori/SynologyDrive/TUB/1_Dissertation/1_Scripts/LATEX/DISS/Florian_Rzepka_Dissertation/main.tex, Kapitel 7, Abb. 7.1(b); embedded_architecture.png</a:t>
            </a:r>
          </a:p>
          <a:p>
            <a:endParaRPr/>
          </a:p>
          <a:p>
            <a:r>
              <a:t>embedded_soh: $\mathbf x_t^{\mathrm{SOH}}=[t,U,I,T,\mathrm{EFC},Q_c]^T,\quad(H,M)=(128,128)$</a:t>
            </a:r>
          </a:p>
          <a:p>
            <a:endParaRPr/>
          </a:p>
          <a:p>
            <a:r>
              <a:t>embedded_head: $\hat y_t=f_{\mathrm{out}}\!\left(W_2\operatorname{ReLU}(W_1\mathbf h_t+\mathbf b_1)+b_2\right)$</a:t>
            </a:r>
          </a:p>
          <a:p>
            <a:endParaRPr/>
          </a:p>
          <a:p>
            <a:r>
              <a:t>Base-Modell: Linear 128→128, ReLU, Linear 128→1. Nach strukturiertem Pruning LSTM-Hidden Size 90 bei unveränderter MLP-Hidden-Breite 128. Nachgelagerte SOH-Ankerung und kausale Filterung sind separate Verarbeitungsschritte, kein Teil der dargestellten Netzschichten.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a:t>
            </a:r>
          </a:p>
          <a:p>
            <a:r>
              <a: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a:t>
            </a:r>
          </a:p>
          <a:p>
            <a:r>
              <a:t>Die Zahlen sind aus der angegebenen Architektur hergeleitet, keine Messung der Binärgröße. Quelle: main(1).pdf, Abschnitt 3.4.3, S. 18–19; Abschnitt 7.3, S. 127–129, Abbildungen 7.1–7.2.</a:t>
            </a:r>
          </a:p>
          <a:p>
            <a:r>
              <a:t>MAC steht für Multiply–Accumulate. Eine Multiplikation mit anschließendem Addieren zum Akkumulator zählt als ein MAC. Die gewichtsbasierten Matrixprodukte pro Streaming-Update ergeben sich aus 4H(D + H) für die LSTM-Matrizen plus HM für die erste und M für die zweite MLP-Matrix.</a:t>
            </a:r>
          </a:p>
          <a:p>
            <a:r>
              <a:t>MACs zählen Rechenoperationen pro Update; Parameter zählen gespeicherte Modellkoeffizienten. Biasadditionen, Aktivierungsfunktionen, elementweise Zustandsoperationen, Indexierung und Speichertransfers sind im hier verwendeten MAC-Maß nicht enthalten. Der Aufwand für einen ganzen Datenstrom entspricht der Zahl der Updates mal dem Aufwand pro Update. Die Zahl pro Update ersetzt keine gemessene Laufzeit. Kernel, Datentypen, Speicherzugriffe und zusätzliche Skalierungsoperationen beeinflussen die gemessene MCU-Zeit.</a:t>
            </a:r>
          </a:p>
          <a:p>
            <a:r>
              <a:t>SOC: 22080 MACs je Update, SOH: 85120. Rechenbeispiel für einen einzelnen Dense Layer mit 6 Eingängen und 64 Ausgängen: 6×64=384 Gewichte, 64 Biaswerte, also 448 Parameter und 384 gewichtete MACs.</a:t>
            </a:r>
          </a:p>
          <a:p>
            <a:r>
              <a:t>Quelle für MACs: Dissertation, Abschnitt 7.3, Gleichung 7.9, S. 128; zur Grenze gegenüber tatsächlicher Laufzeit Abschnitt 7.6, S. 144–145.</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Ergänzung zur gemeinsamen Accuracy-Folie: unveränderte Signed Error Histograms aus den ursprünglichen SOC- und SOH-Ergebnisgrafiken.</a:t>
            </a:r>
          </a:p>
          <a:p>
            <a:r>
              <a:t>Signed error = Prediction minus Ground Truth. Positive Werte bedeuten Überschätzung; negative Werte bedeuten Unterschätzung. Die Histogramme ergänzen die absoluten Fehlerverteilungen um Fehlerrichtung, Asymmetrie und Verteilungsform.</a:t>
            </a:r>
          </a:p>
          <a:p>
            <a:r>
              <a:t>SOC links, SOH rechts. SOH-Ergebnisse nach der vollständigen kausalen Filterkette. Die Verteilungen allein erlauben keine isolierte Quantifizierung des Filtereinflusses.</a:t>
            </a:r>
          </a:p>
          <a:p>
            <a:r>
              <a:t>Quelle: Dissertation, Kapitel 7, insbesondere Abschnitte 7.7–7.9, 7.12.1 und 7.13.</a:t>
            </a:r>
          </a:p>
          <a:p>
            <a:r>
              <a:t>Zusätzliche Sprechernotizen der ursprünglichen SOH-Folie:</a:t>
            </a:r>
          </a:p>
          <a:p>
            <a:r>
              <a:t>Die gezeigten MAE-Werte nach vollständiger Filterung sind 0,85 / 1,46 / 1,41 Prozentpunkte. Sie gehören zum vollständigen Replay in der Hauptauswertung. Die separate kontrollierte Filterdiagnose in Abschn. 7.8 nutzt eine eigene Vergleichssequenz und zeigt, dass die Nachverarbeitung auch die Rangfolge ändern kann. Die initiale Ausrichtung nutzt das Anfangslabel, weitere Stufen enthalten EMA und Ratenbegrenzer. Für den linearen EMA-Anteil der zweiten Stufe gelten α=10⁻⁶ bei 1 Hz, τ≈11,57 Tage und eine 90-%-Antwortzeit von 26,65 Tagen. Dies sind keine linearen Kennwerte der gesamten nichtlinearen Filterkette. Rohnetzfehler, gefilterter Fehler und Antwortverzug sind getrennt zu beurteilen.</a:t>
            </a:r>
          </a:p>
          <a:p>
            <a:r>
              <a:t>Quelle: Florian Rzepka, bereitgestellte Dissertation main(1).pdf, Abschn. 7.2, 7.7–7.9 und 7.12.1, Abb. 7.9, Gl. 7.6–7.8, S. 125–126 und 138–149.</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C:/Users/flori/SynologyDrive/TUB/1_Dissertation/1_Scripts/LATEX/DISS/Florian_Rzepka_Dissertation/main.tex, Gl. 3.7–3.10, Abb. 3.2; mlp_general_architecture.png</a:t>
            </a:r>
          </a:p>
          <a:p>
            <a:endParaRPr/>
          </a:p>
          <a:p>
            <a:r>
              <a:t>mlp_layer: $\mathbf a^{(0)}=\mathbf x,\quad\mathbf z^{(\ell)}=W^{(\ell)}\mathbf a^{(\ell-1)}+\mathbf b^{(\ell)},\quad\mathbf a^{(\ell)}=f^{(\ell)}(\mathbf z^{(\ell)}),\quad\hat{\mathbf y}=\mathbf a^{(L)}$</a:t>
            </a:r>
          </a:p>
          <a:p>
            <a:endParaRPr/>
          </a:p>
          <a:p>
            <a:r>
              <a:t>mlp_neuron: $z_j^{(\ell)}=\sum_{i=1}^{n_{\ell-1}}w_{ji}^{(\ell)}a_i^{(\ell-1)}+b_j^{(\ell)},\qquad a_j^{(\ell)}=f^{(\ell)}(z_j^{(\ell)})$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C:/Users/flori/SynologyDrive/TUB/1_Dissertation/1_Scripts/LATEX/DISS/Florian_Rzepka_Dissertation/main.tex, Abschnitt 5.3, Tabelle 5.1 (tab:paper1_mlp_config), Abb. 5.4</a:t>
            </a:r>
          </a:p>
          <a:p>
            <a:endParaRPr/>
          </a:p>
          <a:p>
            <a:r>
              <a:t>mlp_input: $\mathbf x_k=\operatorname{vec}\!\left([U,T,Q_{\mathrm{pos}},Q_{\mathrm{neg}}]_{k-L+1:k}\right)\in\mathbb R^{4L},\quad L=16\ \Rightarrow\ 4L=64$</a:t>
            </a:r>
          </a:p>
          <a:p>
            <a:endParaRPr/>
          </a:p>
          <a:p>
            <a:r>
              <a:t>Der eigenständige MLP ist Kapitel 5 zugeordnet. Kapitel 6 verwendet MLP-Blöcke und Heads in den GRU-/LSTM-Modellen. Knoten im Originalbild sind schematisch. Die konkreten Layerbreiten folgen der Konfigurationstabelle, nicht den gezeichneten Knotenzahlen.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C:/Users/flori/SynologyDrive/TUB/1_Dissertation/1_Scripts/LATEX/DISS/Florian_Rzepka_Dissertation/chapters/06_performance_robustness_benchmark.tex, Data-driven SOC model (DD)</a:t>
            </a:r>
          </a:p>
          <a:p>
            <a:endParaRPr/>
          </a:p>
          <a:p>
            <a:r>
              <a:t>gru_features: $\mathbf z_k=\left[U_k,I_k,T_k,\widehat{\mathrm{SOH}}_k,Q_c(k),\frac{\mathrm dU}{\mathrm dt}(k),\frac{\mathrm dI}{\mathrm dt}(k),\Delta t_k\right]^T\in\mathbb R^8$</a:t>
            </a:r>
          </a:p>
          <a:p>
            <a:endParaRPr/>
          </a:p>
          <a:p>
            <a:r>
              <a:t>gru_head: $\widehat{\mathrm{SOC}}_k=\sigma\!\left(W_2\operatorname{ReLU}(W_1\mathbf h_k+\mathbf b_1)+b_2\right),\qquad W_1\in\mathbb R^{96\times67},\quad W_2\in\mathbb R^{1\times96}$</a:t>
            </a:r>
          </a:p>
          <a:p>
            <a:endParaRPr/>
          </a:p>
          <a:p>
            <a:r>
              <a:t>Die primäre Robustheitsauswertung verwendet Rolling-Window-Rekomputation. Im Hardwarevergleich werden zusätzlich kontinuierliche Zustandsführung und periodischer Reset derselben Gewichte verglichen. Das GRU-Modell aus Kapitel 6 ist vom LSTM-Modell in Kapitel 7 zu unterscheiden.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C:/Users/flori/SynologyDrive/TUB/1_Dissertation/1_Scripts/LATEX/DISS/Florian_Rzepka_Dissertation/chapters/06_performance_robustness_benchmark.tex, Shared SOH estimation method; C:/Users/flori/SynologyDrive/TUB/1_Dissertation/1_Scripts/DL_Models/LFP_SOC_SOH_Model/2_models/CC_SOH_1.0.0/cc_soh_model.py</a:t>
            </a:r>
          </a:p>
          <a:p>
            <a:endParaRPr/>
          </a:p>
          <a:p>
            <a:r>
              <a:t>soh_features: $\{U,I,T,\mathrm{EFC},Q_c\}\times\{\mu,\sigma,\min,\max\}\quad\Longrightarrow\quad\mathbf x_t\in\mathbb R^{20}$</a:t>
            </a:r>
          </a:p>
          <a:p>
            <a:endParaRPr/>
          </a:p>
          <a:p>
            <a:r>
              <a:t>residual: $\mathbf v^{(j+1)}=\operatorname{LN}\!\left(\mathbf v^{(j)}+W_{2,j}\operatorname{GELU}(W_{1,j}\mathbf v^{(j)}+\mathbf b_{1,j})+\mathbf b_{2,j}\right)$</a:t>
            </a:r>
          </a:p>
          <a:p>
            <a:endParaRPr/>
          </a:p>
          <a:p>
            <a:r>
              <a:t>Der Code enthält eine zusätzliche LayerNorm nach dem LSTM sowie Dropout im Embedding, im Residualzweig und im Head. Die kompakte Blockzeichnung fasst dies zusammen. Die Residualgleichung zeigt die Inferenz ohne Dropout. Ankerung der ersten Ausgabe mit initialem SOH ist nachgelagert. Dieses SOH-Kontextmodell läuft im Kapitel-6-Hardwarebenchmark nicht auf dem STM32, sondern seine kausale Spur wird zugeliefert.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Abbildung zeigt Flash- und RAM-Bedarf der isolierten SOC-Kerne auf dem STM32H753. Der gezeigte DD-Balken entspricht Continuous State. Rolling Window dient hier als Vergleich für den ergänzenden Modusbefund. Die gemeinsame SOH-Spur wird extern bereitgestellt, die Messung entspricht daher nicht dem Ressourcenbedarf eines vollständigen BMS. DM und HDM verwenden wenige skalare Zustände. Die HECM-Kennfelder dominieren den Flash-Bedarf. Beim DD entfallen Gewichte auf Flash, Laufzeitzustände und Zwischenwerte auf RAM.</a:t>
            </a:r>
          </a:p>
          <a:p>
            <a:r>
              <a:t>Eine zusätzliche Untersuchung vergleicht die gleichen DD-GRU-Gewichte in Rolling Window, Continuous State und Periodic Reset. Rolling Window berechnet das kausale Fenster von 2024 Samples neu. Continuous State behält den Zustand und führt je Sample nur ein Update aus. Die mediane Latenz sinkt von 724 ms auf 0,425 ms, der RAM-Bedarf von 67,3 KiB auf 4,1 KiB. Dies entspricht einem Faktor 1703.5294117647059 für die Latenz und einer RAM-Reduktion von 93.9078751857355 %. Die Folie rundet auf 1700× und 94 %.</a:t>
            </a:r>
          </a:p>
          <a:p>
            <a:r>
              <a:t>Die ähnlichen Nominalfehler beziehen sich auf die sechs untersuchten Sequenzen. Die unterschiedlichen Zustandssemantiken erfordern eine eigene Validierung; der Betriebsartenvergleich mit Reset-Effekten befindet sich in Anhang 8.</a:t>
            </a:r>
          </a:p>
          <a:p>
            <a:r>
              <a:t>Quelle: main(1).pdf, Abschnitt 6.4.12, S. 113–116.</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Beispielwerte auf dieser Folie dienen nur zur Erklärung und sind keine gemessenen Benchmarkwerte.</a:t>
            </a:r>
          </a:p>
          <a:p>
            <a:endParaRPr/>
          </a:p>
          <a:p>
            <a:r>
              <a:t>1. Zwei unabhängige Anzahlen: n bezeichnet unabhängige Zellen. m bezeichnet getestete Modellpaare. Vier Modelle ergeben 4·3/2 = 6 Paare. DM gegen DD und DD gegen DM sind derselbe zweiseitige Vergleich. Bei acht Zellen bleibt m = 6.</a:t>
            </a:r>
          </a:p>
          <a:p>
            <a:r>
              <a:t>2. Cell-macro: Fenster und gegebenenfalls Seeds zuerst innerhalb einer Zelle zusammenfassen. Die sechs Zellwerte gleich gewichten. Mehr Fenster derselben Zelle liefern keine neuen unabhängigen Zellen.</a:t>
            </a:r>
          </a:p>
          <a:p>
            <a:r>
              <a:t>3. Für ein Modellpaar d_i = MAE_HECM,i − MAE_DD,i bilden. Ein positives d_i bedeutet einen kleineren DD-Fehler. Ein MAE von 5 Prozent gegenüber 3 Prozent bedeutet eine Differenz von 2 Prozentpunkten.</a:t>
            </a:r>
          </a:p>
          <a:p>
            <a:r>
              <a:t>4. Der exakte Sign-Flip-Test setzt unter der Nullhypothese unabhängige, gleich wahrscheinliche Vorzeichen voraus, bedingt auf die Beträge. Bloß gleiche Mittelwerte reichen für die Exaktheit nicht aus. Für jede Zelle + oder − wählen, die Beträge behalten. Es gibt 2^n Muster, nicht n^2. Für jedes Muster den Mittelwert bilden. Zweiseitig zählt der Anteil mit mindestens so großem Betrag wie beobachtet.</a:t>
            </a:r>
          </a:p>
          <a:p>
            <a:r>
              <a:t>5. Beispiel mit sechs positiven Differenzen 1,2,1,2,1,2: beobachtetes Mittel 1,5 Prozentpunkte. Nur ausschließlich positive und ausschließlich negative Vorzeichen erreichen Betrag 1,5. Daher p = 2/64. Das ist die theoretisch kleinste erreichbare zweiseitige Wahrscheinlichkeit bei sechs nichtdegenerierten Differenzen. Tatsächliche p-Werte können größer sein, insbesondere bei gemischten Vorzeichen oder degenerierten Bindungen.</a:t>
            </a:r>
          </a:p>
          <a:p>
            <a:r>
              <a:t>6. Alpha = 0,05 ist eine vorab gewählte Konvention, keine aus der Zellzahl hergeleitete Größe. Holm kontrolliert bei gültigen Einzeltests die Wahrscheinlichkeit mindestens einer falschen Zurückweisung innerhalb der Testfamilie auf höchstens Alpha. Alle sechs p-Werte sortieren. Den kleinsten zunächst mit 0,05/6 vergleichen. Nur wenn diese Hürde genommen wird, den nächsten mit 0,05/5 vergleichen, dann 0,05/4 usw. Beim ersten nicht bestandenen Schritt stoppen. Holm braucht keine Unabhängigkeit der Modellvergleiche.</a:t>
            </a:r>
          </a:p>
          <a:p>
            <a:r>
              <a:t>7. Bei n=6 und m=6 ist bereits die erste Hürde unerreichbar: 0,03125 &gt; 0,008333. Bei n=7 ebenfalls. Bei n=8 ist 0,0078125 &lt; 0,008333, daher erstmals möglich. Acht ist eine rechnerische Untergrenze, keine Fallzahlplanung mit garantierter Teststärke. Dafür sind Effektgröße und Streuung relevant.</a:t>
            </a:r>
          </a:p>
          <a:p>
            <a:r>
              <a:t>8. Ergebnis für die Verteidigung: Gemessene Genauigkeitsunterschiede bleiben berichtbare Ergebnisse. Mit sechs Zellen und sechs Holm-korrigierten zweiseitigen Paarvergleichen lässt sich statistische Signifikanz nicht erreichen. Nicht signifikant bedeutet nicht gleichwertig. Ein unbereinigter p-Wert ist keine Wahrscheinlichkeit dafür, dass die Nullhypothese wahr ist.</a:t>
            </a:r>
          </a:p>
          <a:p>
            <a:endParaRPr/>
          </a:p>
          <a:p>
            <a:r>
              <a:t>Grundlage: Dissertation_Fragenkatalog_und_Lernskript.pdf, Frage 63. Verifiziertes Auswertungsskript: DL_Models/LFP_SOC_SOH_Model/4_simulation_environment/results/build_jes2_paper_results.py, exact_sign_flip_pvalue, holm_adjust und build_paired_statistical_tests. Die Aussage dieser Folie bezieht sich auf die Familie der sechs Modellpaarvergleiche.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Diese Folie erklärt den Zell-Bootstrap für die deterministische Baseline. Alle Zahlen in der Tabelle sind erfundene Lehrbeispiele und keine Benchmark-Ergebnisse.</a:t>
            </a:r>
          </a:p>
          <a:p>
            <a:endParaRPr/>
          </a:p>
          <a:p>
            <a:r>
              <a:t>Ausgangspunkt: Sechs unabhängige Holdout-Zellen liefern 16 Testfenster. Fünf Zellen haben je drei Fenster, eine ein Fenster. Zuerst pro Zelle den MAE über ihre Fenster mitteln. Danach die sechs Zellwerte gleich gewichtet mitteln. Dieser ursprüngliche Mittelwert ist der dargestellte Balken. Er wird nicht durch den Durchschnitt der Bootstrap-Mittelwerte ersetzt.</a:t>
            </a:r>
          </a:p>
          <a:p>
            <a:endParaRPr/>
          </a:p>
          <a:p>
            <a:r>
              <a:t>Im Beispiel lauten die sechs Zellwerte 2,3,4,5,6,10 Prozent MAE. Ihr Mittelwert ist 5 Prozent. Beim Ziehen mit Zurücklegen bleibt jede Zelle nach jeder Ziehung erneut verfügbar. Die Ziehung A,A,B,C,D,F enthält A zweimal, lässt E aus und liefert 26/6 = 4,333 Prozent. F,F,E,D,C,B liefert 38/6 = 6,333 Prozent. Die Messwerte selbst bleiben erhalten. Nur ihre Häufigkeit in der jeweiligen Zusammenstellung ändert sich.</a:t>
            </a:r>
          </a:p>
          <a:p>
            <a:endParaRPr/>
          </a:p>
          <a:p>
            <a:r>
              <a:t>Jede Wiederholung erzeugt eine neue Stichprobe von sechs Zellen und einen Mittelwert. Nach 10.000 Wiederholungen liegen 10.000 Mittelwerte vor. Das sind rechnerische Wiederholungen mit vorhandenen Daten, keine neuen Zellen oder physikalischen Versuche. Auch Netztraining und Messungen werden dafür nicht wiederholt. Mehr Wiederholungen stabilisieren die numerische Bestimmung der Quantile, ersetzen aber keine unabhängigen Zellen.</a:t>
            </a:r>
          </a:p>
          <a:p>
            <a:endParaRPr/>
          </a:p>
          <a:p>
            <a:r>
              <a:t>Das verwendete Perzentilintervall reicht vom 2,5. bis zum 97,5. Perzentil der Bootstrap-Mittelwerte. Bei 10.000 Ziehungen entspricht das ungefähr den Grenzen nach den untersten 250 und vor den obersten 250 sortierten Werten. Die konkrete Perzentilberechnung kann zwischen benachbarten Werten interpolieren. Die mittleren 95 Prozent der Bootstrap-Verteilung liegen dazwischen. Das Intervall muss nicht symmetrisch um den ursprünglichen Mittelwert sein.</a:t>
            </a:r>
          </a:p>
          <a:p>
            <a:endParaRPr/>
          </a:p>
          <a:p>
            <a:r>
              <a:t>Die 95 Prozent sind eine vorab gewählte Konvention. Sie entstehen aus 100 minus zweimal 2,5. Für 99 Prozent verwendet man die 0,5- und 99,5-Perzentile derselben Bootstrap-Verteilung. Das Intervall wird dadurch breiter. Die häufigkeitsstatistische Interpretation bezieht sich auf das Verfahren: Bei vielen unabhängigen Wiederholungen der gesamten Datenerhebung würden ungefähr 95 Prozent der so berechneten Intervalle den Zielparameter einschließen, wenn das Verfahren unter den gegebenen Bedingungen gut kalibriert ist. Mit nur sechs Zellen ist diese Abdeckung nicht garantiert. Nicht sagen: Der wahre Mittelwert liegt mit exakt 95 Prozent Wahrscheinlichkeit im konkret berechneten Intervall. Auch nicht sagen: 95 Prozent der Testfenster liegen im Intervall.</a:t>
            </a:r>
          </a:p>
          <a:p>
            <a:endParaRPr/>
          </a:p>
          <a:p>
            <a:r>
              <a:t>Hierarchie im Auswertungscode: Fenster zunächst innerhalb von Zelle und Seed mitteln. Zellen mit Zurücklegen ziehen. Wenn mehrere Seed-Werte pro Zelle vorliegen, diese innerhalb jeder gezogenen Zelle ebenfalls mit Zurücklegen ziehen und mitteln. Bei der deterministischen Baseline reduziert sich dies auf den hier gezeigten Zell-Bootstrap. Mehrere Fenster oder Seeds derselben Zelle zählen nicht als neue unabhängige Zellen.</a:t>
            </a:r>
          </a:p>
          <a:p>
            <a:endParaRPr/>
          </a:p>
          <a:p>
            <a:r>
              <a:t>Warum Bootstrap: Das Verfahren schätzt die Verteilung des Mittelwerts durch erneutes Ziehen aus den beobachteten Zellen. Es verlangt keine parametrische Normalverteilung der Zellwerte. Die hierarchische Variante berücksichtigt zusätzlich Seeds innerhalb der Zellen. Das ist eine plausible methodische Begründung, aber kein empirischer Nachweis, dass Bootstrap in diesem Datensatz die beste Intervallmethode ist. Ein klassisches t-Intervall für den Mittelwert wäre unter unabhängigen, normalverteilten Zellwerten auch mit sechs Zellen anwendbar. Mit sechs Zellen lässt sich die Verteilungsform kaum beurteilen. Kleine Stichproben können auch Bootstrap-Intervalle schlecht kalibrieren. Die geringe Zellzahl verbietet also ein t-Intervall nicht und wird durch Bootstrap nicht behoben. Eine Normalapproximation bei großer Stichprobe und das t-Intervall bei angenommener Normalität sind zu unterscheiden.</a:t>
            </a:r>
          </a:p>
          <a:p>
            <a:endParaRPr/>
          </a:p>
          <a:p>
            <a:r>
              <a:t>Abgrenzung zu Frage 64: Diese Folie zeigt das Konfidenzintervall eines einzelnen Modell-MAE. Ein Intervall für einen gepaarten Modellunterschied beschreibt eine andere Zielgröße. Dort bedeutet null keinen mittleren Unterschied. Ein einzelnes, nicht simultan korrigiertes Bootstrap-Intervall und ein Holm-korrigierter Sign-Flip-Test müssen nicht dieselbe Entscheidung liefern.</a:t>
            </a:r>
          </a:p>
          <a:p>
            <a:endParaRPr/>
          </a:p>
          <a:p>
            <a:r>
              <a:t>Grundlage: Dissertation, Baseline-Abbildung 6.4 und Beschreibung der hierarchischen Bootstrap-Auswertung mit 10.000 Wiederholungen. Verifizierter Code: DL_Models/LFP_SOC_SOH_Model/4_simulation_environment/results/build_jes2_paper_results.py, hierarchical_stats, Perzentile 2,5 und 97,5. Die Zahl der Wiederholungen ist ein Laufparameter. Der Skriptstandard allein belegt nicht den Wert im publizierten Lauf.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Beispiel ist kein Ergebnis der realen Kampagne. D wird sowohl mit C (Ladestrom) als auch mit B (Entladetiefe) verglichen. Bei drei zweistufigen Faktoren bilden die Kombinationen acht Würfelecken. Der tatsächliche Text beschreibt einen gemischten vollständigen und fraktionellen faktoriellen Plan, daher nicht behaupten, jede reale Wirkung sei automatisch unabhängig identifizierbar. Faktorbereiche: Laden 0,3–1,0 C, Entladen 0,5–3,0 C, DoD 38–71 %, Umgebungssollwert 25 °C. Zelltemperatur kann davon abweichen. Kausalinterpretation braucht Wiederholungen, kontrollierte Bedingungen und ein identifizierbares Auswertungsmodell.</a:t>
            </a:r>
          </a:p>
          <a:p>
            <a:endParaRPr/>
          </a:p>
          <a:p>
            <a:r>
              <a:t>Quelle: Dissertation 4.1.2, Abbildung 4.2, S. 52–54. Fragenkatalog F025.</a:t>
            </a:r>
          </a:p>
          <a:p>
            <a:r>
              <a:t>Alle ausdrücklich als Lehrbeispiel oder erfunden gekennzeichneten Zahlen dienen der Erklärung.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SDB, Übung 4, 4_model-based.pdf, S. 6–9, Gl. 2–4 und 8–11, Abb. 5</a:t>
            </a:r>
          </a:p>
          <a:p>
            <a:endParaRPr/>
          </a:p>
          <a:p>
            <a:r>
              <a:t>continuous_generic: $\begin{aligned}\dot{\mathbf{x}}&amp;=A\mathbf{x}+Bu\\y&amp;=C\mathbf{x}+Du\end{aligned}$</a:t>
            </a:r>
          </a:p>
          <a:p>
            <a:endParaRPr/>
          </a:p>
          <a:p>
            <a:r>
              <a:t>state_def: $\mathbf{x}=\begin{bmatrix}\mathrm{SOC}\\ U_1\end{bmatrix},\qquad u=I,\qquad y=U_t,\qquad \tau_1=R_1C_1$</a:t>
            </a:r>
          </a:p>
          <a:p>
            <a:endParaRPr/>
          </a:p>
          <a:p>
            <a:r>
              <a:t>continuous_ecm: $\begin{bmatrix}\dot{\mathrm{SOC}}\\\dot U_1\end{bmatrix}=\underbrace{\begin{bmatrix}0&amp;0\\0&amp;-\frac{1}{R_1C_1}\end{bmatrix}}_{A}\begin{bmatrix}\mathrm{SOC}\\U_1\end{bmatrix}+\underbrace{\begin{bmatrix}\frac1{C_N}\\\frac1{C_1}\end{bmatrix}}_{B}I$</a:t>
            </a:r>
          </a:p>
          <a:p>
            <a:endParaRPr/>
          </a:p>
          <a:p>
            <a:r>
              <a:t>continuous_output: $U_t=\underbrace{\begin{bmatrix}\frac{f(\mathrm{SOC})}{\mathrm{SOC}}&amp;1\end{bmatrix}}_{C(\mathrm{SOC})}\begin{bmatrix}\mathrm{SOC}\\U_1\end{bmatrix}+\underbrace{\begin{bmatrix}R_0\end{bmatrix}}_D I=f(\mathrm{SOC})+U_1+R_0I$</a:t>
            </a:r>
          </a:p>
          <a:p>
            <a:endParaRPr/>
          </a:p>
          <a:p>
            <a:r>
              <a:t>Übungsnotation wörtlich übernommen, einschließlich C(SOC)=[f(SOC)/SOC,1]. Dieser Quotient ist für SOC≠0 eine algebraische Darstellung des Ausgangs, keine EKF-Jacobimatrix. Bei allgemeiner nichtlinearer OCV ist das vollständige Modell nicht global linear. U_t=f(SOC)+U1+R0 I bleibt auch bei SOC=0 definiert. Gezeigt ist das 1RC-Lehrmodell, die geprüfte HECM-Implementierung hat zwei RC-Zweige.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SDB, Übung 4, 4_model-based.pdf, S. 9–12, Gl. 12–20 und abschließende ECM-Gleichungen</a:t>
            </a:r>
          </a:p>
          <a:p>
            <a:endParaRPr/>
          </a:p>
          <a:p>
            <a:r>
              <a:t>discrete_generic: $\begin{aligned}\mathbf{x}_{k+1}&amp;=A_d\mathbf{x}_k+B_du_k\\y_k&amp;=C\mathbf{x}_k+Du_k\end{aligned}\qquad\begin{aligned}A_d&amp;=e^{A\Delta t}\\B_d&amp;=\int_0^{\Delta t}e^{As}\,\mathrm ds\,B\end{aligned}$</a:t>
            </a:r>
          </a:p>
          <a:p>
            <a:endParaRPr/>
          </a:p>
          <a:p>
            <a:r>
              <a:t>discrete_ecm: $\begin{bmatrix}\mathrm{SOC}[k+1]\\U_1[k+1]\end{bmatrix}=\begin{bmatrix}1&amp;0\\0&amp;e^{-\Delta t/\tau_1}\end{bmatrix}\begin{bmatrix}\mathrm{SOC}[k]\\U_1[k]\end{bmatrix}+\begin{bmatrix}\frac{\Delta t}{C_N}\\-R_1\!\left(e^{-\Delta t/\tau_1}-1\right)\end{bmatrix}I[k]$</a:t>
            </a:r>
          </a:p>
          <a:p>
            <a:endParaRPr/>
          </a:p>
          <a:p>
            <a:r>
              <a:t>discrete_output: $U_t[k]=\begin{bmatrix}\frac{f(\mathrm{SOC}[k])}{\mathrm{SOC}[k]}&amp;1\end{bmatrix}\begin{bmatrix}\mathrm{SOC}[k]\\U_1[k]\end{bmatrix}+\begin{bmatrix}R_0\end{bmatrix}I[k]$</a:t>
            </a:r>
          </a:p>
          <a:p>
            <a:endParaRPr/>
          </a:p>
          <a:p>
            <a:r>
              <a:t>Strom I[k], alter Zustand x[k] und Ausgang U_t[k] gehören zum Zeitpunkt k. Der Zustandsübergang endet bei k+1. Der neu gemessene Strom I[k+1] ist nicht rückwirkend der Intervallstrom. Vorzeichen und C-Darstellung wie Übung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SDB Übung 4/5; C:/Users/flori/SynologyDrive/TUB/1_Dissertation/1_Scripts/DL_Models/LFP_SOC_SOH_Model/2_models/ECM_v2_qinnan/EKF_fcn.py, Zeilen 49, 62, 65–68, 87; FastBatteryEKF in ECM_0.0.3</a:t>
            </a:r>
          </a:p>
          <a:p>
            <a:endParaRPr/>
          </a:p>
          <a:p>
            <a:r>
              <a:t>time_predict: $\hat{\mathbf{x}}^-_{k+1}=A_d\hat{\mathbf{x}}^+_k+B_d I_k$</a:t>
            </a:r>
          </a:p>
          <a:p>
            <a:endParaRPr/>
          </a:p>
          <a:p>
            <a:r>
              <a:t>time_voltage: $\hat U^-_t[k+1]=h\!\left(\hat{\mathbf{x}}^-_{k+1},I_{k+1}\right)$</a:t>
            </a:r>
          </a:p>
          <a:p>
            <a:endParaRPr/>
          </a:p>
          <a:p>
            <a:r>
              <a:t>time_update: $\hat{\mathbf{x}}^+_{k+1}=\hat{\mathbf{x}}^-_{k+1}+K_{k+1}\!\left(U_t[k+1]-\hat U^-_t[k+1]\right)$</a:t>
            </a:r>
          </a:p>
          <a:p>
            <a:endParaRPr/>
          </a:p>
          <a:p>
            <a:r>
              <a:t>Die Spannungsfunktion h steht hier für den implementierten Messpfad; keine Behauptung, dass seine vollständige Numerik identisch zum vereinfachten 1RC-Lehrmodell ist. Minus/Plus bezeichnen Schätzungen vor/nach Messkorrektur am selben Zeitpunkt. Prozessrauschen wird nicht als bekannte Probe addiert, Q geht in die Kovarianz-Prediction ein.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SDB, Übung 5, 5_KF.pdf, S. 4–7, Gl. 3–4 und Definition von P; Kovarianzmatrix ausgeschrieben</a:t>
            </a:r>
          </a:p>
          <a:p>
            <a:endParaRPr/>
          </a:p>
          <a:p>
            <a:r>
              <a:t>kf_model: $\begin{aligned}\mathbf{x}_{k+1}&amp;=A_k\mathbf{x}_k+B_ku_k+\mathbf{w}_k\\y_k&amp;=C_k\mathbf{x}_k+D_ku_k+v_k\end{aligned}$</a:t>
            </a:r>
          </a:p>
          <a:p>
            <a:endParaRPr/>
          </a:p>
          <a:p>
            <a:r>
              <a:t>kf_qr: $\begin{aligned}Q_k&amp;=\operatorname{Cov}(\mathbf{w}_k)=\mathbb E[\mathbf{w}_k\mathbf{w}_k^T]\\R_k&amp;=\operatorname{Cov}(v_k)=\mathbb E[v_kv_k^T]\end{aligned}$</a:t>
            </a:r>
          </a:p>
          <a:p>
            <a:endParaRPr/>
          </a:p>
          <a:p>
            <a:r>
              <a:t>kf_p: $P_k^{\pm}=\mathbb E\!\left[(\mathbf{x}_k-\hat{\mathbf{x}}_k^{\pm})(\mathbf{x}_k-\hat{\mathbf{x}}_k^{\pm})^T\right]$</a:t>
            </a:r>
          </a:p>
          <a:p>
            <a:endParaRPr/>
          </a:p>
          <a:p>
            <a:r>
              <a:t>kf_pmatrix: $P_k=\begin{bmatrix}\operatorname{Var}(e_{\mathrm{SOC}})&amp;\operatorname{Cov}(e_{\mathrm{SOC}},e_{U_1})\\\operatorname{Cov}(e_{U_1},e_{\mathrm{SOC}})&amp;\operatorname{Var}(e_{U_1})\end{bmatrix}$</a:t>
            </a:r>
          </a:p>
          <a:p>
            <a:endParaRPr/>
          </a:p>
          <a:p>
            <a:r>
              <a:t>Q und R beschreiben angenommene Rauschkovarianzen. P wird mit Prediction und Update fortgeschrieben und ist keine dritte unabhängig vorgegebene Rauschkovarianz. P0 beschreibt die Anfangsschätzunsicherheit. Die gezeigte P-Matrix gehört zum 1RC-Zustandsvektor [SOC,U1]; sie enthält unterschiedliche physikalische Einheiten.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SDB, Übung 5, 5_KF.pdf, S. 5–6; Original-Abb. 4 Prediction</a:t>
            </a:r>
          </a:p>
          <a:p>
            <a:endParaRPr/>
          </a:p>
          <a:p>
            <a:r>
              <a:t>kf_initial: $\hat{\mathbf{x}}^+_{k_0},\qquad P^+_{k_0}=\mathbb E[(\mathbf{x}_{k_0}-\hat{\mathbf{x}}^+_{k_0})(\mathbf{x}_{k_0}-\hat{\mathbf{x}}^+_{k_0})^T]$</a:t>
            </a:r>
          </a:p>
          <a:p>
            <a:endParaRPr/>
          </a:p>
          <a:p>
            <a:r>
              <a:t>kf_predict: $\begin{aligned}\hat{\mathbf{x}}^-_{k+1}&amp;=A_k\hat{\mathbf{x}}^+_k+B_ku_k\\[6pt]P^-_{k+1}&amp;=A_kP^+_kA_k^T+Q_k\end{aligned}$</a:t>
            </a:r>
          </a:p>
          <a:p>
            <a:endParaRPr/>
          </a:p>
          <a:p>
            <a:r>
              <a:t>Originalgrafik aus Übung 5, Abb. 4. Die im Beispiel breitere Verteilung illustriert Unsicherheit; P muss bei beliebigen A und Q nicht in jeder Komponente wachsen. Kein realisierter w-Wert wird benötigt, weil sein Erwartungswert null ist.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SDB, Übung 5, 5_KF.pdf, S. 6; Original-Abb. 5 Update</a:t>
            </a:r>
          </a:p>
          <a:p>
            <a:endParaRPr/>
          </a:p>
          <a:p>
            <a:r>
              <a:t>kf_gain: $K_{k+1}=P^-_{k+1}C_{k+1}^T\!\left(R_{k+1}+C_{k+1}P^-_{k+1}C_{k+1}^T\right)^{-1}$</a:t>
            </a:r>
          </a:p>
          <a:p>
            <a:endParaRPr/>
          </a:p>
          <a:p>
            <a:r>
              <a:t>kf_update: $\begin{aligned}\hat{\mathbf{x}}^+_{k+1}&amp;=\hat{\mathbf{x}}^-_{k+1}+K_{k+1}\!\left[y_{k+1}-\left(C_{k+1}\hat{\mathbf{x}}^-_{k+1}+D_{k+1}u_{k+1}\right)\right]\\[6pt]P^+_{k+1}&amp;=P^-_{k+1}-K_{k+1}C_{k+1}P^-_{k+1}\end{aligned}$</a:t>
            </a:r>
          </a:p>
          <a:p>
            <a:endParaRPr/>
          </a:p>
          <a:p>
            <a:r>
              <a:t>kf_scalar: $C=1:\qquad K=\frac{P^-}{P^-+R}$</a:t>
            </a:r>
          </a:p>
          <a:p>
            <a:endParaRPr/>
          </a:p>
          <a:p>
            <a:r>
              <a:t>Originalgrafik Abb. 5 ist eine schematische skalare Illustration. Im allgemeinen Modell liegen Messung y und Zustand x in verschiedenen Räumen; C verknüpft sie. Im EKF werden anstelle konstanter System-/Messmatrizen lokale Jacobimatrizen der nichtlinearen Abbildungen verwendet. Im ECM ist die EKF-Ableitung dOCV/dSOC nicht der Quotient OCV/SOC der algebraischen Übungsdarstellung.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 Dissertation, Abschnitt 7.3, gedruckte Seiten 128–129, Gleichungen 7.9 und 7.10. N(H)=4HD+4H²+HM+M. MAC zählt die gewichteten Matrixprodukte pro Streaming-Schritt, ohne Bias-Additionen, Aktivierungen, Indexierung und Speicherzugriffe. Vollständige Reduktion: R=[4(2p−p²)H²+p(4D+M)H]/[4H²+(4D+M)H+M]. Für H gegen unendlich bei festem D und M geht R gegen 2p−p². Das Diagramm zeigt diesen analytischen Grenzwert, keine Laufzeitmessung und keine gemessene Gesamtmodell-Einsparung. 30%,40%,50% ergeben 51%,64%,75%. Bei exakt 30% Pruning bleiben 70% Breite und 49% des quadratischen Terms. SOC D=6,H=64,M=64: 22080 MACs; H=45:12124. SOH D=6,H=128,M=128:85120;H=90:46208. Die MLP-Breite bleibt unverändert. Integer-Rundung ergibt bei beiden 29,6875% entfernte Hidden Channels.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Ein Boxplot fasst Lage und Streuung einer Verteilung zusammen. Hier ist die übliche Tukey-Variante mit der 1,5×IQR-Regel dargestellt.</a:t>
            </a:r>
          </a:p>
          <a:p>
            <a:endParaRPr lang="de-DE"/>
          </a:p>
          <a:p>
            <a:r>
              <a:rPr lang="de-DE"/>
              <a:t>Der Median ist der mittlere Wert der sortierten Daten. Bei einer geraden Anzahl von Beobachtungen wird üblicherweise der Mittelwert der beiden mittleren Werte verwendet. Im Beispiel 1, 2, 3, 4, 20 beträgt der Median 3; der arithmetische Mittelwert wäre 6. Der Median ist daher weniger empfindlich gegenüber einzelnen extremen Werten.</a:t>
            </a:r>
          </a:p>
          <a:p>
            <a:endParaRPr lang="de-DE"/>
          </a:p>
          <a:p>
            <a:r>
              <a:rPr lang="de-DE"/>
              <a:t>Q1 und Q3 sind das 25%- und das 75%-Quantil. Die Box markiert die mittlere Hälfte der Verteilung. Ihre Höhe ist der Interquartilsabstand IQR = Q3 − Q1. Die Linie in der Box zeigt den Median; sie muss nicht in der geometrischen Mitte liegen. Bei endlichen Stichproben hängt die genaue Quartilsberechnung von der verwendeten Konvention ab.</a:t>
            </a:r>
          </a:p>
          <a:p>
            <a:endParaRPr lang="de-DE"/>
          </a:p>
          <a:p>
            <a:r>
              <a:rPr lang="de-DE"/>
              <a:t>Die Whisker heißen auch Antennen. Sie reichen hier bis zum kleinsten bzw. größten tatsächlich beobachteten Wert innerhalb der Grenzen Q1 − 1,5×IQR und Q3 + 1,5×IQR. Sie enden also nicht zwangsläufig genau an diesen Grenzen und sind nicht automatisch Minimum und Maximum der gesamten Stichprobe. Es gibt auch andere Whisker-Konventionen.</a:t>
            </a:r>
          </a:p>
          <a:p>
            <a:endParaRPr lang="de-DE"/>
          </a:p>
          <a:p>
            <a:r>
              <a:rPr lang="de-DE"/>
              <a:t>Punkte außerhalb der Grenzen werden als potenzielle Ausreißer einzeln dargestellt. Sie sind nicht automatisch Messfehler. Die Breite der Box hat in dieser Darstellung keine statistische Bedeutung.</a:t>
            </a:r>
          </a:p>
          <a:p>
            <a:endParaRPr lang="de-DE"/>
          </a:p>
          <a:p>
            <a:r>
              <a:rPr lang="de-DE"/>
              <a:t>Die Zeichnung beruht auf einer rein illustrativen Stichprobe ohne Bezug zu Batteriemodellen: 1, 2, 3, 3.5, 4, 4.5, 5, 5.5, 6, 6.5, 7, 7.5, 8, 9, 10, 13, 16. Q1 = 4, Median = 6, Q3 = 8, IQR = 4. Die Grenzen liegen bei −2 und 14; die Whisker enden an den beobachteten Werten 1 und 13. Der Wert 16 ist ein Ausreißer. Das Zahlenbeispiel zur Median-Definition rechts ist ein separates Beispiel.</a:t>
            </a:r>
          </a:p>
          <a:p>
            <a:endParaRPr lang="de-DE"/>
          </a:p>
          <a:p>
            <a:r>
              <a:rPr lang="de-DE"/>
              <a:t>Quellen:</a:t>
            </a:r>
          </a:p>
          <a:p>
            <a:r>
              <a:rPr lang="de-DE"/>
              <a:t>NIST/SEMATECH e-Handbook, Box Plot: https://www.itl.nist.gov/div898/handbook/eda/section3/boxplot.htm</a:t>
            </a:r>
          </a:p>
          <a:p>
            <a:r>
              <a:rPr lang="de-DE"/>
              <a:t>Matplotlib, pyplot.boxplot (Tukey whisker convention): https://matplotlib.org/stable/api/_as_gen/matplotlib.pyplot.boxplot.html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Anhang: Abbildung 6.18 der Dissertation. Originalgrafik unverändert. Quelle: pictures/jes_final/Figure_18_On_Device_Latency_Distributions.png. DD bezeichnet Continuous State.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8559423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MG-FARM-Konsortium. Projektbericht: Projektübersicht (Abbildung). Bildquelle laut Verfasser; genaue Berichtsangabe nicht vorliegend. </a:t>
            </a:r>
          </a:p>
          <a:p>
            <a:endParaRPr/>
          </a:p>
          <a:p>
            <a:endParaRPr/>
          </a:p>
          <a:p>
            <a:r>
              <a:t>[2] J. Kim et al. (2018). Estimation of Li-ion Battery State of Health Based on Multilayer Perceptron: As an EV Application. IFAC-PapersOnLine 51(28), 392–397. https://doi.org/10.1016/j.ifacol.2018.11.734</a:t>
            </a:r>
          </a:p>
          <a:p>
            <a:r>
              <a:t>Entspricht Literaturverzeichnis der Dissertation [105].</a:t>
            </a:r>
          </a:p>
          <a:p>
            <a:endParaRPr/>
          </a:p>
          <a:p>
            <a:r>
              <a:t>[3] H. Chaoui, C. C. Ibe-Ekeocha und H. Gualous (2017). Aging Prediction and State of Charge Estimation of a LiFePO4 Battery Using Input Time-Delayed Neural Networks. Electric Power Systems Research 146, 189–197. https://doi.org/10.1016/j.epsr.2017.01.032</a:t>
            </a:r>
          </a:p>
          <a:p>
            <a:r>
              <a:t>Entspricht Literaturverzeichnis der Dissertation [106].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 W. Li et al. (2021). Online Capacity Estimation of Lithium-Ion Batteries with Deep Long Short-Term Memory Networks. Journal of Power Sources 482, 228863. https://doi.org/10.1016/j.jpowsour.2020.228863</a:t>
            </a:r>
          </a:p>
          <a:p>
            <a:r>
              <a:t>Entspricht Literaturverzeichnis der Dissertation [116].</a:t>
            </a:r>
          </a:p>
          <a:p>
            <a:endParaRPr/>
          </a:p>
          <a:p>
            <a:r>
              <a:t>[5] X. Li et al. (2015). Robustness of SOC Estimation Algorithms for EV Lithium-Ion Batteries against Modeling Errors and Measurement Noise. Mathematical Problems in Engineering, Artikel 719490. https://doi.org/10.1155/2015/719490</a:t>
            </a:r>
          </a:p>
          <a:p>
            <a:r>
              <a:t>Entspricht Literaturverzeichnis der Dissertation [7].</a:t>
            </a:r>
          </a:p>
          <a:p>
            <a:endParaRPr/>
          </a:p>
          <a:p>
            <a:r>
              <a:t>[6] F. Berger et al. (2024). Benchmarking Battery Management System Algorithms – Requirements, Scenarios and Validation for Automotive Applications. eTransportation 22, 100355. https://doi.org/10.1016/j.etran.2024.100355</a:t>
            </a:r>
          </a:p>
          <a:p>
            <a:r>
              <a:t>Entspricht Literaturverzeichnis der Dissertation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 O. Aiello (2020). Electromagnetic Susceptibility of Battery Management Systems’ ICs for Electric Vehicles: Experimental Study. Electronics 9(3), 510. https://doi.org/10.3390/electronics9030510</a:t>
            </a:r>
          </a:p>
          <a:p>
            <a:r>
              <a:t>Entspricht Literaturverzeichnis der Dissertation [117].</a:t>
            </a:r>
          </a:p>
          <a:p>
            <a:endParaRPr/>
          </a:p>
          <a:p>
            <a:r>
              <a:t>[8] G. Crocioni et al. (2020). Li-Ion Batteries Parameter Estimation With Tiny Neural Networks Embedded on Intelligent IoT Microcontrollers. IEEE Access 8, 122135–122146. https://doi.org/10.1109/ACCESS.2020.3007046</a:t>
            </a:r>
          </a:p>
          <a:p>
            <a:r>
              <a:t>Entspricht Literaturverzeichnis der Dissertation [73].</a:t>
            </a:r>
          </a:p>
          <a:p>
            <a:endParaRPr/>
          </a:p>
          <a:p>
            <a:r>
              <a:t>[9] S. Giazitzis et al. (2024). A Case Study of a Tiny Machine Learning Application for Battery State-of-Charge Estimation. Electronics 13(10), 1964. https://doi.org/10.3390/electronics13101964</a:t>
            </a:r>
          </a:p>
          <a:p>
            <a:r>
              <a:t>Entspricht Literaturverzeichnis der Dissertation [72].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D. H. Park, H.-d. Jang und D. E. Chang (2023). Optimized Network Pruning Method for Li-ion Batteries State-of-charge Estimation on Robot Embedded System. Journal of Korea Robotics Society 18(1), 88–92. https://doi.org/10.7746/jkros.2023.18.1.088</a:t>
            </a:r>
          </a:p>
          <a:p>
            <a:endParaRP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endParaRPr/>
          </a:p>
          <a:p>
            <a:endParaRPr/>
          </a:p>
          <a:p>
            <a:r>
              <a:t>[12] F. Rzepka, P. Hematty, M. Schmitz und J. Kowal (2023). Neural Network Architecture for Determining the Aging of Stationary Storage Systems in Smart Grids. Energies 16(17), 6103. https://doi.org/10.3390/en16176103</a:t>
            </a:r>
          </a:p>
          <a:p>
            <a:r>
              <a:t>Entspricht Literaturverzeichnis der Dissertation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 F. Rzepka (2025). Design of Experiments for Cyclic Aging of LFP 18650 Cells: Impact of Charge/Discharge C-Rates, Depth of Discharge, and Temperature on Battery Degradation. Datensatz, TU Berlin / DepositOnce, 13. November 2025. https://doi.org/10.14279/DEPOSITONCE-24800</a:t>
            </a:r>
          </a:p>
          <a:p>
            <a:r>
              <a:t>Entspricht Literaturverzeichnis der Dissertation [93].</a:t>
            </a:r>
          </a:p>
          <a:p>
            <a:endParaRPr/>
          </a:p>
          <a:p>
            <a:r>
              <a:t>[14] STMicroelectronics. STM32 Nucleo-144 Boards. NUCLEO-H753ZI, Data Brief. Hardwarequelle aus der Dissertation. https://www.st.com/resource/en/data_brief/nucleo-h753zi.pdf</a:t>
            </a:r>
          </a:p>
          <a:p>
            <a:r>
              <a:t>Entspricht Literaturverzeichnis der Dissertation [136].</a:t>
            </a:r>
          </a:p>
          <a:p>
            <a:endParaRPr/>
          </a:p>
          <a:p>
            <a:r>
              <a:t>[15] L. Li et al. (2016). Hyperband: A Novel Bandit-Based Approach to Hyperparameter Optimization. arXiv-Preprint, Fassung gemäß Dissertation. https://arxiv.org/abs/1603.06560</a:t>
            </a:r>
          </a:p>
          <a:p>
            <a:r>
              <a:t>Entspricht Literaturverzeichnis der Dissertation [110].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[16] F. Rzepka, Q. Chen und J. Kowal (2026). Performance and Robustness Benchmarking Across Battery State-of-Charge Estimator Classes for Embedded Applications. Manuskript, bei Engineering Applications of Artificial Intelligence eingereicht. </a:t>
            </a:r>
          </a:p>
          <a:p>
            <a:r>
              <a:t>Entspricht Literaturverzeichnis der Dissertation [2].</a:t>
            </a:r>
          </a:p>
          <a:p>
            <a:endParaRPr/>
          </a:p>
          <a:p>
            <a:r>
              <a:t>[17] G. L. Plett (2015). Battery Management Systems. Volume 1: Battery Modeling. Artech House. Grundlagen zu Batteriemodellen und Zustandsbestimmung. </a:t>
            </a:r>
          </a:p>
          <a:p>
            <a:r>
              <a:t>Entspricht Literaturverzeichnis der Dissertation [4].</a:t>
            </a:r>
          </a:p>
          <a:p>
            <a:endParaRPr/>
          </a:p>
          <a:p>
            <a:r>
              <a:t>[18] Z. C. Lipton, J. Berkowitz und C. Elkan (2015). A Critical Review of Recurrent Neural Networks for Sequence Learning. arXiv-Preprint. https://arxiv.org/abs/1506.00019</a:t>
            </a:r>
          </a:p>
          <a:p>
            <a:r>
              <a:t>Entspricht Literaturverzeichnis der Dissertation [32].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[19] J. Li et al. (2021). Joint Estimation of State of Charge and State of Health for Lithium-ion Battery Based on Dual Adaptive Extended Kalman Filter. International Journal of Energy Research 45(9), 13307–13322. https://doi.org/10.1002/er.6658</a:t>
            </a:r>
          </a:p>
          <a:p>
            <a:r>
              <a:t>Entspricht Literaturverzeichnis der Dissertation [30].</a:t>
            </a:r>
          </a:p>
          <a:p>
            <a:endParaRPr/>
          </a:p>
          <a:p>
            <a:r>
              <a:t>[20] F. Rzepka und J. Kowal (2026). Embedded Artificial Intelligence in Battery Management Systems: Pruning and Quantization for Efficient State-of-Charge and State-of-Health Estimation. SSRN-Preprint, 24. Februar 2026. https://doi.org/10.2139/ssrn.6298526</a:t>
            </a:r>
          </a:p>
          <a:p>
            <a:r>
              <a:t>Entspricht Literaturverzeichnis der Dissertation [3].</a:t>
            </a:r>
          </a:p>
          <a:p>
            <a:endParaRPr/>
          </a:p>
          <a:p>
            <a:r>
              <a:t>[21] S. Han, J. Pool, J. Tran und W. J. Dally (2015). Learning Both Weights and Connections for Efficient Neural Networks. NeurIPS 28, 1135–1143. https://proceedings.neurips.cc/paper/2015/hash/ae0eb3eed39d2bcef4622b2499a05fe6-Abstract.html</a:t>
            </a:r>
          </a:p>
          <a:p>
            <a:r>
              <a:t>Entspricht Literaturverzeichnis der Dissertation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 W. Wen et al. (2016). Learning Structured Sparsity in Deep Neural Networks. NeurIPS 29, 2074–2082. https://arxiv.org/abs/1608.03665</a:t>
            </a:r>
          </a:p>
          <a:p>
            <a:r>
              <a:t>Entspricht Literaturverzeichnis der Dissertation [47].</a:t>
            </a:r>
          </a:p>
          <a:p>
            <a:endParaRPr/>
          </a:p>
          <a:p>
            <a:r>
              <a:t>[23] E. Lobacheva et al. (2020). Structured Sparsification of Gated Recurrent Neural Networks. AAAI 34(04), 4989–4996. https://doi.org/10.1609/aaai.v34i04.5938</a:t>
            </a:r>
          </a:p>
          <a:p>
            <a:r>
              <a:t>Entspricht Literaturverzeichnis der Dissertation [131].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[24] B. Jacob et al. (2018). Quantization and Training of Neural Networks for Efficient Integer-Arithmetic-Only Inference. CVPR, 2704–2713. https://doi.org/10.1109/CVPR.2018.00286</a:t>
            </a:r>
          </a:p>
          <a:p>
            <a:r>
              <a:t>Entspricht Literaturverzeichnis der Dissertation [13].</a:t>
            </a:r>
          </a:p>
          <a:p>
            <a:endParaRPr/>
          </a:p>
          <a:p>
            <a:r>
              <a:t>[25] R. Krishnamoorthi (2018). Quantizing Deep Convolutional Networks for Efficient Inference: A Whitepaper. arXiv-Preprint. https://arxiv.org/abs/1806.08342</a:t>
            </a:r>
          </a:p>
          <a:p>
            <a:r>
              <a:t>Entspricht Literaturverzeichnis der Dissertation [66].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idx="18" hasCustomPrompt="1"/>
          </p:nvPr>
        </p:nvSpPr>
        <p:spPr>
          <a:xfrm>
            <a:off x="550800" y="3175200"/>
            <a:ext cx="9721850" cy="2124075"/>
          </a:xfrm>
          <a:prstGeom prst="rect">
            <a:avLst/>
          </a:prstGeom>
        </p:spPr>
        <p:txBody>
          <a:bodyPr lIns="0" tIns="0"/>
          <a:lstStyle>
            <a:lvl1pPr marL="228600" indent="-228600">
              <a:lnSpc>
                <a:spcPts val="2400"/>
              </a:lnSpc>
              <a:buFont typeface="Symbol"/>
              <a:buChar char="-"/>
              <a:defRPr sz="1800">
                <a:solidFill>
                  <a:srgbClr val="434343"/>
                </a:solidFill>
                <a:latin typeface="Arial"/>
                <a:ea typeface="Arial"/>
                <a:cs typeface="Arial"/>
              </a:defRPr>
            </a:lvl1pPr>
            <a:lvl2pPr marL="685800" indent="-228600">
              <a:lnSpc>
                <a:spcPts val="2400"/>
              </a:lnSpc>
              <a:buFont typeface="Symbol"/>
              <a:buChar char="-"/>
              <a:defRPr sz="1800">
                <a:solidFill>
                  <a:srgbClr val="434343"/>
                </a:solidFill>
                <a:latin typeface="Arial"/>
                <a:ea typeface="Arial"/>
                <a:cs typeface="Arial"/>
              </a:defRPr>
            </a:lvl2pPr>
            <a:lvl3pPr marL="1143000" indent="-228600">
              <a:lnSpc>
                <a:spcPts val="2400"/>
              </a:lnSpc>
              <a:buFont typeface="Symbol"/>
              <a:buChar char="-"/>
              <a:defRPr sz="1800">
                <a:solidFill>
                  <a:srgbClr val="434343"/>
                </a:solidFill>
                <a:latin typeface="Arial"/>
                <a:ea typeface="Arial"/>
                <a:cs typeface="Arial"/>
              </a:defRPr>
            </a:lvl3pPr>
            <a:lvl4pPr marL="1600200" indent="-228600">
              <a:lnSpc>
                <a:spcPts val="2400"/>
              </a:lnSpc>
              <a:buFont typeface="Symbol"/>
              <a:buChar char="-"/>
              <a:defRPr sz="1800">
                <a:solidFill>
                  <a:srgbClr val="434343"/>
                </a:solidFill>
                <a:latin typeface="Arial"/>
                <a:ea typeface="Arial"/>
                <a:cs typeface="Arial"/>
              </a:defRPr>
            </a:lvl4pPr>
            <a:lvl5pPr marL="2057400" indent="-228600">
              <a:lnSpc>
                <a:spcPts val="2400"/>
              </a:lnSpc>
              <a:buFont typeface="Symbol"/>
              <a:buChar char="-"/>
              <a:defRPr sz="1800">
                <a:solidFill>
                  <a:srgbClr val="434343"/>
                </a:solidFill>
                <a:latin typeface="Arial"/>
                <a:ea typeface="Arial"/>
                <a:cs typeface="Arial"/>
              </a:defRPr>
            </a:lvl5pPr>
          </a:lstStyle>
          <a:p>
            <a:pPr lvl="0">
              <a:buNone/>
              <a:defRPr>
                <a:latin typeface="Calibri"/>
                <a:ea typeface="Calibri"/>
                <a:cs typeface="Calibri"/>
              </a:defRPr>
            </a:pPr>
            <a:r>
              <a:rPr>
                <a:latin typeface="Calibri"/>
                <a:ea typeface="Calibri"/>
                <a:cs typeface="Calibri"/>
              </a:rPr>
              <a:t>Aufzählung 1. Ebene Arial Regular 18 pt, ZA: 24 pt</a:t>
            </a:r>
            <a:endParaRPr/>
          </a:p>
          <a:p>
            <a:pPr lvl="1">
              <a:buNone/>
              <a:defRPr>
                <a:latin typeface="Calibri"/>
                <a:ea typeface="Calibri"/>
                <a:cs typeface="Calibri"/>
              </a:defRPr>
            </a:pPr>
            <a:r>
              <a:rPr>
                <a:latin typeface="Calibri"/>
                <a:ea typeface="Calibri"/>
                <a:cs typeface="Calibri"/>
              </a:rPr>
              <a:t>2. Ebene</a:t>
            </a:r>
          </a:p>
          <a:p>
            <a:pPr lvl="2">
              <a:buNone/>
              <a:defRPr>
                <a:latin typeface="Calibri"/>
                <a:ea typeface="Calibri"/>
                <a:cs typeface="Calibri"/>
              </a:defRPr>
            </a:pPr>
            <a:r>
              <a:rPr>
                <a:latin typeface="Calibri"/>
                <a:ea typeface="Calibri"/>
                <a:cs typeface="Calibri"/>
              </a:rPr>
              <a:t>3. Ebene</a:t>
            </a:r>
          </a:p>
          <a:p>
            <a:pPr lvl="3">
              <a:buNone/>
              <a:defRPr>
                <a:latin typeface="Calibri"/>
                <a:ea typeface="Calibri"/>
                <a:cs typeface="Calibri"/>
              </a:defRPr>
            </a:pPr>
            <a:r>
              <a:rPr>
                <a:latin typeface="Calibri"/>
                <a:ea typeface="Calibri"/>
                <a:cs typeface="Calibri"/>
              </a:rPr>
              <a:t>4. Ebene</a:t>
            </a:r>
          </a:p>
          <a:p>
            <a:pPr lvl="4">
              <a:buNone/>
              <a:defRPr>
                <a:latin typeface="Calibri"/>
                <a:ea typeface="Calibri"/>
                <a:cs typeface="Calibri"/>
              </a:defRPr>
            </a:pPr>
            <a:r>
              <a:rPr>
                <a:latin typeface="Calibri"/>
                <a:ea typeface="Calibri"/>
                <a:cs typeface="Calibri"/>
              </a:rPr>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idx="17" hasCustomPrompt="1"/>
          </p:nvPr>
        </p:nvSpPr>
        <p:spPr>
          <a:xfrm>
            <a:off x="550066"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idx="18" hasCustomPrompt="1"/>
          </p:nvPr>
        </p:nvSpPr>
        <p:spPr>
          <a:xfrm>
            <a:off x="728876" y="1382206"/>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idx="17" hasCustomPrompt="1"/>
          </p:nvPr>
        </p:nvSpPr>
        <p:spPr>
          <a:xfrm>
            <a:off x="6202905"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a:buChar char="-"/>
              <a:defRPr sz="1800">
                <a:solidFill>
                  <a:srgbClr val="434343"/>
                </a:solidFill>
                <a:latin typeface="Arial"/>
                <a:ea typeface="Arial"/>
                <a:cs typeface="Arial"/>
              </a:defRPr>
            </a:lvl1pPr>
            <a:lvl2pPr marL="685800" indent="-228600">
              <a:lnSpc>
                <a:spcPts val="2400"/>
              </a:lnSpc>
              <a:buFont typeface="Symbol"/>
              <a:buChar char="-"/>
              <a:defRPr sz="1800">
                <a:solidFill>
                  <a:srgbClr val="434343"/>
                </a:solidFill>
                <a:latin typeface="Arial"/>
                <a:ea typeface="Arial"/>
                <a:cs typeface="Arial"/>
              </a:defRPr>
            </a:lvl2pPr>
            <a:lvl3pPr marL="1143000" indent="-228600">
              <a:lnSpc>
                <a:spcPts val="2400"/>
              </a:lnSpc>
              <a:buFont typeface="Symbol"/>
              <a:buChar char="-"/>
              <a:defRPr sz="1800">
                <a:solidFill>
                  <a:srgbClr val="434343"/>
                </a:solidFill>
                <a:latin typeface="Arial"/>
                <a:ea typeface="Arial"/>
                <a:cs typeface="Arial"/>
              </a:defRPr>
            </a:lvl3pPr>
            <a:lvl4pPr marL="1600200" indent="-228600">
              <a:lnSpc>
                <a:spcPts val="2400"/>
              </a:lnSpc>
              <a:buFont typeface="Symbol"/>
              <a:buChar char="-"/>
              <a:defRPr sz="1800">
                <a:solidFill>
                  <a:srgbClr val="434343"/>
                </a:solidFill>
                <a:latin typeface="Arial"/>
                <a:ea typeface="Arial"/>
                <a:cs typeface="Arial"/>
              </a:defRPr>
            </a:lvl4pPr>
            <a:lvl5pPr marL="2057400" indent="-228600">
              <a:lnSpc>
                <a:spcPts val="2400"/>
              </a:lnSpc>
              <a:buFont typeface="Symbol"/>
              <a:buChar char="-"/>
              <a:defRPr sz="1800">
                <a:solidFill>
                  <a:srgbClr val="434343"/>
                </a:solidFill>
                <a:latin typeface="Arial"/>
                <a:ea typeface="Arial"/>
                <a:cs typeface="Arial"/>
              </a:defRPr>
            </a:lvl5pPr>
          </a:lstStyle>
          <a:p>
            <a:pPr lvl="0">
              <a:buNone/>
              <a:defRPr>
                <a:latin typeface="Calibri"/>
                <a:ea typeface="Calibri"/>
                <a:cs typeface="Calibri"/>
              </a:defRPr>
            </a:pPr>
            <a:r>
              <a:rPr>
                <a:latin typeface="Calibri"/>
                <a:ea typeface="Calibri"/>
                <a:cs typeface="Calibri"/>
              </a:rPr>
              <a:t>Aufzählung 1. Ebene Arial Regular 18 pt, ZA: 24 pt</a:t>
            </a:r>
            <a:endParaRPr/>
          </a:p>
          <a:p>
            <a:pPr lvl="1">
              <a:buNone/>
              <a:defRPr>
                <a:latin typeface="Calibri"/>
                <a:ea typeface="Calibri"/>
                <a:cs typeface="Calibri"/>
              </a:defRPr>
            </a:pPr>
            <a:r>
              <a:rPr>
                <a:latin typeface="Calibri"/>
                <a:ea typeface="Calibri"/>
                <a:cs typeface="Calibri"/>
              </a:rPr>
              <a:t>2. Ebene</a:t>
            </a:r>
          </a:p>
          <a:p>
            <a:pPr lvl="2">
              <a:buNone/>
              <a:defRPr>
                <a:latin typeface="Calibri"/>
                <a:ea typeface="Calibri"/>
                <a:cs typeface="Calibri"/>
              </a:defRPr>
            </a:pPr>
            <a:r>
              <a:rPr>
                <a:latin typeface="Calibri"/>
                <a:ea typeface="Calibri"/>
                <a:cs typeface="Calibri"/>
              </a:rPr>
              <a:t>3. Ebene</a:t>
            </a:r>
          </a:p>
          <a:p>
            <a:pPr lvl="3">
              <a:buNone/>
              <a:defRPr>
                <a:latin typeface="Calibri"/>
                <a:ea typeface="Calibri"/>
                <a:cs typeface="Calibri"/>
              </a:defRPr>
            </a:pPr>
            <a:r>
              <a:rPr>
                <a:latin typeface="Calibri"/>
                <a:ea typeface="Calibri"/>
                <a:cs typeface="Calibri"/>
              </a:rPr>
              <a:t>4. Ebene</a:t>
            </a:r>
          </a:p>
          <a:p>
            <a:pPr lvl="4">
              <a:buNone/>
              <a:defRPr>
                <a:latin typeface="Calibri"/>
                <a:ea typeface="Calibri"/>
                <a:cs typeface="Calibri"/>
              </a:defRPr>
            </a:pPr>
            <a:r>
              <a:rPr>
                <a:latin typeface="Calibri"/>
                <a:ea typeface="Calibri"/>
                <a:cs typeface="Calibri"/>
              </a:rPr>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idx="17" hasCustomPrompt="1"/>
          </p:nvPr>
        </p:nvSpPr>
        <p:spPr>
          <a:xfrm>
            <a:off x="550066"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0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idx="18" hasCustomPrompt="1"/>
          </p:nvPr>
        </p:nvSpPr>
        <p:spPr>
          <a:xfrm>
            <a:off x="730221" y="1373399"/>
            <a:ext cx="3981600" cy="4111200"/>
          </a:xfrm>
          <a:prstGeom prst="rect">
            <a:avLst/>
          </a:prstGeom>
        </p:spPr>
        <p:txBody>
          <a:bodyPr lIns="0" tIns="0" rIns="0" bIns="0"/>
          <a:lstStyle>
            <a:lvl1pPr marL="228600" indent="-228600">
              <a:lnSpc>
                <a:spcPts val="2400"/>
              </a:lnSpc>
              <a:buFont typeface="Symbol"/>
              <a:buChar char="-"/>
              <a:defRPr sz="1800">
                <a:solidFill>
                  <a:srgbClr val="434343"/>
                </a:solidFill>
                <a:latin typeface="Arial"/>
                <a:ea typeface="Arial"/>
                <a:cs typeface="Arial"/>
              </a:defRPr>
            </a:lvl1pPr>
            <a:lvl2pPr marL="685800" indent="-228600">
              <a:lnSpc>
                <a:spcPts val="2400"/>
              </a:lnSpc>
              <a:buFont typeface="Symbol"/>
              <a:buChar char="-"/>
              <a:defRPr sz="1800">
                <a:solidFill>
                  <a:srgbClr val="434343"/>
                </a:solidFill>
                <a:latin typeface="Arial"/>
                <a:ea typeface="Arial"/>
                <a:cs typeface="Arial"/>
              </a:defRPr>
            </a:lvl2pPr>
            <a:lvl3pPr marL="1143000" indent="-228600">
              <a:lnSpc>
                <a:spcPts val="2400"/>
              </a:lnSpc>
              <a:buFont typeface="Symbol"/>
              <a:buChar char="-"/>
              <a:defRPr sz="1800">
                <a:solidFill>
                  <a:srgbClr val="434343"/>
                </a:solidFill>
                <a:latin typeface="Arial"/>
                <a:ea typeface="Arial"/>
                <a:cs typeface="Arial"/>
              </a:defRPr>
            </a:lvl3pPr>
            <a:lvl4pPr marL="1600200" indent="-228600">
              <a:lnSpc>
                <a:spcPts val="2400"/>
              </a:lnSpc>
              <a:buFont typeface="Symbol"/>
              <a:buChar char="-"/>
              <a:defRPr sz="1800">
                <a:solidFill>
                  <a:srgbClr val="434343"/>
                </a:solidFill>
                <a:latin typeface="Arial"/>
                <a:ea typeface="Arial"/>
                <a:cs typeface="Arial"/>
              </a:defRPr>
            </a:lvl4pPr>
            <a:lvl5pPr marL="2057400" indent="-228600">
              <a:lnSpc>
                <a:spcPts val="2400"/>
              </a:lnSpc>
              <a:buFont typeface="Symbol"/>
              <a:buChar char="-"/>
              <a:defRPr sz="1800">
                <a:solidFill>
                  <a:srgbClr val="434343"/>
                </a:solidFill>
                <a:latin typeface="Arial"/>
                <a:ea typeface="Arial"/>
                <a:cs typeface="Arial"/>
              </a:defRPr>
            </a:lvl5pPr>
          </a:lstStyle>
          <a:p>
            <a:pPr lvl="0">
              <a:buNone/>
              <a:defRPr>
                <a:latin typeface="Calibri"/>
                <a:ea typeface="Calibri"/>
                <a:cs typeface="Calibri"/>
              </a:defRPr>
            </a:pPr>
            <a:r>
              <a:rPr>
                <a:latin typeface="Calibri"/>
                <a:ea typeface="Calibri"/>
                <a:cs typeface="Calibri"/>
              </a:rPr>
              <a:t>Aufzählung 1. Ebene Arial Regular 18 pt, ZA: 24 pt</a:t>
            </a:r>
            <a:endParaRPr/>
          </a:p>
          <a:p>
            <a:pPr lvl="1">
              <a:buNone/>
              <a:defRPr>
                <a:latin typeface="Calibri"/>
                <a:ea typeface="Calibri"/>
                <a:cs typeface="Calibri"/>
              </a:defRPr>
            </a:pPr>
            <a:r>
              <a:rPr>
                <a:latin typeface="Calibri"/>
                <a:ea typeface="Calibri"/>
                <a:cs typeface="Calibri"/>
              </a:rPr>
              <a:t>2. Ebene</a:t>
            </a:r>
          </a:p>
          <a:p>
            <a:pPr lvl="2">
              <a:buNone/>
              <a:defRPr>
                <a:latin typeface="Calibri"/>
                <a:ea typeface="Calibri"/>
                <a:cs typeface="Calibri"/>
              </a:defRPr>
            </a:pPr>
            <a:r>
              <a:rPr>
                <a:latin typeface="Calibri"/>
                <a:ea typeface="Calibri"/>
                <a:cs typeface="Calibri"/>
              </a:rPr>
              <a:t>3. Ebene</a:t>
            </a:r>
          </a:p>
          <a:p>
            <a:pPr lvl="3">
              <a:buNone/>
              <a:defRPr>
                <a:latin typeface="Calibri"/>
                <a:ea typeface="Calibri"/>
                <a:cs typeface="Calibri"/>
              </a:defRPr>
            </a:pPr>
            <a:r>
              <a:rPr>
                <a:latin typeface="Calibri"/>
                <a:ea typeface="Calibri"/>
                <a:cs typeface="Calibri"/>
              </a:rPr>
              <a:t>4. Ebene</a:t>
            </a:r>
          </a:p>
          <a:p>
            <a:pPr lvl="4">
              <a:buNone/>
              <a:defRPr>
                <a:latin typeface="Calibri"/>
                <a:ea typeface="Calibri"/>
                <a:cs typeface="Calibri"/>
              </a:defRPr>
            </a:pPr>
            <a:r>
              <a:rPr>
                <a:latin typeface="Calibri"/>
                <a:ea typeface="Calibri"/>
                <a:cs typeface="Calibri"/>
              </a:rPr>
              <a:t>5. Ebene</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
        <p:nvSpPr>
          <p:cNvPr id="2" name="Bildplatzhalter 2">
            <a:extLst>
              <a:ext uri="{FF2B5EF4-FFF2-40B4-BE49-F238E27FC236}">
                <a16:creationId xmlns:a16="http://schemas.microsoft.com/office/drawing/2014/main" id="{4F835FC2-209C-B623-B2FE-93104346F508}"/>
              </a:ext>
            </a:extLst>
          </p:cNvPr>
          <p:cNvSpPr>
            <a:spLocks noGrp="1"/>
          </p:cNvSpPr>
          <p:nvPr>
            <p:ph type="pic" idx="17" hasCustomPrompt="1"/>
          </p:nvPr>
        </p:nvSpPr>
        <p:spPr>
          <a:xfrm>
            <a:off x="6202905"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Inhalt - Bild und Stichpunkte">
    <p:spTree>
      <p:nvGrpSpPr>
        <p:cNvPr id="1" name=""/>
        <p:cNvGrpSpPr/>
        <p:nvPr/>
      </p:nvGrpSpPr>
      <p:grpSpPr>
        <a:xfrm>
          <a:off x="0" y="0"/>
          <a:ext cx="0" cy="0"/>
          <a:chOff x="0" y="0"/>
          <a:chExt cx="0" cy="0"/>
        </a:xfrm>
      </p:grpSpPr>
      <p:sp>
        <p:nvSpPr>
          <p:cNvPr id="6" name="Bildplatzhalter 2">
            <a:extLst>
              <a:ext uri="{FF2B5EF4-FFF2-40B4-BE49-F238E27FC236}">
                <a16:creationId xmlns:a16="http://schemas.microsoft.com/office/drawing/2014/main" id="{07DD2921-214D-B547-93DD-EB9D2A99CCEE}"/>
              </a:ext>
            </a:extLst>
          </p:cNvPr>
          <p:cNvSpPr>
            <a:spLocks noGrp="1"/>
          </p:cNvSpPr>
          <p:nvPr>
            <p:ph type="pic" idx="17" hasCustomPrompt="1"/>
          </p:nvPr>
        </p:nvSpPr>
        <p:spPr>
          <a:xfrm>
            <a:off x="550066"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
        <p:nvSpPr>
          <p:cNvPr id="4" name="Bildplatzhalter 2">
            <a:extLst>
              <a:ext uri="{FF2B5EF4-FFF2-40B4-BE49-F238E27FC236}">
                <a16:creationId xmlns:a16="http://schemas.microsoft.com/office/drawing/2014/main" id="{6531CAD3-CD14-C701-E880-CF6FFC010DF5}"/>
              </a:ext>
            </a:extLst>
          </p:cNvPr>
          <p:cNvSpPr>
            <a:spLocks noGrp="1"/>
          </p:cNvSpPr>
          <p:nvPr>
            <p:ph type="pic" idx="18" hasCustomPrompt="1"/>
          </p:nvPr>
        </p:nvSpPr>
        <p:spPr>
          <a:xfrm>
            <a:off x="6202905"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0" name="Tabelle 3"/>
          <p:cNvGraphicFramePr/>
          <p:nvPr/>
        </p:nvGraphicFramePr>
        <p:xfrm>
          <a:off x="555867" y="1619296"/>
          <a:ext cx="10515600" cy="2808000"/>
        </p:xfrm>
        <a:graphic>
          <a:graphicData uri="http://schemas.openxmlformats.org/drawingml/2006/table">
            <a:tbl>
              <a:tblPr firstCol="1" bandRow="1">
                <a:tableStyleId>{5C22544A-7EE6-4342-B048-85BDC9FD1C3A}</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468000">
                <a:tc>
                  <a:txBody>
                    <a:bodyPr/>
                    <a:lstStyle/>
                    <a:p>
                      <a:pPr marL="0" marR="0" lvl="0" indent="0" algn="ctr" defTabSz="914400">
                        <a:lnSpc>
                          <a:spcPct val="100000"/>
                        </a:lnSpc>
                        <a:spcBef>
                          <a:spcPts val="0"/>
                        </a:spcBef>
                        <a:spcAft>
                          <a:spcPts val="0"/>
                        </a:spcAft>
                        <a:buClrTx/>
                        <a:buSzTx/>
                        <a:buFontTx/>
                        <a:buNone/>
                      </a:pPr>
                      <a:r>
                        <a:rPr sz="1800" b="1">
                          <a:solidFill>
                            <a:schemeClr val="bg1"/>
                          </a:solidFill>
                          <a:latin typeface="Arial"/>
                          <a:ea typeface="Arial"/>
                          <a:cs typeface="Arial"/>
                        </a:rPr>
                        <a:t>Arial Regular</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marR="0" lvl="0" indent="0" algn="ctr" defTabSz="914400">
                        <a:lnSpc>
                          <a:spcPct val="100000"/>
                        </a:lnSpc>
                        <a:spcBef>
                          <a:spcPts val="0"/>
                        </a:spcBef>
                        <a:spcAft>
                          <a:spcPts val="0"/>
                        </a:spcAft>
                        <a:buClrTx/>
                        <a:buSzTx/>
                        <a:buFontTx/>
                        <a:buNone/>
                      </a:pPr>
                      <a:r>
                        <a:rPr sz="1800" b="1" i="0" u="none" cap="none" spc="0">
                          <a:ln>
                            <a:noFill/>
                          </a:ln>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extLst>
                  <a:ext uri="{0D108BD9-81ED-4DB2-BD59-A6C34878D82A}">
                    <a16:rowId xmlns:a16="http://schemas.microsoft.com/office/drawing/2014/main" val="10000"/>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0" name="Tabelle 3"/>
          <p:cNvGraphicFramePr/>
          <p:nvPr/>
        </p:nvGraphicFramePr>
        <p:xfrm>
          <a:off x="555867" y="1619296"/>
          <a:ext cx="10512000" cy="2808000"/>
        </p:xfrm>
        <a:graphic>
          <a:graphicData uri="http://schemas.openxmlformats.org/drawingml/2006/table">
            <a:tbl>
              <a:tblPr firstRow="1" bandRow="1">
                <a:tableStyleId>{5C22544A-7EE6-4342-B048-85BDC9FD1C3A}</a:tableStyleId>
              </a:tblPr>
              <a:tblGrid>
                <a:gridCol w="2628000">
                  <a:extLst>
                    <a:ext uri="{9D8B030D-6E8A-4147-A177-3AD203B41FA5}">
                      <a16:colId xmlns:a16="http://schemas.microsoft.com/office/drawing/2014/main" val="20000"/>
                    </a:ext>
                  </a:extLst>
                </a:gridCol>
                <a:gridCol w="2628000">
                  <a:extLst>
                    <a:ext uri="{9D8B030D-6E8A-4147-A177-3AD203B41FA5}">
                      <a16:colId xmlns:a16="http://schemas.microsoft.com/office/drawing/2014/main" val="20001"/>
                    </a:ext>
                  </a:extLst>
                </a:gridCol>
                <a:gridCol w="2628000">
                  <a:extLst>
                    <a:ext uri="{9D8B030D-6E8A-4147-A177-3AD203B41FA5}">
                      <a16:colId xmlns:a16="http://schemas.microsoft.com/office/drawing/2014/main" val="20002"/>
                    </a:ext>
                  </a:extLst>
                </a:gridCol>
                <a:gridCol w="2628000">
                  <a:extLst>
                    <a:ext uri="{9D8B030D-6E8A-4147-A177-3AD203B41FA5}">
                      <a16:colId xmlns:a16="http://schemas.microsoft.com/office/drawing/2014/main" val="20003"/>
                    </a:ext>
                  </a:extLst>
                </a:gridCol>
              </a:tblGrid>
              <a:tr h="468000">
                <a:tc>
                  <a:txBody>
                    <a:bodyPr/>
                    <a:lstStyle/>
                    <a:p>
                      <a:pPr algn="l">
                        <a:buNone/>
                      </a:pPr>
                      <a:endParaRPr sz="1800" b="1">
                        <a:solidFill>
                          <a:schemeClr val="bg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1">
                          <a:solidFill>
                            <a:schemeClr val="bg1"/>
                          </a:solidFill>
                          <a:latin typeface="Arial"/>
                          <a:ea typeface="Arial"/>
                          <a:cs typeface="Arial"/>
                        </a:rPr>
                        <a:t>Arial</a:t>
                      </a:r>
                      <a:endParaRPr sz="1800" b="1" kern="1200">
                        <a:solidFill>
                          <a:schemeClr val="bg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chemeClr val="accent1"/>
                    </a:solidFill>
                  </a:tcPr>
                </a:tc>
                <a:tc>
                  <a:txBody>
                    <a:bodyPr/>
                    <a:lstStyle/>
                    <a:p>
                      <a:pPr marL="0" lvl="1" indent="0" algn="ctr" defTabSz="914400">
                        <a:buClr>
                          <a:schemeClr val="accent1">
                            <a:lumMod val="100000"/>
                          </a:schemeClr>
                        </a:buClr>
                        <a:buSzPct val="100000"/>
                        <a:buFont typeface="Wingdings"/>
                        <a:buNone/>
                      </a:pPr>
                      <a:r>
                        <a:rPr sz="1800" b="1">
                          <a:solidFill>
                            <a:schemeClr val="bg1"/>
                          </a:solidFill>
                          <a:latin typeface="Arial"/>
                          <a:ea typeface="Arial"/>
                          <a:cs typeface="Arial"/>
                        </a:rPr>
                        <a:t>Regular</a:t>
                      </a:r>
                      <a:endParaRPr sz="1800" b="1" kern="1200">
                        <a:solidFill>
                          <a:schemeClr val="bg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chemeClr val="accent1"/>
                    </a:solidFill>
                  </a:tcPr>
                </a:tc>
                <a:tc>
                  <a:txBody>
                    <a:bodyPr/>
                    <a:lstStyle/>
                    <a:p>
                      <a:pPr marL="0" lvl="1" indent="0" algn="ctr" defTabSz="914400">
                        <a:buClr>
                          <a:schemeClr val="accent1">
                            <a:lumMod val="100000"/>
                          </a:schemeClr>
                        </a:buClr>
                        <a:buSzPct val="100000"/>
                        <a:buFont typeface="Wingdings"/>
                        <a:buNone/>
                      </a:pPr>
                      <a:r>
                        <a:rPr sz="1800" b="1">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chemeClr val="accent1"/>
                    </a:solidFill>
                  </a:tcPr>
                </a:tc>
                <a:extLst>
                  <a:ext uri="{0D108BD9-81ED-4DB2-BD59-A6C34878D82A}">
                    <a16:rowId xmlns:a16="http://schemas.microsoft.com/office/drawing/2014/main" val="10000"/>
                  </a:ext>
                </a:extLst>
              </a:tr>
              <a:tr h="468000">
                <a:tc>
                  <a:txBody>
                    <a:bodyPr/>
                    <a:lstStyle/>
                    <a:p>
                      <a:pPr marL="0" marR="0" indent="0" algn="l" defTabSz="914400">
                        <a:lnSpc>
                          <a:spcPct val="100000"/>
                        </a:lnSpc>
                        <a:spcBef>
                          <a:spcPts val="0"/>
                        </a:spcBef>
                        <a:spcAft>
                          <a:spcPts val="0"/>
                        </a:spcAft>
                        <a:buClrTx/>
                        <a:buSzTx/>
                        <a:buFontTx/>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marR="0" indent="0" algn="l" defTabSz="914400">
                        <a:lnSpc>
                          <a:spcPct val="100000"/>
                        </a:lnSpc>
                        <a:spcBef>
                          <a:spcPts val="0"/>
                        </a:spcBef>
                        <a:spcAft>
                          <a:spcPts val="0"/>
                        </a:spcAft>
                        <a:buClrTx/>
                        <a:buSzTx/>
                        <a:buFontTx/>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marR="0" indent="0" algn="l" defTabSz="914400">
                        <a:lnSpc>
                          <a:spcPct val="100000"/>
                        </a:lnSpc>
                        <a:spcBef>
                          <a:spcPts val="0"/>
                        </a:spcBef>
                        <a:spcAft>
                          <a:spcPts val="0"/>
                        </a:spcAft>
                        <a:buClrTx/>
                        <a:buSzTx/>
                        <a:buFontTx/>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algn="l">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algn="l">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0" name="Tabelle 3"/>
          <p:cNvGraphicFramePr/>
          <p:nvPr/>
        </p:nvGraphicFramePr>
        <p:xfrm>
          <a:off x="6096000" y="1382400"/>
          <a:ext cx="4320000" cy="374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468000">
                <a:tc>
                  <a:txBody>
                    <a:bodyPr/>
                    <a:lstStyle/>
                    <a:p>
                      <a:pPr marL="0" marR="0" lvl="0" indent="0" algn="ctr" defTabSz="914400">
                        <a:lnSpc>
                          <a:spcPct val="100000"/>
                        </a:lnSpc>
                        <a:spcBef>
                          <a:spcPts val="0"/>
                        </a:spcBef>
                        <a:spcAft>
                          <a:spcPts val="0"/>
                        </a:spcAft>
                        <a:buClrTx/>
                        <a:buSzTx/>
                        <a:buFontTx/>
                        <a:buNone/>
                      </a:pPr>
                      <a:r>
                        <a:rPr sz="1800" b="1">
                          <a:solidFill>
                            <a:schemeClr val="bg1"/>
                          </a:solidFill>
                          <a:latin typeface="Arial"/>
                          <a:ea typeface="Arial"/>
                          <a:cs typeface="Arial"/>
                        </a:rPr>
                        <a:t>Arial</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Regular</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marR="0" lvl="0" indent="0" algn="ctr" defTabSz="914400">
                        <a:lnSpc>
                          <a:spcPct val="100000"/>
                        </a:lnSpc>
                        <a:spcBef>
                          <a:spcPts val="0"/>
                        </a:spcBef>
                        <a:spcAft>
                          <a:spcPts val="0"/>
                        </a:spcAft>
                        <a:buClrTx/>
                        <a:buSzTx/>
                        <a:buFontTx/>
                        <a:buNone/>
                      </a:pPr>
                      <a:r>
                        <a:rPr sz="1800" b="1" i="0" u="none" cap="none" spc="0">
                          <a:ln>
                            <a:noFill/>
                          </a:ln>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extLst>
                  <a:ext uri="{0D108BD9-81ED-4DB2-BD59-A6C34878D82A}">
                    <a16:rowId xmlns:a16="http://schemas.microsoft.com/office/drawing/2014/main" val="10000"/>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5"/>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6"/>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 name="Textplatzhalter 2">
            <a:extLst>
              <a:ext uri="{FF2B5EF4-FFF2-40B4-BE49-F238E27FC236}">
                <a16:creationId xmlns:a16="http://schemas.microsoft.com/office/drawing/2014/main" id="{91015A61-BBF3-58D4-B646-D7F07D397D47}"/>
              </a:ext>
            </a:extLst>
          </p:cNvPr>
          <p:cNvSpPr>
            <a:spLocks noGrp="1"/>
          </p:cNvSpPr>
          <p:nvPr>
            <p:ph type="body" idx="18" hasCustomPrompt="1"/>
          </p:nvPr>
        </p:nvSpPr>
        <p:spPr>
          <a:xfrm>
            <a:off x="728876" y="1382206"/>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1" name="Tabelle 3"/>
          <p:cNvGraphicFramePr/>
          <p:nvPr/>
        </p:nvGraphicFramePr>
        <p:xfrm>
          <a:off x="555867" y="1382400"/>
          <a:ext cx="4320000" cy="374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468000">
                <a:tc>
                  <a:txBody>
                    <a:bodyPr/>
                    <a:lstStyle/>
                    <a:p>
                      <a:pPr marL="0" marR="0" lvl="0" indent="0" algn="ctr" defTabSz="914400">
                        <a:lnSpc>
                          <a:spcPct val="100000"/>
                        </a:lnSpc>
                        <a:spcBef>
                          <a:spcPts val="0"/>
                        </a:spcBef>
                        <a:spcAft>
                          <a:spcPts val="0"/>
                        </a:spcAft>
                        <a:buClrTx/>
                        <a:buSzTx/>
                        <a:buFontTx/>
                        <a:buNone/>
                      </a:pPr>
                      <a:r>
                        <a:rPr sz="1800" b="1">
                          <a:solidFill>
                            <a:schemeClr val="bg1"/>
                          </a:solidFill>
                          <a:latin typeface="Arial"/>
                          <a:ea typeface="Arial"/>
                          <a:cs typeface="Arial"/>
                        </a:rPr>
                        <a:t>Arial</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Regular</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marR="0" lvl="0" indent="0" algn="ctr" defTabSz="914400">
                        <a:lnSpc>
                          <a:spcPct val="100000"/>
                        </a:lnSpc>
                        <a:spcBef>
                          <a:spcPts val="0"/>
                        </a:spcBef>
                        <a:spcAft>
                          <a:spcPts val="0"/>
                        </a:spcAft>
                        <a:buClrTx/>
                        <a:buSzTx/>
                        <a:buFontTx/>
                        <a:buNone/>
                      </a:pPr>
                      <a:r>
                        <a:rPr sz="1800" b="1" i="0" u="none" cap="none" spc="0">
                          <a:ln>
                            <a:noFill/>
                          </a:ln>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extLst>
                  <a:ext uri="{0D108BD9-81ED-4DB2-BD59-A6C34878D82A}">
                    <a16:rowId xmlns:a16="http://schemas.microsoft.com/office/drawing/2014/main" val="10000"/>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5"/>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6"/>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8" name="Textplatzhalter 2">
            <a:extLst>
              <a:ext uri="{FF2B5EF4-FFF2-40B4-BE49-F238E27FC236}">
                <a16:creationId xmlns:a16="http://schemas.microsoft.com/office/drawing/2014/main" id="{BA52B688-20A1-8CFE-428A-BC897BDC4948}"/>
              </a:ext>
            </a:extLst>
          </p:cNvPr>
          <p:cNvSpPr>
            <a:spLocks noGrp="1"/>
          </p:cNvSpPr>
          <p:nvPr>
            <p:ph type="body" idx="18" hasCustomPrompt="1"/>
          </p:nvPr>
        </p:nvSpPr>
        <p:spPr>
          <a:xfrm>
            <a:off x="6096000" y="1409939"/>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idx="17" hasCustomPrompt="1"/>
          </p:nvPr>
        </p:nvSpPr>
        <p:spPr>
          <a:xfrm>
            <a:off x="-14400"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lstStyle>
            <a:lvl1pPr marL="0" indent="0" algn="ctr">
              <a:buNone/>
              <a:defRPr>
                <a:solidFill>
                  <a:schemeClr val="bg1"/>
                </a:solidFill>
                <a:latin typeface="Arial"/>
                <a:ea typeface="Arial"/>
                <a:cs typeface="Arial"/>
              </a:defRPr>
            </a:lvl1pPr>
          </a:lstStyle>
          <a:p>
            <a:pPr>
              <a:buNone/>
              <a:defRPr>
                <a:latin typeface="Calibri"/>
                <a:ea typeface="Calibri"/>
                <a:cs typeface="Calibri"/>
              </a:defRPr>
            </a:pPr>
            <a:r>
              <a:rPr>
                <a:latin typeface="Calibri"/>
                <a:ea typeface="Calibri"/>
                <a:cs typeface="Calibri"/>
              </a:rPr>
              <a:t>Platzhalter: Bild Titelfolie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8121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a:spLocks noGrp="1"/>
          </p:cNvSpPr>
          <p:nvPr/>
        </p:nvSpPr>
        <p:spPr>
          <a:xfrm>
            <a:off x="0" y="5842000"/>
            <a:ext cx="12195175" cy="1015999"/>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1" name="Grafik 8"/>
          <p:cNvPicPr>
            <a:picLocks noChangeAspect="1"/>
          </p:cNvPicPr>
          <p:nvPr/>
        </p:nvPicPr>
        <p:blipFill>
          <a:blip r:embed="rId15"/>
          <a:stretch>
            <a:fillRect/>
          </a:stretch>
        </p:blipFill>
        <p:spPr>
          <a:xfrm>
            <a:off x="10617548" y="5980251"/>
            <a:ext cx="1001450" cy="617762"/>
          </a:xfrm>
          <a:prstGeom prst="rect">
            <a:avLst/>
          </a:prstGeom>
        </p:spPr>
      </p:pic>
      <p:pic>
        <p:nvPicPr>
          <p:cNvPr id="12" name="V5_TU_Logo"/>
          <p:cNvPicPr>
            <a:picLocks noChangeAspect="1"/>
          </p:cNvPicPr>
          <p:nvPr/>
        </p:nvPicPr>
        <p:blipFill>
          <a:blip r:embed="rId16"/>
          <a:stretch>
            <a:fillRect/>
          </a:stretch>
        </p:blipFill>
        <p:spPr>
          <a:xfrm>
            <a:off x="10614598" y="378000"/>
            <a:ext cx="1004400" cy="76606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image" Target="../media/image52.png"/></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image" Target="../media/image55.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5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2.xml"/><Relationship Id="rId1" Type="http://schemas.openxmlformats.org/officeDocument/2006/relationships/slideLayout" Target="../slideLayouts/slideLayout1.xml"/><Relationship Id="rId5" Type="http://schemas.openxmlformats.org/officeDocument/2006/relationships/image" Target="../media/image58.png"/><Relationship Id="rId4" Type="http://schemas.openxmlformats.org/officeDocument/2006/relationships/image" Target="../media/image57.png"/></Relationships>
</file>

<file path=ppt/slides/_rels/slide5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5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5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5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6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1.xml"/><Relationship Id="rId1" Type="http://schemas.openxmlformats.org/officeDocument/2006/relationships/slideLayout" Target="../slideLayouts/slideLayout1.xml"/><Relationship Id="rId5" Type="http://schemas.openxmlformats.org/officeDocument/2006/relationships/image" Target="../media/image73.png"/><Relationship Id="rId4" Type="http://schemas.openxmlformats.org/officeDocument/2006/relationships/image" Target="../media/image72.png"/></Relationships>
</file>

<file path=ppt/slides/_rels/slide6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2.xml"/><Relationship Id="rId1" Type="http://schemas.openxmlformats.org/officeDocument/2006/relationships/slideLayout" Target="../slideLayouts/slideLayout1.xml"/><Relationship Id="rId5" Type="http://schemas.openxmlformats.org/officeDocument/2006/relationships/image" Target="../media/image76.png"/><Relationship Id="rId4" Type="http://schemas.openxmlformats.org/officeDocument/2006/relationships/image" Target="../media/image75.png"/></Relationships>
</file>

<file path=ppt/slides/_rels/slide6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6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4.xml"/><Relationship Id="rId1" Type="http://schemas.openxmlformats.org/officeDocument/2006/relationships/slideLayout" Target="../slideLayouts/slideLayout1.xml"/><Relationship Id="rId5" Type="http://schemas.openxmlformats.org/officeDocument/2006/relationships/image" Target="../media/image83.png"/><Relationship Id="rId4" Type="http://schemas.openxmlformats.org/officeDocument/2006/relationships/image" Target="../media/image82.png"/></Relationships>
</file>

<file path=ppt/slides/_rels/slide6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5.xml"/><Relationship Id="rId1" Type="http://schemas.openxmlformats.org/officeDocument/2006/relationships/slideLayout" Target="../slideLayouts/slideLayout1.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6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1.xml"/><Relationship Id="rId5" Type="http://schemas.openxmlformats.org/officeDocument/2006/relationships/hyperlink" Target="https://doi.org/10.1016/j.epsr.2017.01.032" TargetMode="External"/><Relationship Id="rId4" Type="http://schemas.openxmlformats.org/officeDocument/2006/relationships/hyperlink" Target="https://doi.org/10.1016/j.ifacol.2018.11.734" TargetMode="External"/></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0.xml"/><Relationship Id="rId1" Type="http://schemas.openxmlformats.org/officeDocument/2006/relationships/slideLayout" Target="../slideLayouts/slideLayout1.xml"/><Relationship Id="rId6" Type="http://schemas.openxmlformats.org/officeDocument/2006/relationships/hyperlink" Target="https://doi.org/10.1016/j.etran.2024.100355" TargetMode="External"/><Relationship Id="rId5" Type="http://schemas.openxmlformats.org/officeDocument/2006/relationships/hyperlink" Target="https://doi.org/10.1155/2015/719490" TargetMode="External"/><Relationship Id="rId4" Type="http://schemas.openxmlformats.org/officeDocument/2006/relationships/hyperlink" Target="https://doi.org/10.1016/j.jpowsour.2020.228863" TargetMode="External"/></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1.xml"/><Relationship Id="rId6" Type="http://schemas.openxmlformats.org/officeDocument/2006/relationships/hyperlink" Target="https://doi.org/10.3390/electronics13101964" TargetMode="External"/><Relationship Id="rId5" Type="http://schemas.openxmlformats.org/officeDocument/2006/relationships/hyperlink" Target="https://doi.org/10.1109/ACCESS.2020.3007046" TargetMode="External"/><Relationship Id="rId4" Type="http://schemas.openxmlformats.org/officeDocument/2006/relationships/hyperlink" Target="https://doi.org/10.3390/electronics9030510" TargetMode="Externa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1.xml"/><Relationship Id="rId5" Type="http://schemas.openxmlformats.org/officeDocument/2006/relationships/hyperlink" Target="https://doi.org/10.3390/en16176103" TargetMode="External"/><Relationship Id="rId4" Type="http://schemas.openxmlformats.org/officeDocument/2006/relationships/hyperlink" Target="https://doi.org/10.7746/jkros.2023.18.1.088" TargetMode="External"/></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3.xml"/><Relationship Id="rId1" Type="http://schemas.openxmlformats.org/officeDocument/2006/relationships/slideLayout" Target="../slideLayouts/slideLayout1.xml"/><Relationship Id="rId6" Type="http://schemas.openxmlformats.org/officeDocument/2006/relationships/hyperlink" Target="https://arxiv.org/abs/1603.06560" TargetMode="External"/><Relationship Id="rId5" Type="http://schemas.openxmlformats.org/officeDocument/2006/relationships/hyperlink" Target="https://www.st.com/resource/en/data_brief/nucleo-h753zi.pdf" TargetMode="External"/><Relationship Id="rId4" Type="http://schemas.openxmlformats.org/officeDocument/2006/relationships/hyperlink" Target="https://doi.org/10.14279/DEPOSITONCE-24800" TargetMode="Externa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4.xml"/><Relationship Id="rId1" Type="http://schemas.openxmlformats.org/officeDocument/2006/relationships/slideLayout" Target="../slideLayouts/slideLayout1.xml"/><Relationship Id="rId4" Type="http://schemas.openxmlformats.org/officeDocument/2006/relationships/hyperlink" Target="https://arxiv.org/abs/1506.00019" TargetMode="Externa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1.xml"/><Relationship Id="rId6" Type="http://schemas.openxmlformats.org/officeDocument/2006/relationships/hyperlink" Target="https://proceedings.neurips.cc/paper/2015/hash/ae0eb3eed39d2bcef4622b2499a05fe6-Abstract.html" TargetMode="External"/><Relationship Id="rId5" Type="http://schemas.openxmlformats.org/officeDocument/2006/relationships/hyperlink" Target="https://doi.org/10.2139/ssrn.6298526" TargetMode="External"/><Relationship Id="rId4" Type="http://schemas.openxmlformats.org/officeDocument/2006/relationships/hyperlink" Target="https://doi.org/10.1002/er.6658" TargetMode="External"/></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1.xml"/><Relationship Id="rId5" Type="http://schemas.openxmlformats.org/officeDocument/2006/relationships/hyperlink" Target="https://doi.org/10.1609/aaai.v34i04.5938" TargetMode="External"/><Relationship Id="rId4" Type="http://schemas.openxmlformats.org/officeDocument/2006/relationships/hyperlink" Target="https://arxiv.org/abs/1608.03665" TargetMode="Externa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1.xml"/><Relationship Id="rId5" Type="http://schemas.openxmlformats.org/officeDocument/2006/relationships/hyperlink" Target="https://arxiv.org/abs/1806.08342" TargetMode="External"/><Relationship Id="rId4" Type="http://schemas.openxmlformats.org/officeDocument/2006/relationships/hyperlink" Target="https://doi.org/10.1109/CVPR.2018.0028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152CA38B-67B2-1491-068F-4F1BD48F1FBE}"/>
              </a:ext>
            </a:extLst>
          </p:cNvPr>
          <p:cNvSpPr/>
          <p:nvPr/>
        </p:nvSpPr>
        <p:spPr>
          <a:xfrm>
            <a:off x="-14400" y="1694801"/>
            <a:ext cx="122064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B49AB593-9975-34D5-BA11-9F7831182298}"/>
              </a:ext>
            </a:extLst>
          </p:cNvPr>
          <p:cNvSpPr>
            <a:spLocks noGrp="1"/>
          </p:cNvSpPr>
          <p:nvPr/>
        </p:nvSpPr>
        <p:spPr>
          <a:xfrm>
            <a:off x="538050" y="4502374"/>
            <a:ext cx="11587275" cy="1017766"/>
          </a:xfrm>
          <a:prstGeom prst="rect">
            <a:avLst/>
          </a:prstGeom>
          <a:noFill/>
        </p:spPr>
        <p:txBody>
          <a:bodyPr wrap="square" lIns="0" tIns="0" rIns="0" bIns="0" anchor="t">
            <a:noAutofit/>
          </a:bodyPr>
          <a:lstStyle/>
          <a:p>
            <a:pPr algn="l">
              <a:lnSpc>
                <a:spcPct val="106000"/>
              </a:lnSpc>
              <a:buNone/>
              <a:defRPr sz="3000" b="0">
                <a:solidFill>
                  <a:srgbClr val="FFFFFF"/>
                </a:solidFill>
                <a:latin typeface="Calibri"/>
                <a:ea typeface="Calibri"/>
                <a:cs typeface="Calibri"/>
              </a:defRPr>
            </a:pPr>
            <a:r>
              <a:rPr lang="en-US" sz="3000" b="0" dirty="0">
                <a:solidFill>
                  <a:srgbClr val="FFFFFF"/>
                </a:solidFill>
                <a:latin typeface="Calibri"/>
                <a:ea typeface="Calibri"/>
                <a:cs typeface="Calibri"/>
              </a:rPr>
              <a:t>Deployment-Oriented Neural Network State-Estimation</a:t>
            </a:r>
          </a:p>
          <a:p>
            <a:pPr algn="l">
              <a:lnSpc>
                <a:spcPct val="106000"/>
              </a:lnSpc>
              <a:buNone/>
              <a:defRPr sz="3000" b="0">
                <a:solidFill>
                  <a:srgbClr val="FFFFFF"/>
                </a:solidFill>
                <a:latin typeface="Calibri"/>
                <a:ea typeface="Calibri"/>
                <a:cs typeface="Calibri"/>
              </a:defRPr>
            </a:pPr>
            <a:r>
              <a:rPr lang="en-US" sz="3000" b="0" dirty="0">
                <a:solidFill>
                  <a:srgbClr val="FFFFFF"/>
                </a:solidFill>
                <a:latin typeface="Calibri"/>
                <a:ea typeface="Calibri"/>
                <a:cs typeface="Calibri"/>
              </a:rPr>
              <a:t>Methods for Battery Management Systems:</a:t>
            </a:r>
            <a:endParaRPr dirty="0">
              <a:solidFill>
                <a:srgbClr val="FFFFFF"/>
              </a:solidFill>
            </a:endParaRPr>
          </a:p>
        </p:txBody>
      </p:sp>
      <p:sp>
        <p:nvSpPr>
          <p:cNvPr id="3" name="V5_Text_3">
            <a:extLst>
              <a:ext uri="{FF2B5EF4-FFF2-40B4-BE49-F238E27FC236}">
                <a16:creationId xmlns:a16="http://schemas.microsoft.com/office/drawing/2014/main" id="{357757F1-721E-4FE8-94E8-D4AB53E632E8}"/>
              </a:ext>
            </a:extLst>
          </p:cNvPr>
          <p:cNvSpPr>
            <a:spLocks noGrp="1"/>
          </p:cNvSpPr>
          <p:nvPr/>
        </p:nvSpPr>
        <p:spPr>
          <a:xfrm>
            <a:off x="552450" y="5619750"/>
            <a:ext cx="10668000" cy="609600"/>
          </a:xfrm>
          <a:prstGeom prst="rect">
            <a:avLst/>
          </a:prstGeom>
          <a:noFill/>
        </p:spPr>
        <p:txBody>
          <a:bodyPr vert="horz" wrap="square" lIns="0" tIns="0" rIns="0" bIns="0" anchor="t">
            <a:noAutofit/>
          </a:bodyPr>
          <a:lstStyle/>
          <a:p>
            <a:pPr marL="0" indent="0" algn="l">
              <a:spcBef>
                <a:spcPts val="0"/>
              </a:spcBef>
              <a:spcAft>
                <a:spcPts val="0"/>
              </a:spcAft>
              <a:buNone/>
              <a:defRPr sz="1800" b="0">
                <a:solidFill>
                  <a:srgbClr val="FFFFFF"/>
                </a:solidFill>
                <a:latin typeface="Calibri"/>
                <a:ea typeface="Calibri"/>
                <a:cs typeface="Calibri"/>
              </a:defRPr>
            </a:pPr>
            <a:r>
              <a:rPr lang="en-US" sz="1800" b="0" dirty="0">
                <a:solidFill>
                  <a:srgbClr val="FFFFFF"/>
                </a:solidFill>
                <a:latin typeface="Calibri"/>
                <a:ea typeface="Calibri"/>
                <a:cs typeface="Calibri"/>
              </a:rPr>
              <a:t>Ageing Estimation, Robustness Benchmarking, Embedded Optimization, and Hardware</a:t>
            </a:r>
          </a:p>
          <a:p>
            <a:pPr marL="0" indent="0" algn="l">
              <a:spcBef>
                <a:spcPts val="0"/>
              </a:spcBef>
              <a:spcAft>
                <a:spcPts val="0"/>
              </a:spcAft>
              <a:buNone/>
              <a:defRPr sz="1800" b="0">
                <a:solidFill>
                  <a:srgbClr val="FFFFFF"/>
                </a:solidFill>
                <a:latin typeface="Calibri"/>
                <a:ea typeface="Calibri"/>
                <a:cs typeface="Calibri"/>
              </a:defRPr>
            </a:pPr>
            <a:r>
              <a:rPr lang="en-US" sz="1800" b="0" dirty="0">
                <a:solidFill>
                  <a:srgbClr val="FFFFFF"/>
                </a:solidFill>
                <a:latin typeface="Calibri"/>
                <a:ea typeface="Calibri"/>
                <a:cs typeface="Calibri"/>
              </a:rPr>
              <a:t>Integration</a:t>
            </a:r>
            <a:endParaRPr sz="1800" b="0" dirty="0">
              <a:solidFill>
                <a:srgbClr val="FFFFFF"/>
              </a:solidFill>
              <a:latin typeface="Calibri"/>
              <a:ea typeface="Calibri"/>
              <a:cs typeface="Calibri"/>
            </a:endParaRPr>
          </a:p>
        </p:txBody>
      </p:sp>
      <p:sp>
        <p:nvSpPr>
          <p:cNvPr id="12" name="Footer – Präsentationsangaben">
            <a:extLst>
              <a:ext uri="{FF2B5EF4-FFF2-40B4-BE49-F238E27FC236}">
                <a16:creationId xmlns:a16="http://schemas.microsoft.com/office/drawing/2014/main" id="{24C9414F-3F0C-4544-8EB3-F4A90FEB19F9}"/>
              </a:ext>
            </a:extLst>
          </p:cNvPr>
          <p:cNvSpPr>
            <a:spLocks noGrp="1"/>
          </p:cNvSpPr>
          <p:nvPr/>
        </p:nvSpPr>
        <p:spPr>
          <a:xfrm>
            <a:off x="552450"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dirty="0">
                <a:solidFill>
                  <a:srgbClr val="FFFFFF"/>
                </a:solidFill>
                <a:latin typeface="Calibri"/>
                <a:ea typeface="Calibri"/>
                <a:cs typeface="Calibri"/>
              </a:rPr>
              <a:t>Florian Rzepka | Ph.D. Presentation | </a:t>
            </a:r>
            <a:r>
              <a:rPr sz="1200" b="0" dirty="0" err="1">
                <a:solidFill>
                  <a:srgbClr val="FFFFFF"/>
                </a:solidFill>
                <a:latin typeface="Calibri"/>
                <a:ea typeface="Calibri"/>
                <a:cs typeface="Calibri"/>
              </a:rPr>
              <a:t>Technische</a:t>
            </a:r>
            <a:r>
              <a:rPr sz="1200" b="0" dirty="0">
                <a:solidFill>
                  <a:srgbClr val="FFFFFF"/>
                </a:solidFill>
                <a:latin typeface="Calibri"/>
                <a:ea typeface="Calibri"/>
                <a:cs typeface="Calibri"/>
              </a:rPr>
              <a:t> Universität Berlin | 23.10.2026</a:t>
            </a:r>
          </a:p>
        </p:txBody>
      </p:sp>
      <p:pic>
        <p:nvPicPr>
          <p:cNvPr id="8" name="Grafik 7" descr="The image shows a vibrant bouquet of flowers with various colors and shapes.&#10;&#10;KI-generierte Inhalte können fehlerhaft sein.">
            <a:extLst>
              <a:ext uri="{FF2B5EF4-FFF2-40B4-BE49-F238E27FC236}">
                <a16:creationId xmlns:a16="http://schemas.microsoft.com/office/drawing/2014/main" id="{F487E486-7BBF-E673-7757-CB8DEBC2132C}"/>
              </a:ext>
            </a:extLst>
          </p:cNvPr>
          <p:cNvPicPr>
            <a:picLocks noChangeAspect="1"/>
          </p:cNvPicPr>
          <p:nvPr/>
        </p:nvPicPr>
        <p:blipFill>
          <a:blip r:embed="rId3"/>
          <a:stretch>
            <a:fillRect/>
          </a:stretch>
        </p:blipFill>
        <p:spPr>
          <a:xfrm>
            <a:off x="10617548" y="5980251"/>
            <a:ext cx="1001450" cy="617762"/>
          </a:xfrm>
          <a:prstGeom prst="rect">
            <a:avLst/>
          </a:prstGeom>
        </p:spPr>
      </p:pic>
      <p:pic>
        <p:nvPicPr>
          <p:cNvPr id="14" name="Bildplatzhalter 3">
            <a:extLst>
              <a:ext uri="{FF2B5EF4-FFF2-40B4-BE49-F238E27FC236}">
                <a16:creationId xmlns:a16="http://schemas.microsoft.com/office/drawing/2014/main" id="{15D32EA4-9B94-8B45-AACF-5FCF4C3A6102}"/>
              </a:ext>
            </a:extLst>
          </p:cNvPr>
          <p:cNvPicPr>
            <a:picLocks noGrp="1" noChangeAspect="1"/>
          </p:cNvPicPr>
          <p:nvPr>
            <p:ph type="pic" sz="quarter" idx="17"/>
          </p:nvPr>
        </p:nvPicPr>
        <p:blipFill>
          <a:blip r:embed="rId4"/>
          <a:srcRect t="25289" b="25289"/>
          <a:stretch>
            <a:fillRect/>
          </a:stretch>
        </p:blipFill>
        <p:spPr>
          <a:xfrm>
            <a:off x="-21275" y="1198694"/>
            <a:ext cx="8885359" cy="3273604"/>
          </a:xfrm>
        </p:spPr>
      </p:pic>
    </p:spTree>
    <p:extLst>
      <p:ext uri="{BB962C8B-B14F-4D97-AF65-F5344CB8AC3E}">
        <p14:creationId xmlns:p14="http://schemas.microsoft.com/office/powerpoint/2010/main" val="1565291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476250"/>
            <a:ext cx="9496425" cy="838200"/>
          </a:xfrm>
        </p:spPr>
        <p:txBody>
          <a:bodyPr wrap="square" lIns="0" tIns="0" rIns="0" bIns="0" anchor="t">
            <a:noAutofit/>
          </a:bodyPr>
          <a:lstStyle/>
          <a:p>
            <a:pPr marL="0" indent="0" algn="l">
              <a:spcBef>
                <a:spcPts val="0"/>
              </a:spcBef>
              <a:spcAft>
                <a:spcPts val="0"/>
              </a:spcAft>
              <a:buNone/>
              <a:defRPr sz="2400" b="0">
                <a:solidFill>
                  <a:srgbClr val="CC001C"/>
                </a:solidFill>
                <a:latin typeface="Calibri"/>
                <a:ea typeface="Calibri"/>
                <a:cs typeface="Calibri"/>
              </a:defRPr>
            </a:pPr>
            <a:r>
              <a:rPr sz="2400" b="0" dirty="0">
                <a:solidFill>
                  <a:srgbClr val="CC001C"/>
                </a:solidFill>
                <a:latin typeface="Calibri"/>
                <a:ea typeface="Calibri"/>
                <a:cs typeface="Calibri"/>
              </a:rPr>
              <a:t>Motivation: </a:t>
            </a:r>
            <a:r>
              <a:rPr sz="2400" b="0" dirty="0" err="1">
                <a:solidFill>
                  <a:srgbClr val="CC001C"/>
                </a:solidFill>
                <a:latin typeface="Calibri"/>
                <a:ea typeface="Calibri"/>
                <a:cs typeface="Calibri"/>
              </a:rPr>
              <a:t>Batteriespeicher</a:t>
            </a:r>
            <a:r>
              <a:rPr sz="2400" b="0" dirty="0">
                <a:solidFill>
                  <a:srgbClr val="CC001C"/>
                </a:solidFill>
                <a:latin typeface="Calibri"/>
                <a:ea typeface="Calibri"/>
                <a:cs typeface="Calibri"/>
              </a:rPr>
              <a:t> für </a:t>
            </a:r>
            <a:r>
              <a:rPr sz="2400" b="0" dirty="0" err="1">
                <a:solidFill>
                  <a:srgbClr val="CC001C"/>
                </a:solidFill>
                <a:latin typeface="Calibri"/>
                <a:ea typeface="Calibri"/>
                <a:cs typeface="Calibri"/>
              </a:rPr>
              <a:t>eine</a:t>
            </a:r>
            <a:r>
              <a:rPr sz="2400" b="0" dirty="0">
                <a:solidFill>
                  <a:srgbClr val="CC001C"/>
                </a:solidFill>
                <a:latin typeface="Calibri"/>
                <a:ea typeface="Calibri"/>
                <a:cs typeface="Calibri"/>
              </a:rPr>
              <a:t> </a:t>
            </a:r>
            <a:r>
              <a:rPr sz="2400" b="0" dirty="0" err="1">
                <a:solidFill>
                  <a:srgbClr val="CC001C"/>
                </a:solidFill>
                <a:latin typeface="Calibri"/>
                <a:ea typeface="Calibri"/>
                <a:cs typeface="Calibri"/>
              </a:rPr>
              <a:t>dezentrale</a:t>
            </a:r>
            <a:r>
              <a:rPr lang="de-DE" dirty="0">
                <a:solidFill>
                  <a:srgbClr val="CC001C"/>
                </a:solidFill>
                <a:latin typeface="Calibri"/>
                <a:ea typeface="Calibri"/>
                <a:cs typeface="Calibri"/>
              </a:rPr>
              <a:t> </a:t>
            </a:r>
            <a:r>
              <a:rPr sz="2400" b="0" dirty="0">
                <a:solidFill>
                  <a:srgbClr val="CC001C"/>
                </a:solidFill>
                <a:latin typeface="Calibri"/>
                <a:ea typeface="Calibri"/>
                <a:cs typeface="Calibri"/>
              </a:rPr>
              <a:t>und </a:t>
            </a:r>
            <a:r>
              <a:rPr sz="2400" b="0" dirty="0" err="1">
                <a:solidFill>
                  <a:srgbClr val="CC001C"/>
                </a:solidFill>
                <a:latin typeface="Calibri"/>
                <a:ea typeface="Calibri"/>
                <a:cs typeface="Calibri"/>
              </a:rPr>
              <a:t>autonome</a:t>
            </a:r>
            <a:r>
              <a:rPr sz="2400" b="0" dirty="0">
                <a:solidFill>
                  <a:srgbClr val="CC001C"/>
                </a:solidFill>
                <a:latin typeface="Calibri"/>
                <a:ea typeface="Calibri"/>
                <a:cs typeface="Calibri"/>
              </a:rPr>
              <a:t> </a:t>
            </a:r>
            <a:r>
              <a:rPr sz="2400" b="0" dirty="0" err="1">
                <a:solidFill>
                  <a:srgbClr val="CC001C"/>
                </a:solidFill>
                <a:latin typeface="Calibri"/>
                <a:ea typeface="Calibri"/>
                <a:cs typeface="Calibri"/>
              </a:rPr>
              <a:t>Energieversorgung</a:t>
            </a:r>
            <a:endParaRPr sz="2400" b="0" dirty="0">
              <a:solidFill>
                <a:srgbClr val="CC001C"/>
              </a:solidFill>
              <a:latin typeface="Calibri"/>
              <a:ea typeface="Calibri"/>
              <a:cs typeface="Calibri"/>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3C15EE52-60E3-43E9-A0E5-0BA4629013B2}"/>
              </a:ext>
            </a:extLst>
          </p:cNvPr>
          <p:cNvSpPr>
            <a:spLocks noGrp="1"/>
          </p:cNvSpPr>
          <p:nvPr/>
        </p:nvSpPr>
        <p:spPr>
          <a:xfrm>
            <a:off x="5572125" y="1476375"/>
            <a:ext cx="4381500" cy="10858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Dezentrale</a:t>
            </a:r>
            <a:r>
              <a:rPr sz="1800" b="1" dirty="0">
                <a:latin typeface="Calibri"/>
                <a:ea typeface="Calibri"/>
                <a:cs typeface="Calibri"/>
              </a:rPr>
              <a:t> </a:t>
            </a:r>
            <a:r>
              <a:rPr sz="1800" b="1" dirty="0" err="1">
                <a:latin typeface="Calibri"/>
                <a:ea typeface="Calibri"/>
                <a:cs typeface="Calibri"/>
              </a:rPr>
              <a:t>Energiesysteme</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Lokale</a:t>
            </a:r>
            <a:r>
              <a:rPr sz="1800" b="0" dirty="0">
                <a:latin typeface="Calibri"/>
                <a:ea typeface="Calibri"/>
                <a:cs typeface="Calibri"/>
              </a:rPr>
              <a:t> </a:t>
            </a:r>
            <a:r>
              <a:rPr sz="1800" b="0" dirty="0" err="1">
                <a:latin typeface="Calibri"/>
                <a:ea typeface="Calibri"/>
                <a:cs typeface="Calibri"/>
              </a:rPr>
              <a:t>Batteriespeicher</a:t>
            </a:r>
            <a:r>
              <a:rPr sz="1800" b="0" dirty="0">
                <a:latin typeface="Calibri"/>
                <a:ea typeface="Calibri"/>
                <a:cs typeface="Calibri"/>
              </a:rPr>
              <a:t> in </a:t>
            </a:r>
            <a:r>
              <a:rPr sz="1800" b="0" dirty="0" err="1">
                <a:latin typeface="Calibri"/>
                <a:ea typeface="Calibri"/>
                <a:cs typeface="Calibri"/>
              </a:rPr>
              <a:t>Versorgungsnetzen</a:t>
            </a:r>
            <a:r>
              <a:rPr sz="1800" b="0" dirty="0">
                <a:latin typeface="Calibri"/>
                <a:ea typeface="Calibri"/>
                <a:cs typeface="Calibri"/>
              </a:rPr>
              <a:t> – </a:t>
            </a:r>
            <a:r>
              <a:rPr sz="1800" b="0" dirty="0" err="1">
                <a:latin typeface="Calibri"/>
                <a:ea typeface="Calibri"/>
                <a:cs typeface="Calibri"/>
              </a:rPr>
              <a:t>Beispiel</a:t>
            </a:r>
            <a:r>
              <a:rPr sz="1800" b="0" dirty="0">
                <a:latin typeface="Calibri"/>
                <a:ea typeface="Calibri"/>
                <a:cs typeface="Calibri"/>
              </a:rPr>
              <a:t> MG-Farm</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5572125" y="2581275"/>
            <a:ext cx="4381500" cy="10096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Mobile </a:t>
            </a:r>
            <a:r>
              <a:rPr sz="1800" b="1" dirty="0" err="1">
                <a:latin typeface="Calibri"/>
                <a:ea typeface="Calibri"/>
                <a:cs typeface="Calibri"/>
              </a:rPr>
              <a:t>Anwendungen</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Energieversorgung</a:t>
            </a:r>
            <a:r>
              <a:rPr sz="1800" b="0" dirty="0">
                <a:latin typeface="Calibri"/>
                <a:ea typeface="Calibri"/>
                <a:cs typeface="Calibri"/>
              </a:rPr>
              <a:t> </a:t>
            </a:r>
            <a:r>
              <a:rPr sz="1800" b="0" dirty="0" err="1">
                <a:latin typeface="Calibri"/>
                <a:ea typeface="Calibri"/>
                <a:cs typeface="Calibri"/>
              </a:rPr>
              <a:t>außerhalb</a:t>
            </a:r>
            <a:r>
              <a:rPr sz="1800" b="0" dirty="0">
                <a:latin typeface="Calibri"/>
                <a:ea typeface="Calibri"/>
                <a:cs typeface="Calibri"/>
              </a:rPr>
              <a:t> fester </a:t>
            </a:r>
            <a:r>
              <a:rPr sz="1800" b="0" dirty="0" err="1">
                <a:latin typeface="Calibri"/>
                <a:ea typeface="Calibri"/>
                <a:cs typeface="Calibri"/>
              </a:rPr>
              <a:t>Infrastruktur</a:t>
            </a:r>
            <a:r>
              <a:rPr sz="1800" b="0" dirty="0">
                <a:latin typeface="Calibri"/>
                <a:ea typeface="Calibri"/>
                <a:cs typeface="Calibri"/>
              </a:rPr>
              <a:t>; </a:t>
            </a:r>
            <a:r>
              <a:rPr sz="1800" b="0" dirty="0" err="1">
                <a:latin typeface="Calibri"/>
                <a:ea typeface="Calibri"/>
                <a:cs typeface="Calibri"/>
              </a:rPr>
              <a:t>begrenzter</a:t>
            </a:r>
            <a:r>
              <a:rPr sz="1800" b="0" dirty="0">
                <a:latin typeface="Calibri"/>
                <a:ea typeface="Calibri"/>
                <a:cs typeface="Calibri"/>
              </a:rPr>
              <a:t> Wartungszugang</a:t>
            </a: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Motivation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text-2-2">
            <a:extLst>
              <a:ext uri="{FF2B5EF4-FFF2-40B4-BE49-F238E27FC236}">
                <a16:creationId xmlns:a16="http://schemas.microsoft.com/office/drawing/2014/main" id="{177E2974-B70A-497F-8131-95FD5F6E4EE4}"/>
              </a:ext>
            </a:extLst>
          </p:cNvPr>
          <p:cNvSpPr>
            <a:spLocks noGrp="1"/>
          </p:cNvSpPr>
          <p:nvPr/>
        </p:nvSpPr>
        <p:spPr>
          <a:xfrm>
            <a:off x="5572125" y="3590925"/>
            <a:ext cx="4381500" cy="11049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Ressourcenbeschränkung</a:t>
            </a:r>
            <a:r>
              <a:rPr sz="1800" b="1" dirty="0">
                <a:latin typeface="Calibri"/>
                <a:ea typeface="Calibri"/>
                <a:cs typeface="Calibri"/>
              </a:rPr>
              <a:t>:</a:t>
            </a:r>
            <a:r>
              <a:rPr sz="1800" b="0" dirty="0">
                <a:latin typeface="Calibri"/>
                <a:ea typeface="Calibri"/>
                <a:cs typeface="Calibri"/>
              </a:rPr>
              <a:t> Wenig </a:t>
            </a:r>
            <a:r>
              <a:rPr sz="1800" b="0" dirty="0" err="1">
                <a:latin typeface="Calibri"/>
                <a:ea typeface="Calibri"/>
                <a:cs typeface="Calibri"/>
              </a:rPr>
              <a:t>Rechenleistung</a:t>
            </a:r>
            <a:r>
              <a:rPr sz="1800" b="0" dirty="0">
                <a:latin typeface="Calibri"/>
                <a:ea typeface="Calibri"/>
                <a:cs typeface="Calibri"/>
              </a:rPr>
              <a:t> und Speicher; </a:t>
            </a:r>
            <a:r>
              <a:rPr sz="1800" b="0" dirty="0" err="1">
                <a:latin typeface="Calibri"/>
                <a:ea typeface="Calibri"/>
                <a:cs typeface="Calibri"/>
              </a:rPr>
              <a:t>eingeschränkter</a:t>
            </a:r>
            <a:r>
              <a:rPr sz="1800" b="0" dirty="0">
                <a:latin typeface="Calibri"/>
                <a:ea typeface="Calibri"/>
                <a:cs typeface="Calibri"/>
              </a:rPr>
              <a:t> </a:t>
            </a:r>
            <a:r>
              <a:rPr sz="1800" b="0" dirty="0" err="1">
                <a:latin typeface="Calibri"/>
                <a:ea typeface="Calibri"/>
                <a:cs typeface="Calibri"/>
              </a:rPr>
              <a:t>oder</a:t>
            </a:r>
            <a:r>
              <a:rPr sz="1800" b="0" dirty="0">
                <a:latin typeface="Calibri"/>
                <a:ea typeface="Calibri"/>
                <a:cs typeface="Calibri"/>
              </a:rPr>
              <a:t> </a:t>
            </a:r>
            <a:r>
              <a:rPr sz="1800" b="0" dirty="0" err="1">
                <a:latin typeface="Calibri"/>
                <a:ea typeface="Calibri"/>
                <a:cs typeface="Calibri"/>
              </a:rPr>
              <a:t>fehlender</a:t>
            </a:r>
            <a:r>
              <a:rPr sz="1800" b="0" dirty="0">
                <a:latin typeface="Calibri"/>
                <a:ea typeface="Calibri"/>
                <a:cs typeface="Calibri"/>
              </a:rPr>
              <a:t> </a:t>
            </a:r>
            <a:r>
              <a:rPr sz="1800" b="0" dirty="0" err="1">
                <a:latin typeface="Calibri"/>
                <a:ea typeface="Calibri"/>
                <a:cs typeface="Calibri"/>
              </a:rPr>
              <a:t>Internetzugang</a:t>
            </a:r>
            <a:endParaRPr sz="1800" b="0" dirty="0">
              <a:latin typeface="Calibri"/>
              <a:ea typeface="Calibri"/>
              <a:cs typeface="Calibri"/>
            </a:endParaRPr>
          </a:p>
        </p:txBody>
      </p:sp>
      <p:sp>
        <p:nvSpPr>
          <p:cNvPr id="30" name="v11-text-2-3">
            <a:extLst>
              <a:ext uri="{FF2B5EF4-FFF2-40B4-BE49-F238E27FC236}">
                <a16:creationId xmlns:a16="http://schemas.microsoft.com/office/drawing/2014/main" id="{00874D04-F4FC-4D79-ABEC-39D922797E67}"/>
              </a:ext>
            </a:extLst>
          </p:cNvPr>
          <p:cNvSpPr>
            <a:spLocks noGrp="1"/>
          </p:cNvSpPr>
          <p:nvPr/>
        </p:nvSpPr>
        <p:spPr>
          <a:xfrm>
            <a:off x="5572121" y="4867275"/>
            <a:ext cx="4381500" cy="8382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solidFill>
                  <a:srgbClr val="C00000"/>
                </a:solidFill>
                <a:latin typeface="Calibri"/>
                <a:ea typeface="Calibri"/>
                <a:cs typeface="Calibri"/>
              </a:rPr>
              <a:t>Forschungsbedarf</a:t>
            </a:r>
            <a:r>
              <a:rPr sz="1800" b="1" dirty="0">
                <a:solidFill>
                  <a:srgbClr val="C00000"/>
                </a:solidFill>
                <a:latin typeface="Calibri"/>
                <a:ea typeface="Calibri"/>
                <a:cs typeface="Calibri"/>
              </a:rPr>
              <a:t>:</a:t>
            </a:r>
            <a:r>
              <a:rPr sz="1800" b="0" dirty="0">
                <a:solidFill>
                  <a:srgbClr val="C00000"/>
                </a:solidFill>
                <a:latin typeface="Calibri"/>
                <a:ea typeface="Calibri"/>
                <a:cs typeface="Calibri"/>
              </a:rPr>
              <a:t> </a:t>
            </a:r>
            <a:r>
              <a:rPr sz="1800" b="0" dirty="0" err="1">
                <a:latin typeface="Calibri"/>
                <a:ea typeface="Calibri"/>
                <a:cs typeface="Calibri"/>
              </a:rPr>
              <a:t>Zuverlässige</a:t>
            </a:r>
            <a:r>
              <a:rPr sz="1800" b="0" dirty="0">
                <a:latin typeface="Calibri"/>
                <a:ea typeface="Calibri"/>
                <a:cs typeface="Calibri"/>
              </a:rPr>
              <a:t> </a:t>
            </a:r>
            <a:r>
              <a:rPr sz="1800" b="0" dirty="0" err="1">
                <a:latin typeface="Calibri"/>
                <a:ea typeface="Calibri"/>
                <a:cs typeface="Calibri"/>
              </a:rPr>
              <a:t>Zustandsbestimmung</a:t>
            </a:r>
            <a:r>
              <a:rPr sz="1800" b="0" dirty="0">
                <a:latin typeface="Calibri"/>
                <a:ea typeface="Calibri"/>
                <a:cs typeface="Calibri"/>
              </a:rPr>
              <a:t> </a:t>
            </a:r>
            <a:r>
              <a:rPr sz="1800" b="0" dirty="0" err="1">
                <a:latin typeface="Calibri"/>
                <a:ea typeface="Calibri"/>
                <a:cs typeface="Calibri"/>
              </a:rPr>
              <a:t>direkt</a:t>
            </a:r>
            <a:r>
              <a:rPr sz="1800" b="0" dirty="0">
                <a:latin typeface="Calibri"/>
                <a:ea typeface="Calibri"/>
                <a:cs typeface="Calibri"/>
              </a:rPr>
              <a:t> </a:t>
            </a:r>
            <a:r>
              <a:rPr sz="1800" b="0" dirty="0" err="1">
                <a:latin typeface="Calibri"/>
                <a:ea typeface="Calibri"/>
                <a:cs typeface="Calibri"/>
              </a:rPr>
              <a:t>im</a:t>
            </a:r>
            <a:r>
              <a:rPr sz="1800" b="0" dirty="0">
                <a:latin typeface="Calibri"/>
                <a:ea typeface="Calibri"/>
                <a:cs typeface="Calibri"/>
              </a:rPr>
              <a:t> BMS </a:t>
            </a:r>
            <a:r>
              <a:rPr sz="1800" b="0" dirty="0" err="1">
                <a:latin typeface="Calibri"/>
                <a:ea typeface="Calibri"/>
                <a:cs typeface="Calibri"/>
              </a:rPr>
              <a:t>bei</a:t>
            </a:r>
            <a:r>
              <a:rPr sz="1800" b="0" dirty="0">
                <a:latin typeface="Calibri"/>
                <a:ea typeface="Calibri"/>
                <a:cs typeface="Calibri"/>
              </a:rPr>
              <a:t> </a:t>
            </a:r>
            <a:r>
              <a:rPr sz="1800" b="0" dirty="0" err="1">
                <a:latin typeface="Calibri"/>
                <a:ea typeface="Calibri"/>
                <a:cs typeface="Calibri"/>
              </a:rPr>
              <a:t>begrenztem</a:t>
            </a:r>
            <a:r>
              <a:rPr sz="1800" b="0" dirty="0">
                <a:latin typeface="Calibri"/>
                <a:ea typeface="Calibri"/>
                <a:cs typeface="Calibri"/>
              </a:rPr>
              <a:t> </a:t>
            </a:r>
            <a:r>
              <a:rPr sz="1800" b="0" dirty="0" err="1">
                <a:latin typeface="Calibri"/>
                <a:ea typeface="Calibri"/>
                <a:cs typeface="Calibri"/>
              </a:rPr>
              <a:t>Ressourcenbudget</a:t>
            </a:r>
            <a:endParaRPr sz="1800" b="0" dirty="0">
              <a:latin typeface="Calibri"/>
              <a:ea typeface="Calibri"/>
              <a:cs typeface="Calibri"/>
            </a:endParaRPr>
          </a:p>
        </p:txBody>
      </p:sp>
      <p:pic>
        <p:nvPicPr>
          <p:cNvPr id="50" name="Grafik 49"/>
          <p:cNvPicPr>
            <a:picLocks noChangeAspect="1"/>
          </p:cNvPicPr>
          <p:nvPr/>
        </p:nvPicPr>
        <p:blipFill>
          <a:blip r:embed="rId4"/>
          <a:stretch/>
        </p:blipFill>
        <p:spPr>
          <a:xfrm>
            <a:off x="95249" y="1913722"/>
            <a:ext cx="5143497" cy="3050093"/>
          </a:xfrm>
          <a:prstGeom prst="rect">
            <a:avLst/>
          </a:prstGeom>
        </p:spPr>
      </p:pic>
      <p:sp>
        <p:nvSpPr>
          <p:cNvPr id="51" name="Footer – Seitennummer">
            <a:extLst>
              <a:ext uri="{FF2B5EF4-FFF2-40B4-BE49-F238E27FC236}">
                <a16:creationId xmlns:a16="http://schemas.microsoft.com/office/drawing/2014/main" id="{C7FC362E-6B9E-45E2-9236-C6998B9D9AE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 / 39</a:t>
            </a:r>
          </a:p>
        </p:txBody>
      </p:sp>
      <p:sp>
        <p:nvSpPr>
          <p:cNvPr id="52" name="Footer – Präsentationsangaben">
            <a:extLst>
              <a:ext uri="{FF2B5EF4-FFF2-40B4-BE49-F238E27FC236}">
                <a16:creationId xmlns:a16="http://schemas.microsoft.com/office/drawing/2014/main" id="{93C65533-8BA4-4732-B4D5-DDE8CD7F9D3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3" name="Quellenverweis 50">
            <a:extLst>
              <a:ext uri="{FF2B5EF4-FFF2-40B4-BE49-F238E27FC236}">
                <a16:creationId xmlns:a16="http://schemas.microsoft.com/office/drawing/2014/main" id="{67E5842A-22C4-426C-885F-87CA7A5427C8}"/>
              </a:ext>
            </a:extLst>
          </p:cNvPr>
          <p:cNvSpPr>
            <a:spLocks noGrp="1"/>
          </p:cNvSpPr>
          <p:nvPr/>
        </p:nvSpPr>
        <p:spPr>
          <a:xfrm>
            <a:off x="4759936" y="4562475"/>
            <a:ext cx="246906"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dirty="0">
                <a:solidFill>
                  <a:srgbClr val="404040"/>
                </a:solidFill>
                <a:latin typeface="Calibri"/>
                <a:ea typeface="Calibri"/>
                <a:cs typeface="Calibri"/>
              </a:rPr>
              <a:t>[1]</a:t>
            </a:r>
          </a:p>
        </p:txBody>
      </p:sp>
      <p:sp>
        <p:nvSpPr>
          <p:cNvPr id="5" name="Pfeil: nach rechts 4">
            <a:extLst>
              <a:ext uri="{FF2B5EF4-FFF2-40B4-BE49-F238E27FC236}">
                <a16:creationId xmlns:a16="http://schemas.microsoft.com/office/drawing/2014/main" id="{C54CC2FF-B914-F6B3-9B0B-1495D2AD3342}"/>
              </a:ext>
            </a:extLst>
          </p:cNvPr>
          <p:cNvSpPr/>
          <p:nvPr/>
        </p:nvSpPr>
        <p:spPr>
          <a:xfrm>
            <a:off x="5491530" y="4909852"/>
            <a:ext cx="241550" cy="205073"/>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Forschungsfragen und Ziele der Dissertation</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6" name="V5_Figure_11"/>
          <p:cNvPicPr>
            <a:picLocks noChangeAspect="1"/>
          </p:cNvPicPr>
          <p:nvPr/>
        </p:nvPicPr>
        <p:blipFill>
          <a:blip r:embed="rId3"/>
          <a:stretch/>
        </p:blipFill>
        <p:spPr>
          <a:xfrm>
            <a:off x="1635748" y="1183319"/>
            <a:ext cx="7079004" cy="4453261"/>
          </a:xfrm>
          <a:prstGeom prst="rect">
            <a:avLst/>
          </a:prstGeom>
        </p:spPr>
      </p:pic>
      <p:sp>
        <p:nvSpPr>
          <p:cNvPr id="12" name="V5_Text_12">
            <a:extLst>
              <a:ext uri="{FF2B5EF4-FFF2-40B4-BE49-F238E27FC236}">
                <a16:creationId xmlns:a16="http://schemas.microsoft.com/office/drawing/2014/main" id="{3C15EE52-60E3-43E9-A0E5-0BA4629013B2}"/>
              </a:ext>
            </a:extLst>
          </p:cNvPr>
          <p:cNvSpPr>
            <a:spLocks noGrp="1"/>
          </p:cNvSpPr>
          <p:nvPr/>
        </p:nvSpPr>
        <p:spPr>
          <a:xfrm>
            <a:off x="4038600" y="1428750"/>
            <a:ext cx="5905500" cy="1457325"/>
          </a:xfrm>
          <a:prstGeom prst="rect">
            <a:avLst/>
          </a:prstGeom>
          <a:noFill/>
          <a:ln w="0">
            <a:noFill/>
          </a:ln>
        </p:spPr>
        <p:txBody>
          <a:bodyPr vert="horz" wrap="square" lIns="0" tIns="0" rIns="0" bIns="0" anchor="t">
            <a:noAutofit/>
          </a:bodyPr>
          <a:lstStyle/>
          <a:p>
            <a:pPr marL="0" indent="0" algn="l">
              <a:spcBef>
                <a:spcPts val="0"/>
              </a:spcBef>
              <a:spcAft>
                <a:spcPts val="7"/>
              </a:spcAft>
              <a:buNone/>
              <a:defRPr sz="1800" b="0">
                <a:solidFill>
                  <a:srgbClr val="3F3F3F"/>
                </a:solidFill>
                <a:latin typeface="Calibri"/>
                <a:ea typeface="Calibri"/>
                <a:cs typeface="Calibri"/>
              </a:defRPr>
            </a:pPr>
            <a:r>
              <a:rPr sz="1800" i="1" dirty="0">
                <a:solidFill>
                  <a:srgbClr val="3F3F3F"/>
                </a:solidFill>
                <a:latin typeface="Calibri"/>
                <a:ea typeface="Calibri"/>
                <a:cs typeface="Calibri"/>
              </a:rPr>
              <a:t>1. Wie </a:t>
            </a:r>
            <a:r>
              <a:rPr sz="1800" i="1" dirty="0" err="1">
                <a:solidFill>
                  <a:srgbClr val="3F3F3F"/>
                </a:solidFill>
                <a:latin typeface="Calibri"/>
                <a:ea typeface="Calibri"/>
                <a:cs typeface="Calibri"/>
              </a:rPr>
              <a:t>lässt</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sich</a:t>
            </a:r>
            <a:r>
              <a:rPr sz="1800" i="1" dirty="0">
                <a:solidFill>
                  <a:srgbClr val="3F3F3F"/>
                </a:solidFill>
                <a:latin typeface="Calibri"/>
                <a:ea typeface="Calibri"/>
                <a:cs typeface="Calibri"/>
              </a:rPr>
              <a:t> das </a:t>
            </a:r>
            <a:r>
              <a:rPr sz="1800" i="1" dirty="0" err="1">
                <a:solidFill>
                  <a:srgbClr val="3F3F3F"/>
                </a:solidFill>
                <a:latin typeface="Calibri"/>
                <a:ea typeface="Calibri"/>
                <a:cs typeface="Calibri"/>
              </a:rPr>
              <a:t>komplexe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zeitabhängige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Alterungsverhalten</a:t>
            </a:r>
            <a:r>
              <a:rPr sz="1800" i="1" dirty="0">
                <a:solidFill>
                  <a:srgbClr val="3F3F3F"/>
                </a:solidFill>
                <a:latin typeface="Calibri"/>
                <a:ea typeface="Calibri"/>
                <a:cs typeface="Calibri"/>
              </a:rPr>
              <a:t> von Lithium-</a:t>
            </a:r>
            <a:r>
              <a:rPr sz="1800" i="1" dirty="0" err="1">
                <a:solidFill>
                  <a:srgbClr val="3F3F3F"/>
                </a:solidFill>
                <a:latin typeface="Calibri"/>
                <a:ea typeface="Calibri"/>
                <a:cs typeface="Calibri"/>
              </a:rPr>
              <a:t>Ionen</a:t>
            </a:r>
            <a:r>
              <a:rPr sz="1800" i="1" dirty="0">
                <a:solidFill>
                  <a:srgbClr val="3F3F3F"/>
                </a:solidFill>
                <a:latin typeface="Calibri"/>
                <a:ea typeface="Calibri"/>
                <a:cs typeface="Calibri"/>
              </a:rPr>
              <a:t>-</a:t>
            </a:r>
            <a:r>
              <a:rPr sz="1800" i="1" dirty="0" err="1">
                <a:solidFill>
                  <a:srgbClr val="3F3F3F"/>
                </a:solidFill>
                <a:latin typeface="Calibri"/>
                <a:ea typeface="Calibri"/>
                <a:cs typeface="Calibri"/>
              </a:rPr>
              <a:t>Batterien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mit</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einfachen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kompakten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Modellen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abbilden</a:t>
            </a:r>
            <a:r>
              <a:rPr sz="1800" i="1" dirty="0">
                <a:solidFill>
                  <a:srgbClr val="3F3F3F"/>
                </a:solidFill>
                <a:latin typeface="Calibri"/>
                <a:ea typeface="Calibri"/>
                <a:cs typeface="Calibri"/>
              </a:rPr>
              <a:t>?</a:t>
            </a:r>
          </a:p>
          <a:p>
            <a:pPr marL="0" indent="0" algn="l">
              <a:spcBef>
                <a:spcPts val="0"/>
              </a:spcBef>
              <a:spcAft>
                <a:spcPts val="7"/>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Ziel:</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Entwicklung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kompakter</a:t>
            </a:r>
            <a:r>
              <a:rPr sz="1800" b="0" dirty="0">
                <a:solidFill>
                  <a:srgbClr val="3F3F3F"/>
                </a:solidFill>
                <a:latin typeface="Calibri"/>
                <a:ea typeface="Calibri"/>
                <a:cs typeface="Calibri"/>
              </a:rPr>
              <a:t> SOH-Modelle</a:t>
            </a:r>
          </a:p>
          <a:p>
            <a:pPr marL="0" indent="0" algn="l">
              <a:spcBef>
                <a:spcPts val="0"/>
              </a:spcBef>
              <a:spcAft>
                <a:spcPts val="0"/>
              </a:spcAft>
              <a:buNone/>
              <a:defRPr sz="1800" b="0">
                <a:solidFill>
                  <a:srgbClr val="3F3F3F"/>
                </a:solidFill>
                <a:latin typeface="Calibri"/>
                <a:ea typeface="Calibri"/>
                <a:cs typeface="Calibri"/>
              </a:defRPr>
            </a:pPr>
            <a:r>
              <a:rPr sz="1800" b="0" dirty="0" err="1">
                <a:solidFill>
                  <a:srgbClr val="3F3F3F"/>
                </a:solidFill>
                <a:latin typeface="Calibri"/>
                <a:ea typeface="Calibri"/>
                <a:cs typeface="Calibri"/>
              </a:rPr>
              <a:t>mit</a:t>
            </a:r>
            <a:r>
              <a:rPr sz="1800" b="0" dirty="0">
                <a:solidFill>
                  <a:srgbClr val="3F3F3F"/>
                </a:solidFill>
                <a:latin typeface="Calibri"/>
                <a:ea typeface="Calibri"/>
                <a:cs typeface="Calibri"/>
              </a:rPr>
              <a:t> Feature Engineering</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4038600" y="3028950"/>
            <a:ext cx="5905500" cy="1238250"/>
          </a:xfrm>
          <a:prstGeom prst="rect">
            <a:avLst/>
          </a:prstGeom>
          <a:noFill/>
          <a:ln w="0">
            <a:noFill/>
          </a:ln>
        </p:spPr>
        <p:txBody>
          <a:bodyPr vert="horz" wrap="square" lIns="0" tIns="0" rIns="0" bIns="0" anchor="t">
            <a:noAutofit/>
          </a:bodyPr>
          <a:lstStyle/>
          <a:p>
            <a:pPr marL="0" indent="0" algn="l">
              <a:spcBef>
                <a:spcPts val="0"/>
              </a:spcBef>
              <a:spcAft>
                <a:spcPts val="7"/>
              </a:spcAft>
              <a:buNone/>
              <a:defRPr sz="1800" b="0">
                <a:solidFill>
                  <a:srgbClr val="3F3F3F"/>
                </a:solidFill>
                <a:latin typeface="Calibri"/>
                <a:ea typeface="Calibri"/>
                <a:cs typeface="Calibri"/>
              </a:defRPr>
            </a:pPr>
            <a:r>
              <a:rPr sz="1800" i="1" dirty="0">
                <a:solidFill>
                  <a:srgbClr val="3F3F3F"/>
                </a:solidFill>
                <a:latin typeface="Calibri"/>
                <a:ea typeface="Calibri"/>
                <a:cs typeface="Calibri"/>
              </a:rPr>
              <a:t>2. Wie </a:t>
            </a:r>
            <a:r>
              <a:rPr sz="1800" i="1" dirty="0" err="1">
                <a:solidFill>
                  <a:srgbClr val="3F3F3F"/>
                </a:solidFill>
                <a:latin typeface="Calibri"/>
                <a:ea typeface="Calibri"/>
                <a:cs typeface="Calibri"/>
              </a:rPr>
              <a:t>verhalten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sich</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Batteriezustandsmodelle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unter</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realistischen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Betriebs</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Messbedingungen</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welche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Faktoren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bestimmen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ihre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Robustheit</a:t>
            </a:r>
            <a:r>
              <a:rPr sz="1800" i="1" dirty="0">
                <a:solidFill>
                  <a:srgbClr val="3F3F3F"/>
                </a:solidFill>
                <a:latin typeface="Calibri"/>
                <a:ea typeface="Calibri"/>
                <a:cs typeface="Calibri"/>
              </a:rPr>
              <a:t>?</a:t>
            </a: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Ziel:</a:t>
            </a:r>
            <a:r>
              <a:rPr sz="1800" b="0" dirty="0">
                <a:solidFill>
                  <a:srgbClr val="3F3F3F"/>
                </a:solidFill>
                <a:latin typeface="Calibri"/>
                <a:ea typeface="Calibri"/>
                <a:cs typeface="Calibri"/>
              </a:rPr>
              <a:t> Benchmark </a:t>
            </a:r>
            <a:r>
              <a:rPr sz="1800" b="0" dirty="0" err="1">
                <a:solidFill>
                  <a:srgbClr val="3F3F3F"/>
                </a:solidFill>
                <a:latin typeface="Calibri"/>
                <a:ea typeface="Calibri"/>
                <a:cs typeface="Calibri"/>
              </a:rPr>
              <a:t>verschiedener</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Estimatorklassen</a:t>
            </a:r>
            <a:endParaRPr sz="1800" b="0" dirty="0">
              <a:solidFill>
                <a:srgbClr val="3F3F3F"/>
              </a:solidFill>
              <a:latin typeface="Calibri"/>
              <a:ea typeface="Calibri"/>
              <a:cs typeface="Calibri"/>
            </a:endParaRPr>
          </a:p>
        </p:txBody>
      </p:sp>
      <p:pic>
        <p:nvPicPr>
          <p:cNvPr id="39"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Motivation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text-3-3">
            <a:extLst>
              <a:ext uri="{FF2B5EF4-FFF2-40B4-BE49-F238E27FC236}">
                <a16:creationId xmlns:a16="http://schemas.microsoft.com/office/drawing/2014/main" id="{88295B18-3110-4A8E-9847-DAE2B8976FB1}"/>
              </a:ext>
            </a:extLst>
          </p:cNvPr>
          <p:cNvSpPr>
            <a:spLocks noGrp="1"/>
          </p:cNvSpPr>
          <p:nvPr/>
        </p:nvSpPr>
        <p:spPr>
          <a:xfrm>
            <a:off x="4038600" y="4495800"/>
            <a:ext cx="5905500" cy="1371600"/>
          </a:xfrm>
          <a:prstGeom prst="rect">
            <a:avLst/>
          </a:prstGeom>
          <a:noFill/>
          <a:ln w="0">
            <a:noFill/>
          </a:ln>
        </p:spPr>
        <p:txBody>
          <a:bodyPr wrap="square" lIns="0" tIns="0" rIns="0" bIns="0" anchor="t">
            <a:noAutofit/>
          </a:bodyPr>
          <a:lstStyle/>
          <a:p>
            <a:pPr marL="0" indent="0" algn="l">
              <a:spcBef>
                <a:spcPts val="0"/>
              </a:spcBef>
              <a:spcAft>
                <a:spcPts val="7"/>
              </a:spcAft>
              <a:buNone/>
              <a:defRPr sz="1800" b="0">
                <a:solidFill>
                  <a:srgbClr val="3F3F3F"/>
                </a:solidFill>
                <a:latin typeface="Calibri"/>
                <a:ea typeface="Calibri"/>
                <a:cs typeface="Calibri"/>
              </a:defRPr>
            </a:pPr>
            <a:r>
              <a:rPr sz="1800" i="1" dirty="0">
                <a:solidFill>
                  <a:srgbClr val="3F3F3F"/>
                </a:solidFill>
                <a:latin typeface="Calibri"/>
                <a:ea typeface="Calibri"/>
                <a:cs typeface="Calibri"/>
              </a:rPr>
              <a:t>3. Wie </a:t>
            </a:r>
            <a:r>
              <a:rPr sz="1800" i="1" dirty="0" err="1">
                <a:solidFill>
                  <a:srgbClr val="3F3F3F"/>
                </a:solidFill>
                <a:latin typeface="Calibri"/>
                <a:ea typeface="Calibri"/>
                <a:cs typeface="Calibri"/>
              </a:rPr>
              <a:t>lassen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sich</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Batteriezustandsmodelle</a:t>
            </a:r>
            <a:r>
              <a:rPr sz="1800" i="1" dirty="0">
                <a:solidFill>
                  <a:srgbClr val="3F3F3F"/>
                </a:solidFill>
                <a:latin typeface="Calibri"/>
                <a:ea typeface="Calibri"/>
                <a:cs typeface="Calibri"/>
              </a:rPr>
              <a:t> auf Embedded-Hardware </a:t>
            </a:r>
            <a:r>
              <a:rPr sz="1800" i="1" dirty="0" err="1">
                <a:solidFill>
                  <a:srgbClr val="3F3F3F"/>
                </a:solidFill>
                <a:latin typeface="Calibri"/>
                <a:ea typeface="Calibri"/>
                <a:cs typeface="Calibri"/>
              </a:rPr>
              <a:t>übertragen</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hinsichtlich</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Speicherbedarf</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Laufzeit</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Energiebedarf</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optimieren</a:t>
            </a:r>
            <a:r>
              <a:rPr sz="1800" i="1" dirty="0">
                <a:solidFill>
                  <a:srgbClr val="3F3F3F"/>
                </a:solidFill>
                <a:latin typeface="Calibri"/>
                <a:ea typeface="Calibri"/>
                <a:cs typeface="Calibri"/>
              </a:rPr>
              <a:t>?</a:t>
            </a: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Ziel:</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Optimierung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durch</a:t>
            </a:r>
            <a:r>
              <a:rPr sz="1800" b="0" dirty="0">
                <a:solidFill>
                  <a:srgbClr val="3F3F3F"/>
                </a:solidFill>
                <a:latin typeface="Calibri"/>
                <a:ea typeface="Calibri"/>
                <a:cs typeface="Calibri"/>
              </a:rPr>
              <a:t> Pruning und Quantization</a:t>
            </a:r>
          </a:p>
        </p:txBody>
      </p:sp>
      <p:sp>
        <p:nvSpPr>
          <p:cNvPr id="40" name="Footer – Seitennummer">
            <a:extLst>
              <a:ext uri="{FF2B5EF4-FFF2-40B4-BE49-F238E27FC236}">
                <a16:creationId xmlns:a16="http://schemas.microsoft.com/office/drawing/2014/main" id="{D9D73BB7-7997-4EC3-A698-118F0370B87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 / 39</a:t>
            </a:r>
          </a:p>
        </p:txBody>
      </p:sp>
      <p:sp>
        <p:nvSpPr>
          <p:cNvPr id="41" name="Footer – Präsentationsangaben">
            <a:extLst>
              <a:ext uri="{FF2B5EF4-FFF2-40B4-BE49-F238E27FC236}">
                <a16:creationId xmlns:a16="http://schemas.microsoft.com/office/drawing/2014/main" id="{C5315ED0-6A6D-4365-BC88-DA71C8BC869D}"/>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1000" fill="hold"/>
                                        <p:tgtEl>
                                          <p:spTgt spid="36"/>
                                        </p:tgtEl>
                                      </p:cBhvr>
                                      <p:by x="46000" y="46000"/>
                                    </p:animScale>
                                  </p:childTnLst>
                                </p:cTn>
                              </p:par>
                              <p:par>
                                <p:cTn id="7" presetID="0" presetClass="path" presetSubtype="0" fill="hold" nodeType="withEffect">
                                  <p:stCondLst>
                                    <p:cond delay="0"/>
                                  </p:stCondLst>
                                  <p:childTnLst>
                                    <p:animMotion origin="layout" path="M 0 0 L -0.245622464 0 E" pathEditMode="relative" rAng="0">
                                      <p:cBhvr>
                                        <p:cTn id="8" dur="1000" fill="hold"/>
                                        <p:tgtEl>
                                          <p:spTgt spid="36"/>
                                        </p:tgtEl>
                                        <p:attrNameLst>
                                          <p:attrName>ppt_x</p:attrName>
                                          <p:attrName>ppt_y</p:attrName>
                                        </p:attrNameLst>
                                      </p:cBhvr>
                                      <p:rCtr x="0" y="0"/>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p:bldP spid="2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Stand der Technik und eigener Beitrag</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Motivation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40" name="Thema 0">
            <a:extLst>
              <a:ext uri="{FF2B5EF4-FFF2-40B4-BE49-F238E27FC236}">
                <a16:creationId xmlns:a16="http://schemas.microsoft.com/office/drawing/2014/main" id="{C2B8B07E-9068-48AB-B2AC-3B5F4037C219}"/>
              </a:ext>
            </a:extLst>
          </p:cNvPr>
          <p:cNvSpPr>
            <a:spLocks noGrp="1"/>
          </p:cNvSpPr>
          <p:nvPr/>
        </p:nvSpPr>
        <p:spPr>
          <a:xfrm>
            <a:off x="552450" y="1485900"/>
            <a:ext cx="3095625" cy="58102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Kompakte SOH-Modelle</a:t>
            </a:r>
          </a:p>
        </p:txBody>
      </p:sp>
      <p:sp>
        <p:nvSpPr>
          <p:cNvPr id="41" name="Themenlinie 0">
            <a:extLst>
              <a:ext uri="{FF2B5EF4-FFF2-40B4-BE49-F238E27FC236}">
                <a16:creationId xmlns:a16="http://schemas.microsoft.com/office/drawing/2014/main" id="{05366CE6-BD84-4899-B8D3-7ADE8B8505F6}"/>
              </a:ext>
            </a:extLst>
          </p:cNvPr>
          <p:cNvSpPr>
            <a:spLocks noGrp="1"/>
          </p:cNvSpPr>
          <p:nvPr/>
        </p:nvSpPr>
        <p:spPr>
          <a:xfrm>
            <a:off x="552450" y="2095500"/>
            <a:ext cx="2914650" cy="9525"/>
          </a:xfrm>
          <a:prstGeom prst="rect">
            <a:avLst/>
          </a:prstGeom>
          <a:solidFill>
            <a:srgbClr val="CC001C"/>
          </a:solidFill>
          <a:ln w="0">
            <a:noFill/>
          </a:ln>
        </p:spPr>
        <p:txBody>
          <a:bodyPr/>
          <a:lstStyle/>
          <a:p>
            <a:endParaRPr lang="de-DE"/>
          </a:p>
        </p:txBody>
      </p:sp>
      <p:sp>
        <p:nvSpPr>
          <p:cNvPr id="42" name="Thema 1">
            <a:extLst>
              <a:ext uri="{FF2B5EF4-FFF2-40B4-BE49-F238E27FC236}">
                <a16:creationId xmlns:a16="http://schemas.microsoft.com/office/drawing/2014/main" id="{10431B0C-BFE3-45A1-846C-320E81B5DD89}"/>
              </a:ext>
            </a:extLst>
          </p:cNvPr>
          <p:cNvSpPr>
            <a:spLocks noGrp="1"/>
          </p:cNvSpPr>
          <p:nvPr/>
        </p:nvSpPr>
        <p:spPr>
          <a:xfrm>
            <a:off x="3819525" y="1485900"/>
            <a:ext cx="3095625" cy="58102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dirty="0" err="1">
                <a:solidFill>
                  <a:srgbClr val="CC001C"/>
                </a:solidFill>
                <a:latin typeface="Calibri"/>
                <a:ea typeface="Calibri"/>
                <a:cs typeface="Calibri"/>
              </a:rPr>
              <a:t>Robustheit</a:t>
            </a:r>
            <a:r>
              <a:rPr sz="1800" b="1" dirty="0">
                <a:solidFill>
                  <a:srgbClr val="CC001C"/>
                </a:solidFill>
                <a:latin typeface="Calibri"/>
                <a:ea typeface="Calibri"/>
                <a:cs typeface="Calibri"/>
              </a:rPr>
              <a:t> </a:t>
            </a:r>
            <a:r>
              <a:rPr sz="1800" b="1" dirty="0" err="1">
                <a:solidFill>
                  <a:srgbClr val="CC001C"/>
                </a:solidFill>
                <a:latin typeface="Calibri"/>
                <a:ea typeface="Calibri"/>
                <a:cs typeface="Calibri"/>
              </a:rPr>
              <a:t>bei</a:t>
            </a:r>
            <a:endParaRPr sz="1800" b="1" dirty="0">
              <a:solidFill>
                <a:srgbClr val="CC001C"/>
              </a:solidFill>
              <a:latin typeface="Calibri"/>
              <a:ea typeface="Calibri"/>
              <a:cs typeface="Calibri"/>
            </a:endParaRPr>
          </a:p>
          <a:p>
            <a:pPr>
              <a:defRPr sz="1800" b="1">
                <a:solidFill>
                  <a:srgbClr val="CC001C"/>
                </a:solidFill>
                <a:latin typeface="Calibri"/>
                <a:ea typeface="Calibri"/>
                <a:cs typeface="Calibri"/>
              </a:defRPr>
            </a:pPr>
            <a:r>
              <a:rPr sz="1800" b="1" dirty="0" err="1">
                <a:solidFill>
                  <a:srgbClr val="CC001C"/>
                </a:solidFill>
                <a:latin typeface="Calibri"/>
                <a:ea typeface="Calibri"/>
                <a:cs typeface="Calibri"/>
              </a:rPr>
              <a:t>Messfehlern</a:t>
            </a:r>
            <a:endParaRPr sz="1800" b="1" dirty="0">
              <a:solidFill>
                <a:srgbClr val="CC001C"/>
              </a:solidFill>
              <a:latin typeface="Calibri"/>
              <a:ea typeface="Calibri"/>
              <a:cs typeface="Calibri"/>
            </a:endParaRPr>
          </a:p>
        </p:txBody>
      </p:sp>
      <p:sp>
        <p:nvSpPr>
          <p:cNvPr id="43" name="Themenlinie 1">
            <a:extLst>
              <a:ext uri="{FF2B5EF4-FFF2-40B4-BE49-F238E27FC236}">
                <a16:creationId xmlns:a16="http://schemas.microsoft.com/office/drawing/2014/main" id="{C832571B-578D-4878-B895-335C49D28E4C}"/>
              </a:ext>
            </a:extLst>
          </p:cNvPr>
          <p:cNvSpPr>
            <a:spLocks noGrp="1"/>
          </p:cNvSpPr>
          <p:nvPr/>
        </p:nvSpPr>
        <p:spPr>
          <a:xfrm>
            <a:off x="3819525" y="2095500"/>
            <a:ext cx="2924175" cy="9525"/>
          </a:xfrm>
          <a:prstGeom prst="rect">
            <a:avLst/>
          </a:prstGeom>
          <a:solidFill>
            <a:srgbClr val="CC001C"/>
          </a:solidFill>
          <a:ln w="0">
            <a:noFill/>
          </a:ln>
        </p:spPr>
        <p:txBody>
          <a:bodyPr/>
          <a:lstStyle/>
          <a:p>
            <a:endParaRPr lang="de-DE"/>
          </a:p>
        </p:txBody>
      </p:sp>
      <p:sp>
        <p:nvSpPr>
          <p:cNvPr id="44" name="Thema 2">
            <a:extLst>
              <a:ext uri="{FF2B5EF4-FFF2-40B4-BE49-F238E27FC236}">
                <a16:creationId xmlns:a16="http://schemas.microsoft.com/office/drawing/2014/main" id="{5B0FE312-9002-4198-ACFD-74836EAEAAC1}"/>
              </a:ext>
            </a:extLst>
          </p:cNvPr>
          <p:cNvSpPr>
            <a:spLocks noGrp="1"/>
          </p:cNvSpPr>
          <p:nvPr/>
        </p:nvSpPr>
        <p:spPr>
          <a:xfrm>
            <a:off x="7096125" y="1485900"/>
            <a:ext cx="3000375" cy="58102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dirty="0">
                <a:solidFill>
                  <a:srgbClr val="CC001C"/>
                </a:solidFill>
                <a:latin typeface="Calibri"/>
                <a:ea typeface="Calibri"/>
                <a:cs typeface="Calibri"/>
              </a:rPr>
              <a:t>Embedded-</a:t>
            </a:r>
            <a:r>
              <a:rPr sz="1800" b="1" dirty="0" err="1">
                <a:solidFill>
                  <a:srgbClr val="CC001C"/>
                </a:solidFill>
                <a:latin typeface="Calibri"/>
                <a:ea typeface="Calibri"/>
                <a:cs typeface="Calibri"/>
              </a:rPr>
              <a:t>Optimierung</a:t>
            </a:r>
            <a:endParaRPr sz="1800" b="1" dirty="0">
              <a:solidFill>
                <a:srgbClr val="CC001C"/>
              </a:solidFill>
              <a:latin typeface="Calibri"/>
              <a:ea typeface="Calibri"/>
              <a:cs typeface="Calibri"/>
            </a:endParaRPr>
          </a:p>
        </p:txBody>
      </p:sp>
      <p:sp>
        <p:nvSpPr>
          <p:cNvPr id="45" name="Themenlinie 2">
            <a:extLst>
              <a:ext uri="{FF2B5EF4-FFF2-40B4-BE49-F238E27FC236}">
                <a16:creationId xmlns:a16="http://schemas.microsoft.com/office/drawing/2014/main" id="{0016D595-8F36-4E8C-A321-F0A7720BB33D}"/>
              </a:ext>
            </a:extLst>
          </p:cNvPr>
          <p:cNvSpPr>
            <a:spLocks noGrp="1"/>
          </p:cNvSpPr>
          <p:nvPr/>
        </p:nvSpPr>
        <p:spPr>
          <a:xfrm>
            <a:off x="7096125" y="2095500"/>
            <a:ext cx="2914650" cy="9525"/>
          </a:xfrm>
          <a:prstGeom prst="rect">
            <a:avLst/>
          </a:prstGeom>
          <a:solidFill>
            <a:srgbClr val="CC001C"/>
          </a:solidFill>
          <a:ln w="0">
            <a:noFill/>
          </a:ln>
        </p:spPr>
        <p:txBody>
          <a:bodyPr/>
          <a:lstStyle/>
          <a:p>
            <a:endParaRPr lang="de-DE"/>
          </a:p>
        </p:txBody>
      </p:sp>
      <p:sp>
        <p:nvSpPr>
          <p:cNvPr id="46" name="Bisherige Ansätze">
            <a:extLst>
              <a:ext uri="{FF2B5EF4-FFF2-40B4-BE49-F238E27FC236}">
                <a16:creationId xmlns:a16="http://schemas.microsoft.com/office/drawing/2014/main" id="{A871F10D-8408-45DC-B09F-C663D5FFAF55}"/>
              </a:ext>
            </a:extLst>
          </p:cNvPr>
          <p:cNvSpPr>
            <a:spLocks noGrp="1"/>
          </p:cNvSpPr>
          <p:nvPr/>
        </p:nvSpPr>
        <p:spPr>
          <a:xfrm>
            <a:off x="552450" y="2190750"/>
            <a:ext cx="9496425" cy="295275"/>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Bisherige Ansätze</a:t>
            </a:r>
          </a:p>
        </p:txBody>
      </p:sp>
      <p:sp>
        <p:nvSpPr>
          <p:cNvPr id="51" name="Beitrag dieser Arbeit">
            <a:extLst>
              <a:ext uri="{FF2B5EF4-FFF2-40B4-BE49-F238E27FC236}">
                <a16:creationId xmlns:a16="http://schemas.microsoft.com/office/drawing/2014/main" id="{91CDA49B-5134-4463-9D03-9788EBC67ABF}"/>
              </a:ext>
            </a:extLst>
          </p:cNvPr>
          <p:cNvSpPr>
            <a:spLocks noGrp="1"/>
          </p:cNvSpPr>
          <p:nvPr/>
        </p:nvSpPr>
        <p:spPr>
          <a:xfrm>
            <a:off x="552450" y="4061938"/>
            <a:ext cx="9496425" cy="29527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dirty="0" err="1">
                <a:solidFill>
                  <a:srgbClr val="CC001C"/>
                </a:solidFill>
                <a:latin typeface="Calibri"/>
                <a:ea typeface="Calibri"/>
                <a:cs typeface="Calibri"/>
              </a:rPr>
              <a:t>Beitrag</a:t>
            </a:r>
            <a:r>
              <a:rPr sz="1800" b="1" dirty="0">
                <a:solidFill>
                  <a:srgbClr val="CC001C"/>
                </a:solidFill>
                <a:latin typeface="Calibri"/>
                <a:ea typeface="Calibri"/>
                <a:cs typeface="Calibri"/>
              </a:rPr>
              <a:t> </a:t>
            </a:r>
            <a:r>
              <a:rPr sz="1800" b="1" dirty="0" err="1">
                <a:solidFill>
                  <a:srgbClr val="CC001C"/>
                </a:solidFill>
                <a:latin typeface="Calibri"/>
                <a:ea typeface="Calibri"/>
                <a:cs typeface="Calibri"/>
              </a:rPr>
              <a:t>dieser</a:t>
            </a:r>
            <a:r>
              <a:rPr sz="1800" b="1" dirty="0">
                <a:solidFill>
                  <a:srgbClr val="CC001C"/>
                </a:solidFill>
                <a:latin typeface="Calibri"/>
                <a:ea typeface="Calibri"/>
                <a:cs typeface="Calibri"/>
              </a:rPr>
              <a:t> Arbeit</a:t>
            </a:r>
          </a:p>
        </p:txBody>
      </p:sp>
      <p:sp>
        <p:nvSpPr>
          <p:cNvPr id="55" name="Footer – Seitennummer">
            <a:extLst>
              <a:ext uri="{FF2B5EF4-FFF2-40B4-BE49-F238E27FC236}">
                <a16:creationId xmlns:a16="http://schemas.microsoft.com/office/drawing/2014/main" id="{034493C9-358A-45BF-90B6-5F62F5CCF00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4 / 39</a:t>
            </a:r>
          </a:p>
        </p:txBody>
      </p:sp>
      <p:sp>
        <p:nvSpPr>
          <p:cNvPr id="56" name="Footer – Präsentationsangaben">
            <a:extLst>
              <a:ext uri="{FF2B5EF4-FFF2-40B4-BE49-F238E27FC236}">
                <a16:creationId xmlns:a16="http://schemas.microsoft.com/office/drawing/2014/main" id="{181B4016-FD87-4746-8D1F-22B0E1B36F1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7" name="Vorarbeiten 0">
            <a:extLst>
              <a:ext uri="{FF2B5EF4-FFF2-40B4-BE49-F238E27FC236}">
                <a16:creationId xmlns:a16="http://schemas.microsoft.com/office/drawing/2014/main" id="{AB8B19CA-A9C5-4311-BE54-AA9BFED5027B}"/>
              </a:ext>
            </a:extLst>
          </p:cNvPr>
          <p:cNvSpPr>
            <a:spLocks noGrp="1"/>
          </p:cNvSpPr>
          <p:nvPr/>
        </p:nvSpPr>
        <p:spPr>
          <a:xfrm>
            <a:off x="552450" y="2543175"/>
            <a:ext cx="3095625" cy="11049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Neuronale</a:t>
            </a:r>
            <a:r>
              <a:rPr sz="1800" b="0" dirty="0">
                <a:solidFill>
                  <a:srgbClr val="262626"/>
                </a:solidFill>
                <a:latin typeface="Calibri"/>
                <a:ea typeface="Calibri"/>
                <a:cs typeface="Calibri"/>
              </a:rPr>
              <a:t> Modelle für die</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SOH-</a:t>
            </a:r>
            <a:r>
              <a:rPr sz="1800" b="0" dirty="0" err="1">
                <a:solidFill>
                  <a:srgbClr val="262626"/>
                </a:solidFill>
                <a:latin typeface="Calibri"/>
                <a:ea typeface="Calibri"/>
                <a:cs typeface="Calibri"/>
              </a:rPr>
              <a:t>Schätzung</a:t>
            </a:r>
            <a:r>
              <a:rPr sz="1800" b="0" dirty="0">
                <a:solidFill>
                  <a:srgbClr val="262626"/>
                </a:solidFill>
                <a:latin typeface="Calibri"/>
                <a:ea typeface="Calibri"/>
                <a:cs typeface="Calibri"/>
              </a:rPr>
              <a:t> [2], [3], [4]</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Zeitinformation</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über</a:t>
            </a:r>
            <a:r>
              <a:rPr sz="1800" b="0" dirty="0">
                <a:solidFill>
                  <a:srgbClr val="262626"/>
                </a:solidFill>
                <a:latin typeface="Calibri"/>
                <a:ea typeface="Calibri"/>
                <a:cs typeface="Calibri"/>
              </a:rPr>
              <a:t> Inputs</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oder</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Netzarchitektur</a:t>
            </a:r>
            <a:r>
              <a:rPr sz="1800" b="0" dirty="0">
                <a:solidFill>
                  <a:srgbClr val="262626"/>
                </a:solidFill>
                <a:latin typeface="Calibri"/>
                <a:ea typeface="Calibri"/>
                <a:cs typeface="Calibri"/>
              </a:rPr>
              <a:t> [3], [4]</a:t>
            </a:r>
          </a:p>
        </p:txBody>
      </p:sp>
      <p:sp>
        <p:nvSpPr>
          <p:cNvPr id="48" name="Vorarbeiten 1">
            <a:extLst>
              <a:ext uri="{FF2B5EF4-FFF2-40B4-BE49-F238E27FC236}">
                <a16:creationId xmlns:a16="http://schemas.microsoft.com/office/drawing/2014/main" id="{AD3BAB6E-0F59-49B3-857E-8911AC54FC8D}"/>
              </a:ext>
            </a:extLst>
          </p:cNvPr>
          <p:cNvSpPr>
            <a:spLocks noGrp="1"/>
          </p:cNvSpPr>
          <p:nvPr/>
        </p:nvSpPr>
        <p:spPr>
          <a:xfrm>
            <a:off x="3819525" y="2543175"/>
            <a:ext cx="3095625" cy="11049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Einfluss</a:t>
            </a:r>
            <a:r>
              <a:rPr sz="1800" b="0" dirty="0">
                <a:solidFill>
                  <a:srgbClr val="262626"/>
                </a:solidFill>
                <a:latin typeface="Calibri"/>
                <a:ea typeface="Calibri"/>
                <a:cs typeface="Calibri"/>
              </a:rPr>
              <a:t> von </a:t>
            </a:r>
            <a:r>
              <a:rPr sz="1800" b="0" dirty="0" err="1">
                <a:solidFill>
                  <a:srgbClr val="262626"/>
                </a:solidFill>
                <a:latin typeface="Calibri"/>
                <a:ea typeface="Calibri"/>
                <a:cs typeface="Calibri"/>
              </a:rPr>
              <a:t>Messfehlern</a:t>
            </a:r>
            <a:r>
              <a:rPr sz="1800" b="0" dirty="0">
                <a:solidFill>
                  <a:srgbClr val="262626"/>
                </a:solidFill>
                <a:latin typeface="Calibri"/>
                <a:ea typeface="Calibri"/>
                <a:cs typeface="Calibri"/>
              </a:rPr>
              <a:t> auf</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SOC-</a:t>
            </a:r>
            <a:r>
              <a:rPr sz="1800" b="0" dirty="0" err="1">
                <a:solidFill>
                  <a:srgbClr val="262626"/>
                </a:solidFill>
                <a:latin typeface="Calibri"/>
                <a:ea typeface="Calibri"/>
                <a:cs typeface="Calibri"/>
              </a:rPr>
              <a:t>Schätzer</a:t>
            </a:r>
            <a:r>
              <a:rPr sz="1800" b="0" dirty="0">
                <a:solidFill>
                  <a:srgbClr val="262626"/>
                </a:solidFill>
                <a:latin typeface="Calibri"/>
                <a:ea typeface="Calibri"/>
                <a:cs typeface="Calibri"/>
              </a:rPr>
              <a:t> [5], [6]</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Störanfällige</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Messung</a:t>
            </a:r>
            <a:r>
              <a:rPr sz="1800" b="0" dirty="0">
                <a:solidFill>
                  <a:srgbClr val="262626"/>
                </a:solidFill>
                <a:latin typeface="Calibri"/>
                <a:ea typeface="Calibri"/>
                <a:cs typeface="Calibri"/>
              </a:rPr>
              <a:t> und</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Datenübertragung</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im</a:t>
            </a:r>
            <a:r>
              <a:rPr sz="1800" b="0" dirty="0">
                <a:solidFill>
                  <a:srgbClr val="262626"/>
                </a:solidFill>
                <a:latin typeface="Calibri"/>
                <a:ea typeface="Calibri"/>
                <a:cs typeface="Calibri"/>
              </a:rPr>
              <a:t> BMS [7]</a:t>
            </a:r>
          </a:p>
        </p:txBody>
      </p:sp>
      <p:sp>
        <p:nvSpPr>
          <p:cNvPr id="49" name="Vorarbeiten 2">
            <a:extLst>
              <a:ext uri="{FF2B5EF4-FFF2-40B4-BE49-F238E27FC236}">
                <a16:creationId xmlns:a16="http://schemas.microsoft.com/office/drawing/2014/main" id="{B64F0943-5C6B-4268-B49D-63B2F8A69AC3}"/>
              </a:ext>
            </a:extLst>
          </p:cNvPr>
          <p:cNvSpPr>
            <a:spLocks noGrp="1"/>
          </p:cNvSpPr>
          <p:nvPr/>
        </p:nvSpPr>
        <p:spPr>
          <a:xfrm>
            <a:off x="7096125" y="2543175"/>
            <a:ext cx="3000375" cy="11049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Neuronale Schätzer auf</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Mikrocontrollern [8], [9]</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Modellkompression zur</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Ressourceneinsparung [9], [10]</a:t>
            </a:r>
          </a:p>
        </p:txBody>
      </p:sp>
      <p:sp>
        <p:nvSpPr>
          <p:cNvPr id="5" name="Structure separator">
            <a:extLst>
              <a:ext uri="{FF2B5EF4-FFF2-40B4-BE49-F238E27FC236}">
                <a16:creationId xmlns:a16="http://schemas.microsoft.com/office/drawing/2014/main" id="{2CB75A10-56CA-E743-0BFA-BD5BAD628085}"/>
              </a:ext>
            </a:extLst>
          </p:cNvPr>
          <p:cNvSpPr>
            <a:spLocks noGrp="1"/>
          </p:cNvSpPr>
          <p:nvPr/>
        </p:nvSpPr>
        <p:spPr>
          <a:xfrm>
            <a:off x="550832" y="3743325"/>
            <a:ext cx="2916258" cy="9525"/>
          </a:xfrm>
          <a:prstGeom prst="line">
            <a:avLst/>
          </a:prstGeom>
          <a:noFill/>
          <a:ln w="9525">
            <a:solidFill>
              <a:srgbClr val="DDDDDD"/>
            </a:solidFill>
          </a:ln>
        </p:spPr>
        <p:txBody>
          <a:bodyPr/>
          <a:lstStyle/>
          <a:p>
            <a:endParaRPr/>
          </a:p>
        </p:txBody>
      </p:sp>
      <p:sp>
        <p:nvSpPr>
          <p:cNvPr id="7" name="Structure separator">
            <a:extLst>
              <a:ext uri="{FF2B5EF4-FFF2-40B4-BE49-F238E27FC236}">
                <a16:creationId xmlns:a16="http://schemas.microsoft.com/office/drawing/2014/main" id="{D505F70C-1B31-1925-D49A-562C195F2053}"/>
              </a:ext>
            </a:extLst>
          </p:cNvPr>
          <p:cNvSpPr>
            <a:spLocks noGrp="1"/>
          </p:cNvSpPr>
          <p:nvPr/>
        </p:nvSpPr>
        <p:spPr>
          <a:xfrm>
            <a:off x="3819525" y="3748087"/>
            <a:ext cx="2916258" cy="9525"/>
          </a:xfrm>
          <a:prstGeom prst="line">
            <a:avLst/>
          </a:prstGeom>
          <a:noFill/>
          <a:ln w="9525">
            <a:solidFill>
              <a:srgbClr val="DDDDDD"/>
            </a:solidFill>
          </a:ln>
        </p:spPr>
        <p:txBody>
          <a:bodyPr/>
          <a:lstStyle/>
          <a:p>
            <a:endParaRPr/>
          </a:p>
        </p:txBody>
      </p:sp>
      <p:sp>
        <p:nvSpPr>
          <p:cNvPr id="9" name="Structure separator">
            <a:extLst>
              <a:ext uri="{FF2B5EF4-FFF2-40B4-BE49-F238E27FC236}">
                <a16:creationId xmlns:a16="http://schemas.microsoft.com/office/drawing/2014/main" id="{2CBEF450-37A6-3C85-E673-1372A50CA47A}"/>
              </a:ext>
            </a:extLst>
          </p:cNvPr>
          <p:cNvSpPr>
            <a:spLocks noGrp="1"/>
          </p:cNvSpPr>
          <p:nvPr/>
        </p:nvSpPr>
        <p:spPr>
          <a:xfrm>
            <a:off x="7096125" y="3752850"/>
            <a:ext cx="2916258" cy="9525"/>
          </a:xfrm>
          <a:prstGeom prst="line">
            <a:avLst/>
          </a:prstGeom>
          <a:noFill/>
          <a:ln w="9525">
            <a:solidFill>
              <a:srgbClr val="DDDDDD"/>
            </a:solidFill>
          </a:ln>
        </p:spPr>
        <p:txBody>
          <a:bodyPr/>
          <a:lstStyle/>
          <a:p>
            <a:endParaRPr/>
          </a:p>
        </p:txBody>
      </p:sp>
      <p:sp>
        <p:nvSpPr>
          <p:cNvPr id="2" name="Textfeld 1">
            <a:extLst>
              <a:ext uri="{FF2B5EF4-FFF2-40B4-BE49-F238E27FC236}">
                <a16:creationId xmlns:a16="http://schemas.microsoft.com/office/drawing/2014/main" id="{F9CE1F09-98F4-E756-C7FE-4F0CB343293F}"/>
              </a:ext>
            </a:extLst>
          </p:cNvPr>
          <p:cNvSpPr txBox="1"/>
          <p:nvPr/>
        </p:nvSpPr>
        <p:spPr>
          <a:xfrm>
            <a:off x="457782" y="4378889"/>
            <a:ext cx="9591091" cy="1200329"/>
          </a:xfrm>
          <a:prstGeom prst="rect">
            <a:avLst/>
          </a:prstGeom>
          <a:noFill/>
        </p:spPr>
        <p:txBody>
          <a:bodyPr wrap="square" rtlCol="0">
            <a:spAutoFit/>
          </a:bodyPr>
          <a:lstStyle/>
          <a:p>
            <a:pPr marL="285750" indent="-285750">
              <a:buFont typeface="Arial" panose="020B0604020202020204" pitchFamily="34" charset="0"/>
              <a:buChar char="•"/>
            </a:pPr>
            <a:r>
              <a:rPr lang="de-DE" b="1" dirty="0"/>
              <a:t>Hardwarebezug: </a:t>
            </a:r>
            <a:r>
              <a:rPr lang="de-DE" dirty="0"/>
              <a:t>Eignung und Grenzen neuronaler Schätzmodelle für den BMS-Einsatz</a:t>
            </a:r>
          </a:p>
          <a:p>
            <a:pPr marL="285750" indent="-285750">
              <a:buFont typeface="Arial" panose="020B0604020202020204" pitchFamily="34" charset="0"/>
              <a:buChar char="•"/>
            </a:pPr>
            <a:r>
              <a:rPr lang="de-DE" b="1" dirty="0"/>
              <a:t>Übergreifende Bewertung:</a:t>
            </a:r>
            <a:r>
              <a:rPr lang="de-DE" dirty="0"/>
              <a:t> </a:t>
            </a:r>
            <a:r>
              <a:rPr lang="de-DE" dirty="0" err="1"/>
              <a:t>Accuracy</a:t>
            </a:r>
            <a:r>
              <a:rPr lang="de-DE" dirty="0"/>
              <a:t> und Störverhalten – lokal und im Gesamtverlauf</a:t>
            </a:r>
          </a:p>
          <a:p>
            <a:pPr marL="285750" indent="-285750">
              <a:buFont typeface="Arial" panose="020B0604020202020204" pitchFamily="34" charset="0"/>
              <a:buChar char="•"/>
            </a:pPr>
            <a:r>
              <a:rPr lang="de-DE" b="1" dirty="0" err="1"/>
              <a:t>Pruning</a:t>
            </a:r>
            <a:r>
              <a:rPr lang="de-DE" b="1" dirty="0"/>
              <a:t> und </a:t>
            </a:r>
            <a:r>
              <a:rPr lang="de-DE" b="1" dirty="0" err="1"/>
              <a:t>Quantization</a:t>
            </a:r>
            <a:r>
              <a:rPr lang="de-DE" b="1" dirty="0"/>
              <a:t> im Vergleich: </a:t>
            </a:r>
            <a:r>
              <a:rPr lang="de-DE" dirty="0" err="1"/>
              <a:t>Accuracy</a:t>
            </a:r>
            <a:r>
              <a:rPr lang="de-DE" dirty="0"/>
              <a:t>, Speicherbedarf und Laufzeit von SOC- und SOH-Modellen auf einer MCU </a:t>
            </a:r>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Betriebsbedingungen prägen den Alterungsverlauf</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0" name="V5_Text_10">
            <a:extLst>
              <a:ext uri="{FF2B5EF4-FFF2-40B4-BE49-F238E27FC236}">
                <a16:creationId xmlns:a16="http://schemas.microsoft.com/office/drawing/2014/main" id="{6B731D95-6F8F-4540-A014-76C84DF3FCDF}"/>
              </a:ext>
            </a:extLst>
          </p:cNvPr>
          <p:cNvSpPr>
            <a:spLocks noGrp="1"/>
          </p:cNvSpPr>
          <p:nvPr/>
        </p:nvSpPr>
        <p:spPr>
          <a:xfrm>
            <a:off x="552450" y="1381125"/>
            <a:ext cx="9353550" cy="314325"/>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NMC: 14 Zellen · 7 Alterungsszenarien</a:t>
            </a:r>
          </a:p>
        </p:txBody>
      </p:sp>
      <p:sp>
        <p:nvSpPr>
          <p:cNvPr id="14" name="V5_Text_14">
            <a:extLst>
              <a:ext uri="{FF2B5EF4-FFF2-40B4-BE49-F238E27FC236}">
                <a16:creationId xmlns:a16="http://schemas.microsoft.com/office/drawing/2014/main" id="{5898A285-EA2D-4EEB-8F6D-FFBDF728B251}"/>
              </a:ext>
            </a:extLst>
          </p:cNvPr>
          <p:cNvSpPr>
            <a:spLocks noGrp="1"/>
          </p:cNvSpPr>
          <p:nvPr/>
        </p:nvSpPr>
        <p:spPr>
          <a:xfrm>
            <a:off x="7239000" y="1905000"/>
            <a:ext cx="2714625" cy="95250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Referenz</a:t>
            </a:r>
            <a:r>
              <a:rPr sz="1800" b="1" dirty="0">
                <a:latin typeface="Calibri"/>
                <a:ea typeface="Calibri"/>
                <a:cs typeface="Calibri"/>
              </a:rPr>
              <a:t>:</a:t>
            </a:r>
            <a:r>
              <a:rPr sz="1800" b="0" dirty="0">
                <a:latin typeface="Calibri"/>
                <a:ea typeface="Calibri"/>
                <a:cs typeface="Calibri"/>
              </a:rPr>
              <a:t> SOH </a:t>
            </a:r>
            <a:r>
              <a:rPr sz="1800" b="0" dirty="0" err="1">
                <a:latin typeface="Calibri"/>
                <a:ea typeface="Calibri"/>
                <a:cs typeface="Calibri"/>
              </a:rPr>
              <a:t>aus</a:t>
            </a:r>
            <a:r>
              <a:rPr sz="1800" b="0" dirty="0">
                <a:latin typeface="Calibri"/>
                <a:ea typeface="Calibri"/>
                <a:cs typeface="Calibri"/>
              </a:rPr>
              <a:t> </a:t>
            </a:r>
            <a:r>
              <a:rPr sz="1800" b="0" dirty="0" err="1">
                <a:latin typeface="Calibri"/>
                <a:ea typeface="Calibri"/>
                <a:cs typeface="Calibri"/>
              </a:rPr>
              <a:t>wiederholten</a:t>
            </a:r>
            <a:r>
              <a:rPr sz="1800" b="0" dirty="0">
                <a:latin typeface="Calibri"/>
                <a:ea typeface="Calibri"/>
                <a:cs typeface="Calibri"/>
              </a:rPr>
              <a:t> </a:t>
            </a:r>
            <a:r>
              <a:rPr sz="1800" b="0" dirty="0" err="1">
                <a:latin typeface="Calibri"/>
                <a:ea typeface="Calibri"/>
                <a:cs typeface="Calibri"/>
              </a:rPr>
              <a:t>Kapazitätsmessungen</a:t>
            </a:r>
            <a:endParaRPr sz="1800" b="0" dirty="0">
              <a:latin typeface="Calibri"/>
              <a:ea typeface="Calibri"/>
              <a:cs typeface="Calibri"/>
            </a:endParaRPr>
          </a:p>
        </p:txBody>
      </p:sp>
      <p:sp>
        <p:nvSpPr>
          <p:cNvPr id="18" name="V5_Text_18">
            <a:extLst>
              <a:ext uri="{FF2B5EF4-FFF2-40B4-BE49-F238E27FC236}">
                <a16:creationId xmlns:a16="http://schemas.microsoft.com/office/drawing/2014/main" id="{84B05DF7-AB35-47A6-BE0B-BE72F46541A5}"/>
              </a:ext>
            </a:extLst>
          </p:cNvPr>
          <p:cNvSpPr>
            <a:spLocks noGrp="1"/>
          </p:cNvSpPr>
          <p:nvPr/>
        </p:nvSpPr>
        <p:spPr>
          <a:xfrm>
            <a:off x="7239000" y="3067050"/>
            <a:ext cx="2714625" cy="1438275"/>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solidFill>
                  <a:srgbClr val="3F3F3F"/>
                </a:solidFill>
                <a:latin typeface="Calibri"/>
                <a:ea typeface="Calibri"/>
                <a:cs typeface="Calibri"/>
              </a:rPr>
              <a:t>Einflussgrößen</a:t>
            </a:r>
            <a:r>
              <a:rPr sz="1800" b="1" dirty="0">
                <a:solidFill>
                  <a:srgbClr val="3F3F3F"/>
                </a:solidFill>
                <a:latin typeface="Calibri"/>
                <a:ea typeface="Calibri"/>
                <a:cs typeface="Calibri"/>
              </a:rPr>
              <a:t>:</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Temperatur</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mittlerer</a:t>
            </a:r>
            <a:r>
              <a:rPr sz="1800" b="0" dirty="0">
                <a:solidFill>
                  <a:srgbClr val="3F3F3F"/>
                </a:solidFill>
                <a:latin typeface="Calibri"/>
                <a:ea typeface="Calibri"/>
                <a:cs typeface="Calibri"/>
              </a:rPr>
              <a:t> SOC, </a:t>
            </a:r>
            <a:r>
              <a:rPr sz="1800" b="0" dirty="0" err="1">
                <a:solidFill>
                  <a:srgbClr val="3F3F3F"/>
                </a:solidFill>
                <a:latin typeface="Calibri"/>
                <a:ea typeface="Calibri"/>
                <a:cs typeface="Calibri"/>
              </a:rPr>
              <a:t>Entladetiefe</a:t>
            </a:r>
            <a:r>
              <a:rPr sz="1800" b="0" dirty="0">
                <a:solidFill>
                  <a:srgbClr val="3F3F3F"/>
                </a:solidFill>
                <a:latin typeface="Calibri"/>
                <a:ea typeface="Calibri"/>
                <a:cs typeface="Calibri"/>
              </a:rPr>
              <a:t> und </a:t>
            </a:r>
            <a:r>
              <a:rPr sz="1800" b="0" dirty="0" err="1">
                <a:solidFill>
                  <a:srgbClr val="3F3F3F"/>
                </a:solidFill>
                <a:latin typeface="Calibri"/>
                <a:ea typeface="Calibri"/>
                <a:cs typeface="Calibri"/>
              </a:rPr>
              <a:t>Entlade</a:t>
            </a:r>
            <a:r>
              <a:rPr sz="1800" b="0" dirty="0">
                <a:solidFill>
                  <a:srgbClr val="3F3F3F"/>
                </a:solidFill>
                <a:latin typeface="Calibri"/>
                <a:ea typeface="Calibri"/>
                <a:cs typeface="Calibri"/>
              </a:rPr>
              <a:t>-C-Rate</a:t>
            </a:r>
          </a:p>
        </p:txBody>
      </p:sp>
      <p:sp>
        <p:nvSpPr>
          <p:cNvPr id="22" name="Structure separator">
            <a:extLst>
              <a:ext uri="{FF2B5EF4-FFF2-40B4-BE49-F238E27FC236}">
                <a16:creationId xmlns:a16="http://schemas.microsoft.com/office/drawing/2014/main" id="{9F163A22-59F2-4055-9435-CB06C3239B9B}"/>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3" name="Structure label">
            <a:extLst>
              <a:ext uri="{FF2B5EF4-FFF2-40B4-BE49-F238E27FC236}">
                <a16:creationId xmlns:a16="http://schemas.microsoft.com/office/drawing/2014/main" id="{89A76005-6941-472C-BA9A-84B6096E5C4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4" name="Structure 0">
            <a:extLst>
              <a:ext uri="{FF2B5EF4-FFF2-40B4-BE49-F238E27FC236}">
                <a16:creationId xmlns:a16="http://schemas.microsoft.com/office/drawing/2014/main" id="{F93AF8CF-9994-46EE-9B86-E5B36815D5B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5" name="Structure 1">
            <a:extLst>
              <a:ext uri="{FF2B5EF4-FFF2-40B4-BE49-F238E27FC236}">
                <a16:creationId xmlns:a16="http://schemas.microsoft.com/office/drawing/2014/main" id="{4C317DB3-2700-4A74-854B-8336AC629552}"/>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26" name="Structure 2">
            <a:extLst>
              <a:ext uri="{FF2B5EF4-FFF2-40B4-BE49-F238E27FC236}">
                <a16:creationId xmlns:a16="http://schemas.microsoft.com/office/drawing/2014/main" id="{1364A288-23B0-400D-A36A-CA3796C5E36E}"/>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7" name="Structure 3">
            <a:extLst>
              <a:ext uri="{FF2B5EF4-FFF2-40B4-BE49-F238E27FC236}">
                <a16:creationId xmlns:a16="http://schemas.microsoft.com/office/drawing/2014/main" id="{515BE92F-BA5C-4884-9FAD-E6990C98C74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8" name="Structure 4">
            <a:extLst>
              <a:ext uri="{FF2B5EF4-FFF2-40B4-BE49-F238E27FC236}">
                <a16:creationId xmlns:a16="http://schemas.microsoft.com/office/drawing/2014/main" id="{DFA8661F-3E29-4543-B9D9-21AE39135FA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9" name="Structure 5">
            <a:extLst>
              <a:ext uri="{FF2B5EF4-FFF2-40B4-BE49-F238E27FC236}">
                <a16:creationId xmlns:a16="http://schemas.microsoft.com/office/drawing/2014/main" id="{DD926D6D-0B28-4A6C-821B-E60D848F841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8" name="Grafik 47"/>
          <p:cNvPicPr>
            <a:picLocks noChangeAspect="1"/>
          </p:cNvPicPr>
          <p:nvPr/>
        </p:nvPicPr>
        <p:blipFill>
          <a:blip r:embed="rId3"/>
          <a:stretch/>
        </p:blipFill>
        <p:spPr>
          <a:xfrm>
            <a:off x="552450" y="1793286"/>
            <a:ext cx="6381750" cy="3128553"/>
          </a:xfrm>
          <a:prstGeom prst="rect">
            <a:avLst/>
          </a:prstGeom>
        </p:spPr>
      </p:pic>
      <p:sp>
        <p:nvSpPr>
          <p:cNvPr id="31" name="v11-text-4-4">
            <a:extLst>
              <a:ext uri="{FF2B5EF4-FFF2-40B4-BE49-F238E27FC236}">
                <a16:creationId xmlns:a16="http://schemas.microsoft.com/office/drawing/2014/main" id="{62DD65BA-8965-45C3-B3DC-4D93E4FF0611}"/>
              </a:ext>
            </a:extLst>
          </p:cNvPr>
          <p:cNvSpPr>
            <a:spLocks noGrp="1"/>
          </p:cNvSpPr>
          <p:nvPr/>
        </p:nvSpPr>
        <p:spPr>
          <a:xfrm>
            <a:off x="552450" y="5095875"/>
            <a:ext cx="9353550" cy="86677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Verwendung der Datensätze in dieser Arbeit:</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NMC:</a:t>
            </a:r>
            <a:r>
              <a:rPr sz="1800" b="0">
                <a:solidFill>
                  <a:srgbClr val="3F3F3F"/>
                </a:solidFill>
                <a:latin typeface="Calibri"/>
                <a:ea typeface="Calibri"/>
                <a:cs typeface="Calibri"/>
              </a:rPr>
              <a:t> Modellentwicklung zur SOH-Bestimmung</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LFP:</a:t>
            </a:r>
            <a:r>
              <a:rPr sz="1800" b="0">
                <a:solidFill>
                  <a:srgbClr val="3F3F3F"/>
                </a:solidFill>
                <a:latin typeface="Calibri"/>
                <a:ea typeface="Calibri"/>
                <a:cs typeface="Calibri"/>
              </a:rPr>
              <a:t> Robustheitsvergleich und Embedded-AI-Optimierung</a:t>
            </a:r>
          </a:p>
        </p:txBody>
      </p:sp>
      <p:sp>
        <p:nvSpPr>
          <p:cNvPr id="49" name="Footer – Seitennummer">
            <a:extLst>
              <a:ext uri="{FF2B5EF4-FFF2-40B4-BE49-F238E27FC236}">
                <a16:creationId xmlns:a16="http://schemas.microsoft.com/office/drawing/2014/main" id="{2CA35F87-536D-44AB-893A-0C9CBBECBCC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5 / 39</a:t>
            </a:r>
          </a:p>
        </p:txBody>
      </p:sp>
      <p:sp>
        <p:nvSpPr>
          <p:cNvPr id="50" name="Footer – Präsentationsangaben">
            <a:extLst>
              <a:ext uri="{FF2B5EF4-FFF2-40B4-BE49-F238E27FC236}">
                <a16:creationId xmlns:a16="http://schemas.microsoft.com/office/drawing/2014/main" id="{61F04506-BF77-4516-9EE6-58F5CDC9355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1" name="Quellenverweis 10">
            <a:extLst>
              <a:ext uri="{FF2B5EF4-FFF2-40B4-BE49-F238E27FC236}">
                <a16:creationId xmlns:a16="http://schemas.microsoft.com/office/drawing/2014/main" id="{CCDDE306-1DA0-4F13-AB79-BEBB45085BE5}"/>
              </a:ext>
            </a:extLst>
          </p:cNvPr>
          <p:cNvSpPr>
            <a:spLocks noGrp="1"/>
          </p:cNvSpPr>
          <p:nvPr/>
        </p:nvSpPr>
        <p:spPr>
          <a:xfrm>
            <a:off x="4184968" y="1380960"/>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603666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Betriebsbedingungen prägen den Alterungsverlauf</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8" name="V5_Text_18">
            <a:extLst>
              <a:ext uri="{FF2B5EF4-FFF2-40B4-BE49-F238E27FC236}">
                <a16:creationId xmlns:a16="http://schemas.microsoft.com/office/drawing/2014/main" id="{84B05DF7-AB35-47A6-BE0B-BE72F46541A5}"/>
              </a:ext>
            </a:extLst>
          </p:cNvPr>
          <p:cNvSpPr>
            <a:spLocks noGrp="1"/>
          </p:cNvSpPr>
          <p:nvPr/>
        </p:nvSpPr>
        <p:spPr>
          <a:xfrm>
            <a:off x="552450" y="1381125"/>
            <a:ext cx="9353550" cy="314325"/>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LFP: 15 Zellen · systematische Lastvariation</a:t>
            </a:r>
          </a:p>
        </p:txBody>
      </p:sp>
      <p:sp>
        <p:nvSpPr>
          <p:cNvPr id="22" name="Structure separator">
            <a:extLst>
              <a:ext uri="{FF2B5EF4-FFF2-40B4-BE49-F238E27FC236}">
                <a16:creationId xmlns:a16="http://schemas.microsoft.com/office/drawing/2014/main" id="{9F163A22-59F2-4055-9435-CB06C3239B9B}"/>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3" name="Structure label">
            <a:extLst>
              <a:ext uri="{FF2B5EF4-FFF2-40B4-BE49-F238E27FC236}">
                <a16:creationId xmlns:a16="http://schemas.microsoft.com/office/drawing/2014/main" id="{89A76005-6941-472C-BA9A-84B6096E5C4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4" name="Structure 0">
            <a:extLst>
              <a:ext uri="{FF2B5EF4-FFF2-40B4-BE49-F238E27FC236}">
                <a16:creationId xmlns:a16="http://schemas.microsoft.com/office/drawing/2014/main" id="{F93AF8CF-9994-46EE-9B86-E5B36815D5B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5" name="Structure 1">
            <a:extLst>
              <a:ext uri="{FF2B5EF4-FFF2-40B4-BE49-F238E27FC236}">
                <a16:creationId xmlns:a16="http://schemas.microsoft.com/office/drawing/2014/main" id="{4C317DB3-2700-4A74-854B-8336AC629552}"/>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26" name="Structure 2">
            <a:extLst>
              <a:ext uri="{FF2B5EF4-FFF2-40B4-BE49-F238E27FC236}">
                <a16:creationId xmlns:a16="http://schemas.microsoft.com/office/drawing/2014/main" id="{1364A288-23B0-400D-A36A-CA3796C5E36E}"/>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7" name="Structure 3">
            <a:extLst>
              <a:ext uri="{FF2B5EF4-FFF2-40B4-BE49-F238E27FC236}">
                <a16:creationId xmlns:a16="http://schemas.microsoft.com/office/drawing/2014/main" id="{515BE92F-BA5C-4884-9FAD-E6990C98C74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8" name="Structure 4">
            <a:extLst>
              <a:ext uri="{FF2B5EF4-FFF2-40B4-BE49-F238E27FC236}">
                <a16:creationId xmlns:a16="http://schemas.microsoft.com/office/drawing/2014/main" id="{DFA8661F-3E29-4543-B9D9-21AE39135FA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9" name="Structure 5">
            <a:extLst>
              <a:ext uri="{FF2B5EF4-FFF2-40B4-BE49-F238E27FC236}">
                <a16:creationId xmlns:a16="http://schemas.microsoft.com/office/drawing/2014/main" id="{DD926D6D-0B28-4A6C-821B-E60D848F841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8" name="Grafik 47"/>
          <p:cNvPicPr>
            <a:picLocks noChangeAspect="1"/>
          </p:cNvPicPr>
          <p:nvPr/>
        </p:nvPicPr>
        <p:blipFill>
          <a:blip r:embed="rId3"/>
          <a:stretch/>
        </p:blipFill>
        <p:spPr>
          <a:xfrm>
            <a:off x="924122" y="1762125"/>
            <a:ext cx="5638406" cy="3190875"/>
          </a:xfrm>
          <a:prstGeom prst="rect">
            <a:avLst/>
          </a:prstGeom>
        </p:spPr>
      </p:pic>
      <p:sp>
        <p:nvSpPr>
          <p:cNvPr id="31" name="v11-text-5-2">
            <a:extLst>
              <a:ext uri="{FF2B5EF4-FFF2-40B4-BE49-F238E27FC236}">
                <a16:creationId xmlns:a16="http://schemas.microsoft.com/office/drawing/2014/main" id="{24DD6FF9-45A5-4F02-BED9-3C3C6B3FD36A}"/>
              </a:ext>
            </a:extLst>
          </p:cNvPr>
          <p:cNvSpPr>
            <a:spLocks noGrp="1"/>
          </p:cNvSpPr>
          <p:nvPr/>
        </p:nvSpPr>
        <p:spPr>
          <a:xfrm>
            <a:off x="7239000" y="1905000"/>
            <a:ext cx="2714625" cy="9525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Referenz</a:t>
            </a:r>
            <a:r>
              <a:rPr sz="1800" b="1" dirty="0">
                <a:latin typeface="Calibri"/>
                <a:ea typeface="Calibri"/>
                <a:cs typeface="Calibri"/>
              </a:rPr>
              <a:t>:</a:t>
            </a:r>
            <a:r>
              <a:rPr sz="1800" b="0" dirty="0">
                <a:latin typeface="Calibri"/>
                <a:ea typeface="Calibri"/>
                <a:cs typeface="Calibri"/>
              </a:rPr>
              <a:t> SOH </a:t>
            </a:r>
            <a:r>
              <a:rPr sz="1800" b="0" dirty="0" err="1">
                <a:latin typeface="Calibri"/>
                <a:ea typeface="Calibri"/>
                <a:cs typeface="Calibri"/>
              </a:rPr>
              <a:t>aus</a:t>
            </a:r>
            <a:r>
              <a:rPr sz="1800" b="0" dirty="0">
                <a:latin typeface="Calibri"/>
                <a:ea typeface="Calibri"/>
                <a:cs typeface="Calibri"/>
              </a:rPr>
              <a:t> </a:t>
            </a:r>
            <a:r>
              <a:rPr sz="1800" b="0" dirty="0" err="1">
                <a:latin typeface="Calibri"/>
                <a:ea typeface="Calibri"/>
                <a:cs typeface="Calibri"/>
              </a:rPr>
              <a:t>wiederholten</a:t>
            </a:r>
            <a:r>
              <a:rPr sz="1800" b="0" dirty="0">
                <a:latin typeface="Calibri"/>
                <a:ea typeface="Calibri"/>
                <a:cs typeface="Calibri"/>
              </a:rPr>
              <a:t> </a:t>
            </a:r>
            <a:r>
              <a:rPr sz="1800" b="0" dirty="0" err="1">
                <a:latin typeface="Calibri"/>
                <a:ea typeface="Calibri"/>
                <a:cs typeface="Calibri"/>
              </a:rPr>
              <a:t>Kapazitätsmessungen</a:t>
            </a:r>
            <a:endParaRPr sz="1800" b="0" dirty="0">
              <a:latin typeface="Calibri"/>
              <a:ea typeface="Calibri"/>
              <a:cs typeface="Calibri"/>
            </a:endParaRPr>
          </a:p>
        </p:txBody>
      </p:sp>
      <p:sp>
        <p:nvSpPr>
          <p:cNvPr id="32" name="v11-text-5-3">
            <a:extLst>
              <a:ext uri="{FF2B5EF4-FFF2-40B4-BE49-F238E27FC236}">
                <a16:creationId xmlns:a16="http://schemas.microsoft.com/office/drawing/2014/main" id="{C334D3CF-0E05-40BA-B00E-CA49B88AD53D}"/>
              </a:ext>
            </a:extLst>
          </p:cNvPr>
          <p:cNvSpPr>
            <a:spLocks noGrp="1"/>
          </p:cNvSpPr>
          <p:nvPr/>
        </p:nvSpPr>
        <p:spPr>
          <a:xfrm>
            <a:off x="7239000" y="3067050"/>
            <a:ext cx="2714625" cy="1438275"/>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b="1" dirty="0" err="1">
                <a:solidFill>
                  <a:srgbClr val="3F3F3F"/>
                </a:solidFill>
                <a:latin typeface="Calibri"/>
                <a:ea typeface="Calibri"/>
                <a:cs typeface="Calibri"/>
              </a:rPr>
              <a:t>Versuchsbedingungen</a:t>
            </a:r>
            <a:r>
              <a:rPr b="1" dirty="0">
                <a:solidFill>
                  <a:srgbClr val="3F3F3F"/>
                </a:solidFill>
                <a:latin typeface="Calibri"/>
                <a:ea typeface="Calibri"/>
                <a:cs typeface="Calibri"/>
              </a:rPr>
              <a:t>: </a:t>
            </a:r>
            <a:r>
              <a:rPr sz="1800" b="0" dirty="0">
                <a:solidFill>
                  <a:srgbClr val="3F3F3F"/>
                </a:solidFill>
                <a:latin typeface="Calibri"/>
                <a:ea typeface="Calibri"/>
                <a:cs typeface="Calibri"/>
              </a:rPr>
              <a:t>Variation von Lade-C-Rate, </a:t>
            </a:r>
            <a:r>
              <a:rPr sz="1800" b="0" dirty="0" err="1">
                <a:solidFill>
                  <a:srgbClr val="3F3F3F"/>
                </a:solidFill>
                <a:latin typeface="Calibri"/>
                <a:ea typeface="Calibri"/>
                <a:cs typeface="Calibri"/>
              </a:rPr>
              <a:t>Entlade</a:t>
            </a:r>
            <a:r>
              <a:rPr sz="1800" b="0" dirty="0">
                <a:solidFill>
                  <a:srgbClr val="3F3F3F"/>
                </a:solidFill>
                <a:latin typeface="Calibri"/>
                <a:ea typeface="Calibri"/>
                <a:cs typeface="Calibri"/>
              </a:rPr>
              <a:t>-C-Rate und </a:t>
            </a:r>
            <a:r>
              <a:rPr sz="1800" b="0" dirty="0" err="1">
                <a:solidFill>
                  <a:srgbClr val="3F3F3F"/>
                </a:solidFill>
                <a:latin typeface="Calibri"/>
                <a:ea typeface="Calibri"/>
                <a:cs typeface="Calibri"/>
              </a:rPr>
              <a:t>Entladetiefe</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bei</a:t>
            </a:r>
            <a:r>
              <a:rPr sz="1800" b="0" dirty="0">
                <a:solidFill>
                  <a:srgbClr val="3F3F3F"/>
                </a:solidFill>
                <a:latin typeface="Calibri"/>
                <a:ea typeface="Calibri"/>
                <a:cs typeface="Calibri"/>
              </a:rPr>
              <a:t> 25 °C</a:t>
            </a:r>
          </a:p>
        </p:txBody>
      </p:sp>
      <p:sp>
        <p:nvSpPr>
          <p:cNvPr id="33" name="v11-text-5-4">
            <a:extLst>
              <a:ext uri="{FF2B5EF4-FFF2-40B4-BE49-F238E27FC236}">
                <a16:creationId xmlns:a16="http://schemas.microsoft.com/office/drawing/2014/main" id="{ECC0E068-AD3D-4CFA-B57D-77FD2F6294D5}"/>
              </a:ext>
            </a:extLst>
          </p:cNvPr>
          <p:cNvSpPr>
            <a:spLocks noGrp="1"/>
          </p:cNvSpPr>
          <p:nvPr/>
        </p:nvSpPr>
        <p:spPr>
          <a:xfrm>
            <a:off x="552450" y="5095875"/>
            <a:ext cx="9353550" cy="86677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Verwendung der Datensätze in dieser Arbeit:</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NMC:</a:t>
            </a:r>
            <a:r>
              <a:rPr sz="1800" b="0">
                <a:solidFill>
                  <a:srgbClr val="3F3F3F"/>
                </a:solidFill>
                <a:latin typeface="Calibri"/>
                <a:ea typeface="Calibri"/>
                <a:cs typeface="Calibri"/>
              </a:rPr>
              <a:t> Modellentwicklung zur SOH-Bestimmung</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LFP:</a:t>
            </a:r>
            <a:r>
              <a:rPr sz="1800" b="0">
                <a:solidFill>
                  <a:srgbClr val="3F3F3F"/>
                </a:solidFill>
                <a:latin typeface="Calibri"/>
                <a:ea typeface="Calibri"/>
                <a:cs typeface="Calibri"/>
              </a:rPr>
              <a:t> Robustheitsvergleich und Embedded-AI-Optimierung</a:t>
            </a:r>
          </a:p>
        </p:txBody>
      </p:sp>
      <p:sp>
        <p:nvSpPr>
          <p:cNvPr id="49" name="Footer – Seitennummer">
            <a:extLst>
              <a:ext uri="{FF2B5EF4-FFF2-40B4-BE49-F238E27FC236}">
                <a16:creationId xmlns:a16="http://schemas.microsoft.com/office/drawing/2014/main" id="{9118F3A7-6C0E-407F-9108-0B9D4174E58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6 / 39</a:t>
            </a:r>
          </a:p>
        </p:txBody>
      </p:sp>
      <p:sp>
        <p:nvSpPr>
          <p:cNvPr id="50" name="Footer – Präsentationsangaben">
            <a:extLst>
              <a:ext uri="{FF2B5EF4-FFF2-40B4-BE49-F238E27FC236}">
                <a16:creationId xmlns:a16="http://schemas.microsoft.com/office/drawing/2014/main" id="{BFBCDCEA-9766-4E8C-BD05-0607D67C654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1" name="Quellenverweis 18">
            <a:extLst>
              <a:ext uri="{FF2B5EF4-FFF2-40B4-BE49-F238E27FC236}">
                <a16:creationId xmlns:a16="http://schemas.microsoft.com/office/drawing/2014/main" id="{99FF75D1-6614-4D97-BC75-109C6C03D0F0}"/>
              </a:ext>
            </a:extLst>
          </p:cNvPr>
          <p:cNvSpPr>
            <a:spLocks noGrp="1"/>
          </p:cNvSpPr>
          <p:nvPr/>
        </p:nvSpPr>
        <p:spPr>
          <a:xfrm>
            <a:off x="4658170" y="1380960"/>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[13]</a:t>
            </a:r>
          </a:p>
        </p:txBody>
      </p:sp>
    </p:spTree>
    <p:extLst>
      <p:ext uri="{BB962C8B-B14F-4D97-AF65-F5344CB8AC3E}">
        <p14:creationId xmlns:p14="http://schemas.microsoft.com/office/powerpoint/2010/main" val="603666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square" lIns="0" tIns="0" rIns="0" bIns="0" anchor="t">
            <a:noAutofit/>
          </a:bodyPr>
          <a:lstStyle/>
          <a:p>
            <a:pPr marL="0" indent="0" algn="l">
              <a:spcBef>
                <a:spcPts val="0"/>
              </a:spcBef>
              <a:spcAft>
                <a:spcPts val="0"/>
              </a:spcAft>
              <a:buNone/>
              <a:defRPr sz="2400" b="0">
                <a:solidFill>
                  <a:srgbClr val="CC001C"/>
                </a:solidFill>
                <a:latin typeface="Calibri"/>
                <a:ea typeface="Calibri"/>
                <a:cs typeface="Calibri"/>
              </a:defRPr>
            </a:pPr>
            <a:r>
              <a:rPr sz="2400" b="0">
                <a:solidFill>
                  <a:srgbClr val="CC001C"/>
                </a:solidFill>
                <a:latin typeface="Calibri"/>
                <a:ea typeface="Calibri"/>
                <a:cs typeface="Calibri"/>
              </a:rPr>
              <a:t>BMS: Messung, Schutz und Zustandsbestimmung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6" name="V5_Figure_11"/>
          <p:cNvPicPr>
            <a:picLocks noChangeAspect="1"/>
          </p:cNvPicPr>
          <p:nvPr/>
        </p:nvPicPr>
        <p:blipFill>
          <a:blip r:embed="rId3"/>
          <a:stretch/>
        </p:blipFill>
        <p:spPr>
          <a:xfrm>
            <a:off x="552450" y="1581150"/>
            <a:ext cx="4762500" cy="3550227"/>
          </a:xfrm>
          <a:prstGeom prst="rect">
            <a:avLst/>
          </a:prstGeom>
        </p:spPr>
      </p:pic>
      <p:sp>
        <p:nvSpPr>
          <p:cNvPr id="12" name="V5_Text_12">
            <a:extLst>
              <a:ext uri="{FF2B5EF4-FFF2-40B4-BE49-F238E27FC236}">
                <a16:creationId xmlns:a16="http://schemas.microsoft.com/office/drawing/2014/main" id="{4D8F9433-1B66-496D-94D9-7508C3A7BC7D}"/>
              </a:ext>
            </a:extLst>
          </p:cNvPr>
          <p:cNvSpPr>
            <a:spLocks noGrp="1"/>
          </p:cNvSpPr>
          <p:nvPr/>
        </p:nvSpPr>
        <p:spPr>
          <a:xfrm>
            <a:off x="5581650" y="1514475"/>
            <a:ext cx="4381500" cy="1304925"/>
          </a:xfrm>
          <a:prstGeom prst="rect">
            <a:avLst/>
          </a:prstGeom>
          <a:noFill/>
          <a:ln w="0">
            <a:noFill/>
          </a:ln>
        </p:spPr>
        <p:txBody>
          <a:bodyPr vert="horz" wrap="square" lIns="0" tIns="0" rIns="0" bIns="0" anchor="t">
            <a:noAutofit/>
          </a:bodyPr>
          <a:lstStyle/>
          <a:p>
            <a:pPr marL="0" indent="0" algn="l">
              <a:spcBef>
                <a:spcPts val="0"/>
              </a:spcBef>
              <a:spcAft>
                <a:spcPts val="4"/>
              </a:spcAft>
              <a:buNone/>
              <a:defRPr sz="1800" b="0">
                <a:solidFill>
                  <a:srgbClr val="3F3F3F"/>
                </a:solidFill>
                <a:latin typeface="Calibri"/>
                <a:ea typeface="Calibri"/>
                <a:cs typeface="Calibri"/>
              </a:defRPr>
            </a:pPr>
            <a:r>
              <a:rPr lang="de-DE" sz="1800" b="1" dirty="0">
                <a:solidFill>
                  <a:srgbClr val="3F3F3F"/>
                </a:solidFill>
                <a:latin typeface="Calibri"/>
                <a:ea typeface="Calibri"/>
                <a:cs typeface="Calibri"/>
              </a:rPr>
              <a:t>1 · </a:t>
            </a:r>
            <a:r>
              <a:rPr sz="1800" b="1" dirty="0">
                <a:solidFill>
                  <a:srgbClr val="3F3F3F"/>
                </a:solidFill>
                <a:latin typeface="Calibri"/>
                <a:ea typeface="Calibri"/>
                <a:cs typeface="Calibri"/>
              </a:rPr>
              <a:t>BMS-Chip: TLE9012DQU</a:t>
            </a:r>
          </a:p>
          <a:p>
            <a:pPr marL="0" indent="0" algn="l">
              <a:spcBef>
                <a:spcPts val="0"/>
              </a:spcBef>
              <a:spcAft>
                <a:spcPts val="4"/>
              </a:spcAft>
              <a:buNone/>
              <a:defRPr sz="1800" b="0">
                <a:solidFill>
                  <a:srgbClr val="3F3F3F"/>
                </a:solidFill>
                <a:latin typeface="Calibri"/>
                <a:ea typeface="Calibri"/>
                <a:cs typeface="Calibri"/>
              </a:defRPr>
            </a:pPr>
            <a:r>
              <a:rPr sz="1800" b="1" dirty="0" err="1">
                <a:solidFill>
                  <a:srgbClr val="3F3F3F"/>
                </a:solidFill>
                <a:latin typeface="Calibri"/>
                <a:ea typeface="Calibri"/>
                <a:cs typeface="Calibri"/>
              </a:rPr>
              <a:t>Messung</a:t>
            </a:r>
            <a:r>
              <a:rPr sz="1800" b="1" dirty="0">
                <a:solidFill>
                  <a:srgbClr val="3F3F3F"/>
                </a:solidFill>
                <a:latin typeface="Calibri"/>
                <a:ea typeface="Calibri"/>
                <a:cs typeface="Calibri"/>
              </a:rPr>
              <a:t>:</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Zellspannungen</a:t>
            </a:r>
            <a:r>
              <a:rPr sz="1800" b="0" dirty="0">
                <a:solidFill>
                  <a:srgbClr val="3F3F3F"/>
                </a:solidFill>
                <a:latin typeface="Calibri"/>
                <a:ea typeface="Calibri"/>
                <a:cs typeface="Calibri"/>
              </a:rPr>
              <a:t> und </a:t>
            </a:r>
            <a:r>
              <a:rPr sz="1800" b="0" dirty="0" err="1">
                <a:solidFill>
                  <a:srgbClr val="3F3F3F"/>
                </a:solidFill>
                <a:latin typeface="Calibri"/>
                <a:ea typeface="Calibri"/>
                <a:cs typeface="Calibri"/>
              </a:rPr>
              <a:t>Temperaturen</a:t>
            </a:r>
            <a:endParaRPr sz="1800" b="0" dirty="0">
              <a:solidFill>
                <a:srgbClr val="3F3F3F"/>
              </a:solidFill>
              <a:latin typeface="Calibri"/>
              <a:ea typeface="Calibri"/>
              <a:cs typeface="Calibri"/>
            </a:endParaRP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Balancing: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Passiver</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Ladungsausgleich</a:t>
            </a:r>
            <a:endParaRPr sz="1800" b="0" dirty="0">
              <a:solidFill>
                <a:srgbClr val="3F3F3F"/>
              </a:solidFill>
              <a:latin typeface="Calibri"/>
              <a:ea typeface="Calibri"/>
              <a:cs typeface="Calibri"/>
            </a:endParaRPr>
          </a:p>
        </p:txBody>
      </p:sp>
      <p:sp>
        <p:nvSpPr>
          <p:cNvPr id="13" name="V5_Text_13">
            <a:extLst>
              <a:ext uri="{FF2B5EF4-FFF2-40B4-BE49-F238E27FC236}">
                <a16:creationId xmlns:a16="http://schemas.microsoft.com/office/drawing/2014/main" id="{5A4F3F28-529D-4C59-9F54-C2139FA8E81E}"/>
              </a:ext>
            </a:extLst>
          </p:cNvPr>
          <p:cNvSpPr>
            <a:spLocks noGrp="1"/>
          </p:cNvSpPr>
          <p:nvPr/>
        </p:nvSpPr>
        <p:spPr>
          <a:xfrm>
            <a:off x="5581650" y="2971800"/>
            <a:ext cx="4381500" cy="1819275"/>
          </a:xfrm>
          <a:prstGeom prst="rect">
            <a:avLst/>
          </a:prstGeom>
          <a:noFill/>
          <a:ln w="0">
            <a:noFill/>
          </a:ln>
        </p:spPr>
        <p:txBody>
          <a:bodyPr vert="horz" wrap="square" lIns="0" tIns="0" rIns="0" bIns="0" anchor="t">
            <a:noAutofit/>
          </a:bodyPr>
          <a:lstStyle/>
          <a:p>
            <a:pPr marL="0" indent="0" algn="l">
              <a:spcBef>
                <a:spcPts val="0"/>
              </a:spcBef>
              <a:spcAft>
                <a:spcPts val="4"/>
              </a:spcAft>
              <a:buNone/>
              <a:defRPr sz="1800" b="0">
                <a:solidFill>
                  <a:srgbClr val="3F3F3F"/>
                </a:solidFill>
                <a:latin typeface="Calibri"/>
                <a:ea typeface="Calibri"/>
                <a:cs typeface="Calibri"/>
              </a:defRPr>
            </a:pPr>
            <a:r>
              <a:rPr lang="de-DE" sz="1800" b="1" dirty="0">
                <a:solidFill>
                  <a:srgbClr val="3F3F3F"/>
                </a:solidFill>
                <a:latin typeface="Calibri"/>
                <a:ea typeface="Calibri"/>
                <a:cs typeface="Calibri"/>
              </a:rPr>
              <a:t>2 · </a:t>
            </a:r>
            <a:r>
              <a:rPr sz="1800" b="1" dirty="0" err="1">
                <a:solidFill>
                  <a:srgbClr val="3F3F3F"/>
                </a:solidFill>
                <a:latin typeface="Calibri"/>
                <a:ea typeface="Calibri"/>
                <a:cs typeface="Calibri"/>
              </a:rPr>
              <a:t>Mikrocontroller</a:t>
            </a:r>
            <a:r>
              <a:rPr sz="1800" b="1" dirty="0">
                <a:solidFill>
                  <a:srgbClr val="3F3F3F"/>
                </a:solidFill>
                <a:latin typeface="Calibri"/>
                <a:ea typeface="Calibri"/>
                <a:cs typeface="Calibri"/>
              </a:rPr>
              <a:t>: STM32H755</a:t>
            </a:r>
          </a:p>
          <a:p>
            <a:pPr marL="0" indent="0" algn="l">
              <a:spcBef>
                <a:spcPts val="0"/>
              </a:spcBef>
              <a:spcAft>
                <a:spcPts val="4"/>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Cortex-M4:</a:t>
            </a:r>
            <a:r>
              <a:rPr sz="1800" b="0" dirty="0">
                <a:solidFill>
                  <a:srgbClr val="3F3F3F"/>
                </a:solidFill>
                <a:latin typeface="Calibri"/>
                <a:ea typeface="Calibri"/>
                <a:cs typeface="Calibri"/>
              </a:rPr>
              <a:t> Messwerterfassung, </a:t>
            </a:r>
            <a:r>
              <a:rPr sz="1800" b="0" dirty="0" err="1">
                <a:solidFill>
                  <a:srgbClr val="3F3F3F"/>
                </a:solidFill>
                <a:latin typeface="Calibri"/>
                <a:ea typeface="Calibri"/>
                <a:cs typeface="Calibri"/>
              </a:rPr>
              <a:t>Überwachung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Schutzansteuerung</a:t>
            </a:r>
            <a:r>
              <a:rPr sz="1800" b="0" dirty="0">
                <a:solidFill>
                  <a:srgbClr val="3F3F3F"/>
                </a:solidFill>
                <a:latin typeface="Calibri"/>
                <a:ea typeface="Calibri"/>
                <a:cs typeface="Calibri"/>
              </a:rPr>
              <a:t> und Kommunikation</a:t>
            </a: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Cortex-M7:</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Ausführung</a:t>
            </a:r>
            <a:r>
              <a:rPr sz="1800" b="0" dirty="0">
                <a:solidFill>
                  <a:srgbClr val="3F3F3F"/>
                </a:solidFill>
                <a:latin typeface="Calibri"/>
                <a:ea typeface="Calibri"/>
                <a:cs typeface="Calibri"/>
              </a:rPr>
              <a:t> der SOC- und SOH-Modelle</a:t>
            </a:r>
          </a:p>
        </p:txBody>
      </p:sp>
      <p:sp>
        <p:nvSpPr>
          <p:cNvPr id="15" name="V5_Text_15">
            <a:extLst>
              <a:ext uri="{FF2B5EF4-FFF2-40B4-BE49-F238E27FC236}">
                <a16:creationId xmlns:a16="http://schemas.microsoft.com/office/drawing/2014/main" id="{509CA76A-7359-4973-B6B7-ED9E15DA4747}"/>
              </a:ext>
            </a:extLst>
          </p:cNvPr>
          <p:cNvSpPr>
            <a:spLocks noGrp="1"/>
          </p:cNvSpPr>
          <p:nvPr/>
        </p:nvSpPr>
        <p:spPr>
          <a:xfrm>
            <a:off x="552450" y="5372100"/>
            <a:ext cx="9353550" cy="552450"/>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err="1">
                <a:solidFill>
                  <a:srgbClr val="3F3F3F"/>
                </a:solidFill>
                <a:latin typeface="Calibri"/>
                <a:ea typeface="Calibri"/>
                <a:cs typeface="Calibri"/>
              </a:rPr>
              <a:t>Hardwarebenchmark</a:t>
            </a:r>
            <a:r>
              <a:rPr sz="1800" b="1" dirty="0">
                <a:solidFill>
                  <a:srgbClr val="3F3F3F"/>
                </a:solidFill>
                <a:latin typeface="Calibri"/>
                <a:ea typeface="Calibri"/>
                <a:cs typeface="Calibri"/>
              </a:rPr>
              <a:t> auf STM32H753ZI:</a:t>
            </a:r>
          </a:p>
          <a:p>
            <a:pPr marL="0" indent="0" algn="l">
              <a:spcBef>
                <a:spcPts val="0"/>
              </a:spcBef>
              <a:spcAft>
                <a:spcPts val="0"/>
              </a:spcAft>
              <a:buNone/>
              <a:defRPr sz="1800" b="0">
                <a:solidFill>
                  <a:srgbClr val="3F3F3F"/>
                </a:solidFill>
                <a:latin typeface="Calibri"/>
                <a:ea typeface="Calibri"/>
                <a:cs typeface="Calibri"/>
              </a:defRPr>
            </a:pPr>
            <a:r>
              <a:rPr sz="1800" b="0" dirty="0" err="1">
                <a:solidFill>
                  <a:srgbClr val="3F3F3F"/>
                </a:solidFill>
                <a:latin typeface="Calibri"/>
                <a:ea typeface="Calibri"/>
                <a:cs typeface="Calibri"/>
              </a:rPr>
              <a:t>Bewertung</a:t>
            </a:r>
            <a:r>
              <a:rPr sz="1800" b="0" dirty="0">
                <a:solidFill>
                  <a:srgbClr val="3F3F3F"/>
                </a:solidFill>
                <a:latin typeface="Calibri"/>
                <a:ea typeface="Calibri"/>
                <a:cs typeface="Calibri"/>
              </a:rPr>
              <a:t> der </a:t>
            </a:r>
            <a:r>
              <a:rPr sz="1800" b="0" dirty="0" err="1">
                <a:solidFill>
                  <a:srgbClr val="3F3F3F"/>
                </a:solidFill>
                <a:latin typeface="Calibri"/>
                <a:ea typeface="Calibri"/>
                <a:cs typeface="Calibri"/>
              </a:rPr>
              <a:t>Zustandsmodelle</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hinsichtlich</a:t>
            </a:r>
            <a:r>
              <a:rPr sz="1800" b="0" dirty="0">
                <a:solidFill>
                  <a:srgbClr val="3F3F3F"/>
                </a:solidFill>
                <a:latin typeface="Calibri"/>
                <a:ea typeface="Calibri"/>
                <a:cs typeface="Calibri"/>
              </a:rPr>
              <a:t> Flash, RAM und </a:t>
            </a:r>
            <a:r>
              <a:rPr sz="1800" b="0" dirty="0" err="1">
                <a:solidFill>
                  <a:srgbClr val="3F3F3F"/>
                </a:solidFill>
                <a:latin typeface="Calibri"/>
                <a:ea typeface="Calibri"/>
                <a:cs typeface="Calibri"/>
              </a:rPr>
              <a:t>Ausführungszeit</a:t>
            </a:r>
            <a:r>
              <a:rPr lang="de-DE" sz="1800" b="0" dirty="0">
                <a:solidFill>
                  <a:srgbClr val="3F3F3F"/>
                </a:solidFill>
                <a:latin typeface="Calibri"/>
                <a:ea typeface="Calibri"/>
                <a:cs typeface="Calibri"/>
              </a:rPr>
              <a:t> [14]</a:t>
            </a:r>
            <a:endParaRPr sz="1800" b="0" dirty="0">
              <a:solidFill>
                <a:srgbClr val="3F3F3F"/>
              </a:solidFill>
              <a:latin typeface="Calibri"/>
              <a:ea typeface="Calibri"/>
              <a:cs typeface="Calibri"/>
            </a:endParaRPr>
          </a:p>
        </p:txBody>
      </p:sp>
      <p:sp>
        <p:nvSpPr>
          <p:cNvPr id="19" name="Structure separator">
            <a:extLst>
              <a:ext uri="{FF2B5EF4-FFF2-40B4-BE49-F238E27FC236}">
                <a16:creationId xmlns:a16="http://schemas.microsoft.com/office/drawing/2014/main" id="{18EFCDC5-DCE8-41E4-B8ED-49CF7B2832FE}"/>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B9013FDC-A63E-4B77-A6DF-B5331C8AC662}"/>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A0736BF4-121F-4EBF-96F1-1B8FF0AEE2E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9A02545E-3EA7-44AD-88D0-A28E87B51536}"/>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23" name="Structure 2">
            <a:extLst>
              <a:ext uri="{FF2B5EF4-FFF2-40B4-BE49-F238E27FC236}">
                <a16:creationId xmlns:a16="http://schemas.microsoft.com/office/drawing/2014/main" id="{661E6C2C-CABE-46A2-8780-DA7068F9762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1483D0BA-1129-43B7-BEE7-60E49D142C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D0F1BB27-577F-4697-92B5-D31E00E4E1F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4A93D98A-BE32-4AA9-B714-3F0DB8BE1929}"/>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8" name="v13-BMS-chip-outline">
            <a:extLst>
              <a:ext uri="{FF2B5EF4-FFF2-40B4-BE49-F238E27FC236}">
                <a16:creationId xmlns:a16="http://schemas.microsoft.com/office/drawing/2014/main" id="{66457CF3-CF11-4095-951A-AF178676728F}"/>
              </a:ext>
            </a:extLst>
          </p:cNvPr>
          <p:cNvSpPr>
            <a:spLocks noGrp="1"/>
          </p:cNvSpPr>
          <p:nvPr/>
        </p:nvSpPr>
        <p:spPr>
          <a:xfrm>
            <a:off x="2009775" y="2895600"/>
            <a:ext cx="523875" cy="438150"/>
          </a:xfrm>
          <a:prstGeom prst="rect">
            <a:avLst/>
          </a:prstGeom>
          <a:noFill/>
          <a:ln w="23813">
            <a:solidFill>
              <a:srgbClr val="CC001C"/>
            </a:solidFill>
            <a:prstDash val="solid"/>
          </a:ln>
        </p:spPr>
        <p:txBody>
          <a:bodyPr/>
          <a:lstStyle/>
          <a:p>
            <a:endParaRPr lang="de-DE"/>
          </a:p>
        </p:txBody>
      </p:sp>
      <p:sp>
        <p:nvSpPr>
          <p:cNvPr id="29" name="v13-MCU-outline">
            <a:extLst>
              <a:ext uri="{FF2B5EF4-FFF2-40B4-BE49-F238E27FC236}">
                <a16:creationId xmlns:a16="http://schemas.microsoft.com/office/drawing/2014/main" id="{CAC6BD24-346E-4973-8DC7-10D152ADD920}"/>
              </a:ext>
            </a:extLst>
          </p:cNvPr>
          <p:cNvSpPr>
            <a:spLocks noGrp="1"/>
          </p:cNvSpPr>
          <p:nvPr/>
        </p:nvSpPr>
        <p:spPr>
          <a:xfrm>
            <a:off x="2647950" y="4352925"/>
            <a:ext cx="876300" cy="628650"/>
          </a:xfrm>
          <a:prstGeom prst="ellipse">
            <a:avLst/>
          </a:prstGeom>
          <a:noFill/>
          <a:ln w="23813">
            <a:solidFill>
              <a:srgbClr val="CC001C"/>
            </a:solidFill>
            <a:prstDash val="solid"/>
          </a:ln>
        </p:spPr>
        <p:txBody>
          <a:bodyPr/>
          <a:lstStyle/>
          <a:p>
            <a:endParaRPr lang="de-DE"/>
          </a:p>
        </p:txBody>
      </p:sp>
      <p:sp>
        <p:nvSpPr>
          <p:cNvPr id="30" name="v13-BMS-chip-number">
            <a:extLst>
              <a:ext uri="{FF2B5EF4-FFF2-40B4-BE49-F238E27FC236}">
                <a16:creationId xmlns:a16="http://schemas.microsoft.com/office/drawing/2014/main" id="{C9ADCA3C-D0E6-488F-A818-E5C19DF716AE}"/>
              </a:ext>
            </a:extLst>
          </p:cNvPr>
          <p:cNvSpPr>
            <a:spLocks noGrp="1"/>
          </p:cNvSpPr>
          <p:nvPr/>
        </p:nvSpPr>
        <p:spPr>
          <a:xfrm>
            <a:off x="1790700" y="2847975"/>
            <a:ext cx="219075" cy="276225"/>
          </a:xfrm>
          <a:prstGeom prst="rect">
            <a:avLst/>
          </a:prstGeom>
          <a:noFill/>
          <a:ln w="0">
            <a:noFill/>
            <a:prstDash val="solid"/>
          </a:ln>
        </p:spPr>
        <p:txBody>
          <a:bodyPr wrap="square" lIns="0" tIns="0" rIns="0" bIns="0" anchor="t">
            <a:noAutofit/>
          </a:bodyPr>
          <a:lstStyle/>
          <a:p>
            <a:pPr marL="0" indent="0" algn="l">
              <a:spcBef>
                <a:spcPts val="0"/>
              </a:spcBef>
              <a:spcAft>
                <a:spcPts val="0"/>
              </a:spcAft>
              <a:buNone/>
              <a:defRPr sz="1800" b="1">
                <a:solidFill>
                  <a:srgbClr val="CC001C"/>
                </a:solidFill>
                <a:latin typeface="Calibri"/>
                <a:ea typeface="Calibri"/>
                <a:cs typeface="Calibri"/>
              </a:defRPr>
            </a:pPr>
            <a:r>
              <a:rPr sz="1800" b="1" dirty="0">
                <a:solidFill>
                  <a:srgbClr val="CC001C"/>
                </a:solidFill>
                <a:latin typeface="Calibri"/>
                <a:ea typeface="Calibri"/>
                <a:cs typeface="Calibri"/>
              </a:rPr>
              <a:t>1</a:t>
            </a:r>
          </a:p>
        </p:txBody>
      </p:sp>
      <p:sp>
        <p:nvSpPr>
          <p:cNvPr id="31" name="v13-MCU-number">
            <a:extLst>
              <a:ext uri="{FF2B5EF4-FFF2-40B4-BE49-F238E27FC236}">
                <a16:creationId xmlns:a16="http://schemas.microsoft.com/office/drawing/2014/main" id="{C0B51D4E-8D0B-4A9A-8A09-9DE931907698}"/>
              </a:ext>
            </a:extLst>
          </p:cNvPr>
          <p:cNvSpPr>
            <a:spLocks noGrp="1"/>
          </p:cNvSpPr>
          <p:nvPr/>
        </p:nvSpPr>
        <p:spPr>
          <a:xfrm>
            <a:off x="2409825" y="4371975"/>
            <a:ext cx="219075" cy="276225"/>
          </a:xfrm>
          <a:prstGeom prst="rect">
            <a:avLst/>
          </a:prstGeom>
          <a:noFill/>
          <a:ln w="0">
            <a:noFill/>
            <a:prstDash val="solid"/>
          </a:ln>
        </p:spPr>
        <p:txBody>
          <a:bodyPr wrap="square" lIns="0" tIns="0" rIns="0" bIns="0" anchor="t">
            <a:noAutofit/>
          </a:bodyPr>
          <a:lstStyle/>
          <a:p>
            <a:pPr marL="0" indent="0" algn="l">
              <a:spcBef>
                <a:spcPts val="0"/>
              </a:spcBef>
              <a:spcAft>
                <a:spcPts val="0"/>
              </a:spcAft>
              <a:buNone/>
              <a:defRPr sz="1800" b="1">
                <a:solidFill>
                  <a:srgbClr val="CC001C"/>
                </a:solidFill>
                <a:latin typeface="Calibri"/>
                <a:ea typeface="Calibri"/>
                <a:cs typeface="Calibri"/>
              </a:defRPr>
            </a:pPr>
            <a:r>
              <a:rPr sz="1800" b="1">
                <a:solidFill>
                  <a:srgbClr val="CC001C"/>
                </a:solidFill>
                <a:latin typeface="Calibri"/>
                <a:ea typeface="Calibri"/>
                <a:cs typeface="Calibri"/>
              </a:rPr>
              <a:t>2</a:t>
            </a:r>
          </a:p>
        </p:txBody>
      </p:sp>
      <p:sp>
        <p:nvSpPr>
          <p:cNvPr id="37" name="Footer – Seitennummer">
            <a:extLst>
              <a:ext uri="{FF2B5EF4-FFF2-40B4-BE49-F238E27FC236}">
                <a16:creationId xmlns:a16="http://schemas.microsoft.com/office/drawing/2014/main" id="{AC6DCD2A-CF8E-499D-94A2-DF8B008C453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7 / 39</a:t>
            </a:r>
          </a:p>
        </p:txBody>
      </p:sp>
      <p:sp>
        <p:nvSpPr>
          <p:cNvPr id="38" name="Footer – Präsentationsangaben">
            <a:extLst>
              <a:ext uri="{FF2B5EF4-FFF2-40B4-BE49-F238E27FC236}">
                <a16:creationId xmlns:a16="http://schemas.microsoft.com/office/drawing/2014/main" id="{6AFA1D9E-2130-485B-A320-1F99AA24B98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9" name="Quellenverweis 36">
            <a:extLst>
              <a:ext uri="{FF2B5EF4-FFF2-40B4-BE49-F238E27FC236}">
                <a16:creationId xmlns:a16="http://schemas.microsoft.com/office/drawing/2014/main" id="{BE7D5D03-7CBF-431B-89C0-A2F785EA61CE}"/>
              </a:ext>
            </a:extLst>
          </p:cNvPr>
          <p:cNvSpPr>
            <a:spLocks noGrp="1"/>
          </p:cNvSpPr>
          <p:nvPr/>
        </p:nvSpPr>
        <p:spPr>
          <a:xfrm>
            <a:off x="5067002" y="5118418"/>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Tree>
    <p:extLst>
      <p:ext uri="{BB962C8B-B14F-4D97-AF65-F5344CB8AC3E}">
        <p14:creationId xmlns:p14="http://schemas.microsoft.com/office/powerpoint/2010/main" val="4003058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p:bldP spid="28" grpId="0" animBg="1"/>
      <p:bldP spid="29" grpId="0" animBg="1"/>
      <p:bldP spid="30"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square" lIns="0" tIns="0" rIns="0" bIns="0" anchor="t">
            <a:noAutofit/>
          </a:bodyPr>
          <a:lstStyle/>
          <a:p>
            <a:pPr marL="0" indent="0" algn="l">
              <a:spcBef>
                <a:spcPts val="0"/>
              </a:spcBef>
              <a:spcAft>
                <a:spcPts val="0"/>
              </a:spcAft>
              <a:buNone/>
              <a:defRPr sz="2400" b="0">
                <a:solidFill>
                  <a:srgbClr val="CC001C"/>
                </a:solidFill>
                <a:latin typeface="Calibri"/>
                <a:ea typeface="Calibri"/>
                <a:cs typeface="Calibri"/>
              </a:defRPr>
            </a:pPr>
            <a:r>
              <a:rPr sz="2400" b="0">
                <a:solidFill>
                  <a:srgbClr val="CC001C"/>
                </a:solidFill>
                <a:latin typeface="Calibri"/>
                <a:ea typeface="Calibri"/>
                <a:cs typeface="Calibri"/>
              </a:rPr>
              <a:t>Feature Engineering für kompakte SOH-Modelle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8" name="V5_Figure_11"/>
          <p:cNvPicPr>
            <a:picLocks noChangeAspect="1"/>
          </p:cNvPicPr>
          <p:nvPr/>
        </p:nvPicPr>
        <p:blipFill>
          <a:blip r:embed="rId3"/>
          <a:stretch/>
        </p:blipFill>
        <p:spPr>
          <a:xfrm>
            <a:off x="552450" y="1818088"/>
            <a:ext cx="4667250" cy="2936074"/>
          </a:xfrm>
          <a:prstGeom prst="rect">
            <a:avLst/>
          </a:prstGeom>
        </p:spPr>
      </p:pic>
      <p:pic>
        <p:nvPicPr>
          <p:cNvPr id="50" name="V6_TU_Logo"/>
          <p:cNvPicPr>
            <a:picLocks noChangeAspect="1"/>
          </p:cNvPicPr>
          <p:nvPr/>
        </p:nvPicPr>
        <p:blipFill>
          <a:blip r:embed="rId4"/>
          <a:stretch>
            <a:fillRect/>
          </a:stretch>
        </p:blipFill>
        <p:spPr>
          <a:xfrm>
            <a:off x="10614660" y="378460"/>
            <a:ext cx="1003300" cy="767080"/>
          </a:xfrm>
          <a:prstGeom prst="rect">
            <a:avLst/>
          </a:prstGeom>
        </p:spPr>
      </p:pic>
      <p:sp>
        <p:nvSpPr>
          <p:cNvPr id="27" name="Structure separator">
            <a:extLst>
              <a:ext uri="{FF2B5EF4-FFF2-40B4-BE49-F238E27FC236}">
                <a16:creationId xmlns:a16="http://schemas.microsoft.com/office/drawing/2014/main" id="{31A951B4-F982-4BDD-A6F8-992E4D146BB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8" name="Structure label">
            <a:extLst>
              <a:ext uri="{FF2B5EF4-FFF2-40B4-BE49-F238E27FC236}">
                <a16:creationId xmlns:a16="http://schemas.microsoft.com/office/drawing/2014/main" id="{CE33F504-E8A4-4752-BFB1-CA77D6857C6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9" name="Structure 0">
            <a:extLst>
              <a:ext uri="{FF2B5EF4-FFF2-40B4-BE49-F238E27FC236}">
                <a16:creationId xmlns:a16="http://schemas.microsoft.com/office/drawing/2014/main" id="{B28EA5F9-BF6D-4C80-B814-27FAD5449BA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30" name="Structure 1">
            <a:extLst>
              <a:ext uri="{FF2B5EF4-FFF2-40B4-BE49-F238E27FC236}">
                <a16:creationId xmlns:a16="http://schemas.microsoft.com/office/drawing/2014/main" id="{8FACDF47-7807-4141-9228-B519C835A69F}"/>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31" name="Structure 2">
            <a:extLst>
              <a:ext uri="{FF2B5EF4-FFF2-40B4-BE49-F238E27FC236}">
                <a16:creationId xmlns:a16="http://schemas.microsoft.com/office/drawing/2014/main" id="{AA5E4BAD-B98E-4803-82B0-0133567586B3}"/>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32" name="Structure 3">
            <a:extLst>
              <a:ext uri="{FF2B5EF4-FFF2-40B4-BE49-F238E27FC236}">
                <a16:creationId xmlns:a16="http://schemas.microsoft.com/office/drawing/2014/main" id="{1234837B-3900-4AB2-9787-2B9907CC2715}"/>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3" name="Structure 4">
            <a:extLst>
              <a:ext uri="{FF2B5EF4-FFF2-40B4-BE49-F238E27FC236}">
                <a16:creationId xmlns:a16="http://schemas.microsoft.com/office/drawing/2014/main" id="{B1B90BC0-CD8E-4257-BDA5-0A1B62DAD270}"/>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34" name="Structure 5">
            <a:extLst>
              <a:ext uri="{FF2B5EF4-FFF2-40B4-BE49-F238E27FC236}">
                <a16:creationId xmlns:a16="http://schemas.microsoft.com/office/drawing/2014/main" id="{F503748A-44D8-4EED-9392-A8FA98C002B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cxnSp>
        <p:nvCxnSpPr>
          <p:cNvPr id="51" name="v14-whole-domain-deployment_0"/>
          <p:cNvCxnSpPr/>
          <p:nvPr/>
        </p:nvCxnSpPr>
        <p:spPr>
          <a:xfrm flipH="1" flipV="1">
            <a:off x="1998328" y="2721069"/>
            <a:ext cx="675851" cy="67585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2" name="v14-whole-domain-deployment_1"/>
          <p:cNvCxnSpPr/>
          <p:nvPr/>
        </p:nvCxnSpPr>
        <p:spPr>
          <a:xfrm flipV="1">
            <a:off x="1998328" y="1820858"/>
            <a:ext cx="891901" cy="9002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3" name="v14-whole-domain-deployment_2"/>
          <p:cNvCxnSpPr/>
          <p:nvPr/>
        </p:nvCxnSpPr>
        <p:spPr>
          <a:xfrm>
            <a:off x="2890230" y="1820858"/>
            <a:ext cx="891902" cy="9002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4" name="v14-whole-domain-deployment_3"/>
          <p:cNvCxnSpPr/>
          <p:nvPr/>
        </p:nvCxnSpPr>
        <p:spPr>
          <a:xfrm flipH="1">
            <a:off x="3106280" y="2721069"/>
            <a:ext cx="675851" cy="67585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5" name="v14-whole-domain-performance_0"/>
          <p:cNvCxnSpPr/>
          <p:nvPr/>
        </p:nvCxnSpPr>
        <p:spPr>
          <a:xfrm flipV="1">
            <a:off x="3627018" y="2937120"/>
            <a:ext cx="698010" cy="703550"/>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6" name="v14-whole-domain-performance_1"/>
          <p:cNvCxnSpPr/>
          <p:nvPr/>
        </p:nvCxnSpPr>
        <p:spPr>
          <a:xfrm>
            <a:off x="4325028" y="2937120"/>
            <a:ext cx="891901" cy="9002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7" name="v14-whole-domain-performance_2"/>
          <p:cNvCxnSpPr/>
          <p:nvPr/>
        </p:nvCxnSpPr>
        <p:spPr>
          <a:xfrm flipH="1">
            <a:off x="4325028" y="3837331"/>
            <a:ext cx="891901" cy="900212"/>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8" name="v14-whole-domain-performance_3"/>
          <p:cNvCxnSpPr/>
          <p:nvPr/>
        </p:nvCxnSpPr>
        <p:spPr>
          <a:xfrm flipH="1" flipV="1">
            <a:off x="3627018" y="4039532"/>
            <a:ext cx="698010" cy="6980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sp>
        <p:nvSpPr>
          <p:cNvPr id="59" name="Footer – Seitennummer">
            <a:extLst>
              <a:ext uri="{FF2B5EF4-FFF2-40B4-BE49-F238E27FC236}">
                <a16:creationId xmlns:a16="http://schemas.microsoft.com/office/drawing/2014/main" id="{4B11F9FA-62E3-4EFB-94AD-9ADA3BC9662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8 / 39</a:t>
            </a:r>
          </a:p>
        </p:txBody>
      </p:sp>
      <p:sp>
        <p:nvSpPr>
          <p:cNvPr id="60" name="Footer – Präsentationsangaben">
            <a:extLst>
              <a:ext uri="{FF2B5EF4-FFF2-40B4-BE49-F238E27FC236}">
                <a16:creationId xmlns:a16="http://schemas.microsoft.com/office/drawing/2014/main" id="{8CFA8F0D-97C3-447F-9180-B54078CEBA5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64" name="Trennlinie eigene Arbeit">
            <a:extLst>
              <a:ext uri="{FF2B5EF4-FFF2-40B4-BE49-F238E27FC236}">
                <a16:creationId xmlns:a16="http://schemas.microsoft.com/office/drawing/2014/main" id="{0001F418-68DF-4BF0-AD34-2DE192224552}"/>
              </a:ext>
            </a:extLst>
          </p:cNvPr>
          <p:cNvSpPr>
            <a:spLocks noGrp="1"/>
          </p:cNvSpPr>
          <p:nvPr/>
        </p:nvSpPr>
        <p:spPr>
          <a:xfrm>
            <a:off x="552450" y="5048250"/>
            <a:ext cx="9496425" cy="9525"/>
          </a:xfrm>
          <a:prstGeom prst="rect">
            <a:avLst/>
          </a:prstGeom>
          <a:solidFill>
            <a:srgbClr val="D9D9D9"/>
          </a:solidFill>
          <a:ln w="0">
            <a:noFill/>
          </a:ln>
        </p:spPr>
        <p:txBody>
          <a:bodyPr/>
          <a:lstStyle/>
          <a:p>
            <a:endParaRPr lang="de-DE"/>
          </a:p>
        </p:txBody>
      </p:sp>
      <p:sp>
        <p:nvSpPr>
          <p:cNvPr id="61" name="Motivation">
            <a:extLst>
              <a:ext uri="{FF2B5EF4-FFF2-40B4-BE49-F238E27FC236}">
                <a16:creationId xmlns:a16="http://schemas.microsoft.com/office/drawing/2014/main" id="{271F2A7B-EA24-4D52-A090-7C767D2C4A41}"/>
              </a:ext>
            </a:extLst>
          </p:cNvPr>
          <p:cNvSpPr>
            <a:spLocks noGrp="1"/>
          </p:cNvSpPr>
          <p:nvPr/>
        </p:nvSpPr>
        <p:spPr>
          <a:xfrm>
            <a:off x="5705475" y="1476375"/>
            <a:ext cx="4343400" cy="1104900"/>
          </a:xfrm>
          <a:prstGeom prst="rect">
            <a:avLst/>
          </a:prstGeom>
          <a:noFill/>
          <a:ln w="0">
            <a:noFill/>
          </a:ln>
        </p:spPr>
        <p:txBody>
          <a:bodyPr wrap="none" lIns="0" tIns="0" rIns="0" bIns="0" anchor="t">
            <a:noAutofit/>
          </a:bodyPr>
          <a:lstStyle/>
          <a:p>
            <a:r>
              <a:rPr sz="1800" b="1" dirty="0">
                <a:solidFill>
                  <a:srgbClr val="404040"/>
                </a:solidFill>
                <a:latin typeface="Calibri"/>
                <a:ea typeface="Calibri"/>
                <a:cs typeface="Calibri"/>
              </a:rPr>
              <a:t>Motivation:</a:t>
            </a:r>
            <a:r>
              <a:rPr sz="1800" b="0" dirty="0">
                <a:solidFill>
                  <a:srgbClr val="404040"/>
                </a:solidFill>
                <a:latin typeface="Calibri"/>
                <a:ea typeface="Calibri"/>
                <a:cs typeface="Calibri"/>
              </a:rPr>
              <a:t> </a:t>
            </a:r>
            <a:r>
              <a:rPr lang="de-DE" dirty="0"/>
              <a:t>Zeitabhängige SOH-Schätzung mit </a:t>
            </a:r>
          </a:p>
          <a:p>
            <a:r>
              <a:rPr lang="de-DE" dirty="0"/>
              <a:t>geringer Modellkomplexität</a:t>
            </a:r>
          </a:p>
        </p:txBody>
      </p:sp>
      <p:sp>
        <p:nvSpPr>
          <p:cNvPr id="62" name="Methodik">
            <a:extLst>
              <a:ext uri="{FF2B5EF4-FFF2-40B4-BE49-F238E27FC236}">
                <a16:creationId xmlns:a16="http://schemas.microsoft.com/office/drawing/2014/main" id="{F93A18EF-2EB7-4D8F-86A5-CA797E0CA5BB}"/>
              </a:ext>
            </a:extLst>
          </p:cNvPr>
          <p:cNvSpPr>
            <a:spLocks noGrp="1"/>
          </p:cNvSpPr>
          <p:nvPr/>
        </p:nvSpPr>
        <p:spPr>
          <a:xfrm>
            <a:off x="5705475" y="2609850"/>
            <a:ext cx="4343400" cy="1104900"/>
          </a:xfrm>
          <a:prstGeom prst="rect">
            <a:avLst/>
          </a:prstGeom>
          <a:noFill/>
          <a:ln w="0">
            <a:noFill/>
          </a:ln>
        </p:spPr>
        <p:txBody>
          <a:bodyPr wrap="none" lIns="0" tIns="0" rIns="0" bIns="0" anchor="t">
            <a:noAutofit/>
          </a:bodyPr>
          <a:lstStyle/>
          <a:p>
            <a:r>
              <a:rPr sz="1800" b="1" dirty="0" err="1">
                <a:solidFill>
                  <a:srgbClr val="404040"/>
                </a:solidFill>
                <a:latin typeface="Calibri"/>
                <a:ea typeface="Calibri"/>
                <a:cs typeface="Calibri"/>
              </a:rPr>
              <a:t>Methodik</a:t>
            </a:r>
            <a:r>
              <a:rPr sz="1800" b="1" dirty="0">
                <a:solidFill>
                  <a:srgbClr val="404040"/>
                </a:solidFill>
                <a:latin typeface="Calibri"/>
                <a:ea typeface="Calibri"/>
                <a:cs typeface="Calibri"/>
              </a:rPr>
              <a:t>:</a:t>
            </a:r>
            <a:r>
              <a:rPr sz="1800" b="0" dirty="0">
                <a:solidFill>
                  <a:srgbClr val="404040"/>
                </a:solidFill>
                <a:latin typeface="Calibri"/>
                <a:ea typeface="Calibri"/>
                <a:cs typeface="Calibri"/>
              </a:rPr>
              <a:t> </a:t>
            </a:r>
            <a:r>
              <a:rPr lang="de-DE" dirty="0"/>
              <a:t>Feature Engineering und Lag </a:t>
            </a:r>
          </a:p>
          <a:p>
            <a:r>
              <a:rPr lang="de-DE" dirty="0" err="1"/>
              <a:t>Sequences</a:t>
            </a:r>
            <a:r>
              <a:rPr lang="de-DE" dirty="0"/>
              <a:t> zur Bereitstellung der zeitlichen </a:t>
            </a:r>
          </a:p>
          <a:p>
            <a:r>
              <a:rPr lang="de-DE" dirty="0" err="1"/>
              <a:t>History</a:t>
            </a:r>
            <a:r>
              <a:rPr lang="de-DE" dirty="0"/>
              <a:t> als MLP-Input</a:t>
            </a:r>
          </a:p>
        </p:txBody>
      </p:sp>
      <p:sp>
        <p:nvSpPr>
          <p:cNvPr id="63" name="Ziel">
            <a:extLst>
              <a:ext uri="{FF2B5EF4-FFF2-40B4-BE49-F238E27FC236}">
                <a16:creationId xmlns:a16="http://schemas.microsoft.com/office/drawing/2014/main" id="{1F63F812-F462-4089-B410-75D37119CB4D}"/>
              </a:ext>
            </a:extLst>
          </p:cNvPr>
          <p:cNvSpPr>
            <a:spLocks noGrp="1"/>
          </p:cNvSpPr>
          <p:nvPr/>
        </p:nvSpPr>
        <p:spPr>
          <a:xfrm>
            <a:off x="5705475" y="39147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a:solidFill>
                  <a:srgbClr val="404040"/>
                </a:solidFill>
                <a:latin typeface="Calibri"/>
                <a:ea typeface="Calibri"/>
                <a:cs typeface="Calibri"/>
              </a:rPr>
              <a:t>Ziel:</a:t>
            </a:r>
            <a:r>
              <a:rPr sz="1800" b="0" dirty="0">
                <a:solidFill>
                  <a:srgbClr val="404040"/>
                </a:solidFill>
                <a:latin typeface="Calibri"/>
                <a:ea typeface="Calibri"/>
                <a:cs typeface="Calibri"/>
              </a:rPr>
              <a:t> </a:t>
            </a:r>
            <a:r>
              <a:rPr lang="de-DE" sz="1800" b="0" dirty="0">
                <a:solidFill>
                  <a:srgbClr val="404040"/>
                </a:solidFill>
                <a:latin typeface="Calibri"/>
                <a:ea typeface="Calibri"/>
                <a:cs typeface="Calibri"/>
              </a:rPr>
              <a:t>Bewertung des Einflusses von Input</a:t>
            </a:r>
          </a:p>
          <a:p>
            <a:pPr>
              <a:defRPr sz="1800" b="0">
                <a:solidFill>
                  <a:srgbClr val="404040"/>
                </a:solidFill>
                <a:latin typeface="Calibri"/>
                <a:ea typeface="Calibri"/>
                <a:cs typeface="Calibri"/>
              </a:defRPr>
            </a:pPr>
            <a:r>
              <a:rPr lang="de-DE" dirty="0">
                <a:solidFill>
                  <a:srgbClr val="404040"/>
                </a:solidFill>
                <a:latin typeface="Calibri"/>
                <a:ea typeface="Calibri"/>
                <a:cs typeface="Calibri"/>
              </a:rPr>
              <a:t>Features, Zeitauflösung und </a:t>
            </a:r>
            <a:r>
              <a:rPr lang="de-DE" dirty="0" err="1">
                <a:solidFill>
                  <a:srgbClr val="404040"/>
                </a:solidFill>
                <a:latin typeface="Calibri"/>
                <a:ea typeface="Calibri"/>
                <a:cs typeface="Calibri"/>
              </a:rPr>
              <a:t>History</a:t>
            </a:r>
            <a:r>
              <a:rPr lang="de-DE" dirty="0">
                <a:solidFill>
                  <a:srgbClr val="404040"/>
                </a:solidFill>
                <a:latin typeface="Calibri"/>
                <a:ea typeface="Calibri"/>
                <a:cs typeface="Calibri"/>
              </a:rPr>
              <a:t>-Länge auf </a:t>
            </a:r>
          </a:p>
          <a:p>
            <a:pPr>
              <a:defRPr sz="1800" b="0">
                <a:solidFill>
                  <a:srgbClr val="404040"/>
                </a:solidFill>
                <a:latin typeface="Calibri"/>
                <a:ea typeface="Calibri"/>
                <a:cs typeface="Calibri"/>
              </a:defRPr>
            </a:pPr>
            <a:r>
              <a:rPr lang="de-DE" dirty="0">
                <a:solidFill>
                  <a:srgbClr val="404040"/>
                </a:solidFill>
                <a:latin typeface="Calibri"/>
                <a:ea typeface="Calibri"/>
                <a:cs typeface="Calibri"/>
              </a:rPr>
              <a:t>d</a:t>
            </a:r>
            <a:r>
              <a:rPr lang="de-DE" sz="1800" b="0" dirty="0">
                <a:solidFill>
                  <a:srgbClr val="404040"/>
                </a:solidFill>
                <a:latin typeface="Calibri"/>
                <a:ea typeface="Calibri"/>
                <a:cs typeface="Calibri"/>
              </a:rPr>
              <a:t>ie Schätzgenauigkeit</a:t>
            </a:r>
            <a:endParaRPr sz="1800" b="0" dirty="0">
              <a:solidFill>
                <a:srgbClr val="404040"/>
              </a:solidFill>
              <a:latin typeface="Calibri"/>
              <a:ea typeface="Calibri"/>
              <a:cs typeface="Calibri"/>
            </a:endParaRPr>
          </a:p>
        </p:txBody>
      </p:sp>
      <p:sp>
        <p:nvSpPr>
          <p:cNvPr id="66" name="Paper-Titel">
            <a:extLst>
              <a:ext uri="{FF2B5EF4-FFF2-40B4-BE49-F238E27FC236}">
                <a16:creationId xmlns:a16="http://schemas.microsoft.com/office/drawing/2014/main" id="{6E116CBC-E396-4F40-9310-BF6C691AC4DA}"/>
              </a:ext>
            </a:extLst>
          </p:cNvPr>
          <p:cNvSpPr>
            <a:spLocks noGrp="1"/>
          </p:cNvSpPr>
          <p:nvPr/>
        </p:nvSpPr>
        <p:spPr>
          <a:xfrm>
            <a:off x="552450" y="519112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Neural Network Architecture for Determining the Aging of Stationary Storage Systems in Smart Grids</a:t>
            </a:r>
          </a:p>
        </p:txBody>
      </p:sp>
      <p:sp>
        <p:nvSpPr>
          <p:cNvPr id="65" name="Paper-Angabe">
            <a:extLst>
              <a:ext uri="{FF2B5EF4-FFF2-40B4-BE49-F238E27FC236}">
                <a16:creationId xmlns:a16="http://schemas.microsoft.com/office/drawing/2014/main" id="{7284BBF8-48E4-4074-8D62-15DE30CA0F98}"/>
              </a:ext>
            </a:extLst>
          </p:cNvPr>
          <p:cNvSpPr>
            <a:spLocks noGrp="1"/>
          </p:cNvSpPr>
          <p:nvPr/>
        </p:nvSpPr>
        <p:spPr>
          <a:xfrm>
            <a:off x="552450" y="543877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Rzepka et al. (2023), Energies [12]</a:t>
            </a:r>
          </a:p>
        </p:txBody>
      </p:sp>
    </p:spTree>
    <p:extLst>
      <p:ext uri="{BB962C8B-B14F-4D97-AF65-F5344CB8AC3E}">
        <p14:creationId xmlns:p14="http://schemas.microsoft.com/office/powerpoint/2010/main" val="3571138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Feature Engineering mit Lag Sequences</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mc:AlternateContent xmlns:mc="http://schemas.openxmlformats.org/markup-compatibility/2006" xmlns:a14="http://schemas.microsoft.com/office/drawing/2010/main">
        <mc:Choice Requires="a14">
          <p:sp>
            <p:nvSpPr>
              <p:cNvPr id="12" name="V5_Text_12">
                <a:extLst>
                  <a:ext uri="{FF2B5EF4-FFF2-40B4-BE49-F238E27FC236}">
                    <a16:creationId xmlns:a16="http://schemas.microsoft.com/office/drawing/2014/main" id="{503C1133-6DF6-4F42-9C4D-8814116395D8}"/>
                  </a:ext>
                </a:extLst>
              </p:cNvPr>
              <p:cNvSpPr>
                <a:spLocks noGrp="1"/>
              </p:cNvSpPr>
              <p:nvPr/>
            </p:nvSpPr>
            <p:spPr>
              <a:xfrm>
                <a:off x="3171825" y="4257675"/>
                <a:ext cx="4114800" cy="381000"/>
              </a:xfrm>
              <a:prstGeom prst="rect">
                <a:avLst/>
              </a:prstGeom>
              <a:noFill/>
              <a:ln w="0">
                <a:noFill/>
              </a:ln>
            </p:spPr>
            <p:txBody>
              <a:bodyPr vert="horz"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𝑘</m:t>
                          </m:r>
                        </m:sub>
                      </m:sSub>
                      <m:r>
                        <a:rPr sz="1875">
                          <a:latin typeface="Cambria Math"/>
                          <a:ea typeface="Cambria Math"/>
                          <a:cs typeface="Cambria Math"/>
                        </a:rPr>
                        <m:t>=</m:t>
                      </m:r>
                      <m:r>
                        <a:rPr sz="1875">
                          <a:latin typeface="Cambria Math"/>
                          <a:ea typeface="Cambria Math"/>
                          <a:cs typeface="Cambria Math"/>
                        </a:rPr>
                        <m:t>𝑣𝑒𝑐</m:t>
                      </m:r>
                      <m:r>
                        <a:rPr sz="1875">
                          <a:latin typeface="Cambria Math"/>
                          <a:ea typeface="Cambria Math"/>
                          <a:cs typeface="Cambria Math"/>
                        </a:rPr>
                        <m:t>([</m:t>
                      </m:r>
                      <m:r>
                        <a:rPr sz="1875">
                          <a:latin typeface="Cambria Math"/>
                          <a:ea typeface="Cambria Math"/>
                          <a:cs typeface="Cambria Math"/>
                        </a:rPr>
                        <m:t>𝑈</m:t>
                      </m:r>
                      <m:r>
                        <a:rPr sz="1875">
                          <a:latin typeface="Cambria Math"/>
                          <a:ea typeface="Cambria Math"/>
                          <a:cs typeface="Cambria Math"/>
                        </a:rPr>
                        <m:t>,</m:t>
                      </m:r>
                      <m:r>
                        <a:rPr sz="1875">
                          <a:latin typeface="Cambria Math"/>
                          <a:ea typeface="Cambria Math"/>
                          <a:cs typeface="Cambria Math"/>
                        </a:rPr>
                        <m:t>𝑇</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𝐼</m:t>
                          </m:r>
                        </m:e>
                        <m:sub>
                          <m:r>
                            <a:rPr sz="1313">
                              <a:latin typeface="Cambria Math"/>
                              <a:ea typeface="Cambria Math"/>
                              <a:cs typeface="Cambria Math"/>
                            </a:rPr>
                            <m:t>𝑐𝑢𝑚</m:t>
                          </m:r>
                        </m:sub>
                      </m:sSub>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𝑘</m:t>
                          </m:r>
                          <m:r>
                            <a:rPr sz="1313">
                              <a:latin typeface="Cambria Math"/>
                              <a:ea typeface="Cambria Math"/>
                              <a:cs typeface="Cambria Math"/>
                            </a:rPr>
                            <m:t>−</m:t>
                          </m:r>
                          <m:r>
                            <a:rPr sz="1313">
                              <a:latin typeface="Cambria Math"/>
                              <a:ea typeface="Cambria Math"/>
                              <a:cs typeface="Cambria Math"/>
                            </a:rPr>
                            <m:t>𝐿</m:t>
                          </m:r>
                          <m:r>
                            <a:rPr sz="1313">
                              <a:latin typeface="Cambria Math"/>
                              <a:ea typeface="Cambria Math"/>
                              <a:cs typeface="Cambria Math"/>
                            </a:rPr>
                            <m:t>+1:</m:t>
                          </m:r>
                          <m:r>
                            <a:rPr sz="1313">
                              <a:latin typeface="Cambria Math"/>
                              <a:ea typeface="Cambria Math"/>
                              <a:cs typeface="Cambria Math"/>
                            </a:rPr>
                            <m:t>𝑘</m:t>
                          </m:r>
                        </m:sub>
                      </m:sSub>
                      <m:r>
                        <a:rPr sz="1875">
                          <a:latin typeface="Cambria Math"/>
                          <a:ea typeface="Cambria Math"/>
                          <a:cs typeface="Cambria Math"/>
                        </a:rPr>
                        <m:t>),</m:t>
                      </m:r>
                      <m:sSub>
                        <m:sSubPr>
                          <m:ctrlPr>
                            <a:rPr sz="1875" i="1">
                              <a:latin typeface="Cambria Math"/>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𝑘</m:t>
                          </m:r>
                        </m:sub>
                      </m:sSub>
                      <m:r>
                        <a:rPr sz="1875">
                          <a:latin typeface="Cambria Math"/>
                          <a:ea typeface="Cambria Math"/>
                          <a:cs typeface="Cambria Math"/>
                        </a:rPr>
                        <m:t>=</m:t>
                      </m:r>
                      <m:sSub>
                        <m:sSubPr>
                          <m:ctrlPr>
                            <a:rPr sz="1875" i="1">
                              <a:latin typeface="Cambria Math"/>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𝑆𝑂𝐻</m:t>
                              </m:r>
                            </m:e>
                          </m:acc>
                        </m:e>
                        <m:sub>
                          <m:r>
                            <a:rPr sz="1313">
                              <a:latin typeface="Cambria Math"/>
                              <a:ea typeface="Cambria Math"/>
                              <a:cs typeface="Cambria Math"/>
                            </a:rPr>
                            <m:t>𝑘</m:t>
                          </m:r>
                        </m:sub>
                      </m:sSub>
                    </m:oMath>
                  </m:oMathPara>
                </a14:m>
                <a:endParaRPr dirty="0"/>
              </a:p>
            </p:txBody>
          </p:sp>
        </mc:Choice>
        <mc:Fallback xmlns="">
          <p:sp>
            <p:nvSpPr>
              <p:cNvPr id="12" name="V5_Text_12">
                <a:extLst>
                  <a:ext uri="{FF2B5EF4-FFF2-40B4-BE49-F238E27FC236}">
                    <a16:creationId xmlns:a16="http://schemas.microsoft.com/office/drawing/2014/main" id="{503C1133-6DF6-4F42-9C4D-8814116395D8}"/>
                  </a:ext>
                </a:extLst>
              </p:cNvPr>
              <p:cNvSpPr>
                <a:spLocks noGrp="1" noRot="1" noChangeAspect="1" noMove="1" noResize="1" noEditPoints="1" noAdjustHandles="1" noChangeArrowheads="1" noChangeShapeType="1" noTextEdit="1"/>
              </p:cNvSpPr>
              <p:nvPr/>
            </p:nvSpPr>
            <p:spPr>
              <a:xfrm>
                <a:off x="3171825" y="4257675"/>
                <a:ext cx="4114800" cy="381000"/>
              </a:xfrm>
              <a:prstGeom prst="rect">
                <a:avLst/>
              </a:prstGeom>
              <a:blipFill>
                <a:blip r:embed="rId3"/>
                <a:stretch>
                  <a:fillRect t="-39683" b="-17460"/>
                </a:stretch>
              </a:blipFill>
              <a:ln w="0">
                <a:noFill/>
              </a:ln>
            </p:spPr>
            <p:txBody>
              <a:bodyPr/>
              <a:lstStyle/>
              <a:p>
                <a:r>
                  <a:rPr lang="de-DE">
                    <a:noFill/>
                  </a:rPr>
                  <a:t> </a:t>
                </a:r>
              </a:p>
            </p:txBody>
          </p:sp>
        </mc:Fallback>
      </mc:AlternateContent>
      <p:pic>
        <p:nvPicPr>
          <p:cNvPr id="32" name="V5_Figure_11"/>
          <p:cNvPicPr>
            <a:picLocks noChangeAspect="1"/>
          </p:cNvPicPr>
          <p:nvPr/>
        </p:nvPicPr>
        <p:blipFill>
          <a:blip r:embed="rId4"/>
          <a:stretch/>
        </p:blipFill>
        <p:spPr>
          <a:xfrm>
            <a:off x="2225668" y="1390650"/>
            <a:ext cx="6007114" cy="2695575"/>
          </a:xfrm>
          <a:prstGeom prst="rect">
            <a:avLst/>
          </a:prstGeom>
        </p:spPr>
      </p:pic>
      <p:sp>
        <p:nvSpPr>
          <p:cNvPr id="15" name="Structure separator">
            <a:extLst>
              <a:ext uri="{FF2B5EF4-FFF2-40B4-BE49-F238E27FC236}">
                <a16:creationId xmlns:a16="http://schemas.microsoft.com/office/drawing/2014/main" id="{A9EC5E60-715D-47CC-B38E-A9062D2630A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119F293E-636C-4735-907B-958280623124}"/>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A624932D-7ED5-4919-AF1A-FA5DB23397E4}"/>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2A7DF266-1E1E-4F85-934F-3B29BA87CCFB}"/>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B493A1FC-B2A9-4004-BFDC-1AA93F008BB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0" name="Structure 3">
            <a:extLst>
              <a:ext uri="{FF2B5EF4-FFF2-40B4-BE49-F238E27FC236}">
                <a16:creationId xmlns:a16="http://schemas.microsoft.com/office/drawing/2014/main" id="{3C8640B0-20CC-4ED8-B6F1-D54F714B31E4}"/>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953462D0-AD5E-4A7F-91FD-077552600FC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357BFBC5-382E-4DC6-9881-0F00F931867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9-2">
            <a:extLst>
              <a:ext uri="{FF2B5EF4-FFF2-40B4-BE49-F238E27FC236}">
                <a16:creationId xmlns:a16="http://schemas.microsoft.com/office/drawing/2014/main" id="{579FA8C1-BDE0-4670-9FDB-A23995A6A145}"/>
              </a:ext>
            </a:extLst>
          </p:cNvPr>
          <p:cNvSpPr>
            <a:spLocks noGrp="1"/>
          </p:cNvSpPr>
          <p:nvPr/>
        </p:nvSpPr>
        <p:spPr>
          <a:xfrm>
            <a:off x="552450" y="4762500"/>
            <a:ext cx="9353550" cy="5715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Eingangsvektor</a:t>
            </a:r>
            <a:r>
              <a:rPr sz="1800" b="1" dirty="0">
                <a:latin typeface="Calibri"/>
                <a:ea typeface="Calibri"/>
                <a:cs typeface="Calibri"/>
              </a:rPr>
              <a:t> xₖ:</a:t>
            </a:r>
            <a:r>
              <a:rPr sz="1800" b="0" dirty="0">
                <a:latin typeface="Calibri"/>
                <a:ea typeface="Calibri"/>
                <a:cs typeface="Calibri"/>
              </a:rPr>
              <a:t> L </a:t>
            </a:r>
            <a:r>
              <a:rPr sz="1800" b="0" dirty="0" err="1">
                <a:latin typeface="Calibri"/>
                <a:ea typeface="Calibri"/>
                <a:cs typeface="Calibri"/>
              </a:rPr>
              <a:t>Messschritte</a:t>
            </a:r>
            <a:r>
              <a:rPr sz="1800" b="0" dirty="0">
                <a:latin typeface="Calibri"/>
                <a:ea typeface="Calibri"/>
                <a:cs typeface="Calibri"/>
              </a:rPr>
              <a:t> </a:t>
            </a:r>
            <a:r>
              <a:rPr sz="1800" b="0" dirty="0" err="1">
                <a:latin typeface="Calibri"/>
                <a:ea typeface="Calibri"/>
                <a:cs typeface="Calibri"/>
              </a:rPr>
              <a:t>mit</a:t>
            </a:r>
            <a:r>
              <a:rPr sz="1800" b="0" dirty="0">
                <a:latin typeface="Calibri"/>
                <a:ea typeface="Calibri"/>
                <a:cs typeface="Calibri"/>
              </a:rPr>
              <a:t> U, T und </a:t>
            </a:r>
            <a:r>
              <a:rPr sz="1800" b="0" dirty="0" err="1">
                <a:latin typeface="Calibri"/>
                <a:ea typeface="Calibri"/>
                <a:cs typeface="Calibri"/>
              </a:rPr>
              <a:t>kumulativem</a:t>
            </a:r>
            <a:r>
              <a:rPr sz="1800" b="0" dirty="0">
                <a:latin typeface="Calibri"/>
                <a:ea typeface="Calibri"/>
                <a:cs typeface="Calibri"/>
              </a:rPr>
              <a:t> Strom (Q </a:t>
            </a:r>
            <a:r>
              <a:rPr sz="1800" b="0" dirty="0" err="1">
                <a:latin typeface="Calibri"/>
                <a:ea typeface="Calibri"/>
                <a:cs typeface="Calibri"/>
              </a:rPr>
              <a:t>im</a:t>
            </a:r>
            <a:r>
              <a:rPr sz="1800" b="0" dirty="0">
                <a:latin typeface="Calibri"/>
                <a:ea typeface="Calibri"/>
                <a:cs typeface="Calibri"/>
              </a:rPr>
              <a:t> Bild), SOH-Ziel am </a:t>
            </a:r>
            <a:r>
              <a:rPr sz="1800" b="0" dirty="0" err="1">
                <a:latin typeface="Calibri"/>
                <a:ea typeface="Calibri"/>
                <a:cs typeface="Calibri"/>
              </a:rPr>
              <a:t>Fensterende</a:t>
            </a:r>
            <a:endParaRPr sz="1800" b="0" dirty="0">
              <a:latin typeface="Calibri"/>
              <a:ea typeface="Calibri"/>
              <a:cs typeface="Calibri"/>
            </a:endParaRPr>
          </a:p>
        </p:txBody>
      </p:sp>
      <p:sp>
        <p:nvSpPr>
          <p:cNvPr id="25" name="v11-text-9-3">
            <a:extLst>
              <a:ext uri="{FF2B5EF4-FFF2-40B4-BE49-F238E27FC236}">
                <a16:creationId xmlns:a16="http://schemas.microsoft.com/office/drawing/2014/main" id="{FB8DFB53-46DC-4CD4-B333-6BFF18B5481A}"/>
              </a:ext>
            </a:extLst>
          </p:cNvPr>
          <p:cNvSpPr>
            <a:spLocks noGrp="1"/>
          </p:cNvSpPr>
          <p:nvPr/>
        </p:nvSpPr>
        <p:spPr>
          <a:xfrm>
            <a:off x="552450" y="5476875"/>
            <a:ext cx="9353550" cy="561975"/>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Zeitabdeckung</a:t>
            </a:r>
            <a:r>
              <a:rPr sz="1800" b="1" dirty="0">
                <a:latin typeface="Calibri"/>
                <a:ea typeface="Calibri"/>
                <a:cs typeface="Calibri"/>
              </a:rPr>
              <a:t> L · </a:t>
            </a:r>
            <a:r>
              <a:rPr sz="1800" b="1" dirty="0" err="1">
                <a:latin typeface="Calibri"/>
                <a:ea typeface="Calibri"/>
                <a:cs typeface="Calibri"/>
              </a:rPr>
              <a:t>Δt</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Gemeinsame</a:t>
            </a:r>
            <a:r>
              <a:rPr sz="1800" b="0" dirty="0">
                <a:latin typeface="Calibri"/>
                <a:ea typeface="Calibri"/>
                <a:cs typeface="Calibri"/>
              </a:rPr>
              <a:t> </a:t>
            </a:r>
            <a:r>
              <a:rPr sz="1800" b="0" dirty="0" err="1">
                <a:latin typeface="Calibri"/>
                <a:ea typeface="Calibri"/>
                <a:cs typeface="Calibri"/>
              </a:rPr>
              <a:t>Erfassung</a:t>
            </a:r>
            <a:r>
              <a:rPr sz="1800" b="0" dirty="0">
                <a:latin typeface="Calibri"/>
                <a:ea typeface="Calibri"/>
                <a:cs typeface="Calibri"/>
              </a:rPr>
              <a:t> von </a:t>
            </a:r>
            <a:r>
              <a:rPr sz="1800" b="0" dirty="0" err="1">
                <a:latin typeface="Calibri"/>
                <a:ea typeface="Calibri"/>
                <a:cs typeface="Calibri"/>
              </a:rPr>
              <a:t>Belastungshistorie</a:t>
            </a:r>
            <a:r>
              <a:rPr sz="1800" b="0" dirty="0">
                <a:latin typeface="Calibri"/>
                <a:ea typeface="Calibri"/>
                <a:cs typeface="Calibri"/>
              </a:rPr>
              <a:t> </a:t>
            </a:r>
            <a:r>
              <a:rPr sz="1800" b="0" dirty="0" err="1">
                <a:latin typeface="Calibri"/>
                <a:ea typeface="Calibri"/>
                <a:cs typeface="Calibri"/>
              </a:rPr>
              <a:t>sowie</a:t>
            </a:r>
            <a:r>
              <a:rPr sz="1800" b="0" dirty="0">
                <a:latin typeface="Calibri"/>
                <a:ea typeface="Calibri"/>
                <a:cs typeface="Calibri"/>
              </a:rPr>
              <a:t> Lade- und </a:t>
            </a:r>
            <a:r>
              <a:rPr sz="1800" b="0" dirty="0" err="1">
                <a:latin typeface="Calibri"/>
                <a:ea typeface="Calibri"/>
                <a:cs typeface="Calibri"/>
              </a:rPr>
              <a:t>Entladephasen</a:t>
            </a:r>
            <a:endParaRPr sz="1800" b="0" dirty="0">
              <a:latin typeface="Calibri"/>
              <a:ea typeface="Calibri"/>
              <a:cs typeface="Calibri"/>
            </a:endParaRPr>
          </a:p>
        </p:txBody>
      </p:sp>
      <p:sp>
        <p:nvSpPr>
          <p:cNvPr id="33" name="Footer – Seitennummer">
            <a:extLst>
              <a:ext uri="{FF2B5EF4-FFF2-40B4-BE49-F238E27FC236}">
                <a16:creationId xmlns:a16="http://schemas.microsoft.com/office/drawing/2014/main" id="{4834915C-9B95-4EBE-A9C7-BD209B64A1F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9 / 39</a:t>
            </a:r>
          </a:p>
        </p:txBody>
      </p:sp>
      <p:sp>
        <p:nvSpPr>
          <p:cNvPr id="34" name="Footer – Präsentationsangaben">
            <a:extLst>
              <a:ext uri="{FF2B5EF4-FFF2-40B4-BE49-F238E27FC236}">
                <a16:creationId xmlns:a16="http://schemas.microsoft.com/office/drawing/2014/main" id="{C267A996-1B32-432C-938C-5CFD8C0ACFE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5" name="Quellenverweis 4">
            <a:extLst>
              <a:ext uri="{FF2B5EF4-FFF2-40B4-BE49-F238E27FC236}">
                <a16:creationId xmlns:a16="http://schemas.microsoft.com/office/drawing/2014/main" id="{DB6594BA-1F01-4116-B2F2-9661670EE856}"/>
              </a:ext>
            </a:extLst>
          </p:cNvPr>
          <p:cNvSpPr>
            <a:spLocks noGrp="1"/>
          </p:cNvSpPr>
          <p:nvPr/>
        </p:nvSpPr>
        <p:spPr>
          <a:xfrm>
            <a:off x="7981950" y="4124325"/>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1283791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Training und Evaluation auf getrennten Batteriezellen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0" name="V5_Text_10">
            <a:extLst>
              <a:ext uri="{FF2B5EF4-FFF2-40B4-BE49-F238E27FC236}">
                <a16:creationId xmlns:a16="http://schemas.microsoft.com/office/drawing/2014/main" id="{D5F66F0C-C352-466A-9E2A-6C7DBCE2FB70}"/>
              </a:ext>
            </a:extLst>
          </p:cNvPr>
          <p:cNvSpPr>
            <a:spLocks noGrp="1"/>
          </p:cNvSpPr>
          <p:nvPr/>
        </p:nvSpPr>
        <p:spPr>
          <a:xfrm>
            <a:off x="4286250" y="1476375"/>
            <a:ext cx="5667375" cy="68580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Datenaufteilung</a:t>
            </a:r>
            <a:r>
              <a:rPr sz="1800" b="1" dirty="0">
                <a:latin typeface="Calibri"/>
                <a:ea typeface="Calibri"/>
                <a:cs typeface="Calibri"/>
              </a:rPr>
              <a:t>:</a:t>
            </a:r>
            <a:r>
              <a:rPr sz="1800" b="0" dirty="0">
                <a:latin typeface="Calibri"/>
                <a:ea typeface="Calibri"/>
                <a:cs typeface="Calibri"/>
              </a:rPr>
              <a:t> Zehn NMC-Zellen für Training und </a:t>
            </a:r>
            <a:r>
              <a:rPr sz="1800" b="0" dirty="0" err="1">
                <a:latin typeface="Calibri"/>
                <a:ea typeface="Calibri"/>
                <a:cs typeface="Calibri"/>
              </a:rPr>
              <a:t>Validierung</a:t>
            </a:r>
            <a:r>
              <a:rPr sz="1800" b="0" dirty="0">
                <a:latin typeface="Calibri"/>
                <a:ea typeface="Calibri"/>
                <a:cs typeface="Calibri"/>
              </a:rPr>
              <a:t>, vier separate </a:t>
            </a:r>
            <a:r>
              <a:rPr sz="1800" b="0" dirty="0" err="1">
                <a:latin typeface="Calibri"/>
                <a:ea typeface="Calibri"/>
                <a:cs typeface="Calibri"/>
              </a:rPr>
              <a:t>Testzellen</a:t>
            </a:r>
            <a:endParaRPr sz="1800" b="0" dirty="0">
              <a:latin typeface="Calibri"/>
              <a:ea typeface="Calibri"/>
              <a:cs typeface="Calibri"/>
            </a:endParaRPr>
          </a:p>
        </p:txBody>
      </p:sp>
      <p:sp>
        <p:nvSpPr>
          <p:cNvPr id="11" name="V5_Text_11">
            <a:extLst>
              <a:ext uri="{FF2B5EF4-FFF2-40B4-BE49-F238E27FC236}">
                <a16:creationId xmlns:a16="http://schemas.microsoft.com/office/drawing/2014/main" id="{8F67BC07-593A-4477-9AE8-CDDF834861F6}"/>
              </a:ext>
            </a:extLst>
          </p:cNvPr>
          <p:cNvSpPr>
            <a:spLocks noGrp="1"/>
          </p:cNvSpPr>
          <p:nvPr/>
        </p:nvSpPr>
        <p:spPr>
          <a:xfrm>
            <a:off x="4286250" y="2314575"/>
            <a:ext cx="5667375" cy="8191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Validierung</a:t>
            </a:r>
            <a:r>
              <a:rPr sz="1800" b="1" dirty="0">
                <a:latin typeface="Calibri"/>
                <a:ea typeface="Calibri"/>
                <a:cs typeface="Calibri"/>
              </a:rPr>
              <a:t>:</a:t>
            </a:r>
            <a:r>
              <a:rPr sz="1800" b="0" dirty="0">
                <a:latin typeface="Calibri"/>
                <a:ea typeface="Calibri"/>
                <a:cs typeface="Calibri"/>
              </a:rPr>
              <a:t> 20 % der </a:t>
            </a:r>
            <a:r>
              <a:rPr sz="1800" b="0" dirty="0" err="1">
                <a:latin typeface="Calibri"/>
                <a:ea typeface="Calibri"/>
                <a:cs typeface="Calibri"/>
              </a:rPr>
              <a:t>Sequenzen</a:t>
            </a:r>
            <a:r>
              <a:rPr sz="1800" b="0" dirty="0">
                <a:latin typeface="Calibri"/>
                <a:ea typeface="Calibri"/>
                <a:cs typeface="Calibri"/>
              </a:rPr>
              <a:t> </a:t>
            </a:r>
            <a:r>
              <a:rPr sz="1800" b="0" dirty="0" err="1">
                <a:latin typeface="Calibri"/>
                <a:ea typeface="Calibri"/>
                <a:cs typeface="Calibri"/>
              </a:rPr>
              <a:t>dieser</a:t>
            </a:r>
            <a:r>
              <a:rPr sz="1800" b="0" dirty="0">
                <a:latin typeface="Calibri"/>
                <a:ea typeface="Calibri"/>
                <a:cs typeface="Calibri"/>
              </a:rPr>
              <a:t> </a:t>
            </a:r>
            <a:r>
              <a:rPr sz="1800" b="0" dirty="0" err="1">
                <a:latin typeface="Calibri"/>
                <a:ea typeface="Calibri"/>
                <a:cs typeface="Calibri"/>
              </a:rPr>
              <a:t>zehn</a:t>
            </a:r>
            <a:r>
              <a:rPr sz="1800" b="0" dirty="0">
                <a:latin typeface="Calibri"/>
                <a:ea typeface="Calibri"/>
                <a:cs typeface="Calibri"/>
              </a:rPr>
              <a:t> Zellen für die </a:t>
            </a:r>
            <a:r>
              <a:rPr sz="1800" b="0" dirty="0" err="1">
                <a:latin typeface="Calibri"/>
                <a:ea typeface="Calibri"/>
                <a:cs typeface="Calibri"/>
              </a:rPr>
              <a:t>Modellwahl</a:t>
            </a:r>
            <a:r>
              <a:rPr sz="1800" b="0" dirty="0">
                <a:latin typeface="Calibri"/>
                <a:ea typeface="Calibri"/>
                <a:cs typeface="Calibri"/>
              </a:rPr>
              <a:t> und </a:t>
            </a:r>
            <a:r>
              <a:rPr sz="1800" b="0" dirty="0" err="1">
                <a:latin typeface="Calibri"/>
                <a:ea typeface="Calibri"/>
                <a:cs typeface="Calibri"/>
              </a:rPr>
              <a:t>Hyperparameteroptimierung</a:t>
            </a:r>
            <a:r>
              <a:rPr lang="de-DE" sz="1800" b="0" dirty="0">
                <a:latin typeface="Calibri"/>
                <a:ea typeface="Calibri"/>
                <a:cs typeface="Calibri"/>
              </a:rPr>
              <a:t> [15]</a:t>
            </a:r>
            <a:endParaRPr sz="1800" b="0" dirty="0">
              <a:latin typeface="Calibri"/>
              <a:ea typeface="Calibri"/>
              <a:cs typeface="Calibri"/>
            </a:endParaRPr>
          </a:p>
        </p:txBody>
      </p:sp>
      <p:sp>
        <p:nvSpPr>
          <p:cNvPr id="12" name="V5_Text_12">
            <a:extLst>
              <a:ext uri="{FF2B5EF4-FFF2-40B4-BE49-F238E27FC236}">
                <a16:creationId xmlns:a16="http://schemas.microsoft.com/office/drawing/2014/main" id="{DD52D886-C955-41EC-BD9F-F41EB1065CE0}"/>
              </a:ext>
            </a:extLst>
          </p:cNvPr>
          <p:cNvSpPr>
            <a:spLocks noGrp="1"/>
          </p:cNvSpPr>
          <p:nvPr/>
        </p:nvSpPr>
        <p:spPr>
          <a:xfrm>
            <a:off x="4286250" y="3248025"/>
            <a:ext cx="5667375" cy="8191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Skalierung</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Einheitliche</a:t>
            </a:r>
            <a:r>
              <a:rPr sz="1800" b="0" dirty="0">
                <a:latin typeface="Calibri"/>
                <a:ea typeface="Calibri"/>
                <a:cs typeface="Calibri"/>
              </a:rPr>
              <a:t> </a:t>
            </a:r>
            <a:r>
              <a:rPr sz="1800" b="0" dirty="0" err="1">
                <a:latin typeface="Calibri"/>
                <a:ea typeface="Calibri"/>
                <a:cs typeface="Calibri"/>
              </a:rPr>
              <a:t>Eingangsskalierung</a:t>
            </a:r>
            <a:r>
              <a:rPr sz="1800" b="0" dirty="0">
                <a:latin typeface="Calibri"/>
                <a:ea typeface="Calibri"/>
                <a:cs typeface="Calibri"/>
              </a:rPr>
              <a:t> auf [0, 1] für Training, </a:t>
            </a:r>
            <a:r>
              <a:rPr sz="1800" b="0" dirty="0" err="1">
                <a:latin typeface="Calibri"/>
                <a:ea typeface="Calibri"/>
                <a:cs typeface="Calibri"/>
              </a:rPr>
              <a:t>Validierung</a:t>
            </a:r>
            <a:r>
              <a:rPr sz="1800" b="0" dirty="0">
                <a:latin typeface="Calibri"/>
                <a:ea typeface="Calibri"/>
                <a:cs typeface="Calibri"/>
              </a:rPr>
              <a:t> und Test</a:t>
            </a:r>
          </a:p>
        </p:txBody>
      </p:sp>
      <mc:AlternateContent xmlns:mc="http://schemas.openxmlformats.org/markup-compatibility/2006" xmlns:a14="http://schemas.microsoft.com/office/drawing/2010/main">
        <mc:Choice Requires="a14">
          <p:sp>
            <p:nvSpPr>
              <p:cNvPr id="13" name="V5_Text_13">
                <a:extLst>
                  <a:ext uri="{FF2B5EF4-FFF2-40B4-BE49-F238E27FC236}">
                    <a16:creationId xmlns:a16="http://schemas.microsoft.com/office/drawing/2014/main" id="{EAB2FD8B-7E52-4F17-A979-2871583FAAA5}"/>
                  </a:ext>
                </a:extLst>
              </p:cNvPr>
              <p:cNvSpPr>
                <a:spLocks noGrp="1"/>
              </p:cNvSpPr>
              <p:nvPr/>
            </p:nvSpPr>
            <p:spPr>
              <a:xfrm>
                <a:off x="4371975" y="5219700"/>
                <a:ext cx="2476500" cy="647700"/>
              </a:xfrm>
              <a:prstGeom prst="rect">
                <a:avLst/>
              </a:prstGeom>
              <a:noFill/>
              <a:ln w="0">
                <a:noFill/>
              </a:ln>
            </p:spPr>
            <p:txBody>
              <a:bodyPr vert="horz" wrap="square" lIns="0" tIns="0" rIns="0" bIns="0" anchor="t">
                <a:noAutofit/>
              </a:bodyPr>
              <a:lstStyle/>
              <a:p>
                <a:pPr algn="ctr">
                  <a:buNone/>
                </a:pPr>
                <a14:m>
                  <m:oMathPara xmlns:m="http://schemas.openxmlformats.org/officeDocument/2006/math">
                    <m:oMath>
                      <m:r>
                        <a:rPr sz="1875">
                          <a:latin typeface="Cambria Math"/>
                          <a:ea typeface="Cambria Math"/>
                          <a:cs typeface="Cambria Math"/>
                        </a:rPr>
                        <m:t>𝑀𝑆𝐸</m:t>
                      </m:r>
                      <m:r>
                        <a:rPr sz="1875">
                          <a:latin typeface="Cambria Math"/>
                          <a:ea typeface="Cambria Math"/>
                          <a:cs typeface="Cambria Math"/>
                        </a:rPr>
                        <m:t>=</m:t>
                      </m:r>
                      <m:f>
                        <m:fPr>
                          <m:ctrlPr>
                            <a:rPr sz="1875">
                              <a:latin typeface="Cambria Math"/>
                              <a:ea typeface="Cambria Math"/>
                              <a:cs typeface="Cambria Math"/>
                            </a:rPr>
                          </m:ctrlPr>
                        </m:fPr>
                        <m:num>
                          <m:r>
                            <a:rPr sz="1875">
                              <a:latin typeface="Cambria Math"/>
                              <a:ea typeface="Cambria Math"/>
                              <a:cs typeface="Cambria Math"/>
                            </a:rPr>
                            <m:t>1</m:t>
                          </m:r>
                        </m:num>
                        <m:den>
                          <m:r>
                            <a:rPr sz="1875">
                              <a:latin typeface="Cambria Math"/>
                              <a:ea typeface="Cambria Math"/>
                              <a:cs typeface="Cambria Math"/>
                            </a:rPr>
                            <m:t>𝑁</m:t>
                          </m:r>
                        </m:den>
                      </m:f>
                      <m:nary>
                        <m:naryPr>
                          <m:chr m:val="∑"/>
                          <m:limLoc m:val="undOvr"/>
                          <m:ctrlPr>
                            <a:rPr sz="1313">
                              <a:latin typeface="Cambria Math"/>
                              <a:ea typeface="Cambria Math"/>
                              <a:cs typeface="Cambria Math"/>
                            </a:rPr>
                          </m:ctrlPr>
                        </m:naryPr>
                        <m:sub>
                          <m:r>
                            <a:rPr sz="1313">
                              <a:latin typeface="Cambria Math"/>
                              <a:ea typeface="Cambria Math"/>
                              <a:cs typeface="Cambria Math"/>
                            </a:rPr>
                            <m:t>𝑘</m:t>
                          </m:r>
                          <m:r>
                            <a:rPr sz="1313">
                              <a:latin typeface="Cambria Math"/>
                              <a:ea typeface="Cambria Math"/>
                              <a:cs typeface="Cambria Math"/>
                            </a:rPr>
                            <m:t>=1</m:t>
                          </m:r>
                        </m:sub>
                        <m:sup>
                          <m:r>
                            <a:rPr sz="1313">
                              <a:latin typeface="Cambria Math"/>
                              <a:ea typeface="Cambria Math"/>
                              <a:cs typeface="Cambria Math"/>
                            </a:rPr>
                            <m:t>𝑁</m:t>
                          </m:r>
                        </m:sup>
                        <m:e>
                          <m:r>
                            <a:rPr sz="1875">
                              <a:latin typeface="Cambria Math"/>
                              <a:ea typeface="Cambria Math"/>
                              <a:cs typeface="Cambria Math"/>
                            </a:rPr>
                            <m:t>(</m:t>
                          </m:r>
                          <m:sSub>
                            <m:sSubPr>
                              <m:ctrlPr>
                                <a:rPr sz="1875" i="1">
                                  <a:latin typeface="Cambria Math"/>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𝑘</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𝑦</m:t>
                              </m:r>
                            </m:e>
                            <m:sub>
                              <m:r>
                                <a:rPr sz="1313">
                                  <a:latin typeface="Cambria Math"/>
                                  <a:ea typeface="Cambria Math"/>
                                  <a:cs typeface="Cambria Math"/>
                                </a:rPr>
                                <m:t>𝑘</m:t>
                              </m:r>
                            </m:sub>
                          </m:sSub>
                          <m:sSup>
                            <m:sSupPr>
                              <m:ctrlPr>
                                <a:rPr sz="1875">
                                  <a:latin typeface="Cambria Math"/>
                                  <a:ea typeface="Cambria Math"/>
                                  <a:cs typeface="Cambria Math"/>
                                </a:rPr>
                              </m:ctrlPr>
                            </m:sSupPr>
                            <m:e>
                              <m:r>
                                <a:rPr sz="1875">
                                  <a:latin typeface="Cambria Math"/>
                                  <a:ea typeface="Cambria Math"/>
                                  <a:cs typeface="Cambria Math"/>
                                </a:rPr>
                                <m:t>)</m:t>
                              </m:r>
                            </m:e>
                            <m:sup>
                              <m:r>
                                <a:rPr sz="1313">
                                  <a:latin typeface="Cambria Math"/>
                                  <a:ea typeface="Cambria Math"/>
                                  <a:cs typeface="Cambria Math"/>
                                </a:rPr>
                                <m:t>2</m:t>
                              </m:r>
                            </m:sup>
                          </m:sSup>
                        </m:e>
                      </m:nary>
                    </m:oMath>
                  </m:oMathPara>
                </a14:m>
                <a:endParaRPr/>
              </a:p>
            </p:txBody>
          </p:sp>
        </mc:Choice>
        <mc:Fallback xmlns="">
          <p:sp>
            <p:nvSpPr>
              <p:cNvPr id="13" name="V5_Text_13">
                <a:extLst>
                  <a:ext uri="{FF2B5EF4-FFF2-40B4-BE49-F238E27FC236}">
                    <a16:creationId xmlns:a16="http://schemas.microsoft.com/office/drawing/2014/main" id="{EAB2FD8B-7E52-4F17-A979-2871583FAAA5}"/>
                  </a:ext>
                </a:extLst>
              </p:cNvPr>
              <p:cNvSpPr>
                <a:spLocks noGrp="1" noRot="1" noChangeAspect="1" noMove="1" noResize="1" noEditPoints="1" noAdjustHandles="1" noChangeArrowheads="1" noChangeShapeType="1" noTextEdit="1"/>
              </p:cNvSpPr>
              <p:nvPr/>
            </p:nvSpPr>
            <p:spPr>
              <a:xfrm>
                <a:off x="4371975" y="5219700"/>
                <a:ext cx="2476500" cy="647700"/>
              </a:xfrm>
              <a:prstGeom prst="rect">
                <a:avLst/>
              </a:prstGeom>
              <a:blipFill>
                <a:blip r:embed="rId3"/>
                <a:stretch>
                  <a:fillRect b="-18692"/>
                </a:stretch>
              </a:blipFill>
              <a:ln w="0">
                <a:noFill/>
              </a:ln>
            </p:spPr>
            <p:txBody>
              <a:bodyPr/>
              <a:lstStyle/>
              <a:p>
                <a:r>
                  <a:rPr lang="de-DE">
                    <a:noFill/>
                  </a:rPr>
                  <a:t> </a:t>
                </a:r>
              </a:p>
            </p:txBody>
          </p:sp>
        </mc:Fallback>
      </mc:AlternateContent>
      <p:sp>
        <p:nvSpPr>
          <p:cNvPr id="19" name="Structure separator">
            <a:extLst>
              <a:ext uri="{FF2B5EF4-FFF2-40B4-BE49-F238E27FC236}">
                <a16:creationId xmlns:a16="http://schemas.microsoft.com/office/drawing/2014/main" id="{A0A0449F-91F8-4311-AFDC-8CC5AE8E98F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5CFFD041-CAE6-47BE-9A11-26444422856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544415EC-E10D-4081-8C6E-4FC3AACA60DB}"/>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3EA2CD40-03C2-4007-A639-B53C2DEBDBE2}"/>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11471C8F-E116-45C0-B687-6E005912E37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4" name="Structure 3">
            <a:extLst>
              <a:ext uri="{FF2B5EF4-FFF2-40B4-BE49-F238E27FC236}">
                <a16:creationId xmlns:a16="http://schemas.microsoft.com/office/drawing/2014/main" id="{9AE65F1D-09A9-4A7B-87FB-5E7E03D3952B}"/>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0C61B8B8-6081-4661-BB88-1B1E1001CCCE}"/>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87715BD9-57C2-4688-89DC-A103E60770E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6" name="Grafik 45"/>
          <p:cNvPicPr>
            <a:picLocks noChangeAspect="1"/>
          </p:cNvPicPr>
          <p:nvPr/>
        </p:nvPicPr>
        <p:blipFill>
          <a:blip r:embed="rId4"/>
          <a:stretch/>
        </p:blipFill>
        <p:spPr>
          <a:xfrm>
            <a:off x="554294" y="1409700"/>
            <a:ext cx="3187187" cy="4371975"/>
          </a:xfrm>
          <a:prstGeom prst="rect">
            <a:avLst/>
          </a:prstGeom>
        </p:spPr>
      </p:pic>
      <p:sp>
        <p:nvSpPr>
          <p:cNvPr id="28" name="v12-text-10-5">
            <a:extLst>
              <a:ext uri="{FF2B5EF4-FFF2-40B4-BE49-F238E27FC236}">
                <a16:creationId xmlns:a16="http://schemas.microsoft.com/office/drawing/2014/main" id="{391E289E-5193-416D-AA69-142B37B041E4}"/>
              </a:ext>
            </a:extLst>
          </p:cNvPr>
          <p:cNvSpPr>
            <a:spLocks noGrp="1"/>
          </p:cNvSpPr>
          <p:nvPr/>
        </p:nvSpPr>
        <p:spPr>
          <a:xfrm>
            <a:off x="4286250" y="4200525"/>
            <a:ext cx="5667375" cy="3429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a:latin typeface="Calibri"/>
                <a:ea typeface="Calibri"/>
                <a:cs typeface="Calibri"/>
              </a:rPr>
              <a:t>Training:</a:t>
            </a:r>
            <a:r>
              <a:rPr sz="1800" b="0" dirty="0">
                <a:latin typeface="Calibri"/>
                <a:ea typeface="Calibri"/>
                <a:cs typeface="Calibri"/>
              </a:rPr>
              <a:t> </a:t>
            </a:r>
            <a:r>
              <a:rPr sz="1800" b="0" dirty="0" err="1">
                <a:latin typeface="Calibri"/>
                <a:ea typeface="Calibri"/>
                <a:cs typeface="Calibri"/>
              </a:rPr>
              <a:t>Minimierung</a:t>
            </a:r>
            <a:r>
              <a:rPr sz="1800" b="0" dirty="0">
                <a:latin typeface="Calibri"/>
                <a:ea typeface="Calibri"/>
                <a:cs typeface="Calibri"/>
              </a:rPr>
              <a:t> der MSE </a:t>
            </a:r>
            <a:r>
              <a:rPr sz="1800" b="0" dirty="0" err="1">
                <a:latin typeface="Calibri"/>
                <a:ea typeface="Calibri"/>
                <a:cs typeface="Calibri"/>
              </a:rPr>
              <a:t>als</a:t>
            </a:r>
            <a:r>
              <a:rPr sz="1800" b="0" dirty="0">
                <a:latin typeface="Calibri"/>
                <a:ea typeface="Calibri"/>
                <a:cs typeface="Calibri"/>
              </a:rPr>
              <a:t> </a:t>
            </a:r>
            <a:r>
              <a:rPr sz="1800" b="0" dirty="0" err="1">
                <a:latin typeface="Calibri"/>
                <a:ea typeface="Calibri"/>
                <a:cs typeface="Calibri"/>
              </a:rPr>
              <a:t>Verlustfunktion</a:t>
            </a:r>
            <a:endParaRPr sz="1800" b="0" dirty="0">
              <a:latin typeface="Calibri"/>
              <a:ea typeface="Calibri"/>
              <a:cs typeface="Calibri"/>
            </a:endParaRPr>
          </a:p>
        </p:txBody>
      </p:sp>
      <p:sp>
        <p:nvSpPr>
          <p:cNvPr id="47" name="v14-evaluation"/>
          <p:cNvSpPr>
            <a:spLocks noGrp="1"/>
          </p:cNvSpPr>
          <p:nvPr/>
        </p:nvSpPr>
        <p:spPr>
          <a:xfrm>
            <a:off x="4286250" y="4638675"/>
            <a:ext cx="5667375" cy="5334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a:latin typeface="Calibri"/>
                <a:ea typeface="Calibri"/>
                <a:cs typeface="Calibri"/>
              </a:rPr>
              <a:t>Evaluation:</a:t>
            </a:r>
            <a:r>
              <a:rPr sz="1800" b="0" dirty="0">
                <a:latin typeface="Calibri"/>
                <a:ea typeface="Calibri"/>
                <a:cs typeface="Calibri"/>
              </a:rPr>
              <a:t> MAE und MSE auf den vier </a:t>
            </a:r>
            <a:r>
              <a:rPr sz="1800" b="0" dirty="0" err="1">
                <a:latin typeface="Calibri"/>
                <a:ea typeface="Calibri"/>
                <a:cs typeface="Calibri"/>
              </a:rPr>
              <a:t>separaten</a:t>
            </a:r>
            <a:r>
              <a:rPr sz="1800" b="0" dirty="0">
                <a:latin typeface="Calibri"/>
                <a:ea typeface="Calibri"/>
                <a:cs typeface="Calibri"/>
              </a:rPr>
              <a:t> </a:t>
            </a:r>
            <a:r>
              <a:rPr sz="1800" b="0" dirty="0" err="1">
                <a:latin typeface="Calibri"/>
                <a:ea typeface="Calibri"/>
                <a:cs typeface="Calibri"/>
              </a:rPr>
              <a:t>Testzellen</a:t>
            </a:r>
            <a:endParaRPr sz="1800" b="0" dirty="0">
              <a:latin typeface="Calibri"/>
              <a:ea typeface="Calibri"/>
              <a:cs typeface="Calibri"/>
            </a:endParaRPr>
          </a:p>
        </p:txBody>
      </p:sp>
      <mc:AlternateContent xmlns:mc="http://schemas.openxmlformats.org/markup-compatibility/2006" xmlns:a14="http://schemas.microsoft.com/office/drawing/2010/main">
        <mc:Choice Requires="a14">
          <p:sp>
            <p:nvSpPr>
              <p:cNvPr id="48" name="v14-MAE-formula"/>
              <p:cNvSpPr>
                <a:spLocks noGrp="1"/>
              </p:cNvSpPr>
              <p:nvPr/>
            </p:nvSpPr>
            <p:spPr>
              <a:xfrm>
                <a:off x="7458075" y="5219700"/>
                <a:ext cx="2476500" cy="647700"/>
              </a:xfrm>
              <a:prstGeom prst="rect">
                <a:avLst/>
              </a:prstGeom>
              <a:noFill/>
              <a:ln w="0">
                <a:noFill/>
              </a:ln>
            </p:spPr>
            <p:txBody>
              <a:bodyPr vert="horz" wrap="square" lIns="0" tIns="0" rIns="0" bIns="0" anchor="t">
                <a:noAutofit/>
              </a:bodyPr>
              <a:lstStyle/>
              <a:p>
                <a:pPr algn="ctr">
                  <a:buNone/>
                </a:pPr>
                <a14:m>
                  <m:oMathPara xmlns:m="http://schemas.openxmlformats.org/officeDocument/2006/math">
                    <m:oMath>
                      <m:r>
                        <a:rPr sz="1875">
                          <a:latin typeface="Cambria Math"/>
                          <a:ea typeface="Cambria Math"/>
                          <a:cs typeface="Cambria Math"/>
                        </a:rPr>
                        <m:t>𝑀𝐴𝐸</m:t>
                      </m:r>
                      <m:r>
                        <a:rPr sz="1875">
                          <a:latin typeface="Cambria Math"/>
                          <a:ea typeface="Cambria Math"/>
                          <a:cs typeface="Cambria Math"/>
                        </a:rPr>
                        <m:t>=</m:t>
                      </m:r>
                      <m:f>
                        <m:fPr>
                          <m:ctrlPr>
                            <a:rPr sz="1875">
                              <a:latin typeface="Cambria Math"/>
                              <a:ea typeface="Cambria Math"/>
                              <a:cs typeface="Cambria Math"/>
                            </a:rPr>
                          </m:ctrlPr>
                        </m:fPr>
                        <m:num>
                          <m:r>
                            <a:rPr sz="1875">
                              <a:latin typeface="Cambria Math"/>
                              <a:ea typeface="Cambria Math"/>
                              <a:cs typeface="Cambria Math"/>
                            </a:rPr>
                            <m:t>1</m:t>
                          </m:r>
                        </m:num>
                        <m:den>
                          <m:r>
                            <a:rPr sz="1875">
                              <a:latin typeface="Cambria Math"/>
                              <a:ea typeface="Cambria Math"/>
                              <a:cs typeface="Cambria Math"/>
                            </a:rPr>
                            <m:t>𝑁</m:t>
                          </m:r>
                        </m:den>
                      </m:f>
                      <m:nary>
                        <m:naryPr>
                          <m:chr m:val="∑"/>
                          <m:limLoc m:val="undOvr"/>
                          <m:ctrlPr>
                            <a:rPr sz="1313">
                              <a:latin typeface="Cambria Math"/>
                              <a:ea typeface="Cambria Math"/>
                              <a:cs typeface="Cambria Math"/>
                            </a:rPr>
                          </m:ctrlPr>
                        </m:naryPr>
                        <m:sub>
                          <m:r>
                            <a:rPr sz="1313">
                              <a:latin typeface="Cambria Math"/>
                              <a:ea typeface="Cambria Math"/>
                              <a:cs typeface="Cambria Math"/>
                            </a:rPr>
                            <m:t>𝑘</m:t>
                          </m:r>
                          <m:r>
                            <a:rPr sz="1313">
                              <a:latin typeface="Cambria Math"/>
                              <a:ea typeface="Cambria Math"/>
                              <a:cs typeface="Cambria Math"/>
                            </a:rPr>
                            <m:t>=1</m:t>
                          </m:r>
                        </m:sub>
                        <m:sup>
                          <m:r>
                            <a:rPr sz="1313">
                              <a:latin typeface="Cambria Math"/>
                              <a:ea typeface="Cambria Math"/>
                              <a:cs typeface="Cambria Math"/>
                            </a:rPr>
                            <m:t>𝑁</m:t>
                          </m:r>
                        </m:sup>
                        <m:e>
                          <m:d>
                            <m:dPr>
                              <m:begChr m:val="|"/>
                              <m:endChr m:val="|"/>
                              <m:ctrlPr>
                                <a:rPr sz="1875" i="1">
                                  <a:latin typeface="Cambria Math"/>
                                  <a:ea typeface="Cambria Math"/>
                                  <a:cs typeface="Cambria Math"/>
                                </a:rPr>
                              </m:ctrlPr>
                            </m:dPr>
                            <m:e>
                              <m:sSub>
                                <m:sSubPr>
                                  <m:ctrlPr>
                                    <a:rPr sz="1875" i="1">
                                      <a:latin typeface="Cambria Math"/>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𝑘</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𝑦</m:t>
                                  </m:r>
                                </m:e>
                                <m:sub>
                                  <m:r>
                                    <a:rPr sz="1313">
                                      <a:latin typeface="Cambria Math"/>
                                      <a:ea typeface="Cambria Math"/>
                                      <a:cs typeface="Cambria Math"/>
                                    </a:rPr>
                                    <m:t>𝑘</m:t>
                                  </m:r>
                                </m:sub>
                              </m:sSub>
                            </m:e>
                          </m:d>
                        </m:e>
                      </m:nary>
                    </m:oMath>
                  </m:oMathPara>
                </a14:m>
                <a:endParaRPr/>
              </a:p>
            </p:txBody>
          </p:sp>
        </mc:Choice>
        <mc:Fallback xmlns="">
          <p:sp>
            <p:nvSpPr>
              <p:cNvPr id="48" name="v14-MAE-formula"/>
              <p:cNvSpPr>
                <a:spLocks noGrp="1" noRot="1" noChangeAspect="1" noMove="1" noResize="1" noEditPoints="1" noAdjustHandles="1" noChangeArrowheads="1" noChangeShapeType="1" noTextEdit="1"/>
              </p:cNvSpPr>
              <p:nvPr/>
            </p:nvSpPr>
            <p:spPr>
              <a:xfrm>
                <a:off x="7458075" y="5219700"/>
                <a:ext cx="2476500" cy="647700"/>
              </a:xfrm>
              <a:prstGeom prst="rect">
                <a:avLst/>
              </a:prstGeom>
              <a:blipFill>
                <a:blip r:embed="rId5"/>
                <a:stretch>
                  <a:fillRect b="-18692"/>
                </a:stretch>
              </a:blipFill>
              <a:ln w="0">
                <a:noFill/>
              </a:ln>
            </p:spPr>
            <p:txBody>
              <a:bodyPr/>
              <a:lstStyle/>
              <a:p>
                <a:r>
                  <a:rPr lang="de-DE">
                    <a:noFill/>
                  </a:rPr>
                  <a:t> </a:t>
                </a:r>
              </a:p>
            </p:txBody>
          </p:sp>
        </mc:Fallback>
      </mc:AlternateContent>
      <p:sp>
        <p:nvSpPr>
          <p:cNvPr id="49" name="Footer – Seitennummer">
            <a:extLst>
              <a:ext uri="{FF2B5EF4-FFF2-40B4-BE49-F238E27FC236}">
                <a16:creationId xmlns:a16="http://schemas.microsoft.com/office/drawing/2014/main" id="{F8D5FED1-1008-4F4F-B0F9-18EF68FAAD8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10 / 39</a:t>
            </a:r>
          </a:p>
        </p:txBody>
      </p:sp>
      <p:sp>
        <p:nvSpPr>
          <p:cNvPr id="50" name="Footer – Präsentationsangaben">
            <a:extLst>
              <a:ext uri="{FF2B5EF4-FFF2-40B4-BE49-F238E27FC236}">
                <a16:creationId xmlns:a16="http://schemas.microsoft.com/office/drawing/2014/main" id="{7547D72A-7FA2-42E0-80D3-52C6B83D638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1" name="Quellenverweis 46">
            <a:extLst>
              <a:ext uri="{FF2B5EF4-FFF2-40B4-BE49-F238E27FC236}">
                <a16:creationId xmlns:a16="http://schemas.microsoft.com/office/drawing/2014/main" id="{9D48D52E-8105-47AB-974A-7B9F72F3C6F3}"/>
              </a:ext>
            </a:extLst>
          </p:cNvPr>
          <p:cNvSpPr>
            <a:spLocks noGrp="1"/>
          </p:cNvSpPr>
          <p:nvPr/>
        </p:nvSpPr>
        <p:spPr>
          <a:xfrm>
            <a:off x="3493472" y="576897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325468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8" grpId="0"/>
      <p:bldP spid="47" grpId="0"/>
      <p:bldP spid="4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Einfluss von Zeitauflösung und Lag-Sequence Length</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V5_Text_14">
            <a:extLst>
              <a:ext uri="{FF2B5EF4-FFF2-40B4-BE49-F238E27FC236}">
                <a16:creationId xmlns:a16="http://schemas.microsoft.com/office/drawing/2014/main" id="{8447B856-31D7-485E-A5D6-8F04CCB6024A}"/>
              </a:ext>
            </a:extLst>
          </p:cNvPr>
          <p:cNvSpPr>
            <a:spLocks noGrp="1"/>
          </p:cNvSpPr>
          <p:nvPr/>
        </p:nvSpPr>
        <p:spPr>
          <a:xfrm>
            <a:off x="552450" y="4324350"/>
            <a:ext cx="9353550" cy="409575"/>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Grobe </a:t>
            </a:r>
            <a:r>
              <a:rPr sz="1800" b="1" dirty="0" err="1">
                <a:latin typeface="Calibri"/>
                <a:ea typeface="Calibri"/>
                <a:cs typeface="Calibri"/>
              </a:rPr>
              <a:t>Zeitauflösung</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Glättung</a:t>
            </a:r>
            <a:r>
              <a:rPr sz="1800" b="0" dirty="0">
                <a:latin typeface="Calibri"/>
                <a:ea typeface="Calibri"/>
                <a:cs typeface="Calibri"/>
              </a:rPr>
              <a:t> </a:t>
            </a:r>
            <a:r>
              <a:rPr sz="1800" b="0" dirty="0" err="1">
                <a:latin typeface="Calibri"/>
                <a:ea typeface="Calibri"/>
                <a:cs typeface="Calibri"/>
              </a:rPr>
              <a:t>relevanter</a:t>
            </a:r>
            <a:r>
              <a:rPr sz="1800" b="0" dirty="0">
                <a:latin typeface="Calibri"/>
                <a:ea typeface="Calibri"/>
                <a:cs typeface="Calibri"/>
              </a:rPr>
              <a:t> Lade- und </a:t>
            </a:r>
            <a:r>
              <a:rPr sz="1800" b="0" dirty="0" err="1">
                <a:latin typeface="Calibri"/>
                <a:ea typeface="Calibri"/>
                <a:cs typeface="Calibri"/>
              </a:rPr>
              <a:t>Entladedynamik</a:t>
            </a:r>
            <a:r>
              <a:rPr sz="1800" b="0" dirty="0">
                <a:latin typeface="Calibri"/>
                <a:ea typeface="Calibri"/>
                <a:cs typeface="Calibri"/>
              </a:rPr>
              <a:t> </a:t>
            </a:r>
            <a:r>
              <a:rPr sz="1800" b="0" dirty="0" err="1">
                <a:latin typeface="Calibri"/>
                <a:ea typeface="Calibri"/>
                <a:cs typeface="Calibri"/>
              </a:rPr>
              <a:t>durch</a:t>
            </a:r>
            <a:r>
              <a:rPr sz="1800" b="0" dirty="0">
                <a:latin typeface="Calibri"/>
                <a:ea typeface="Calibri"/>
                <a:cs typeface="Calibri"/>
              </a:rPr>
              <a:t> Aggregation</a:t>
            </a:r>
          </a:p>
        </p:txBody>
      </p:sp>
      <p:sp>
        <p:nvSpPr>
          <p:cNvPr id="15" name="V5_Text_15">
            <a:extLst>
              <a:ext uri="{FF2B5EF4-FFF2-40B4-BE49-F238E27FC236}">
                <a16:creationId xmlns:a16="http://schemas.microsoft.com/office/drawing/2014/main" id="{046AD55A-76FE-4B36-9E3F-F223247851B4}"/>
              </a:ext>
            </a:extLst>
          </p:cNvPr>
          <p:cNvSpPr>
            <a:spLocks noGrp="1"/>
          </p:cNvSpPr>
          <p:nvPr/>
        </p:nvSpPr>
        <p:spPr>
          <a:xfrm>
            <a:off x="552450" y="4876800"/>
            <a:ext cx="9353550" cy="6286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Feine </a:t>
            </a:r>
            <a:r>
              <a:rPr sz="1800" b="1" dirty="0" err="1">
                <a:latin typeface="Calibri"/>
                <a:ea typeface="Calibri"/>
                <a:cs typeface="Calibri"/>
              </a:rPr>
              <a:t>Zeitauflösung</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Kürzere</a:t>
            </a:r>
            <a:r>
              <a:rPr sz="1800" b="0" dirty="0">
                <a:latin typeface="Calibri"/>
                <a:ea typeface="Calibri"/>
                <a:cs typeface="Calibri"/>
              </a:rPr>
              <a:t> </a:t>
            </a:r>
            <a:r>
              <a:rPr sz="1800" b="0" dirty="0" err="1">
                <a:latin typeface="Calibri"/>
                <a:ea typeface="Calibri"/>
                <a:cs typeface="Calibri"/>
              </a:rPr>
              <a:t>Zeitabdeckung</a:t>
            </a:r>
            <a:r>
              <a:rPr sz="1800" b="0" dirty="0">
                <a:latin typeface="Calibri"/>
                <a:ea typeface="Calibri"/>
                <a:cs typeface="Calibri"/>
              </a:rPr>
              <a:t> </a:t>
            </a:r>
            <a:r>
              <a:rPr sz="1800" b="0" dirty="0" err="1">
                <a:latin typeface="Calibri"/>
                <a:ea typeface="Calibri"/>
                <a:cs typeface="Calibri"/>
              </a:rPr>
              <a:t>bei</a:t>
            </a:r>
            <a:r>
              <a:rPr sz="1800" b="0" dirty="0">
                <a:latin typeface="Calibri"/>
                <a:ea typeface="Calibri"/>
                <a:cs typeface="Calibri"/>
              </a:rPr>
              <a:t> </a:t>
            </a:r>
            <a:r>
              <a:rPr sz="1800" b="0" dirty="0" err="1">
                <a:latin typeface="Calibri"/>
                <a:ea typeface="Calibri"/>
                <a:cs typeface="Calibri"/>
              </a:rPr>
              <a:t>gleicher</a:t>
            </a:r>
            <a:r>
              <a:rPr sz="1800" b="0" dirty="0">
                <a:latin typeface="Calibri"/>
                <a:ea typeface="Calibri"/>
                <a:cs typeface="Calibri"/>
              </a:rPr>
              <a:t> Lag-Sequence Length L, </a:t>
            </a:r>
            <a:r>
              <a:rPr sz="1800" b="0" dirty="0" err="1">
                <a:latin typeface="Calibri"/>
                <a:ea typeface="Calibri"/>
                <a:cs typeface="Calibri"/>
              </a:rPr>
              <a:t>größerer</a:t>
            </a:r>
            <a:r>
              <a:rPr sz="1800" b="0" dirty="0">
                <a:latin typeface="Calibri"/>
                <a:ea typeface="Calibri"/>
                <a:cs typeface="Calibri"/>
              </a:rPr>
              <a:t> </a:t>
            </a:r>
            <a:r>
              <a:rPr sz="1800" b="0" dirty="0" err="1">
                <a:latin typeface="Calibri"/>
                <a:ea typeface="Calibri"/>
                <a:cs typeface="Calibri"/>
              </a:rPr>
              <a:t>Eingangsvektor</a:t>
            </a:r>
            <a:r>
              <a:rPr sz="1800" b="0" dirty="0">
                <a:latin typeface="Calibri"/>
                <a:ea typeface="Calibri"/>
                <a:cs typeface="Calibri"/>
              </a:rPr>
              <a:t> </a:t>
            </a:r>
            <a:r>
              <a:rPr sz="1800" b="0" dirty="0" err="1">
                <a:latin typeface="Calibri"/>
                <a:ea typeface="Calibri"/>
                <a:cs typeface="Calibri"/>
              </a:rPr>
              <a:t>bei</a:t>
            </a:r>
            <a:r>
              <a:rPr sz="1800" b="0" dirty="0">
                <a:latin typeface="Calibri"/>
                <a:ea typeface="Calibri"/>
                <a:cs typeface="Calibri"/>
              </a:rPr>
              <a:t> </a:t>
            </a:r>
            <a:r>
              <a:rPr sz="1800" b="0" dirty="0" err="1">
                <a:latin typeface="Calibri"/>
                <a:ea typeface="Calibri"/>
                <a:cs typeface="Calibri"/>
              </a:rPr>
              <a:t>mehr</a:t>
            </a:r>
            <a:r>
              <a:rPr sz="1800" b="0" dirty="0">
                <a:latin typeface="Calibri"/>
                <a:ea typeface="Calibri"/>
                <a:cs typeface="Calibri"/>
              </a:rPr>
              <a:t> </a:t>
            </a:r>
            <a:r>
              <a:rPr sz="1800" b="0" dirty="0" err="1">
                <a:latin typeface="Calibri"/>
                <a:ea typeface="Calibri"/>
                <a:cs typeface="Calibri"/>
              </a:rPr>
              <a:t>Zeitschritten</a:t>
            </a:r>
            <a:endParaRPr sz="1800" b="0" dirty="0">
              <a:latin typeface="Calibri"/>
              <a:ea typeface="Calibri"/>
              <a:cs typeface="Calibri"/>
            </a:endParaRPr>
          </a:p>
        </p:txBody>
      </p:sp>
      <p:sp>
        <p:nvSpPr>
          <p:cNvPr id="16" name="V5_Text_16">
            <a:extLst>
              <a:ext uri="{FF2B5EF4-FFF2-40B4-BE49-F238E27FC236}">
                <a16:creationId xmlns:a16="http://schemas.microsoft.com/office/drawing/2014/main" id="{C3B77270-1B0C-453A-8A99-8694B74C9C21}"/>
              </a:ext>
            </a:extLst>
          </p:cNvPr>
          <p:cNvSpPr>
            <a:spLocks noGrp="1"/>
          </p:cNvSpPr>
          <p:nvPr/>
        </p:nvSpPr>
        <p:spPr>
          <a:xfrm>
            <a:off x="552450" y="5619750"/>
            <a:ext cx="9353550" cy="323850"/>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err="1">
                <a:latin typeface="Calibri"/>
                <a:ea typeface="Calibri"/>
                <a:cs typeface="Calibri"/>
              </a:rPr>
              <a:t>Konfiguration</a:t>
            </a:r>
            <a:r>
              <a:rPr sz="1800" b="1" dirty="0">
                <a:latin typeface="Calibri"/>
                <a:ea typeface="Calibri"/>
                <a:cs typeface="Calibri"/>
              </a:rPr>
              <a:t>:</a:t>
            </a:r>
            <a:r>
              <a:rPr sz="1800" b="0" dirty="0">
                <a:latin typeface="Calibri"/>
                <a:ea typeface="Calibri"/>
                <a:cs typeface="Calibri"/>
              </a:rPr>
              <a:t> L = 16, </a:t>
            </a:r>
            <a:r>
              <a:rPr sz="1800" b="0" dirty="0" err="1">
                <a:latin typeface="Calibri"/>
                <a:ea typeface="Calibri"/>
                <a:cs typeface="Calibri"/>
              </a:rPr>
              <a:t>Δt</a:t>
            </a:r>
            <a:r>
              <a:rPr sz="1800" b="0" dirty="0">
                <a:latin typeface="Calibri"/>
                <a:ea typeface="Calibri"/>
                <a:cs typeface="Calibri"/>
              </a:rPr>
              <a:t> = 10 min, </a:t>
            </a:r>
            <a:r>
              <a:rPr sz="1800" b="0" dirty="0" err="1">
                <a:latin typeface="Calibri"/>
                <a:ea typeface="Calibri"/>
                <a:cs typeface="Calibri"/>
              </a:rPr>
              <a:t>Historie</a:t>
            </a:r>
            <a:r>
              <a:rPr sz="1800" b="0" dirty="0">
                <a:latin typeface="Calibri"/>
                <a:ea typeface="Calibri"/>
                <a:cs typeface="Calibri"/>
              </a:rPr>
              <a:t> von 160 min</a:t>
            </a:r>
          </a:p>
        </p:txBody>
      </p:sp>
      <p:sp>
        <p:nvSpPr>
          <p:cNvPr id="20" name="Structure separator">
            <a:extLst>
              <a:ext uri="{FF2B5EF4-FFF2-40B4-BE49-F238E27FC236}">
                <a16:creationId xmlns:a16="http://schemas.microsoft.com/office/drawing/2014/main" id="{3F74B574-9DDB-41DD-8EB5-E987849481F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1" name="Structure label">
            <a:extLst>
              <a:ext uri="{FF2B5EF4-FFF2-40B4-BE49-F238E27FC236}">
                <a16:creationId xmlns:a16="http://schemas.microsoft.com/office/drawing/2014/main" id="{025ED990-F646-4CFB-896C-3FF0A7CD2F19}"/>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2" name="Structure 0">
            <a:extLst>
              <a:ext uri="{FF2B5EF4-FFF2-40B4-BE49-F238E27FC236}">
                <a16:creationId xmlns:a16="http://schemas.microsoft.com/office/drawing/2014/main" id="{4FB9A4E9-050D-47AC-B24E-13FC542FE14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3" name="Structure 1">
            <a:extLst>
              <a:ext uri="{FF2B5EF4-FFF2-40B4-BE49-F238E27FC236}">
                <a16:creationId xmlns:a16="http://schemas.microsoft.com/office/drawing/2014/main" id="{85A777C8-8760-4EFC-938B-4D4791F6374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4" name="Structure 2">
            <a:extLst>
              <a:ext uri="{FF2B5EF4-FFF2-40B4-BE49-F238E27FC236}">
                <a16:creationId xmlns:a16="http://schemas.microsoft.com/office/drawing/2014/main" id="{74C06C63-AF54-46B6-8D03-410829E5C9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5" name="Structure 3">
            <a:extLst>
              <a:ext uri="{FF2B5EF4-FFF2-40B4-BE49-F238E27FC236}">
                <a16:creationId xmlns:a16="http://schemas.microsoft.com/office/drawing/2014/main" id="{E29C5E9C-0937-43B9-A16E-CDE57FB5745B}"/>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6" name="Structure 4">
            <a:extLst>
              <a:ext uri="{FF2B5EF4-FFF2-40B4-BE49-F238E27FC236}">
                <a16:creationId xmlns:a16="http://schemas.microsoft.com/office/drawing/2014/main" id="{E74FB181-2734-4411-8982-76047EA3378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7" name="Structure 5">
            <a:extLst>
              <a:ext uri="{FF2B5EF4-FFF2-40B4-BE49-F238E27FC236}">
                <a16:creationId xmlns:a16="http://schemas.microsoft.com/office/drawing/2014/main" id="{DE8E4828-00D8-4B28-84DC-26B623D314C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1253417" y="1428750"/>
            <a:ext cx="7951615" cy="2647950"/>
          </a:xfrm>
          <a:prstGeom prst="rect">
            <a:avLst/>
          </a:prstGeom>
        </p:spPr>
      </p:pic>
      <p:sp>
        <p:nvSpPr>
          <p:cNvPr id="45" name="Footer – Seitennummer">
            <a:extLst>
              <a:ext uri="{FF2B5EF4-FFF2-40B4-BE49-F238E27FC236}">
                <a16:creationId xmlns:a16="http://schemas.microsoft.com/office/drawing/2014/main" id="{30D41821-EBD3-4474-AE96-D36843ADCE5B}"/>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11 / 39</a:t>
            </a:r>
          </a:p>
        </p:txBody>
      </p:sp>
      <p:sp>
        <p:nvSpPr>
          <p:cNvPr id="46" name="Footer – Präsentationsangaben">
            <a:extLst>
              <a:ext uri="{FF2B5EF4-FFF2-40B4-BE49-F238E27FC236}">
                <a16:creationId xmlns:a16="http://schemas.microsoft.com/office/drawing/2014/main" id="{84B5AF10-405A-4B79-B65A-673F1C00D35A}"/>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7" name="Quellenverweis 4">
            <a:extLst>
              <a:ext uri="{FF2B5EF4-FFF2-40B4-BE49-F238E27FC236}">
                <a16:creationId xmlns:a16="http://schemas.microsoft.com/office/drawing/2014/main" id="{E1041144-F469-4F22-BD6A-CE28E08FCC96}"/>
              </a:ext>
            </a:extLst>
          </p:cNvPr>
          <p:cNvSpPr>
            <a:spLocks noGrp="1"/>
          </p:cNvSpPr>
          <p:nvPr/>
        </p:nvSpPr>
        <p:spPr>
          <a:xfrm>
            <a:off x="8943975" y="4114800"/>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629550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Genauigkeit und Grenzen der SOH-Schätzung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3" name="V5_Figure_11"/>
          <p:cNvPicPr>
            <a:picLocks noChangeAspect="1"/>
          </p:cNvPicPr>
          <p:nvPr/>
        </p:nvPicPr>
        <p:blipFill>
          <a:blip r:embed="rId3"/>
          <a:stretch/>
        </p:blipFill>
        <p:spPr>
          <a:xfrm>
            <a:off x="1253417" y="1428750"/>
            <a:ext cx="7951615" cy="2647950"/>
          </a:xfrm>
          <a:prstGeom prst="rect">
            <a:avLst/>
          </a:prstGeom>
        </p:spPr>
      </p:pic>
      <p:sp>
        <p:nvSpPr>
          <p:cNvPr id="14" name="V5_Text_14">
            <a:extLst>
              <a:ext uri="{FF2B5EF4-FFF2-40B4-BE49-F238E27FC236}">
                <a16:creationId xmlns:a16="http://schemas.microsoft.com/office/drawing/2014/main" id="{8447B856-31D7-485E-A5D6-8F04CCB6024A}"/>
              </a:ext>
            </a:extLst>
          </p:cNvPr>
          <p:cNvSpPr>
            <a:spLocks noGrp="1"/>
          </p:cNvSpPr>
          <p:nvPr/>
        </p:nvSpPr>
        <p:spPr>
          <a:xfrm>
            <a:off x="552450" y="4324350"/>
            <a:ext cx="9353550" cy="6286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Zellen 1 und 7:</a:t>
            </a:r>
            <a:r>
              <a:rPr sz="1800" b="0" dirty="0">
                <a:latin typeface="Calibri"/>
                <a:ea typeface="Calibri"/>
                <a:cs typeface="Calibri"/>
              </a:rPr>
              <a:t> Gute </a:t>
            </a:r>
            <a:r>
              <a:rPr sz="1800" b="0" dirty="0" err="1">
                <a:latin typeface="Calibri"/>
                <a:ea typeface="Calibri"/>
                <a:cs typeface="Calibri"/>
              </a:rPr>
              <a:t>Übereinstimmung</a:t>
            </a:r>
            <a:r>
              <a:rPr sz="1800" b="0" dirty="0">
                <a:latin typeface="Calibri"/>
                <a:ea typeface="Calibri"/>
                <a:cs typeface="Calibri"/>
              </a:rPr>
              <a:t> </a:t>
            </a:r>
            <a:r>
              <a:rPr sz="1800" b="0" dirty="0" err="1">
                <a:latin typeface="Calibri"/>
                <a:ea typeface="Calibri"/>
                <a:cs typeface="Calibri"/>
              </a:rPr>
              <a:t>mit</a:t>
            </a:r>
            <a:r>
              <a:rPr sz="1800" b="0" dirty="0">
                <a:latin typeface="Calibri"/>
                <a:ea typeface="Calibri"/>
                <a:cs typeface="Calibri"/>
              </a:rPr>
              <a:t> der </a:t>
            </a:r>
            <a:r>
              <a:rPr sz="1800" b="0" dirty="0" err="1">
                <a:latin typeface="Calibri"/>
                <a:ea typeface="Calibri"/>
                <a:cs typeface="Calibri"/>
              </a:rPr>
              <a:t>Kapazitätsreferenz</a:t>
            </a:r>
            <a:r>
              <a:rPr sz="1800" b="0" dirty="0">
                <a:latin typeface="Calibri"/>
                <a:ea typeface="Calibri"/>
                <a:cs typeface="Calibri"/>
              </a:rPr>
              <a:t>, MAE von 0,253 bis 0,487 </a:t>
            </a:r>
            <a:r>
              <a:rPr sz="1800" b="0" dirty="0" err="1">
                <a:latin typeface="Calibri"/>
                <a:ea typeface="Calibri"/>
                <a:cs typeface="Calibri"/>
              </a:rPr>
              <a:t>Prozentpunkten</a:t>
            </a:r>
            <a:endParaRPr sz="1800" b="0" dirty="0">
              <a:latin typeface="Calibri"/>
              <a:ea typeface="Calibri"/>
              <a:cs typeface="Calibri"/>
            </a:endParaRPr>
          </a:p>
        </p:txBody>
      </p:sp>
      <p:sp>
        <p:nvSpPr>
          <p:cNvPr id="15" name="V5_Text_15">
            <a:extLst>
              <a:ext uri="{FF2B5EF4-FFF2-40B4-BE49-F238E27FC236}">
                <a16:creationId xmlns:a16="http://schemas.microsoft.com/office/drawing/2014/main" id="{046AD55A-76FE-4B36-9E3F-F223247851B4}"/>
              </a:ext>
            </a:extLst>
          </p:cNvPr>
          <p:cNvSpPr>
            <a:spLocks noGrp="1"/>
          </p:cNvSpPr>
          <p:nvPr/>
        </p:nvSpPr>
        <p:spPr>
          <a:xfrm>
            <a:off x="552450" y="5067300"/>
            <a:ext cx="9353550" cy="638175"/>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Zelle 9:</a:t>
            </a:r>
            <a:r>
              <a:rPr sz="1800" b="0" dirty="0">
                <a:latin typeface="Calibri"/>
                <a:ea typeface="Calibri"/>
                <a:cs typeface="Calibri"/>
              </a:rPr>
              <a:t> </a:t>
            </a:r>
            <a:r>
              <a:rPr sz="1800" b="0" dirty="0" err="1">
                <a:latin typeface="Calibri"/>
                <a:ea typeface="Calibri"/>
                <a:cs typeface="Calibri"/>
              </a:rPr>
              <a:t>Größere</a:t>
            </a:r>
            <a:r>
              <a:rPr sz="1800" b="0" dirty="0">
                <a:latin typeface="Calibri"/>
                <a:ea typeface="Calibri"/>
                <a:cs typeface="Calibri"/>
              </a:rPr>
              <a:t> </a:t>
            </a:r>
            <a:r>
              <a:rPr sz="1800" b="0" dirty="0" err="1">
                <a:latin typeface="Calibri"/>
                <a:ea typeface="Calibri"/>
                <a:cs typeface="Calibri"/>
              </a:rPr>
              <a:t>systematische</a:t>
            </a:r>
            <a:r>
              <a:rPr sz="1800" b="0" dirty="0">
                <a:latin typeface="Calibri"/>
                <a:ea typeface="Calibri"/>
                <a:cs typeface="Calibri"/>
              </a:rPr>
              <a:t> und </a:t>
            </a:r>
            <a:r>
              <a:rPr sz="1800" b="0" dirty="0" err="1">
                <a:latin typeface="Calibri"/>
                <a:ea typeface="Calibri"/>
                <a:cs typeface="Calibri"/>
              </a:rPr>
              <a:t>lokale</a:t>
            </a:r>
            <a:r>
              <a:rPr sz="1800" b="0" dirty="0">
                <a:latin typeface="Calibri"/>
                <a:ea typeface="Calibri"/>
                <a:cs typeface="Calibri"/>
              </a:rPr>
              <a:t> </a:t>
            </a:r>
            <a:r>
              <a:rPr sz="1800" b="0" dirty="0" err="1">
                <a:latin typeface="Calibri"/>
                <a:ea typeface="Calibri"/>
                <a:cs typeface="Calibri"/>
              </a:rPr>
              <a:t>Abweichungen</a:t>
            </a:r>
            <a:r>
              <a:rPr sz="1800" b="0" dirty="0">
                <a:latin typeface="Calibri"/>
                <a:ea typeface="Calibri"/>
                <a:cs typeface="Calibri"/>
              </a:rPr>
              <a:t>, MAE 2,528 </a:t>
            </a:r>
            <a:r>
              <a:rPr sz="1800" b="0" dirty="0" err="1">
                <a:latin typeface="Calibri"/>
                <a:ea typeface="Calibri"/>
                <a:cs typeface="Calibri"/>
              </a:rPr>
              <a:t>Prozentpunkte</a:t>
            </a:r>
            <a:r>
              <a:rPr sz="1800" b="0" dirty="0">
                <a:latin typeface="Calibri"/>
                <a:ea typeface="Calibri"/>
                <a:cs typeface="Calibri"/>
              </a:rPr>
              <a:t> </a:t>
            </a:r>
            <a:r>
              <a:rPr sz="1800" b="0" dirty="0" err="1">
                <a:latin typeface="Calibri"/>
                <a:ea typeface="Calibri"/>
                <a:cs typeface="Calibri"/>
              </a:rPr>
              <a:t>als</a:t>
            </a:r>
            <a:r>
              <a:rPr sz="1800" b="0" dirty="0">
                <a:latin typeface="Calibri"/>
                <a:ea typeface="Calibri"/>
                <a:cs typeface="Calibri"/>
              </a:rPr>
              <a:t> </a:t>
            </a:r>
            <a:r>
              <a:rPr sz="1800" b="0" dirty="0" err="1">
                <a:latin typeface="Calibri"/>
                <a:ea typeface="Calibri"/>
                <a:cs typeface="Calibri"/>
              </a:rPr>
              <a:t>Grenze</a:t>
            </a:r>
            <a:r>
              <a:rPr sz="1800" b="0" dirty="0">
                <a:latin typeface="Calibri"/>
                <a:ea typeface="Calibri"/>
                <a:cs typeface="Calibri"/>
              </a:rPr>
              <a:t> der </a:t>
            </a:r>
            <a:r>
              <a:rPr sz="1800" b="0" dirty="0" err="1">
                <a:latin typeface="Calibri"/>
                <a:ea typeface="Calibri"/>
                <a:cs typeface="Calibri"/>
              </a:rPr>
              <a:t>Übertragbarkeit</a:t>
            </a:r>
            <a:endParaRPr sz="1800" b="0" dirty="0">
              <a:latin typeface="Calibri"/>
              <a:ea typeface="Calibri"/>
              <a:cs typeface="Calibri"/>
            </a:endParaRPr>
          </a:p>
        </p:txBody>
      </p:sp>
      <p:sp>
        <p:nvSpPr>
          <p:cNvPr id="20" name="Structure separator">
            <a:extLst>
              <a:ext uri="{FF2B5EF4-FFF2-40B4-BE49-F238E27FC236}">
                <a16:creationId xmlns:a16="http://schemas.microsoft.com/office/drawing/2014/main" id="{3F74B574-9DDB-41DD-8EB5-E987849481F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1" name="Structure label">
            <a:extLst>
              <a:ext uri="{FF2B5EF4-FFF2-40B4-BE49-F238E27FC236}">
                <a16:creationId xmlns:a16="http://schemas.microsoft.com/office/drawing/2014/main" id="{025ED990-F646-4CFB-896C-3FF0A7CD2F19}"/>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2" name="Structure 0">
            <a:extLst>
              <a:ext uri="{FF2B5EF4-FFF2-40B4-BE49-F238E27FC236}">
                <a16:creationId xmlns:a16="http://schemas.microsoft.com/office/drawing/2014/main" id="{4FB9A4E9-050D-47AC-B24E-13FC542FE14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3" name="Structure 1">
            <a:extLst>
              <a:ext uri="{FF2B5EF4-FFF2-40B4-BE49-F238E27FC236}">
                <a16:creationId xmlns:a16="http://schemas.microsoft.com/office/drawing/2014/main" id="{85A777C8-8760-4EFC-938B-4D4791F6374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4" name="Structure 2">
            <a:extLst>
              <a:ext uri="{FF2B5EF4-FFF2-40B4-BE49-F238E27FC236}">
                <a16:creationId xmlns:a16="http://schemas.microsoft.com/office/drawing/2014/main" id="{74C06C63-AF54-46B6-8D03-410829E5C9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5" name="Structure 3">
            <a:extLst>
              <a:ext uri="{FF2B5EF4-FFF2-40B4-BE49-F238E27FC236}">
                <a16:creationId xmlns:a16="http://schemas.microsoft.com/office/drawing/2014/main" id="{E29C5E9C-0937-43B9-A16E-CDE57FB5745B}"/>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6" name="Structure 4">
            <a:extLst>
              <a:ext uri="{FF2B5EF4-FFF2-40B4-BE49-F238E27FC236}">
                <a16:creationId xmlns:a16="http://schemas.microsoft.com/office/drawing/2014/main" id="{E74FB181-2734-4411-8982-76047EA3378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7" name="Structure 5">
            <a:extLst>
              <a:ext uri="{FF2B5EF4-FFF2-40B4-BE49-F238E27FC236}">
                <a16:creationId xmlns:a16="http://schemas.microsoft.com/office/drawing/2014/main" id="{DE8E4828-00D8-4B28-84DC-26B623D314C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4" name="Footer – Seitennummer">
            <a:extLst>
              <a:ext uri="{FF2B5EF4-FFF2-40B4-BE49-F238E27FC236}">
                <a16:creationId xmlns:a16="http://schemas.microsoft.com/office/drawing/2014/main" id="{90838A9D-C538-42B5-9006-D82EA3E17A0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12 / 39</a:t>
            </a:r>
          </a:p>
        </p:txBody>
      </p:sp>
      <p:sp>
        <p:nvSpPr>
          <p:cNvPr id="35" name="Footer – Präsentationsangaben">
            <a:extLst>
              <a:ext uri="{FF2B5EF4-FFF2-40B4-BE49-F238E27FC236}">
                <a16:creationId xmlns:a16="http://schemas.microsoft.com/office/drawing/2014/main" id="{99899E20-F41D-462C-9200-B361F03145A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6" name="Quellenverweis 4">
            <a:extLst>
              <a:ext uri="{FF2B5EF4-FFF2-40B4-BE49-F238E27FC236}">
                <a16:creationId xmlns:a16="http://schemas.microsoft.com/office/drawing/2014/main" id="{D3D480AD-0BDD-45DE-81F7-CA9D9C80B9D6}"/>
              </a:ext>
            </a:extLst>
          </p:cNvPr>
          <p:cNvSpPr>
            <a:spLocks noGrp="1"/>
          </p:cNvSpPr>
          <p:nvPr/>
        </p:nvSpPr>
        <p:spPr>
          <a:xfrm>
            <a:off x="8943975" y="4114800"/>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629550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dirty="0">
                <a:solidFill>
                  <a:srgbClr val="CC001C"/>
                </a:solidFill>
                <a:latin typeface="Calibri"/>
                <a:ea typeface="Calibri"/>
                <a:cs typeface="Calibri"/>
              </a:rPr>
              <a:t>Benchmark: </a:t>
            </a:r>
            <a:r>
              <a:rPr sz="2400" b="0" dirty="0" err="1">
                <a:solidFill>
                  <a:srgbClr val="CC001C"/>
                </a:solidFill>
                <a:latin typeface="Calibri"/>
                <a:ea typeface="Calibri"/>
                <a:cs typeface="Calibri"/>
              </a:rPr>
              <a:t>Genauigkeit</a:t>
            </a:r>
            <a:r>
              <a:rPr sz="2400" b="0" dirty="0">
                <a:solidFill>
                  <a:srgbClr val="CC001C"/>
                </a:solidFill>
                <a:latin typeface="Calibri"/>
                <a:ea typeface="Calibri"/>
                <a:cs typeface="Calibri"/>
              </a:rPr>
              <a:t>, </a:t>
            </a:r>
            <a:r>
              <a:rPr sz="2400" b="0" dirty="0" err="1">
                <a:solidFill>
                  <a:srgbClr val="CC001C"/>
                </a:solidFill>
                <a:latin typeface="Calibri"/>
                <a:ea typeface="Calibri"/>
                <a:cs typeface="Calibri"/>
              </a:rPr>
              <a:t>Robustheit</a:t>
            </a:r>
            <a:r>
              <a:rPr sz="2400" b="0" dirty="0">
                <a:solidFill>
                  <a:srgbClr val="CC001C"/>
                </a:solidFill>
                <a:latin typeface="Calibri"/>
                <a:ea typeface="Calibri"/>
                <a:cs typeface="Calibri"/>
              </a:rPr>
              <a:t> und Recovery</a:t>
            </a:r>
            <a:endParaRPr dirty="0"/>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6" name="V5_Figure_11"/>
          <p:cNvPicPr>
            <a:picLocks noChangeAspect="1"/>
          </p:cNvPicPr>
          <p:nvPr/>
        </p:nvPicPr>
        <p:blipFill>
          <a:blip r:embed="rId3"/>
          <a:stretch/>
        </p:blipFill>
        <p:spPr>
          <a:xfrm>
            <a:off x="552450" y="1827613"/>
            <a:ext cx="4667250" cy="2936074"/>
          </a:xfrm>
          <a:prstGeom prst="rect">
            <a:avLst/>
          </a:prstGeom>
        </p:spPr>
      </p:pic>
      <p:pic>
        <p:nvPicPr>
          <p:cNvPr id="48" name="V6_TU_Logo"/>
          <p:cNvPicPr>
            <a:picLocks noChangeAspect="1"/>
          </p:cNvPicPr>
          <p:nvPr/>
        </p:nvPicPr>
        <p:blipFill>
          <a:blip r:embed="rId4"/>
          <a:stretch>
            <a:fillRect/>
          </a:stretch>
        </p:blipFill>
        <p:spPr>
          <a:xfrm>
            <a:off x="10614660" y="378460"/>
            <a:ext cx="1003300" cy="767080"/>
          </a:xfrm>
          <a:prstGeom prst="rect">
            <a:avLst/>
          </a:prstGeom>
        </p:spPr>
      </p:pic>
      <p:sp>
        <p:nvSpPr>
          <p:cNvPr id="27" name="Structure separator">
            <a:extLst>
              <a:ext uri="{FF2B5EF4-FFF2-40B4-BE49-F238E27FC236}">
                <a16:creationId xmlns:a16="http://schemas.microsoft.com/office/drawing/2014/main" id="{F986BC85-8215-4516-835B-0B1E6B659BC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8" name="Structure label">
            <a:extLst>
              <a:ext uri="{FF2B5EF4-FFF2-40B4-BE49-F238E27FC236}">
                <a16:creationId xmlns:a16="http://schemas.microsoft.com/office/drawing/2014/main" id="{7EC0A97F-B555-4035-B581-A63067A85DA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9" name="Structure 0">
            <a:extLst>
              <a:ext uri="{FF2B5EF4-FFF2-40B4-BE49-F238E27FC236}">
                <a16:creationId xmlns:a16="http://schemas.microsoft.com/office/drawing/2014/main" id="{2D87AB16-3FAF-484C-BC38-8830B9AE83F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30" name="Structure 1">
            <a:extLst>
              <a:ext uri="{FF2B5EF4-FFF2-40B4-BE49-F238E27FC236}">
                <a16:creationId xmlns:a16="http://schemas.microsoft.com/office/drawing/2014/main" id="{70D37578-7ACC-4115-9987-CB09AA90826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31" name="Structure 2">
            <a:extLst>
              <a:ext uri="{FF2B5EF4-FFF2-40B4-BE49-F238E27FC236}">
                <a16:creationId xmlns:a16="http://schemas.microsoft.com/office/drawing/2014/main" id="{6B036FC8-9BC6-444D-A807-2ADA3E2CCD56}"/>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2" name="Structure 3">
            <a:extLst>
              <a:ext uri="{FF2B5EF4-FFF2-40B4-BE49-F238E27FC236}">
                <a16:creationId xmlns:a16="http://schemas.microsoft.com/office/drawing/2014/main" id="{DB3F4A94-B35C-4978-B5FE-881B155E86DA}"/>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33" name="Structure 4">
            <a:extLst>
              <a:ext uri="{FF2B5EF4-FFF2-40B4-BE49-F238E27FC236}">
                <a16:creationId xmlns:a16="http://schemas.microsoft.com/office/drawing/2014/main" id="{1CE0D6D1-CD23-40F8-AB07-1507FF87C5F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34" name="Structure 5">
            <a:extLst>
              <a:ext uri="{FF2B5EF4-FFF2-40B4-BE49-F238E27FC236}">
                <a16:creationId xmlns:a16="http://schemas.microsoft.com/office/drawing/2014/main" id="{899F46D2-F5EA-4F24-AAE9-ACE51D34927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Hardware_highlight">
            <a:extLst>
              <a:ext uri="{FF2B5EF4-FFF2-40B4-BE49-F238E27FC236}">
                <a16:creationId xmlns:a16="http://schemas.microsoft.com/office/drawing/2014/main" id="{94F878CC-F4B9-457E-BA55-8F521681AC2F}"/>
              </a:ext>
            </a:extLst>
          </p:cNvPr>
          <p:cNvSpPr>
            <a:spLocks noGrp="1"/>
          </p:cNvSpPr>
          <p:nvPr/>
        </p:nvSpPr>
        <p:spPr>
          <a:xfrm>
            <a:off x="638316" y="2957725"/>
            <a:ext cx="1783804" cy="1800423"/>
          </a:xfrm>
          <a:custGeom>
            <a:avLst/>
            <a:gdLst/>
            <a:ahLst/>
            <a:cxnLst/>
            <a:rect l="0" t="0" r="0" b="0"/>
            <a:pathLst>
              <a:path w="1783804" h="1800423">
                <a:moveTo>
                  <a:pt x="1569748" y="684161"/>
                </a:moveTo>
                <a:lnTo>
                  <a:pt x="891902" y="0"/>
                </a:lnTo>
                <a:lnTo>
                  <a:pt x="0" y="900212"/>
                </a:lnTo>
                <a:lnTo>
                  <a:pt x="891902" y="1800423"/>
                </a:lnTo>
                <a:lnTo>
                  <a:pt x="1569748" y="1116262"/>
                </a:lnTo>
              </a:path>
            </a:pathLst>
          </a:custGeom>
          <a:noFill/>
          <a:ln w="23105">
            <a:solidFill>
              <a:srgbClr val="C40D1E"/>
            </a:solidFill>
          </a:ln>
        </p:spPr>
        <p:txBody>
          <a:bodyPr/>
          <a:lstStyle/>
          <a:p>
            <a:endParaRPr lang="de-DE"/>
          </a:p>
        </p:txBody>
      </p:sp>
      <p:sp>
        <p:nvSpPr>
          <p:cNvPr id="1001" name="BM_Performance_highlight">
            <a:extLst>
              <a:ext uri="{FF2B5EF4-FFF2-40B4-BE49-F238E27FC236}">
                <a16:creationId xmlns:a16="http://schemas.microsoft.com/office/drawing/2014/main" id="{CDF43DDD-3E03-4BF1-9A5D-C24B1DE54FAA}"/>
              </a:ext>
            </a:extLst>
          </p:cNvPr>
          <p:cNvSpPr>
            <a:spLocks noGrp="1"/>
          </p:cNvSpPr>
          <p:nvPr/>
        </p:nvSpPr>
        <p:spPr>
          <a:xfrm>
            <a:off x="3433127" y="2946645"/>
            <a:ext cx="1781034" cy="1794883"/>
          </a:xfrm>
          <a:custGeom>
            <a:avLst/>
            <a:gdLst/>
            <a:ahLst/>
            <a:cxnLst/>
            <a:rect l="0" t="0" r="0" b="0"/>
            <a:pathLst>
              <a:path w="1781034" h="1794883">
                <a:moveTo>
                  <a:pt x="213724" y="682056"/>
                </a:moveTo>
                <a:lnTo>
                  <a:pt x="890517" y="0"/>
                </a:lnTo>
                <a:lnTo>
                  <a:pt x="1781034" y="897442"/>
                </a:lnTo>
                <a:lnTo>
                  <a:pt x="890517" y="1794883"/>
                </a:lnTo>
                <a:lnTo>
                  <a:pt x="213724" y="1112827"/>
                </a:lnTo>
              </a:path>
            </a:pathLst>
          </a:custGeom>
          <a:noFill/>
          <a:ln w="23105">
            <a:solidFill>
              <a:srgbClr val="C40D1E"/>
            </a:solidFill>
          </a:ln>
        </p:spPr>
        <p:txBody>
          <a:bodyPr/>
          <a:lstStyle/>
          <a:p>
            <a:endParaRPr lang="de-DE"/>
          </a:p>
        </p:txBody>
      </p:sp>
      <p:sp>
        <p:nvSpPr>
          <p:cNvPr id="1002" name="Footer – Seitennummer">
            <a:extLst>
              <a:ext uri="{FF2B5EF4-FFF2-40B4-BE49-F238E27FC236}">
                <a16:creationId xmlns:a16="http://schemas.microsoft.com/office/drawing/2014/main" id="{9327931A-59C5-4FE4-9875-C57620C29D0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13 / 39</a:t>
            </a:r>
          </a:p>
        </p:txBody>
      </p:sp>
      <p:sp>
        <p:nvSpPr>
          <p:cNvPr id="1003" name="Footer – Präsentationsangaben">
            <a:extLst>
              <a:ext uri="{FF2B5EF4-FFF2-40B4-BE49-F238E27FC236}">
                <a16:creationId xmlns:a16="http://schemas.microsoft.com/office/drawing/2014/main" id="{2B942525-EF8A-4F23-AD1A-7E094545A8A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07" name="Trennlinie eigene Arbeit">
            <a:extLst>
              <a:ext uri="{FF2B5EF4-FFF2-40B4-BE49-F238E27FC236}">
                <a16:creationId xmlns:a16="http://schemas.microsoft.com/office/drawing/2014/main" id="{3B42F3B2-7DCD-4C4B-BB73-E2BBAA88C179}"/>
              </a:ext>
            </a:extLst>
          </p:cNvPr>
          <p:cNvSpPr>
            <a:spLocks noGrp="1"/>
          </p:cNvSpPr>
          <p:nvPr/>
        </p:nvSpPr>
        <p:spPr>
          <a:xfrm>
            <a:off x="552450" y="5220900"/>
            <a:ext cx="9496425" cy="9525"/>
          </a:xfrm>
          <a:prstGeom prst="rect">
            <a:avLst/>
          </a:prstGeom>
          <a:solidFill>
            <a:srgbClr val="D9D9D9"/>
          </a:solidFill>
          <a:ln w="0">
            <a:noFill/>
          </a:ln>
        </p:spPr>
        <p:txBody>
          <a:bodyPr/>
          <a:lstStyle/>
          <a:p>
            <a:endParaRPr lang="de-DE"/>
          </a:p>
        </p:txBody>
      </p:sp>
      <p:sp>
        <p:nvSpPr>
          <p:cNvPr id="1004" name="Motivation">
            <a:extLst>
              <a:ext uri="{FF2B5EF4-FFF2-40B4-BE49-F238E27FC236}">
                <a16:creationId xmlns:a16="http://schemas.microsoft.com/office/drawing/2014/main" id="{5BA2A449-5CBA-458F-8558-2154BBC65239}"/>
              </a:ext>
            </a:extLst>
          </p:cNvPr>
          <p:cNvSpPr>
            <a:spLocks noGrp="1"/>
          </p:cNvSpPr>
          <p:nvPr/>
        </p:nvSpPr>
        <p:spPr>
          <a:xfrm>
            <a:off x="5705475" y="14763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a:solidFill>
                  <a:srgbClr val="404040"/>
                </a:solidFill>
                <a:latin typeface="Calibri"/>
                <a:ea typeface="Calibri"/>
                <a:cs typeface="Calibri"/>
              </a:rPr>
              <a:t>Motivation:</a:t>
            </a:r>
            <a:r>
              <a:rPr sz="1800" b="0" dirty="0">
                <a:solidFill>
                  <a:srgbClr val="404040"/>
                </a:solidFill>
                <a:latin typeface="Calibri"/>
                <a:ea typeface="Calibri"/>
                <a:cs typeface="Calibri"/>
              </a:rPr>
              <a:t> </a:t>
            </a:r>
            <a:r>
              <a:rPr lang="de-DE" sz="1800" b="0" dirty="0">
                <a:solidFill>
                  <a:srgbClr val="404040"/>
                </a:solidFill>
                <a:latin typeface="Calibri"/>
                <a:ea typeface="Calibri"/>
                <a:cs typeface="Calibri"/>
              </a:rPr>
              <a:t>Aussage über Zuverlässigkeit </a:t>
            </a:r>
          </a:p>
          <a:p>
            <a:pPr>
              <a:defRPr sz="1800" b="0">
                <a:solidFill>
                  <a:srgbClr val="404040"/>
                </a:solidFill>
                <a:latin typeface="Calibri"/>
                <a:ea typeface="Calibri"/>
                <a:cs typeface="Calibri"/>
              </a:defRPr>
            </a:pPr>
            <a:r>
              <a:rPr lang="de-DE" sz="1800" b="0" dirty="0">
                <a:solidFill>
                  <a:srgbClr val="404040"/>
                </a:solidFill>
                <a:latin typeface="Calibri"/>
                <a:ea typeface="Calibri"/>
                <a:cs typeface="Calibri"/>
              </a:rPr>
              <a:t>der Modelle im</a:t>
            </a:r>
            <a:r>
              <a:rPr lang="de-DE" dirty="0">
                <a:solidFill>
                  <a:srgbClr val="404040"/>
                </a:solidFill>
                <a:latin typeface="Calibri"/>
                <a:ea typeface="Calibri"/>
                <a:cs typeface="Calibri"/>
              </a:rPr>
              <a:t> </a:t>
            </a:r>
            <a:r>
              <a:rPr lang="de-DE" sz="1800" b="0" dirty="0">
                <a:solidFill>
                  <a:srgbClr val="404040"/>
                </a:solidFill>
                <a:latin typeface="Calibri"/>
                <a:ea typeface="Calibri"/>
                <a:cs typeface="Calibri"/>
              </a:rPr>
              <a:t>realen </a:t>
            </a:r>
            <a:r>
              <a:rPr sz="1800" b="0" dirty="0" err="1">
                <a:solidFill>
                  <a:srgbClr val="404040"/>
                </a:solidFill>
                <a:latin typeface="Calibri"/>
                <a:ea typeface="Calibri"/>
                <a:cs typeface="Calibri"/>
              </a:rPr>
              <a:t>Betrieb</a:t>
            </a:r>
            <a:r>
              <a:rPr lang="de-DE" dirty="0">
                <a:solidFill>
                  <a:srgbClr val="404040"/>
                </a:solidFill>
                <a:latin typeface="Calibri"/>
                <a:ea typeface="Calibri"/>
                <a:cs typeface="Calibri"/>
              </a:rPr>
              <a:t> </a:t>
            </a:r>
            <a:r>
              <a:rPr sz="1800" b="0" dirty="0" err="1">
                <a:solidFill>
                  <a:srgbClr val="404040"/>
                </a:solidFill>
                <a:latin typeface="Calibri"/>
                <a:ea typeface="Calibri"/>
                <a:cs typeface="Calibri"/>
              </a:rPr>
              <a:t>mit</a:t>
            </a:r>
            <a:r>
              <a:rPr sz="1800" b="0" dirty="0">
                <a:solidFill>
                  <a:srgbClr val="404040"/>
                </a:solidFill>
                <a:latin typeface="Calibri"/>
                <a:ea typeface="Calibri"/>
                <a:cs typeface="Calibri"/>
              </a:rPr>
              <a:t> </a:t>
            </a:r>
            <a:endParaRPr lang="de-DE"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gestörten</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Messsignalen</a:t>
            </a:r>
            <a:endParaRPr sz="1800" b="0" dirty="0">
              <a:solidFill>
                <a:srgbClr val="404040"/>
              </a:solidFill>
              <a:latin typeface="Calibri"/>
              <a:ea typeface="Calibri"/>
              <a:cs typeface="Calibri"/>
            </a:endParaRPr>
          </a:p>
        </p:txBody>
      </p:sp>
      <p:sp>
        <p:nvSpPr>
          <p:cNvPr id="1009" name="Paper-Titel">
            <a:extLst>
              <a:ext uri="{FF2B5EF4-FFF2-40B4-BE49-F238E27FC236}">
                <a16:creationId xmlns:a16="http://schemas.microsoft.com/office/drawing/2014/main" id="{AC3B07B9-7CF1-406E-A269-428672985AE2}"/>
              </a:ext>
            </a:extLst>
          </p:cNvPr>
          <p:cNvSpPr>
            <a:spLocks noGrp="1"/>
          </p:cNvSpPr>
          <p:nvPr/>
        </p:nvSpPr>
        <p:spPr>
          <a:xfrm>
            <a:off x="552450" y="536377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dirty="0">
                <a:solidFill>
                  <a:srgbClr val="404040"/>
                </a:solidFill>
                <a:latin typeface="Calibri"/>
                <a:ea typeface="Calibri"/>
                <a:cs typeface="Calibri"/>
              </a:rPr>
              <a:t>Performance and Robustness Benchmarking Across Battery State-of-Charge Estimator Classes for Embedded Applications</a:t>
            </a:r>
          </a:p>
        </p:txBody>
      </p:sp>
      <p:sp>
        <p:nvSpPr>
          <p:cNvPr id="1008" name="Paper-Angabe">
            <a:extLst>
              <a:ext uri="{FF2B5EF4-FFF2-40B4-BE49-F238E27FC236}">
                <a16:creationId xmlns:a16="http://schemas.microsoft.com/office/drawing/2014/main" id="{D75B9F10-B105-4106-A394-89D76F200B1A}"/>
              </a:ext>
            </a:extLst>
          </p:cNvPr>
          <p:cNvSpPr>
            <a:spLocks noGrp="1"/>
          </p:cNvSpPr>
          <p:nvPr/>
        </p:nvSpPr>
        <p:spPr>
          <a:xfrm>
            <a:off x="552450" y="561142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Rzepka, Chen &amp; Kowal (2026), eingereichtes Manuskript bei EAAI [16]</a:t>
            </a:r>
          </a:p>
        </p:txBody>
      </p:sp>
      <p:sp>
        <p:nvSpPr>
          <p:cNvPr id="2" name="Textfeld 1">
            <a:extLst>
              <a:ext uri="{FF2B5EF4-FFF2-40B4-BE49-F238E27FC236}">
                <a16:creationId xmlns:a16="http://schemas.microsoft.com/office/drawing/2014/main" id="{DA0E4E55-2673-CF9D-5ACB-2569AB5A32AA}"/>
              </a:ext>
            </a:extLst>
          </p:cNvPr>
          <p:cNvSpPr txBox="1"/>
          <p:nvPr/>
        </p:nvSpPr>
        <p:spPr>
          <a:xfrm>
            <a:off x="5607892" y="2514457"/>
            <a:ext cx="4667247" cy="1477328"/>
          </a:xfrm>
          <a:prstGeom prst="rect">
            <a:avLst/>
          </a:prstGeom>
          <a:noFill/>
        </p:spPr>
        <p:txBody>
          <a:bodyPr wrap="square" rtlCol="0">
            <a:spAutoFit/>
          </a:bodyPr>
          <a:lstStyle/>
          <a:p>
            <a:pPr>
              <a:defRPr sz="1800" b="0">
                <a:solidFill>
                  <a:srgbClr val="404040"/>
                </a:solidFill>
                <a:latin typeface="Calibri"/>
                <a:ea typeface="Calibri"/>
                <a:cs typeface="Calibri"/>
              </a:defRPr>
            </a:pPr>
            <a:r>
              <a:rPr lang="de-DE" b="1" dirty="0">
                <a:solidFill>
                  <a:srgbClr val="404040"/>
                </a:solidFill>
                <a:latin typeface="Calibri"/>
                <a:ea typeface="Calibri"/>
                <a:cs typeface="Calibri"/>
              </a:rPr>
              <a:t>Methodik:</a:t>
            </a:r>
            <a:r>
              <a:rPr lang="de-DE" dirty="0">
                <a:solidFill>
                  <a:srgbClr val="404040"/>
                </a:solidFill>
                <a:latin typeface="Calibri"/>
                <a:ea typeface="Calibri"/>
                <a:cs typeface="Calibri"/>
              </a:rPr>
              <a:t> </a:t>
            </a:r>
          </a:p>
          <a:p>
            <a:pPr marL="285750" indent="-285750">
              <a:buFont typeface="Arial" panose="020B0604020202020204" pitchFamily="34" charset="0"/>
              <a:buChar char="•"/>
              <a:defRPr sz="1800" b="0">
                <a:solidFill>
                  <a:srgbClr val="404040"/>
                </a:solidFill>
                <a:latin typeface="Calibri"/>
                <a:ea typeface="Calibri"/>
                <a:cs typeface="Calibri"/>
              </a:defRPr>
            </a:pPr>
            <a:r>
              <a:rPr lang="de-DE" dirty="0">
                <a:solidFill>
                  <a:srgbClr val="404040"/>
                </a:solidFill>
                <a:latin typeface="Calibri"/>
                <a:ea typeface="Calibri"/>
                <a:cs typeface="Calibri"/>
              </a:rPr>
              <a:t>Vergleich von DM, HDM, HECM und DD bei gleichen Störungen</a:t>
            </a:r>
          </a:p>
          <a:p>
            <a:pPr marL="285750" indent="-285750">
              <a:buFont typeface="Arial" panose="020B0604020202020204" pitchFamily="34" charset="0"/>
              <a:buChar char="•"/>
              <a:defRPr sz="1800" b="0">
                <a:solidFill>
                  <a:srgbClr val="404040"/>
                </a:solidFill>
                <a:latin typeface="Calibri"/>
                <a:ea typeface="Calibri"/>
                <a:cs typeface="Calibri"/>
              </a:defRPr>
            </a:pPr>
            <a:r>
              <a:rPr lang="de-DE" dirty="0">
                <a:solidFill>
                  <a:srgbClr val="404040"/>
                </a:solidFill>
                <a:latin typeface="Calibri"/>
                <a:ea typeface="Calibri"/>
                <a:cs typeface="Calibri"/>
              </a:rPr>
              <a:t>Messung lokaler Fehler, Recovery und Hardwarebedarf auf dem STM32</a:t>
            </a:r>
          </a:p>
        </p:txBody>
      </p:sp>
      <p:sp>
        <p:nvSpPr>
          <p:cNvPr id="5" name="Textfeld 4">
            <a:extLst>
              <a:ext uri="{FF2B5EF4-FFF2-40B4-BE49-F238E27FC236}">
                <a16:creationId xmlns:a16="http://schemas.microsoft.com/office/drawing/2014/main" id="{DD44FB6A-6287-ABE7-4BCB-D44CFB90B844}"/>
              </a:ext>
            </a:extLst>
          </p:cNvPr>
          <p:cNvSpPr txBox="1"/>
          <p:nvPr/>
        </p:nvSpPr>
        <p:spPr>
          <a:xfrm>
            <a:off x="5588702" y="4055356"/>
            <a:ext cx="4526849" cy="1200329"/>
          </a:xfrm>
          <a:prstGeom prst="rect">
            <a:avLst/>
          </a:prstGeom>
          <a:noFill/>
        </p:spPr>
        <p:txBody>
          <a:bodyPr wrap="square" rtlCol="0">
            <a:spAutoFit/>
          </a:bodyPr>
          <a:lstStyle/>
          <a:p>
            <a:pPr>
              <a:defRPr sz="1800" b="0">
                <a:solidFill>
                  <a:srgbClr val="404040"/>
                </a:solidFill>
                <a:latin typeface="Calibri"/>
                <a:ea typeface="Calibri"/>
                <a:cs typeface="Calibri"/>
              </a:defRPr>
            </a:pPr>
            <a:r>
              <a:rPr lang="de-DE" b="1" dirty="0">
                <a:solidFill>
                  <a:srgbClr val="404040"/>
                </a:solidFill>
                <a:latin typeface="Calibri"/>
                <a:ea typeface="Calibri"/>
                <a:cs typeface="Calibri"/>
              </a:rPr>
              <a:t>Ziel:</a:t>
            </a:r>
            <a:r>
              <a:rPr lang="de-DE" dirty="0">
                <a:solidFill>
                  <a:srgbClr val="404040"/>
                </a:solidFill>
                <a:latin typeface="Calibri"/>
                <a:ea typeface="Calibri"/>
                <a:cs typeface="Calibri"/>
              </a:rPr>
              <a:t> </a:t>
            </a:r>
            <a:r>
              <a:rPr lang="de-DE" dirty="0" err="1">
                <a:solidFill>
                  <a:srgbClr val="404040"/>
                </a:solidFill>
                <a:latin typeface="Calibri"/>
                <a:ea typeface="Calibri"/>
                <a:cs typeface="Calibri"/>
              </a:rPr>
              <a:t>Benchmarkkritieren</a:t>
            </a:r>
            <a:r>
              <a:rPr lang="de-DE" dirty="0">
                <a:solidFill>
                  <a:srgbClr val="404040"/>
                </a:solidFill>
                <a:latin typeface="Calibri"/>
                <a:ea typeface="Calibri"/>
                <a:cs typeface="Calibri"/>
              </a:rPr>
              <a:t> für eine belastbare Bewertung von Genauigkeit, Störfestigkeit und</a:t>
            </a:r>
          </a:p>
          <a:p>
            <a:pPr>
              <a:defRPr sz="1800" b="0">
                <a:solidFill>
                  <a:srgbClr val="404040"/>
                </a:solidFill>
                <a:latin typeface="Calibri"/>
                <a:ea typeface="Calibri"/>
                <a:cs typeface="Calibri"/>
              </a:defRPr>
            </a:pPr>
            <a:r>
              <a:rPr lang="de-DE" dirty="0">
                <a:solidFill>
                  <a:srgbClr val="404040"/>
                </a:solidFill>
                <a:latin typeface="Calibri"/>
                <a:ea typeface="Calibri"/>
                <a:cs typeface="Calibri"/>
              </a:rPr>
              <a:t>Eignung für </a:t>
            </a:r>
            <a:r>
              <a:rPr lang="de-DE" dirty="0" err="1">
                <a:solidFill>
                  <a:srgbClr val="404040"/>
                </a:solidFill>
                <a:latin typeface="Calibri"/>
                <a:ea typeface="Calibri"/>
                <a:cs typeface="Calibri"/>
              </a:rPr>
              <a:t>embedded</a:t>
            </a:r>
            <a:r>
              <a:rPr lang="de-DE" dirty="0">
                <a:solidFill>
                  <a:srgbClr val="404040"/>
                </a:solidFill>
                <a:latin typeface="Calibri"/>
                <a:ea typeface="Calibri"/>
                <a:cs typeface="Calibri"/>
              </a:rPr>
              <a:t> Models </a:t>
            </a:r>
          </a:p>
          <a:p>
            <a:endParaRPr lang="de-DE" dirty="0"/>
          </a:p>
        </p:txBody>
      </p:sp>
    </p:spTree>
    <p:extLst>
      <p:ext uri="{BB962C8B-B14F-4D97-AF65-F5344CB8AC3E}">
        <p14:creationId xmlns:p14="http://schemas.microsoft.com/office/powerpoint/2010/main" val="1159226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14">
            <a:extLst>
              <a:ext uri="{FF2B5EF4-FFF2-40B4-BE49-F238E27FC236}">
                <a16:creationId xmlns:a16="http://schemas.microsoft.com/office/drawing/2014/main" id="{4BA1EF5A-C428-4727-AAB4-566C2042BAE1}"/>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current_model_accent_15">
            <a:extLst>
              <a:ext uri="{FF2B5EF4-FFF2-40B4-BE49-F238E27FC236}">
                <a16:creationId xmlns:a16="http://schemas.microsoft.com/office/drawing/2014/main" id="{3F1E9146-DEC1-4A2F-B3DF-73A8B2407B5F}"/>
              </a:ext>
            </a:extLst>
          </p:cNvPr>
          <p:cNvSpPr>
            <a:spLocks noGrp="1"/>
          </p:cNvSpPr>
          <p:nvPr/>
        </p:nvSpPr>
        <p:spPr>
          <a:xfrm>
            <a:off x="552450" y="1657350"/>
            <a:ext cx="28575" cy="685800"/>
          </a:xfrm>
          <a:prstGeom prst="rect">
            <a:avLst/>
          </a:prstGeom>
          <a:solidFill>
            <a:srgbClr val="D00020"/>
          </a:solidFill>
          <a:ln w="0">
            <a:noFill/>
          </a:ln>
        </p:spPr>
        <p:txBody>
          <a:bodyPr/>
          <a:lstStyle/>
          <a:p>
            <a:endParaRPr lang="de-DE"/>
          </a:p>
        </p:txBody>
      </p:sp>
      <p:sp>
        <p:nvSpPr>
          <p:cNvPr id="1002" name="BM_model_list_abbr_0_16">
            <a:extLst>
              <a:ext uri="{FF2B5EF4-FFF2-40B4-BE49-F238E27FC236}">
                <a16:creationId xmlns:a16="http://schemas.microsoft.com/office/drawing/2014/main" id="{E9B3A2B7-08A1-40E9-AC36-5EFBBEB5D547}"/>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DM</a:t>
            </a:r>
          </a:p>
        </p:txBody>
      </p:sp>
      <p:sp>
        <p:nvSpPr>
          <p:cNvPr id="1003" name="BM_model_list_family_0_17">
            <a:extLst>
              <a:ext uri="{FF2B5EF4-FFF2-40B4-BE49-F238E27FC236}">
                <a16:creationId xmlns:a16="http://schemas.microsoft.com/office/drawing/2014/main" id="{348627AA-E9A8-4F29-97B1-21794DE4B902}"/>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Direct Measurement</a:t>
            </a:r>
          </a:p>
        </p:txBody>
      </p:sp>
      <p:sp>
        <p:nvSpPr>
          <p:cNvPr id="1004" name="BM_model_focus_18">
            <a:extLst>
              <a:ext uri="{FF2B5EF4-FFF2-40B4-BE49-F238E27FC236}">
                <a16:creationId xmlns:a16="http://schemas.microsoft.com/office/drawing/2014/main" id="{C81B2C3B-2964-4BEB-BE70-CEBF60454E06}"/>
              </a:ext>
            </a:extLst>
          </p:cNvPr>
          <p:cNvSpPr>
            <a:spLocks noGrp="1"/>
          </p:cNvSpPr>
          <p:nvPr/>
        </p:nvSpPr>
        <p:spPr>
          <a:xfrm>
            <a:off x="4623757" y="1533525"/>
            <a:ext cx="5320343" cy="6191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Stromintegration mit fester Kapazität</a:t>
            </a:r>
          </a:p>
        </p:txBody>
      </p:sp>
      <p:sp>
        <p:nvSpPr>
          <p:cNvPr id="1005" name="BM_current_input_19">
            <a:extLst>
              <a:ext uri="{FF2B5EF4-FFF2-40B4-BE49-F238E27FC236}">
                <a16:creationId xmlns:a16="http://schemas.microsoft.com/office/drawing/2014/main" id="{2D03B9FB-A4FD-4543-A8D6-075CBF7275E4}"/>
              </a:ext>
            </a:extLst>
          </p:cNvPr>
          <p:cNvSpPr>
            <a:spLocks noGrp="1"/>
          </p:cNvSpPr>
          <p:nvPr/>
        </p:nvSpPr>
        <p:spPr>
          <a:xfrm>
            <a:off x="4623757" y="2638425"/>
            <a:ext cx="719555"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I, Δt</a:t>
            </a:r>
          </a:p>
        </p:txBody>
      </p:sp>
      <p:sp>
        <p:nvSpPr>
          <p:cNvPr id="1006" name="BM_current_integral_20">
            <a:extLst>
              <a:ext uri="{FF2B5EF4-FFF2-40B4-BE49-F238E27FC236}">
                <a16:creationId xmlns:a16="http://schemas.microsoft.com/office/drawing/2014/main" id="{C15D9DFF-C607-4BA4-830C-B6B33ACEE5FB}"/>
              </a:ext>
            </a:extLst>
          </p:cNvPr>
          <p:cNvSpPr>
            <a:spLocks noGrp="1"/>
          </p:cNvSpPr>
          <p:nvPr/>
        </p:nvSpPr>
        <p:spPr>
          <a:xfrm>
            <a:off x="5637675" y="2486025"/>
            <a:ext cx="1122941"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 I dt</a:t>
            </a:r>
          </a:p>
        </p:txBody>
      </p:sp>
      <p:sp>
        <p:nvSpPr>
          <p:cNvPr id="1007" name="BM_charge_state_21">
            <a:extLst>
              <a:ext uri="{FF2B5EF4-FFF2-40B4-BE49-F238E27FC236}">
                <a16:creationId xmlns:a16="http://schemas.microsoft.com/office/drawing/2014/main" id="{E213B900-6982-44A9-AE41-52BC2FF0C395}"/>
              </a:ext>
            </a:extLst>
          </p:cNvPr>
          <p:cNvSpPr>
            <a:spLocks noGrp="1"/>
          </p:cNvSpPr>
          <p:nvPr/>
        </p:nvSpPr>
        <p:spPr>
          <a:xfrm>
            <a:off x="5637675" y="3248025"/>
            <a:ext cx="1122941" cy="2571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Qc</a:t>
            </a:r>
          </a:p>
        </p:txBody>
      </p:sp>
      <p:sp>
        <p:nvSpPr>
          <p:cNvPr id="1008" name="BM_fixed_capacity_22">
            <a:extLst>
              <a:ext uri="{FF2B5EF4-FFF2-40B4-BE49-F238E27FC236}">
                <a16:creationId xmlns:a16="http://schemas.microsoft.com/office/drawing/2014/main" id="{659753CA-5920-4AEB-A183-F767905E70F8}"/>
              </a:ext>
            </a:extLst>
          </p:cNvPr>
          <p:cNvSpPr>
            <a:spLocks noGrp="1"/>
          </p:cNvSpPr>
          <p:nvPr/>
        </p:nvSpPr>
        <p:spPr>
          <a:xfrm>
            <a:off x="7251221" y="2486025"/>
            <a:ext cx="1646254"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Cnom</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konstant</a:t>
            </a:r>
          </a:p>
        </p:txBody>
      </p:sp>
      <p:sp>
        <p:nvSpPr>
          <p:cNvPr id="1009" name="BM_soc_output_23">
            <a:extLst>
              <a:ext uri="{FF2B5EF4-FFF2-40B4-BE49-F238E27FC236}">
                <a16:creationId xmlns:a16="http://schemas.microsoft.com/office/drawing/2014/main" id="{EAD96D56-5D8E-4ED2-B3F7-F36C5B19E394}"/>
              </a:ext>
            </a:extLst>
          </p:cNvPr>
          <p:cNvSpPr>
            <a:spLocks noGrp="1"/>
          </p:cNvSpPr>
          <p:nvPr/>
        </p:nvSpPr>
        <p:spPr>
          <a:xfrm>
            <a:off x="9224545" y="2638425"/>
            <a:ext cx="697750"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0" name="Gerade Verbindung mit Pfeil 1009"/>
          <p:cNvCxnSpPr>
            <a:stCxn id="1005" idx="3"/>
            <a:endCxn id="1006" idx="1"/>
          </p:cNvCxnSpPr>
          <p:nvPr/>
        </p:nvCxnSpPr>
        <p:spPr>
          <a:xfrm flipV="1">
            <a:off x="5343312" y="2838450"/>
            <a:ext cx="294363" cy="4763"/>
          </a:xfrm>
          <a:prstGeom prst="straightConnector1">
            <a:avLst/>
          </a:prstGeom>
          <a:ln w="17145">
            <a:solidFill>
              <a:srgbClr val="899EAC"/>
            </a:solidFill>
            <a:tailEnd type="triangle" w="sm" len="sm"/>
          </a:ln>
        </p:spPr>
      </p:cxnSp>
      <p:cxnSp>
        <p:nvCxnSpPr>
          <p:cNvPr id="1011" name="Gerade Verbindung mit Pfeil 1010"/>
          <p:cNvCxnSpPr>
            <a:stCxn id="1006" idx="3"/>
            <a:endCxn id="1008" idx="1"/>
          </p:cNvCxnSpPr>
          <p:nvPr/>
        </p:nvCxnSpPr>
        <p:spPr>
          <a:xfrm>
            <a:off x="6760616" y="2838450"/>
            <a:ext cx="490605" cy="0"/>
          </a:xfrm>
          <a:prstGeom prst="straightConnector1">
            <a:avLst/>
          </a:prstGeom>
          <a:ln w="17145">
            <a:solidFill>
              <a:srgbClr val="899EAC"/>
            </a:solidFill>
            <a:tailEnd type="triangle" w="sm" len="sm"/>
          </a:ln>
        </p:spPr>
      </p:cxnSp>
      <p:cxnSp>
        <p:nvCxnSpPr>
          <p:cNvPr id="1012" name="Gerade Verbindung mit Pfeil 1011"/>
          <p:cNvCxnSpPr>
            <a:stCxn id="1008" idx="3"/>
            <a:endCxn id="1009" idx="1"/>
          </p:cNvCxnSpPr>
          <p:nvPr/>
        </p:nvCxnSpPr>
        <p:spPr>
          <a:xfrm>
            <a:off x="8897475" y="2838450"/>
            <a:ext cx="327070" cy="4763"/>
          </a:xfrm>
          <a:prstGeom prst="straightConnector1">
            <a:avLst/>
          </a:prstGeom>
          <a:ln w="17145">
            <a:solidFill>
              <a:srgbClr val="899EAC"/>
            </a:solidFill>
            <a:tailEnd type="triangle" w="sm" len="sm"/>
          </a:ln>
        </p:spPr>
      </p:cxnSp>
      <p:sp>
        <p:nvSpPr>
          <p:cNvPr id="1013" name="BM_full_charge_anchor_24">
            <a:extLst>
              <a:ext uri="{FF2B5EF4-FFF2-40B4-BE49-F238E27FC236}">
                <a16:creationId xmlns:a16="http://schemas.microsoft.com/office/drawing/2014/main" id="{72742640-9960-47E3-93B6-3EA1C1115813}"/>
              </a:ext>
            </a:extLst>
          </p:cNvPr>
          <p:cNvSpPr>
            <a:spLocks noGrp="1"/>
          </p:cNvSpPr>
          <p:nvPr/>
        </p:nvSpPr>
        <p:spPr>
          <a:xfrm>
            <a:off x="4983534" y="3686175"/>
            <a:ext cx="4775226" cy="342900"/>
          </a:xfrm>
          <a:prstGeom prst="rect">
            <a:avLst/>
          </a:prstGeom>
          <a:noFill/>
          <a:ln w="0">
            <a:noFill/>
          </a:ln>
        </p:spPr>
        <p:txBody>
          <a:bodyPr lIns="0" tIns="0" rIns="0" bIns="0" anchor="t">
            <a:noAutofit/>
          </a:bodyPr>
          <a:lstStyle/>
          <a:p>
            <a:pPr algn="ctr">
              <a:defRPr sz="1800" b="0">
                <a:solidFill>
                  <a:srgbClr val="777777"/>
                </a:solidFill>
                <a:latin typeface="Calibri"/>
                <a:ea typeface="Calibri"/>
                <a:cs typeface="Calibri"/>
              </a:defRPr>
            </a:pPr>
            <a:r>
              <a:rPr sz="1800" b="0">
                <a:solidFill>
                  <a:srgbClr val="777777"/>
                </a:solidFill>
                <a:latin typeface="Calibri"/>
                <a:ea typeface="Calibri"/>
                <a:cs typeface="Calibri"/>
              </a:rPr>
              <a:t>Reset Point: Qc = 0</a:t>
            </a:r>
          </a:p>
        </p:txBody>
      </p:sp>
      <p:sp>
        <p:nvSpPr>
          <p:cNvPr id="1014" name="BM_principle_25">
            <a:extLst>
              <a:ext uri="{FF2B5EF4-FFF2-40B4-BE49-F238E27FC236}">
                <a16:creationId xmlns:a16="http://schemas.microsoft.com/office/drawing/2014/main" id="{3D58AB21-696E-4057-B2C4-CF07B98B3C15}"/>
              </a:ext>
            </a:extLst>
          </p:cNvPr>
          <p:cNvSpPr>
            <a:spLocks noGrp="1"/>
          </p:cNvSpPr>
          <p:nvPr/>
        </p:nvSpPr>
        <p:spPr>
          <a:xfrm>
            <a:off x="4623757" y="4324350"/>
            <a:ext cx="5320343" cy="6858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Prinzip: </a:t>
            </a:r>
            <a:r>
              <a:t>Stromintegration und Division durch die feste Nennkapazität</a:t>
            </a:r>
          </a:p>
        </p:txBody>
      </p:sp>
      <p:sp>
        <p:nvSpPr>
          <p:cNvPr id="1015" name="BM_benefit_26">
            <a:extLst>
              <a:ext uri="{FF2B5EF4-FFF2-40B4-BE49-F238E27FC236}">
                <a16:creationId xmlns:a16="http://schemas.microsoft.com/office/drawing/2014/main" id="{213F54ED-C6E5-49EC-80C1-5D81E345D749}"/>
              </a:ext>
            </a:extLst>
          </p:cNvPr>
          <p:cNvSpPr>
            <a:spLocks noGrp="1"/>
          </p:cNvSpPr>
          <p:nvPr/>
        </p:nvSpPr>
        <p:spPr>
          <a:xfrm>
            <a:off x="4623757" y="5086350"/>
            <a:ext cx="5320343" cy="6858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Transparente Referenz mit geringem Rechen- und Speicherbedarf</a:t>
            </a:r>
          </a:p>
        </p:txBody>
      </p:sp>
      <p:sp>
        <p:nvSpPr>
          <p:cNvPr id="1016" name="Footer – Seitennummer">
            <a:extLst>
              <a:ext uri="{FF2B5EF4-FFF2-40B4-BE49-F238E27FC236}">
                <a16:creationId xmlns:a16="http://schemas.microsoft.com/office/drawing/2014/main" id="{01ABD18F-8F51-4702-847D-FDEEC84D20D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14 / 39</a:t>
            </a:r>
          </a:p>
        </p:txBody>
      </p:sp>
      <p:sp>
        <p:nvSpPr>
          <p:cNvPr id="1017" name="Footer – Präsentationsangaben">
            <a:extLst>
              <a:ext uri="{FF2B5EF4-FFF2-40B4-BE49-F238E27FC236}">
                <a16:creationId xmlns:a16="http://schemas.microsoft.com/office/drawing/2014/main" id="{B6FD85E3-9312-4595-A791-7477FE34F16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19" name="Quellenverweis 1014">
            <a:extLst>
              <a:ext uri="{FF2B5EF4-FFF2-40B4-BE49-F238E27FC236}">
                <a16:creationId xmlns:a16="http://schemas.microsoft.com/office/drawing/2014/main" id="{155131C2-495B-4FA8-9107-8E9893D038A4}"/>
              </a:ext>
            </a:extLst>
          </p:cNvPr>
          <p:cNvSpPr>
            <a:spLocks noGrp="1"/>
          </p:cNvSpPr>
          <p:nvPr/>
        </p:nvSpPr>
        <p:spPr>
          <a:xfrm>
            <a:off x="6014010" y="4598645"/>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[17]</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27">
            <a:extLst>
              <a:ext uri="{FF2B5EF4-FFF2-40B4-BE49-F238E27FC236}">
                <a16:creationId xmlns:a16="http://schemas.microsoft.com/office/drawing/2014/main" id="{D090818E-8A46-4660-B63C-ED140CC0DD42}"/>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model_list_abbr_0_28">
            <a:extLst>
              <a:ext uri="{FF2B5EF4-FFF2-40B4-BE49-F238E27FC236}">
                <a16:creationId xmlns:a16="http://schemas.microsoft.com/office/drawing/2014/main" id="{31DAD3AA-7F7E-4ABB-A513-FC2C7155E863}"/>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DM</a:t>
            </a:r>
          </a:p>
        </p:txBody>
      </p:sp>
      <p:sp>
        <p:nvSpPr>
          <p:cNvPr id="1002" name="BM_model_list_family_0_29">
            <a:extLst>
              <a:ext uri="{FF2B5EF4-FFF2-40B4-BE49-F238E27FC236}">
                <a16:creationId xmlns:a16="http://schemas.microsoft.com/office/drawing/2014/main" id="{D404B5E8-4DED-446D-AC5D-2E09CD7F2B78}"/>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Direct Measurement</a:t>
            </a:r>
          </a:p>
        </p:txBody>
      </p:sp>
      <p:sp>
        <p:nvSpPr>
          <p:cNvPr id="1003" name="BM_current_model_accent_30">
            <a:extLst>
              <a:ext uri="{FF2B5EF4-FFF2-40B4-BE49-F238E27FC236}">
                <a16:creationId xmlns:a16="http://schemas.microsoft.com/office/drawing/2014/main" id="{901487F5-C07A-4260-87C7-87302B83A619}"/>
              </a:ext>
            </a:extLst>
          </p:cNvPr>
          <p:cNvSpPr>
            <a:spLocks noGrp="1"/>
          </p:cNvSpPr>
          <p:nvPr/>
        </p:nvSpPr>
        <p:spPr>
          <a:xfrm>
            <a:off x="552450" y="2724150"/>
            <a:ext cx="28575" cy="685800"/>
          </a:xfrm>
          <a:prstGeom prst="rect">
            <a:avLst/>
          </a:prstGeom>
          <a:solidFill>
            <a:srgbClr val="D00020"/>
          </a:solidFill>
          <a:ln w="0">
            <a:noFill/>
          </a:ln>
        </p:spPr>
        <p:txBody>
          <a:bodyPr/>
          <a:lstStyle/>
          <a:p>
            <a:endParaRPr lang="de-DE"/>
          </a:p>
        </p:txBody>
      </p:sp>
      <p:sp>
        <p:nvSpPr>
          <p:cNvPr id="1004" name="BM_model_list_abbr_1_31">
            <a:extLst>
              <a:ext uri="{FF2B5EF4-FFF2-40B4-BE49-F238E27FC236}">
                <a16:creationId xmlns:a16="http://schemas.microsoft.com/office/drawing/2014/main" id="{22EE6A51-4950-41BD-99BF-E9E2AC782DEA}"/>
              </a:ext>
            </a:extLst>
          </p:cNvPr>
          <p:cNvSpPr>
            <a:spLocks noGrp="1"/>
          </p:cNvSpPr>
          <p:nvPr/>
        </p:nvSpPr>
        <p:spPr>
          <a:xfrm>
            <a:off x="762000" y="26955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HDM</a:t>
            </a:r>
          </a:p>
        </p:txBody>
      </p:sp>
      <p:sp>
        <p:nvSpPr>
          <p:cNvPr id="1005" name="BM_model_list_family_1_32">
            <a:extLst>
              <a:ext uri="{FF2B5EF4-FFF2-40B4-BE49-F238E27FC236}">
                <a16:creationId xmlns:a16="http://schemas.microsoft.com/office/drawing/2014/main" id="{E7B6528A-EF8B-4A9F-A4A1-0A630D8D65CC}"/>
              </a:ext>
            </a:extLst>
          </p:cNvPr>
          <p:cNvSpPr>
            <a:spLocks noGrp="1"/>
          </p:cNvSpPr>
          <p:nvPr/>
        </p:nvSpPr>
        <p:spPr>
          <a:xfrm>
            <a:off x="762000" y="30670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Hybrid Direct Measurement</a:t>
            </a:r>
          </a:p>
        </p:txBody>
      </p:sp>
      <p:sp>
        <p:nvSpPr>
          <p:cNvPr id="1006" name="BM_model_focus_33">
            <a:extLst>
              <a:ext uri="{FF2B5EF4-FFF2-40B4-BE49-F238E27FC236}">
                <a16:creationId xmlns:a16="http://schemas.microsoft.com/office/drawing/2014/main" id="{F5B91AF9-7C7C-4E5E-9619-80CFD69C7A3E}"/>
              </a:ext>
            </a:extLst>
          </p:cNvPr>
          <p:cNvSpPr>
            <a:spLocks noGrp="1"/>
          </p:cNvSpPr>
          <p:nvPr/>
        </p:nvSpPr>
        <p:spPr>
          <a:xfrm>
            <a:off x="4623757" y="1533525"/>
            <a:ext cx="5320343" cy="3619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Kapazitätsanpassung mit SOH</a:t>
            </a:r>
          </a:p>
        </p:txBody>
      </p:sp>
      <p:sp>
        <p:nvSpPr>
          <p:cNvPr id="1007" name="BM_hourly_features_34">
            <a:extLst>
              <a:ext uri="{FF2B5EF4-FFF2-40B4-BE49-F238E27FC236}">
                <a16:creationId xmlns:a16="http://schemas.microsoft.com/office/drawing/2014/main" id="{4749087C-69B7-43CB-8AFB-AA4A6947ACFF}"/>
              </a:ext>
            </a:extLst>
          </p:cNvPr>
          <p:cNvSpPr>
            <a:spLocks noGrp="1"/>
          </p:cNvSpPr>
          <p:nvPr/>
        </p:nvSpPr>
        <p:spPr>
          <a:xfrm>
            <a:off x="4623757" y="1943100"/>
            <a:ext cx="1330086" cy="552450"/>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Stunden-</a:t>
            </a:r>
          </a:p>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Features</a:t>
            </a:r>
          </a:p>
        </p:txBody>
      </p:sp>
      <p:sp>
        <p:nvSpPr>
          <p:cNvPr id="1008" name="BM_soh_lstm_35">
            <a:extLst>
              <a:ext uri="{FF2B5EF4-FFF2-40B4-BE49-F238E27FC236}">
                <a16:creationId xmlns:a16="http://schemas.microsoft.com/office/drawing/2014/main" id="{413EDCF4-D382-41B7-B508-35E95D78F7FF}"/>
              </a:ext>
            </a:extLst>
          </p:cNvPr>
          <p:cNvSpPr>
            <a:spLocks noGrp="1"/>
          </p:cNvSpPr>
          <p:nvPr/>
        </p:nvSpPr>
        <p:spPr>
          <a:xfrm>
            <a:off x="6302718" y="1952625"/>
            <a:ext cx="1384597" cy="542925"/>
          </a:xfrm>
          <a:prstGeom prst="rect">
            <a:avLst/>
          </a:prstGeom>
          <a:solidFill>
            <a:srgbClr val="FBECEE"/>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LSTM</a:t>
            </a:r>
          </a:p>
        </p:txBody>
      </p:sp>
      <p:sp>
        <p:nvSpPr>
          <p:cNvPr id="1009" name="BM_soh_output_36">
            <a:extLst>
              <a:ext uri="{FF2B5EF4-FFF2-40B4-BE49-F238E27FC236}">
                <a16:creationId xmlns:a16="http://schemas.microsoft.com/office/drawing/2014/main" id="{645EEA0D-E204-4973-8F06-56DEF3972EC5}"/>
              </a:ext>
            </a:extLst>
          </p:cNvPr>
          <p:cNvSpPr>
            <a:spLocks noGrp="1"/>
          </p:cNvSpPr>
          <p:nvPr/>
        </p:nvSpPr>
        <p:spPr>
          <a:xfrm>
            <a:off x="8199725" y="2038350"/>
            <a:ext cx="763164" cy="361950"/>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SOH</a:t>
            </a:r>
          </a:p>
        </p:txBody>
      </p:sp>
      <p:cxnSp>
        <p:nvCxnSpPr>
          <p:cNvPr id="1010" name="Gerade Verbindung mit Pfeil 1009"/>
          <p:cNvCxnSpPr>
            <a:stCxn id="1007" idx="3"/>
            <a:endCxn id="1008" idx="1"/>
          </p:cNvCxnSpPr>
          <p:nvPr/>
        </p:nvCxnSpPr>
        <p:spPr>
          <a:xfrm>
            <a:off x="5953843" y="2219325"/>
            <a:ext cx="348875" cy="4763"/>
          </a:xfrm>
          <a:prstGeom prst="straightConnector1">
            <a:avLst/>
          </a:prstGeom>
          <a:ln w="17145">
            <a:solidFill>
              <a:srgbClr val="899EAC"/>
            </a:solidFill>
            <a:tailEnd type="triangle" w="sm" len="sm"/>
          </a:ln>
        </p:spPr>
      </p:cxnSp>
      <p:cxnSp>
        <p:nvCxnSpPr>
          <p:cNvPr id="1011" name="Gerade Verbindung mit Pfeil 1010"/>
          <p:cNvCxnSpPr>
            <a:stCxn id="1008" idx="3"/>
            <a:endCxn id="1009" idx="1"/>
          </p:cNvCxnSpPr>
          <p:nvPr/>
        </p:nvCxnSpPr>
        <p:spPr>
          <a:xfrm flipV="1">
            <a:off x="7687315" y="2219325"/>
            <a:ext cx="512410" cy="4763"/>
          </a:xfrm>
          <a:prstGeom prst="straightConnector1">
            <a:avLst/>
          </a:prstGeom>
          <a:ln w="17145">
            <a:solidFill>
              <a:srgbClr val="899EAC"/>
            </a:solidFill>
            <a:tailEnd type="triangle" w="sm" len="sm"/>
          </a:ln>
        </p:spPr>
      </p:cxnSp>
      <p:sp>
        <p:nvSpPr>
          <p:cNvPr id="1012" name="BM_current_input_37">
            <a:extLst>
              <a:ext uri="{FF2B5EF4-FFF2-40B4-BE49-F238E27FC236}">
                <a16:creationId xmlns:a16="http://schemas.microsoft.com/office/drawing/2014/main" id="{871E6050-7ED5-43F6-A2E0-D43FC69A5986}"/>
              </a:ext>
            </a:extLst>
          </p:cNvPr>
          <p:cNvSpPr>
            <a:spLocks noGrp="1"/>
          </p:cNvSpPr>
          <p:nvPr/>
        </p:nvSpPr>
        <p:spPr>
          <a:xfrm>
            <a:off x="4623757" y="3257550"/>
            <a:ext cx="719555"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I, Δt</a:t>
            </a:r>
          </a:p>
        </p:txBody>
      </p:sp>
      <p:sp>
        <p:nvSpPr>
          <p:cNvPr id="1013" name="BM_current_integral_38">
            <a:extLst>
              <a:ext uri="{FF2B5EF4-FFF2-40B4-BE49-F238E27FC236}">
                <a16:creationId xmlns:a16="http://schemas.microsoft.com/office/drawing/2014/main" id="{936B857B-7B33-4541-86E4-76730F9E1DD7}"/>
              </a:ext>
            </a:extLst>
          </p:cNvPr>
          <p:cNvSpPr>
            <a:spLocks noGrp="1"/>
          </p:cNvSpPr>
          <p:nvPr/>
        </p:nvSpPr>
        <p:spPr>
          <a:xfrm>
            <a:off x="5637675" y="3105150"/>
            <a:ext cx="1122941"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 I dt</a:t>
            </a:r>
          </a:p>
        </p:txBody>
      </p:sp>
      <p:sp>
        <p:nvSpPr>
          <p:cNvPr id="1014" name="BM_charge_state_39">
            <a:extLst>
              <a:ext uri="{FF2B5EF4-FFF2-40B4-BE49-F238E27FC236}">
                <a16:creationId xmlns:a16="http://schemas.microsoft.com/office/drawing/2014/main" id="{3E159DB6-6397-45C0-8120-8A6C4D1475CD}"/>
              </a:ext>
            </a:extLst>
          </p:cNvPr>
          <p:cNvSpPr>
            <a:spLocks noGrp="1"/>
          </p:cNvSpPr>
          <p:nvPr/>
        </p:nvSpPr>
        <p:spPr>
          <a:xfrm>
            <a:off x="5637675" y="3867150"/>
            <a:ext cx="1122941" cy="2571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Qc</a:t>
            </a:r>
          </a:p>
        </p:txBody>
      </p:sp>
      <p:sp>
        <p:nvSpPr>
          <p:cNvPr id="1015" name="BM_effective_capacity_40">
            <a:extLst>
              <a:ext uri="{FF2B5EF4-FFF2-40B4-BE49-F238E27FC236}">
                <a16:creationId xmlns:a16="http://schemas.microsoft.com/office/drawing/2014/main" id="{D275DB93-C2B9-4FB7-BCD2-46D38F822B07}"/>
              </a:ext>
            </a:extLst>
          </p:cNvPr>
          <p:cNvSpPr>
            <a:spLocks noGrp="1"/>
          </p:cNvSpPr>
          <p:nvPr/>
        </p:nvSpPr>
        <p:spPr>
          <a:xfrm>
            <a:off x="7251221" y="3105150"/>
            <a:ext cx="1646254"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Ceff</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Cnom × SOH</a:t>
            </a:r>
          </a:p>
        </p:txBody>
      </p:sp>
      <p:sp>
        <p:nvSpPr>
          <p:cNvPr id="1016" name="BM_soc_output_41">
            <a:extLst>
              <a:ext uri="{FF2B5EF4-FFF2-40B4-BE49-F238E27FC236}">
                <a16:creationId xmlns:a16="http://schemas.microsoft.com/office/drawing/2014/main" id="{42E36825-A23A-4686-9B22-431A891754ED}"/>
              </a:ext>
            </a:extLst>
          </p:cNvPr>
          <p:cNvSpPr>
            <a:spLocks noGrp="1"/>
          </p:cNvSpPr>
          <p:nvPr/>
        </p:nvSpPr>
        <p:spPr>
          <a:xfrm>
            <a:off x="9224545" y="3257550"/>
            <a:ext cx="697750"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7" name="Gerade Verbindung mit Pfeil 1016"/>
          <p:cNvCxnSpPr>
            <a:stCxn id="1012" idx="3"/>
            <a:endCxn id="1013" idx="1"/>
          </p:cNvCxnSpPr>
          <p:nvPr/>
        </p:nvCxnSpPr>
        <p:spPr>
          <a:xfrm flipV="1">
            <a:off x="5343312" y="3457575"/>
            <a:ext cx="294363" cy="4763"/>
          </a:xfrm>
          <a:prstGeom prst="straightConnector1">
            <a:avLst/>
          </a:prstGeom>
          <a:ln w="17145">
            <a:solidFill>
              <a:srgbClr val="899EAC"/>
            </a:solidFill>
            <a:tailEnd type="triangle" w="sm" len="sm"/>
          </a:ln>
        </p:spPr>
      </p:cxnSp>
      <p:cxnSp>
        <p:nvCxnSpPr>
          <p:cNvPr id="1018" name="Gerade Verbindung mit Pfeil 1017"/>
          <p:cNvCxnSpPr>
            <a:stCxn id="1013" idx="3"/>
            <a:endCxn id="1015" idx="1"/>
          </p:cNvCxnSpPr>
          <p:nvPr/>
        </p:nvCxnSpPr>
        <p:spPr>
          <a:xfrm>
            <a:off x="6760616" y="3457575"/>
            <a:ext cx="490605" cy="0"/>
          </a:xfrm>
          <a:prstGeom prst="straightConnector1">
            <a:avLst/>
          </a:prstGeom>
          <a:ln w="17145">
            <a:solidFill>
              <a:srgbClr val="899EAC"/>
            </a:solidFill>
            <a:tailEnd type="triangle" w="sm" len="sm"/>
          </a:ln>
        </p:spPr>
      </p:cxnSp>
      <p:cxnSp>
        <p:nvCxnSpPr>
          <p:cNvPr id="1019" name="Gerade Verbindung mit Pfeil 1018"/>
          <p:cNvCxnSpPr>
            <a:stCxn id="1015" idx="3"/>
            <a:endCxn id="1016" idx="1"/>
          </p:cNvCxnSpPr>
          <p:nvPr/>
        </p:nvCxnSpPr>
        <p:spPr>
          <a:xfrm>
            <a:off x="8897475" y="3457575"/>
            <a:ext cx="327070" cy="4763"/>
          </a:xfrm>
          <a:prstGeom prst="straightConnector1">
            <a:avLst/>
          </a:prstGeom>
          <a:ln w="17145">
            <a:solidFill>
              <a:srgbClr val="899EAC"/>
            </a:solidFill>
            <a:tailEnd type="triangle" w="sm" len="sm"/>
          </a:ln>
        </p:spPr>
      </p:cxnSp>
      <p:cxnSp>
        <p:nvCxnSpPr>
          <p:cNvPr id="1020" name="Verbinder: gewinkelt 1019"/>
          <p:cNvCxnSpPr>
            <a:stCxn id="1009" idx="2"/>
            <a:endCxn id="1015" idx="0"/>
          </p:cNvCxnSpPr>
          <p:nvPr/>
        </p:nvCxnSpPr>
        <p:spPr>
          <a:xfrm flipH="1">
            <a:off x="8074348" y="2400300"/>
            <a:ext cx="506959" cy="704850"/>
          </a:xfrm>
          <a:prstGeom prst="bentConnector4">
            <a:avLst>
              <a:gd name="adj1" fmla="val 0"/>
              <a:gd name="adj2" fmla="val 50000"/>
            </a:avLst>
          </a:prstGeom>
          <a:ln w="17145">
            <a:solidFill>
              <a:srgbClr val="899EAC"/>
            </a:solidFill>
            <a:tailEnd type="triangle" w="sm" len="sm"/>
          </a:ln>
        </p:spPr>
      </p:cxnSp>
      <p:sp>
        <p:nvSpPr>
          <p:cNvPr id="1021" name="BM_benefit_42">
            <a:extLst>
              <a:ext uri="{FF2B5EF4-FFF2-40B4-BE49-F238E27FC236}">
                <a16:creationId xmlns:a16="http://schemas.microsoft.com/office/drawing/2014/main" id="{192A7C4A-05D5-4989-AEA1-E4F2B8A9CC2D}"/>
              </a:ext>
            </a:extLst>
          </p:cNvPr>
          <p:cNvSpPr>
            <a:spLocks noGrp="1"/>
          </p:cNvSpPr>
          <p:nvPr/>
        </p:nvSpPr>
        <p:spPr>
          <a:xfrm>
            <a:off x="4623757" y="4324350"/>
            <a:ext cx="5320343" cy="6286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Berücksichtigung des Kapazitätsverlusts bei gleichem Integrationskern</a:t>
            </a:r>
          </a:p>
        </p:txBody>
      </p:sp>
      <p:sp>
        <p:nvSpPr>
          <p:cNvPr id="1022" name="BM_lstm_function_43">
            <a:extLst>
              <a:ext uri="{FF2B5EF4-FFF2-40B4-BE49-F238E27FC236}">
                <a16:creationId xmlns:a16="http://schemas.microsoft.com/office/drawing/2014/main" id="{4FF06190-20DF-4D69-A720-CFEF4FEF1F45}"/>
              </a:ext>
            </a:extLst>
          </p:cNvPr>
          <p:cNvSpPr>
            <a:spLocks noGrp="1"/>
          </p:cNvSpPr>
          <p:nvPr/>
        </p:nvSpPr>
        <p:spPr>
          <a:xfrm>
            <a:off x="4623757" y="5029200"/>
            <a:ext cx="5320343" cy="7715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LSTM: </a:t>
            </a:r>
            <a:r>
              <a:t>Historie im Cell State, Steuerung von Erhalt, Aktualisierung und Ausgabe durch Gates</a:t>
            </a:r>
          </a:p>
        </p:txBody>
      </p:sp>
      <p:sp>
        <p:nvSpPr>
          <p:cNvPr id="1023" name="Footer – Seitennummer">
            <a:extLst>
              <a:ext uri="{FF2B5EF4-FFF2-40B4-BE49-F238E27FC236}">
                <a16:creationId xmlns:a16="http://schemas.microsoft.com/office/drawing/2014/main" id="{691F9AAE-7ACA-47BF-987F-2252C2873717}"/>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15 / 39</a:t>
            </a:r>
          </a:p>
        </p:txBody>
      </p:sp>
      <p:sp>
        <p:nvSpPr>
          <p:cNvPr id="1024" name="Footer – Präsentationsangaben">
            <a:extLst>
              <a:ext uri="{FF2B5EF4-FFF2-40B4-BE49-F238E27FC236}">
                <a16:creationId xmlns:a16="http://schemas.microsoft.com/office/drawing/2014/main" id="{3F1D2929-A928-4F5D-AD71-91C3B63D14B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26" name="Quellenverweis 1022">
            <a:extLst>
              <a:ext uri="{FF2B5EF4-FFF2-40B4-BE49-F238E27FC236}">
                <a16:creationId xmlns:a16="http://schemas.microsoft.com/office/drawing/2014/main" id="{FD30C43E-CFD8-48D8-A9D2-83B48351586F}"/>
              </a:ext>
            </a:extLst>
          </p:cNvPr>
          <p:cNvSpPr>
            <a:spLocks noGrp="1"/>
          </p:cNvSpPr>
          <p:nvPr/>
        </p:nvSpPr>
        <p:spPr>
          <a:xfrm>
            <a:off x="8417284" y="5303520"/>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[18]</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44">
            <a:extLst>
              <a:ext uri="{FF2B5EF4-FFF2-40B4-BE49-F238E27FC236}">
                <a16:creationId xmlns:a16="http://schemas.microsoft.com/office/drawing/2014/main" id="{E075B3F1-EE50-471F-9809-655BD7C71333}"/>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model_list_abbr_0_45">
            <a:extLst>
              <a:ext uri="{FF2B5EF4-FFF2-40B4-BE49-F238E27FC236}">
                <a16:creationId xmlns:a16="http://schemas.microsoft.com/office/drawing/2014/main" id="{65D2FD4A-C90B-4E54-B154-E87698D0FEB2}"/>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DM</a:t>
            </a:r>
          </a:p>
        </p:txBody>
      </p:sp>
      <p:sp>
        <p:nvSpPr>
          <p:cNvPr id="1002" name="BM_model_list_family_0_46">
            <a:extLst>
              <a:ext uri="{FF2B5EF4-FFF2-40B4-BE49-F238E27FC236}">
                <a16:creationId xmlns:a16="http://schemas.microsoft.com/office/drawing/2014/main" id="{F8CAB524-B11F-4574-8205-D218A56A67C0}"/>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Direct Measurement</a:t>
            </a:r>
          </a:p>
        </p:txBody>
      </p:sp>
      <p:sp>
        <p:nvSpPr>
          <p:cNvPr id="1003" name="BM_model_list_abbr_1_47">
            <a:extLst>
              <a:ext uri="{FF2B5EF4-FFF2-40B4-BE49-F238E27FC236}">
                <a16:creationId xmlns:a16="http://schemas.microsoft.com/office/drawing/2014/main" id="{691132EA-AF57-4D04-B8F2-B638E6761A3A}"/>
              </a:ext>
            </a:extLst>
          </p:cNvPr>
          <p:cNvSpPr>
            <a:spLocks noGrp="1"/>
          </p:cNvSpPr>
          <p:nvPr/>
        </p:nvSpPr>
        <p:spPr>
          <a:xfrm>
            <a:off x="762000" y="26955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HDM</a:t>
            </a:r>
          </a:p>
        </p:txBody>
      </p:sp>
      <p:sp>
        <p:nvSpPr>
          <p:cNvPr id="1004" name="BM_model_list_family_1_48">
            <a:extLst>
              <a:ext uri="{FF2B5EF4-FFF2-40B4-BE49-F238E27FC236}">
                <a16:creationId xmlns:a16="http://schemas.microsoft.com/office/drawing/2014/main" id="{5339E8C8-8B26-4BCC-9EE8-6C15D2FD2255}"/>
              </a:ext>
            </a:extLst>
          </p:cNvPr>
          <p:cNvSpPr>
            <a:spLocks noGrp="1"/>
          </p:cNvSpPr>
          <p:nvPr/>
        </p:nvSpPr>
        <p:spPr>
          <a:xfrm>
            <a:off x="762000" y="30670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Hybrid Direct Measurement</a:t>
            </a:r>
          </a:p>
        </p:txBody>
      </p:sp>
      <p:sp>
        <p:nvSpPr>
          <p:cNvPr id="1005" name="BM_current_model_accent_49">
            <a:extLst>
              <a:ext uri="{FF2B5EF4-FFF2-40B4-BE49-F238E27FC236}">
                <a16:creationId xmlns:a16="http://schemas.microsoft.com/office/drawing/2014/main" id="{A895B32D-4623-44A6-A24D-C7924227942A}"/>
              </a:ext>
            </a:extLst>
          </p:cNvPr>
          <p:cNvSpPr>
            <a:spLocks noGrp="1"/>
          </p:cNvSpPr>
          <p:nvPr/>
        </p:nvSpPr>
        <p:spPr>
          <a:xfrm>
            <a:off x="552450" y="3790950"/>
            <a:ext cx="28575" cy="685800"/>
          </a:xfrm>
          <a:prstGeom prst="rect">
            <a:avLst/>
          </a:prstGeom>
          <a:solidFill>
            <a:srgbClr val="D00020"/>
          </a:solidFill>
          <a:ln w="0">
            <a:noFill/>
          </a:ln>
        </p:spPr>
        <p:txBody>
          <a:bodyPr/>
          <a:lstStyle/>
          <a:p>
            <a:endParaRPr lang="de-DE"/>
          </a:p>
        </p:txBody>
      </p:sp>
      <p:sp>
        <p:nvSpPr>
          <p:cNvPr id="1006" name="BM_model_list_abbr_2_50">
            <a:extLst>
              <a:ext uri="{FF2B5EF4-FFF2-40B4-BE49-F238E27FC236}">
                <a16:creationId xmlns:a16="http://schemas.microsoft.com/office/drawing/2014/main" id="{DC29B502-08AE-494A-8659-9DE4677420C3}"/>
              </a:ext>
            </a:extLst>
          </p:cNvPr>
          <p:cNvSpPr>
            <a:spLocks noGrp="1"/>
          </p:cNvSpPr>
          <p:nvPr/>
        </p:nvSpPr>
        <p:spPr>
          <a:xfrm>
            <a:off x="762000" y="37623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HECM</a:t>
            </a:r>
          </a:p>
        </p:txBody>
      </p:sp>
      <p:sp>
        <p:nvSpPr>
          <p:cNvPr id="1007" name="BM_model_list_family_2_51">
            <a:extLst>
              <a:ext uri="{FF2B5EF4-FFF2-40B4-BE49-F238E27FC236}">
                <a16:creationId xmlns:a16="http://schemas.microsoft.com/office/drawing/2014/main" id="{7BA25A73-33C7-42A1-8570-224D0DAF2D67}"/>
              </a:ext>
            </a:extLst>
          </p:cNvPr>
          <p:cNvSpPr>
            <a:spLocks noGrp="1"/>
          </p:cNvSpPr>
          <p:nvPr/>
        </p:nvSpPr>
        <p:spPr>
          <a:xfrm>
            <a:off x="762000" y="41338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Hybrid Equivalent-Circuit Model</a:t>
            </a:r>
          </a:p>
        </p:txBody>
      </p:sp>
      <p:sp>
        <p:nvSpPr>
          <p:cNvPr id="1008" name="BM_model_focus_52">
            <a:extLst>
              <a:ext uri="{FF2B5EF4-FFF2-40B4-BE49-F238E27FC236}">
                <a16:creationId xmlns:a16="http://schemas.microsoft.com/office/drawing/2014/main" id="{549B2B4D-C051-44DB-BB0E-734AE14A8CE4}"/>
              </a:ext>
            </a:extLst>
          </p:cNvPr>
          <p:cNvSpPr>
            <a:spLocks noGrp="1"/>
          </p:cNvSpPr>
          <p:nvPr/>
        </p:nvSpPr>
        <p:spPr>
          <a:xfrm>
            <a:off x="4623757" y="1533525"/>
            <a:ext cx="5320343" cy="3619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Spannungsfeedback für SOC</a:t>
            </a:r>
          </a:p>
        </p:txBody>
      </p:sp>
      <p:sp>
        <p:nvSpPr>
          <p:cNvPr id="1009" name="BM_soh_lstm_53">
            <a:extLst>
              <a:ext uri="{FF2B5EF4-FFF2-40B4-BE49-F238E27FC236}">
                <a16:creationId xmlns:a16="http://schemas.microsoft.com/office/drawing/2014/main" id="{54CA6F18-0996-4771-A267-A7C1813CC150}"/>
              </a:ext>
            </a:extLst>
          </p:cNvPr>
          <p:cNvSpPr>
            <a:spLocks noGrp="1"/>
          </p:cNvSpPr>
          <p:nvPr/>
        </p:nvSpPr>
        <p:spPr>
          <a:xfrm>
            <a:off x="4710976" y="2009775"/>
            <a:ext cx="1460914" cy="619125"/>
          </a:xfrm>
          <a:prstGeom prst="rect">
            <a:avLst/>
          </a:prstGeom>
          <a:solidFill>
            <a:srgbClr val="FBECEE"/>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LSTM</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SOH</a:t>
            </a:r>
          </a:p>
        </p:txBody>
      </p:sp>
      <p:sp>
        <p:nvSpPr>
          <p:cNvPr id="1010" name="BM_soh_parameters_54">
            <a:extLst>
              <a:ext uri="{FF2B5EF4-FFF2-40B4-BE49-F238E27FC236}">
                <a16:creationId xmlns:a16="http://schemas.microsoft.com/office/drawing/2014/main" id="{361C6906-36C8-4FED-BC74-3AD990E72166}"/>
              </a:ext>
            </a:extLst>
          </p:cNvPr>
          <p:cNvSpPr>
            <a:spLocks noGrp="1"/>
          </p:cNvSpPr>
          <p:nvPr/>
        </p:nvSpPr>
        <p:spPr>
          <a:xfrm>
            <a:off x="6826030" y="2009775"/>
            <a:ext cx="2638367" cy="619125"/>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Kapazität und</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SOH-Kennfelder</a:t>
            </a:r>
          </a:p>
        </p:txBody>
      </p:sp>
      <p:cxnSp>
        <p:nvCxnSpPr>
          <p:cNvPr id="1011" name="Gerade Verbindung mit Pfeil 1010"/>
          <p:cNvCxnSpPr>
            <a:stCxn id="1009" idx="3"/>
            <a:endCxn id="1010" idx="1"/>
          </p:cNvCxnSpPr>
          <p:nvPr/>
        </p:nvCxnSpPr>
        <p:spPr>
          <a:xfrm>
            <a:off x="6171890" y="2319338"/>
            <a:ext cx="654140" cy="0"/>
          </a:xfrm>
          <a:prstGeom prst="straightConnector1">
            <a:avLst/>
          </a:prstGeom>
          <a:ln w="17145">
            <a:solidFill>
              <a:srgbClr val="899EAC"/>
            </a:solidFill>
            <a:tailEnd type="triangle" w="sm" len="sm"/>
          </a:ln>
        </p:spPr>
      </p:cxnSp>
      <p:sp>
        <p:nvSpPr>
          <p:cNvPr id="1012" name="BM_current_input_55">
            <a:extLst>
              <a:ext uri="{FF2B5EF4-FFF2-40B4-BE49-F238E27FC236}">
                <a16:creationId xmlns:a16="http://schemas.microsoft.com/office/drawing/2014/main" id="{7D12A11B-6446-409F-AA54-C954703D19E3}"/>
              </a:ext>
            </a:extLst>
          </p:cNvPr>
          <p:cNvSpPr>
            <a:spLocks noGrp="1"/>
          </p:cNvSpPr>
          <p:nvPr/>
        </p:nvSpPr>
        <p:spPr>
          <a:xfrm>
            <a:off x="4623757" y="3248025"/>
            <a:ext cx="479703"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I</a:t>
            </a:r>
          </a:p>
        </p:txBody>
      </p:sp>
      <p:sp>
        <p:nvSpPr>
          <p:cNvPr id="1013" name="BM_two_rc_model_56">
            <a:extLst>
              <a:ext uri="{FF2B5EF4-FFF2-40B4-BE49-F238E27FC236}">
                <a16:creationId xmlns:a16="http://schemas.microsoft.com/office/drawing/2014/main" id="{5BC6470A-FADE-4AF7-B75B-D8528E0DF2CE}"/>
              </a:ext>
            </a:extLst>
          </p:cNvPr>
          <p:cNvSpPr>
            <a:spLocks noGrp="1"/>
          </p:cNvSpPr>
          <p:nvPr/>
        </p:nvSpPr>
        <p:spPr>
          <a:xfrm>
            <a:off x="5354214" y="3095625"/>
            <a:ext cx="1886105"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2RC-ECM-Modell</a:t>
            </a:r>
          </a:p>
        </p:txBody>
      </p:sp>
      <p:sp>
        <p:nvSpPr>
          <p:cNvPr id="1014" name="BM_ekf_correction_57">
            <a:extLst>
              <a:ext uri="{FF2B5EF4-FFF2-40B4-BE49-F238E27FC236}">
                <a16:creationId xmlns:a16="http://schemas.microsoft.com/office/drawing/2014/main" id="{B5DBCA9C-8411-472F-82D6-519A3617883C}"/>
              </a:ext>
            </a:extLst>
          </p:cNvPr>
          <p:cNvSpPr>
            <a:spLocks noGrp="1"/>
          </p:cNvSpPr>
          <p:nvPr/>
        </p:nvSpPr>
        <p:spPr>
          <a:xfrm>
            <a:off x="7959874" y="3095625"/>
            <a:ext cx="1929715"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EKF-</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Korrektur</a:t>
            </a:r>
          </a:p>
        </p:txBody>
      </p:sp>
      <p:sp>
        <p:nvSpPr>
          <p:cNvPr id="1015" name="BM_measured_voltage_58">
            <a:extLst>
              <a:ext uri="{FF2B5EF4-FFF2-40B4-BE49-F238E27FC236}">
                <a16:creationId xmlns:a16="http://schemas.microsoft.com/office/drawing/2014/main" id="{841FFF5F-1782-441A-99F6-B365B5CA9D7A}"/>
              </a:ext>
            </a:extLst>
          </p:cNvPr>
          <p:cNvSpPr>
            <a:spLocks noGrp="1"/>
          </p:cNvSpPr>
          <p:nvPr/>
        </p:nvSpPr>
        <p:spPr>
          <a:xfrm>
            <a:off x="8117958" y="2724150"/>
            <a:ext cx="1613547" cy="2952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U</a:t>
            </a:r>
            <a:r>
              <a:rPr sz="1800" b="0" baseline="-25000">
                <a:solidFill>
                  <a:srgbClr val="444444"/>
                </a:solidFill>
                <a:latin typeface="Calibri"/>
                <a:ea typeface="Calibri"/>
                <a:cs typeface="Calibri"/>
              </a:rPr>
              <a:t>gemessen</a:t>
            </a:r>
          </a:p>
        </p:txBody>
      </p:sp>
      <p:sp>
        <p:nvSpPr>
          <p:cNvPr id="1016" name="BM_soc_output_59">
            <a:extLst>
              <a:ext uri="{FF2B5EF4-FFF2-40B4-BE49-F238E27FC236}">
                <a16:creationId xmlns:a16="http://schemas.microsoft.com/office/drawing/2014/main" id="{DCE3712D-7D78-4E0B-8465-C5430322417D}"/>
              </a:ext>
            </a:extLst>
          </p:cNvPr>
          <p:cNvSpPr>
            <a:spLocks noGrp="1"/>
          </p:cNvSpPr>
          <p:nvPr/>
        </p:nvSpPr>
        <p:spPr>
          <a:xfrm>
            <a:off x="8428674" y="3943350"/>
            <a:ext cx="992113" cy="3333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7" name="Verbinder: gewinkelt 1016"/>
          <p:cNvCxnSpPr>
            <a:stCxn id="1010" idx="2"/>
            <a:endCxn id="1013" idx="0"/>
          </p:cNvCxnSpPr>
          <p:nvPr/>
        </p:nvCxnSpPr>
        <p:spPr>
          <a:xfrm flipH="1">
            <a:off x="6297267" y="2628900"/>
            <a:ext cx="1847947" cy="466725"/>
          </a:xfrm>
          <a:prstGeom prst="bentConnector4">
            <a:avLst>
              <a:gd name="adj1" fmla="val 0"/>
              <a:gd name="adj2" fmla="val 50000"/>
            </a:avLst>
          </a:prstGeom>
          <a:ln w="17145">
            <a:solidFill>
              <a:srgbClr val="899EAC"/>
            </a:solidFill>
            <a:tailEnd type="triangle" w="sm" len="sm"/>
          </a:ln>
        </p:spPr>
      </p:cxnSp>
      <p:cxnSp>
        <p:nvCxnSpPr>
          <p:cNvPr id="1018" name="Gerade Verbindung mit Pfeil 1017"/>
          <p:cNvCxnSpPr>
            <a:stCxn id="1012" idx="3"/>
            <a:endCxn id="1013" idx="1"/>
          </p:cNvCxnSpPr>
          <p:nvPr/>
        </p:nvCxnSpPr>
        <p:spPr>
          <a:xfrm flipV="1">
            <a:off x="5103460" y="3448050"/>
            <a:ext cx="250754" cy="4763"/>
          </a:xfrm>
          <a:prstGeom prst="straightConnector1">
            <a:avLst/>
          </a:prstGeom>
          <a:ln w="17145">
            <a:solidFill>
              <a:srgbClr val="899EAC"/>
            </a:solidFill>
            <a:tailEnd type="triangle" w="sm" len="sm"/>
          </a:ln>
        </p:spPr>
      </p:cxnSp>
      <p:cxnSp>
        <p:nvCxnSpPr>
          <p:cNvPr id="1019" name="Gerade Verbindung mit Pfeil 1018"/>
          <p:cNvCxnSpPr>
            <a:stCxn id="1013" idx="3"/>
            <a:endCxn id="1014" idx="1"/>
          </p:cNvCxnSpPr>
          <p:nvPr/>
        </p:nvCxnSpPr>
        <p:spPr>
          <a:xfrm>
            <a:off x="7240319" y="3448050"/>
            <a:ext cx="719555" cy="0"/>
          </a:xfrm>
          <a:prstGeom prst="straightConnector1">
            <a:avLst/>
          </a:prstGeom>
          <a:ln w="17145">
            <a:solidFill>
              <a:srgbClr val="899EAC"/>
            </a:solidFill>
            <a:tailEnd type="triangle" w="sm" len="sm"/>
          </a:ln>
        </p:spPr>
      </p:cxnSp>
      <p:cxnSp>
        <p:nvCxnSpPr>
          <p:cNvPr id="1020" name="Gerade Verbindung mit Pfeil 1019"/>
          <p:cNvCxnSpPr>
            <a:stCxn id="1015" idx="2"/>
            <a:endCxn id="1014" idx="0"/>
          </p:cNvCxnSpPr>
          <p:nvPr/>
        </p:nvCxnSpPr>
        <p:spPr>
          <a:xfrm>
            <a:off x="8924732" y="3019425"/>
            <a:ext cx="0" cy="76200"/>
          </a:xfrm>
          <a:prstGeom prst="straightConnector1">
            <a:avLst/>
          </a:prstGeom>
          <a:ln w="17145">
            <a:solidFill>
              <a:srgbClr val="899EAC"/>
            </a:solidFill>
            <a:tailEnd type="triangle" w="sm" len="sm"/>
          </a:ln>
        </p:spPr>
      </p:cxnSp>
      <p:cxnSp>
        <p:nvCxnSpPr>
          <p:cNvPr id="1021" name="Gerade Verbindung mit Pfeil 1020"/>
          <p:cNvCxnSpPr>
            <a:stCxn id="1014" idx="2"/>
            <a:endCxn id="1016" idx="0"/>
          </p:cNvCxnSpPr>
          <p:nvPr/>
        </p:nvCxnSpPr>
        <p:spPr>
          <a:xfrm flipH="1">
            <a:off x="8924731" y="3800475"/>
            <a:ext cx="1" cy="142875"/>
          </a:xfrm>
          <a:prstGeom prst="straightConnector1">
            <a:avLst/>
          </a:prstGeom>
          <a:ln w="17145">
            <a:solidFill>
              <a:srgbClr val="899EAC"/>
            </a:solidFill>
            <a:tailEnd type="triangle" w="sm" len="sm"/>
          </a:ln>
        </p:spPr>
      </p:cxnSp>
      <p:sp>
        <p:nvSpPr>
          <p:cNvPr id="1022" name="BM_predicted_voltage_60">
            <a:extLst>
              <a:ext uri="{FF2B5EF4-FFF2-40B4-BE49-F238E27FC236}">
                <a16:creationId xmlns:a16="http://schemas.microsoft.com/office/drawing/2014/main" id="{8F8597B3-ECE1-4262-A46B-6173B6379311}"/>
              </a:ext>
            </a:extLst>
          </p:cNvPr>
          <p:cNvSpPr>
            <a:spLocks noGrp="1"/>
          </p:cNvSpPr>
          <p:nvPr/>
        </p:nvSpPr>
        <p:spPr>
          <a:xfrm>
            <a:off x="7371147" y="3171825"/>
            <a:ext cx="457898" cy="2952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Û</a:t>
            </a:r>
          </a:p>
        </p:txBody>
      </p:sp>
      <p:sp>
        <p:nvSpPr>
          <p:cNvPr id="1023" name="BM_principle_61">
            <a:extLst>
              <a:ext uri="{FF2B5EF4-FFF2-40B4-BE49-F238E27FC236}">
                <a16:creationId xmlns:a16="http://schemas.microsoft.com/office/drawing/2014/main" id="{5B8D1D82-401E-43D4-AE34-40012F966EC4}"/>
              </a:ext>
            </a:extLst>
          </p:cNvPr>
          <p:cNvSpPr>
            <a:spLocks noGrp="1"/>
          </p:cNvSpPr>
          <p:nvPr/>
        </p:nvSpPr>
        <p:spPr>
          <a:xfrm>
            <a:off x="4623757" y="4438650"/>
            <a:ext cx="5320343" cy="7143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Prinzip: </a:t>
            </a:r>
            <a:r>
              <a:t>Zustandskorrektur durch den EKF [17, 19] über die Spannungsabweichung U − Û</a:t>
            </a:r>
          </a:p>
        </p:txBody>
      </p:sp>
      <p:sp>
        <p:nvSpPr>
          <p:cNvPr id="1024" name="BM_benefit_62">
            <a:extLst>
              <a:ext uri="{FF2B5EF4-FFF2-40B4-BE49-F238E27FC236}">
                <a16:creationId xmlns:a16="http://schemas.microsoft.com/office/drawing/2014/main" id="{9881A825-1E7C-4009-B78E-9A30BA171C8B}"/>
              </a:ext>
            </a:extLst>
          </p:cNvPr>
          <p:cNvSpPr>
            <a:spLocks noGrp="1"/>
          </p:cNvSpPr>
          <p:nvPr/>
        </p:nvSpPr>
        <p:spPr>
          <a:xfrm>
            <a:off x="4623757" y="5210175"/>
            <a:ext cx="5320343" cy="6000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Verbindung von physikalischer Dynamik, SOH-Anpassung und Messfeedback</a:t>
            </a:r>
          </a:p>
        </p:txBody>
      </p:sp>
      <p:sp>
        <p:nvSpPr>
          <p:cNvPr id="1025" name="Footer – Seitennummer">
            <a:extLst>
              <a:ext uri="{FF2B5EF4-FFF2-40B4-BE49-F238E27FC236}">
                <a16:creationId xmlns:a16="http://schemas.microsoft.com/office/drawing/2014/main" id="{8FCDDD2F-02AD-4CB4-9E07-29CAAEB8A36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16 / 39</a:t>
            </a:r>
          </a:p>
        </p:txBody>
      </p:sp>
      <p:sp>
        <p:nvSpPr>
          <p:cNvPr id="1026" name="Footer – Präsentationsangaben">
            <a:extLst>
              <a:ext uri="{FF2B5EF4-FFF2-40B4-BE49-F238E27FC236}">
                <a16:creationId xmlns:a16="http://schemas.microsoft.com/office/drawing/2014/main" id="{6976D9FF-8CCD-48F9-87C4-811110233FDC}"/>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63">
            <a:extLst>
              <a:ext uri="{FF2B5EF4-FFF2-40B4-BE49-F238E27FC236}">
                <a16:creationId xmlns:a16="http://schemas.microsoft.com/office/drawing/2014/main" id="{1043F74B-199B-41C6-8CB9-4BCC5E538C06}"/>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model_list_abbr_0_64">
            <a:extLst>
              <a:ext uri="{FF2B5EF4-FFF2-40B4-BE49-F238E27FC236}">
                <a16:creationId xmlns:a16="http://schemas.microsoft.com/office/drawing/2014/main" id="{00B2ADCA-FCBA-4651-8A0B-FCB2EC092627}"/>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DM</a:t>
            </a:r>
          </a:p>
        </p:txBody>
      </p:sp>
      <p:sp>
        <p:nvSpPr>
          <p:cNvPr id="1002" name="BM_model_list_family_0_65">
            <a:extLst>
              <a:ext uri="{FF2B5EF4-FFF2-40B4-BE49-F238E27FC236}">
                <a16:creationId xmlns:a16="http://schemas.microsoft.com/office/drawing/2014/main" id="{984ECDD9-89A1-4CEE-A69E-000E4894EE7D}"/>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Direct Measurement</a:t>
            </a:r>
          </a:p>
        </p:txBody>
      </p:sp>
      <p:sp>
        <p:nvSpPr>
          <p:cNvPr id="1003" name="BM_model_list_abbr_1_66">
            <a:extLst>
              <a:ext uri="{FF2B5EF4-FFF2-40B4-BE49-F238E27FC236}">
                <a16:creationId xmlns:a16="http://schemas.microsoft.com/office/drawing/2014/main" id="{AB3EFDDD-7825-434F-9AF5-7BE8C854FB1B}"/>
              </a:ext>
            </a:extLst>
          </p:cNvPr>
          <p:cNvSpPr>
            <a:spLocks noGrp="1"/>
          </p:cNvSpPr>
          <p:nvPr/>
        </p:nvSpPr>
        <p:spPr>
          <a:xfrm>
            <a:off x="762000" y="26955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HDM</a:t>
            </a:r>
          </a:p>
        </p:txBody>
      </p:sp>
      <p:sp>
        <p:nvSpPr>
          <p:cNvPr id="1004" name="BM_model_list_family_1_67">
            <a:extLst>
              <a:ext uri="{FF2B5EF4-FFF2-40B4-BE49-F238E27FC236}">
                <a16:creationId xmlns:a16="http://schemas.microsoft.com/office/drawing/2014/main" id="{CE8D45B2-33ED-4DB1-9E36-5B9F8F2D8F7A}"/>
              </a:ext>
            </a:extLst>
          </p:cNvPr>
          <p:cNvSpPr>
            <a:spLocks noGrp="1"/>
          </p:cNvSpPr>
          <p:nvPr/>
        </p:nvSpPr>
        <p:spPr>
          <a:xfrm>
            <a:off x="762000" y="30670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Hybrid Direct Measurement</a:t>
            </a:r>
          </a:p>
        </p:txBody>
      </p:sp>
      <p:sp>
        <p:nvSpPr>
          <p:cNvPr id="1005" name="BM_model_list_abbr_2_68">
            <a:extLst>
              <a:ext uri="{FF2B5EF4-FFF2-40B4-BE49-F238E27FC236}">
                <a16:creationId xmlns:a16="http://schemas.microsoft.com/office/drawing/2014/main" id="{A3BCA225-4B6F-4BE9-A3CF-ABB922288CEF}"/>
              </a:ext>
            </a:extLst>
          </p:cNvPr>
          <p:cNvSpPr>
            <a:spLocks noGrp="1"/>
          </p:cNvSpPr>
          <p:nvPr/>
        </p:nvSpPr>
        <p:spPr>
          <a:xfrm>
            <a:off x="762000" y="37623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HECM</a:t>
            </a:r>
          </a:p>
        </p:txBody>
      </p:sp>
      <p:sp>
        <p:nvSpPr>
          <p:cNvPr id="1006" name="BM_model_list_family_2_69">
            <a:extLst>
              <a:ext uri="{FF2B5EF4-FFF2-40B4-BE49-F238E27FC236}">
                <a16:creationId xmlns:a16="http://schemas.microsoft.com/office/drawing/2014/main" id="{930BAE54-D368-427A-818D-CFA2FE49A206}"/>
              </a:ext>
            </a:extLst>
          </p:cNvPr>
          <p:cNvSpPr>
            <a:spLocks noGrp="1"/>
          </p:cNvSpPr>
          <p:nvPr/>
        </p:nvSpPr>
        <p:spPr>
          <a:xfrm>
            <a:off x="762000" y="41338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Hybrid Equivalent-Circuit Model</a:t>
            </a:r>
          </a:p>
        </p:txBody>
      </p:sp>
      <p:sp>
        <p:nvSpPr>
          <p:cNvPr id="1007" name="BM_current_model_accent_70">
            <a:extLst>
              <a:ext uri="{FF2B5EF4-FFF2-40B4-BE49-F238E27FC236}">
                <a16:creationId xmlns:a16="http://schemas.microsoft.com/office/drawing/2014/main" id="{CCB31E5A-886B-42A0-A2CB-F20215A44F1B}"/>
              </a:ext>
            </a:extLst>
          </p:cNvPr>
          <p:cNvSpPr>
            <a:spLocks noGrp="1"/>
          </p:cNvSpPr>
          <p:nvPr/>
        </p:nvSpPr>
        <p:spPr>
          <a:xfrm>
            <a:off x="552450" y="4857750"/>
            <a:ext cx="28575" cy="685800"/>
          </a:xfrm>
          <a:prstGeom prst="rect">
            <a:avLst/>
          </a:prstGeom>
          <a:solidFill>
            <a:srgbClr val="D00020"/>
          </a:solidFill>
          <a:ln w="0">
            <a:noFill/>
          </a:ln>
        </p:spPr>
        <p:txBody>
          <a:bodyPr/>
          <a:lstStyle/>
          <a:p>
            <a:endParaRPr lang="de-DE"/>
          </a:p>
        </p:txBody>
      </p:sp>
      <p:sp>
        <p:nvSpPr>
          <p:cNvPr id="1008" name="BM_model_list_abbr_3_71">
            <a:extLst>
              <a:ext uri="{FF2B5EF4-FFF2-40B4-BE49-F238E27FC236}">
                <a16:creationId xmlns:a16="http://schemas.microsoft.com/office/drawing/2014/main" id="{90CF01B6-7DE2-448C-86D6-82D4DBF7AC76}"/>
              </a:ext>
            </a:extLst>
          </p:cNvPr>
          <p:cNvSpPr>
            <a:spLocks noGrp="1"/>
          </p:cNvSpPr>
          <p:nvPr/>
        </p:nvSpPr>
        <p:spPr>
          <a:xfrm>
            <a:off x="762000" y="48291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DD</a:t>
            </a:r>
          </a:p>
        </p:txBody>
      </p:sp>
      <p:sp>
        <p:nvSpPr>
          <p:cNvPr id="1009" name="BM_model_list_family_3_72">
            <a:extLst>
              <a:ext uri="{FF2B5EF4-FFF2-40B4-BE49-F238E27FC236}">
                <a16:creationId xmlns:a16="http://schemas.microsoft.com/office/drawing/2014/main" id="{01135DF6-A683-450B-8953-7057BA4656E4}"/>
              </a:ext>
            </a:extLst>
          </p:cNvPr>
          <p:cNvSpPr>
            <a:spLocks noGrp="1"/>
          </p:cNvSpPr>
          <p:nvPr/>
        </p:nvSpPr>
        <p:spPr>
          <a:xfrm>
            <a:off x="762000" y="52006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Data-Driven Model</a:t>
            </a:r>
          </a:p>
        </p:txBody>
      </p:sp>
      <p:sp>
        <p:nvSpPr>
          <p:cNvPr id="1010" name="BM_model_focus_73">
            <a:extLst>
              <a:ext uri="{FF2B5EF4-FFF2-40B4-BE49-F238E27FC236}">
                <a16:creationId xmlns:a16="http://schemas.microsoft.com/office/drawing/2014/main" id="{B4248301-25FD-4B2B-BD0F-9DC7552601C3}"/>
              </a:ext>
            </a:extLst>
          </p:cNvPr>
          <p:cNvSpPr>
            <a:spLocks noGrp="1"/>
          </p:cNvSpPr>
          <p:nvPr/>
        </p:nvSpPr>
        <p:spPr>
          <a:xfrm>
            <a:off x="4623757" y="1533525"/>
            <a:ext cx="5320343" cy="3619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SOC aus der Signalhistorie</a:t>
            </a:r>
          </a:p>
        </p:txBody>
      </p:sp>
      <p:sp>
        <p:nvSpPr>
          <p:cNvPr id="1011" name="BM_soh_lstm_74">
            <a:extLst>
              <a:ext uri="{FF2B5EF4-FFF2-40B4-BE49-F238E27FC236}">
                <a16:creationId xmlns:a16="http://schemas.microsoft.com/office/drawing/2014/main" id="{8196F697-9B53-4D2A-821D-2A66F3C76038}"/>
              </a:ext>
            </a:extLst>
          </p:cNvPr>
          <p:cNvSpPr>
            <a:spLocks noGrp="1"/>
          </p:cNvSpPr>
          <p:nvPr/>
        </p:nvSpPr>
        <p:spPr>
          <a:xfrm>
            <a:off x="4618306" y="2076450"/>
            <a:ext cx="1755277" cy="514350"/>
          </a:xfrm>
          <a:prstGeom prst="rect">
            <a:avLst/>
          </a:prstGeom>
          <a:solidFill>
            <a:srgbClr val="FBECEE"/>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LSTM · SOH</a:t>
            </a:r>
          </a:p>
        </p:txBody>
      </p:sp>
      <p:sp>
        <p:nvSpPr>
          <p:cNvPr id="1012" name="BM_soc_window_75">
            <a:extLst>
              <a:ext uri="{FF2B5EF4-FFF2-40B4-BE49-F238E27FC236}">
                <a16:creationId xmlns:a16="http://schemas.microsoft.com/office/drawing/2014/main" id="{05BDF49E-6628-4680-848A-43D58BB5C7AF}"/>
              </a:ext>
            </a:extLst>
          </p:cNvPr>
          <p:cNvSpPr>
            <a:spLocks noGrp="1"/>
          </p:cNvSpPr>
          <p:nvPr/>
        </p:nvSpPr>
        <p:spPr>
          <a:xfrm>
            <a:off x="6815128" y="2619375"/>
            <a:ext cx="3085363" cy="266700"/>
          </a:xfrm>
          <a:prstGeom prst="rect">
            <a:avLst/>
          </a:prstGeom>
          <a:noFill/>
          <a:ln w="0">
            <a:noFill/>
          </a:ln>
        </p:spPr>
        <p:txBody>
          <a:bodyPr lIns="0" tIns="0" rIns="0" bIns="0" anchor="t">
            <a:noAutofit/>
          </a:bodyPr>
          <a:lstStyle/>
          <a:p>
            <a:pPr algn="l">
              <a:defRPr sz="1800" b="0">
                <a:solidFill>
                  <a:srgbClr val="777777"/>
                </a:solidFill>
                <a:latin typeface="Calibri"/>
                <a:ea typeface="Calibri"/>
                <a:cs typeface="Calibri"/>
              </a:defRPr>
            </a:pPr>
            <a:r>
              <a:rPr sz="1800" b="0">
                <a:solidFill>
                  <a:srgbClr val="777777"/>
                </a:solidFill>
                <a:latin typeface="Calibri"/>
                <a:ea typeface="Calibri"/>
                <a:cs typeface="Calibri"/>
              </a:rPr>
              <a:t>Fenster: 2024 Samples</a:t>
            </a:r>
          </a:p>
        </p:txBody>
      </p:sp>
      <p:sp>
        <p:nvSpPr>
          <p:cNvPr id="1013" name="BM_causal_features_76">
            <a:extLst>
              <a:ext uri="{FF2B5EF4-FFF2-40B4-BE49-F238E27FC236}">
                <a16:creationId xmlns:a16="http://schemas.microsoft.com/office/drawing/2014/main" id="{A99F748C-7569-4E02-93AD-2CCBD31D4B5B}"/>
              </a:ext>
            </a:extLst>
          </p:cNvPr>
          <p:cNvSpPr>
            <a:spLocks noGrp="1"/>
          </p:cNvSpPr>
          <p:nvPr/>
        </p:nvSpPr>
        <p:spPr>
          <a:xfrm>
            <a:off x="4591050" y="2924175"/>
            <a:ext cx="1809789" cy="91440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U, I, T, Qc,</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dU/dt, dI/dt,</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Δt, SOH</a:t>
            </a:r>
          </a:p>
        </p:txBody>
      </p:sp>
      <p:sp>
        <p:nvSpPr>
          <p:cNvPr id="1014" name="BM_soc_gru_77">
            <a:extLst>
              <a:ext uri="{FF2B5EF4-FFF2-40B4-BE49-F238E27FC236}">
                <a16:creationId xmlns:a16="http://schemas.microsoft.com/office/drawing/2014/main" id="{74AF9B76-2D85-4DE9-A51E-CA4ACFE08805}"/>
              </a:ext>
            </a:extLst>
          </p:cNvPr>
          <p:cNvSpPr>
            <a:spLocks noGrp="1"/>
          </p:cNvSpPr>
          <p:nvPr/>
        </p:nvSpPr>
        <p:spPr>
          <a:xfrm>
            <a:off x="6815128" y="2924175"/>
            <a:ext cx="1439109" cy="91440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GRU</a:t>
            </a:r>
          </a:p>
        </p:txBody>
      </p:sp>
      <p:sp>
        <p:nvSpPr>
          <p:cNvPr id="1015" name="BM_soc_mlp_head_78">
            <a:extLst>
              <a:ext uri="{FF2B5EF4-FFF2-40B4-BE49-F238E27FC236}">
                <a16:creationId xmlns:a16="http://schemas.microsoft.com/office/drawing/2014/main" id="{39BA232A-E78D-4913-8BA4-ACBC4E556287}"/>
              </a:ext>
            </a:extLst>
          </p:cNvPr>
          <p:cNvSpPr>
            <a:spLocks noGrp="1"/>
          </p:cNvSpPr>
          <p:nvPr/>
        </p:nvSpPr>
        <p:spPr>
          <a:xfrm>
            <a:off x="8701233" y="3057525"/>
            <a:ext cx="1242867" cy="638175"/>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MLP-</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Head</a:t>
            </a:r>
          </a:p>
        </p:txBody>
      </p:sp>
      <p:sp>
        <p:nvSpPr>
          <p:cNvPr id="1016" name="BM_soc_output_79">
            <a:extLst>
              <a:ext uri="{FF2B5EF4-FFF2-40B4-BE49-F238E27FC236}">
                <a16:creationId xmlns:a16="http://schemas.microsoft.com/office/drawing/2014/main" id="{57C04BB8-61C4-4F1E-AFEB-CF3DD21FFB1B}"/>
              </a:ext>
            </a:extLst>
          </p:cNvPr>
          <p:cNvSpPr>
            <a:spLocks noGrp="1"/>
          </p:cNvSpPr>
          <p:nvPr/>
        </p:nvSpPr>
        <p:spPr>
          <a:xfrm>
            <a:off x="8919280" y="3943350"/>
            <a:ext cx="795871" cy="342900"/>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7" name="Gerade Verbindung mit Pfeil 1016"/>
          <p:cNvCxnSpPr>
            <a:stCxn id="1011" idx="2"/>
            <a:endCxn id="1013" idx="0"/>
          </p:cNvCxnSpPr>
          <p:nvPr/>
        </p:nvCxnSpPr>
        <p:spPr>
          <a:xfrm>
            <a:off x="5495945" y="2590800"/>
            <a:ext cx="0" cy="333375"/>
          </a:xfrm>
          <a:prstGeom prst="straightConnector1">
            <a:avLst/>
          </a:prstGeom>
          <a:ln w="17145">
            <a:solidFill>
              <a:srgbClr val="899EAC"/>
            </a:solidFill>
            <a:tailEnd type="triangle" w="sm" len="sm"/>
          </a:ln>
        </p:spPr>
      </p:cxnSp>
      <p:cxnSp>
        <p:nvCxnSpPr>
          <p:cNvPr id="1018" name="Gerade Verbindung mit Pfeil 1017"/>
          <p:cNvCxnSpPr>
            <a:stCxn id="1013" idx="3"/>
            <a:endCxn id="1014" idx="1"/>
          </p:cNvCxnSpPr>
          <p:nvPr/>
        </p:nvCxnSpPr>
        <p:spPr>
          <a:xfrm>
            <a:off x="6400839" y="3381375"/>
            <a:ext cx="414289" cy="0"/>
          </a:xfrm>
          <a:prstGeom prst="straightConnector1">
            <a:avLst/>
          </a:prstGeom>
          <a:ln w="17145">
            <a:solidFill>
              <a:srgbClr val="899EAC"/>
            </a:solidFill>
            <a:tailEnd type="triangle" w="sm" len="sm"/>
          </a:ln>
        </p:spPr>
      </p:cxnSp>
      <p:cxnSp>
        <p:nvCxnSpPr>
          <p:cNvPr id="1019" name="Gerade Verbindung mit Pfeil 1018"/>
          <p:cNvCxnSpPr>
            <a:stCxn id="1014" idx="3"/>
            <a:endCxn id="1015" idx="1"/>
          </p:cNvCxnSpPr>
          <p:nvPr/>
        </p:nvCxnSpPr>
        <p:spPr>
          <a:xfrm flipV="1">
            <a:off x="8254237" y="3376613"/>
            <a:ext cx="446996" cy="4763"/>
          </a:xfrm>
          <a:prstGeom prst="straightConnector1">
            <a:avLst/>
          </a:prstGeom>
          <a:ln w="17145">
            <a:solidFill>
              <a:srgbClr val="899EAC"/>
            </a:solidFill>
            <a:tailEnd type="triangle" w="sm" len="sm"/>
          </a:ln>
        </p:spPr>
      </p:cxnSp>
      <p:cxnSp>
        <p:nvCxnSpPr>
          <p:cNvPr id="1020" name="Gerade Verbindung mit Pfeil 1019"/>
          <p:cNvCxnSpPr>
            <a:stCxn id="1015" idx="2"/>
            <a:endCxn id="1016" idx="0"/>
          </p:cNvCxnSpPr>
          <p:nvPr/>
        </p:nvCxnSpPr>
        <p:spPr>
          <a:xfrm flipH="1">
            <a:off x="9317216" y="3695700"/>
            <a:ext cx="5451" cy="247650"/>
          </a:xfrm>
          <a:prstGeom prst="straightConnector1">
            <a:avLst/>
          </a:prstGeom>
          <a:ln w="17145">
            <a:solidFill>
              <a:srgbClr val="899EAC"/>
            </a:solidFill>
            <a:tailEnd type="triangle" w="sm" len="sm"/>
          </a:ln>
        </p:spPr>
      </p:cxnSp>
      <p:sp>
        <p:nvSpPr>
          <p:cNvPr id="1021" name="BM_benefit_80">
            <a:extLst>
              <a:ext uri="{FF2B5EF4-FFF2-40B4-BE49-F238E27FC236}">
                <a16:creationId xmlns:a16="http://schemas.microsoft.com/office/drawing/2014/main" id="{74EABBB7-1B83-4BBE-83C0-A5C0B32FD6A4}"/>
              </a:ext>
            </a:extLst>
          </p:cNvPr>
          <p:cNvSpPr>
            <a:spLocks noGrp="1"/>
          </p:cNvSpPr>
          <p:nvPr/>
        </p:nvSpPr>
        <p:spPr>
          <a:xfrm>
            <a:off x="4623757" y="4438650"/>
            <a:ext cx="5320343" cy="6572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Erfassung zeitlicher Zusammenhänge aus Messsignalen und kausalen Features</a:t>
            </a:r>
          </a:p>
        </p:txBody>
      </p:sp>
      <p:sp>
        <p:nvSpPr>
          <p:cNvPr id="1022" name="BM_gru_function_81">
            <a:extLst>
              <a:ext uri="{FF2B5EF4-FFF2-40B4-BE49-F238E27FC236}">
                <a16:creationId xmlns:a16="http://schemas.microsoft.com/office/drawing/2014/main" id="{53F1C23A-9DB3-4798-980C-18A6B05D902D}"/>
              </a:ext>
            </a:extLst>
          </p:cNvPr>
          <p:cNvSpPr>
            <a:spLocks noGrp="1"/>
          </p:cNvSpPr>
          <p:nvPr/>
        </p:nvSpPr>
        <p:spPr>
          <a:xfrm>
            <a:off x="4623757" y="5086350"/>
            <a:ext cx="5320343" cy="7334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GRU: </a:t>
            </a:r>
            <a:r>
              <a:t>Hidden State, Update zur Zustandsmischung, Reset für die Historie im Kandidaten</a:t>
            </a:r>
          </a:p>
        </p:txBody>
      </p:sp>
      <p:sp>
        <p:nvSpPr>
          <p:cNvPr id="1023" name="Footer – Seitennummer">
            <a:extLst>
              <a:ext uri="{FF2B5EF4-FFF2-40B4-BE49-F238E27FC236}">
                <a16:creationId xmlns:a16="http://schemas.microsoft.com/office/drawing/2014/main" id="{372B6EA7-3212-4797-A5F9-95928F9A1D6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17 / 39</a:t>
            </a:r>
          </a:p>
        </p:txBody>
      </p:sp>
      <p:sp>
        <p:nvSpPr>
          <p:cNvPr id="1024" name="Footer – Präsentationsangaben">
            <a:extLst>
              <a:ext uri="{FF2B5EF4-FFF2-40B4-BE49-F238E27FC236}">
                <a16:creationId xmlns:a16="http://schemas.microsoft.com/office/drawing/2014/main" id="{32B9255E-73A0-4EB4-8F56-BB57AD995FF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26" name="Quellenverweis 1022">
            <a:extLst>
              <a:ext uri="{FF2B5EF4-FFF2-40B4-BE49-F238E27FC236}">
                <a16:creationId xmlns:a16="http://schemas.microsoft.com/office/drawing/2014/main" id="{7D8E351B-59D1-4755-A39B-37A153678FB6}"/>
              </a:ext>
            </a:extLst>
          </p:cNvPr>
          <p:cNvSpPr>
            <a:spLocks noGrp="1"/>
          </p:cNvSpPr>
          <p:nvPr/>
        </p:nvSpPr>
        <p:spPr>
          <a:xfrm>
            <a:off x="7443903" y="5360759"/>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[18]</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0">
            <a:extLst>
              <a:ext uri="{FF2B5EF4-FFF2-40B4-BE49-F238E27FC236}">
                <a16:creationId xmlns:a16="http://schemas.microsoft.com/office/drawing/2014/main" id="{C4713D94-D986-45B1-876A-75A62E3C3E5F}"/>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0">
            <a:extLst>
              <a:ext uri="{FF2B5EF4-FFF2-40B4-BE49-F238E27FC236}">
                <a16:creationId xmlns:a16="http://schemas.microsoft.com/office/drawing/2014/main" id="{660EED15-1F99-46E0-9E98-8B5EB2AB78E7}"/>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0">
            <a:extLst>
              <a:ext uri="{FF2B5EF4-FFF2-40B4-BE49-F238E27FC236}">
                <a16:creationId xmlns:a16="http://schemas.microsoft.com/office/drawing/2014/main" id="{6A8157B7-6D49-4F33-BD19-BE17D34735A9}"/>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Initialization Errors</a:t>
            </a:r>
          </a:p>
        </p:txBody>
      </p:sp>
      <p:sp>
        <p:nvSpPr>
          <p:cNvPr id="2003" name="DS_section_title_0_0">
            <a:extLst>
              <a:ext uri="{FF2B5EF4-FFF2-40B4-BE49-F238E27FC236}">
                <a16:creationId xmlns:a16="http://schemas.microsoft.com/office/drawing/2014/main" id="{CA2BC267-8D94-4802-B1B1-7467C97BB33C}"/>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Betriebssituation</a:t>
            </a:r>
          </a:p>
        </p:txBody>
      </p:sp>
      <p:sp>
        <p:nvSpPr>
          <p:cNvPr id="2004" name="DS_section_body_0_0">
            <a:extLst>
              <a:ext uri="{FF2B5EF4-FFF2-40B4-BE49-F238E27FC236}">
                <a16:creationId xmlns:a16="http://schemas.microsoft.com/office/drawing/2014/main" id="{C8FB9A3D-CA81-444B-8133-B61EAA45FAF2}"/>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BMS-Neustart oder längere Lagerung ohne aktuelle SOC-Historie</a:t>
            </a:r>
          </a:p>
        </p:txBody>
      </p:sp>
      <p:sp>
        <p:nvSpPr>
          <p:cNvPr id="2005" name="DS_section_title_0_1">
            <a:extLst>
              <a:ext uri="{FF2B5EF4-FFF2-40B4-BE49-F238E27FC236}">
                <a16:creationId xmlns:a16="http://schemas.microsoft.com/office/drawing/2014/main" id="{11596507-80AF-451A-8E5D-62E81193F68B}"/>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Mögliche Auswirkungen</a:t>
            </a:r>
          </a:p>
        </p:txBody>
      </p:sp>
      <p:sp>
        <p:nvSpPr>
          <p:cNvPr id="2006" name="DS_section_body_0_1">
            <a:extLst>
              <a:ext uri="{FF2B5EF4-FFF2-40B4-BE49-F238E27FC236}">
                <a16:creationId xmlns:a16="http://schemas.microsoft.com/office/drawing/2014/main" id="{3C494AB1-B3AA-4085-8B27-BB3A274544E0}"/>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Anhaltende SOC-Abweichung oder verzögerte Recovery bei flacher LFP-OCV-Kennlinie</a:t>
            </a:r>
          </a:p>
        </p:txBody>
      </p:sp>
      <p:sp>
        <p:nvSpPr>
          <p:cNvPr id="2007" name="DS_current_family_0">
            <a:extLst>
              <a:ext uri="{FF2B5EF4-FFF2-40B4-BE49-F238E27FC236}">
                <a16:creationId xmlns:a16="http://schemas.microsoft.com/office/drawing/2014/main" id="{CA3F9C03-AA7C-4081-80D1-28345CCDB67B}"/>
              </a:ext>
            </a:extLst>
          </p:cNvPr>
          <p:cNvSpPr>
            <a:spLocks noGrp="1"/>
          </p:cNvSpPr>
          <p:nvPr/>
        </p:nvSpPr>
        <p:spPr>
          <a:xfrm>
            <a:off x="8446743" y="3062794"/>
            <a:ext cx="1459923" cy="217117"/>
          </a:xfrm>
          <a:prstGeom prst="rect">
            <a:avLst/>
          </a:prstGeom>
          <a:noFill/>
          <a:ln w="17145">
            <a:solidFill>
              <a:srgbClr val="D00020"/>
            </a:solidFill>
          </a:ln>
        </p:spPr>
        <p:txBody>
          <a:bodyPr/>
          <a:lstStyle/>
          <a:p>
            <a:endParaRPr lang="de-DE"/>
          </a:p>
        </p:txBody>
      </p:sp>
      <p:sp>
        <p:nvSpPr>
          <p:cNvPr id="2008" name="Footer – Seitennummer">
            <a:extLst>
              <a:ext uri="{FF2B5EF4-FFF2-40B4-BE49-F238E27FC236}">
                <a16:creationId xmlns:a16="http://schemas.microsoft.com/office/drawing/2014/main" id="{8717CD81-1E7D-4817-80FE-1EBF45DC463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18 / 39</a:t>
            </a:r>
          </a:p>
        </p:txBody>
      </p:sp>
      <p:sp>
        <p:nvSpPr>
          <p:cNvPr id="2009" name="Footer – Präsentationsangaben">
            <a:extLst>
              <a:ext uri="{FF2B5EF4-FFF2-40B4-BE49-F238E27FC236}">
                <a16:creationId xmlns:a16="http://schemas.microsoft.com/office/drawing/2014/main" id="{3985F732-C318-4A8F-B103-01CB5CE1D67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31">
            <a:extLst>
              <a:ext uri="{FF2B5EF4-FFF2-40B4-BE49-F238E27FC236}">
                <a16:creationId xmlns:a16="http://schemas.microsoft.com/office/drawing/2014/main" id="{F89AAF0F-BA75-42DB-8495-9DC43D776E60}"/>
              </a:ext>
            </a:extLst>
          </p:cNvPr>
          <p:cNvSpPr>
            <a:spLocks noGrp="1"/>
          </p:cNvSpPr>
          <p:nvPr/>
        </p:nvSpPr>
        <p:spPr>
          <a:xfrm>
            <a:off x="9696152" y="503364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2011" name="Quellenverweis 2006">
            <a:extLst>
              <a:ext uri="{FF2B5EF4-FFF2-40B4-BE49-F238E27FC236}">
                <a16:creationId xmlns:a16="http://schemas.microsoft.com/office/drawing/2014/main" id="{D40C2B6F-8D90-4DF5-A76D-058F8471BBDA}"/>
              </a:ext>
            </a:extLst>
          </p:cNvPr>
          <p:cNvSpPr>
            <a:spLocks noGrp="1"/>
          </p:cNvSpPr>
          <p:nvPr/>
        </p:nvSpPr>
        <p:spPr>
          <a:xfrm>
            <a:off x="2514841" y="4863605"/>
            <a:ext cx="697037"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[5], [6]</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1">
            <a:extLst>
              <a:ext uri="{FF2B5EF4-FFF2-40B4-BE49-F238E27FC236}">
                <a16:creationId xmlns:a16="http://schemas.microsoft.com/office/drawing/2014/main" id="{C9621CF2-2747-49C5-A944-91F639F2CD75}"/>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1">
            <a:extLst>
              <a:ext uri="{FF2B5EF4-FFF2-40B4-BE49-F238E27FC236}">
                <a16:creationId xmlns:a16="http://schemas.microsoft.com/office/drawing/2014/main" id="{7B6F0E97-599E-491B-B311-874ACCBE4FFF}"/>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1">
            <a:extLst>
              <a:ext uri="{FF2B5EF4-FFF2-40B4-BE49-F238E27FC236}">
                <a16:creationId xmlns:a16="http://schemas.microsoft.com/office/drawing/2014/main" id="{3C015F48-80E7-4FE5-BD9A-73AB224B660A}"/>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Input Disturbances</a:t>
            </a:r>
          </a:p>
        </p:txBody>
      </p:sp>
      <p:sp>
        <p:nvSpPr>
          <p:cNvPr id="2003" name="DS_section_title_1_0">
            <a:extLst>
              <a:ext uri="{FF2B5EF4-FFF2-40B4-BE49-F238E27FC236}">
                <a16:creationId xmlns:a16="http://schemas.microsoft.com/office/drawing/2014/main" id="{A033D743-D088-4C6E-8143-1221385BC2A4}"/>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Betriebssituation</a:t>
            </a:r>
          </a:p>
        </p:txBody>
      </p:sp>
      <p:sp>
        <p:nvSpPr>
          <p:cNvPr id="2004" name="DS_section_body_1_0">
            <a:extLst>
              <a:ext uri="{FF2B5EF4-FFF2-40B4-BE49-F238E27FC236}">
                <a16:creationId xmlns:a16="http://schemas.microsoft.com/office/drawing/2014/main" id="{DFA948F3-12A7-4125-A842-AFCF2C95771E}"/>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baseline="0">
                <a:solidFill>
                  <a:srgbClr val="444444"/>
                </a:solidFill>
                <a:latin typeface="Calibri"/>
                <a:ea typeface="Calibri"/>
                <a:cs typeface="Calibri"/>
              </a:defRPr>
            </a:pPr>
            <a:r>
              <a:rPr sz="1800" b="0" baseline="0">
                <a:solidFill>
                  <a:srgbClr val="444444"/>
                </a:solidFill>
                <a:latin typeface="Calibri"/>
                <a:ea typeface="Calibri"/>
                <a:cs typeface="Calibri"/>
              </a:rPr>
              <a:t>Sensordrift, Fehlkalibrierung und</a:t>
            </a:r>
          </a:p>
          <a:p>
            <a:pPr algn="l">
              <a:defRPr sz="1800" b="0" baseline="0">
                <a:solidFill>
                  <a:srgbClr val="444444"/>
                </a:solidFill>
                <a:latin typeface="Calibri"/>
                <a:ea typeface="Calibri"/>
                <a:cs typeface="Calibri"/>
              </a:defRPr>
            </a:pPr>
            <a:r>
              <a:rPr sz="1800" b="0" baseline="0">
                <a:solidFill>
                  <a:srgbClr val="444444"/>
                </a:solidFill>
                <a:latin typeface="Calibri"/>
                <a:ea typeface="Calibri"/>
                <a:cs typeface="Calibri"/>
              </a:rPr>
              <a:t>elektromagnetische</a:t>
            </a:r>
          </a:p>
          <a:p>
            <a:pPr algn="l">
              <a:defRPr sz="1800" b="0" baseline="0">
                <a:solidFill>
                  <a:srgbClr val="444444"/>
                </a:solidFill>
                <a:latin typeface="Calibri"/>
                <a:ea typeface="Calibri"/>
                <a:cs typeface="Calibri"/>
              </a:defRPr>
            </a:pPr>
            <a:r>
              <a:rPr sz="1800" b="0" baseline="0">
                <a:solidFill>
                  <a:srgbClr val="444444"/>
                </a:solidFill>
                <a:latin typeface="Calibri"/>
                <a:ea typeface="Calibri"/>
                <a:cs typeface="Calibri"/>
              </a:rPr>
              <a:t>Störungen</a:t>
            </a:r>
          </a:p>
        </p:txBody>
      </p:sp>
      <p:sp>
        <p:nvSpPr>
          <p:cNvPr id="2005" name="DS_section_title_1_1">
            <a:extLst>
              <a:ext uri="{FF2B5EF4-FFF2-40B4-BE49-F238E27FC236}">
                <a16:creationId xmlns:a16="http://schemas.microsoft.com/office/drawing/2014/main" id="{09117536-4A23-40B5-A0C6-20E44AFCB680}"/>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Mögliche Auswirkungen</a:t>
            </a:r>
          </a:p>
        </p:txBody>
      </p:sp>
      <p:sp>
        <p:nvSpPr>
          <p:cNvPr id="2006" name="DS_section_body_1_1">
            <a:extLst>
              <a:ext uri="{FF2B5EF4-FFF2-40B4-BE49-F238E27FC236}">
                <a16:creationId xmlns:a16="http://schemas.microsoft.com/office/drawing/2014/main" id="{7E326C64-35AE-4082-8536-29113770F6B5}"/>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SOC-Drift, verfälschtes Spannungsfeedback und fehlerhafte NN-Features</a:t>
            </a:r>
          </a:p>
        </p:txBody>
      </p:sp>
      <p:sp>
        <p:nvSpPr>
          <p:cNvPr id="2007" name="DS_current_family_1">
            <a:extLst>
              <a:ext uri="{FF2B5EF4-FFF2-40B4-BE49-F238E27FC236}">
                <a16:creationId xmlns:a16="http://schemas.microsoft.com/office/drawing/2014/main" id="{C4E2FE63-1DE9-46E6-9370-75B0C20509CF}"/>
              </a:ext>
            </a:extLst>
          </p:cNvPr>
          <p:cNvSpPr>
            <a:spLocks noGrp="1"/>
          </p:cNvSpPr>
          <p:nvPr/>
        </p:nvSpPr>
        <p:spPr>
          <a:xfrm>
            <a:off x="8274547" y="4305600"/>
            <a:ext cx="1388798" cy="213373"/>
          </a:xfrm>
          <a:prstGeom prst="rect">
            <a:avLst/>
          </a:prstGeom>
          <a:noFill/>
          <a:ln w="17145">
            <a:solidFill>
              <a:srgbClr val="D00020"/>
            </a:solidFill>
          </a:ln>
        </p:spPr>
        <p:txBody>
          <a:bodyPr/>
          <a:lstStyle/>
          <a:p>
            <a:endParaRPr lang="de-DE"/>
          </a:p>
        </p:txBody>
      </p:sp>
      <p:sp>
        <p:nvSpPr>
          <p:cNvPr id="2008" name="Footer – Seitennummer">
            <a:extLst>
              <a:ext uri="{FF2B5EF4-FFF2-40B4-BE49-F238E27FC236}">
                <a16:creationId xmlns:a16="http://schemas.microsoft.com/office/drawing/2014/main" id="{ED485245-E0D3-4199-A5F3-1E3F0BBF5CF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19 / 39</a:t>
            </a:r>
          </a:p>
        </p:txBody>
      </p:sp>
      <p:sp>
        <p:nvSpPr>
          <p:cNvPr id="2009" name="Footer – Präsentationsangaben">
            <a:extLst>
              <a:ext uri="{FF2B5EF4-FFF2-40B4-BE49-F238E27FC236}">
                <a16:creationId xmlns:a16="http://schemas.microsoft.com/office/drawing/2014/main" id="{0A82B06A-E6A2-4718-B348-C840766C47D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31">
            <a:extLst>
              <a:ext uri="{FF2B5EF4-FFF2-40B4-BE49-F238E27FC236}">
                <a16:creationId xmlns:a16="http://schemas.microsoft.com/office/drawing/2014/main" id="{2943424E-A2B7-4D5B-8C58-86D7ED8ED3A0}"/>
              </a:ext>
            </a:extLst>
          </p:cNvPr>
          <p:cNvSpPr>
            <a:spLocks noGrp="1"/>
          </p:cNvSpPr>
          <p:nvPr/>
        </p:nvSpPr>
        <p:spPr>
          <a:xfrm>
            <a:off x="9696152" y="503364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2011" name="Quellenverweis 2004">
            <a:extLst>
              <a:ext uri="{FF2B5EF4-FFF2-40B4-BE49-F238E27FC236}">
                <a16:creationId xmlns:a16="http://schemas.microsoft.com/office/drawing/2014/main" id="{DCB0AD3B-2531-4711-B27A-A953828D8E92}"/>
              </a:ext>
            </a:extLst>
          </p:cNvPr>
          <p:cNvSpPr>
            <a:spLocks noGrp="1"/>
          </p:cNvSpPr>
          <p:nvPr/>
        </p:nvSpPr>
        <p:spPr>
          <a:xfrm>
            <a:off x="1777194" y="3215640"/>
            <a:ext cx="697037"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[5], [7]</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2">
            <a:extLst>
              <a:ext uri="{FF2B5EF4-FFF2-40B4-BE49-F238E27FC236}">
                <a16:creationId xmlns:a16="http://schemas.microsoft.com/office/drawing/2014/main" id="{23B9B85B-9AB5-4C30-9185-9906C31B5EA9}"/>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2">
            <a:extLst>
              <a:ext uri="{FF2B5EF4-FFF2-40B4-BE49-F238E27FC236}">
                <a16:creationId xmlns:a16="http://schemas.microsoft.com/office/drawing/2014/main" id="{940AAE7D-42A3-49A2-8A93-55DFE78A6248}"/>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2">
            <a:extLst>
              <a:ext uri="{FF2B5EF4-FFF2-40B4-BE49-F238E27FC236}">
                <a16:creationId xmlns:a16="http://schemas.microsoft.com/office/drawing/2014/main" id="{EEAB2DE9-BE8B-45DE-992D-B81406448731}"/>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Signal-Integrity Faults</a:t>
            </a:r>
          </a:p>
        </p:txBody>
      </p:sp>
      <p:sp>
        <p:nvSpPr>
          <p:cNvPr id="2003" name="DS_section_title_2_0">
            <a:extLst>
              <a:ext uri="{FF2B5EF4-FFF2-40B4-BE49-F238E27FC236}">
                <a16:creationId xmlns:a16="http://schemas.microsoft.com/office/drawing/2014/main" id="{2699534F-A07E-4D71-A149-21C10654227F}"/>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Betriebssituation</a:t>
            </a:r>
          </a:p>
        </p:txBody>
      </p:sp>
      <p:sp>
        <p:nvSpPr>
          <p:cNvPr id="2004" name="DS_section_body_2_0">
            <a:extLst>
              <a:ext uri="{FF2B5EF4-FFF2-40B4-BE49-F238E27FC236}">
                <a16:creationId xmlns:a16="http://schemas.microsoft.com/office/drawing/2014/main" id="{9F899C93-F505-4043-AB86-DE0A61DE7AB8}"/>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Paketverluste, Kommunikationsausfälle und variable Task- oder Bus-Latenzen</a:t>
            </a:r>
          </a:p>
        </p:txBody>
      </p:sp>
      <p:sp>
        <p:nvSpPr>
          <p:cNvPr id="2005" name="DS_section_title_2_1">
            <a:extLst>
              <a:ext uri="{FF2B5EF4-FFF2-40B4-BE49-F238E27FC236}">
                <a16:creationId xmlns:a16="http://schemas.microsoft.com/office/drawing/2014/main" id="{B7AF7160-3D0F-443F-B8CC-7FE1157F91DD}"/>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Mögliche Auswirkungen</a:t>
            </a:r>
          </a:p>
        </p:txBody>
      </p:sp>
      <p:sp>
        <p:nvSpPr>
          <p:cNvPr id="2006" name="DS_section_body_2_1">
            <a:extLst>
              <a:ext uri="{FF2B5EF4-FFF2-40B4-BE49-F238E27FC236}">
                <a16:creationId xmlns:a16="http://schemas.microsoft.com/office/drawing/2014/main" id="{15373B4E-649D-4728-B6F6-8FBEB434A806}"/>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Fehlerhafte Ladungsbilanz und verfälschte Signalhistorie bei weiterlaufendem Zellbetrieb</a:t>
            </a:r>
          </a:p>
        </p:txBody>
      </p:sp>
      <p:sp>
        <p:nvSpPr>
          <p:cNvPr id="2007" name="DS_current_family_2">
            <a:extLst>
              <a:ext uri="{FF2B5EF4-FFF2-40B4-BE49-F238E27FC236}">
                <a16:creationId xmlns:a16="http://schemas.microsoft.com/office/drawing/2014/main" id="{93808014-B753-4B7E-BEF6-68018E6BF236}"/>
              </a:ext>
            </a:extLst>
          </p:cNvPr>
          <p:cNvSpPr>
            <a:spLocks noGrp="1"/>
          </p:cNvSpPr>
          <p:nvPr/>
        </p:nvSpPr>
        <p:spPr>
          <a:xfrm>
            <a:off x="4561103" y="2460108"/>
            <a:ext cx="1613402" cy="220860"/>
          </a:xfrm>
          <a:prstGeom prst="rect">
            <a:avLst/>
          </a:prstGeom>
          <a:noFill/>
          <a:ln w="17145">
            <a:solidFill>
              <a:srgbClr val="D00020"/>
            </a:solidFill>
          </a:ln>
        </p:spPr>
        <p:txBody>
          <a:bodyPr/>
          <a:lstStyle/>
          <a:p>
            <a:endParaRPr lang="de-DE"/>
          </a:p>
        </p:txBody>
      </p:sp>
      <p:sp>
        <p:nvSpPr>
          <p:cNvPr id="2008" name="Footer – Seitennummer">
            <a:extLst>
              <a:ext uri="{FF2B5EF4-FFF2-40B4-BE49-F238E27FC236}">
                <a16:creationId xmlns:a16="http://schemas.microsoft.com/office/drawing/2014/main" id="{3B3E77BF-92E9-4435-8729-A5B0EAA743F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20 / 39</a:t>
            </a:r>
          </a:p>
        </p:txBody>
      </p:sp>
      <p:sp>
        <p:nvSpPr>
          <p:cNvPr id="2009" name="Footer – Präsentationsangaben">
            <a:extLst>
              <a:ext uri="{FF2B5EF4-FFF2-40B4-BE49-F238E27FC236}">
                <a16:creationId xmlns:a16="http://schemas.microsoft.com/office/drawing/2014/main" id="{208D57AD-155C-435B-B68C-CB357E23C374}"/>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31">
            <a:extLst>
              <a:ext uri="{FF2B5EF4-FFF2-40B4-BE49-F238E27FC236}">
                <a16:creationId xmlns:a16="http://schemas.microsoft.com/office/drawing/2014/main" id="{B69C6ADE-6895-4D52-9FE1-F73841D79EAB}"/>
              </a:ext>
            </a:extLst>
          </p:cNvPr>
          <p:cNvSpPr>
            <a:spLocks noGrp="1"/>
          </p:cNvSpPr>
          <p:nvPr/>
        </p:nvSpPr>
        <p:spPr>
          <a:xfrm>
            <a:off x="9696152" y="503364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2011" name="Quellenverweis 2004">
            <a:extLst>
              <a:ext uri="{FF2B5EF4-FFF2-40B4-BE49-F238E27FC236}">
                <a16:creationId xmlns:a16="http://schemas.microsoft.com/office/drawing/2014/main" id="{6B78C219-AD08-482B-A9A9-673BD7A5C3A6}"/>
              </a:ext>
            </a:extLst>
          </p:cNvPr>
          <p:cNvSpPr>
            <a:spLocks noGrp="1"/>
          </p:cNvSpPr>
          <p:nvPr/>
        </p:nvSpPr>
        <p:spPr>
          <a:xfrm>
            <a:off x="3828148" y="3215526"/>
            <a:ext cx="332259"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[6]</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Nominale SOC-Genauigkeit im Benchmark</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3" name="V5_Figure_11"/>
          <p:cNvPicPr>
            <a:picLocks noChangeAspect="1"/>
          </p:cNvPicPr>
          <p:nvPr/>
        </p:nvPicPr>
        <p:blipFill>
          <a:blip r:embed="rId3"/>
          <a:stretch/>
        </p:blipFill>
        <p:spPr>
          <a:xfrm>
            <a:off x="552450" y="1666875"/>
            <a:ext cx="6858000" cy="2538264"/>
          </a:xfrm>
          <a:prstGeom prst="rect">
            <a:avLst/>
          </a:prstGeom>
        </p:spPr>
      </p:pic>
      <p:sp>
        <p:nvSpPr>
          <p:cNvPr id="15" name="Structure separator">
            <a:extLst>
              <a:ext uri="{FF2B5EF4-FFF2-40B4-BE49-F238E27FC236}">
                <a16:creationId xmlns:a16="http://schemas.microsoft.com/office/drawing/2014/main" id="{2278B69B-2ACA-4239-9F3E-334E1EEE36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5E57187B-4143-436C-9983-05366E255AF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4CBE117C-C3BF-4C12-8836-F650C9FB9A87}"/>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BB57D778-70C2-445A-A83A-E007C641C26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CA5EF388-0968-4F76-BCE9-3C5B2D35827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6FBC9C8E-75F5-4013-8D88-30FD970DC91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44E6B2F-767C-4630-98F4-D916351758BE}"/>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886A3413-2979-4488-959F-8946DB0D095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NR_testbasis_title">
            <a:extLst>
              <a:ext uri="{FF2B5EF4-FFF2-40B4-BE49-F238E27FC236}">
                <a16:creationId xmlns:a16="http://schemas.microsoft.com/office/drawing/2014/main" id="{E657BFBB-B8A9-4404-84AB-6D9F409FF4BE}"/>
              </a:ext>
            </a:extLst>
          </p:cNvPr>
          <p:cNvSpPr>
            <a:spLocks noGrp="1"/>
          </p:cNvSpPr>
          <p:nvPr/>
        </p:nvSpPr>
        <p:spPr>
          <a:xfrm>
            <a:off x="7620000" y="1457325"/>
            <a:ext cx="2476500" cy="2857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Testbasis</a:t>
            </a:r>
          </a:p>
        </p:txBody>
      </p:sp>
      <p:sp>
        <p:nvSpPr>
          <p:cNvPr id="2001" name="NR_testbasis_body">
            <a:extLst>
              <a:ext uri="{FF2B5EF4-FFF2-40B4-BE49-F238E27FC236}">
                <a16:creationId xmlns:a16="http://schemas.microsoft.com/office/drawing/2014/main" id="{26EB5CD8-8B19-45A7-93B1-2AFC44303EF5}"/>
              </a:ext>
            </a:extLst>
          </p:cNvPr>
          <p:cNvSpPr>
            <a:spLocks noGrp="1"/>
          </p:cNvSpPr>
          <p:nvPr/>
        </p:nvSpPr>
        <p:spPr>
          <a:xfrm>
            <a:off x="7620000" y="1781175"/>
            <a:ext cx="2476500" cy="11049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6 unabhängige</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LFP-Testzellen</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16 repräsentative</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24-h-Fenster</a:t>
            </a:r>
          </a:p>
        </p:txBody>
      </p:sp>
      <p:sp>
        <p:nvSpPr>
          <p:cNvPr id="2002" name="NR_evaluation_title">
            <a:extLst>
              <a:ext uri="{FF2B5EF4-FFF2-40B4-BE49-F238E27FC236}">
                <a16:creationId xmlns:a16="http://schemas.microsoft.com/office/drawing/2014/main" id="{9D007BA0-FDD6-45B7-A5E3-90AE0FE0DE05}"/>
              </a:ext>
            </a:extLst>
          </p:cNvPr>
          <p:cNvSpPr>
            <a:spLocks noGrp="1"/>
          </p:cNvSpPr>
          <p:nvPr/>
        </p:nvSpPr>
        <p:spPr>
          <a:xfrm>
            <a:off x="7620000" y="2962275"/>
            <a:ext cx="2476500" cy="2857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Auswertung</a:t>
            </a:r>
          </a:p>
        </p:txBody>
      </p:sp>
      <p:sp>
        <p:nvSpPr>
          <p:cNvPr id="2003" name="NR_evaluation_body">
            <a:extLst>
              <a:ext uri="{FF2B5EF4-FFF2-40B4-BE49-F238E27FC236}">
                <a16:creationId xmlns:a16="http://schemas.microsoft.com/office/drawing/2014/main" id="{37982B58-4B16-470B-BA0B-A6C263A509B7}"/>
              </a:ext>
            </a:extLst>
          </p:cNvPr>
          <p:cNvSpPr>
            <a:spLocks noGrp="1"/>
          </p:cNvSpPr>
          <p:nvPr/>
        </p:nvSpPr>
        <p:spPr>
          <a:xfrm>
            <a:off x="7620000" y="3286125"/>
            <a:ext cx="2476500" cy="11049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Gleiches Zellgewicht</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Balken: Makromittel</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Punkte: Fensterwerte</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Fehlerbalken: 95-%-KI</a:t>
            </a:r>
          </a:p>
        </p:txBody>
      </p:sp>
      <p:sp>
        <p:nvSpPr>
          <p:cNvPr id="2004" name="NR_dispersion">
            <a:extLst>
              <a:ext uri="{FF2B5EF4-FFF2-40B4-BE49-F238E27FC236}">
                <a16:creationId xmlns:a16="http://schemas.microsoft.com/office/drawing/2014/main" id="{B38C110A-4D79-4E62-8C2D-BB63BB5C6E01}"/>
              </a:ext>
            </a:extLst>
          </p:cNvPr>
          <p:cNvSpPr>
            <a:spLocks noGrp="1"/>
          </p:cNvSpPr>
          <p:nvPr/>
        </p:nvSpPr>
        <p:spPr>
          <a:xfrm>
            <a:off x="552450" y="4505325"/>
            <a:ext cx="9391650" cy="3238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dirty="0" err="1"/>
              <a:t>Streuung</a:t>
            </a:r>
            <a:r>
              <a:rPr b="1" dirty="0"/>
              <a:t>: </a:t>
            </a:r>
            <a:r>
              <a:rPr dirty="0"/>
              <a:t>Breite </a:t>
            </a:r>
            <a:r>
              <a:rPr dirty="0" err="1"/>
              <a:t>Fehlerspanne</a:t>
            </a:r>
            <a:r>
              <a:rPr dirty="0"/>
              <a:t> </a:t>
            </a:r>
            <a:r>
              <a:rPr dirty="0" err="1"/>
              <a:t>bei</a:t>
            </a:r>
            <a:r>
              <a:rPr dirty="0"/>
              <a:t> DM, HDM und HECM, </a:t>
            </a:r>
            <a:r>
              <a:rPr dirty="0" err="1"/>
              <a:t>engere</a:t>
            </a:r>
            <a:r>
              <a:rPr dirty="0"/>
              <a:t> </a:t>
            </a:r>
            <a:r>
              <a:rPr dirty="0" err="1"/>
              <a:t>Verteilung</a:t>
            </a:r>
            <a:r>
              <a:rPr dirty="0"/>
              <a:t> </a:t>
            </a:r>
            <a:r>
              <a:rPr dirty="0" err="1"/>
              <a:t>bei</a:t>
            </a:r>
            <a:r>
              <a:rPr dirty="0"/>
              <a:t> DD</a:t>
            </a:r>
          </a:p>
        </p:txBody>
      </p:sp>
      <p:sp>
        <p:nvSpPr>
          <p:cNvPr id="2005" name="NR_dm_mechanism">
            <a:extLst>
              <a:ext uri="{FF2B5EF4-FFF2-40B4-BE49-F238E27FC236}">
                <a16:creationId xmlns:a16="http://schemas.microsoft.com/office/drawing/2014/main" id="{1CF581A2-B4F0-47DA-A05A-E95B757C5297}"/>
              </a:ext>
            </a:extLst>
          </p:cNvPr>
          <p:cNvSpPr>
            <a:spLocks noGrp="1"/>
          </p:cNvSpPr>
          <p:nvPr/>
        </p:nvSpPr>
        <p:spPr>
          <a:xfrm>
            <a:off x="552450" y="4857750"/>
            <a:ext cx="9391650" cy="3238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dirty="0"/>
              <a:t>DM: </a:t>
            </a:r>
            <a:r>
              <a:rPr dirty="0"/>
              <a:t>Feste </a:t>
            </a:r>
            <a:r>
              <a:rPr dirty="0" err="1"/>
              <a:t>Kapazität</a:t>
            </a:r>
            <a:r>
              <a:rPr dirty="0"/>
              <a:t> </a:t>
            </a:r>
            <a:r>
              <a:rPr dirty="0" err="1"/>
              <a:t>trotz</a:t>
            </a:r>
            <a:r>
              <a:rPr dirty="0"/>
              <a:t> </a:t>
            </a:r>
            <a:r>
              <a:rPr dirty="0" err="1"/>
              <a:t>Alterung</a:t>
            </a:r>
            <a:r>
              <a:rPr dirty="0"/>
              <a:t>, </a:t>
            </a:r>
            <a:r>
              <a:rPr dirty="0" err="1"/>
              <a:t>keine</a:t>
            </a:r>
            <a:r>
              <a:rPr dirty="0"/>
              <a:t> </a:t>
            </a:r>
            <a:r>
              <a:rPr dirty="0" err="1"/>
              <a:t>kontinuierliche</a:t>
            </a:r>
            <a:r>
              <a:rPr dirty="0"/>
              <a:t> </a:t>
            </a:r>
            <a:r>
              <a:rPr dirty="0" err="1"/>
              <a:t>Korrektur</a:t>
            </a:r>
            <a:endParaRPr dirty="0"/>
          </a:p>
        </p:txBody>
      </p:sp>
      <p:sp>
        <p:nvSpPr>
          <p:cNvPr id="2006" name="NR_hybrid_mechanism">
            <a:extLst>
              <a:ext uri="{FF2B5EF4-FFF2-40B4-BE49-F238E27FC236}">
                <a16:creationId xmlns:a16="http://schemas.microsoft.com/office/drawing/2014/main" id="{8B3D7159-03F9-4744-A747-BC5F1BF9DDD4}"/>
              </a:ext>
            </a:extLst>
          </p:cNvPr>
          <p:cNvSpPr>
            <a:spLocks noGrp="1"/>
          </p:cNvSpPr>
          <p:nvPr/>
        </p:nvSpPr>
        <p:spPr>
          <a:xfrm>
            <a:off x="552450" y="5210175"/>
            <a:ext cx="9391650" cy="3238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dirty="0"/>
              <a:t>HDM/HECM: </a:t>
            </a:r>
            <a:r>
              <a:rPr dirty="0" err="1"/>
              <a:t>Zusätzlicher</a:t>
            </a:r>
            <a:r>
              <a:rPr dirty="0"/>
              <a:t> </a:t>
            </a:r>
            <a:r>
              <a:rPr dirty="0" err="1"/>
              <a:t>Fehlerbeitrag</a:t>
            </a:r>
            <a:r>
              <a:rPr dirty="0"/>
              <a:t> </a:t>
            </a:r>
            <a:r>
              <a:rPr dirty="0" err="1"/>
              <a:t>aus</a:t>
            </a:r>
            <a:r>
              <a:rPr dirty="0"/>
              <a:t> der SOH-</a:t>
            </a:r>
            <a:r>
              <a:rPr dirty="0" err="1"/>
              <a:t>Schätzung</a:t>
            </a:r>
            <a:endParaRPr dirty="0"/>
          </a:p>
        </p:txBody>
      </p:sp>
      <p:sp>
        <p:nvSpPr>
          <p:cNvPr id="2007" name="NR_takeaway">
            <a:extLst>
              <a:ext uri="{FF2B5EF4-FFF2-40B4-BE49-F238E27FC236}">
                <a16:creationId xmlns:a16="http://schemas.microsoft.com/office/drawing/2014/main" id="{C1C44E27-76D2-482F-B5D5-1D4FCB3E5770}"/>
              </a:ext>
            </a:extLst>
          </p:cNvPr>
          <p:cNvSpPr>
            <a:spLocks noGrp="1"/>
          </p:cNvSpPr>
          <p:nvPr/>
        </p:nvSpPr>
        <p:spPr>
          <a:xfrm>
            <a:off x="552450" y="5586412"/>
            <a:ext cx="9391650" cy="36195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dirty="0">
                <a:solidFill>
                  <a:srgbClr val="D00020"/>
                </a:solidFill>
                <a:latin typeface="Calibri"/>
                <a:ea typeface="Calibri"/>
                <a:cs typeface="Calibri"/>
              </a:rPr>
              <a:t>DD</a:t>
            </a:r>
            <a:r>
              <a:rPr lang="de-DE" sz="1800" b="1" dirty="0">
                <a:solidFill>
                  <a:srgbClr val="D00020"/>
                </a:solidFill>
                <a:latin typeface="Calibri"/>
                <a:ea typeface="Calibri"/>
                <a:cs typeface="Calibri"/>
              </a:rPr>
              <a:t>:</a:t>
            </a:r>
            <a:r>
              <a:rPr sz="1800" b="1" dirty="0">
                <a:solidFill>
                  <a:srgbClr val="D00020"/>
                </a:solidFill>
                <a:latin typeface="Calibri"/>
                <a:ea typeface="Calibri"/>
                <a:cs typeface="Calibri"/>
              </a:rPr>
              <a:t> </a:t>
            </a:r>
            <a:r>
              <a:rPr lang="de-DE" sz="1800" b="1" dirty="0">
                <a:solidFill>
                  <a:srgbClr val="D00020"/>
                </a:solidFill>
                <a:latin typeface="Calibri"/>
                <a:ea typeface="Calibri"/>
                <a:cs typeface="Calibri"/>
              </a:rPr>
              <a:t>Niedrigster </a:t>
            </a:r>
            <a:r>
              <a:rPr sz="1800" b="1" dirty="0" err="1">
                <a:solidFill>
                  <a:srgbClr val="D00020"/>
                </a:solidFill>
                <a:latin typeface="Calibri"/>
                <a:ea typeface="Calibri"/>
                <a:cs typeface="Calibri"/>
              </a:rPr>
              <a:t>mittlere</a:t>
            </a:r>
            <a:r>
              <a:rPr lang="de-DE" sz="1800" b="1" dirty="0">
                <a:solidFill>
                  <a:srgbClr val="D00020"/>
                </a:solidFill>
                <a:latin typeface="Calibri"/>
                <a:ea typeface="Calibri"/>
                <a:cs typeface="Calibri"/>
              </a:rPr>
              <a:t>r</a:t>
            </a:r>
            <a:r>
              <a:rPr sz="1800" b="1" dirty="0">
                <a:solidFill>
                  <a:srgbClr val="D00020"/>
                </a:solidFill>
                <a:latin typeface="Calibri"/>
                <a:ea typeface="Calibri"/>
                <a:cs typeface="Calibri"/>
              </a:rPr>
              <a:t> MAE </a:t>
            </a:r>
            <a:r>
              <a:rPr sz="1800" b="1" dirty="0" err="1">
                <a:solidFill>
                  <a:srgbClr val="D00020"/>
                </a:solidFill>
                <a:latin typeface="Calibri"/>
                <a:ea typeface="Calibri"/>
                <a:cs typeface="Calibri"/>
              </a:rPr>
              <a:t>im</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nominalen</a:t>
            </a:r>
            <a:r>
              <a:rPr sz="1800" b="1" dirty="0">
                <a:solidFill>
                  <a:srgbClr val="D00020"/>
                </a:solidFill>
                <a:latin typeface="Calibri"/>
                <a:ea typeface="Calibri"/>
                <a:cs typeface="Calibri"/>
              </a:rPr>
              <a:t> Benchmark</a:t>
            </a:r>
          </a:p>
        </p:txBody>
      </p:sp>
      <p:sp>
        <p:nvSpPr>
          <p:cNvPr id="2008" name="Footer – Seitennummer">
            <a:extLst>
              <a:ext uri="{FF2B5EF4-FFF2-40B4-BE49-F238E27FC236}">
                <a16:creationId xmlns:a16="http://schemas.microsoft.com/office/drawing/2014/main" id="{E89DE0EB-D316-4AF8-930B-CD026DB0E78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21 / 39</a:t>
            </a:r>
          </a:p>
        </p:txBody>
      </p:sp>
      <p:sp>
        <p:nvSpPr>
          <p:cNvPr id="2009" name="Footer – Präsentationsangaben">
            <a:extLst>
              <a:ext uri="{FF2B5EF4-FFF2-40B4-BE49-F238E27FC236}">
                <a16:creationId xmlns:a16="http://schemas.microsoft.com/office/drawing/2014/main" id="{82085996-3D6D-45A8-B81E-642A97AE48BD}"/>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4" grpId="0"/>
      <p:bldP spid="2005" grpId="0"/>
      <p:bldP spid="2006" grpId="0"/>
      <p:bldP spid="200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Sensitivität gegenüber Strom-Gain-Fehlern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6867525" y="1495425"/>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DM/HDM: </a:t>
            </a:r>
            <a:r>
              <a:rPr sz="1800" b="0">
                <a:solidFill>
                  <a:srgbClr val="444444"/>
                </a:solidFill>
                <a:latin typeface="Calibri"/>
                <a:ea typeface="Calibri"/>
                <a:cs typeface="Calibri"/>
              </a:rPr>
              <a:t>Stärkster Fehleranstieg durch Integration des skalierten Stroms</a:t>
            </a:r>
          </a:p>
        </p:txBody>
      </p:sp>
      <p:sp>
        <p:nvSpPr>
          <p:cNvPr id="15" name="Structure separator">
            <a:extLst>
              <a:ext uri="{FF2B5EF4-FFF2-40B4-BE49-F238E27FC236}">
                <a16:creationId xmlns:a16="http://schemas.microsoft.com/office/drawing/2014/main" id="{D9835177-69A9-4BD8-BF77-A67A17A1998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6CEFBA8B-BE63-44AE-83F4-FB83489E5AE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36F043BA-409F-4D23-8101-F284566FDC7F}"/>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E1803453-2C5C-4884-B218-ECCBA534CA3C}"/>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6DA0643-2FF1-4276-87A6-362DE6B0C0C3}"/>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C7494741-4618-4E06-B09B-FB38D11ABDA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51AC6ED9-82AD-4339-B6F5-E04BF1179FB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892353C1-0898-40D0-9944-3E911D7F63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3" name="Grafik 42"/>
          <p:cNvPicPr>
            <a:picLocks noChangeAspect="1"/>
          </p:cNvPicPr>
          <p:nvPr/>
        </p:nvPicPr>
        <p:blipFill>
          <a:blip r:embed="rId3"/>
          <a:stretch/>
        </p:blipFill>
        <p:spPr>
          <a:xfrm>
            <a:off x="552450" y="1509378"/>
            <a:ext cx="5943600" cy="3572545"/>
          </a:xfrm>
          <a:prstGeom prst="rect">
            <a:avLst/>
          </a:prstGeom>
        </p:spPr>
      </p:pic>
      <p:sp>
        <p:nvSpPr>
          <p:cNvPr id="24" name="v11-text-19-2">
            <a:extLst>
              <a:ext uri="{FF2B5EF4-FFF2-40B4-BE49-F238E27FC236}">
                <a16:creationId xmlns:a16="http://schemas.microsoft.com/office/drawing/2014/main" id="{B3235DAA-76C3-4AEF-802D-9339BF1D8C5C}"/>
              </a:ext>
            </a:extLst>
          </p:cNvPr>
          <p:cNvSpPr>
            <a:spLocks noGrp="1"/>
          </p:cNvSpPr>
          <p:nvPr/>
        </p:nvSpPr>
        <p:spPr>
          <a:xfrm>
            <a:off x="6867525" y="2724150"/>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Teilkorrektur des SOC über das Spannungsfeedback</a:t>
            </a:r>
          </a:p>
        </p:txBody>
      </p:sp>
      <p:sp>
        <p:nvSpPr>
          <p:cNvPr id="25" name="v11-text-19-3">
            <a:extLst>
              <a:ext uri="{FF2B5EF4-FFF2-40B4-BE49-F238E27FC236}">
                <a16:creationId xmlns:a16="http://schemas.microsoft.com/office/drawing/2014/main" id="{14AEFD0E-7131-4A0C-857B-75F39D383A9D}"/>
              </a:ext>
            </a:extLst>
          </p:cNvPr>
          <p:cNvSpPr>
            <a:spLocks noGrp="1"/>
          </p:cNvSpPr>
          <p:nvPr/>
        </p:nvSpPr>
        <p:spPr>
          <a:xfrm>
            <a:off x="6867525" y="3962400"/>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Mehrkanalhistorie als plausible Erklärung der geringeren Sensitivität</a:t>
            </a:r>
          </a:p>
        </p:txBody>
      </p:sp>
      <p:sp>
        <p:nvSpPr>
          <p:cNvPr id="28" name="v12-text-19-5">
            <a:extLst>
              <a:ext uri="{FF2B5EF4-FFF2-40B4-BE49-F238E27FC236}">
                <a16:creationId xmlns:a16="http://schemas.microsoft.com/office/drawing/2014/main" id="{D59571FE-9A09-4F97-B0A2-82E53ABDDC71}"/>
              </a:ext>
            </a:extLst>
          </p:cNvPr>
          <p:cNvSpPr>
            <a:spLocks noGrp="1"/>
          </p:cNvSpPr>
          <p:nvPr/>
        </p:nvSpPr>
        <p:spPr>
          <a:xfrm>
            <a:off x="552450" y="5486400"/>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DD </a:t>
            </a:r>
            <a:r>
              <a:rPr sz="1800" b="1" dirty="0" err="1">
                <a:solidFill>
                  <a:srgbClr val="D00020"/>
                </a:solidFill>
                <a:latin typeface="Calibri"/>
                <a:ea typeface="Calibri"/>
                <a:cs typeface="Calibri"/>
              </a:rPr>
              <a:t>mit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geringstem</a:t>
            </a:r>
            <a:r>
              <a:rPr sz="1800" b="1" dirty="0">
                <a:solidFill>
                  <a:srgbClr val="D00020"/>
                </a:solidFill>
                <a:latin typeface="Calibri"/>
                <a:ea typeface="Calibri"/>
                <a:cs typeface="Calibri"/>
              </a:rPr>
              <a:t> MAE-</a:t>
            </a:r>
            <a:r>
              <a:rPr sz="1800" b="1" dirty="0" err="1">
                <a:solidFill>
                  <a:srgbClr val="D00020"/>
                </a:solidFill>
                <a:latin typeface="Calibri"/>
                <a:ea typeface="Calibri"/>
                <a:cs typeface="Calibri"/>
              </a:rPr>
              <a:t>Anstieg</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im</a:t>
            </a:r>
            <a:r>
              <a:rPr sz="1800" b="1" dirty="0">
                <a:solidFill>
                  <a:srgbClr val="D00020"/>
                </a:solidFill>
                <a:latin typeface="Calibri"/>
                <a:ea typeface="Calibri"/>
                <a:cs typeface="Calibri"/>
              </a:rPr>
              <a:t> Sechs-Zell-</a:t>
            </a:r>
            <a:r>
              <a:rPr sz="1800" b="1" dirty="0" err="1">
                <a:solidFill>
                  <a:srgbClr val="D00020"/>
                </a:solidFill>
                <a:latin typeface="Calibri"/>
                <a:ea typeface="Calibri"/>
                <a:cs typeface="Calibri"/>
              </a:rPr>
              <a:t>Vergleich</a:t>
            </a:r>
            <a:endParaRPr sz="1800" b="1" dirty="0">
              <a:solidFill>
                <a:srgbClr val="D00020"/>
              </a:solidFill>
              <a:latin typeface="Calibri"/>
              <a:ea typeface="Calibri"/>
              <a:cs typeface="Calibri"/>
            </a:endParaRPr>
          </a:p>
        </p:txBody>
      </p:sp>
      <p:sp>
        <p:nvSpPr>
          <p:cNvPr id="44" name="Footer – Seitennummer">
            <a:extLst>
              <a:ext uri="{FF2B5EF4-FFF2-40B4-BE49-F238E27FC236}">
                <a16:creationId xmlns:a16="http://schemas.microsoft.com/office/drawing/2014/main" id="{9BE601EF-1AA1-4818-98BC-E307890EEE31}"/>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22 / 39</a:t>
            </a:r>
          </a:p>
        </p:txBody>
      </p:sp>
      <p:sp>
        <p:nvSpPr>
          <p:cNvPr id="45" name="Footer – Präsentationsangaben">
            <a:extLst>
              <a:ext uri="{FF2B5EF4-FFF2-40B4-BE49-F238E27FC236}">
                <a16:creationId xmlns:a16="http://schemas.microsoft.com/office/drawing/2014/main" id="{EDF78DBC-3596-4882-B41E-A6B56FF5B6F9}"/>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Recovery nach SOC-Initialisierungsfehlern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389DDC72-81AD-417A-A231-9CA62A6041A9}"/>
              </a:ext>
            </a:extLst>
          </p:cNvPr>
          <p:cNvSpPr>
            <a:spLocks noGrp="1"/>
          </p:cNvSpPr>
          <p:nvPr/>
        </p:nvSpPr>
        <p:spPr>
          <a:xfrm>
            <a:off x="6867525" y="1495425"/>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DM/HDM: </a:t>
            </a:r>
            <a:r>
              <a:rPr sz="1800" b="0">
                <a:solidFill>
                  <a:srgbClr val="444444"/>
                </a:solidFill>
                <a:latin typeface="Calibri"/>
                <a:ea typeface="Calibri"/>
                <a:cs typeface="Calibri"/>
              </a:rPr>
              <a:t>Meist keine Recovery in 24 h, fehlende kontinuierliche Korrektur</a:t>
            </a:r>
          </a:p>
        </p:txBody>
      </p:sp>
      <p:sp>
        <p:nvSpPr>
          <p:cNvPr id="13" name="V5_Text_13">
            <a:extLst>
              <a:ext uri="{FF2B5EF4-FFF2-40B4-BE49-F238E27FC236}">
                <a16:creationId xmlns:a16="http://schemas.microsoft.com/office/drawing/2014/main" id="{6DA17992-232B-42D1-8AC8-A3C90FEE316D}"/>
              </a:ext>
            </a:extLst>
          </p:cNvPr>
          <p:cNvSpPr>
            <a:spLocks noGrp="1"/>
          </p:cNvSpPr>
          <p:nvPr/>
        </p:nvSpPr>
        <p:spPr>
          <a:xfrm>
            <a:off x="6867525" y="2724150"/>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Persistente Re-Ankerung des SOC durch Spannungsfeedback</a:t>
            </a:r>
          </a:p>
        </p:txBody>
      </p:sp>
      <p:sp>
        <p:nvSpPr>
          <p:cNvPr id="17" name="Structure separator">
            <a:extLst>
              <a:ext uri="{FF2B5EF4-FFF2-40B4-BE49-F238E27FC236}">
                <a16:creationId xmlns:a16="http://schemas.microsoft.com/office/drawing/2014/main" id="{A36302A7-A169-4235-A16D-7A2B1EB3CEC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62E1006D-616E-46AE-847F-8ABEA570558A}"/>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AD504DFF-2DA5-4F3C-A3FF-EF79158E89B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B5E3A8F8-9FFB-44CE-9335-10E0EF5C80BA}"/>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9A7BD3F5-FC5E-44D4-9595-8267A8AE84A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7D15DB05-B310-4C61-967C-2D3CF858A52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CB17D824-50EF-4DF9-89AB-2192EE86BC2F}"/>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CDC66E98-C0F2-45E1-8A5B-6D57401A23B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5" name="Grafik 44"/>
          <p:cNvPicPr>
            <a:picLocks noChangeAspect="1"/>
          </p:cNvPicPr>
          <p:nvPr/>
        </p:nvPicPr>
        <p:blipFill>
          <a:blip r:embed="rId3"/>
          <a:stretch/>
        </p:blipFill>
        <p:spPr>
          <a:xfrm>
            <a:off x="623685" y="1428750"/>
            <a:ext cx="5810655" cy="3733800"/>
          </a:xfrm>
          <a:prstGeom prst="rect">
            <a:avLst/>
          </a:prstGeom>
        </p:spPr>
      </p:pic>
      <p:sp>
        <p:nvSpPr>
          <p:cNvPr id="26" name="v11-text-20-3">
            <a:extLst>
              <a:ext uri="{FF2B5EF4-FFF2-40B4-BE49-F238E27FC236}">
                <a16:creationId xmlns:a16="http://schemas.microsoft.com/office/drawing/2014/main" id="{9EA3E412-2BC3-40BD-9FD6-FA212B79D8D3}"/>
              </a:ext>
            </a:extLst>
          </p:cNvPr>
          <p:cNvSpPr>
            <a:spLocks noGrp="1"/>
          </p:cNvSpPr>
          <p:nvPr/>
        </p:nvSpPr>
        <p:spPr>
          <a:xfrm>
            <a:off x="6867525" y="3962400"/>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Rückfälle durch das Zusammenspiel von Qc-Offset und rekurrentem Kontext</a:t>
            </a:r>
          </a:p>
        </p:txBody>
      </p:sp>
      <p:sp>
        <p:nvSpPr>
          <p:cNvPr id="29" name="v12-text-20-5">
            <a:extLst>
              <a:ext uri="{FF2B5EF4-FFF2-40B4-BE49-F238E27FC236}">
                <a16:creationId xmlns:a16="http://schemas.microsoft.com/office/drawing/2014/main" id="{A2222EE8-BBCA-4AA6-837B-7007A9CB1D80}"/>
              </a:ext>
            </a:extLst>
          </p:cNvPr>
          <p:cNvSpPr>
            <a:spLocks noGrp="1"/>
          </p:cNvSpPr>
          <p:nvPr/>
        </p:nvSpPr>
        <p:spPr>
          <a:xfrm>
            <a:off x="550831" y="54578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HECM </a:t>
            </a:r>
            <a:r>
              <a:rPr sz="1800" b="1" dirty="0" err="1">
                <a:solidFill>
                  <a:srgbClr val="D00020"/>
                </a:solidFill>
                <a:latin typeface="Calibri"/>
                <a:ea typeface="Calibri"/>
                <a:cs typeface="Calibri"/>
              </a:rPr>
              <a:t>mit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schnellster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persistenter</a:t>
            </a:r>
            <a:r>
              <a:rPr sz="1800" b="1" dirty="0">
                <a:solidFill>
                  <a:srgbClr val="D00020"/>
                </a:solidFill>
                <a:latin typeface="Calibri"/>
                <a:ea typeface="Calibri"/>
                <a:cs typeface="Calibri"/>
              </a:rPr>
              <a:t> Recovery </a:t>
            </a:r>
            <a:r>
              <a:rPr sz="1800" b="1" dirty="0" err="1">
                <a:solidFill>
                  <a:srgbClr val="D00020"/>
                </a:solidFill>
                <a:latin typeface="Calibri"/>
                <a:ea typeface="Calibri"/>
                <a:cs typeface="Calibri"/>
              </a:rPr>
              <a:t>im</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untersuchten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Protokoll</a:t>
            </a:r>
            <a:endParaRPr sz="1800" b="1" dirty="0">
              <a:solidFill>
                <a:srgbClr val="D00020"/>
              </a:solidFill>
              <a:latin typeface="Calibri"/>
              <a:ea typeface="Calibri"/>
              <a:cs typeface="Calibri"/>
            </a:endParaRPr>
          </a:p>
        </p:txBody>
      </p:sp>
      <p:sp>
        <p:nvSpPr>
          <p:cNvPr id="46" name="Footer – Seitennummer">
            <a:extLst>
              <a:ext uri="{FF2B5EF4-FFF2-40B4-BE49-F238E27FC236}">
                <a16:creationId xmlns:a16="http://schemas.microsoft.com/office/drawing/2014/main" id="{5087AFAE-06BB-40FF-855D-94D17DE44D3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23 / 39</a:t>
            </a:r>
          </a:p>
        </p:txBody>
      </p:sp>
      <p:sp>
        <p:nvSpPr>
          <p:cNvPr id="47" name="Footer – Präsentationsangaben">
            <a:extLst>
              <a:ext uri="{FF2B5EF4-FFF2-40B4-BE49-F238E27FC236}">
                <a16:creationId xmlns:a16="http://schemas.microsoft.com/office/drawing/2014/main" id="{224F524A-2088-4548-AB6D-70757743D6D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404311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Lokale SOC-Reaktion auf Spannungsspitzen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EE05F44A-9D62-489C-A137-48E088E81C5D}"/>
              </a:ext>
            </a:extLst>
          </p:cNvPr>
          <p:cNvSpPr>
            <a:spLocks noGrp="1"/>
          </p:cNvSpPr>
          <p:nvPr/>
        </p:nvSpPr>
        <p:spPr>
          <a:xfrm>
            <a:off x="6867525" y="1495425"/>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Deutlicher SOC-Ausschlag am Spike mit raschem Abklingen</a:t>
            </a:r>
          </a:p>
        </p:txBody>
      </p:sp>
      <p:sp>
        <p:nvSpPr>
          <p:cNvPr id="15" name="Structure separator">
            <a:extLst>
              <a:ext uri="{FF2B5EF4-FFF2-40B4-BE49-F238E27FC236}">
                <a16:creationId xmlns:a16="http://schemas.microsoft.com/office/drawing/2014/main" id="{FFF18D9D-CE58-4550-97EA-730CDC29B45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431B35A4-9ED9-486D-BED4-E9F68DD73B5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3123BDD3-2ACF-444F-B1FB-6AFD29D08B8C}"/>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2CEAD52B-DB79-48E7-9FD5-7D73EB042CF4}"/>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2477918D-F64B-44F2-8C7A-8DB07B5F0DA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D1409E9F-2175-4A6A-A5D3-9D195B113798}"/>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FE0598B8-D619-46C3-A93E-7C21A4DC13F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B464D01D-2EDF-4AFB-B87F-B515FDC83587}"/>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0" name="Grafik 39"/>
          <p:cNvPicPr>
            <a:picLocks noChangeAspect="1"/>
          </p:cNvPicPr>
          <p:nvPr/>
        </p:nvPicPr>
        <p:blipFill>
          <a:blip r:embed="rId3"/>
          <a:stretch/>
        </p:blipFill>
        <p:spPr>
          <a:xfrm>
            <a:off x="552450" y="1660203"/>
            <a:ext cx="5953125" cy="3851919"/>
          </a:xfrm>
          <a:prstGeom prst="rect">
            <a:avLst/>
          </a:prstGeom>
        </p:spPr>
      </p:pic>
      <p:sp>
        <p:nvSpPr>
          <p:cNvPr id="24" name="v11-text-21-2">
            <a:extLst>
              <a:ext uri="{FF2B5EF4-FFF2-40B4-BE49-F238E27FC236}">
                <a16:creationId xmlns:a16="http://schemas.microsoft.com/office/drawing/2014/main" id="{B3EE29CC-320D-43A6-A910-DAFC9EC6EE34}"/>
              </a:ext>
            </a:extLst>
          </p:cNvPr>
          <p:cNvSpPr>
            <a:spLocks noGrp="1"/>
          </p:cNvSpPr>
          <p:nvPr/>
        </p:nvSpPr>
        <p:spPr>
          <a:xfrm>
            <a:off x="6867525" y="2686050"/>
            <a:ext cx="3095625" cy="13906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Spannungsfeatures: </a:t>
            </a:r>
            <a:r>
              <a:rPr sz="1800" b="0">
                <a:solidFill>
                  <a:srgbClr val="444444"/>
                </a:solidFill>
                <a:latin typeface="Calibri"/>
                <a:ea typeface="Calibri"/>
                <a:cs typeface="Calibri"/>
              </a:rPr>
              <a:t>Störung von U und dU/dt als mögliche Ursache der DD-Reaktion</a:t>
            </a:r>
          </a:p>
        </p:txBody>
      </p:sp>
      <p:sp>
        <p:nvSpPr>
          <p:cNvPr id="25" name="v11-text-21-3">
            <a:extLst>
              <a:ext uri="{FF2B5EF4-FFF2-40B4-BE49-F238E27FC236}">
                <a16:creationId xmlns:a16="http://schemas.microsoft.com/office/drawing/2014/main" id="{22A339E4-E526-403C-B8F5-918B4BB24222}"/>
              </a:ext>
            </a:extLst>
          </p:cNvPr>
          <p:cNvSpPr>
            <a:spLocks noGrp="1"/>
          </p:cNvSpPr>
          <p:nvPr/>
        </p:nvSpPr>
        <p:spPr>
          <a:xfrm>
            <a:off x="6867525" y="4219575"/>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24-h-MAE: </a:t>
            </a:r>
            <a:r>
              <a:rPr sz="1800" b="0">
                <a:solidFill>
                  <a:srgbClr val="444444"/>
                </a:solidFill>
                <a:latin typeface="Calibri"/>
                <a:ea typeface="Calibri"/>
                <a:cs typeface="Calibri"/>
              </a:rPr>
              <a:t>Kaum Änderung durch die kurze Dauer der Fehlerpeaks</a:t>
            </a:r>
          </a:p>
        </p:txBody>
      </p:sp>
      <p:sp>
        <p:nvSpPr>
          <p:cNvPr id="3003" name="IR_spike_takeaway">
            <a:extLst>
              <a:ext uri="{FF2B5EF4-FFF2-40B4-BE49-F238E27FC236}">
                <a16:creationId xmlns:a16="http://schemas.microsoft.com/office/drawing/2014/main" id="{DB090666-DCB8-49A9-A8B5-3DA42A99F458}"/>
              </a:ext>
            </a:extLst>
          </p:cNvPr>
          <p:cNvSpPr>
            <a:spLocks noGrp="1"/>
          </p:cNvSpPr>
          <p:nvPr/>
        </p:nvSpPr>
        <p:spPr>
          <a:xfrm>
            <a:off x="552450" y="562927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DD </a:t>
            </a:r>
            <a:r>
              <a:rPr sz="1800" b="1" dirty="0" err="1">
                <a:solidFill>
                  <a:srgbClr val="D00020"/>
                </a:solidFill>
                <a:latin typeface="Calibri"/>
                <a:ea typeface="Calibri"/>
                <a:cs typeface="Calibri"/>
              </a:rPr>
              <a:t>besonders</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empfindlich</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gegenüber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lokalen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Spannungsspitzen</a:t>
            </a:r>
            <a:endParaRPr sz="1800" b="1" dirty="0">
              <a:solidFill>
                <a:srgbClr val="D00020"/>
              </a:solidFill>
              <a:latin typeface="Calibri"/>
              <a:ea typeface="Calibri"/>
              <a:cs typeface="Calibri"/>
            </a:endParaRPr>
          </a:p>
        </p:txBody>
      </p:sp>
      <p:sp>
        <p:nvSpPr>
          <p:cNvPr id="3004" name="Footer – Seitennummer">
            <a:extLst>
              <a:ext uri="{FF2B5EF4-FFF2-40B4-BE49-F238E27FC236}">
                <a16:creationId xmlns:a16="http://schemas.microsoft.com/office/drawing/2014/main" id="{4C0BE105-6E5F-41A7-A994-0A419C99B77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24 / 39</a:t>
            </a:r>
          </a:p>
        </p:txBody>
      </p:sp>
      <p:sp>
        <p:nvSpPr>
          <p:cNvPr id="3005" name="Footer – Präsentationsangaben">
            <a:extLst>
              <a:ext uri="{FF2B5EF4-FFF2-40B4-BE49-F238E27FC236}">
                <a16:creationId xmlns:a16="http://schemas.microsoft.com/office/drawing/2014/main" id="{2C0FB6BE-BD27-4870-ABFE-6C01B8A0AB2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205167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Genauigkeit, Robustheit und Recovery</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552450" y="4505325"/>
            <a:ext cx="9391650" cy="3238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Höchster Gesamtscore in allen drei Prioritätsprofilen</a:t>
            </a:r>
          </a:p>
        </p:txBody>
      </p:sp>
      <p:pic>
        <p:nvPicPr>
          <p:cNvPr id="38"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6F67363A-E1A4-4BCE-9787-752AE1329B7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8916EB9C-E413-41E6-B467-0C60D9865D80}"/>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EDC22D91-1FCE-4B6E-B1AC-229228DDC4A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582A21B0-81B6-4D77-BC97-9CEC24D6F5D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EF1EEB5-3178-4FBA-89D5-CCE9F12A450E}"/>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0C03E69-3CE9-4ADD-A283-096D9D2D1606}"/>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5" name="Structure 4">
            <a:extLst>
              <a:ext uri="{FF2B5EF4-FFF2-40B4-BE49-F238E27FC236}">
                <a16:creationId xmlns:a16="http://schemas.microsoft.com/office/drawing/2014/main" id="{D2D538B2-D6C9-405B-9017-C2D7233CC7E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169E10A3-5B0B-45F3-9B7A-3CFF1D348C26}"/>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7" name="Grafik 46"/>
          <p:cNvPicPr>
            <a:picLocks noChangeAspect="1"/>
          </p:cNvPicPr>
          <p:nvPr/>
        </p:nvPicPr>
        <p:blipFill>
          <a:blip r:embed="rId4"/>
          <a:stretch/>
        </p:blipFill>
        <p:spPr>
          <a:xfrm>
            <a:off x="2030295" y="1419225"/>
            <a:ext cx="6397860" cy="2914650"/>
          </a:xfrm>
          <a:prstGeom prst="rect">
            <a:avLst/>
          </a:prstGeom>
        </p:spPr>
      </p:pic>
      <p:sp>
        <p:nvSpPr>
          <p:cNvPr id="29" name="v11-text-22-2">
            <a:extLst>
              <a:ext uri="{FF2B5EF4-FFF2-40B4-BE49-F238E27FC236}">
                <a16:creationId xmlns:a16="http://schemas.microsoft.com/office/drawing/2014/main" id="{2A89BC82-9B1A-4748-BC69-727498982D7A}"/>
              </a:ext>
            </a:extLst>
          </p:cNvPr>
          <p:cNvSpPr>
            <a:spLocks noGrp="1"/>
          </p:cNvSpPr>
          <p:nvPr/>
        </p:nvSpPr>
        <p:spPr>
          <a:xfrm>
            <a:off x="552450" y="48863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Stärkste persistente Recovery durch kontinuierliches Spannungsfeedback</a:t>
            </a:r>
          </a:p>
        </p:txBody>
      </p:sp>
      <p:sp>
        <p:nvSpPr>
          <p:cNvPr id="30" name="v11-text-22-3">
            <a:extLst>
              <a:ext uri="{FF2B5EF4-FFF2-40B4-BE49-F238E27FC236}">
                <a16:creationId xmlns:a16="http://schemas.microsoft.com/office/drawing/2014/main" id="{79673DA8-DC9D-4FF2-B6D1-F0D3CCCEA4A6}"/>
              </a:ext>
            </a:extLst>
          </p:cNvPr>
          <p:cNvSpPr>
            <a:spLocks noGrp="1"/>
          </p:cNvSpPr>
          <p:nvPr/>
        </p:nvSpPr>
        <p:spPr>
          <a:xfrm>
            <a:off x="552450" y="5286375"/>
            <a:ext cx="9391650" cy="6286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MAE </a:t>
            </a:r>
            <a:r>
              <a:rPr sz="1800" b="1" dirty="0" err="1">
                <a:solidFill>
                  <a:srgbClr val="D00020"/>
                </a:solidFill>
                <a:latin typeface="Calibri"/>
                <a:ea typeface="Calibri"/>
                <a:cs typeface="Calibri"/>
              </a:rPr>
              <a:t>allein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unzureichend</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Praxisnahe</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Störtests</a:t>
            </a:r>
            <a:r>
              <a:rPr sz="1800" b="1" dirty="0">
                <a:solidFill>
                  <a:srgbClr val="D00020"/>
                </a:solidFill>
                <a:latin typeface="Calibri"/>
                <a:ea typeface="Calibri"/>
                <a:cs typeface="Calibri"/>
              </a:rPr>
              <a:t> und </a:t>
            </a:r>
            <a:r>
              <a:rPr sz="1800" b="1" dirty="0" err="1">
                <a:solidFill>
                  <a:srgbClr val="D00020"/>
                </a:solidFill>
                <a:latin typeface="Calibri"/>
                <a:ea typeface="Calibri"/>
                <a:cs typeface="Calibri"/>
              </a:rPr>
              <a:t>lokale</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Analysen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zur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Erfassung</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modellspezifischer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Reaktionen</a:t>
            </a:r>
            <a:r>
              <a:rPr sz="1800" b="1" dirty="0">
                <a:solidFill>
                  <a:srgbClr val="D00020"/>
                </a:solidFill>
                <a:latin typeface="Calibri"/>
                <a:ea typeface="Calibri"/>
                <a:cs typeface="Calibri"/>
              </a:rPr>
              <a:t> und </a:t>
            </a:r>
            <a:r>
              <a:rPr sz="1800" b="1" dirty="0" err="1">
                <a:solidFill>
                  <a:srgbClr val="D00020"/>
                </a:solidFill>
                <a:latin typeface="Calibri"/>
                <a:ea typeface="Calibri"/>
                <a:cs typeface="Calibri"/>
              </a:rPr>
              <a:t>kurzzeitiger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Fehlerpeaks</a:t>
            </a:r>
            <a:endParaRPr sz="1800" b="1" dirty="0">
              <a:solidFill>
                <a:srgbClr val="D00020"/>
              </a:solidFill>
              <a:latin typeface="Calibri"/>
              <a:ea typeface="Calibri"/>
              <a:cs typeface="Calibri"/>
            </a:endParaRPr>
          </a:p>
        </p:txBody>
      </p:sp>
      <p:sp>
        <p:nvSpPr>
          <p:cNvPr id="48" name="Footer – Seitennummer">
            <a:extLst>
              <a:ext uri="{FF2B5EF4-FFF2-40B4-BE49-F238E27FC236}">
                <a16:creationId xmlns:a16="http://schemas.microsoft.com/office/drawing/2014/main" id="{8B89F570-EA91-49CC-BBE2-576A2215A55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25 / 39</a:t>
            </a:r>
          </a:p>
        </p:txBody>
      </p:sp>
      <p:sp>
        <p:nvSpPr>
          <p:cNvPr id="49" name="Footer – Präsentationsangaben">
            <a:extLst>
              <a:ext uri="{FF2B5EF4-FFF2-40B4-BE49-F238E27FC236}">
                <a16:creationId xmlns:a16="http://schemas.microsoft.com/office/drawing/2014/main" id="{DDB06411-4571-4784-A478-32F2FDD1ABF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Embedded AI: Pruning und Quantization</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6" name="V5_Figure_11"/>
          <p:cNvPicPr>
            <a:picLocks noChangeAspect="1"/>
          </p:cNvPicPr>
          <p:nvPr/>
        </p:nvPicPr>
        <p:blipFill>
          <a:blip r:embed="rId3"/>
          <a:stretch/>
        </p:blipFill>
        <p:spPr>
          <a:xfrm>
            <a:off x="552450" y="1865713"/>
            <a:ext cx="4667250" cy="2936074"/>
          </a:xfrm>
          <a:prstGeom prst="rect">
            <a:avLst/>
          </a:prstGeom>
        </p:spPr>
      </p:pic>
      <p:pic>
        <p:nvPicPr>
          <p:cNvPr id="48" name="V6_TU_Logo"/>
          <p:cNvPicPr>
            <a:picLocks noChangeAspect="1"/>
          </p:cNvPicPr>
          <p:nvPr/>
        </p:nvPicPr>
        <p:blipFill>
          <a:blip r:embed="rId4"/>
          <a:stretch>
            <a:fillRect/>
          </a:stretch>
        </p:blipFill>
        <p:spPr>
          <a:xfrm>
            <a:off x="10614660" y="378460"/>
            <a:ext cx="1003300" cy="767080"/>
          </a:xfrm>
          <a:prstGeom prst="rect">
            <a:avLst/>
          </a:prstGeom>
        </p:spPr>
      </p:pic>
      <p:sp>
        <p:nvSpPr>
          <p:cNvPr id="27" name="Structure separator">
            <a:extLst>
              <a:ext uri="{FF2B5EF4-FFF2-40B4-BE49-F238E27FC236}">
                <a16:creationId xmlns:a16="http://schemas.microsoft.com/office/drawing/2014/main" id="{6EB18FBF-920A-409D-A972-B99A630EB7F7}"/>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8" name="Structure label">
            <a:extLst>
              <a:ext uri="{FF2B5EF4-FFF2-40B4-BE49-F238E27FC236}">
                <a16:creationId xmlns:a16="http://schemas.microsoft.com/office/drawing/2014/main" id="{73CCD5FD-0A44-451A-8D61-25D02447FA0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9" name="Structure 0">
            <a:extLst>
              <a:ext uri="{FF2B5EF4-FFF2-40B4-BE49-F238E27FC236}">
                <a16:creationId xmlns:a16="http://schemas.microsoft.com/office/drawing/2014/main" id="{2E21A99D-1BC9-4E0D-A5F9-6FAED6C844CA}"/>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30" name="Structure 1">
            <a:extLst>
              <a:ext uri="{FF2B5EF4-FFF2-40B4-BE49-F238E27FC236}">
                <a16:creationId xmlns:a16="http://schemas.microsoft.com/office/drawing/2014/main" id="{8C352F98-9EBE-4BF9-AB8E-92C6D12F794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31" name="Structure 2">
            <a:extLst>
              <a:ext uri="{FF2B5EF4-FFF2-40B4-BE49-F238E27FC236}">
                <a16:creationId xmlns:a16="http://schemas.microsoft.com/office/drawing/2014/main" id="{DB081BA1-3A05-4068-8681-CF5350D744D3}"/>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2" name="Structure 3">
            <a:extLst>
              <a:ext uri="{FF2B5EF4-FFF2-40B4-BE49-F238E27FC236}">
                <a16:creationId xmlns:a16="http://schemas.microsoft.com/office/drawing/2014/main" id="{522298AF-28B6-4258-97CB-9B3B31FD9F5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3" name="Structure 4">
            <a:extLst>
              <a:ext uri="{FF2B5EF4-FFF2-40B4-BE49-F238E27FC236}">
                <a16:creationId xmlns:a16="http://schemas.microsoft.com/office/drawing/2014/main" id="{2D05EB1C-3CDC-40C5-8CF4-92B09EB8337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4" name="Structure 5">
            <a:extLst>
              <a:ext uri="{FF2B5EF4-FFF2-40B4-BE49-F238E27FC236}">
                <a16:creationId xmlns:a16="http://schemas.microsoft.com/office/drawing/2014/main" id="{3E771B45-BA52-4025-86AD-E76404F39EA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49" name="EI_Hardware_highlight">
            <a:extLst>
              <a:ext uri="{FF2B5EF4-FFF2-40B4-BE49-F238E27FC236}">
                <a16:creationId xmlns:a16="http://schemas.microsoft.com/office/drawing/2014/main" id="{1456BA31-BDDC-4BBF-BE71-E10C79F20A43}"/>
              </a:ext>
            </a:extLst>
          </p:cNvPr>
          <p:cNvSpPr>
            <a:spLocks noGrp="1"/>
          </p:cNvSpPr>
          <p:nvPr/>
        </p:nvSpPr>
        <p:spPr>
          <a:xfrm>
            <a:off x="638316" y="2995825"/>
            <a:ext cx="1783804" cy="1800423"/>
          </a:xfrm>
          <a:custGeom>
            <a:avLst/>
            <a:gdLst/>
            <a:ahLst/>
            <a:cxnLst/>
            <a:rect l="0" t="0" r="0" b="0"/>
            <a:pathLst>
              <a:path w="1783804" h="1800423">
                <a:moveTo>
                  <a:pt x="1569748" y="684161"/>
                </a:moveTo>
                <a:lnTo>
                  <a:pt x="891902" y="0"/>
                </a:lnTo>
                <a:lnTo>
                  <a:pt x="0" y="900212"/>
                </a:lnTo>
                <a:lnTo>
                  <a:pt x="891902" y="1800423"/>
                </a:lnTo>
                <a:lnTo>
                  <a:pt x="1569748" y="1116262"/>
                </a:lnTo>
              </a:path>
            </a:pathLst>
          </a:custGeom>
          <a:noFill/>
          <a:ln w="23105">
            <a:solidFill>
              <a:srgbClr val="C40D1E"/>
            </a:solidFill>
          </a:ln>
        </p:spPr>
        <p:txBody>
          <a:bodyPr/>
          <a:lstStyle/>
          <a:p>
            <a:endParaRPr lang="de-DE"/>
          </a:p>
        </p:txBody>
      </p:sp>
      <p:sp>
        <p:nvSpPr>
          <p:cNvPr id="50" name="EI_Deployment_highlight">
            <a:extLst>
              <a:ext uri="{FF2B5EF4-FFF2-40B4-BE49-F238E27FC236}">
                <a16:creationId xmlns:a16="http://schemas.microsoft.com/office/drawing/2014/main" id="{B08220FA-9BDD-4E57-AFE5-D91C95959AD1}"/>
              </a:ext>
            </a:extLst>
          </p:cNvPr>
          <p:cNvSpPr>
            <a:spLocks noGrp="1"/>
          </p:cNvSpPr>
          <p:nvPr/>
        </p:nvSpPr>
        <p:spPr>
          <a:xfrm>
            <a:off x="1998328" y="1868483"/>
            <a:ext cx="1783804" cy="1800423"/>
          </a:xfrm>
          <a:custGeom>
            <a:avLst/>
            <a:gdLst/>
            <a:ahLst/>
            <a:cxnLst/>
            <a:rect l="0" t="0" r="0" b="0"/>
            <a:pathLst>
              <a:path w="1783804" h="1800423">
                <a:moveTo>
                  <a:pt x="677846" y="1584372"/>
                </a:moveTo>
                <a:lnTo>
                  <a:pt x="0" y="900212"/>
                </a:lnTo>
                <a:lnTo>
                  <a:pt x="891902" y="0"/>
                </a:lnTo>
                <a:lnTo>
                  <a:pt x="1783804" y="900212"/>
                </a:lnTo>
                <a:lnTo>
                  <a:pt x="1105958" y="1584372"/>
                </a:lnTo>
              </a:path>
            </a:pathLst>
          </a:custGeom>
          <a:noFill/>
          <a:ln w="23105">
            <a:solidFill>
              <a:srgbClr val="C40D1E"/>
            </a:solidFill>
          </a:ln>
        </p:spPr>
        <p:txBody>
          <a:bodyPr/>
          <a:lstStyle/>
          <a:p>
            <a:endParaRPr lang="de-DE"/>
          </a:p>
        </p:txBody>
      </p:sp>
      <p:sp>
        <p:nvSpPr>
          <p:cNvPr id="51" name="Footer – Seitennummer">
            <a:extLst>
              <a:ext uri="{FF2B5EF4-FFF2-40B4-BE49-F238E27FC236}">
                <a16:creationId xmlns:a16="http://schemas.microsoft.com/office/drawing/2014/main" id="{8A438E1D-F6BB-4A20-815B-7418EA03F2C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26 / 39</a:t>
            </a:r>
          </a:p>
        </p:txBody>
      </p:sp>
      <p:sp>
        <p:nvSpPr>
          <p:cNvPr id="52" name="Footer – Präsentationsangaben">
            <a:extLst>
              <a:ext uri="{FF2B5EF4-FFF2-40B4-BE49-F238E27FC236}">
                <a16:creationId xmlns:a16="http://schemas.microsoft.com/office/drawing/2014/main" id="{97E4CB3A-CA74-4FB6-B328-F4A56741092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6" name="Trennlinie eigene Arbeit">
            <a:extLst>
              <a:ext uri="{FF2B5EF4-FFF2-40B4-BE49-F238E27FC236}">
                <a16:creationId xmlns:a16="http://schemas.microsoft.com/office/drawing/2014/main" id="{64170BBE-A7F7-4933-A680-036CECB8A3F4}"/>
              </a:ext>
            </a:extLst>
          </p:cNvPr>
          <p:cNvSpPr>
            <a:spLocks noGrp="1"/>
          </p:cNvSpPr>
          <p:nvPr/>
        </p:nvSpPr>
        <p:spPr>
          <a:xfrm>
            <a:off x="552450" y="5048250"/>
            <a:ext cx="9496425" cy="9525"/>
          </a:xfrm>
          <a:prstGeom prst="rect">
            <a:avLst/>
          </a:prstGeom>
          <a:solidFill>
            <a:srgbClr val="D9D9D9"/>
          </a:solidFill>
          <a:ln w="0">
            <a:noFill/>
          </a:ln>
        </p:spPr>
        <p:txBody>
          <a:bodyPr/>
          <a:lstStyle/>
          <a:p>
            <a:endParaRPr lang="de-DE"/>
          </a:p>
        </p:txBody>
      </p:sp>
      <p:sp>
        <p:nvSpPr>
          <p:cNvPr id="53" name="Motivation">
            <a:extLst>
              <a:ext uri="{FF2B5EF4-FFF2-40B4-BE49-F238E27FC236}">
                <a16:creationId xmlns:a16="http://schemas.microsoft.com/office/drawing/2014/main" id="{F2076C41-31D0-441C-B8A9-4457B41F9E4D}"/>
              </a:ext>
            </a:extLst>
          </p:cNvPr>
          <p:cNvSpPr>
            <a:spLocks noGrp="1"/>
          </p:cNvSpPr>
          <p:nvPr/>
        </p:nvSpPr>
        <p:spPr>
          <a:xfrm>
            <a:off x="5705475" y="14763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a:solidFill>
                  <a:srgbClr val="404040"/>
                </a:solidFill>
                <a:latin typeface="Calibri"/>
                <a:ea typeface="Calibri"/>
                <a:cs typeface="Calibri"/>
              </a:rPr>
              <a:t>Motivation:</a:t>
            </a:r>
            <a:r>
              <a:rPr sz="1800" b="0">
                <a:solidFill>
                  <a:srgbClr val="404040"/>
                </a:solidFill>
                <a:latin typeface="Calibri"/>
                <a:ea typeface="Calibri"/>
                <a:cs typeface="Calibri"/>
              </a:rPr>
              <a:t> Hoher Speicher- und</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Rechenbedarf komplexer Modelle bei</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begrenzten BMS-Ressourcen</a:t>
            </a:r>
          </a:p>
        </p:txBody>
      </p:sp>
      <p:sp>
        <p:nvSpPr>
          <p:cNvPr id="54" name="Methodik">
            <a:extLst>
              <a:ext uri="{FF2B5EF4-FFF2-40B4-BE49-F238E27FC236}">
                <a16:creationId xmlns:a16="http://schemas.microsoft.com/office/drawing/2014/main" id="{9896E193-FB9B-41C6-BE18-880A0E4145A9}"/>
              </a:ext>
            </a:extLst>
          </p:cNvPr>
          <p:cNvSpPr>
            <a:spLocks noGrp="1"/>
          </p:cNvSpPr>
          <p:nvPr/>
        </p:nvSpPr>
        <p:spPr>
          <a:xfrm>
            <a:off x="5705475" y="255841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err="1">
                <a:solidFill>
                  <a:srgbClr val="404040"/>
                </a:solidFill>
                <a:latin typeface="Calibri"/>
                <a:ea typeface="Calibri"/>
                <a:cs typeface="Calibri"/>
              </a:rPr>
              <a:t>Methodik</a:t>
            </a:r>
            <a:r>
              <a:rPr sz="1800" b="1" dirty="0">
                <a:solidFill>
                  <a:srgbClr val="404040"/>
                </a:solidFill>
                <a:latin typeface="Calibri"/>
                <a:ea typeface="Calibri"/>
                <a:cs typeface="Calibri"/>
              </a:rPr>
              <a:t>:</a:t>
            </a:r>
            <a:r>
              <a:rPr sz="1800" b="0" dirty="0">
                <a:solidFill>
                  <a:srgbClr val="404040"/>
                </a:solidFill>
                <a:latin typeface="Calibri"/>
                <a:ea typeface="Calibri"/>
                <a:cs typeface="Calibri"/>
              </a:rPr>
              <a:t> Structured Pruning [22] und</a:t>
            </a:r>
          </a:p>
          <a:p>
            <a:pPr>
              <a:defRPr sz="1800" b="0">
                <a:solidFill>
                  <a:srgbClr val="404040"/>
                </a:solidFill>
                <a:latin typeface="Calibri"/>
                <a:ea typeface="Calibri"/>
                <a:cs typeface="Calibri"/>
              </a:defRPr>
            </a:pPr>
            <a:r>
              <a:rPr sz="1800" b="0" dirty="0">
                <a:solidFill>
                  <a:srgbClr val="404040"/>
                </a:solidFill>
                <a:latin typeface="Calibri"/>
                <a:ea typeface="Calibri"/>
                <a:cs typeface="Calibri"/>
              </a:rPr>
              <a:t>INT8-Quantization [24] </a:t>
            </a:r>
            <a:r>
              <a:rPr sz="1800" b="0" dirty="0" err="1">
                <a:solidFill>
                  <a:srgbClr val="404040"/>
                </a:solidFill>
                <a:latin typeface="Calibri"/>
                <a:ea typeface="Calibri"/>
                <a:cs typeface="Calibri"/>
              </a:rPr>
              <a:t>als</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getrennte</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Pfade</a:t>
            </a:r>
            <a:r>
              <a:rPr sz="1800" b="0" dirty="0">
                <a:solidFill>
                  <a:srgbClr val="404040"/>
                </a:solidFill>
                <a:latin typeface="Calibri"/>
                <a:ea typeface="Calibri"/>
                <a:cs typeface="Calibri"/>
              </a:rPr>
              <a:t> für SOC-/SOH-LSTM</a:t>
            </a: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Vergleich</a:t>
            </a:r>
            <a:r>
              <a:rPr sz="1800" b="0" dirty="0">
                <a:solidFill>
                  <a:srgbClr val="404040"/>
                </a:solidFill>
                <a:latin typeface="Calibri"/>
                <a:ea typeface="Calibri"/>
                <a:cs typeface="Calibri"/>
              </a:rPr>
              <a:t> auf PC und STM32</a:t>
            </a:r>
          </a:p>
        </p:txBody>
      </p:sp>
      <p:sp>
        <p:nvSpPr>
          <p:cNvPr id="55" name="Ziel">
            <a:extLst>
              <a:ext uri="{FF2B5EF4-FFF2-40B4-BE49-F238E27FC236}">
                <a16:creationId xmlns:a16="http://schemas.microsoft.com/office/drawing/2014/main" id="{00D911E8-B572-4E48-B94C-AB8B98758838}"/>
              </a:ext>
            </a:extLst>
          </p:cNvPr>
          <p:cNvSpPr>
            <a:spLocks noGrp="1"/>
          </p:cNvSpPr>
          <p:nvPr/>
        </p:nvSpPr>
        <p:spPr>
          <a:xfrm>
            <a:off x="5705475" y="39147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a:solidFill>
                  <a:srgbClr val="404040"/>
                </a:solidFill>
                <a:latin typeface="Calibri"/>
                <a:ea typeface="Calibri"/>
                <a:cs typeface="Calibri"/>
              </a:rPr>
              <a:t>Ziel:</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Verringerung</a:t>
            </a:r>
            <a:r>
              <a:rPr sz="1800" b="0" dirty="0">
                <a:solidFill>
                  <a:srgbClr val="404040"/>
                </a:solidFill>
                <a:latin typeface="Calibri"/>
                <a:ea typeface="Calibri"/>
                <a:cs typeface="Calibri"/>
              </a:rPr>
              <a:t> des </a:t>
            </a:r>
            <a:r>
              <a:rPr sz="1800" b="0" dirty="0" err="1">
                <a:solidFill>
                  <a:srgbClr val="404040"/>
                </a:solidFill>
                <a:latin typeface="Calibri"/>
                <a:ea typeface="Calibri"/>
                <a:cs typeface="Calibri"/>
              </a:rPr>
              <a:t>Hardwarebedarfs</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bei</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möglichst</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erhaltener</a:t>
            </a:r>
            <a:r>
              <a:rPr sz="1800" b="0" dirty="0">
                <a:solidFill>
                  <a:srgbClr val="404040"/>
                </a:solidFill>
                <a:latin typeface="Calibri"/>
                <a:ea typeface="Calibri"/>
                <a:cs typeface="Calibri"/>
              </a:rPr>
              <a:t> Accuracy</a:t>
            </a:r>
          </a:p>
        </p:txBody>
      </p:sp>
      <p:sp>
        <p:nvSpPr>
          <p:cNvPr id="58" name="Paper-Titel">
            <a:extLst>
              <a:ext uri="{FF2B5EF4-FFF2-40B4-BE49-F238E27FC236}">
                <a16:creationId xmlns:a16="http://schemas.microsoft.com/office/drawing/2014/main" id="{8849D3C3-903E-4CE1-8883-E0A3785BF155}"/>
              </a:ext>
            </a:extLst>
          </p:cNvPr>
          <p:cNvSpPr>
            <a:spLocks noGrp="1"/>
          </p:cNvSpPr>
          <p:nvPr/>
        </p:nvSpPr>
        <p:spPr>
          <a:xfrm>
            <a:off x="552450" y="519112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Embedded Artificial Intelligence in Battery Management Systems: Pruning and Quantization for Efficient State-of-Charge and State-of-Health Estimation</a:t>
            </a:r>
          </a:p>
        </p:txBody>
      </p:sp>
      <p:sp>
        <p:nvSpPr>
          <p:cNvPr id="57" name="Paper-Angabe">
            <a:extLst>
              <a:ext uri="{FF2B5EF4-FFF2-40B4-BE49-F238E27FC236}">
                <a16:creationId xmlns:a16="http://schemas.microsoft.com/office/drawing/2014/main" id="{7696C996-D739-43A4-A96F-D2F500F52700}"/>
              </a:ext>
            </a:extLst>
          </p:cNvPr>
          <p:cNvSpPr>
            <a:spLocks noGrp="1"/>
          </p:cNvSpPr>
          <p:nvPr/>
        </p:nvSpPr>
        <p:spPr>
          <a:xfrm>
            <a:off x="552450" y="543877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Rzepka &amp; Kowal (2026), EAAI [20]</a:t>
            </a:r>
          </a:p>
        </p:txBody>
      </p:sp>
    </p:spTree>
    <p:extLst>
      <p:ext uri="{BB962C8B-B14F-4D97-AF65-F5344CB8AC3E}">
        <p14:creationId xmlns:p14="http://schemas.microsoft.com/office/powerpoint/2010/main" val="2350693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Modellkomplexität: Anzahl der Parameter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p:sp>
        <p:nvSpPr>
          <p:cNvPr id="2000" name="PC_highlight_lstm">
            <a:extLst>
              <a:ext uri="{FF2B5EF4-FFF2-40B4-BE49-F238E27FC236}">
                <a16:creationId xmlns:a16="http://schemas.microsoft.com/office/drawing/2014/main" id="{9D1ACB14-F00C-4614-98C9-B8BC565F9F7B}"/>
              </a:ext>
            </a:extLst>
          </p:cNvPr>
          <p:cNvSpPr>
            <a:spLocks noGrp="1"/>
          </p:cNvSpPr>
          <p:nvPr/>
        </p:nvSpPr>
        <p:spPr>
          <a:xfrm>
            <a:off x="3638550" y="1438275"/>
            <a:ext cx="2505075" cy="1866900"/>
          </a:xfrm>
          <a:prstGeom prst="rect">
            <a:avLst/>
          </a:prstGeom>
          <a:noFill/>
          <a:ln w="23813">
            <a:solidFill>
              <a:srgbClr val="D00020"/>
            </a:solidFill>
          </a:ln>
        </p:spPr>
        <p:txBody>
          <a:bodyPr/>
          <a:lstStyle/>
          <a:p>
            <a:endParaRPr lang="de-DE"/>
          </a:p>
        </p:txBody>
      </p:sp>
      <p:sp>
        <p:nvSpPr>
          <p:cNvPr id="2001" name="PC_lstm_context">
            <a:extLst>
              <a:ext uri="{FF2B5EF4-FFF2-40B4-BE49-F238E27FC236}">
                <a16:creationId xmlns:a16="http://schemas.microsoft.com/office/drawing/2014/main" id="{8F6F31F6-DB3D-4962-82EA-FC8F6F6FBBD5}"/>
              </a:ext>
            </a:extLst>
          </p:cNvPr>
          <p:cNvSpPr>
            <a:spLocks noGrp="1"/>
          </p:cNvSpPr>
          <p:nvPr/>
        </p:nvSpPr>
        <p:spPr>
          <a:xfrm>
            <a:off x="552450" y="4019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LSTM-Kern: D = 6 Eingänge, H Hidden Units und vier Transformationen</a:t>
            </a:r>
          </a:p>
        </p:txBody>
      </p:sp>
      <mc:AlternateContent xmlns:mc="http://schemas.openxmlformats.org/markup-compatibility/2006" xmlns:a14="http://schemas.microsoft.com/office/drawing/2010/main">
        <mc:Choice Requires="a14">
          <p:sp>
            <p:nvSpPr>
              <p:cNvPr id="2002" name="PC_lstm_formula">
                <a:extLst>
                  <a:ext uri="{FF2B5EF4-FFF2-40B4-BE49-F238E27FC236}">
                    <a16:creationId xmlns:a16="http://schemas.microsoft.com/office/drawing/2014/main" id="{7D64357B-95AF-44E4-B9A0-79C5B4F41DBC}"/>
                  </a:ext>
                </a:extLst>
              </p:cNvPr>
              <p:cNvSpPr>
                <a:spLocks noGrp="1"/>
              </p:cNvSpPr>
              <p:nvPr/>
            </p:nvSpPr>
            <p:spPr>
              <a:xfrm>
                <a:off x="552450" y="4400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𝑁</m:t>
                          </m:r>
                        </m:e>
                        <m:sub>
                          <m:r>
                            <m:rPr>
                              <m:sty m:val="p"/>
                            </m:rPr>
                            <a:rPr sz="1260">
                              <a:solidFill>
                                <a:srgbClr val="444444"/>
                              </a:solidFill>
                              <a:latin typeface="Cambria Math"/>
                              <a:ea typeface="Cambria Math"/>
                              <a:cs typeface="Cambria Math"/>
                            </a:rPr>
                            <m:t>LSTM</m:t>
                          </m:r>
                        </m:sub>
                      </m:sSub>
                      <m:r>
                        <a:rPr sz="1800">
                          <a:solidFill>
                            <a:srgbClr val="444444"/>
                          </a:solidFill>
                          <a:latin typeface="Cambria Math"/>
                          <a:ea typeface="Cambria Math"/>
                          <a:cs typeface="Cambria Math"/>
                        </a:rPr>
                        <m:t>=4(</m:t>
                      </m:r>
                      <m:r>
                        <a:rPr sz="1800">
                          <a:solidFill>
                            <a:srgbClr val="444444"/>
                          </a:solidFill>
                          <a:latin typeface="Cambria Math"/>
                          <a:ea typeface="Cambria Math"/>
                          <a:cs typeface="Cambria Math"/>
                        </a:rPr>
                        <m:t>𝐻𝐷</m:t>
                      </m:r>
                      <m:r>
                        <a:rPr sz="1800">
                          <a:solidFill>
                            <a:srgbClr val="444444"/>
                          </a:solidFill>
                          <a:latin typeface="Cambria Math"/>
                          <a:ea typeface="Cambria Math"/>
                          <a:cs typeface="Cambria Math"/>
                        </a:rPr>
                        <m:t>+</m:t>
                      </m:r>
                      <m:sSup>
                        <m:sSupPr>
                          <m:ctrlPr>
                            <a:rPr sz="1800">
                              <a:solidFill>
                                <a:srgbClr val="444444"/>
                              </a:solidFill>
                              <a:latin typeface="Cambria Math"/>
                              <a:ea typeface="Cambria Math"/>
                              <a:cs typeface="Cambria Math"/>
                            </a:rPr>
                          </m:ctrlPr>
                        </m:sSupPr>
                        <m:e>
                          <m:r>
                            <a:rPr sz="1800">
                              <a:solidFill>
                                <a:srgbClr val="444444"/>
                              </a:solidFill>
                              <a:latin typeface="Cambria Math"/>
                              <a:ea typeface="Cambria Math"/>
                              <a:cs typeface="Cambria Math"/>
                            </a:rPr>
                            <m:t>𝐻</m:t>
                          </m:r>
                        </m:e>
                        <m:sup>
                          <m:r>
                            <a:rPr sz="1260">
                              <a:solidFill>
                                <a:srgbClr val="444444"/>
                              </a:solidFill>
                              <a:latin typeface="Cambria Math"/>
                              <a:ea typeface="Cambria Math"/>
                              <a:cs typeface="Cambria Math"/>
                            </a:rPr>
                            <m:t>2</m:t>
                          </m:r>
                        </m:sup>
                      </m:sSup>
                      <m:r>
                        <a:rPr sz="1800">
                          <a:solidFill>
                            <a:srgbClr val="444444"/>
                          </a:solidFill>
                          <a:latin typeface="Cambria Math"/>
                          <a:ea typeface="Cambria Math"/>
                          <a:cs typeface="Cambria Math"/>
                        </a:rPr>
                        <m:t>+2</m:t>
                      </m:r>
                      <m:r>
                        <a:rPr sz="1800">
                          <a:solidFill>
                            <a:srgbClr val="444444"/>
                          </a:solidFill>
                          <a:latin typeface="Cambria Math"/>
                          <a:ea typeface="Cambria Math"/>
                          <a:cs typeface="Cambria Math"/>
                        </a:rPr>
                        <m:t>𝐻</m:t>
                      </m:r>
                      <m:r>
                        <a:rPr sz="1800">
                          <a:solidFill>
                            <a:srgbClr val="444444"/>
                          </a:solidFill>
                          <a:latin typeface="Cambria Math"/>
                          <a:ea typeface="Cambria Math"/>
                          <a:cs typeface="Cambria Math"/>
                        </a:rPr>
                        <m:t>)=4</m:t>
                      </m:r>
                      <m:r>
                        <a:rPr sz="1800">
                          <a:solidFill>
                            <a:srgbClr val="444444"/>
                          </a:solidFill>
                          <a:latin typeface="Cambria Math"/>
                          <a:ea typeface="Cambria Math"/>
                          <a:cs typeface="Cambria Math"/>
                        </a:rPr>
                        <m:t>𝐻</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𝐷</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𝐻</m:t>
                      </m:r>
                      <m:r>
                        <a:rPr sz="1800">
                          <a:solidFill>
                            <a:srgbClr val="444444"/>
                          </a:solidFill>
                          <a:latin typeface="Cambria Math"/>
                          <a:ea typeface="Cambria Math"/>
                          <a:cs typeface="Cambria Math"/>
                        </a:rPr>
                        <m:t>+2)</m:t>
                      </m:r>
                    </m:oMath>
                  </m:oMathPara>
                </a14:m>
                <a:endParaRPr/>
              </a:p>
            </p:txBody>
          </p:sp>
        </mc:Choice>
        <mc:Fallback xmlns="">
          <p:sp>
            <p:nvSpPr>
              <p:cNvPr id="2002" name="PC_lstm_formula">
                <a:extLst>
                  <a:ext uri="{FF2B5EF4-FFF2-40B4-BE49-F238E27FC236}">
                    <a16:creationId xmlns:a16="http://schemas.microsoft.com/office/drawing/2014/main" id="{7D64357B-95AF-44E4-B9A0-79C5B4F41DBC}"/>
                  </a:ext>
                </a:extLst>
              </p:cNvPr>
              <p:cNvSpPr>
                <a:spLocks noGrp="1" noRot="1" noChangeAspect="1" noMove="1" noResize="1" noEditPoints="1" noAdjustHandles="1" noChangeArrowheads="1" noChangeShapeType="1" noTextEdit="1"/>
              </p:cNvSpPr>
              <p:nvPr/>
            </p:nvSpPr>
            <p:spPr>
              <a:xfrm>
                <a:off x="552450" y="4400550"/>
                <a:ext cx="9391650" cy="323850"/>
              </a:xfrm>
              <a:prstGeom prst="rect">
                <a:avLst/>
              </a:prstGeom>
              <a:blipFill>
                <a:blip r:embed="rId4"/>
                <a:stretch>
                  <a:fillRect l="-909" t="-1887" b="-15094"/>
                </a:stretch>
              </a:blipFill>
              <a:ln w="0">
                <a:noFill/>
              </a:ln>
            </p:spPr>
            <p:txBody>
              <a:bodyPr/>
              <a:lstStyle/>
              <a:p>
                <a:r>
                  <a:rPr lang="de-DE">
                    <a:noFill/>
                  </a:rPr>
                  <a:t> </a:t>
                </a:r>
              </a:p>
            </p:txBody>
          </p:sp>
        </mc:Fallback>
      </mc:AlternateContent>
      <p:sp>
        <p:nvSpPr>
          <p:cNvPr id="2003" name="PC_lstm_terms">
            <a:extLst>
              <a:ext uri="{FF2B5EF4-FFF2-40B4-BE49-F238E27FC236}">
                <a16:creationId xmlns:a16="http://schemas.microsoft.com/office/drawing/2014/main" id="{03FAB854-6EB4-4302-9649-46CA12F9A798}"/>
              </a:ext>
            </a:extLst>
          </p:cNvPr>
          <p:cNvSpPr>
            <a:spLocks noGrp="1"/>
          </p:cNvSpPr>
          <p:nvPr/>
        </p:nvSpPr>
        <p:spPr>
          <a:xfrm>
            <a:off x="552450" y="4781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Gewichte: H × D (Input) und H² (Rekurrenz), Bias: 2H je Transformation</a:t>
            </a:r>
          </a:p>
        </p:txBody>
      </p:sp>
      <mc:AlternateContent xmlns:mc="http://schemas.openxmlformats.org/markup-compatibility/2006" xmlns:a14="http://schemas.microsoft.com/office/drawing/2010/main">
        <mc:Choice Requires="a14">
          <p:sp>
            <p:nvSpPr>
              <p:cNvPr id="2004" name="PC_lstm_soc">
                <a:extLst>
                  <a:ext uri="{FF2B5EF4-FFF2-40B4-BE49-F238E27FC236}">
                    <a16:creationId xmlns:a16="http://schemas.microsoft.com/office/drawing/2014/main" id="{EBDEA6A4-C10B-480C-B332-E1C36C39EBE9}"/>
                  </a:ext>
                </a:extLst>
              </p:cNvPr>
              <p:cNvSpPr>
                <a:spLocks noGrp="1"/>
              </p:cNvSpPr>
              <p:nvPr/>
            </p:nvSpPr>
            <p:spPr>
              <a:xfrm>
                <a:off x="552450" y="5162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SOC</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64): 4 × 64 × (6 + 64 + 2) = 18 432</m:t>
                      </m:r>
                    </m:oMath>
                  </m:oMathPara>
                </a14:m>
                <a:endParaRPr dirty="0"/>
              </a:p>
            </p:txBody>
          </p:sp>
        </mc:Choice>
        <mc:Fallback xmlns="">
          <p:sp>
            <p:nvSpPr>
              <p:cNvPr id="2004" name="PC_lstm_soc">
                <a:extLst>
                  <a:ext uri="{FF2B5EF4-FFF2-40B4-BE49-F238E27FC236}">
                    <a16:creationId xmlns:a16="http://schemas.microsoft.com/office/drawing/2014/main" id="{EBDEA6A4-C10B-480C-B332-E1C36C39EBE9}"/>
                  </a:ext>
                </a:extLst>
              </p:cNvPr>
              <p:cNvSpPr>
                <a:spLocks noGrp="1" noRot="1" noChangeAspect="1" noMove="1" noResize="1" noEditPoints="1" noAdjustHandles="1" noChangeArrowheads="1" noChangeShapeType="1" noTextEdit="1"/>
              </p:cNvSpPr>
              <p:nvPr/>
            </p:nvSpPr>
            <p:spPr>
              <a:xfrm>
                <a:off x="552450" y="5162550"/>
                <a:ext cx="9391650" cy="323850"/>
              </a:xfrm>
              <a:prstGeom prst="rect">
                <a:avLst/>
              </a:prstGeom>
              <a:blipFill>
                <a:blip r:embed="rId5"/>
                <a:stretch>
                  <a:fillRect l="-909" t="-1887" b="-15094"/>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005" name="PC_lstm_soh">
                <a:extLst>
                  <a:ext uri="{FF2B5EF4-FFF2-40B4-BE49-F238E27FC236}">
                    <a16:creationId xmlns:a16="http://schemas.microsoft.com/office/drawing/2014/main" id="{617BD58E-E617-4D38-9CD5-DA4BD5DD92E7}"/>
                  </a:ext>
                </a:extLst>
              </p:cNvPr>
              <p:cNvSpPr>
                <a:spLocks noGrp="1"/>
              </p:cNvSpPr>
              <p:nvPr/>
            </p:nvSpPr>
            <p:spPr>
              <a:xfrm>
                <a:off x="552450" y="5543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SOH</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128): 4 × 128 × (6 + 128 + 2) = 69 632</m:t>
                      </m:r>
                    </m:oMath>
                  </m:oMathPara>
                </a14:m>
                <a:endParaRPr/>
              </a:p>
            </p:txBody>
          </p:sp>
        </mc:Choice>
        <mc:Fallback xmlns="">
          <p:sp>
            <p:nvSpPr>
              <p:cNvPr id="2005" name="PC_lstm_soh">
                <a:extLst>
                  <a:ext uri="{FF2B5EF4-FFF2-40B4-BE49-F238E27FC236}">
                    <a16:creationId xmlns:a16="http://schemas.microsoft.com/office/drawing/2014/main" id="{617BD58E-E617-4D38-9CD5-DA4BD5DD92E7}"/>
                  </a:ext>
                </a:extLst>
              </p:cNvPr>
              <p:cNvSpPr>
                <a:spLocks noGrp="1" noRot="1" noChangeAspect="1" noMove="1" noResize="1" noEditPoints="1" noAdjustHandles="1" noChangeArrowheads="1" noChangeShapeType="1" noTextEdit="1"/>
              </p:cNvSpPr>
              <p:nvPr/>
            </p:nvSpPr>
            <p:spPr>
              <a:xfrm>
                <a:off x="552450" y="5543550"/>
                <a:ext cx="9391650" cy="323850"/>
              </a:xfrm>
              <a:prstGeom prst="rect">
                <a:avLst/>
              </a:prstGeom>
              <a:blipFill>
                <a:blip r:embed="rId6"/>
                <a:stretch>
                  <a:fillRect l="-909" t="-1852" b="-12963"/>
                </a:stretch>
              </a:blipFill>
              <a:ln w="0">
                <a:noFill/>
              </a:ln>
            </p:spPr>
            <p:txBody>
              <a:bodyPr/>
              <a:lstStyle/>
              <a:p>
                <a:r>
                  <a:rPr lang="de-DE">
                    <a:noFill/>
                  </a:rPr>
                  <a:t> </a:t>
                </a:r>
              </a:p>
            </p:txBody>
          </p:sp>
        </mc:Fallback>
      </mc:AlternateContent>
      <p:sp>
        <p:nvSpPr>
          <p:cNvPr id="2006" name="PE_SOC_features">
            <a:extLst>
              <a:ext uri="{FF2B5EF4-FFF2-40B4-BE49-F238E27FC236}">
                <a16:creationId xmlns:a16="http://schemas.microsoft.com/office/drawing/2014/main" id="{24A1E4F1-9E71-4E6D-AFBF-D0EC6FC8EA87}"/>
              </a:ext>
            </a:extLst>
          </p:cNvPr>
          <p:cNvSpPr>
            <a:spLocks noGrp="1"/>
          </p:cNvSpPr>
          <p:nvPr/>
        </p:nvSpPr>
        <p:spPr>
          <a:xfrm>
            <a:off x="552450" y="1095375"/>
            <a:ext cx="4953000" cy="285750"/>
          </a:xfrm>
          <a:prstGeom prst="rect">
            <a:avLst/>
          </a:prstGeom>
          <a:noFill/>
          <a:ln w="0">
            <a:noFill/>
          </a:ln>
        </p:spPr>
        <p:txBody>
          <a:bodyPr wrap="non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SOC: </a:t>
            </a:r>
            <a:r>
              <a:rPr sz="1800" b="0">
                <a:solidFill>
                  <a:srgbClr val="444444"/>
                </a:solidFill>
                <a:latin typeface="Calibri"/>
                <a:ea typeface="Calibri"/>
                <a:cs typeface="Calibri"/>
              </a:rPr>
              <a:t>U, I, T, Qc, dU/dt, dI/dt</a:t>
            </a:r>
          </a:p>
        </p:txBody>
      </p:sp>
      <p:sp>
        <p:nvSpPr>
          <p:cNvPr id="2007" name="PE_SOH_features">
            <a:extLst>
              <a:ext uri="{FF2B5EF4-FFF2-40B4-BE49-F238E27FC236}">
                <a16:creationId xmlns:a16="http://schemas.microsoft.com/office/drawing/2014/main" id="{30D04980-FEEA-40A4-831A-78A218876E70}"/>
              </a:ext>
            </a:extLst>
          </p:cNvPr>
          <p:cNvSpPr>
            <a:spLocks noGrp="1"/>
          </p:cNvSpPr>
          <p:nvPr/>
        </p:nvSpPr>
        <p:spPr>
          <a:xfrm>
            <a:off x="5715000" y="1095375"/>
            <a:ext cx="4238625" cy="285750"/>
          </a:xfrm>
          <a:prstGeom prst="rect">
            <a:avLst/>
          </a:prstGeom>
          <a:noFill/>
          <a:ln w="0">
            <a:noFill/>
          </a:ln>
        </p:spPr>
        <p:txBody>
          <a:bodyPr wrap="non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SOH: </a:t>
            </a:r>
            <a:r>
              <a:rPr sz="1800" b="0">
                <a:solidFill>
                  <a:srgbClr val="444444"/>
                </a:solidFill>
                <a:latin typeface="Calibri"/>
                <a:ea typeface="Calibri"/>
                <a:cs typeface="Calibri"/>
              </a:rPr>
              <a:t>t, U, I, T, EFC, Qc</a:t>
            </a:r>
          </a:p>
        </p:txBody>
      </p:sp>
      <p:sp>
        <p:nvSpPr>
          <p:cNvPr id="2008" name="Footer – Seitennummer">
            <a:extLst>
              <a:ext uri="{FF2B5EF4-FFF2-40B4-BE49-F238E27FC236}">
                <a16:creationId xmlns:a16="http://schemas.microsoft.com/office/drawing/2014/main" id="{B8CCE991-007D-42D6-81A9-812723C6185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27 / 39</a:t>
            </a:r>
          </a:p>
        </p:txBody>
      </p:sp>
      <p:sp>
        <p:nvSpPr>
          <p:cNvPr id="2009" name="Footer – Präsentationsangaben">
            <a:extLst>
              <a:ext uri="{FF2B5EF4-FFF2-40B4-BE49-F238E27FC236}">
                <a16:creationId xmlns:a16="http://schemas.microsoft.com/office/drawing/2014/main" id="{567180AF-BA64-4FF3-9A8E-10AA2D9CC0B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4" grpId="0"/>
      <p:bldP spid="200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Modellkomplexität: Anzahl der Parameter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p:sp>
        <p:nvSpPr>
          <p:cNvPr id="2000" name="PC_highlight_mlp">
            <a:extLst>
              <a:ext uri="{FF2B5EF4-FFF2-40B4-BE49-F238E27FC236}">
                <a16:creationId xmlns:a16="http://schemas.microsoft.com/office/drawing/2014/main" id="{198F6CFA-8047-4B0B-AB74-D8BC81A05B1F}"/>
              </a:ext>
            </a:extLst>
          </p:cNvPr>
          <p:cNvSpPr>
            <a:spLocks noGrp="1"/>
          </p:cNvSpPr>
          <p:nvPr/>
        </p:nvSpPr>
        <p:spPr>
          <a:xfrm>
            <a:off x="6915150" y="1438275"/>
            <a:ext cx="1514475" cy="1866900"/>
          </a:xfrm>
          <a:prstGeom prst="rect">
            <a:avLst/>
          </a:prstGeom>
          <a:noFill/>
          <a:ln w="23813">
            <a:solidFill>
              <a:srgbClr val="D00020"/>
            </a:solidFill>
          </a:ln>
        </p:spPr>
        <p:txBody>
          <a:bodyPr/>
          <a:lstStyle/>
          <a:p>
            <a:endParaRPr lang="de-DE"/>
          </a:p>
        </p:txBody>
      </p:sp>
      <p:sp>
        <p:nvSpPr>
          <p:cNvPr id="2001" name="PC_mlp_context">
            <a:extLst>
              <a:ext uri="{FF2B5EF4-FFF2-40B4-BE49-F238E27FC236}">
                <a16:creationId xmlns:a16="http://schemas.microsoft.com/office/drawing/2014/main" id="{69C62011-B5E3-46C4-A774-1259BE15597B}"/>
              </a:ext>
            </a:extLst>
          </p:cNvPr>
          <p:cNvSpPr>
            <a:spLocks noGrp="1"/>
          </p:cNvSpPr>
          <p:nvPr/>
        </p:nvSpPr>
        <p:spPr>
          <a:xfrm>
            <a:off x="552450" y="4019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MLP-Head: Hidden Layer der Breite M und skalarer Ausgang</a:t>
            </a:r>
          </a:p>
        </p:txBody>
      </p:sp>
      <mc:AlternateContent xmlns:mc="http://schemas.openxmlformats.org/markup-compatibility/2006" xmlns:a14="http://schemas.microsoft.com/office/drawing/2010/main">
        <mc:Choice Requires="a14">
          <p:sp>
            <p:nvSpPr>
              <p:cNvPr id="2002" name="PC_mlp_formula">
                <a:extLst>
                  <a:ext uri="{FF2B5EF4-FFF2-40B4-BE49-F238E27FC236}">
                    <a16:creationId xmlns:a16="http://schemas.microsoft.com/office/drawing/2014/main" id="{CCF4E6AD-A8AC-4569-AECB-DEF9A8200D79}"/>
                  </a:ext>
                </a:extLst>
              </p:cNvPr>
              <p:cNvSpPr>
                <a:spLocks noGrp="1"/>
              </p:cNvSpPr>
              <p:nvPr/>
            </p:nvSpPr>
            <p:spPr>
              <a:xfrm>
                <a:off x="552450" y="4400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𝑁</m:t>
                          </m:r>
                        </m:e>
                        <m:sub>
                          <m:r>
                            <m:rPr>
                              <m:sty m:val="p"/>
                            </m:rPr>
                            <a:rPr sz="1260">
                              <a:solidFill>
                                <a:srgbClr val="444444"/>
                              </a:solidFill>
                              <a:latin typeface="Cambria Math"/>
                              <a:ea typeface="Cambria Math"/>
                              <a:cs typeface="Cambria Math"/>
                            </a:rPr>
                            <m:t>MLP</m:t>
                          </m:r>
                        </m:sub>
                      </m:sSub>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𝐻𝑀</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𝑀</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𝑀</m:t>
                      </m:r>
                      <m:r>
                        <a:rPr sz="1800">
                          <a:solidFill>
                            <a:srgbClr val="444444"/>
                          </a:solidFill>
                          <a:latin typeface="Cambria Math"/>
                          <a:ea typeface="Cambria Math"/>
                          <a:cs typeface="Cambria Math"/>
                        </a:rPr>
                        <m:t>+1)=</m:t>
                      </m:r>
                      <m:r>
                        <a:rPr sz="1800">
                          <a:solidFill>
                            <a:srgbClr val="444444"/>
                          </a:solidFill>
                          <a:latin typeface="Cambria Math"/>
                          <a:ea typeface="Cambria Math"/>
                          <a:cs typeface="Cambria Math"/>
                        </a:rPr>
                        <m:t>𝐻𝑀</m:t>
                      </m:r>
                      <m:r>
                        <a:rPr sz="1800">
                          <a:solidFill>
                            <a:srgbClr val="444444"/>
                          </a:solidFill>
                          <a:latin typeface="Cambria Math"/>
                          <a:ea typeface="Cambria Math"/>
                          <a:cs typeface="Cambria Math"/>
                        </a:rPr>
                        <m:t>+2</m:t>
                      </m:r>
                      <m:r>
                        <a:rPr sz="1800">
                          <a:solidFill>
                            <a:srgbClr val="444444"/>
                          </a:solidFill>
                          <a:latin typeface="Cambria Math"/>
                          <a:ea typeface="Cambria Math"/>
                          <a:cs typeface="Cambria Math"/>
                        </a:rPr>
                        <m:t>𝑀</m:t>
                      </m:r>
                      <m:r>
                        <a:rPr sz="1800">
                          <a:solidFill>
                            <a:srgbClr val="444444"/>
                          </a:solidFill>
                          <a:latin typeface="Cambria Math"/>
                          <a:ea typeface="Cambria Math"/>
                          <a:cs typeface="Cambria Math"/>
                        </a:rPr>
                        <m:t>+1</m:t>
                      </m:r>
                    </m:oMath>
                  </m:oMathPara>
                </a14:m>
                <a:endParaRPr/>
              </a:p>
            </p:txBody>
          </p:sp>
        </mc:Choice>
        <mc:Fallback xmlns="">
          <p:sp>
            <p:nvSpPr>
              <p:cNvPr id="2002" name="PC_mlp_formula">
                <a:extLst>
                  <a:ext uri="{FF2B5EF4-FFF2-40B4-BE49-F238E27FC236}">
                    <a16:creationId xmlns:a16="http://schemas.microsoft.com/office/drawing/2014/main" id="{CCF4E6AD-A8AC-4569-AECB-DEF9A8200D79}"/>
                  </a:ext>
                </a:extLst>
              </p:cNvPr>
              <p:cNvSpPr>
                <a:spLocks noGrp="1" noRot="1" noChangeAspect="1" noMove="1" noResize="1" noEditPoints="1" noAdjustHandles="1" noChangeArrowheads="1" noChangeShapeType="1" noTextEdit="1"/>
              </p:cNvSpPr>
              <p:nvPr/>
            </p:nvSpPr>
            <p:spPr>
              <a:xfrm>
                <a:off x="552450" y="4400550"/>
                <a:ext cx="9391650" cy="323850"/>
              </a:xfrm>
              <a:prstGeom prst="rect">
                <a:avLst/>
              </a:prstGeom>
              <a:blipFill>
                <a:blip r:embed="rId4"/>
                <a:stretch>
                  <a:fillRect l="-909" t="-1887" b="-15094"/>
                </a:stretch>
              </a:blipFill>
              <a:ln w="0">
                <a:noFill/>
              </a:ln>
            </p:spPr>
            <p:txBody>
              <a:bodyPr/>
              <a:lstStyle/>
              <a:p>
                <a:r>
                  <a:rPr lang="de-DE">
                    <a:noFill/>
                  </a:rPr>
                  <a:t> </a:t>
                </a:r>
              </a:p>
            </p:txBody>
          </p:sp>
        </mc:Fallback>
      </mc:AlternateContent>
      <p:sp>
        <p:nvSpPr>
          <p:cNvPr id="2003" name="PC_mlp_terms">
            <a:extLst>
              <a:ext uri="{FF2B5EF4-FFF2-40B4-BE49-F238E27FC236}">
                <a16:creationId xmlns:a16="http://schemas.microsoft.com/office/drawing/2014/main" id="{45134C5B-C59D-40DF-840A-6AEC9C2EDECD}"/>
              </a:ext>
            </a:extLst>
          </p:cNvPr>
          <p:cNvSpPr>
            <a:spLocks noGrp="1"/>
          </p:cNvSpPr>
          <p:nvPr/>
        </p:nvSpPr>
        <p:spPr>
          <a:xfrm>
            <a:off x="552450" y="4781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Hidden Layer: H × M Gewichte + M Bias, Ausgang: M Gewichte + 1 Bias</a:t>
            </a:r>
          </a:p>
        </p:txBody>
      </p:sp>
      <mc:AlternateContent xmlns:mc="http://schemas.openxmlformats.org/markup-compatibility/2006" xmlns:a14="http://schemas.microsoft.com/office/drawing/2010/main">
        <mc:Choice Requires="a14">
          <p:sp>
            <p:nvSpPr>
              <p:cNvPr id="2004" name="PC_mlp_soc">
                <a:extLst>
                  <a:ext uri="{FF2B5EF4-FFF2-40B4-BE49-F238E27FC236}">
                    <a16:creationId xmlns:a16="http://schemas.microsoft.com/office/drawing/2014/main" id="{6B560B57-E9FD-4FA6-820E-13908073AB7B}"/>
                  </a:ext>
                </a:extLst>
              </p:cNvPr>
              <p:cNvSpPr>
                <a:spLocks noGrp="1"/>
              </p:cNvSpPr>
              <p:nvPr/>
            </p:nvSpPr>
            <p:spPr>
              <a:xfrm>
                <a:off x="552450" y="5162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SOC</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m:t>
                      </m:r>
                      <m:r>
                        <m:rPr>
                          <m:sty m:val="p"/>
                        </m:rPr>
                        <a:rPr sz="1800">
                          <a:solidFill>
                            <a:srgbClr val="D00020"/>
                          </a:solidFill>
                          <a:latin typeface="Cambria Math"/>
                          <a:ea typeface="Cambria Math"/>
                          <a:cs typeface="Cambria Math"/>
                        </a:rPr>
                        <m:t>M</m:t>
                      </m:r>
                      <m:r>
                        <a:rPr sz="1800">
                          <a:solidFill>
                            <a:srgbClr val="D00020"/>
                          </a:solidFill>
                          <a:latin typeface="Cambria Math"/>
                          <a:ea typeface="Cambria Math"/>
                          <a:cs typeface="Cambria Math"/>
                        </a:rPr>
                        <m:t> = 64): 4 096 + 64 + 64 + 1 = 4 225</m:t>
                      </m:r>
                    </m:oMath>
                  </m:oMathPara>
                </a14:m>
                <a:endParaRPr dirty="0"/>
              </a:p>
            </p:txBody>
          </p:sp>
        </mc:Choice>
        <mc:Fallback xmlns="">
          <p:sp>
            <p:nvSpPr>
              <p:cNvPr id="2004" name="PC_mlp_soc">
                <a:extLst>
                  <a:ext uri="{FF2B5EF4-FFF2-40B4-BE49-F238E27FC236}">
                    <a16:creationId xmlns:a16="http://schemas.microsoft.com/office/drawing/2014/main" id="{6B560B57-E9FD-4FA6-820E-13908073AB7B}"/>
                  </a:ext>
                </a:extLst>
              </p:cNvPr>
              <p:cNvSpPr>
                <a:spLocks noGrp="1" noRot="1" noChangeAspect="1" noMove="1" noResize="1" noEditPoints="1" noAdjustHandles="1" noChangeArrowheads="1" noChangeShapeType="1" noTextEdit="1"/>
              </p:cNvSpPr>
              <p:nvPr/>
            </p:nvSpPr>
            <p:spPr>
              <a:xfrm>
                <a:off x="552450" y="5162550"/>
                <a:ext cx="9391650" cy="323850"/>
              </a:xfrm>
              <a:prstGeom prst="rect">
                <a:avLst/>
              </a:prstGeom>
              <a:blipFill>
                <a:blip r:embed="rId5"/>
                <a:stretch>
                  <a:fillRect l="-909" t="-1887" b="-15094"/>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005" name="PC_mlp_soh">
                <a:extLst>
                  <a:ext uri="{FF2B5EF4-FFF2-40B4-BE49-F238E27FC236}">
                    <a16:creationId xmlns:a16="http://schemas.microsoft.com/office/drawing/2014/main" id="{C6CCD990-855A-4336-ACF6-FC4843690B5A}"/>
                  </a:ext>
                </a:extLst>
              </p:cNvPr>
              <p:cNvSpPr>
                <a:spLocks noGrp="1"/>
              </p:cNvSpPr>
              <p:nvPr/>
            </p:nvSpPr>
            <p:spPr>
              <a:xfrm>
                <a:off x="552450" y="5543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SOH</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m:t>
                      </m:r>
                      <m:r>
                        <m:rPr>
                          <m:sty m:val="p"/>
                        </m:rPr>
                        <a:rPr sz="1800">
                          <a:solidFill>
                            <a:srgbClr val="D00020"/>
                          </a:solidFill>
                          <a:latin typeface="Cambria Math"/>
                          <a:ea typeface="Cambria Math"/>
                          <a:cs typeface="Cambria Math"/>
                        </a:rPr>
                        <m:t>M</m:t>
                      </m:r>
                      <m:r>
                        <a:rPr sz="1800">
                          <a:solidFill>
                            <a:srgbClr val="D00020"/>
                          </a:solidFill>
                          <a:latin typeface="Cambria Math"/>
                          <a:ea typeface="Cambria Math"/>
                          <a:cs typeface="Cambria Math"/>
                        </a:rPr>
                        <m:t> = 128): 16 384 + 128 + 128 + 1 = 16 641</m:t>
                      </m:r>
                    </m:oMath>
                  </m:oMathPara>
                </a14:m>
                <a:endParaRPr/>
              </a:p>
            </p:txBody>
          </p:sp>
        </mc:Choice>
        <mc:Fallback xmlns="">
          <p:sp>
            <p:nvSpPr>
              <p:cNvPr id="2005" name="PC_mlp_soh">
                <a:extLst>
                  <a:ext uri="{FF2B5EF4-FFF2-40B4-BE49-F238E27FC236}">
                    <a16:creationId xmlns:a16="http://schemas.microsoft.com/office/drawing/2014/main" id="{C6CCD990-855A-4336-ACF6-FC4843690B5A}"/>
                  </a:ext>
                </a:extLst>
              </p:cNvPr>
              <p:cNvSpPr>
                <a:spLocks noGrp="1" noRot="1" noChangeAspect="1" noMove="1" noResize="1" noEditPoints="1" noAdjustHandles="1" noChangeArrowheads="1" noChangeShapeType="1" noTextEdit="1"/>
              </p:cNvSpPr>
              <p:nvPr/>
            </p:nvSpPr>
            <p:spPr>
              <a:xfrm>
                <a:off x="552450" y="5543550"/>
                <a:ext cx="9391650" cy="323850"/>
              </a:xfrm>
              <a:prstGeom prst="rect">
                <a:avLst/>
              </a:prstGeom>
              <a:blipFill>
                <a:blip r:embed="rId6"/>
                <a:stretch>
                  <a:fillRect l="-909" t="-1852" b="-12963"/>
                </a:stretch>
              </a:blipFill>
              <a:ln w="0">
                <a:noFill/>
              </a:ln>
            </p:spPr>
            <p:txBody>
              <a:bodyPr/>
              <a:lstStyle/>
              <a:p>
                <a:r>
                  <a:rPr lang="de-DE">
                    <a:noFill/>
                  </a:rPr>
                  <a:t> </a:t>
                </a:r>
              </a:p>
            </p:txBody>
          </p:sp>
        </mc:Fallback>
      </mc:AlternateContent>
      <p:sp>
        <p:nvSpPr>
          <p:cNvPr id="2006" name="Footer – Seitennummer">
            <a:extLst>
              <a:ext uri="{FF2B5EF4-FFF2-40B4-BE49-F238E27FC236}">
                <a16:creationId xmlns:a16="http://schemas.microsoft.com/office/drawing/2014/main" id="{BC98EC0B-CCC1-4D0F-A014-BD9B78DEA97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28 / 39</a:t>
            </a:r>
          </a:p>
        </p:txBody>
      </p:sp>
      <p:sp>
        <p:nvSpPr>
          <p:cNvPr id="2007" name="Footer – Präsentationsangaben">
            <a:extLst>
              <a:ext uri="{FF2B5EF4-FFF2-40B4-BE49-F238E27FC236}">
                <a16:creationId xmlns:a16="http://schemas.microsoft.com/office/drawing/2014/main" id="{6935407F-0182-4B2F-B102-8E600178AFD9}"/>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4" grpId="0"/>
      <p:bldP spid="200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Modellkomplexität: Anzahl der Parameter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p:sp>
        <p:nvSpPr>
          <p:cNvPr id="2000" name="PC_highlight_total">
            <a:extLst>
              <a:ext uri="{FF2B5EF4-FFF2-40B4-BE49-F238E27FC236}">
                <a16:creationId xmlns:a16="http://schemas.microsoft.com/office/drawing/2014/main" id="{E35583EC-7332-4BDC-949F-8C80BCF0C976}"/>
              </a:ext>
            </a:extLst>
          </p:cNvPr>
          <p:cNvSpPr>
            <a:spLocks noGrp="1"/>
          </p:cNvSpPr>
          <p:nvPr/>
        </p:nvSpPr>
        <p:spPr>
          <a:xfrm>
            <a:off x="3638550" y="1438275"/>
            <a:ext cx="4791075" cy="1866900"/>
          </a:xfrm>
          <a:prstGeom prst="rect">
            <a:avLst/>
          </a:prstGeom>
          <a:noFill/>
          <a:ln w="23813">
            <a:solidFill>
              <a:srgbClr val="D00020"/>
            </a:solidFill>
          </a:ln>
        </p:spPr>
        <p:txBody>
          <a:bodyPr/>
          <a:lstStyle/>
          <a:p>
            <a:endParaRPr lang="de-DE"/>
          </a:p>
        </p:txBody>
      </p:sp>
      <p:sp>
        <p:nvSpPr>
          <p:cNvPr id="2001" name="PC_total_context">
            <a:extLst>
              <a:ext uri="{FF2B5EF4-FFF2-40B4-BE49-F238E27FC236}">
                <a16:creationId xmlns:a16="http://schemas.microsoft.com/office/drawing/2014/main" id="{ADB848F1-898F-44DB-96A3-26EFDB56EB95}"/>
              </a:ext>
            </a:extLst>
          </p:cNvPr>
          <p:cNvSpPr>
            <a:spLocks noGrp="1"/>
          </p:cNvSpPr>
          <p:nvPr/>
        </p:nvSpPr>
        <p:spPr>
          <a:xfrm>
            <a:off x="552450" y="4019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Gesamtzahl: LSTM-Kern + MLP-Head, jeweils inklusive Bias</a:t>
            </a:r>
          </a:p>
        </p:txBody>
      </p:sp>
      <p:graphicFrame>
        <p:nvGraphicFramePr>
          <p:cNvPr id="2002" name="Tabelle 2001"/>
          <p:cNvGraphicFramePr/>
          <p:nvPr/>
        </p:nvGraphicFramePr>
        <p:xfrm>
          <a:off x="552450" y="4381500"/>
          <a:ext cx="9391650" cy="1114425"/>
        </p:xfrm>
        <a:graphic>
          <a:graphicData uri="http://schemas.openxmlformats.org/drawingml/2006/table">
            <a:tbl>
              <a:tblPr/>
              <a:tblGrid>
                <a:gridCol w="333375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371475">
                <a:tc>
                  <a:txBody>
                    <a:bodyPr/>
                    <a:lstStyle/>
                    <a:p>
                      <a:pPr algn="l">
                        <a:buNone/>
                      </a:pPr>
                      <a:r>
                        <a:rPr sz="1800" b="1">
                          <a:solidFill>
                            <a:srgbClr val="444444"/>
                          </a:solidFill>
                          <a:latin typeface="Calibri"/>
                          <a:ea typeface="Calibri"/>
                          <a:cs typeface="Calibri"/>
                        </a:rPr>
                        <a:t>Base-Modell (D = 6)</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LSTM</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MLP</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Gesamt</a:t>
                      </a:r>
                    </a:p>
                  </a:txBody>
                  <a:tcPr marL="114300" marR="114300" marT="47625" marB="47625" anchor="ctr">
                    <a:solidFill>
                      <a:srgbClr val="F0F0F0"/>
                    </a:solidFill>
                  </a:tcPr>
                </a:tc>
                <a:extLst>
                  <a:ext uri="{0D108BD9-81ED-4DB2-BD59-A6C34878D82A}">
                    <a16:rowId xmlns:a16="http://schemas.microsoft.com/office/drawing/2014/main" val="10000"/>
                  </a:ext>
                </a:extLst>
              </a:tr>
              <a:tr h="371475">
                <a:tc>
                  <a:txBody>
                    <a:bodyPr/>
                    <a:lstStyle/>
                    <a:p>
                      <a:pPr algn="l">
                        <a:buNone/>
                      </a:pPr>
                      <a:r>
                        <a:rPr sz="1800" b="0">
                          <a:solidFill>
                            <a:srgbClr val="444444"/>
                          </a:solidFill>
                          <a:latin typeface="Calibri"/>
                          <a:ea typeface="Calibri"/>
                          <a:cs typeface="Calibri"/>
                        </a:rPr>
                        <a:t>SOC (H = M = 64)</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18 432</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4 225</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22 657</a:t>
                      </a:r>
                    </a:p>
                  </a:txBody>
                  <a:tcPr marL="114300" marR="114300" marT="47625" marB="47625" anchor="ctr">
                    <a:solidFill>
                      <a:srgbClr val="FFFFFF"/>
                    </a:solidFill>
                  </a:tcPr>
                </a:tc>
                <a:extLst>
                  <a:ext uri="{0D108BD9-81ED-4DB2-BD59-A6C34878D82A}">
                    <a16:rowId xmlns:a16="http://schemas.microsoft.com/office/drawing/2014/main" val="10001"/>
                  </a:ext>
                </a:extLst>
              </a:tr>
              <a:tr h="371475">
                <a:tc>
                  <a:txBody>
                    <a:bodyPr/>
                    <a:lstStyle/>
                    <a:p>
                      <a:pPr algn="l">
                        <a:buNone/>
                      </a:pPr>
                      <a:r>
                        <a:rPr sz="1800" b="0">
                          <a:solidFill>
                            <a:srgbClr val="444444"/>
                          </a:solidFill>
                          <a:latin typeface="Calibri"/>
                          <a:ea typeface="Calibri"/>
                          <a:cs typeface="Calibri"/>
                        </a:rPr>
                        <a:t>SOH (H = M = 128)</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69 632</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16 641</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86 273</a:t>
                      </a:r>
                    </a:p>
                  </a:txBody>
                  <a:tcPr marL="114300" marR="114300" marT="47625" marB="47625" anchor="ctr">
                    <a:solidFill>
                      <a:srgbClr val="FFFFFF"/>
                    </a:solidFill>
                  </a:tcPr>
                </a:tc>
                <a:extLst>
                  <a:ext uri="{0D108BD9-81ED-4DB2-BD59-A6C34878D82A}">
                    <a16:rowId xmlns:a16="http://schemas.microsoft.com/office/drawing/2014/main" val="10002"/>
                  </a:ext>
                </a:extLst>
              </a:tr>
            </a:tbl>
          </a:graphicData>
        </a:graphic>
      </p:graphicFrame>
      <p:sp>
        <p:nvSpPr>
          <p:cNvPr id="2003" name="PC_total_takeaway">
            <a:extLst>
              <a:ext uri="{FF2B5EF4-FFF2-40B4-BE49-F238E27FC236}">
                <a16:creationId xmlns:a16="http://schemas.microsoft.com/office/drawing/2014/main" id="{29EE1B8C-833A-49C1-BF20-CFB326567C36}"/>
              </a:ext>
            </a:extLst>
          </p:cNvPr>
          <p:cNvSpPr>
            <a:spLocks noGrp="1"/>
          </p:cNvSpPr>
          <p:nvPr/>
        </p:nvSpPr>
        <p:spPr>
          <a:xfrm>
            <a:off x="552450" y="5629275"/>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LSTM-Kern </a:t>
            </a:r>
            <a:r>
              <a:rPr sz="1800" b="1" dirty="0" err="1">
                <a:solidFill>
                  <a:srgbClr val="D00020"/>
                </a:solidFill>
                <a:latin typeface="Calibri"/>
                <a:ea typeface="Calibri"/>
                <a:cs typeface="Calibri"/>
              </a:rPr>
              <a:t>mit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rund</a:t>
            </a:r>
            <a:r>
              <a:rPr sz="1800" b="1" dirty="0">
                <a:solidFill>
                  <a:srgbClr val="D00020"/>
                </a:solidFill>
                <a:latin typeface="Calibri"/>
                <a:ea typeface="Calibri"/>
                <a:cs typeface="Calibri"/>
              </a:rPr>
              <a:t> 81 % der Parameter und </a:t>
            </a:r>
            <a:r>
              <a:rPr sz="1800" b="1" dirty="0" err="1">
                <a:solidFill>
                  <a:srgbClr val="D00020"/>
                </a:solidFill>
                <a:latin typeface="Calibri"/>
                <a:ea typeface="Calibri"/>
                <a:cs typeface="Calibri"/>
              </a:rPr>
              <a:t>quadratischem</a:t>
            </a:r>
            <a:r>
              <a:rPr sz="1800" b="1" dirty="0">
                <a:solidFill>
                  <a:srgbClr val="D00020"/>
                </a:solidFill>
                <a:latin typeface="Calibri"/>
                <a:ea typeface="Calibri"/>
                <a:cs typeface="Calibri"/>
              </a:rPr>
              <a:t> H²-Anteil</a:t>
            </a:r>
          </a:p>
        </p:txBody>
      </p:sp>
      <p:sp>
        <p:nvSpPr>
          <p:cNvPr id="2004" name="Footer – Seitennummer">
            <a:extLst>
              <a:ext uri="{FF2B5EF4-FFF2-40B4-BE49-F238E27FC236}">
                <a16:creationId xmlns:a16="http://schemas.microsoft.com/office/drawing/2014/main" id="{A5002ADF-0CAC-4234-9AEB-7C6334E29F61}"/>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29 / 39</a:t>
            </a:r>
          </a:p>
        </p:txBody>
      </p:sp>
      <p:sp>
        <p:nvSpPr>
          <p:cNvPr id="2005" name="Footer – Präsentationsangaben">
            <a:extLst>
              <a:ext uri="{FF2B5EF4-FFF2-40B4-BE49-F238E27FC236}">
                <a16:creationId xmlns:a16="http://schemas.microsoft.com/office/drawing/2014/main" id="{2E841FC3-0705-40B9-90D3-4B57B77431F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Versuchsaufbau: Kompression und STM32-Benchmark</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552450" y="4324350"/>
            <a:ext cx="9391650" cy="323850"/>
          </a:xfrm>
          <a:prstGeom prst="rect">
            <a:avLst/>
          </a:prstGeom>
          <a:noFill/>
          <a:ln w="0">
            <a:noFill/>
          </a:ln>
        </p:spPr>
        <p:txBody>
          <a:bodyPr vert="horz"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Kompression: </a:t>
            </a:r>
            <a:r>
              <a:rPr sz="1800" b="0">
                <a:solidFill>
                  <a:srgbClr val="444444"/>
                </a:solidFill>
                <a:latin typeface="Calibri"/>
                <a:ea typeface="Calibri"/>
                <a:cs typeface="Calibri"/>
              </a:rPr>
              <a:t>Pruning oder INT8-Quantization derselben trainierten SOC-/SOH-Modelle</a:t>
            </a:r>
          </a:p>
        </p:txBody>
      </p:sp>
      <p:pic>
        <p:nvPicPr>
          <p:cNvPr id="32" name="V5_Figure_11"/>
          <p:cNvPicPr>
            <a:picLocks noChangeAspect="1"/>
          </p:cNvPicPr>
          <p:nvPr/>
        </p:nvPicPr>
        <p:blipFill>
          <a:blip r:embed="rId3"/>
          <a:stretch/>
        </p:blipFill>
        <p:spPr>
          <a:xfrm>
            <a:off x="552450" y="1544271"/>
            <a:ext cx="9353550" cy="2559783"/>
          </a:xfrm>
          <a:prstGeom prst="rect">
            <a:avLst/>
          </a:prstGeom>
        </p:spPr>
      </p:pic>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28-2">
            <a:extLst>
              <a:ext uri="{FF2B5EF4-FFF2-40B4-BE49-F238E27FC236}">
                <a16:creationId xmlns:a16="http://schemas.microsoft.com/office/drawing/2014/main" id="{39856BE7-3362-4153-8710-ED503E867D10}"/>
              </a:ext>
            </a:extLst>
          </p:cNvPr>
          <p:cNvSpPr>
            <a:spLocks noGrp="1"/>
          </p:cNvSpPr>
          <p:nvPr/>
        </p:nvSpPr>
        <p:spPr>
          <a:xfrm>
            <a:off x="552450" y="48196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Vergleich: </a:t>
            </a:r>
            <a:r>
              <a:rPr sz="1800" b="0">
                <a:solidFill>
                  <a:srgbClr val="444444"/>
                </a:solidFill>
                <a:latin typeface="Calibri"/>
                <a:ea typeface="Calibri"/>
                <a:cs typeface="Calibri"/>
              </a:rPr>
              <a:t>Base, Pruned und Quantized auf PC und STM32 bei identischem Datenstrom</a:t>
            </a:r>
          </a:p>
        </p:txBody>
      </p:sp>
      <p:sp>
        <p:nvSpPr>
          <p:cNvPr id="25" name="v11-text-28-3">
            <a:extLst>
              <a:ext uri="{FF2B5EF4-FFF2-40B4-BE49-F238E27FC236}">
                <a16:creationId xmlns:a16="http://schemas.microsoft.com/office/drawing/2014/main" id="{68466449-D5C5-4284-BC65-F3B6CFC88ECD}"/>
              </a:ext>
            </a:extLst>
          </p:cNvPr>
          <p:cNvSpPr>
            <a:spLocks noGrp="1"/>
          </p:cNvSpPr>
          <p:nvPr/>
        </p:nvSpPr>
        <p:spPr>
          <a:xfrm>
            <a:off x="552450" y="5314950"/>
            <a:ext cx="9391650" cy="6286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Ziel: </a:t>
            </a:r>
            <a:r>
              <a:rPr sz="1800" b="1" dirty="0" err="1">
                <a:solidFill>
                  <a:srgbClr val="D00020"/>
                </a:solidFill>
                <a:latin typeface="Calibri"/>
                <a:ea typeface="Calibri"/>
                <a:cs typeface="Calibri"/>
              </a:rPr>
              <a:t>Geringerer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Hardwarebedarf</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bei</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möglichst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unverändertem</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Schätzfehler</a:t>
            </a:r>
            <a:r>
              <a:rPr sz="1800" b="1" dirty="0">
                <a:solidFill>
                  <a:srgbClr val="D00020"/>
                </a:solidFill>
                <a:latin typeface="Calibri"/>
                <a:ea typeface="Calibri"/>
                <a:cs typeface="Calibri"/>
              </a:rPr>
              <a:t> und </a:t>
            </a:r>
            <a:r>
              <a:rPr sz="1800" b="1" dirty="0" err="1">
                <a:solidFill>
                  <a:srgbClr val="D00020"/>
                </a:solidFill>
                <a:latin typeface="Calibri"/>
                <a:ea typeface="Calibri"/>
                <a:cs typeface="Calibri"/>
              </a:rPr>
              <a:t>konsistenten</a:t>
            </a:r>
            <a:r>
              <a:rPr sz="1800" b="1" dirty="0">
                <a:solidFill>
                  <a:srgbClr val="D00020"/>
                </a:solidFill>
                <a:latin typeface="Calibri"/>
                <a:ea typeface="Calibri"/>
                <a:cs typeface="Calibri"/>
              </a:rPr>
              <a:t> PC-/STM32-Ausgaben</a:t>
            </a:r>
          </a:p>
        </p:txBody>
      </p:sp>
      <p:sp>
        <p:nvSpPr>
          <p:cNvPr id="33" name="Footer – Seitennummer">
            <a:extLst>
              <a:ext uri="{FF2B5EF4-FFF2-40B4-BE49-F238E27FC236}">
                <a16:creationId xmlns:a16="http://schemas.microsoft.com/office/drawing/2014/main" id="{ABB8B61A-4DAB-4666-92BB-911BE0E1C53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30 / 39</a:t>
            </a:r>
          </a:p>
        </p:txBody>
      </p:sp>
      <p:sp>
        <p:nvSpPr>
          <p:cNvPr id="34" name="Footer – Präsentationsangaben">
            <a:extLst>
              <a:ext uri="{FF2B5EF4-FFF2-40B4-BE49-F238E27FC236}">
                <a16:creationId xmlns:a16="http://schemas.microsoft.com/office/drawing/2014/main" id="{12B78B20-47FE-479E-9F9B-2B62442A218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5" name="Quellenverweis 4">
            <a:extLst>
              <a:ext uri="{FF2B5EF4-FFF2-40B4-BE49-F238E27FC236}">
                <a16:creationId xmlns:a16="http://schemas.microsoft.com/office/drawing/2014/main" id="{CCCC7811-9E74-4772-AFCB-95E2B33CE213}"/>
              </a:ext>
            </a:extLst>
          </p:cNvPr>
          <p:cNvSpPr>
            <a:spLocks noGrp="1"/>
          </p:cNvSpPr>
          <p:nvPr/>
        </p:nvSpPr>
        <p:spPr>
          <a:xfrm>
            <a:off x="9639300" y="4133850"/>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[20]</a:t>
            </a:r>
          </a:p>
        </p:txBody>
      </p:sp>
    </p:spTree>
    <p:extLst>
      <p:ext uri="{BB962C8B-B14F-4D97-AF65-F5344CB8AC3E}">
        <p14:creationId xmlns:p14="http://schemas.microsoft.com/office/powerpoint/2010/main" val="128379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Unstructured und Structured Pruning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3" name="V5_Text_13">
            <a:extLst>
              <a:ext uri="{FF2B5EF4-FFF2-40B4-BE49-F238E27FC236}">
                <a16:creationId xmlns:a16="http://schemas.microsoft.com/office/drawing/2014/main" id="{DE96A364-1391-49F0-9295-872CEC7644D0}"/>
              </a:ext>
            </a:extLst>
          </p:cNvPr>
          <p:cNvSpPr>
            <a:spLocks noGrp="1"/>
          </p:cNvSpPr>
          <p:nvPr/>
        </p:nvSpPr>
        <p:spPr>
          <a:xfrm>
            <a:off x="552450" y="4457700"/>
            <a:ext cx="9353550" cy="60960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Unstructured Pruning:</a:t>
            </a:r>
            <a:r>
              <a:rPr sz="1800" b="0" dirty="0">
                <a:latin typeface="Calibri"/>
                <a:ea typeface="Calibri"/>
                <a:cs typeface="Calibri"/>
              </a:rPr>
              <a:t> </a:t>
            </a:r>
            <a:r>
              <a:rPr sz="1800" b="0" dirty="0" err="1">
                <a:latin typeface="Calibri"/>
                <a:ea typeface="Calibri"/>
                <a:cs typeface="Calibri"/>
              </a:rPr>
              <a:t>Einzelne</a:t>
            </a:r>
            <a:r>
              <a:rPr sz="1800" b="0" dirty="0">
                <a:latin typeface="Calibri"/>
                <a:ea typeface="Calibri"/>
                <a:cs typeface="Calibri"/>
              </a:rPr>
              <a:t> </a:t>
            </a:r>
            <a:r>
              <a:rPr sz="1800" b="0" dirty="0" err="1">
                <a:latin typeface="Calibri"/>
                <a:ea typeface="Calibri"/>
                <a:cs typeface="Calibri"/>
              </a:rPr>
              <a:t>Gewichte</a:t>
            </a:r>
            <a:r>
              <a:rPr sz="1800" b="0" dirty="0">
                <a:latin typeface="Calibri"/>
                <a:ea typeface="Calibri"/>
                <a:cs typeface="Calibri"/>
              </a:rPr>
              <a:t> </a:t>
            </a:r>
            <a:r>
              <a:rPr sz="1800" b="0" dirty="0" err="1">
                <a:latin typeface="Calibri"/>
                <a:ea typeface="Calibri"/>
                <a:cs typeface="Calibri"/>
              </a:rPr>
              <a:t>nullsetzen</a:t>
            </a:r>
            <a:r>
              <a:rPr sz="1800" b="0" dirty="0">
                <a:latin typeface="Calibri"/>
                <a:ea typeface="Calibri"/>
                <a:cs typeface="Calibri"/>
              </a:rPr>
              <a:t>. </a:t>
            </a:r>
            <a:r>
              <a:rPr sz="1800" b="0" dirty="0" err="1">
                <a:latin typeface="Calibri"/>
                <a:ea typeface="Calibri"/>
                <a:cs typeface="Calibri"/>
              </a:rPr>
              <a:t>Matrixabmessungen</a:t>
            </a:r>
            <a:r>
              <a:rPr sz="1800" b="0" dirty="0">
                <a:latin typeface="Calibri"/>
                <a:ea typeface="Calibri"/>
                <a:cs typeface="Calibri"/>
              </a:rPr>
              <a:t> und </a:t>
            </a:r>
            <a:r>
              <a:rPr sz="1800" b="0" dirty="0" err="1">
                <a:latin typeface="Calibri"/>
                <a:ea typeface="Calibri"/>
                <a:cs typeface="Calibri"/>
              </a:rPr>
              <a:t>dichte</a:t>
            </a:r>
            <a:r>
              <a:rPr sz="1800" b="0" dirty="0">
                <a:latin typeface="Calibri"/>
                <a:ea typeface="Calibri"/>
                <a:cs typeface="Calibri"/>
              </a:rPr>
              <a:t> </a:t>
            </a:r>
            <a:r>
              <a:rPr sz="1800" b="0" dirty="0" err="1">
                <a:latin typeface="Calibri"/>
                <a:ea typeface="Calibri"/>
                <a:cs typeface="Calibri"/>
              </a:rPr>
              <a:t>Schleifen</a:t>
            </a:r>
            <a:r>
              <a:rPr sz="1800" b="0" dirty="0">
                <a:latin typeface="Calibri"/>
                <a:ea typeface="Calibri"/>
                <a:cs typeface="Calibri"/>
              </a:rPr>
              <a:t> </a:t>
            </a:r>
            <a:r>
              <a:rPr sz="1800" b="0" dirty="0" err="1">
                <a:latin typeface="Calibri"/>
                <a:ea typeface="Calibri"/>
                <a:cs typeface="Calibri"/>
              </a:rPr>
              <a:t>bleiben</a:t>
            </a:r>
            <a:r>
              <a:rPr sz="1800" b="0" dirty="0">
                <a:latin typeface="Calibri"/>
                <a:ea typeface="Calibri"/>
                <a:cs typeface="Calibri"/>
              </a:rPr>
              <a:t> </a:t>
            </a:r>
            <a:r>
              <a:rPr sz="1800" b="0" dirty="0" err="1">
                <a:latin typeface="Calibri"/>
                <a:ea typeface="Calibri"/>
                <a:cs typeface="Calibri"/>
              </a:rPr>
              <a:t>gleich</a:t>
            </a:r>
            <a:r>
              <a:rPr sz="1800" b="0" baseline="0" dirty="0">
                <a:latin typeface="Calibri"/>
                <a:ea typeface="Calibri"/>
                <a:cs typeface="Calibri"/>
              </a:rPr>
              <a:t> [21]</a:t>
            </a:r>
          </a:p>
        </p:txBody>
      </p:sp>
      <p:sp>
        <p:nvSpPr>
          <p:cNvPr id="14" name="V5_Text_14">
            <a:extLst>
              <a:ext uri="{FF2B5EF4-FFF2-40B4-BE49-F238E27FC236}">
                <a16:creationId xmlns:a16="http://schemas.microsoft.com/office/drawing/2014/main" id="{0ABBB7D4-CC41-4BEC-9F64-1BAC6EC19A62}"/>
              </a:ext>
            </a:extLst>
          </p:cNvPr>
          <p:cNvSpPr>
            <a:spLocks noGrp="1"/>
          </p:cNvSpPr>
          <p:nvPr/>
        </p:nvSpPr>
        <p:spPr>
          <a:xfrm>
            <a:off x="552450" y="5181600"/>
            <a:ext cx="9353550" cy="5524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Structured Pruning:</a:t>
            </a:r>
            <a:r>
              <a:rPr sz="1800" b="0" dirty="0">
                <a:latin typeface="Calibri"/>
                <a:ea typeface="Calibri"/>
                <a:cs typeface="Calibri"/>
              </a:rPr>
              <a:t> Ganze </a:t>
            </a:r>
            <a:r>
              <a:rPr sz="1800" b="0" dirty="0" err="1">
                <a:latin typeface="Calibri"/>
                <a:ea typeface="Calibri"/>
                <a:cs typeface="Calibri"/>
              </a:rPr>
              <a:t>Kanäle</a:t>
            </a:r>
            <a:r>
              <a:rPr sz="1800" b="0" dirty="0">
                <a:latin typeface="Calibri"/>
                <a:ea typeface="Calibri"/>
                <a:cs typeface="Calibri"/>
              </a:rPr>
              <a:t> </a:t>
            </a:r>
            <a:r>
              <a:rPr sz="1800" b="0" dirty="0" err="1">
                <a:latin typeface="Calibri"/>
                <a:ea typeface="Calibri"/>
                <a:cs typeface="Calibri"/>
              </a:rPr>
              <a:t>mit</a:t>
            </a:r>
            <a:r>
              <a:rPr sz="1800" b="0" dirty="0">
                <a:latin typeface="Calibri"/>
                <a:ea typeface="Calibri"/>
                <a:cs typeface="Calibri"/>
              </a:rPr>
              <a:t> </a:t>
            </a:r>
            <a:r>
              <a:rPr sz="1800" b="0" dirty="0" err="1">
                <a:latin typeface="Calibri"/>
                <a:ea typeface="Calibri"/>
                <a:cs typeface="Calibri"/>
              </a:rPr>
              <a:t>abhängigen</a:t>
            </a:r>
            <a:r>
              <a:rPr sz="1800" b="0" dirty="0">
                <a:latin typeface="Calibri"/>
                <a:ea typeface="Calibri"/>
                <a:cs typeface="Calibri"/>
              </a:rPr>
              <a:t> </a:t>
            </a:r>
            <a:r>
              <a:rPr sz="1800" b="0" dirty="0" err="1">
                <a:latin typeface="Calibri"/>
                <a:ea typeface="Calibri"/>
                <a:cs typeface="Calibri"/>
              </a:rPr>
              <a:t>Zeilen</a:t>
            </a:r>
            <a:r>
              <a:rPr sz="1800" b="0" dirty="0">
                <a:latin typeface="Calibri"/>
                <a:ea typeface="Calibri"/>
                <a:cs typeface="Calibri"/>
              </a:rPr>
              <a:t> und </a:t>
            </a:r>
            <a:r>
              <a:rPr sz="1800" b="0" dirty="0" err="1">
                <a:latin typeface="Calibri"/>
                <a:ea typeface="Calibri"/>
                <a:cs typeface="Calibri"/>
              </a:rPr>
              <a:t>Spalten</a:t>
            </a:r>
            <a:r>
              <a:rPr sz="1800" b="0" dirty="0">
                <a:latin typeface="Calibri"/>
                <a:ea typeface="Calibri"/>
                <a:cs typeface="Calibri"/>
              </a:rPr>
              <a:t> </a:t>
            </a:r>
            <a:r>
              <a:rPr sz="1800" b="0" dirty="0" err="1">
                <a:latin typeface="Calibri"/>
                <a:ea typeface="Calibri"/>
                <a:cs typeface="Calibri"/>
              </a:rPr>
              <a:t>entfernen</a:t>
            </a:r>
            <a:r>
              <a:rPr sz="1800" b="0" baseline="0" dirty="0">
                <a:latin typeface="Calibri"/>
                <a:ea typeface="Calibri"/>
                <a:cs typeface="Calibri"/>
              </a:rPr>
              <a:t> [22]</a:t>
            </a:r>
          </a:p>
        </p:txBody>
      </p:sp>
      <p:sp>
        <p:nvSpPr>
          <p:cNvPr id="16" name="Structure separator">
            <a:extLst>
              <a:ext uri="{FF2B5EF4-FFF2-40B4-BE49-F238E27FC236}">
                <a16:creationId xmlns:a16="http://schemas.microsoft.com/office/drawing/2014/main" id="{678B9BB0-4AF9-4831-A7E4-863ABB4672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9476DA44-CF95-49EF-8932-E9B36B7D84F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15D0FA13-A5BD-4F5F-AD93-8EA8B052FFB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4D55B116-6121-4EC8-A45E-88B589D77C0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FDCDC55C-1E36-4161-97EC-1FAA98DED58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A6925EAC-64D4-41A7-9059-B7E3219D60B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2" name="Structure 4">
            <a:extLst>
              <a:ext uri="{FF2B5EF4-FFF2-40B4-BE49-F238E27FC236}">
                <a16:creationId xmlns:a16="http://schemas.microsoft.com/office/drawing/2014/main" id="{8B42BDF7-549B-49F7-B265-F5B81F73351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3" name="Structure 5">
            <a:extLst>
              <a:ext uri="{FF2B5EF4-FFF2-40B4-BE49-F238E27FC236}">
                <a16:creationId xmlns:a16="http://schemas.microsoft.com/office/drawing/2014/main" id="{E7A7030F-9F42-41C5-9412-C5D694F77AE8}"/>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1" name="Grafik 40"/>
          <p:cNvPicPr>
            <a:picLocks noChangeAspect="1"/>
          </p:cNvPicPr>
          <p:nvPr/>
        </p:nvPicPr>
        <p:blipFill>
          <a:blip r:embed="rId3"/>
          <a:stretch/>
        </p:blipFill>
        <p:spPr>
          <a:xfrm>
            <a:off x="1740694" y="1438275"/>
            <a:ext cx="6977063" cy="2790825"/>
          </a:xfrm>
          <a:prstGeom prst="rect">
            <a:avLst/>
          </a:prstGeom>
        </p:spPr>
      </p:pic>
      <p:sp>
        <p:nvSpPr>
          <p:cNvPr id="25" name="v11-text-29-3">
            <a:extLst>
              <a:ext uri="{FF2B5EF4-FFF2-40B4-BE49-F238E27FC236}">
                <a16:creationId xmlns:a16="http://schemas.microsoft.com/office/drawing/2014/main" id="{EE574C88-5078-4416-A032-3230D98E9412}"/>
              </a:ext>
            </a:extLst>
          </p:cNvPr>
          <p:cNvSpPr>
            <a:spLocks noGrp="1"/>
          </p:cNvSpPr>
          <p:nvPr/>
        </p:nvSpPr>
        <p:spPr>
          <a:xfrm>
            <a:off x="552450" y="5657850"/>
            <a:ext cx="9353550" cy="3048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a:latin typeface="Calibri"/>
                <a:ea typeface="Calibri"/>
                <a:cs typeface="Calibri"/>
              </a:rPr>
              <a:t>Export:</a:t>
            </a:r>
            <a:r>
              <a:rPr sz="1800" b="0" dirty="0">
                <a:latin typeface="Calibri"/>
                <a:ea typeface="Calibri"/>
                <a:cs typeface="Calibri"/>
              </a:rPr>
              <a:t> </a:t>
            </a:r>
            <a:r>
              <a:rPr sz="1800" b="0" dirty="0" err="1">
                <a:latin typeface="Calibri"/>
                <a:ea typeface="Calibri"/>
                <a:cs typeface="Calibri"/>
              </a:rPr>
              <a:t>Kleinere</a:t>
            </a:r>
            <a:r>
              <a:rPr sz="1800" b="0" dirty="0">
                <a:latin typeface="Calibri"/>
                <a:ea typeface="Calibri"/>
                <a:cs typeface="Calibri"/>
              </a:rPr>
              <a:t> </a:t>
            </a:r>
            <a:r>
              <a:rPr sz="1800" b="0" dirty="0" err="1">
                <a:latin typeface="Calibri"/>
                <a:ea typeface="Calibri"/>
                <a:cs typeface="Calibri"/>
              </a:rPr>
              <a:t>dichte</a:t>
            </a:r>
            <a:r>
              <a:rPr sz="1800" b="0" dirty="0">
                <a:latin typeface="Calibri"/>
                <a:ea typeface="Calibri"/>
                <a:cs typeface="Calibri"/>
              </a:rPr>
              <a:t> </a:t>
            </a:r>
            <a:r>
              <a:rPr sz="1800" b="0" dirty="0" err="1">
                <a:latin typeface="Calibri"/>
                <a:ea typeface="Calibri"/>
                <a:cs typeface="Calibri"/>
              </a:rPr>
              <a:t>Tensoren</a:t>
            </a:r>
            <a:r>
              <a:rPr sz="1800" b="0" dirty="0">
                <a:latin typeface="Calibri"/>
                <a:ea typeface="Calibri"/>
                <a:cs typeface="Calibri"/>
              </a:rPr>
              <a:t> für den </a:t>
            </a:r>
            <a:r>
              <a:rPr sz="1800" b="0" dirty="0" err="1">
                <a:latin typeface="Calibri"/>
                <a:ea typeface="Calibri"/>
                <a:cs typeface="Calibri"/>
              </a:rPr>
              <a:t>vorhandenen</a:t>
            </a:r>
            <a:r>
              <a:rPr sz="1800" b="0" dirty="0">
                <a:latin typeface="Calibri"/>
                <a:ea typeface="Calibri"/>
                <a:cs typeface="Calibri"/>
              </a:rPr>
              <a:t> FP32-Kernel</a:t>
            </a:r>
          </a:p>
        </p:txBody>
      </p:sp>
      <p:sp>
        <p:nvSpPr>
          <p:cNvPr id="42" name="Footer – Seitennummer">
            <a:extLst>
              <a:ext uri="{FF2B5EF4-FFF2-40B4-BE49-F238E27FC236}">
                <a16:creationId xmlns:a16="http://schemas.microsoft.com/office/drawing/2014/main" id="{ACD9CC6F-478A-4E8B-B393-5BB160FE7D3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31 / 39</a:t>
            </a:r>
          </a:p>
        </p:txBody>
      </p:sp>
      <p:sp>
        <p:nvSpPr>
          <p:cNvPr id="43" name="Footer – Präsentationsangaben">
            <a:extLst>
              <a:ext uri="{FF2B5EF4-FFF2-40B4-BE49-F238E27FC236}">
                <a16:creationId xmlns:a16="http://schemas.microsoft.com/office/drawing/2014/main" id="{328FB302-EFF8-4C33-A6A2-BBA5AF4BFEC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4" name="Quellenverweis 41">
            <a:extLst>
              <a:ext uri="{FF2B5EF4-FFF2-40B4-BE49-F238E27FC236}">
                <a16:creationId xmlns:a16="http://schemas.microsoft.com/office/drawing/2014/main" id="{098A8340-C08C-49BA-B339-F5149D17685A}"/>
              </a:ext>
            </a:extLst>
          </p:cNvPr>
          <p:cNvSpPr>
            <a:spLocks noGrp="1"/>
          </p:cNvSpPr>
          <p:nvPr/>
        </p:nvSpPr>
        <p:spPr>
          <a:xfrm>
            <a:off x="8470285" y="4216400"/>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Tree>
    <p:extLst>
      <p:ext uri="{BB962C8B-B14F-4D97-AF65-F5344CB8AC3E}">
        <p14:creationId xmlns:p14="http://schemas.microsoft.com/office/powerpoint/2010/main" val="5363832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Structured Pruning: Von der Auswahl zum kleineren Modell</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mc:AlternateContent xmlns:mc="http://schemas.openxmlformats.org/markup-compatibility/2006" xmlns:a14="http://schemas.microsoft.com/office/drawing/2010/main">
        <mc:Choice Requires="a14">
          <p:sp>
            <p:nvSpPr>
              <p:cNvPr id="13" name="V5_Text_13">
                <a:extLst>
                  <a:ext uri="{FF2B5EF4-FFF2-40B4-BE49-F238E27FC236}">
                    <a16:creationId xmlns:a16="http://schemas.microsoft.com/office/drawing/2014/main" id="{DE96A364-1391-49F0-9295-872CEC7644D0}"/>
                  </a:ext>
                </a:extLst>
              </p:cNvPr>
              <p:cNvSpPr>
                <a:spLocks noGrp="1"/>
              </p:cNvSpPr>
              <p:nvPr/>
            </p:nvSpPr>
            <p:spPr>
              <a:xfrm>
                <a:off x="3000375" y="1962150"/>
                <a:ext cx="4457700" cy="561975"/>
              </a:xfrm>
              <a:prstGeom prst="rect">
                <a:avLst/>
              </a:prstGeom>
              <a:noFill/>
              <a:ln w="0">
                <a:noFill/>
              </a:ln>
            </p:spPr>
            <p:txBody>
              <a:bodyPr vert="horz" wrap="square" lIns="0" tIns="0" rIns="0" bIns="0" anchor="t">
                <a:noAutofit/>
              </a:bodyPr>
              <a:lstStyle/>
              <a:p>
                <a:pPr algn="ct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𝑠</m:t>
                          </m:r>
                        </m:e>
                        <m:sub>
                          <m:r>
                            <a:rPr sz="1313">
                              <a:latin typeface="Cambria Math"/>
                              <a:ea typeface="Cambria Math"/>
                              <a:cs typeface="Cambria Math"/>
                            </a:rPr>
                            <m:t>ℎ</m:t>
                          </m:r>
                        </m:sub>
                      </m:sSub>
                      <m:r>
                        <a:rPr sz="1875">
                          <a:latin typeface="Cambria Math"/>
                          <a:ea typeface="Cambria Math"/>
                          <a:cs typeface="Cambria Math"/>
                        </a:rPr>
                        <m:t>=</m:t>
                      </m:r>
                      <m:nary>
                        <m:naryPr>
                          <m:chr m:val="∑"/>
                          <m:limLoc m:val="undOvr"/>
                          <m:supHide m:val="on"/>
                          <m:ctrlPr>
                            <a:rPr sz="1313">
                              <a:latin typeface="Cambria Math"/>
                              <a:ea typeface="Cambria Math"/>
                              <a:cs typeface="Cambria Math"/>
                            </a:rPr>
                          </m:ctrlPr>
                        </m:naryPr>
                        <m:sub>
                          <m:r>
                            <a:rPr sz="1313">
                              <a:latin typeface="Cambria Math"/>
                              <a:ea typeface="Cambria Math"/>
                              <a:cs typeface="Cambria Math"/>
                            </a:rPr>
                            <m:t>𝑔</m:t>
                          </m:r>
                          <m:r>
                            <a:rPr sz="1313">
                              <a:latin typeface="Cambria Math"/>
                              <a:ea typeface="Cambria Math"/>
                              <a:cs typeface="Cambria Math"/>
                            </a:rPr>
                            <m:t>∈{</m:t>
                          </m:r>
                          <m:r>
                            <a:rPr sz="1313">
                              <a:latin typeface="Cambria Math"/>
                              <a:ea typeface="Cambria Math"/>
                              <a:cs typeface="Cambria Math"/>
                            </a:rPr>
                            <m:t>𝑖</m:t>
                          </m:r>
                          <m:r>
                            <a:rPr sz="1313">
                              <a:latin typeface="Cambria Math"/>
                              <a:ea typeface="Cambria Math"/>
                              <a:cs typeface="Cambria Math"/>
                            </a:rPr>
                            <m:t>,</m:t>
                          </m:r>
                          <m:r>
                            <a:rPr sz="1313">
                              <a:latin typeface="Cambria Math"/>
                              <a:ea typeface="Cambria Math"/>
                              <a:cs typeface="Cambria Math"/>
                            </a:rPr>
                            <m:t>𝑓</m:t>
                          </m:r>
                          <m:r>
                            <a:rPr sz="1313">
                              <a:latin typeface="Cambria Math"/>
                              <a:ea typeface="Cambria Math"/>
                              <a:cs typeface="Cambria Math"/>
                            </a:rPr>
                            <m:t>,</m:t>
                          </m:r>
                          <m:r>
                            <a:rPr sz="1313">
                              <a:latin typeface="Cambria Math"/>
                              <a:ea typeface="Cambria Math"/>
                              <a:cs typeface="Cambria Math"/>
                            </a:rPr>
                            <m:t>𝑜</m:t>
                          </m:r>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b>
                        <m:sup/>
                        <m:e>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𝑖ℎ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2</m:t>
                              </m:r>
                            </m:sub>
                          </m:sSub>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ℎℎ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2</m:t>
                              </m:r>
                            </m:sub>
                          </m:sSub>
                          <m:r>
                            <a:rPr sz="1875">
                              <a:latin typeface="Cambria Math"/>
                              <a:ea typeface="Cambria Math"/>
                              <a:cs typeface="Cambria Math"/>
                            </a:rPr>
                            <m:t>)</m:t>
                          </m:r>
                        </m:e>
                      </m:nary>
                    </m:oMath>
                  </m:oMathPara>
                </a14:m>
                <a:endParaRPr/>
              </a:p>
            </p:txBody>
          </p:sp>
        </mc:Choice>
        <mc:Fallback xmlns="">
          <p:sp>
            <p:nvSpPr>
              <p:cNvPr id="13" name="V5_Text_13">
                <a:extLst>
                  <a:ext uri="{FF2B5EF4-FFF2-40B4-BE49-F238E27FC236}">
                    <a16:creationId xmlns:a16="http://schemas.microsoft.com/office/drawing/2014/main" id="{DE96A364-1391-49F0-9295-872CEC7644D0}"/>
                  </a:ext>
                </a:extLst>
              </p:cNvPr>
              <p:cNvSpPr>
                <a:spLocks noGrp="1" noRot="1" noChangeAspect="1" noMove="1" noResize="1" noEditPoints="1" noAdjustHandles="1" noChangeArrowheads="1" noChangeShapeType="1" noTextEdit="1"/>
              </p:cNvSpPr>
              <p:nvPr/>
            </p:nvSpPr>
            <p:spPr>
              <a:xfrm>
                <a:off x="3000375" y="1962150"/>
                <a:ext cx="4457700" cy="561975"/>
              </a:xfrm>
              <a:prstGeom prst="rect">
                <a:avLst/>
              </a:prstGeom>
              <a:blipFill>
                <a:blip r:embed="rId3"/>
                <a:stretch>
                  <a:fillRect b="-29348"/>
                </a:stretch>
              </a:blipFill>
              <a:ln w="0">
                <a:noFill/>
              </a:ln>
            </p:spPr>
            <p:txBody>
              <a:bodyPr/>
              <a:lstStyle/>
              <a:p>
                <a:r>
                  <a:rPr lang="de-DE">
                    <a:noFill/>
                  </a:rPr>
                  <a:t> </a:t>
                </a:r>
              </a:p>
            </p:txBody>
          </p:sp>
        </mc:Fallback>
      </mc:AlternateContent>
      <p:sp>
        <p:nvSpPr>
          <p:cNvPr id="16" name="Structure separator">
            <a:extLst>
              <a:ext uri="{FF2B5EF4-FFF2-40B4-BE49-F238E27FC236}">
                <a16:creationId xmlns:a16="http://schemas.microsoft.com/office/drawing/2014/main" id="{678B9BB0-4AF9-4831-A7E4-863ABB4672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9476DA44-CF95-49EF-8932-E9B36B7D84F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15D0FA13-A5BD-4F5F-AD93-8EA8B052FFB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4D55B116-6121-4EC8-A45E-88B589D77C0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FDCDC55C-1E36-4161-97EC-1FAA98DED58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A6925EAC-64D4-41A7-9059-B7E3219D60B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2" name="Structure 4">
            <a:extLst>
              <a:ext uri="{FF2B5EF4-FFF2-40B4-BE49-F238E27FC236}">
                <a16:creationId xmlns:a16="http://schemas.microsoft.com/office/drawing/2014/main" id="{8B42BDF7-549B-49F7-B265-F5B81F73351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3" name="Structure 5">
            <a:extLst>
              <a:ext uri="{FF2B5EF4-FFF2-40B4-BE49-F238E27FC236}">
                <a16:creationId xmlns:a16="http://schemas.microsoft.com/office/drawing/2014/main" id="{E7A7030F-9F42-41C5-9412-C5D694F77AE8}"/>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PN_score">
            <a:extLst>
              <a:ext uri="{FF2B5EF4-FFF2-40B4-BE49-F238E27FC236}">
                <a16:creationId xmlns:a16="http://schemas.microsoft.com/office/drawing/2014/main" id="{9BF8D4BD-41C0-482E-A33A-253FC1DB5E0C}"/>
              </a:ext>
            </a:extLst>
          </p:cNvPr>
          <p:cNvSpPr>
            <a:spLocks noGrp="1"/>
          </p:cNvSpPr>
          <p:nvPr/>
        </p:nvSpPr>
        <p:spPr>
          <a:xfrm>
            <a:off x="552450" y="14097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Score sₕ: </a:t>
            </a:r>
            <a:r>
              <a:rPr sz="1800" b="0">
                <a:solidFill>
                  <a:srgbClr val="444444"/>
                </a:solidFill>
                <a:latin typeface="Calibri"/>
                <a:ea typeface="Calibri"/>
                <a:cs typeface="Calibri"/>
              </a:rPr>
              <a:t>L2-Zeilennormen je Hidden Unit über alle vier Gate-Blöcke</a:t>
            </a:r>
          </a:p>
        </p:txBody>
      </p:sp>
      <p:sp>
        <p:nvSpPr>
          <p:cNvPr id="2001" name="PN_weights">
            <a:extLst>
              <a:ext uri="{FF2B5EF4-FFF2-40B4-BE49-F238E27FC236}">
                <a16:creationId xmlns:a16="http://schemas.microsoft.com/office/drawing/2014/main" id="{B3EA5170-6918-41A7-B394-F32DABE9A7EA}"/>
              </a:ext>
            </a:extLst>
          </p:cNvPr>
          <p:cNvSpPr>
            <a:spLocks noGrp="1"/>
          </p:cNvSpPr>
          <p:nvPr/>
        </p:nvSpPr>
        <p:spPr>
          <a:xfrm>
            <a:off x="552450" y="25908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Wᵢₕ: Input weights, Wₕₕ: Recurrent weights</a:t>
            </a:r>
          </a:p>
        </p:txBody>
      </p:sp>
      <p:pic>
        <p:nvPicPr>
          <p:cNvPr id="2002" name="PN_structured_diagram" descr="Structured-Pruning-Ausschnitt aus Folie 36 mit I_out und I_in"/>
          <p:cNvPicPr>
            <a:picLocks noChangeAspect="1"/>
          </p:cNvPicPr>
          <p:nvPr/>
        </p:nvPicPr>
        <p:blipFill>
          <a:blip r:embed="rId4"/>
          <a:srcRect l="66667" b="36111"/>
          <a:stretch>
            <a:fillRect/>
          </a:stretch>
        </p:blipFill>
        <p:spPr>
          <a:xfrm>
            <a:off x="552450" y="2924175"/>
            <a:ext cx="3381375" cy="2592388"/>
          </a:xfrm>
          <a:prstGeom prst="rect">
            <a:avLst/>
          </a:prstGeom>
        </p:spPr>
      </p:pic>
      <p:sp>
        <p:nvSpPr>
          <p:cNvPr id="2003" name="PN_outputs">
            <a:extLst>
              <a:ext uri="{FF2B5EF4-FFF2-40B4-BE49-F238E27FC236}">
                <a16:creationId xmlns:a16="http://schemas.microsoft.com/office/drawing/2014/main" id="{4CD844DF-371F-4BC6-AFC6-FA1236D6386E}"/>
              </a:ext>
            </a:extLst>
          </p:cNvPr>
          <p:cNvSpPr>
            <a:spLocks noGrp="1"/>
          </p:cNvSpPr>
          <p:nvPr/>
        </p:nvSpPr>
        <p:spPr>
          <a:xfrm>
            <a:off x="4333875" y="3048000"/>
            <a:ext cx="5610225" cy="7810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Auswahl Iₒᵤₜ: </a:t>
            </a:r>
            <a:r>
              <a:rPr sz="1800" b="0">
                <a:solidFill>
                  <a:srgbClr val="444444"/>
                </a:solidFill>
                <a:latin typeface="Calibri"/>
                <a:ea typeface="Calibri"/>
                <a:cs typeface="Calibri"/>
              </a:rPr>
              <a:t>Verbleibende Ausgangszeilen der LSTM-Gates nach Score-Ranking</a:t>
            </a:r>
          </a:p>
        </p:txBody>
      </p:sp>
      <p:sp>
        <p:nvSpPr>
          <p:cNvPr id="2004" name="PN_inputs">
            <a:extLst>
              <a:ext uri="{FF2B5EF4-FFF2-40B4-BE49-F238E27FC236}">
                <a16:creationId xmlns:a16="http://schemas.microsoft.com/office/drawing/2014/main" id="{6FEE6202-6860-4EB4-92E3-0C3D9DD2E42E}"/>
              </a:ext>
            </a:extLst>
          </p:cNvPr>
          <p:cNvSpPr>
            <a:spLocks noGrp="1"/>
          </p:cNvSpPr>
          <p:nvPr/>
        </p:nvSpPr>
        <p:spPr>
          <a:xfrm>
            <a:off x="4333875" y="3895725"/>
            <a:ext cx="5610225" cy="5905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Kopplung Iᵢₙ: </a:t>
            </a:r>
            <a:r>
              <a:rPr sz="1800" b="0">
                <a:solidFill>
                  <a:srgbClr val="444444"/>
                </a:solidFill>
                <a:latin typeface="Calibri"/>
                <a:ea typeface="Calibri"/>
                <a:cs typeface="Calibri"/>
              </a:rPr>
              <a:t>Dieselben Hidden Units als Eingangsspalten des MLP-Heads</a:t>
            </a:r>
          </a:p>
        </p:txBody>
      </p:sp>
      <p:sp>
        <p:nvSpPr>
          <p:cNvPr id="2005" name="PN_lstm">
            <a:extLst>
              <a:ext uri="{FF2B5EF4-FFF2-40B4-BE49-F238E27FC236}">
                <a16:creationId xmlns:a16="http://schemas.microsoft.com/office/drawing/2014/main" id="{270E4DB0-F1EA-44D2-A14F-83FD7BEDB7C3}"/>
              </a:ext>
            </a:extLst>
          </p:cNvPr>
          <p:cNvSpPr>
            <a:spLocks noGrp="1"/>
          </p:cNvSpPr>
          <p:nvPr/>
        </p:nvSpPr>
        <p:spPr>
          <a:xfrm>
            <a:off x="4333875" y="4676775"/>
            <a:ext cx="5610225" cy="87630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LSTM-Konsistenz: </a:t>
            </a:r>
            <a:r>
              <a:rPr sz="1800" b="0">
                <a:solidFill>
                  <a:srgbClr val="444444"/>
                </a:solidFill>
                <a:latin typeface="Calibri"/>
                <a:ea typeface="Calibri"/>
                <a:cs typeface="Calibri"/>
              </a:rPr>
              <a:t>Gleiche Kürzung aller Gates, rekurrenten Zeilen und Spalten sowie Bias und Zustände</a:t>
            </a:r>
          </a:p>
        </p:txBody>
      </p:sp>
      <p:sp>
        <p:nvSpPr>
          <p:cNvPr id="2006" name="PN_takeaway">
            <a:extLst>
              <a:ext uri="{FF2B5EF4-FFF2-40B4-BE49-F238E27FC236}">
                <a16:creationId xmlns:a16="http://schemas.microsoft.com/office/drawing/2014/main" id="{DDF024F3-36D3-417C-845B-3758B8D440FA}"/>
              </a:ext>
            </a:extLst>
          </p:cNvPr>
          <p:cNvSpPr>
            <a:spLocks noGrp="1"/>
          </p:cNvSpPr>
          <p:nvPr/>
        </p:nvSpPr>
        <p:spPr>
          <a:xfrm>
            <a:off x="552450" y="5657850"/>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Umsetzung</a:t>
            </a:r>
            <a:r>
              <a:rPr sz="1800" b="1" dirty="0">
                <a:solidFill>
                  <a:srgbClr val="D00020"/>
                </a:solidFill>
                <a:latin typeface="Calibri"/>
                <a:ea typeface="Calibri"/>
                <a:cs typeface="Calibri"/>
              </a:rPr>
              <a:t>: SOC 64 auf 45, SOH 128 auf 90 Hidden Units, </a:t>
            </a:r>
            <a:r>
              <a:rPr sz="1800" b="1" dirty="0" err="1">
                <a:solidFill>
                  <a:srgbClr val="D00020"/>
                </a:solidFill>
                <a:latin typeface="Calibri"/>
                <a:ea typeface="Calibri"/>
                <a:cs typeface="Calibri"/>
              </a:rPr>
              <a:t>danach</a:t>
            </a:r>
            <a:r>
              <a:rPr sz="1800" b="1" dirty="0">
                <a:solidFill>
                  <a:srgbClr val="D00020"/>
                </a:solidFill>
                <a:latin typeface="Calibri"/>
                <a:ea typeface="Calibri"/>
                <a:cs typeface="Calibri"/>
              </a:rPr>
              <a:t> Fine-Tuning</a:t>
            </a:r>
          </a:p>
        </p:txBody>
      </p:sp>
      <p:sp>
        <p:nvSpPr>
          <p:cNvPr id="2007" name="Footer – Seitennummer">
            <a:extLst>
              <a:ext uri="{FF2B5EF4-FFF2-40B4-BE49-F238E27FC236}">
                <a16:creationId xmlns:a16="http://schemas.microsoft.com/office/drawing/2014/main" id="{AAC058CD-8CD4-43E2-AA96-18B9186E7ED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32 / 39</a:t>
            </a:r>
          </a:p>
        </p:txBody>
      </p:sp>
      <p:sp>
        <p:nvSpPr>
          <p:cNvPr id="2008" name="Footer – Präsentationsangaben">
            <a:extLst>
              <a:ext uri="{FF2B5EF4-FFF2-40B4-BE49-F238E27FC236}">
                <a16:creationId xmlns:a16="http://schemas.microsoft.com/office/drawing/2014/main" id="{BF00BE86-F9CF-42FC-BB74-1E4A28FD933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2005">
            <a:extLst>
              <a:ext uri="{FF2B5EF4-FFF2-40B4-BE49-F238E27FC236}">
                <a16:creationId xmlns:a16="http://schemas.microsoft.com/office/drawing/2014/main" id="{7F8158D3-00CA-4A9D-844E-375481322629}"/>
              </a:ext>
            </a:extLst>
          </p:cNvPr>
          <p:cNvSpPr>
            <a:spLocks noGrp="1"/>
          </p:cNvSpPr>
          <p:nvPr/>
        </p:nvSpPr>
        <p:spPr>
          <a:xfrm>
            <a:off x="8427049" y="4950714"/>
            <a:ext cx="928762"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[22], [23]</a:t>
            </a:r>
          </a:p>
        </p:txBody>
      </p:sp>
    </p:spTree>
    <p:extLst>
      <p:ext uri="{BB962C8B-B14F-4D97-AF65-F5344CB8AC3E}">
        <p14:creationId xmlns:p14="http://schemas.microsoft.com/office/powerpoint/2010/main" val="53638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Quantization: Weight-only INT8</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9" name="Structure separator">
            <a:extLst>
              <a:ext uri="{FF2B5EF4-FFF2-40B4-BE49-F238E27FC236}">
                <a16:creationId xmlns:a16="http://schemas.microsoft.com/office/drawing/2014/main" id="{AC05FEF0-AD91-4950-BD4B-D9327853ECD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1E889B11-A1C1-4C7D-815D-1DB8A218F460}"/>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84957F3F-2697-40B7-B860-C3AFFA1D691A}"/>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3240DF18-9C50-4A73-811B-57B7FEBAB81B}"/>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0042EE4-B0BD-476A-8B1A-825C3C3D17F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8C76ADAE-B66F-4F76-B94B-210C5234D22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17E665DD-65E5-43A9-A77E-8260E38303B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484EF86D-8555-4159-A8BF-94AAC5BB4A3B}"/>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8" name="QR_quantization_grids" descr="Vergrößerter Rasterteil aus Abbildung 3.7: signed symmetric INT8, unsigned zero-anchored UINT8 und asymmetric UINT8"/>
          <p:cNvPicPr>
            <a:picLocks noChangeAspect="1"/>
          </p:cNvPicPr>
          <p:nvPr/>
        </p:nvPicPr>
        <p:blipFill>
          <a:blip r:embed="rId3"/>
          <a:srcRect l="51389" t="10000" r="1111" b="9222"/>
          <a:stretch/>
        </p:blipFill>
        <p:spPr>
          <a:xfrm>
            <a:off x="5143500" y="1485900"/>
            <a:ext cx="4800600" cy="4081914"/>
          </a:xfrm>
          <a:prstGeom prst="rect">
            <a:avLst/>
          </a:prstGeom>
        </p:spPr>
      </p:pic>
      <p:sp>
        <p:nvSpPr>
          <p:cNvPr id="3000" name="QR_matrix">
            <a:extLst>
              <a:ext uri="{FF2B5EF4-FFF2-40B4-BE49-F238E27FC236}">
                <a16:creationId xmlns:a16="http://schemas.microsoft.com/office/drawing/2014/main" id="{7CFFA735-2EF2-4433-AF80-9F717383E673}"/>
              </a:ext>
            </a:extLst>
          </p:cNvPr>
          <p:cNvSpPr>
            <a:spLocks noGrp="1"/>
          </p:cNvSpPr>
          <p:nvPr/>
        </p:nvSpPr>
        <p:spPr>
          <a:xfrm>
            <a:off x="552450" y="1428750"/>
            <a:ext cx="4238625" cy="285750"/>
          </a:xfrm>
          <a:prstGeom prst="rect">
            <a:avLst/>
          </a:prstGeom>
          <a:noFill/>
          <a:ln w="0">
            <a:noFill/>
          </a:ln>
        </p:spPr>
        <p:txBody>
          <a:bodyPr lIns="0" tIns="0" rIns="0" bIns="0" anchor="t">
            <a:noAutofit/>
          </a:bodyPr>
          <a:lstStyle/>
          <a:p>
            <a:pPr algn="l">
              <a:buNone/>
              <a:defRPr sz="1800" b="0">
                <a:solidFill>
                  <a:srgbClr val="666666"/>
                </a:solidFill>
                <a:latin typeface="Calibri"/>
                <a:ea typeface="Calibri"/>
                <a:cs typeface="Calibri"/>
              </a:defRPr>
            </a:pPr>
            <a:r>
              <a:rPr sz="1800" b="0">
                <a:solidFill>
                  <a:srgbClr val="666666"/>
                </a:solidFill>
                <a:latin typeface="Calibri"/>
                <a:ea typeface="Calibri"/>
                <a:cs typeface="Calibri"/>
              </a:rPr>
              <a:t>W: Wᵢₕ oder Wₕₕ</a:t>
            </a:r>
          </a:p>
        </p:txBody>
      </p:sp>
      <p:sp>
        <p:nvSpPr>
          <p:cNvPr id="3001" name="QR_indices">
            <a:extLst>
              <a:ext uri="{FF2B5EF4-FFF2-40B4-BE49-F238E27FC236}">
                <a16:creationId xmlns:a16="http://schemas.microsoft.com/office/drawing/2014/main" id="{08306282-E7FA-41C3-9381-60E18CE31B39}"/>
              </a:ext>
            </a:extLst>
          </p:cNvPr>
          <p:cNvSpPr>
            <a:spLocks noGrp="1"/>
          </p:cNvSpPr>
          <p:nvPr/>
        </p:nvSpPr>
        <p:spPr>
          <a:xfrm>
            <a:off x="552450" y="1714500"/>
            <a:ext cx="4238625" cy="285750"/>
          </a:xfrm>
          <a:prstGeom prst="rect">
            <a:avLst/>
          </a:prstGeom>
          <a:noFill/>
          <a:ln w="0">
            <a:noFill/>
          </a:ln>
        </p:spPr>
        <p:txBody>
          <a:bodyPr lIns="0" tIns="0" rIns="0" bIns="0" anchor="t">
            <a:noAutofit/>
          </a:bodyPr>
          <a:lstStyle/>
          <a:p>
            <a:pPr algn="l">
              <a:buNone/>
              <a:defRPr sz="1800" b="0">
                <a:solidFill>
                  <a:srgbClr val="666666"/>
                </a:solidFill>
                <a:latin typeface="Calibri"/>
                <a:ea typeface="Calibri"/>
                <a:cs typeface="Calibri"/>
              </a:defRPr>
            </a:pPr>
            <a:r>
              <a:rPr sz="1800" b="0">
                <a:solidFill>
                  <a:srgbClr val="666666"/>
                </a:solidFill>
                <a:latin typeface="Calibri"/>
                <a:ea typeface="Calibri"/>
                <a:cs typeface="Calibri"/>
              </a:rPr>
              <a:t>r: row, k: column</a:t>
            </a:r>
          </a:p>
        </p:txBody>
      </p:sp>
      <p:sp>
        <p:nvSpPr>
          <p:cNvPr id="3002" name="QR_scale_label">
            <a:extLst>
              <a:ext uri="{FF2B5EF4-FFF2-40B4-BE49-F238E27FC236}">
                <a16:creationId xmlns:a16="http://schemas.microsoft.com/office/drawing/2014/main" id="{9B3CA7E8-4945-4C9C-A96B-50C045342B9F}"/>
              </a:ext>
            </a:extLst>
          </p:cNvPr>
          <p:cNvSpPr>
            <a:spLocks noGrp="1"/>
          </p:cNvSpPr>
          <p:nvPr/>
        </p:nvSpPr>
        <p:spPr>
          <a:xfrm>
            <a:off x="552450" y="2181225"/>
            <a:ext cx="4238625"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Quantization zur Speicherung</a:t>
            </a:r>
          </a:p>
        </p:txBody>
      </p:sp>
      <mc:AlternateContent xmlns:mc="http://schemas.openxmlformats.org/markup-compatibility/2006" xmlns:a14="http://schemas.microsoft.com/office/drawing/2010/main">
        <mc:Choice Requires="a14">
          <p:sp>
            <p:nvSpPr>
              <p:cNvPr id="3003" name="QR_scale">
                <a:extLst>
                  <a:ext uri="{FF2B5EF4-FFF2-40B4-BE49-F238E27FC236}">
                    <a16:creationId xmlns:a16="http://schemas.microsoft.com/office/drawing/2014/main" id="{4DB1B3E3-B2C2-474D-8FD8-2B73B7319730}"/>
                  </a:ext>
                </a:extLst>
              </p:cNvPr>
              <p:cNvSpPr>
                <a:spLocks noGrp="1"/>
              </p:cNvSpPr>
              <p:nvPr/>
            </p:nvSpPr>
            <p:spPr>
              <a:xfrm>
                <a:off x="552450" y="2562225"/>
                <a:ext cx="4238625" cy="504825"/>
              </a:xfrm>
              <a:prstGeom prst="rect">
                <a:avLst/>
              </a:prstGeom>
              <a:noFill/>
              <a:ln w="0">
                <a:noFill/>
              </a:ln>
            </p:spPr>
            <p:txBody>
              <a:bodyPr lIns="0" tIns="0" rIns="0" bIns="0" anchor="t">
                <a:noAutofit/>
              </a:bodyPr>
              <a:lstStyle/>
              <a:p>
                <a:pPr algn="ctr">
                  <a:buNone/>
                  <a:defRPr sz="1800" b="0">
                    <a:solidFill>
                      <a:srgbClr val="444444"/>
                    </a:solidFill>
                    <a:latin typeface="Calibri"/>
                    <a:ea typeface="Calibri"/>
                    <a:cs typeface="Calibri"/>
                  </a:defRPr>
                </a:pPr>
                <a14:m>
                  <m:oMathPara xmlns:m="http://schemas.openxmlformats.org/officeDocument/2006/math">
                    <m:oMath>
                      <m:sSub>
                        <m:sSubPr>
                          <m:ctrlPr>
                            <a:rPr sz="1800">
                              <a:latin typeface="Cambria Math"/>
                              <a:ea typeface="Cambria Math"/>
                              <a:cs typeface="Cambria Math"/>
                            </a:rPr>
                          </m:ctrlPr>
                        </m:sSubPr>
                        <m:e>
                          <m:r>
                            <a:rPr sz="1800">
                              <a:latin typeface="Cambria Math"/>
                              <a:ea typeface="Cambria Math"/>
                              <a:cs typeface="Cambria Math"/>
                            </a:rPr>
                            <m:t>𝑠</m:t>
                          </m:r>
                        </m:e>
                        <m:sub>
                          <m:r>
                            <a:rPr sz="1260">
                              <a:latin typeface="Cambria Math"/>
                              <a:ea typeface="Cambria Math"/>
                              <a:cs typeface="Cambria Math"/>
                            </a:rPr>
                            <m:t>𝑟</m:t>
                          </m:r>
                        </m:sub>
                      </m:sSub>
                      <m:r>
                        <a:rPr sz="1800">
                          <a:latin typeface="Cambria Math"/>
                          <a:ea typeface="Cambria Math"/>
                          <a:cs typeface="Cambria Math"/>
                        </a:rPr>
                        <m:t>=</m:t>
                      </m:r>
                      <m:r>
                        <a:rPr sz="1800">
                          <a:latin typeface="Cambria Math"/>
                          <a:ea typeface="Cambria Math"/>
                          <a:cs typeface="Cambria Math"/>
                        </a:rPr>
                        <m:t>𝑚𝑎𝑥</m:t>
                      </m:r>
                      <m:r>
                        <a:rPr sz="1800">
                          <a:latin typeface="Cambria Math"/>
                          <a:ea typeface="Cambria Math"/>
                          <a:cs typeface="Cambria Math"/>
                        </a:rPr>
                        <m:t>(</m:t>
                      </m:r>
                      <m:f>
                        <m:fPr>
                          <m:ctrlPr>
                            <a:rPr sz="1800" i="1">
                              <a:latin typeface="Cambria Math"/>
                              <a:ea typeface="Cambria Math"/>
                              <a:cs typeface="Cambria Math"/>
                            </a:rPr>
                          </m:ctrlPr>
                        </m:fPr>
                        <m:num>
                          <m:sSub>
                            <m:sSubPr>
                              <m:ctrlPr>
                                <a:rPr sz="1800">
                                  <a:latin typeface="Cambria Math"/>
                                  <a:ea typeface="Cambria Math"/>
                                  <a:cs typeface="Cambria Math"/>
                                </a:rPr>
                              </m:ctrlPr>
                            </m:sSubPr>
                            <m:e>
                              <m:r>
                                <a:rPr sz="1800">
                                  <a:latin typeface="Cambria Math"/>
                                  <a:ea typeface="Cambria Math"/>
                                  <a:cs typeface="Cambria Math"/>
                                </a:rPr>
                                <m:t>𝑚𝑎𝑥</m:t>
                              </m:r>
                            </m:e>
                            <m:sub>
                              <m:r>
                                <a:rPr sz="1260">
                                  <a:latin typeface="Cambria Math"/>
                                  <a:ea typeface="Cambria Math"/>
                                  <a:cs typeface="Cambria Math"/>
                                </a:rPr>
                                <m:t>𝑘</m:t>
                              </m:r>
                            </m:sub>
                          </m:sSub>
                          <m:r>
                            <a:rPr sz="1800">
                              <a:latin typeface="Cambria Math"/>
                              <a:ea typeface="Cambria Math"/>
                              <a:cs typeface="Cambria Math"/>
                            </a:rPr>
                            <m:t>|</m:t>
                          </m:r>
                          <m:sSub>
                            <m:sSubPr>
                              <m:ctrlPr>
                                <a:rPr sz="1800">
                                  <a:latin typeface="Cambria Math"/>
                                  <a:ea typeface="Cambria Math"/>
                                  <a:cs typeface="Cambria Math"/>
                                </a:rPr>
                              </m:ctrlPr>
                            </m:sSubPr>
                            <m:e>
                              <m:r>
                                <a:rPr sz="1800">
                                  <a:latin typeface="Cambria Math"/>
                                  <a:ea typeface="Cambria Math"/>
                                  <a:cs typeface="Cambria Math"/>
                                </a:rPr>
                                <m:t>𝑊</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r>
                            <a:rPr sz="1800">
                              <a:latin typeface="Cambria Math"/>
                              <a:ea typeface="Cambria Math"/>
                              <a:cs typeface="Cambria Math"/>
                            </a:rPr>
                            <m:t>|</m:t>
                          </m:r>
                        </m:num>
                        <m:den>
                          <m:r>
                            <a:rPr sz="1800">
                              <a:latin typeface="Cambria Math"/>
                              <a:ea typeface="Cambria Math"/>
                              <a:cs typeface="Cambria Math"/>
                            </a:rPr>
                            <m:t>127</m:t>
                          </m:r>
                        </m:den>
                      </m:f>
                      <m:r>
                        <a:rPr sz="1800">
                          <a:latin typeface="Cambria Math"/>
                          <a:ea typeface="Cambria Math"/>
                          <a:cs typeface="Cambria Math"/>
                        </a:rPr>
                        <m:t>,</m:t>
                      </m:r>
                      <m:sSub>
                        <m:sSubPr>
                          <m:ctrlPr>
                            <a:rPr sz="1800">
                              <a:latin typeface="Cambria Math"/>
                              <a:ea typeface="Cambria Math"/>
                              <a:cs typeface="Cambria Math"/>
                            </a:rPr>
                          </m:ctrlPr>
                        </m:sSubPr>
                        <m:e>
                          <m:r>
                            <a:rPr sz="1800">
                              <a:latin typeface="Cambria Math"/>
                              <a:ea typeface="Cambria Math"/>
                              <a:cs typeface="Cambria Math"/>
                            </a:rPr>
                            <m:t>𝜀</m:t>
                          </m:r>
                        </m:e>
                        <m:sub>
                          <m:r>
                            <a:rPr sz="1260">
                              <a:latin typeface="Cambria Math"/>
                              <a:ea typeface="Cambria Math"/>
                              <a:cs typeface="Cambria Math"/>
                            </a:rPr>
                            <m:t>𝑞</m:t>
                          </m:r>
                        </m:sub>
                      </m:sSub>
                      <m:r>
                        <a:rPr sz="1800">
                          <a:latin typeface="Cambria Math"/>
                          <a:ea typeface="Cambria Math"/>
                          <a:cs typeface="Cambria Math"/>
                        </a:rPr>
                        <m:t>)</m:t>
                      </m:r>
                    </m:oMath>
                  </m:oMathPara>
                </a14:m>
                <a:endParaRPr/>
              </a:p>
            </p:txBody>
          </p:sp>
        </mc:Choice>
        <mc:Fallback xmlns="">
          <p:sp>
            <p:nvSpPr>
              <p:cNvPr id="3003" name="QR_scale">
                <a:extLst>
                  <a:ext uri="{FF2B5EF4-FFF2-40B4-BE49-F238E27FC236}">
                    <a16:creationId xmlns:a16="http://schemas.microsoft.com/office/drawing/2014/main" id="{4DB1B3E3-B2C2-474D-8FD8-2B73B7319730}"/>
                  </a:ext>
                </a:extLst>
              </p:cNvPr>
              <p:cNvSpPr>
                <a:spLocks noGrp="1" noRot="1" noChangeAspect="1" noMove="1" noResize="1" noEditPoints="1" noAdjustHandles="1" noChangeArrowheads="1" noChangeShapeType="1" noTextEdit="1"/>
              </p:cNvSpPr>
              <p:nvPr/>
            </p:nvSpPr>
            <p:spPr>
              <a:xfrm>
                <a:off x="552450" y="2562225"/>
                <a:ext cx="4238625" cy="504825"/>
              </a:xfrm>
              <a:prstGeom prst="rect">
                <a:avLst/>
              </a:prstGeom>
              <a:blipFill>
                <a:blip r:embed="rId4"/>
                <a:stretch>
                  <a:fillRect b="-3614"/>
                </a:stretch>
              </a:blipFill>
              <a:ln w="0">
                <a:noFill/>
              </a:ln>
            </p:spPr>
            <p:txBody>
              <a:bodyPr/>
              <a:lstStyle/>
              <a:p>
                <a:r>
                  <a:rPr lang="de-DE">
                    <a:noFill/>
                  </a:rPr>
                  <a:t> </a:t>
                </a:r>
              </a:p>
            </p:txBody>
          </p:sp>
        </mc:Fallback>
      </mc:AlternateContent>
      <p:sp>
        <p:nvSpPr>
          <p:cNvPr id="3005" name="QR_code_label">
            <a:extLst>
              <a:ext uri="{FF2B5EF4-FFF2-40B4-BE49-F238E27FC236}">
                <a16:creationId xmlns:a16="http://schemas.microsoft.com/office/drawing/2014/main" id="{75CE4E35-A5DE-4A94-8910-D8C9BBBB2BC9}"/>
              </a:ext>
            </a:extLst>
          </p:cNvPr>
          <p:cNvSpPr>
            <a:spLocks noGrp="1"/>
          </p:cNvSpPr>
          <p:nvPr/>
        </p:nvSpPr>
        <p:spPr>
          <a:xfrm>
            <a:off x="552450" y="3771900"/>
            <a:ext cx="4238625"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Speicherung: q als INT8, s als FP32</a:t>
            </a:r>
          </a:p>
        </p:txBody>
      </p:sp>
      <mc:AlternateContent xmlns:mc="http://schemas.openxmlformats.org/markup-compatibility/2006" xmlns:a14="http://schemas.microsoft.com/office/drawing/2010/main">
        <mc:Choice Requires="a14">
          <p:sp>
            <p:nvSpPr>
              <p:cNvPr id="3006" name="QR_code">
                <a:extLst>
                  <a:ext uri="{FF2B5EF4-FFF2-40B4-BE49-F238E27FC236}">
                    <a16:creationId xmlns:a16="http://schemas.microsoft.com/office/drawing/2014/main" id="{3A1F1D40-00F6-4560-9145-823638CE6845}"/>
                  </a:ext>
                </a:extLst>
              </p:cNvPr>
              <p:cNvSpPr>
                <a:spLocks noGrp="1"/>
              </p:cNvSpPr>
              <p:nvPr/>
            </p:nvSpPr>
            <p:spPr>
              <a:xfrm>
                <a:off x="552450" y="3152775"/>
                <a:ext cx="4238625" cy="504825"/>
              </a:xfrm>
              <a:prstGeom prst="rect">
                <a:avLst/>
              </a:prstGeom>
              <a:noFill/>
              <a:ln w="0">
                <a:noFill/>
              </a:ln>
            </p:spPr>
            <p:txBody>
              <a:bodyPr lIns="0" tIns="0" rIns="0" bIns="0" anchor="t">
                <a:noAutofit/>
              </a:bodyPr>
              <a:lstStyle/>
              <a:p>
                <a:pPr algn="ctr">
                  <a:buNone/>
                  <a:defRPr sz="1800" b="0">
                    <a:solidFill>
                      <a:srgbClr val="444444"/>
                    </a:solidFill>
                    <a:latin typeface="Calibri"/>
                    <a:ea typeface="Calibri"/>
                    <a:cs typeface="Calibri"/>
                  </a:defRPr>
                </a:pPr>
                <a14:m>
                  <m:oMathPara xmlns:m="http://schemas.openxmlformats.org/officeDocument/2006/math">
                    <m:oMath>
                      <m:sSub>
                        <m:sSubPr>
                          <m:ctrlPr>
                            <a:rPr sz="1800">
                              <a:latin typeface="Cambria Math"/>
                              <a:ea typeface="Cambria Math"/>
                              <a:cs typeface="Cambria Math"/>
                            </a:rPr>
                          </m:ctrlPr>
                        </m:sSubPr>
                        <m:e>
                          <m:r>
                            <a:rPr sz="1800">
                              <a:latin typeface="Cambria Math"/>
                              <a:ea typeface="Cambria Math"/>
                              <a:cs typeface="Cambria Math"/>
                            </a:rPr>
                            <m:t>𝑞</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r>
                        <a:rPr sz="1800">
                          <a:latin typeface="Cambria Math"/>
                          <a:ea typeface="Cambria Math"/>
                          <a:cs typeface="Cambria Math"/>
                        </a:rPr>
                        <m:t>=</m:t>
                      </m:r>
                      <m:r>
                        <a:rPr sz="1800">
                          <a:latin typeface="Cambria Math"/>
                          <a:ea typeface="Cambria Math"/>
                          <a:cs typeface="Cambria Math"/>
                        </a:rPr>
                        <m:t>𝑐𝑙𝑖𝑝</m:t>
                      </m:r>
                      <m:r>
                        <a:rPr sz="1800">
                          <a:latin typeface="Cambria Math"/>
                          <a:ea typeface="Cambria Math"/>
                          <a:cs typeface="Cambria Math"/>
                        </a:rPr>
                        <m:t>(</m:t>
                      </m:r>
                      <m:r>
                        <a:rPr sz="1800">
                          <a:latin typeface="Cambria Math"/>
                          <a:ea typeface="Cambria Math"/>
                          <a:cs typeface="Cambria Math"/>
                        </a:rPr>
                        <m:t>𝑟𝑜𝑢𝑛𝑑</m:t>
                      </m:r>
                      <m:r>
                        <a:rPr sz="1800">
                          <a:latin typeface="Cambria Math"/>
                          <a:ea typeface="Cambria Math"/>
                          <a:cs typeface="Cambria Math"/>
                        </a:rPr>
                        <m:t>(</m:t>
                      </m:r>
                      <m:f>
                        <m:fPr>
                          <m:ctrlPr>
                            <a:rPr sz="1800" i="1">
                              <a:latin typeface="Cambria Math"/>
                              <a:ea typeface="Cambria Math"/>
                              <a:cs typeface="Cambria Math"/>
                            </a:rPr>
                          </m:ctrlPr>
                        </m:fPr>
                        <m:num>
                          <m:sSub>
                            <m:sSubPr>
                              <m:ctrlPr>
                                <a:rPr sz="1800">
                                  <a:latin typeface="Cambria Math"/>
                                  <a:ea typeface="Cambria Math"/>
                                  <a:cs typeface="Cambria Math"/>
                                </a:rPr>
                              </m:ctrlPr>
                            </m:sSubPr>
                            <m:e>
                              <m:r>
                                <a:rPr sz="1800">
                                  <a:latin typeface="Cambria Math"/>
                                  <a:ea typeface="Cambria Math"/>
                                  <a:cs typeface="Cambria Math"/>
                                </a:rPr>
                                <m:t>𝑊</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num>
                        <m:den>
                          <m:sSub>
                            <m:sSubPr>
                              <m:ctrlPr>
                                <a:rPr sz="1800">
                                  <a:latin typeface="Cambria Math"/>
                                  <a:ea typeface="Cambria Math"/>
                                  <a:cs typeface="Cambria Math"/>
                                </a:rPr>
                              </m:ctrlPr>
                            </m:sSubPr>
                            <m:e>
                              <m:r>
                                <a:rPr sz="1800">
                                  <a:latin typeface="Cambria Math"/>
                                  <a:ea typeface="Cambria Math"/>
                                  <a:cs typeface="Cambria Math"/>
                                </a:rPr>
                                <m:t>𝑠</m:t>
                              </m:r>
                            </m:e>
                            <m:sub>
                              <m:r>
                                <a:rPr sz="1260">
                                  <a:latin typeface="Cambria Math"/>
                                  <a:ea typeface="Cambria Math"/>
                                  <a:cs typeface="Cambria Math"/>
                                </a:rPr>
                                <m:t>𝑟</m:t>
                              </m:r>
                            </m:sub>
                          </m:sSub>
                        </m:den>
                      </m:f>
                      <m:r>
                        <a:rPr sz="1800">
                          <a:latin typeface="Cambria Math"/>
                          <a:ea typeface="Cambria Math"/>
                          <a:cs typeface="Cambria Math"/>
                        </a:rPr>
                        <m:t>),−127,127)</m:t>
                      </m:r>
                    </m:oMath>
                  </m:oMathPara>
                </a14:m>
                <a:endParaRPr/>
              </a:p>
            </p:txBody>
          </p:sp>
        </mc:Choice>
        <mc:Fallback xmlns="">
          <p:sp>
            <p:nvSpPr>
              <p:cNvPr id="3006" name="QR_code">
                <a:extLst>
                  <a:ext uri="{FF2B5EF4-FFF2-40B4-BE49-F238E27FC236}">
                    <a16:creationId xmlns:a16="http://schemas.microsoft.com/office/drawing/2014/main" id="{3A1F1D40-00F6-4560-9145-823638CE6845}"/>
                  </a:ext>
                </a:extLst>
              </p:cNvPr>
              <p:cNvSpPr>
                <a:spLocks noGrp="1" noRot="1" noChangeAspect="1" noMove="1" noResize="1" noEditPoints="1" noAdjustHandles="1" noChangeArrowheads="1" noChangeShapeType="1" noTextEdit="1"/>
              </p:cNvSpPr>
              <p:nvPr/>
            </p:nvSpPr>
            <p:spPr>
              <a:xfrm>
                <a:off x="552450" y="3152775"/>
                <a:ext cx="4238625" cy="504825"/>
              </a:xfrm>
              <a:prstGeom prst="rect">
                <a:avLst/>
              </a:prstGeom>
              <a:blipFill>
                <a:blip r:embed="rId5"/>
                <a:stretch>
                  <a:fillRect b="-12048"/>
                </a:stretch>
              </a:blipFill>
              <a:ln w="0">
                <a:noFill/>
              </a:ln>
            </p:spPr>
            <p:txBody>
              <a:bodyPr/>
              <a:lstStyle/>
              <a:p>
                <a:r>
                  <a:rPr lang="de-DE">
                    <a:noFill/>
                  </a:rPr>
                  <a:t> </a:t>
                </a:r>
              </a:p>
            </p:txBody>
          </p:sp>
        </mc:Fallback>
      </mc:AlternateContent>
      <p:sp>
        <p:nvSpPr>
          <p:cNvPr id="3007" name="QR_reconstruction_label">
            <a:extLst>
              <a:ext uri="{FF2B5EF4-FFF2-40B4-BE49-F238E27FC236}">
                <a16:creationId xmlns:a16="http://schemas.microsoft.com/office/drawing/2014/main" id="{0B7E4458-81C7-4DAA-A3CD-EE2D45404F9C}"/>
              </a:ext>
            </a:extLst>
          </p:cNvPr>
          <p:cNvSpPr>
            <a:spLocks noGrp="1"/>
          </p:cNvSpPr>
          <p:nvPr/>
        </p:nvSpPr>
        <p:spPr>
          <a:xfrm>
            <a:off x="552450" y="4305300"/>
            <a:ext cx="4238625"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Dequantization zur Laufzeit</a:t>
            </a:r>
          </a:p>
        </p:txBody>
      </p:sp>
      <mc:AlternateContent xmlns:mc="http://schemas.openxmlformats.org/markup-compatibility/2006" xmlns:a14="http://schemas.microsoft.com/office/drawing/2010/main">
        <mc:Choice Requires="a14">
          <p:sp>
            <p:nvSpPr>
              <p:cNvPr id="3008" name="QR_reconstruction">
                <a:extLst>
                  <a:ext uri="{FF2B5EF4-FFF2-40B4-BE49-F238E27FC236}">
                    <a16:creationId xmlns:a16="http://schemas.microsoft.com/office/drawing/2014/main" id="{F8E0BFAF-AB60-46EB-8E13-EAE74C8D73E4}"/>
                  </a:ext>
                </a:extLst>
              </p:cNvPr>
              <p:cNvSpPr>
                <a:spLocks noGrp="1"/>
              </p:cNvSpPr>
              <p:nvPr/>
            </p:nvSpPr>
            <p:spPr>
              <a:xfrm>
                <a:off x="552450" y="4667250"/>
                <a:ext cx="4238625" cy="352425"/>
              </a:xfrm>
              <a:prstGeom prst="rect">
                <a:avLst/>
              </a:prstGeom>
              <a:noFill/>
              <a:ln w="0">
                <a:noFill/>
              </a:ln>
            </p:spPr>
            <p:txBody>
              <a:bodyPr lIns="0" tIns="0" rIns="0" bIns="0" anchor="t">
                <a:noAutofit/>
              </a:bodyPr>
              <a:lstStyle/>
              <a:p>
                <a:pPr algn="ctr">
                  <a:buNone/>
                  <a:defRPr sz="1800" b="0">
                    <a:solidFill>
                      <a:srgbClr val="444444"/>
                    </a:solidFill>
                    <a:latin typeface="Calibri"/>
                    <a:ea typeface="Calibri"/>
                    <a:cs typeface="Calibri"/>
                  </a:defRPr>
                </a:pPr>
                <a14:m>
                  <m:oMathPara xmlns:m="http://schemas.openxmlformats.org/officeDocument/2006/math">
                    <m:oMath>
                      <m:sSub>
                        <m:sSubPr>
                          <m:ctrlPr>
                            <a:rPr sz="1800" i="1">
                              <a:latin typeface="Cambria Math" panose="02040503050406030204" pitchFamily="18" charset="0"/>
                              <a:ea typeface="Cambria Math"/>
                              <a:cs typeface="Cambria Math"/>
                            </a:rPr>
                          </m:ctrlPr>
                        </m:sSubPr>
                        <m:e>
                          <m:acc>
                            <m:accPr>
                              <m:chr m:val="^"/>
                              <m:ctrlPr>
                                <a:rPr sz="1800">
                                  <a:latin typeface="Cambria Math"/>
                                  <a:ea typeface="Cambria Math"/>
                                  <a:cs typeface="Cambria Math"/>
                                </a:rPr>
                              </m:ctrlPr>
                            </m:accPr>
                            <m:e>
                              <m:r>
                                <a:rPr sz="1800">
                                  <a:latin typeface="Cambria Math"/>
                                  <a:ea typeface="Cambria Math"/>
                                  <a:cs typeface="Cambria Math"/>
                                </a:rPr>
                                <m:t>𝑊</m:t>
                              </m:r>
                            </m:e>
                          </m:acc>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r>
                        <a:rPr sz="1800">
                          <a:latin typeface="Cambria Math"/>
                          <a:ea typeface="Cambria Math"/>
                          <a:cs typeface="Cambria Math"/>
                        </a:rPr>
                        <m:t>=</m:t>
                      </m:r>
                      <m:sSub>
                        <m:sSubPr>
                          <m:ctrlPr>
                            <a:rPr sz="1800">
                              <a:latin typeface="Cambria Math"/>
                              <a:ea typeface="Cambria Math"/>
                              <a:cs typeface="Cambria Math"/>
                            </a:rPr>
                          </m:ctrlPr>
                        </m:sSubPr>
                        <m:e>
                          <m:r>
                            <a:rPr sz="1800">
                              <a:latin typeface="Cambria Math"/>
                              <a:ea typeface="Cambria Math"/>
                              <a:cs typeface="Cambria Math"/>
                            </a:rPr>
                            <m:t>𝑠</m:t>
                          </m:r>
                        </m:e>
                        <m:sub>
                          <m:r>
                            <a:rPr sz="1260">
                              <a:latin typeface="Cambria Math"/>
                              <a:ea typeface="Cambria Math"/>
                              <a:cs typeface="Cambria Math"/>
                            </a:rPr>
                            <m:t>𝑟</m:t>
                          </m:r>
                        </m:sub>
                      </m:sSub>
                      <m:sSub>
                        <m:sSubPr>
                          <m:ctrlPr>
                            <a:rPr sz="1800">
                              <a:latin typeface="Cambria Math"/>
                              <a:ea typeface="Cambria Math"/>
                              <a:cs typeface="Cambria Math"/>
                            </a:rPr>
                          </m:ctrlPr>
                        </m:sSubPr>
                        <m:e>
                          <m:r>
                            <a:rPr sz="1800">
                              <a:latin typeface="Cambria Math"/>
                              <a:ea typeface="Cambria Math"/>
                              <a:cs typeface="Cambria Math"/>
                            </a:rPr>
                            <m:t>𝑞</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oMath>
                  </m:oMathPara>
                </a14:m>
                <a:endParaRPr/>
              </a:p>
            </p:txBody>
          </p:sp>
        </mc:Choice>
        <mc:Fallback xmlns="">
          <p:sp>
            <p:nvSpPr>
              <p:cNvPr id="3008" name="QR_reconstruction">
                <a:extLst>
                  <a:ext uri="{FF2B5EF4-FFF2-40B4-BE49-F238E27FC236}">
                    <a16:creationId xmlns:a16="http://schemas.microsoft.com/office/drawing/2014/main" id="{F8E0BFAF-AB60-46EB-8E13-EAE74C8D73E4}"/>
                  </a:ext>
                </a:extLst>
              </p:cNvPr>
              <p:cNvSpPr>
                <a:spLocks noGrp="1" noRot="1" noChangeAspect="1" noMove="1" noResize="1" noEditPoints="1" noAdjustHandles="1" noChangeArrowheads="1" noChangeShapeType="1" noTextEdit="1"/>
              </p:cNvSpPr>
              <p:nvPr/>
            </p:nvSpPr>
            <p:spPr>
              <a:xfrm>
                <a:off x="552450" y="4667250"/>
                <a:ext cx="4238625" cy="352425"/>
              </a:xfrm>
              <a:prstGeom prst="rect">
                <a:avLst/>
              </a:prstGeom>
              <a:blipFill>
                <a:blip r:embed="rId6"/>
                <a:stretch>
                  <a:fillRect t="-50877" b="-10526"/>
                </a:stretch>
              </a:blipFill>
              <a:ln w="0">
                <a:noFill/>
              </a:ln>
            </p:spPr>
            <p:txBody>
              <a:bodyPr/>
              <a:lstStyle/>
              <a:p>
                <a:r>
                  <a:rPr lang="de-DE">
                    <a:noFill/>
                  </a:rPr>
                  <a:t> </a:t>
                </a:r>
              </a:p>
            </p:txBody>
          </p:sp>
        </mc:Fallback>
      </mc:AlternateContent>
      <p:sp>
        <p:nvSpPr>
          <p:cNvPr id="3009" name="QR_precision">
            <a:extLst>
              <a:ext uri="{FF2B5EF4-FFF2-40B4-BE49-F238E27FC236}">
                <a16:creationId xmlns:a16="http://schemas.microsoft.com/office/drawing/2014/main" id="{F88F3938-5B72-4BF5-8908-C63E79F4AA3D}"/>
              </a:ext>
            </a:extLst>
          </p:cNvPr>
          <p:cNvSpPr>
            <a:spLocks noGrp="1"/>
          </p:cNvSpPr>
          <p:nvPr/>
        </p:nvSpPr>
        <p:spPr>
          <a:xfrm>
            <a:off x="552450" y="5048250"/>
            <a:ext cx="4238625" cy="5524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Rekonstruierte Weights in FP32</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Bias, States und MLP in FP32</a:t>
            </a:r>
          </a:p>
        </p:txBody>
      </p:sp>
      <p:sp>
        <p:nvSpPr>
          <p:cNvPr id="3010" name="QR_takeaway">
            <a:extLst>
              <a:ext uri="{FF2B5EF4-FFF2-40B4-BE49-F238E27FC236}">
                <a16:creationId xmlns:a16="http://schemas.microsoft.com/office/drawing/2014/main" id="{6365C577-320A-4609-853F-A7FFBAB9F8CF}"/>
              </a:ext>
            </a:extLst>
          </p:cNvPr>
          <p:cNvSpPr>
            <a:spLocks noGrp="1"/>
          </p:cNvSpPr>
          <p:nvPr/>
        </p:nvSpPr>
        <p:spPr>
          <a:xfrm>
            <a:off x="552450" y="5657850"/>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Geringerer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Gewichtsspeicher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bei</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gleicher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Topologie</a:t>
            </a:r>
            <a:r>
              <a:rPr sz="1800" b="1" dirty="0">
                <a:solidFill>
                  <a:srgbClr val="D00020"/>
                </a:solidFill>
                <a:latin typeface="Calibri"/>
                <a:ea typeface="Calibri"/>
                <a:cs typeface="Calibri"/>
              </a:rPr>
              <a:t> und MAC-Zahl</a:t>
            </a:r>
          </a:p>
        </p:txBody>
      </p:sp>
      <p:sp>
        <p:nvSpPr>
          <p:cNvPr id="3011" name="QR_signed_highlight">
            <a:extLst>
              <a:ext uri="{FF2B5EF4-FFF2-40B4-BE49-F238E27FC236}">
                <a16:creationId xmlns:a16="http://schemas.microsoft.com/office/drawing/2014/main" id="{4353F4AA-EC64-4565-8965-981A5134439A}"/>
              </a:ext>
            </a:extLst>
          </p:cNvPr>
          <p:cNvSpPr>
            <a:spLocks noGrp="1"/>
          </p:cNvSpPr>
          <p:nvPr/>
        </p:nvSpPr>
        <p:spPr>
          <a:xfrm>
            <a:off x="5105400" y="1381125"/>
            <a:ext cx="4857750" cy="1438275"/>
          </a:xfrm>
          <a:prstGeom prst="rect">
            <a:avLst/>
          </a:prstGeom>
          <a:noFill/>
          <a:ln w="19050">
            <a:solidFill>
              <a:srgbClr val="D00020"/>
            </a:solidFill>
          </a:ln>
        </p:spPr>
        <p:txBody>
          <a:bodyPr/>
          <a:lstStyle/>
          <a:p>
            <a:endParaRPr lang="de-DE"/>
          </a:p>
        </p:txBody>
      </p:sp>
      <p:sp>
        <p:nvSpPr>
          <p:cNvPr id="3012" name="QR_used">
            <a:extLst>
              <a:ext uri="{FF2B5EF4-FFF2-40B4-BE49-F238E27FC236}">
                <a16:creationId xmlns:a16="http://schemas.microsoft.com/office/drawing/2014/main" id="{0CA7CB1D-85A3-4B32-BFDF-FAD93B6D4803}"/>
              </a:ext>
            </a:extLst>
          </p:cNvPr>
          <p:cNvSpPr>
            <a:spLocks noGrp="1"/>
          </p:cNvSpPr>
          <p:nvPr/>
        </p:nvSpPr>
        <p:spPr>
          <a:xfrm>
            <a:off x="8648700" y="1466850"/>
            <a:ext cx="1257300" cy="30480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Verwendet</a:t>
            </a:r>
          </a:p>
        </p:txBody>
      </p:sp>
      <p:sp>
        <p:nvSpPr>
          <p:cNvPr id="3013" name="Footer – Seitennummer">
            <a:extLst>
              <a:ext uri="{FF2B5EF4-FFF2-40B4-BE49-F238E27FC236}">
                <a16:creationId xmlns:a16="http://schemas.microsoft.com/office/drawing/2014/main" id="{37532174-478C-441B-94A8-0AE277B3B7D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33 / 39</a:t>
            </a:r>
          </a:p>
        </p:txBody>
      </p:sp>
      <p:sp>
        <p:nvSpPr>
          <p:cNvPr id="3014" name="Footer – Präsentationsangaben">
            <a:extLst>
              <a:ext uri="{FF2B5EF4-FFF2-40B4-BE49-F238E27FC236}">
                <a16:creationId xmlns:a16="http://schemas.microsoft.com/office/drawing/2014/main" id="{6C8331B3-7740-4A2E-8298-B85B910905E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016" name="Quellenverweis 3002">
            <a:extLst>
              <a:ext uri="{FF2B5EF4-FFF2-40B4-BE49-F238E27FC236}">
                <a16:creationId xmlns:a16="http://schemas.microsoft.com/office/drawing/2014/main" id="{5B7C60AB-1F3D-4E98-9BBF-D2AB43A588E0}"/>
              </a:ext>
            </a:extLst>
          </p:cNvPr>
          <p:cNvSpPr>
            <a:spLocks noGrp="1"/>
          </p:cNvSpPr>
          <p:nvPr/>
        </p:nvSpPr>
        <p:spPr>
          <a:xfrm>
            <a:off x="3392182" y="2180882"/>
            <a:ext cx="928762"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[24], [25]</a:t>
            </a:r>
          </a:p>
        </p:txBody>
      </p:sp>
    </p:spTree>
    <p:extLst>
      <p:ext uri="{BB962C8B-B14F-4D97-AF65-F5344CB8AC3E}">
        <p14:creationId xmlns:p14="http://schemas.microsoft.com/office/powerpoint/2010/main" val="4281378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Accuracy nach Modellkompression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9255478F-B521-4CBF-B463-6AF0AC331A3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5E1D1FDA-3A78-45B8-8BE9-EB4FF189548E}"/>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88C81035-26C5-42A3-95BC-BF61B6CC25D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67CFA1B8-99B2-4EF7-9E3E-107A3A59172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3068BB09-C0E8-44B6-897A-A61CDDD0A2D0}"/>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4AB73494-47EE-4C18-9B9C-67DF345E9988}"/>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2F324E9B-C60F-406E-8FEB-4793007C944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0C71C263-D7D5-4729-B7BB-38C4F6CA370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AM_SOC">
            <a:extLst>
              <a:ext uri="{FF2B5EF4-FFF2-40B4-BE49-F238E27FC236}">
                <a16:creationId xmlns:a16="http://schemas.microsoft.com/office/drawing/2014/main" id="{72751900-5C05-4524-9C45-8762511C9FBA}"/>
              </a:ext>
            </a:extLst>
          </p:cNvPr>
          <p:cNvSpPr>
            <a:spLocks noGrp="1"/>
          </p:cNvSpPr>
          <p:nvPr/>
        </p:nvSpPr>
        <p:spPr>
          <a:xfrm>
            <a:off x="1069975" y="4986338"/>
            <a:ext cx="4381500" cy="5524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Quantized </a:t>
            </a:r>
            <a:r>
              <a:rPr sz="1800" b="0" dirty="0" err="1">
                <a:solidFill>
                  <a:srgbClr val="444444"/>
                </a:solidFill>
                <a:latin typeface="Calibri"/>
                <a:ea typeface="Calibri"/>
                <a:cs typeface="Calibri"/>
              </a:rPr>
              <a:t>nahe</a:t>
            </a:r>
            <a:r>
              <a:rPr sz="1800" b="0" dirty="0">
                <a:solidFill>
                  <a:srgbClr val="444444"/>
                </a:solidFill>
                <a:latin typeface="Calibri"/>
                <a:ea typeface="Calibri"/>
                <a:cs typeface="Calibri"/>
              </a:rPr>
              <a:t> Base</a:t>
            </a:r>
          </a:p>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Pruned </a:t>
            </a:r>
            <a:r>
              <a:rPr sz="1800" b="0" dirty="0" err="1">
                <a:solidFill>
                  <a:srgbClr val="444444"/>
                </a:solidFill>
                <a:latin typeface="Calibri"/>
                <a:ea typeface="Calibri"/>
                <a:cs typeface="Calibri"/>
              </a:rPr>
              <a:t>mit</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geringerer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Fehlerstreuung</a:t>
            </a:r>
            <a:endParaRPr sz="1800" b="0" dirty="0">
              <a:solidFill>
                <a:srgbClr val="444444"/>
              </a:solidFill>
              <a:latin typeface="Calibri"/>
              <a:ea typeface="Calibri"/>
              <a:cs typeface="Calibri"/>
            </a:endParaRPr>
          </a:p>
        </p:txBody>
      </p:sp>
      <p:sp>
        <p:nvSpPr>
          <p:cNvPr id="24" name="AM_SOH">
            <a:extLst>
              <a:ext uri="{FF2B5EF4-FFF2-40B4-BE49-F238E27FC236}">
                <a16:creationId xmlns:a16="http://schemas.microsoft.com/office/drawing/2014/main" id="{4B35BF5D-60D5-4C72-9924-BD7B91761DE4}"/>
              </a:ext>
            </a:extLst>
          </p:cNvPr>
          <p:cNvSpPr>
            <a:spLocks noGrp="1"/>
          </p:cNvSpPr>
          <p:nvPr/>
        </p:nvSpPr>
        <p:spPr>
          <a:xfrm>
            <a:off x="5969000" y="5010388"/>
            <a:ext cx="4381500" cy="5524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Nach </a:t>
            </a:r>
            <a:r>
              <a:rPr sz="1800" b="0" dirty="0" err="1">
                <a:solidFill>
                  <a:srgbClr val="444444"/>
                </a:solidFill>
                <a:latin typeface="Calibri"/>
                <a:ea typeface="Calibri"/>
                <a:cs typeface="Calibri"/>
              </a:rPr>
              <a:t>kausaler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Filterung</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Höhere</a:t>
            </a:r>
            <a:r>
              <a:rPr sz="1800" b="0" dirty="0">
                <a:solidFill>
                  <a:srgbClr val="444444"/>
                </a:solidFill>
                <a:latin typeface="Calibri"/>
                <a:ea typeface="Calibri"/>
                <a:cs typeface="Calibri"/>
              </a:rPr>
              <a:t> Fehler</a:t>
            </a:r>
          </a:p>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und </a:t>
            </a:r>
            <a:r>
              <a:rPr sz="1800" b="0" dirty="0" err="1">
                <a:solidFill>
                  <a:srgbClr val="444444"/>
                </a:solidFill>
                <a:latin typeface="Calibri"/>
                <a:ea typeface="Calibri"/>
                <a:cs typeface="Calibri"/>
              </a:rPr>
              <a:t>Streuung</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bei</a:t>
            </a:r>
            <a:r>
              <a:rPr sz="1800" b="0" dirty="0">
                <a:solidFill>
                  <a:srgbClr val="444444"/>
                </a:solidFill>
                <a:latin typeface="Calibri"/>
                <a:ea typeface="Calibri"/>
                <a:cs typeface="Calibri"/>
              </a:rPr>
              <a:t> Pruned und Quantized</a:t>
            </a:r>
          </a:p>
        </p:txBody>
      </p:sp>
      <p:sp>
        <p:nvSpPr>
          <p:cNvPr id="25" name="AM_takeaway">
            <a:extLst>
              <a:ext uri="{FF2B5EF4-FFF2-40B4-BE49-F238E27FC236}">
                <a16:creationId xmlns:a16="http://schemas.microsoft.com/office/drawing/2014/main" id="{23EC93CE-7D92-4894-B7EA-21452BFE5310}"/>
              </a:ext>
            </a:extLst>
          </p:cNvPr>
          <p:cNvSpPr>
            <a:spLocks noGrp="1"/>
          </p:cNvSpPr>
          <p:nvPr/>
        </p:nvSpPr>
        <p:spPr>
          <a:xfrm>
            <a:off x="552450" y="5705475"/>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SOC-Accuracy </a:t>
            </a:r>
            <a:r>
              <a:rPr sz="1800" b="1" dirty="0" err="1">
                <a:solidFill>
                  <a:srgbClr val="D00020"/>
                </a:solidFill>
                <a:latin typeface="Calibri"/>
                <a:ea typeface="Calibri"/>
                <a:cs typeface="Calibri"/>
              </a:rPr>
              <a:t>weitgehend</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erhalten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höhere</a:t>
            </a:r>
            <a:r>
              <a:rPr sz="1800" b="1" dirty="0">
                <a:solidFill>
                  <a:srgbClr val="D00020"/>
                </a:solidFill>
                <a:latin typeface="Calibri"/>
                <a:ea typeface="Calibri"/>
                <a:cs typeface="Calibri"/>
              </a:rPr>
              <a:t> SOH-Fehler </a:t>
            </a:r>
            <a:r>
              <a:rPr sz="1800" b="1" dirty="0" err="1">
                <a:solidFill>
                  <a:srgbClr val="D00020"/>
                </a:solidFill>
                <a:latin typeface="Calibri"/>
                <a:ea typeface="Calibri"/>
                <a:cs typeface="Calibri"/>
              </a:rPr>
              <a:t>nach</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Kompression</a:t>
            </a:r>
            <a:endParaRPr sz="1800" b="1" dirty="0">
              <a:solidFill>
                <a:srgbClr val="D00020"/>
              </a:solidFill>
              <a:latin typeface="Calibri"/>
              <a:ea typeface="Calibri"/>
              <a:cs typeface="Calibri"/>
            </a:endParaRPr>
          </a:p>
        </p:txBody>
      </p:sp>
      <p:pic>
        <p:nvPicPr>
          <p:cNvPr id="26" name="AM_SOC_boxplot"/>
          <p:cNvPicPr>
            <a:picLocks noChangeAspect="1"/>
          </p:cNvPicPr>
          <p:nvPr/>
        </p:nvPicPr>
        <p:blipFill>
          <a:blip r:embed="rId3"/>
          <a:srcRect r="50000"/>
          <a:stretch/>
        </p:blipFill>
        <p:spPr>
          <a:xfrm>
            <a:off x="552450" y="1409700"/>
            <a:ext cx="4381500" cy="3651250"/>
          </a:xfrm>
          <a:prstGeom prst="rect">
            <a:avLst/>
          </a:prstGeom>
        </p:spPr>
      </p:pic>
      <p:pic>
        <p:nvPicPr>
          <p:cNvPr id="27" name="AM_SOH_boxplot"/>
          <p:cNvPicPr>
            <a:picLocks noChangeAspect="1"/>
          </p:cNvPicPr>
          <p:nvPr/>
        </p:nvPicPr>
        <p:blipFill>
          <a:blip r:embed="rId4"/>
          <a:srcRect r="50000"/>
          <a:stretch/>
        </p:blipFill>
        <p:spPr>
          <a:xfrm>
            <a:off x="5562600" y="1409700"/>
            <a:ext cx="4381500" cy="3651250"/>
          </a:xfrm>
          <a:prstGeom prst="rect">
            <a:avLst/>
          </a:prstGeom>
        </p:spPr>
      </p:pic>
      <p:sp>
        <p:nvSpPr>
          <p:cNvPr id="28" name="Footer – Seitennummer">
            <a:extLst>
              <a:ext uri="{FF2B5EF4-FFF2-40B4-BE49-F238E27FC236}">
                <a16:creationId xmlns:a16="http://schemas.microsoft.com/office/drawing/2014/main" id="{019067FB-0365-442A-AC8A-B7F44B17037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34 / 39</a:t>
            </a:r>
          </a:p>
        </p:txBody>
      </p:sp>
      <p:sp>
        <p:nvSpPr>
          <p:cNvPr id="29" name="Footer – Präsentationsangaben">
            <a:extLst>
              <a:ext uri="{FF2B5EF4-FFF2-40B4-BE49-F238E27FC236}">
                <a16:creationId xmlns:a16="http://schemas.microsoft.com/office/drawing/2014/main" id="{045E553E-BAA4-4E48-9285-09F5318E629C}"/>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783850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Flash- und RAM-Bedarf der 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0" name="V5_Figure_11"/>
          <p:cNvPicPr>
            <a:picLocks noChangeAspect="1"/>
          </p:cNvPicPr>
          <p:nvPr/>
        </p:nvPicPr>
        <p:blipFill>
          <a:blip r:embed="rId3"/>
          <a:srcRect t="50000" r="50000"/>
          <a:stretch>
            <a:fillRect/>
          </a:stretch>
        </p:blipFill>
        <p:spPr>
          <a:xfrm>
            <a:off x="552450" y="1543050"/>
            <a:ext cx="5429250" cy="3476625"/>
          </a:xfrm>
          <a:prstGeom prst="rect">
            <a:avLst/>
          </a:prstGeom>
        </p:spPr>
      </p:pic>
      <p:pic>
        <p:nvPicPr>
          <p:cNvPr id="43"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15AFD174-6BBF-4B31-BD82-147CEBE088F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895C4AA-3B55-4C57-B7F8-1908B64F6BD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D023E9D-5A52-4DA1-8F38-AC86C0AE020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B8DD2CC6-F8B4-413D-B89B-BF19E2EBB355}"/>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D8F9D8A-F2B7-4A41-BEE0-7D0FDB8F39F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EBA1E4F-95E5-4E6A-A321-3B3C7B1E5C00}"/>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AA3D179D-6DD3-4D07-AAB5-489F479FA85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A911ABF1-E354-406F-B257-60919319560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mc:AlternateContent xmlns:mc="http://schemas.openxmlformats.org/markup-compatibility/2006" xmlns:a14="http://schemas.microsoft.com/office/drawing/2010/main">
        <mc:Choice Requires="a14">
          <p:sp>
            <p:nvSpPr>
              <p:cNvPr id="30" name="v11-math-34-4">
                <a:extLst>
                  <a:ext uri="{FF2B5EF4-FFF2-40B4-BE49-F238E27FC236}">
                    <a16:creationId xmlns:a16="http://schemas.microsoft.com/office/drawing/2014/main" id="{7759F966-AFAB-4797-9DFD-F0C8374068CA}"/>
                  </a:ext>
                </a:extLst>
              </p:cNvPr>
              <p:cNvSpPr>
                <a:spLocks noGrp="1"/>
              </p:cNvSpPr>
              <p:nvPr/>
            </p:nvSpPr>
            <p:spPr>
              <a:xfrm>
                <a:off x="1971675" y="5095875"/>
                <a:ext cx="4010025" cy="323850"/>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𝐹𝑖𝑟𝑚𝑤𝑎𝑟𝑒</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𝐺𝑒𝑤𝑖𝑐ℎ𝑡𝑒</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𝐶𝑜𝑑𝑒</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𝐾𝑜𝑛𝑠𝑡𝑎𝑛𝑡𝑒𝑛</m:t>
                          </m:r>
                        </m:sub>
                      </m:sSub>
                    </m:oMath>
                  </m:oMathPara>
                </a14:m>
                <a:endParaRPr/>
              </a:p>
            </p:txBody>
          </p:sp>
        </mc:Choice>
        <mc:Fallback xmlns="">
          <p:sp>
            <p:nvSpPr>
              <p:cNvPr id="30" name="v11-math-34-4">
                <a:extLst>
                  <a:ext uri="{FF2B5EF4-FFF2-40B4-BE49-F238E27FC236}">
                    <a16:creationId xmlns:a16="http://schemas.microsoft.com/office/drawing/2014/main" id="{7759F966-AFAB-4797-9DFD-F0C8374068CA}"/>
                  </a:ext>
                </a:extLst>
              </p:cNvPr>
              <p:cNvSpPr>
                <a:spLocks noGrp="1" noRot="1" noChangeAspect="1" noMove="1" noResize="1" noEditPoints="1" noAdjustHandles="1" noChangeArrowheads="1" noChangeShapeType="1" noTextEdit="1"/>
              </p:cNvSpPr>
              <p:nvPr/>
            </p:nvSpPr>
            <p:spPr>
              <a:xfrm>
                <a:off x="1971675" y="5095875"/>
                <a:ext cx="4010025" cy="323850"/>
              </a:xfrm>
              <a:prstGeom prst="rect">
                <a:avLst/>
              </a:prstGeom>
              <a:blipFill>
                <a:blip r:embed="rId5"/>
                <a:stretch>
                  <a:fillRect/>
                </a:stretch>
              </a:blipFill>
              <a:ln w="0">
                <a:noFill/>
              </a:ln>
            </p:spPr>
            <p:txBody>
              <a:bodyPr/>
              <a:lstStyle/>
              <a:p>
                <a:r>
                  <a:rPr lang="de-DE">
                    <a:noFill/>
                  </a:rPr>
                  <a:t> </a:t>
                </a:r>
              </a:p>
            </p:txBody>
          </p:sp>
        </mc:Fallback>
      </mc:AlternateContent>
      <p:sp>
        <p:nvSpPr>
          <p:cNvPr id="46" name="MS_ram_interpretation">
            <a:extLst>
              <a:ext uri="{FF2B5EF4-FFF2-40B4-BE49-F238E27FC236}">
                <a16:creationId xmlns:a16="http://schemas.microsoft.com/office/drawing/2014/main" id="{19F516A9-466D-4E25-878D-D75C6B9C91F7}"/>
              </a:ext>
            </a:extLst>
          </p:cNvPr>
          <p:cNvSpPr>
            <a:spLocks noGrp="1"/>
          </p:cNvSpPr>
          <p:nvPr/>
        </p:nvSpPr>
        <p:spPr>
          <a:xfrm>
            <a:off x="6372225" y="4972050"/>
            <a:ext cx="3581400" cy="8953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Begrenzte RAM-Ersparnis:</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FP32-Zustände und Aktivierungen</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auch bei Quantized</a:t>
            </a:r>
          </a:p>
        </p:txBody>
      </p:sp>
      <p:sp>
        <p:nvSpPr>
          <p:cNvPr id="47" name="MS_flash_label">
            <a:extLst>
              <a:ext uri="{FF2B5EF4-FFF2-40B4-BE49-F238E27FC236}">
                <a16:creationId xmlns:a16="http://schemas.microsoft.com/office/drawing/2014/main" id="{1607A952-49B0-440C-8C1E-9241AEF305E7}"/>
              </a:ext>
            </a:extLst>
          </p:cNvPr>
          <p:cNvSpPr>
            <a:spLocks noGrp="1"/>
          </p:cNvSpPr>
          <p:nvPr/>
        </p:nvSpPr>
        <p:spPr>
          <a:xfrm>
            <a:off x="552450" y="5095875"/>
            <a:ext cx="14287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Flash-Bilanz:</a:t>
            </a:r>
          </a:p>
        </p:txBody>
      </p:sp>
      <p:sp>
        <p:nvSpPr>
          <p:cNvPr id="48" name="ML_comparison_label">
            <a:extLst>
              <a:ext uri="{FF2B5EF4-FFF2-40B4-BE49-F238E27FC236}">
                <a16:creationId xmlns:a16="http://schemas.microsoft.com/office/drawing/2014/main" id="{ACD942EF-2EC2-4358-9BE7-7AC8155A08AE}"/>
              </a:ext>
            </a:extLst>
          </p:cNvPr>
          <p:cNvSpPr>
            <a:spLocks noGrp="1"/>
          </p:cNvSpPr>
          <p:nvPr/>
        </p:nvSpPr>
        <p:spPr>
          <a:xfrm>
            <a:off x="6372225" y="1514475"/>
            <a:ext cx="3581400" cy="34290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Einsparung gegenüber Base</a:t>
            </a:r>
          </a:p>
        </p:txBody>
      </p:sp>
      <p:graphicFrame>
        <p:nvGraphicFramePr>
          <p:cNvPr id="49" name="Tabelle 48"/>
          <p:cNvGraphicFramePr/>
          <p:nvPr/>
        </p:nvGraphicFramePr>
        <p:xfrm>
          <a:off x="6372225" y="1952625"/>
          <a:ext cx="3581400" cy="2667000"/>
        </p:xfrm>
        <a:graphic>
          <a:graphicData uri="http://schemas.openxmlformats.org/drawingml/2006/table">
            <a:tbl>
              <a:tblPr/>
              <a:tblGrid>
                <a:gridCol w="1123950">
                  <a:extLst>
                    <a:ext uri="{9D8B030D-6E8A-4147-A177-3AD203B41FA5}">
                      <a16:colId xmlns:a16="http://schemas.microsoft.com/office/drawing/2014/main" val="20000"/>
                    </a:ext>
                  </a:extLst>
                </a:gridCol>
                <a:gridCol w="1228725">
                  <a:extLst>
                    <a:ext uri="{9D8B030D-6E8A-4147-A177-3AD203B41FA5}">
                      <a16:colId xmlns:a16="http://schemas.microsoft.com/office/drawing/2014/main" val="20001"/>
                    </a:ext>
                  </a:extLst>
                </a:gridCol>
                <a:gridCol w="1228725">
                  <a:extLst>
                    <a:ext uri="{9D8B030D-6E8A-4147-A177-3AD203B41FA5}">
                      <a16:colId xmlns:a16="http://schemas.microsoft.com/office/drawing/2014/main" val="20002"/>
                    </a:ext>
                  </a:extLst>
                </a:gridCol>
              </a:tblGrid>
              <a:tr h="381000">
                <a:tc>
                  <a:txBody>
                    <a:bodyPr/>
                    <a:lstStyle/>
                    <a:p>
                      <a:endParaRPr/>
                    </a:p>
                  </a:txBody>
                  <a:tcPr marL="95250" marR="95250" marT="28575" marB="28575" anchor="ctr">
                    <a:solidFill>
                      <a:srgbClr val="FFFFFF"/>
                    </a:solidFill>
                  </a:tcPr>
                </a:tc>
                <a:tc>
                  <a:txBody>
                    <a:bodyPr/>
                    <a:lstStyle/>
                    <a:p>
                      <a:pPr algn="ctr">
                        <a:buNone/>
                      </a:pPr>
                      <a:r>
                        <a:rPr sz="1800" b="1">
                          <a:solidFill>
                            <a:srgbClr val="444444"/>
                          </a:solidFill>
                          <a:latin typeface="Calibri"/>
                          <a:ea typeface="Calibri"/>
                          <a:cs typeface="Calibri"/>
                        </a:rPr>
                        <a:t>SOC</a:t>
                      </a:r>
                    </a:p>
                  </a:txBody>
                  <a:tcPr marL="95250" marR="95250" marT="28575" marB="28575" anchor="ctr">
                    <a:solidFill>
                      <a:srgbClr val="FFFFFF"/>
                    </a:solidFill>
                  </a:tcPr>
                </a:tc>
                <a:tc>
                  <a:txBody>
                    <a:bodyPr/>
                    <a:lstStyle/>
                    <a:p>
                      <a:pPr algn="ctr">
                        <a:buNone/>
                      </a:pPr>
                      <a:r>
                        <a:rPr sz="1800" b="1">
                          <a:solidFill>
                            <a:srgbClr val="444444"/>
                          </a:solidFill>
                          <a:latin typeface="Calibri"/>
                          <a:ea typeface="Calibri"/>
                          <a:cs typeface="Calibri"/>
                        </a:rPr>
                        <a:t>SOH</a:t>
                      </a:r>
                    </a:p>
                  </a:txBody>
                  <a:tcPr marL="95250" marR="95250" marT="28575" marB="28575" anchor="ctr">
                    <a:solidFill>
                      <a:srgbClr val="FFFFFF"/>
                    </a:solidFill>
                  </a:tcPr>
                </a:tc>
                <a:extLst>
                  <a:ext uri="{0D108BD9-81ED-4DB2-BD59-A6C34878D82A}">
                    <a16:rowId xmlns:a16="http://schemas.microsoft.com/office/drawing/2014/main" val="10000"/>
                  </a:ext>
                </a:extLst>
              </a:tr>
              <a:tr h="381000">
                <a:tc gridSpan="3">
                  <a:txBody>
                    <a:bodyPr/>
                    <a:lstStyle/>
                    <a:p>
                      <a:pPr algn="l">
                        <a:buNone/>
                      </a:pPr>
                      <a:r>
                        <a:rPr sz="1800" b="1">
                          <a:solidFill>
                            <a:srgbClr val="D00020"/>
                          </a:solidFill>
                          <a:latin typeface="Calibri"/>
                          <a:ea typeface="Calibri"/>
                          <a:cs typeface="Calibri"/>
                        </a:rPr>
                        <a:t>Pruning</a:t>
                      </a: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extLst>
                  <a:ext uri="{0D108BD9-81ED-4DB2-BD59-A6C34878D82A}">
                    <a16:rowId xmlns:a16="http://schemas.microsoft.com/office/drawing/2014/main" val="10001"/>
                  </a:ext>
                </a:extLst>
              </a:tr>
              <a:tr h="381000">
                <a:tc>
                  <a:txBody>
                    <a:bodyPr/>
                    <a:lstStyle/>
                    <a:p>
                      <a:pPr algn="l">
                        <a:buNone/>
                      </a:pPr>
                      <a:r>
                        <a:rPr sz="1800" b="0">
                          <a:solidFill>
                            <a:srgbClr val="444444"/>
                          </a:solidFill>
                          <a:latin typeface="Calibri"/>
                          <a:ea typeface="Calibri"/>
                          <a:cs typeface="Calibri"/>
                        </a:rPr>
                        <a:t>Flash</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37,2 %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43,3 %</a:t>
                      </a:r>
                    </a:p>
                  </a:txBody>
                  <a:tcPr marL="95250" marR="95250" marT="28575" marB="28575" anchor="ctr">
                    <a:solidFill>
                      <a:srgbClr val="FFFFFF"/>
                    </a:solidFill>
                  </a:tcPr>
                </a:tc>
                <a:extLst>
                  <a:ext uri="{0D108BD9-81ED-4DB2-BD59-A6C34878D82A}">
                    <a16:rowId xmlns:a16="http://schemas.microsoft.com/office/drawing/2014/main" val="10002"/>
                  </a:ext>
                </a:extLst>
              </a:tr>
              <a:tr h="381000">
                <a:tc>
                  <a:txBody>
                    <a:bodyPr/>
                    <a:lstStyle/>
                    <a:p>
                      <a:pPr algn="l">
                        <a:buNone/>
                      </a:pPr>
                      <a:r>
                        <a:rPr sz="1800" b="0">
                          <a:solidFill>
                            <a:srgbClr val="444444"/>
                          </a:solidFill>
                          <a:latin typeface="Calibri"/>
                          <a:ea typeface="Calibri"/>
                          <a:cs typeface="Calibri"/>
                        </a:rPr>
                        <a:t>RAM</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18,3 %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19,9 %</a:t>
                      </a:r>
                    </a:p>
                  </a:txBody>
                  <a:tcPr marL="95250" marR="95250" marT="28575" marB="28575" anchor="ctr">
                    <a:solidFill>
                      <a:srgbClr val="FFFFFF"/>
                    </a:solidFill>
                  </a:tcPr>
                </a:tc>
                <a:extLst>
                  <a:ext uri="{0D108BD9-81ED-4DB2-BD59-A6C34878D82A}">
                    <a16:rowId xmlns:a16="http://schemas.microsoft.com/office/drawing/2014/main" val="10003"/>
                  </a:ext>
                </a:extLst>
              </a:tr>
              <a:tr h="381000">
                <a:tc gridSpan="3">
                  <a:txBody>
                    <a:bodyPr/>
                    <a:lstStyle/>
                    <a:p>
                      <a:pPr algn="l">
                        <a:buNone/>
                      </a:pPr>
                      <a:r>
                        <a:rPr sz="1800" b="1">
                          <a:solidFill>
                            <a:srgbClr val="D00020"/>
                          </a:solidFill>
                          <a:latin typeface="Calibri"/>
                          <a:ea typeface="Calibri"/>
                          <a:cs typeface="Calibri"/>
                        </a:rPr>
                        <a:t>Quantized</a:t>
                      </a: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extLst>
                  <a:ext uri="{0D108BD9-81ED-4DB2-BD59-A6C34878D82A}">
                    <a16:rowId xmlns:a16="http://schemas.microsoft.com/office/drawing/2014/main" val="10004"/>
                  </a:ext>
                </a:extLst>
              </a:tr>
              <a:tr h="381000">
                <a:tc>
                  <a:txBody>
                    <a:bodyPr/>
                    <a:lstStyle/>
                    <a:p>
                      <a:pPr algn="l">
                        <a:buNone/>
                      </a:pPr>
                      <a:r>
                        <a:rPr sz="1800" b="0">
                          <a:solidFill>
                            <a:srgbClr val="444444"/>
                          </a:solidFill>
                          <a:latin typeface="Calibri"/>
                          <a:ea typeface="Calibri"/>
                          <a:cs typeface="Calibri"/>
                        </a:rPr>
                        <a:t>Flash</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49,7 %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55,9 %</a:t>
                      </a:r>
                    </a:p>
                  </a:txBody>
                  <a:tcPr marL="95250" marR="95250" marT="28575" marB="28575" anchor="ctr">
                    <a:solidFill>
                      <a:srgbClr val="FFFFFF"/>
                    </a:solidFill>
                  </a:tcPr>
                </a:tc>
                <a:extLst>
                  <a:ext uri="{0D108BD9-81ED-4DB2-BD59-A6C34878D82A}">
                    <a16:rowId xmlns:a16="http://schemas.microsoft.com/office/drawing/2014/main" val="10005"/>
                  </a:ext>
                </a:extLst>
              </a:tr>
              <a:tr h="381000">
                <a:tc>
                  <a:txBody>
                    <a:bodyPr/>
                    <a:lstStyle/>
                    <a:p>
                      <a:pPr algn="l">
                        <a:buNone/>
                      </a:pPr>
                      <a:r>
                        <a:rPr sz="1800" b="0">
                          <a:solidFill>
                            <a:srgbClr val="444444"/>
                          </a:solidFill>
                          <a:latin typeface="Calibri"/>
                          <a:ea typeface="Calibri"/>
                          <a:cs typeface="Calibri"/>
                        </a:rPr>
                        <a:t>RAM</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19,7 %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22,9 %</a:t>
                      </a:r>
                    </a:p>
                  </a:txBody>
                  <a:tcPr marL="95250" marR="95250" marT="28575" marB="28575" anchor="ctr">
                    <a:solidFill>
                      <a:srgbClr val="FFFFFF"/>
                    </a:solidFill>
                  </a:tcPr>
                </a:tc>
                <a:extLst>
                  <a:ext uri="{0D108BD9-81ED-4DB2-BD59-A6C34878D82A}">
                    <a16:rowId xmlns:a16="http://schemas.microsoft.com/office/drawing/2014/main" val="10006"/>
                  </a:ext>
                </a:extLst>
              </a:tr>
            </a:tbl>
          </a:graphicData>
        </a:graphic>
      </p:graphicFrame>
      <p:sp>
        <p:nvSpPr>
          <p:cNvPr id="50" name="ML_ram_label">
            <a:extLst>
              <a:ext uri="{FF2B5EF4-FFF2-40B4-BE49-F238E27FC236}">
                <a16:creationId xmlns:a16="http://schemas.microsoft.com/office/drawing/2014/main" id="{3E383C55-3CB7-4605-9A31-15244A295669}"/>
              </a:ext>
            </a:extLst>
          </p:cNvPr>
          <p:cNvSpPr>
            <a:spLocks noGrp="1"/>
          </p:cNvSpPr>
          <p:nvPr/>
        </p:nvSpPr>
        <p:spPr>
          <a:xfrm>
            <a:off x="552450" y="5553075"/>
            <a:ext cx="14287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RAM-Bilanz:</a:t>
            </a:r>
          </a:p>
        </p:txBody>
      </p:sp>
      <mc:AlternateContent xmlns:mc="http://schemas.openxmlformats.org/markup-compatibility/2006" xmlns:a14="http://schemas.microsoft.com/office/drawing/2010/main">
        <mc:Choice Requires="a14">
          <p:sp>
            <p:nvSpPr>
              <p:cNvPr id="51" name="ML_ram_formula">
                <a:extLst>
                  <a:ext uri="{FF2B5EF4-FFF2-40B4-BE49-F238E27FC236}">
                    <a16:creationId xmlns:a16="http://schemas.microsoft.com/office/drawing/2014/main" id="{EDD17664-6F47-45BF-AC9C-337B751A99B6}"/>
                  </a:ext>
                </a:extLst>
              </p:cNvPr>
              <p:cNvSpPr>
                <a:spLocks noGrp="1"/>
              </p:cNvSpPr>
              <p:nvPr/>
            </p:nvSpPr>
            <p:spPr>
              <a:xfrm>
                <a:off x="1971675" y="5553075"/>
                <a:ext cx="4010025" cy="361950"/>
              </a:xfrm>
              <a:prstGeom prst="rect">
                <a:avLst/>
              </a:prstGeom>
              <a:noFill/>
              <a:ln w="0">
                <a:noFill/>
              </a:ln>
            </p:spPr>
            <p:txBody>
              <a:bodyPr lIns="0" tIns="0" rIns="0" bIns="0" anchor="t">
                <a:noAutofit/>
              </a:bodyPr>
              <a:lstStyle/>
              <a:p>
                <a:pPr algn="l">
                  <a:buNone/>
                </a:pPr>
                <a14:m>
                  <m:oMathPara xmlns:m="http://schemas.openxmlformats.org/officeDocument/2006/math">
                    <m:oMathParaPr>
                      <m:jc m:val="left"/>
                    </m:oMathParaPr>
                    <m:oMath>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gesamt</m:t>
                          </m:r>
                        </m:sub>
                      </m:sSub>
                      <m:r>
                        <a:rPr sz="1800">
                          <a:solidFill>
                            <a:srgbClr val="444444"/>
                          </a:solidFill>
                          <a:latin typeface="Cambria Math"/>
                          <a:ea typeface="Cambria Math"/>
                          <a:cs typeface="Cambria Math"/>
                        </a:rPr>
                        <m:t>=</m:t>
                      </m:r>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Variablen</m:t>
                          </m:r>
                        </m:sub>
                      </m:sSub>
                      <m:r>
                        <a:rPr sz="1800">
                          <a:solidFill>
                            <a:srgbClr val="444444"/>
                          </a:solidFill>
                          <a:latin typeface="Cambria Math"/>
                          <a:ea typeface="Cambria Math"/>
                          <a:cs typeface="Cambria Math"/>
                        </a:rPr>
                        <m:t>+</m:t>
                      </m:r>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Puffer</m:t>
                          </m:r>
                        </m:sub>
                      </m:sSub>
                      <m:r>
                        <a:rPr sz="1800">
                          <a:solidFill>
                            <a:srgbClr val="444444"/>
                          </a:solidFill>
                          <a:latin typeface="Cambria Math"/>
                          <a:ea typeface="Cambria Math"/>
                          <a:cs typeface="Cambria Math"/>
                        </a:rPr>
                        <m:t>+</m:t>
                      </m:r>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Stack</m:t>
                          </m:r>
                          <m:r>
                            <a:rPr sz="1260">
                              <a:solidFill>
                                <a:srgbClr val="444444"/>
                              </a:solidFill>
                              <a:latin typeface="Cambria Math"/>
                              <a:ea typeface="Cambria Math"/>
                              <a:cs typeface="Cambria Math"/>
                            </a:rPr>
                            <m:t>,</m:t>
                          </m:r>
                          <m:r>
                            <m:rPr>
                              <m:sty m:val="p"/>
                            </m:rPr>
                            <a:rPr sz="1260">
                              <a:solidFill>
                                <a:srgbClr val="444444"/>
                              </a:solidFill>
                              <a:latin typeface="Cambria Math"/>
                              <a:ea typeface="Cambria Math"/>
                              <a:cs typeface="Cambria Math"/>
                            </a:rPr>
                            <m:t>max</m:t>
                          </m:r>
                        </m:sub>
                      </m:sSub>
                    </m:oMath>
                  </m:oMathPara>
                </a14:m>
                <a:endParaRPr/>
              </a:p>
            </p:txBody>
          </p:sp>
        </mc:Choice>
        <mc:Fallback xmlns="">
          <p:sp>
            <p:nvSpPr>
              <p:cNvPr id="51" name="ML_ram_formula">
                <a:extLst>
                  <a:ext uri="{FF2B5EF4-FFF2-40B4-BE49-F238E27FC236}">
                    <a16:creationId xmlns:a16="http://schemas.microsoft.com/office/drawing/2014/main" id="{EDD17664-6F47-45BF-AC9C-337B751A99B6}"/>
                  </a:ext>
                </a:extLst>
              </p:cNvPr>
              <p:cNvSpPr>
                <a:spLocks noGrp="1" noRot="1" noChangeAspect="1" noMove="1" noResize="1" noEditPoints="1" noAdjustHandles="1" noChangeArrowheads="1" noChangeShapeType="1" noTextEdit="1"/>
              </p:cNvSpPr>
              <p:nvPr/>
            </p:nvSpPr>
            <p:spPr>
              <a:xfrm>
                <a:off x="1971675" y="5553075"/>
                <a:ext cx="4010025" cy="361950"/>
              </a:xfrm>
              <a:prstGeom prst="rect">
                <a:avLst/>
              </a:prstGeom>
              <a:blipFill>
                <a:blip r:embed="rId6"/>
                <a:stretch>
                  <a:fillRect l="-1976"/>
                </a:stretch>
              </a:blipFill>
              <a:ln w="0">
                <a:noFill/>
              </a:ln>
            </p:spPr>
            <p:txBody>
              <a:bodyPr/>
              <a:lstStyle/>
              <a:p>
                <a:r>
                  <a:rPr lang="de-DE">
                    <a:noFill/>
                  </a:rPr>
                  <a:t> </a:t>
                </a:r>
              </a:p>
            </p:txBody>
          </p:sp>
        </mc:Fallback>
      </mc:AlternateContent>
      <p:sp>
        <p:nvSpPr>
          <p:cNvPr id="52" name="Footer – Seitennummer">
            <a:extLst>
              <a:ext uri="{FF2B5EF4-FFF2-40B4-BE49-F238E27FC236}">
                <a16:creationId xmlns:a16="http://schemas.microsoft.com/office/drawing/2014/main" id="{099E6CD0-CBE5-4DB3-8B19-DF0016E6080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35 / 39</a:t>
            </a:r>
          </a:p>
        </p:txBody>
      </p:sp>
      <p:sp>
        <p:nvSpPr>
          <p:cNvPr id="53" name="Footer – Präsentationsangaben">
            <a:extLst>
              <a:ext uri="{FF2B5EF4-FFF2-40B4-BE49-F238E27FC236}">
                <a16:creationId xmlns:a16="http://schemas.microsoft.com/office/drawing/2014/main" id="{29D51BDC-4435-4BAC-A506-807483F3D60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Host-Latenz und Kernelzeit auf dem STM32</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30" name="LV_host_distributions"/>
          <p:cNvPicPr>
            <a:picLocks noChangeAspect="1"/>
          </p:cNvPicPr>
          <p:nvPr/>
        </p:nvPicPr>
        <p:blipFill>
          <a:blip r:embed="rId3"/>
          <a:stretch/>
        </p:blipFill>
        <p:spPr>
          <a:xfrm>
            <a:off x="552450" y="1476375"/>
            <a:ext cx="5953125" cy="2480469"/>
          </a:xfrm>
          <a:prstGeom prst="rect">
            <a:avLst/>
          </a:prstGeom>
        </p:spPr>
      </p:pic>
      <p:sp>
        <p:nvSpPr>
          <p:cNvPr id="31" name="LC_variant">
            <a:extLst>
              <a:ext uri="{FF2B5EF4-FFF2-40B4-BE49-F238E27FC236}">
                <a16:creationId xmlns:a16="http://schemas.microsoft.com/office/drawing/2014/main" id="{5852BB09-7040-4974-92F0-88D4FADEAB20}"/>
              </a:ext>
            </a:extLst>
          </p:cNvPr>
          <p:cNvSpPr>
            <a:spLocks noGrp="1"/>
          </p:cNvSpPr>
          <p:nvPr/>
        </p:nvSpPr>
        <p:spPr>
          <a:xfrm>
            <a:off x="6715125" y="1476375"/>
            <a:ext cx="323850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Pruning vs. Base</a:t>
            </a:r>
          </a:p>
        </p:txBody>
      </p:sp>
      <p:graphicFrame>
        <p:nvGraphicFramePr>
          <p:cNvPr id="32" name="Tabelle 31"/>
          <p:cNvGraphicFramePr/>
          <p:nvPr/>
        </p:nvGraphicFramePr>
        <p:xfrm>
          <a:off x="6715125" y="1885950"/>
          <a:ext cx="3238500" cy="2009775"/>
        </p:xfrm>
        <a:graphic>
          <a:graphicData uri="http://schemas.openxmlformats.org/drawingml/2006/table">
            <a:tbl>
              <a:tblPr/>
              <a:tblGrid>
                <a:gridCol w="16192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tblGrid>
              <a:tr h="333375">
                <a:tc>
                  <a:txBody>
                    <a:bodyPr/>
                    <a:lstStyle/>
                    <a:p>
                      <a:pPr algn="ctr">
                        <a:buNone/>
                      </a:pPr>
                      <a:r>
                        <a:rPr sz="1800" b="1">
                          <a:solidFill>
                            <a:srgbClr val="444444"/>
                          </a:solidFill>
                          <a:latin typeface="Calibri"/>
                          <a:ea typeface="Calibri"/>
                          <a:cs typeface="Calibri"/>
                        </a:rPr>
                        <a:t>SOC</a:t>
                      </a:r>
                    </a:p>
                  </a:txBody>
                  <a:tcPr marL="66675" marR="66675" marT="28575" marB="28575" anchor="ctr">
                    <a:solidFill>
                      <a:srgbClr val="FFFFFF"/>
                    </a:solidFill>
                  </a:tcPr>
                </a:tc>
                <a:tc>
                  <a:txBody>
                    <a:bodyPr/>
                    <a:lstStyle/>
                    <a:p>
                      <a:pPr algn="ctr">
                        <a:buNone/>
                      </a:pPr>
                      <a:r>
                        <a:rPr sz="1800" b="1">
                          <a:solidFill>
                            <a:srgbClr val="444444"/>
                          </a:solidFill>
                          <a:latin typeface="Calibri"/>
                          <a:ea typeface="Calibri"/>
                          <a:cs typeface="Calibri"/>
                        </a:rPr>
                        <a:t>SOH</a:t>
                      </a:r>
                    </a:p>
                  </a:txBody>
                  <a:tcPr marL="66675" marR="66675" marT="28575" marB="28575" anchor="ctr">
                    <a:solidFill>
                      <a:srgbClr val="FFFFFF"/>
                    </a:solidFill>
                  </a:tcPr>
                </a:tc>
                <a:extLst>
                  <a:ext uri="{0D108BD9-81ED-4DB2-BD59-A6C34878D82A}">
                    <a16:rowId xmlns:a16="http://schemas.microsoft.com/office/drawing/2014/main" val="10000"/>
                  </a:ext>
                </a:extLst>
              </a:tr>
              <a:tr h="390525">
                <a:tc gridSpan="2">
                  <a:txBody>
                    <a:bodyPr/>
                    <a:lstStyle/>
                    <a:p>
                      <a:pPr algn="ctr">
                        <a:buNone/>
                      </a:pPr>
                      <a:r>
                        <a:rPr sz="1800" b="0">
                          <a:solidFill>
                            <a:srgbClr val="444444"/>
                          </a:solidFill>
                          <a:latin typeface="Calibri"/>
                          <a:ea typeface="Calibri"/>
                          <a:cs typeface="Calibri"/>
                        </a:rPr>
                        <a:t>Kernelzeit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1"/>
                  </a:ext>
                </a:extLst>
              </a:tr>
              <a:tr h="447675">
                <a:tc>
                  <a:txBody>
                    <a:bodyPr/>
                    <a:lstStyle/>
                    <a:p>
                      <a:pPr algn="ctr">
                        <a:buNone/>
                      </a:pPr>
                      <a:r>
                        <a:rPr sz="1800" b="1">
                          <a:solidFill>
                            <a:srgbClr val="D00020"/>
                          </a:solidFill>
                          <a:latin typeface="Calibri"/>
                          <a:ea typeface="Calibri"/>
                          <a:cs typeface="Calibri"/>
                        </a:rPr>
                        <a:t>−42,9 %</a:t>
                      </a:r>
                    </a:p>
                  </a:txBody>
                  <a:tcPr marL="66675" marR="66675" marT="28575" marB="28575" anchor="ctr">
                    <a:solidFill>
                      <a:srgbClr val="FFFFFF"/>
                    </a:solidFill>
                  </a:tcPr>
                </a:tc>
                <a:tc>
                  <a:txBody>
                    <a:bodyPr/>
                    <a:lstStyle/>
                    <a:p>
                      <a:pPr algn="ctr">
                        <a:buNone/>
                      </a:pPr>
                      <a:r>
                        <a:rPr sz="1800" b="1">
                          <a:solidFill>
                            <a:srgbClr val="D00020"/>
                          </a:solidFill>
                          <a:latin typeface="Calibri"/>
                          <a:ea typeface="Calibri"/>
                          <a:cs typeface="Calibri"/>
                        </a:rPr>
                        <a:t>−44,0 %</a:t>
                      </a:r>
                    </a:p>
                  </a:txBody>
                  <a:tcPr marL="66675" marR="66675" marT="28575" marB="28575" anchor="ctr">
                    <a:solidFill>
                      <a:srgbClr val="FFFFFF"/>
                    </a:solidFill>
                  </a:tcPr>
                </a:tc>
                <a:extLst>
                  <a:ext uri="{0D108BD9-81ED-4DB2-BD59-A6C34878D82A}">
                    <a16:rowId xmlns:a16="http://schemas.microsoft.com/office/drawing/2014/main" val="10002"/>
                  </a:ext>
                </a:extLst>
              </a:tr>
              <a:tr h="390525">
                <a:tc gridSpan="2">
                  <a:txBody>
                    <a:bodyPr/>
                    <a:lstStyle/>
                    <a:p>
                      <a:pPr algn="ctr">
                        <a:buNone/>
                      </a:pPr>
                      <a:r>
                        <a:rPr sz="1800" b="0">
                          <a:solidFill>
                            <a:srgbClr val="444444"/>
                          </a:solidFill>
                          <a:latin typeface="Calibri"/>
                          <a:ea typeface="Calibri"/>
                          <a:cs typeface="Calibri"/>
                        </a:rPr>
                        <a:t>Host-Latenz (PC ↔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3"/>
                  </a:ext>
                </a:extLst>
              </a:tr>
              <a:tr h="447675">
                <a:tc>
                  <a:txBody>
                    <a:bodyPr/>
                    <a:lstStyle/>
                    <a:p>
                      <a:pPr algn="ctr">
                        <a:buNone/>
                      </a:pPr>
                      <a:r>
                        <a:rPr sz="1800" b="1">
                          <a:solidFill>
                            <a:srgbClr val="D00020"/>
                          </a:solidFill>
                          <a:latin typeface="Calibri"/>
                          <a:ea typeface="Calibri"/>
                          <a:cs typeface="Calibri"/>
                        </a:rPr>
                        <a:t>−3,9 %</a:t>
                      </a:r>
                    </a:p>
                  </a:txBody>
                  <a:tcPr marL="66675" marR="66675" marT="28575" marB="28575" anchor="ctr">
                    <a:solidFill>
                      <a:srgbClr val="FFFFFF"/>
                    </a:solidFill>
                  </a:tcPr>
                </a:tc>
                <a:tc>
                  <a:txBody>
                    <a:bodyPr/>
                    <a:lstStyle/>
                    <a:p>
                      <a:pPr algn="ctr">
                        <a:buNone/>
                      </a:pPr>
                      <a:r>
                        <a:rPr sz="1800" b="1">
                          <a:solidFill>
                            <a:srgbClr val="D00020"/>
                          </a:solidFill>
                          <a:latin typeface="Calibri"/>
                          <a:ea typeface="Calibri"/>
                          <a:cs typeface="Calibri"/>
                        </a:rPr>
                        <a:t>−29,2 %</a:t>
                      </a:r>
                    </a:p>
                  </a:txBody>
                  <a:tcPr marL="66675" marR="6667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33" name="LC_label_Ergebnis">
            <a:extLst>
              <a:ext uri="{FF2B5EF4-FFF2-40B4-BE49-F238E27FC236}">
                <a16:creationId xmlns:a16="http://schemas.microsoft.com/office/drawing/2014/main" id="{1B28898D-2FE8-49EA-AA5C-C867AB53ADC1}"/>
              </a:ext>
            </a:extLst>
          </p:cNvPr>
          <p:cNvSpPr>
            <a:spLocks noGrp="1"/>
          </p:cNvSpPr>
          <p:nvPr/>
        </p:nvSpPr>
        <p:spPr>
          <a:xfrm>
            <a:off x="552450" y="4248150"/>
            <a:ext cx="1000125"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Ergebnis</a:t>
            </a:r>
            <a:endParaRPr sz="1800" b="1" dirty="0">
              <a:solidFill>
                <a:srgbClr val="D00020"/>
              </a:solidFill>
              <a:latin typeface="Calibri"/>
              <a:ea typeface="Calibri"/>
              <a:cs typeface="Calibri"/>
            </a:endParaRPr>
          </a:p>
        </p:txBody>
      </p:sp>
      <p:sp>
        <p:nvSpPr>
          <p:cNvPr id="34" name="LC_text_Ergebnis">
            <a:extLst>
              <a:ext uri="{FF2B5EF4-FFF2-40B4-BE49-F238E27FC236}">
                <a16:creationId xmlns:a16="http://schemas.microsoft.com/office/drawing/2014/main" id="{47408EE4-86D3-41F6-8959-30F97C98E857}"/>
              </a:ext>
            </a:extLst>
          </p:cNvPr>
          <p:cNvSpPr>
            <a:spLocks noGrp="1"/>
          </p:cNvSpPr>
          <p:nvPr/>
        </p:nvSpPr>
        <p:spPr>
          <a:xfrm>
            <a:off x="1743075" y="4248150"/>
            <a:ext cx="82105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Deutlich kürzere Kernelzeit; geringer Host-Gewinn beim SOC</a:t>
            </a:r>
          </a:p>
        </p:txBody>
      </p:sp>
      <p:sp>
        <p:nvSpPr>
          <p:cNvPr id="35" name="LC_label_Ursache">
            <a:extLst>
              <a:ext uri="{FF2B5EF4-FFF2-40B4-BE49-F238E27FC236}">
                <a16:creationId xmlns:a16="http://schemas.microsoft.com/office/drawing/2014/main" id="{1E0966D2-1798-45B6-8583-E2FFEF791FD8}"/>
              </a:ext>
            </a:extLst>
          </p:cNvPr>
          <p:cNvSpPr>
            <a:spLocks noGrp="1"/>
          </p:cNvSpPr>
          <p:nvPr/>
        </p:nvSpPr>
        <p:spPr>
          <a:xfrm>
            <a:off x="552450" y="46672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Ursache</a:t>
            </a:r>
          </a:p>
        </p:txBody>
      </p:sp>
      <p:sp>
        <p:nvSpPr>
          <p:cNvPr id="36" name="LC_text_Ursache">
            <a:extLst>
              <a:ext uri="{FF2B5EF4-FFF2-40B4-BE49-F238E27FC236}">
                <a16:creationId xmlns:a16="http://schemas.microsoft.com/office/drawing/2014/main" id="{9593F7F1-3E5F-4C1F-91E6-5E33FFD3EB87}"/>
              </a:ext>
            </a:extLst>
          </p:cNvPr>
          <p:cNvSpPr>
            <a:spLocks noGrp="1"/>
          </p:cNvSpPr>
          <p:nvPr/>
        </p:nvSpPr>
        <p:spPr>
          <a:xfrm>
            <a:off x="1743075" y="46672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Reduktion der Rechenoperationen durch weniger Hidden Units;</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beim SOC hoher Zeitanteil für Übertragung und Scheduling</a:t>
            </a:r>
          </a:p>
        </p:txBody>
      </p:sp>
      <p:sp>
        <p:nvSpPr>
          <p:cNvPr id="37" name="LC_label_Fazit">
            <a:extLst>
              <a:ext uri="{FF2B5EF4-FFF2-40B4-BE49-F238E27FC236}">
                <a16:creationId xmlns:a16="http://schemas.microsoft.com/office/drawing/2014/main" id="{6231E57A-E4AA-41B7-8D64-6AAD05D96283}"/>
              </a:ext>
            </a:extLst>
          </p:cNvPr>
          <p:cNvSpPr>
            <a:spLocks noGrp="1"/>
          </p:cNvSpPr>
          <p:nvPr/>
        </p:nvSpPr>
        <p:spPr>
          <a:xfrm>
            <a:off x="552450" y="53530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Fazit</a:t>
            </a:r>
            <a:endParaRPr sz="1800" b="1" dirty="0">
              <a:solidFill>
                <a:srgbClr val="D00020"/>
              </a:solidFill>
              <a:latin typeface="Calibri"/>
              <a:ea typeface="Calibri"/>
              <a:cs typeface="Calibri"/>
            </a:endParaRPr>
          </a:p>
        </p:txBody>
      </p:sp>
      <p:sp>
        <p:nvSpPr>
          <p:cNvPr id="38" name="LC_text_Fazit">
            <a:extLst>
              <a:ext uri="{FF2B5EF4-FFF2-40B4-BE49-F238E27FC236}">
                <a16:creationId xmlns:a16="http://schemas.microsoft.com/office/drawing/2014/main" id="{B5254F83-2150-49AB-8B5E-211662C3B789}"/>
              </a:ext>
            </a:extLst>
          </p:cNvPr>
          <p:cNvSpPr>
            <a:spLocks noGrp="1"/>
          </p:cNvSpPr>
          <p:nvPr/>
        </p:nvSpPr>
        <p:spPr>
          <a:xfrm>
            <a:off x="1743075" y="53530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Zusätzliche Optimierung von Übertragung und Scheduling</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für einen größeren End-to-End-Gewinn</a:t>
            </a:r>
          </a:p>
        </p:txBody>
      </p:sp>
      <p:sp>
        <p:nvSpPr>
          <p:cNvPr id="39" name="Footer – Seitennummer">
            <a:extLst>
              <a:ext uri="{FF2B5EF4-FFF2-40B4-BE49-F238E27FC236}">
                <a16:creationId xmlns:a16="http://schemas.microsoft.com/office/drawing/2014/main" id="{097E40FF-2614-48E2-9FF3-C7DD2DE4E9F9}"/>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36 / 39</a:t>
            </a:r>
          </a:p>
        </p:txBody>
      </p:sp>
      <p:sp>
        <p:nvSpPr>
          <p:cNvPr id="40" name="Footer – Präsentationsangaben">
            <a:extLst>
              <a:ext uri="{FF2B5EF4-FFF2-40B4-BE49-F238E27FC236}">
                <a16:creationId xmlns:a16="http://schemas.microsoft.com/office/drawing/2014/main" id="{683B8A8D-D72C-40DA-BAB7-949FD32B2A0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cxnSp>
        <p:nvCxnSpPr>
          <p:cNvPr id="5" name="Gerade Verbindung mit Pfeil 4">
            <a:extLst>
              <a:ext uri="{FF2B5EF4-FFF2-40B4-BE49-F238E27FC236}">
                <a16:creationId xmlns:a16="http://schemas.microsoft.com/office/drawing/2014/main" id="{19BE2B56-6178-F4EB-0EE7-10A09E6939A2}"/>
              </a:ext>
            </a:extLst>
          </p:cNvPr>
          <p:cNvCxnSpPr/>
          <p:nvPr/>
        </p:nvCxnSpPr>
        <p:spPr>
          <a:xfrm flipH="1">
            <a:off x="1688123" y="1956689"/>
            <a:ext cx="2110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Gerade Verbindung mit Pfeil 5">
            <a:extLst>
              <a:ext uri="{FF2B5EF4-FFF2-40B4-BE49-F238E27FC236}">
                <a16:creationId xmlns:a16="http://schemas.microsoft.com/office/drawing/2014/main" id="{1167B5EC-F969-735C-AA89-C0BA71A29FDA}"/>
              </a:ext>
            </a:extLst>
          </p:cNvPr>
          <p:cNvCxnSpPr/>
          <p:nvPr/>
        </p:nvCxnSpPr>
        <p:spPr>
          <a:xfrm flipH="1">
            <a:off x="5408602" y="1956689"/>
            <a:ext cx="2110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37918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3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Host-Latenz und Kernelzeit auf dem STM32</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30" name="LV_host_distributions"/>
          <p:cNvPicPr>
            <a:picLocks noChangeAspect="1"/>
          </p:cNvPicPr>
          <p:nvPr/>
        </p:nvPicPr>
        <p:blipFill>
          <a:blip r:embed="rId3"/>
          <a:stretch/>
        </p:blipFill>
        <p:spPr>
          <a:xfrm>
            <a:off x="552450" y="1476375"/>
            <a:ext cx="5953125" cy="2480469"/>
          </a:xfrm>
          <a:prstGeom prst="rect">
            <a:avLst/>
          </a:prstGeom>
        </p:spPr>
      </p:pic>
      <p:sp>
        <p:nvSpPr>
          <p:cNvPr id="31" name="LC_variant">
            <a:extLst>
              <a:ext uri="{FF2B5EF4-FFF2-40B4-BE49-F238E27FC236}">
                <a16:creationId xmlns:a16="http://schemas.microsoft.com/office/drawing/2014/main" id="{7B07CA2E-1A97-4F66-A5D9-6B2D48623FF4}"/>
              </a:ext>
            </a:extLst>
          </p:cNvPr>
          <p:cNvSpPr>
            <a:spLocks noGrp="1"/>
          </p:cNvSpPr>
          <p:nvPr/>
        </p:nvSpPr>
        <p:spPr>
          <a:xfrm>
            <a:off x="6715125" y="1476375"/>
            <a:ext cx="3238500" cy="323850"/>
          </a:xfrm>
          <a:prstGeom prst="rect">
            <a:avLst/>
          </a:prstGeom>
          <a:noFill/>
          <a:ln w="0">
            <a:noFill/>
          </a:ln>
        </p:spPr>
        <p:txBody>
          <a:bodyPr lIns="0" tIns="0" rIns="0" bIns="0" anchor="t">
            <a:noAutofit/>
          </a:bodyPr>
          <a:lstStyle/>
          <a:p>
            <a:pPr algn="l">
              <a:buNone/>
              <a:defRPr sz="1800" b="1">
                <a:solidFill>
                  <a:srgbClr val="1F77B4"/>
                </a:solidFill>
                <a:latin typeface="Calibri"/>
                <a:ea typeface="Calibri"/>
                <a:cs typeface="Calibri"/>
              </a:defRPr>
            </a:pPr>
            <a:r>
              <a:rPr sz="1800" b="1">
                <a:solidFill>
                  <a:srgbClr val="1F77B4"/>
                </a:solidFill>
                <a:latin typeface="Calibri"/>
                <a:ea typeface="Calibri"/>
                <a:cs typeface="Calibri"/>
              </a:rPr>
              <a:t>Quantized vs. Base</a:t>
            </a:r>
          </a:p>
        </p:txBody>
      </p:sp>
      <p:graphicFrame>
        <p:nvGraphicFramePr>
          <p:cNvPr id="32" name="Tabelle 31"/>
          <p:cNvGraphicFramePr/>
          <p:nvPr/>
        </p:nvGraphicFramePr>
        <p:xfrm>
          <a:off x="6715125" y="1885950"/>
          <a:ext cx="3238500" cy="2009775"/>
        </p:xfrm>
        <a:graphic>
          <a:graphicData uri="http://schemas.openxmlformats.org/drawingml/2006/table">
            <a:tbl>
              <a:tblPr/>
              <a:tblGrid>
                <a:gridCol w="16192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tblGrid>
              <a:tr h="333375">
                <a:tc>
                  <a:txBody>
                    <a:bodyPr/>
                    <a:lstStyle/>
                    <a:p>
                      <a:pPr algn="ctr">
                        <a:buNone/>
                      </a:pPr>
                      <a:r>
                        <a:rPr sz="1800" b="1">
                          <a:solidFill>
                            <a:srgbClr val="444444"/>
                          </a:solidFill>
                          <a:latin typeface="Calibri"/>
                          <a:ea typeface="Calibri"/>
                          <a:cs typeface="Calibri"/>
                        </a:rPr>
                        <a:t>SOC</a:t>
                      </a:r>
                    </a:p>
                  </a:txBody>
                  <a:tcPr marL="66675" marR="66675" marT="28575" marB="28575" anchor="ctr">
                    <a:solidFill>
                      <a:srgbClr val="FFFFFF"/>
                    </a:solidFill>
                  </a:tcPr>
                </a:tc>
                <a:tc>
                  <a:txBody>
                    <a:bodyPr/>
                    <a:lstStyle/>
                    <a:p>
                      <a:pPr algn="ctr">
                        <a:buNone/>
                      </a:pPr>
                      <a:r>
                        <a:rPr sz="1800" b="1">
                          <a:solidFill>
                            <a:srgbClr val="444444"/>
                          </a:solidFill>
                          <a:latin typeface="Calibri"/>
                          <a:ea typeface="Calibri"/>
                          <a:cs typeface="Calibri"/>
                        </a:rPr>
                        <a:t>SOH</a:t>
                      </a:r>
                    </a:p>
                  </a:txBody>
                  <a:tcPr marL="66675" marR="66675" marT="28575" marB="28575" anchor="ctr">
                    <a:solidFill>
                      <a:srgbClr val="FFFFFF"/>
                    </a:solidFill>
                  </a:tcPr>
                </a:tc>
                <a:extLst>
                  <a:ext uri="{0D108BD9-81ED-4DB2-BD59-A6C34878D82A}">
                    <a16:rowId xmlns:a16="http://schemas.microsoft.com/office/drawing/2014/main" val="10000"/>
                  </a:ext>
                </a:extLst>
              </a:tr>
              <a:tr h="390525">
                <a:tc gridSpan="2">
                  <a:txBody>
                    <a:bodyPr/>
                    <a:lstStyle/>
                    <a:p>
                      <a:pPr algn="ctr">
                        <a:buNone/>
                      </a:pPr>
                      <a:r>
                        <a:rPr sz="1800" b="0">
                          <a:solidFill>
                            <a:srgbClr val="444444"/>
                          </a:solidFill>
                          <a:latin typeface="Calibri"/>
                          <a:ea typeface="Calibri"/>
                          <a:cs typeface="Calibri"/>
                        </a:rPr>
                        <a:t>Kernelzeit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1"/>
                  </a:ext>
                </a:extLst>
              </a:tr>
              <a:tr h="447675">
                <a:tc>
                  <a:txBody>
                    <a:bodyPr/>
                    <a:lstStyle/>
                    <a:p>
                      <a:pPr algn="ctr">
                        <a:buNone/>
                      </a:pPr>
                      <a:r>
                        <a:rPr sz="1800" b="1">
                          <a:solidFill>
                            <a:srgbClr val="1F77B4"/>
                          </a:solidFill>
                          <a:latin typeface="Calibri"/>
                          <a:ea typeface="Calibri"/>
                          <a:cs typeface="Calibri"/>
                        </a:rPr>
                        <a:t>+399,3 %</a:t>
                      </a:r>
                    </a:p>
                  </a:txBody>
                  <a:tcPr marL="66675" marR="66675" marT="28575" marB="28575" anchor="ctr">
                    <a:solidFill>
                      <a:srgbClr val="FFFFFF"/>
                    </a:solidFill>
                  </a:tcPr>
                </a:tc>
                <a:tc>
                  <a:txBody>
                    <a:bodyPr/>
                    <a:lstStyle/>
                    <a:p>
                      <a:pPr algn="ctr">
                        <a:buNone/>
                      </a:pPr>
                      <a:r>
                        <a:rPr sz="1800" b="1">
                          <a:solidFill>
                            <a:srgbClr val="1F77B4"/>
                          </a:solidFill>
                          <a:latin typeface="Calibri"/>
                          <a:ea typeface="Calibri"/>
                          <a:cs typeface="Calibri"/>
                        </a:rPr>
                        <a:t>+28,5 %</a:t>
                      </a:r>
                    </a:p>
                  </a:txBody>
                  <a:tcPr marL="66675" marR="66675" marT="28575" marB="28575" anchor="ctr">
                    <a:solidFill>
                      <a:srgbClr val="FFFFFF"/>
                    </a:solidFill>
                  </a:tcPr>
                </a:tc>
                <a:extLst>
                  <a:ext uri="{0D108BD9-81ED-4DB2-BD59-A6C34878D82A}">
                    <a16:rowId xmlns:a16="http://schemas.microsoft.com/office/drawing/2014/main" val="10002"/>
                  </a:ext>
                </a:extLst>
              </a:tr>
              <a:tr h="390525">
                <a:tc gridSpan="2">
                  <a:txBody>
                    <a:bodyPr/>
                    <a:lstStyle/>
                    <a:p>
                      <a:pPr algn="ctr">
                        <a:buNone/>
                      </a:pPr>
                      <a:r>
                        <a:rPr sz="1800" b="0">
                          <a:solidFill>
                            <a:srgbClr val="444444"/>
                          </a:solidFill>
                          <a:latin typeface="Calibri"/>
                          <a:ea typeface="Calibri"/>
                          <a:cs typeface="Calibri"/>
                        </a:rPr>
                        <a:t>Host-Latenz (PC ↔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3"/>
                  </a:ext>
                </a:extLst>
              </a:tr>
              <a:tr h="447675">
                <a:tc>
                  <a:txBody>
                    <a:bodyPr/>
                    <a:lstStyle/>
                    <a:p>
                      <a:pPr algn="ctr">
                        <a:buNone/>
                      </a:pPr>
                      <a:r>
                        <a:rPr sz="1800" b="1">
                          <a:solidFill>
                            <a:srgbClr val="1F77B4"/>
                          </a:solidFill>
                          <a:latin typeface="Calibri"/>
                          <a:ea typeface="Calibri"/>
                          <a:cs typeface="Calibri"/>
                        </a:rPr>
                        <a:t>+45,5 %</a:t>
                      </a:r>
                    </a:p>
                  </a:txBody>
                  <a:tcPr marL="66675" marR="66675" marT="28575" marB="28575" anchor="ctr">
                    <a:solidFill>
                      <a:srgbClr val="FFFFFF"/>
                    </a:solidFill>
                  </a:tcPr>
                </a:tc>
                <a:tc>
                  <a:txBody>
                    <a:bodyPr/>
                    <a:lstStyle/>
                    <a:p>
                      <a:pPr algn="ctr">
                        <a:buNone/>
                      </a:pPr>
                      <a:r>
                        <a:rPr sz="1800" b="1">
                          <a:solidFill>
                            <a:srgbClr val="1F77B4"/>
                          </a:solidFill>
                          <a:latin typeface="Calibri"/>
                          <a:ea typeface="Calibri"/>
                          <a:cs typeface="Calibri"/>
                        </a:rPr>
                        <a:t>+18,2 %</a:t>
                      </a:r>
                    </a:p>
                  </a:txBody>
                  <a:tcPr marL="66675" marR="6667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33" name="LC_label_Ergebnis">
            <a:extLst>
              <a:ext uri="{FF2B5EF4-FFF2-40B4-BE49-F238E27FC236}">
                <a16:creationId xmlns:a16="http://schemas.microsoft.com/office/drawing/2014/main" id="{9E2314AB-8FE6-4E27-ABAD-2CD8DF5F882C}"/>
              </a:ext>
            </a:extLst>
          </p:cNvPr>
          <p:cNvSpPr>
            <a:spLocks noGrp="1"/>
          </p:cNvSpPr>
          <p:nvPr/>
        </p:nvSpPr>
        <p:spPr>
          <a:xfrm>
            <a:off x="552450" y="4248150"/>
            <a:ext cx="1000125"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Ergebnis</a:t>
            </a:r>
          </a:p>
        </p:txBody>
      </p:sp>
      <p:sp>
        <p:nvSpPr>
          <p:cNvPr id="34" name="LC_text_Ergebnis">
            <a:extLst>
              <a:ext uri="{FF2B5EF4-FFF2-40B4-BE49-F238E27FC236}">
                <a16:creationId xmlns:a16="http://schemas.microsoft.com/office/drawing/2014/main" id="{B876A8D3-172B-488D-968A-A3561DAF9A51}"/>
              </a:ext>
            </a:extLst>
          </p:cNvPr>
          <p:cNvSpPr>
            <a:spLocks noGrp="1"/>
          </p:cNvSpPr>
          <p:nvPr/>
        </p:nvSpPr>
        <p:spPr>
          <a:xfrm>
            <a:off x="1743075" y="4248150"/>
            <a:ext cx="82105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Längere Kernel- und Host-Zeiten trotz kleinerem Flashbedarf</a:t>
            </a:r>
          </a:p>
        </p:txBody>
      </p:sp>
      <p:sp>
        <p:nvSpPr>
          <p:cNvPr id="35" name="LC_label_Ursache">
            <a:extLst>
              <a:ext uri="{FF2B5EF4-FFF2-40B4-BE49-F238E27FC236}">
                <a16:creationId xmlns:a16="http://schemas.microsoft.com/office/drawing/2014/main" id="{02F6293A-ABC0-4B7E-A8C8-DEB3CF9C0F84}"/>
              </a:ext>
            </a:extLst>
          </p:cNvPr>
          <p:cNvSpPr>
            <a:spLocks noGrp="1"/>
          </p:cNvSpPr>
          <p:nvPr/>
        </p:nvSpPr>
        <p:spPr>
          <a:xfrm>
            <a:off x="552450" y="46672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Ursache</a:t>
            </a:r>
          </a:p>
        </p:txBody>
      </p:sp>
      <p:sp>
        <p:nvSpPr>
          <p:cNvPr id="36" name="LC_text_Ursache">
            <a:extLst>
              <a:ext uri="{FF2B5EF4-FFF2-40B4-BE49-F238E27FC236}">
                <a16:creationId xmlns:a16="http://schemas.microsoft.com/office/drawing/2014/main" id="{EE396EE2-FD8D-41AC-9DCD-FA159AA70013}"/>
              </a:ext>
            </a:extLst>
          </p:cNvPr>
          <p:cNvSpPr>
            <a:spLocks noGrp="1"/>
          </p:cNvSpPr>
          <p:nvPr/>
        </p:nvSpPr>
        <p:spPr>
          <a:xfrm>
            <a:off x="1743075" y="46672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Dequantization bei FP32-Arithmetik; mögliche zusätzliche</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Einflüsse durch Speicherzugriffe und Schleifen</a:t>
            </a:r>
          </a:p>
        </p:txBody>
      </p:sp>
      <p:sp>
        <p:nvSpPr>
          <p:cNvPr id="37" name="LC_label_Fazit">
            <a:extLst>
              <a:ext uri="{FF2B5EF4-FFF2-40B4-BE49-F238E27FC236}">
                <a16:creationId xmlns:a16="http://schemas.microsoft.com/office/drawing/2014/main" id="{1616A37F-930A-4E9E-8E4A-411DA127229F}"/>
              </a:ext>
            </a:extLst>
          </p:cNvPr>
          <p:cNvSpPr>
            <a:spLocks noGrp="1"/>
          </p:cNvSpPr>
          <p:nvPr/>
        </p:nvSpPr>
        <p:spPr>
          <a:xfrm>
            <a:off x="552450" y="53530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Fazit</a:t>
            </a:r>
            <a:endParaRPr sz="1800" b="1" dirty="0">
              <a:solidFill>
                <a:srgbClr val="D00020"/>
              </a:solidFill>
              <a:latin typeface="Calibri"/>
              <a:ea typeface="Calibri"/>
              <a:cs typeface="Calibri"/>
            </a:endParaRPr>
          </a:p>
        </p:txBody>
      </p:sp>
      <p:sp>
        <p:nvSpPr>
          <p:cNvPr id="38" name="LC_text_Fazit">
            <a:extLst>
              <a:ext uri="{FF2B5EF4-FFF2-40B4-BE49-F238E27FC236}">
                <a16:creationId xmlns:a16="http://schemas.microsoft.com/office/drawing/2014/main" id="{13419236-F71F-4316-927E-D27D11C26ABB}"/>
              </a:ext>
            </a:extLst>
          </p:cNvPr>
          <p:cNvSpPr>
            <a:spLocks noGrp="1"/>
          </p:cNvSpPr>
          <p:nvPr/>
        </p:nvSpPr>
        <p:spPr>
          <a:xfrm>
            <a:off x="1743075" y="53530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Flash-Gewinn bei höherem Rechenaufwand im Referenzkernel;</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gezieltes Profiling als Basis weiterer Kernel-Optimierung</a:t>
            </a:r>
          </a:p>
        </p:txBody>
      </p:sp>
      <p:sp>
        <p:nvSpPr>
          <p:cNvPr id="39" name="Footer – Seitennummer">
            <a:extLst>
              <a:ext uri="{FF2B5EF4-FFF2-40B4-BE49-F238E27FC236}">
                <a16:creationId xmlns:a16="http://schemas.microsoft.com/office/drawing/2014/main" id="{FAFD3197-2348-4413-B65F-A3F02FB33D5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37 / 39</a:t>
            </a:r>
          </a:p>
        </p:txBody>
      </p:sp>
      <p:sp>
        <p:nvSpPr>
          <p:cNvPr id="40" name="Footer – Präsentationsangaben">
            <a:extLst>
              <a:ext uri="{FF2B5EF4-FFF2-40B4-BE49-F238E27FC236}">
                <a16:creationId xmlns:a16="http://schemas.microsoft.com/office/drawing/2014/main" id="{696BBEC0-E4B7-4591-B216-688C5438258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cxnSp>
        <p:nvCxnSpPr>
          <p:cNvPr id="2" name="Gerade Verbindung mit Pfeil 1">
            <a:extLst>
              <a:ext uri="{FF2B5EF4-FFF2-40B4-BE49-F238E27FC236}">
                <a16:creationId xmlns:a16="http://schemas.microsoft.com/office/drawing/2014/main" id="{EC89E9E0-B1C8-1B5F-BD40-39E9B3DB399A}"/>
              </a:ext>
            </a:extLst>
          </p:cNvPr>
          <p:cNvCxnSpPr>
            <a:cxnSpLocks/>
          </p:cNvCxnSpPr>
          <p:nvPr/>
        </p:nvCxnSpPr>
        <p:spPr>
          <a:xfrm>
            <a:off x="1899138" y="2019301"/>
            <a:ext cx="223805"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6" name="Gerade Verbindung mit Pfeil 5">
            <a:extLst>
              <a:ext uri="{FF2B5EF4-FFF2-40B4-BE49-F238E27FC236}">
                <a16:creationId xmlns:a16="http://schemas.microsoft.com/office/drawing/2014/main" id="{BF604F6A-9CB0-F319-257F-CDE8310564CB}"/>
              </a:ext>
            </a:extLst>
          </p:cNvPr>
          <p:cNvCxnSpPr>
            <a:cxnSpLocks/>
          </p:cNvCxnSpPr>
          <p:nvPr/>
        </p:nvCxnSpPr>
        <p:spPr>
          <a:xfrm>
            <a:off x="5872195" y="1889948"/>
            <a:ext cx="223805"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37918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Fazit: Antworten auf die Forschungsfragen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9" name="Structure separator">
            <a:extLst>
              <a:ext uri="{FF2B5EF4-FFF2-40B4-BE49-F238E27FC236}">
                <a16:creationId xmlns:a16="http://schemas.microsoft.com/office/drawing/2014/main" id="{3E8DD8F8-5986-4CBD-8E61-B460047912A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32606DE3-F8B1-4DC8-8E1E-BB6910A6804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A5CFFFF-6E8C-4552-B224-32B31B32B45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6D2BE5D4-9464-4069-9C41-C0788D63A24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CF6029C0-E42C-4F36-9870-944CF4DADA3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06DFFC36-ED73-4039-86E5-C0D55FE2D74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2CF58A79-24A7-481F-A416-DB79D590E223}"/>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93BB3C47-F244-4716-B67E-0F1BE8DB686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2333625"/>
            <a:ext cx="3857625" cy="2426755"/>
          </a:xfrm>
          <a:prstGeom prst="rect">
            <a:avLst/>
          </a:prstGeom>
        </p:spPr>
      </p:pic>
      <p:sp>
        <p:nvSpPr>
          <p:cNvPr id="45" name="CQ_topic_0">
            <a:extLst>
              <a:ext uri="{FF2B5EF4-FFF2-40B4-BE49-F238E27FC236}">
                <a16:creationId xmlns:a16="http://schemas.microsoft.com/office/drawing/2014/main" id="{854204CF-9D67-40EB-A559-C4B5606749C0}"/>
              </a:ext>
            </a:extLst>
          </p:cNvPr>
          <p:cNvSpPr>
            <a:spLocks noGrp="1"/>
          </p:cNvSpPr>
          <p:nvPr/>
        </p:nvSpPr>
        <p:spPr>
          <a:xfrm>
            <a:off x="4714875" y="1428750"/>
            <a:ext cx="5238750" cy="2857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Feature Engineering</a:t>
            </a:r>
          </a:p>
        </p:txBody>
      </p:sp>
      <p:sp>
        <p:nvSpPr>
          <p:cNvPr id="46" name="CQ_answer_0">
            <a:extLst>
              <a:ext uri="{FF2B5EF4-FFF2-40B4-BE49-F238E27FC236}">
                <a16:creationId xmlns:a16="http://schemas.microsoft.com/office/drawing/2014/main" id="{22FA9098-2EAE-4FFE-9732-C6134C1BD791}"/>
              </a:ext>
            </a:extLst>
          </p:cNvPr>
          <p:cNvSpPr>
            <a:spLocks noGrp="1"/>
          </p:cNvSpPr>
          <p:nvPr/>
        </p:nvSpPr>
        <p:spPr>
          <a:xfrm>
            <a:off x="4714875" y="1743075"/>
            <a:ext cx="5238750" cy="2857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Zeitabhängige SOH-Schätzung mit einem MLP</a:t>
            </a:r>
            <a:endParaRPr sz="1800" b="1" dirty="0">
              <a:solidFill>
                <a:srgbClr val="444444"/>
              </a:solidFill>
              <a:latin typeface="Calibri"/>
              <a:ea typeface="Calibri"/>
              <a:cs typeface="Calibri"/>
            </a:endParaRPr>
          </a:p>
        </p:txBody>
      </p:sp>
      <p:sp>
        <p:nvSpPr>
          <p:cNvPr id="47" name="CQ_detail_0">
            <a:extLst>
              <a:ext uri="{FF2B5EF4-FFF2-40B4-BE49-F238E27FC236}">
                <a16:creationId xmlns:a16="http://schemas.microsoft.com/office/drawing/2014/main" id="{F09F76E8-B8C2-492B-BB3A-8317C95B1EE3}"/>
              </a:ext>
            </a:extLst>
          </p:cNvPr>
          <p:cNvSpPr>
            <a:spLocks noGrp="1"/>
          </p:cNvSpPr>
          <p:nvPr/>
        </p:nvSpPr>
        <p:spPr>
          <a:xfrm>
            <a:off x="4714875" y="2076450"/>
            <a:ext cx="52387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Feature Engineering und Lag Sequences liefern</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die Zeitinformation ohne rekurrente Architektur</a:t>
            </a:r>
          </a:p>
        </p:txBody>
      </p:sp>
      <p:sp>
        <p:nvSpPr>
          <p:cNvPr id="48" name="CQ_topic_1">
            <a:extLst>
              <a:ext uri="{FF2B5EF4-FFF2-40B4-BE49-F238E27FC236}">
                <a16:creationId xmlns:a16="http://schemas.microsoft.com/office/drawing/2014/main" id="{2302C89A-BEAB-4013-96F3-E79679AF21F8}"/>
              </a:ext>
            </a:extLst>
          </p:cNvPr>
          <p:cNvSpPr>
            <a:spLocks noGrp="1"/>
          </p:cNvSpPr>
          <p:nvPr/>
        </p:nvSpPr>
        <p:spPr>
          <a:xfrm>
            <a:off x="4714875" y="2943225"/>
            <a:ext cx="5238750" cy="2857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Benchmarkkriterien</a:t>
            </a:r>
            <a:endParaRPr sz="1800" b="1" dirty="0">
              <a:solidFill>
                <a:srgbClr val="D00020"/>
              </a:solidFill>
              <a:latin typeface="Calibri"/>
              <a:ea typeface="Calibri"/>
              <a:cs typeface="Calibri"/>
            </a:endParaRPr>
          </a:p>
        </p:txBody>
      </p:sp>
      <p:sp>
        <p:nvSpPr>
          <p:cNvPr id="49" name="CQ_answer_1">
            <a:extLst>
              <a:ext uri="{FF2B5EF4-FFF2-40B4-BE49-F238E27FC236}">
                <a16:creationId xmlns:a16="http://schemas.microsoft.com/office/drawing/2014/main" id="{ABBD3A2A-88A5-4EA2-9875-02196B46B190}"/>
              </a:ext>
            </a:extLst>
          </p:cNvPr>
          <p:cNvSpPr>
            <a:spLocks noGrp="1"/>
          </p:cNvSpPr>
          <p:nvPr/>
        </p:nvSpPr>
        <p:spPr>
          <a:xfrm>
            <a:off x="4714875" y="3257550"/>
            <a:ext cx="5238750" cy="2857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Nominal Accuracy allein reicht nicht aus</a:t>
            </a:r>
          </a:p>
        </p:txBody>
      </p:sp>
      <p:sp>
        <p:nvSpPr>
          <p:cNvPr id="50" name="CQ_detail_1">
            <a:extLst>
              <a:ext uri="{FF2B5EF4-FFF2-40B4-BE49-F238E27FC236}">
                <a16:creationId xmlns:a16="http://schemas.microsoft.com/office/drawing/2014/main" id="{F68E716D-B82E-40A2-B3CE-7A6515C2DB04}"/>
              </a:ext>
            </a:extLst>
          </p:cNvPr>
          <p:cNvSpPr>
            <a:spLocks noGrp="1"/>
          </p:cNvSpPr>
          <p:nvPr/>
        </p:nvSpPr>
        <p:spPr>
          <a:xfrm>
            <a:off x="4714875" y="3590925"/>
            <a:ext cx="52387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Accuracy, Robustness und Hardwarebedarf</a:t>
            </a:r>
            <a:endParaRPr sz="1800" b="0" dirty="0">
              <a:solidFill>
                <a:srgbClr val="444444"/>
              </a:solidFill>
              <a:latin typeface="Calibri"/>
              <a:ea typeface="Calibri"/>
              <a:cs typeface="Calibri"/>
            </a:endParaRP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gemeinsam bewerten</a:t>
            </a:r>
            <a:endParaRPr sz="1800" b="0" dirty="0">
              <a:solidFill>
                <a:srgbClr val="444444"/>
              </a:solidFill>
              <a:latin typeface="Calibri"/>
              <a:ea typeface="Calibri"/>
              <a:cs typeface="Calibri"/>
            </a:endParaRPr>
          </a:p>
        </p:txBody>
      </p:sp>
      <p:sp>
        <p:nvSpPr>
          <p:cNvPr id="51" name="CQ_topic_2">
            <a:extLst>
              <a:ext uri="{FF2B5EF4-FFF2-40B4-BE49-F238E27FC236}">
                <a16:creationId xmlns:a16="http://schemas.microsoft.com/office/drawing/2014/main" id="{D80858D4-566D-4BA5-BB66-D97A15F1D371}"/>
              </a:ext>
            </a:extLst>
          </p:cNvPr>
          <p:cNvSpPr>
            <a:spLocks noGrp="1"/>
          </p:cNvSpPr>
          <p:nvPr/>
        </p:nvSpPr>
        <p:spPr>
          <a:xfrm>
            <a:off x="4714875" y="4457700"/>
            <a:ext cx="5238750" cy="2857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Embedded AI</a:t>
            </a:r>
          </a:p>
        </p:txBody>
      </p:sp>
      <p:sp>
        <p:nvSpPr>
          <p:cNvPr id="52" name="CQ_answer_2">
            <a:extLst>
              <a:ext uri="{FF2B5EF4-FFF2-40B4-BE49-F238E27FC236}">
                <a16:creationId xmlns:a16="http://schemas.microsoft.com/office/drawing/2014/main" id="{6CC2CF52-5FCA-4F0E-A131-78B4D336E3C8}"/>
              </a:ext>
            </a:extLst>
          </p:cNvPr>
          <p:cNvSpPr>
            <a:spLocks noGrp="1"/>
          </p:cNvSpPr>
          <p:nvPr/>
        </p:nvSpPr>
        <p:spPr>
          <a:xfrm>
            <a:off x="4714875" y="4772025"/>
            <a:ext cx="5238750" cy="2857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Ressourcengewinne durch Modellkompression</a:t>
            </a:r>
            <a:endParaRPr sz="1800" b="1" dirty="0">
              <a:solidFill>
                <a:srgbClr val="444444"/>
              </a:solidFill>
              <a:latin typeface="Calibri"/>
              <a:ea typeface="Calibri"/>
              <a:cs typeface="Calibri"/>
            </a:endParaRPr>
          </a:p>
        </p:txBody>
      </p:sp>
      <p:sp>
        <p:nvSpPr>
          <p:cNvPr id="53" name="CQ_detail_2">
            <a:extLst>
              <a:ext uri="{FF2B5EF4-FFF2-40B4-BE49-F238E27FC236}">
                <a16:creationId xmlns:a16="http://schemas.microsoft.com/office/drawing/2014/main" id="{73C6368A-5AF6-431D-A9C5-BF8387B9EEAF}"/>
              </a:ext>
            </a:extLst>
          </p:cNvPr>
          <p:cNvSpPr>
            <a:spLocks noGrp="1"/>
          </p:cNvSpPr>
          <p:nvPr/>
        </p:nvSpPr>
        <p:spPr>
          <a:xfrm>
            <a:off x="4714875" y="5105400"/>
            <a:ext cx="52387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Pruning </a:t>
            </a:r>
            <a:r>
              <a:rPr sz="1800" b="0" dirty="0" err="1">
                <a:solidFill>
                  <a:srgbClr val="444444"/>
                </a:solidFill>
                <a:latin typeface="Calibri"/>
                <a:ea typeface="Calibri"/>
                <a:cs typeface="Calibri"/>
              </a:rPr>
              <a:t>reduziert</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Speicherbedarf</a:t>
            </a:r>
            <a:r>
              <a:rPr sz="1800" b="0" dirty="0">
                <a:solidFill>
                  <a:srgbClr val="444444"/>
                </a:solidFill>
                <a:latin typeface="Calibri"/>
                <a:ea typeface="Calibri"/>
                <a:cs typeface="Calibri"/>
              </a:rPr>
              <a:t> und Kernel Time</a:t>
            </a:r>
          </a:p>
          <a:p>
            <a:pPr algn="l">
              <a:buNone/>
              <a:defRPr sz="1800" b="0">
                <a:solidFill>
                  <a:srgbClr val="444444"/>
                </a:solidFill>
                <a:latin typeface="Calibri"/>
                <a:ea typeface="Calibri"/>
                <a:cs typeface="Calibri"/>
              </a:defRPr>
            </a:pPr>
            <a:r>
              <a:rPr lang="de-DE" sz="1800" b="0" dirty="0" err="1">
                <a:solidFill>
                  <a:srgbClr val="444444"/>
                </a:solidFill>
                <a:latin typeface="Calibri"/>
                <a:ea typeface="Calibri"/>
                <a:cs typeface="Calibri"/>
              </a:rPr>
              <a:t>Quantization</a:t>
            </a:r>
            <a:r>
              <a:rPr sz="1800" b="0" dirty="0">
                <a:solidFill>
                  <a:srgbClr val="444444"/>
                </a:solidFill>
                <a:latin typeface="Calibri"/>
                <a:ea typeface="Calibri"/>
                <a:cs typeface="Calibri"/>
              </a:rPr>
              <a:t> spart Flash, </a:t>
            </a:r>
            <a:r>
              <a:rPr sz="1800" b="0" dirty="0" err="1">
                <a:solidFill>
                  <a:srgbClr val="444444"/>
                </a:solidFill>
                <a:latin typeface="Calibri"/>
                <a:ea typeface="Calibri"/>
                <a:cs typeface="Calibri"/>
              </a:rPr>
              <a:t>erhöht</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hier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aber</a:t>
            </a:r>
            <a:r>
              <a:rPr sz="1800" b="0" dirty="0">
                <a:solidFill>
                  <a:srgbClr val="444444"/>
                </a:solidFill>
                <a:latin typeface="Calibri"/>
                <a:ea typeface="Calibri"/>
                <a:cs typeface="Calibri"/>
              </a:rPr>
              <a:t> die Kernel Time</a:t>
            </a:r>
          </a:p>
        </p:txBody>
      </p:sp>
      <p:sp>
        <p:nvSpPr>
          <p:cNvPr id="54" name="Footer – Seitennummer">
            <a:extLst>
              <a:ext uri="{FF2B5EF4-FFF2-40B4-BE49-F238E27FC236}">
                <a16:creationId xmlns:a16="http://schemas.microsoft.com/office/drawing/2014/main" id="{5D3B8202-8B58-46A6-A225-DFEB0D550E9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38 / 39</a:t>
            </a:r>
          </a:p>
        </p:txBody>
      </p:sp>
      <p:sp>
        <p:nvSpPr>
          <p:cNvPr id="55" name="Footer – Präsentationsangaben">
            <a:extLst>
              <a:ext uri="{FF2B5EF4-FFF2-40B4-BE49-F238E27FC236}">
                <a16:creationId xmlns:a16="http://schemas.microsoft.com/office/drawing/2014/main" id="{ACCA588E-76A9-41B5-827D-D899220E866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25468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0" grpId="0"/>
      <p:bldP spid="51" grpId="0"/>
      <p:bldP spid="52" grpId="0"/>
      <p:bldP spid="5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9" name="Structure separator">
            <a:extLst>
              <a:ext uri="{FF2B5EF4-FFF2-40B4-BE49-F238E27FC236}">
                <a16:creationId xmlns:a16="http://schemas.microsoft.com/office/drawing/2014/main" id="{3E8DD8F8-5986-4CBD-8E61-B460047912A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32606DE3-F8B1-4DC8-8E1E-BB6910A6804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A5CFFFF-6E8C-4552-B224-32B31B32B45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6D2BE5D4-9464-4069-9C41-C0788D63A24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CF6029C0-E42C-4F36-9870-944CF4DADA3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06DFFC36-ED73-4039-86E5-C0D55FE2D74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2CF58A79-24A7-481F-A416-DB79D590E223}"/>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93BB3C47-F244-4716-B67E-0F1BE8DB686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2333625"/>
            <a:ext cx="3857625" cy="2426755"/>
          </a:xfrm>
          <a:prstGeom prst="rect">
            <a:avLst/>
          </a:prstGeom>
        </p:spPr>
      </p:pic>
      <p:sp>
        <p:nvSpPr>
          <p:cNvPr id="45" name="TY_closing_title">
            <a:extLst>
              <a:ext uri="{FF2B5EF4-FFF2-40B4-BE49-F238E27FC236}">
                <a16:creationId xmlns:a16="http://schemas.microsoft.com/office/drawing/2014/main" id="{2F8C0EB5-14AB-4457-BD8C-B5A72721E1B5}"/>
              </a:ext>
            </a:extLst>
          </p:cNvPr>
          <p:cNvSpPr>
            <a:spLocks noGrp="1"/>
          </p:cNvSpPr>
          <p:nvPr/>
        </p:nvSpPr>
        <p:spPr>
          <a:xfrm>
            <a:off x="4714875" y="3152775"/>
            <a:ext cx="5238750" cy="952500"/>
          </a:xfrm>
          <a:prstGeom prst="rect">
            <a:avLst/>
          </a:prstGeom>
          <a:noFill/>
          <a:ln w="0">
            <a:noFill/>
          </a:ln>
        </p:spPr>
        <p:txBody>
          <a:bodyPr lIns="0" tIns="0" rIns="0" bIns="0" anchor="t">
            <a:noAutofit/>
          </a:bodyPr>
          <a:lstStyle/>
          <a:p>
            <a:pPr algn="l">
              <a:buNone/>
              <a:defRPr sz="2400" b="1">
                <a:solidFill>
                  <a:srgbClr val="D00020"/>
                </a:solidFill>
                <a:latin typeface="Calibri"/>
                <a:ea typeface="Calibri"/>
                <a:cs typeface="Calibri"/>
              </a:defRPr>
            </a:pPr>
            <a:r>
              <a:rPr sz="2400" b="1">
                <a:solidFill>
                  <a:srgbClr val="D00020"/>
                </a:solidFill>
                <a:latin typeface="Calibri"/>
                <a:ea typeface="Calibri"/>
                <a:cs typeface="Calibri"/>
              </a:rPr>
              <a:t>Vielen Dank</a:t>
            </a:r>
          </a:p>
          <a:p>
            <a:pPr algn="l">
              <a:buNone/>
              <a:defRPr sz="2400" b="1">
                <a:solidFill>
                  <a:srgbClr val="D00020"/>
                </a:solidFill>
                <a:latin typeface="Calibri"/>
                <a:ea typeface="Calibri"/>
                <a:cs typeface="Calibri"/>
              </a:defRPr>
            </a:pPr>
            <a:r>
              <a:rPr sz="2400" b="1">
                <a:solidFill>
                  <a:srgbClr val="D00020"/>
                </a:solidFill>
                <a:latin typeface="Calibri"/>
                <a:ea typeface="Calibri"/>
                <a:cs typeface="Calibri"/>
              </a:rPr>
              <a:t>für Ihre Aufmerksamkeit!</a:t>
            </a:r>
          </a:p>
        </p:txBody>
      </p:sp>
      <p:sp>
        <p:nvSpPr>
          <p:cNvPr id="46" name="Footer – Seitennummer">
            <a:extLst>
              <a:ext uri="{FF2B5EF4-FFF2-40B4-BE49-F238E27FC236}">
                <a16:creationId xmlns:a16="http://schemas.microsoft.com/office/drawing/2014/main" id="{A07C2AE1-9431-4FD1-B786-550621485010}"/>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39 / 39</a:t>
            </a:r>
          </a:p>
        </p:txBody>
      </p:sp>
      <p:sp>
        <p:nvSpPr>
          <p:cNvPr id="47" name="Footer – Präsentationsangaben">
            <a:extLst>
              <a:ext uri="{FF2B5EF4-FFF2-40B4-BE49-F238E27FC236}">
                <a16:creationId xmlns:a16="http://schemas.microsoft.com/office/drawing/2014/main" id="{2364B75F-B2E3-4286-92E5-AB84C6787B5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254682436"/>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Korrelation der SOH-Eingangsmerkmale</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6" name="V5_Figure_11"/>
          <p:cNvPicPr>
            <a:picLocks noChangeAspect="1"/>
          </p:cNvPicPr>
          <p:nvPr/>
        </p:nvPicPr>
        <p:blipFill>
          <a:blip r:embed="rId3"/>
          <a:stretch/>
        </p:blipFill>
        <p:spPr>
          <a:xfrm>
            <a:off x="908471" y="1562100"/>
            <a:ext cx="4764833" cy="3648075"/>
          </a:xfrm>
          <a:prstGeom prst="rect">
            <a:avLst/>
          </a:prstGeom>
        </p:spPr>
      </p:pic>
      <p:sp>
        <p:nvSpPr>
          <p:cNvPr id="12" name="V5_Text_12">
            <a:extLst>
              <a:ext uri="{FF2B5EF4-FFF2-40B4-BE49-F238E27FC236}">
                <a16:creationId xmlns:a16="http://schemas.microsoft.com/office/drawing/2014/main" id="{3C15EE52-60E3-43E9-A0E5-0BA4629013B2}"/>
              </a:ext>
            </a:extLst>
          </p:cNvPr>
          <p:cNvSpPr>
            <a:spLocks noGrp="1"/>
          </p:cNvSpPr>
          <p:nvPr/>
        </p:nvSpPr>
        <p:spPr>
          <a:xfrm>
            <a:off x="6496050" y="1514475"/>
            <a:ext cx="3457575" cy="128587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Merkmale:</a:t>
            </a:r>
            <a:r>
              <a:rPr sz="1800" b="0">
                <a:latin typeface="Calibri"/>
                <a:ea typeface="Calibri"/>
                <a:cs typeface="Calibri"/>
              </a:rPr>
              <a:t> Pearson-Korrelation von SOH mit U, T und getrenntem Lade- und Entladedurchsatz</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6496050" y="3000375"/>
            <a:ext cx="3457575" cy="13430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Befund:</a:t>
            </a:r>
            <a:r>
              <a:rPr sz="1800" b="0">
                <a:latin typeface="Calibri"/>
                <a:ea typeface="Calibri"/>
                <a:cs typeface="Calibri"/>
              </a:rPr>
              <a:t> Temperatur und kumulative Ströme zeigen deutlichere lineare Beziehungen zu SOH als Spannung</a:t>
            </a:r>
          </a:p>
        </p:txBody>
      </p:sp>
      <p:pic>
        <p:nvPicPr>
          <p:cNvPr id="39"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065BED09-2CE4-40B6-B102-FF86D5FAF6C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C948B53-DA5C-4EDD-8D85-C3ED52BAC84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4C48789-329B-431B-AA48-3ECF7B0E6C3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88898300-12F9-4BFE-8103-A0504C2A32DA}"/>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A034181D-8828-4514-8B87-37DF6586AD58}"/>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4" name="Structure 3">
            <a:extLst>
              <a:ext uri="{FF2B5EF4-FFF2-40B4-BE49-F238E27FC236}">
                <a16:creationId xmlns:a16="http://schemas.microsoft.com/office/drawing/2014/main" id="{E514FDA1-194C-4834-994F-3E257D70CC1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B1D23639-0E80-4CD3-87E9-947AC2F7242B}"/>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853BC500-52BC-47D3-84C8-D8622B45048B}"/>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text-39-3">
            <a:extLst>
              <a:ext uri="{FF2B5EF4-FFF2-40B4-BE49-F238E27FC236}">
                <a16:creationId xmlns:a16="http://schemas.microsoft.com/office/drawing/2014/main" id="{CBBFA3DC-79D0-42B4-B61D-FC9DC400CE25}"/>
              </a:ext>
            </a:extLst>
          </p:cNvPr>
          <p:cNvSpPr>
            <a:spLocks noGrp="1"/>
          </p:cNvSpPr>
          <p:nvPr/>
        </p:nvSpPr>
        <p:spPr>
          <a:xfrm>
            <a:off x="6496050" y="4552950"/>
            <a:ext cx="3457575" cy="125730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Grenze:</a:t>
            </a:r>
            <a:r>
              <a:rPr sz="1800" b="0">
                <a:latin typeface="Calibri"/>
                <a:ea typeface="Calibri"/>
                <a:cs typeface="Calibri"/>
              </a:rPr>
              <a:t> Pearson erfasst lineare Beziehungen und belegt keine kausalen Alterungsmechanismen</a:t>
            </a:r>
          </a:p>
        </p:txBody>
      </p:sp>
      <p:sp>
        <p:nvSpPr>
          <p:cNvPr id="40" name="Footer – Seitennummer">
            <a:extLst>
              <a:ext uri="{FF2B5EF4-FFF2-40B4-BE49-F238E27FC236}">
                <a16:creationId xmlns:a16="http://schemas.microsoft.com/office/drawing/2014/main" id="{F6EA2814-4ED7-40A1-AB16-CA8318D5D25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a:t>
            </a:r>
          </a:p>
        </p:txBody>
      </p:sp>
      <p:sp>
        <p:nvSpPr>
          <p:cNvPr id="41" name="Footer – Präsentationsangaben">
            <a:extLst>
              <a:ext uri="{FF2B5EF4-FFF2-40B4-BE49-F238E27FC236}">
                <a16:creationId xmlns:a16="http://schemas.microsoft.com/office/drawing/2014/main" id="{C5FB6443-FC22-49B3-8B92-B00BA8CCACAD}"/>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2" name="Quellenverweis 4">
            <a:extLst>
              <a:ext uri="{FF2B5EF4-FFF2-40B4-BE49-F238E27FC236}">
                <a16:creationId xmlns:a16="http://schemas.microsoft.com/office/drawing/2014/main" id="{C7B408A3-82B3-4F3A-95D7-A969052EDD70}"/>
              </a:ext>
            </a:extLst>
          </p:cNvPr>
          <p:cNvSpPr>
            <a:spLocks noGrp="1"/>
          </p:cNvSpPr>
          <p:nvPr/>
        </p:nvSpPr>
        <p:spPr>
          <a:xfrm>
            <a:off x="5410200" y="5248275"/>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1950996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Störungsszenarien im Robustheitsvergleich</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552450" y="4895850"/>
            <a:ext cx="9353550" cy="5810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Strom-Offset:</a:t>
            </a:r>
            <a:r>
              <a:rPr sz="1800" b="0">
                <a:latin typeface="Calibri"/>
                <a:ea typeface="Calibri"/>
                <a:cs typeface="Calibri"/>
              </a:rPr>
              <a:t> Größter globaler MAE-Anstieg bei allen vier Verfahren, DD bleibt am wenigsten betroffen</a:t>
            </a:r>
          </a:p>
        </p:txBody>
      </p:sp>
      <p:pic>
        <p:nvPicPr>
          <p:cNvPr id="31" name="V5_Figure_11"/>
          <p:cNvPicPr>
            <a:picLocks noChangeAspect="1"/>
          </p:cNvPicPr>
          <p:nvPr/>
        </p:nvPicPr>
        <p:blipFill>
          <a:blip r:embed="rId3"/>
          <a:stretch/>
        </p:blipFill>
        <p:spPr>
          <a:xfrm>
            <a:off x="552450" y="1555533"/>
            <a:ext cx="9353550" cy="2965885"/>
          </a:xfrm>
          <a:prstGeom prst="rect">
            <a:avLst/>
          </a:prstGeom>
        </p:spPr>
      </p:pic>
      <p:sp>
        <p:nvSpPr>
          <p:cNvPr id="15" name="Structure separator">
            <a:extLst>
              <a:ext uri="{FF2B5EF4-FFF2-40B4-BE49-F238E27FC236}">
                <a16:creationId xmlns:a16="http://schemas.microsoft.com/office/drawing/2014/main" id="{034BFC71-1F01-467E-8C90-B80B5A33711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18F4D3BC-B452-4C79-B353-C4C683B65964}"/>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555B7D7F-0326-43C8-A303-2CE1303DC9F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AC332418-C591-42C8-88AE-F8F0A105C4FC}"/>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BB2EADC8-0EDF-496B-9B6B-72169A108B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5D6561FC-9AB7-4631-B88B-C588BF1320E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C8AB9551-A44B-4E24-8496-1530BB29E0B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0AB4746D-78A2-4424-B851-159FCC49587F}"/>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40-2">
            <a:extLst>
              <a:ext uri="{FF2B5EF4-FFF2-40B4-BE49-F238E27FC236}">
                <a16:creationId xmlns:a16="http://schemas.microsoft.com/office/drawing/2014/main" id="{3A0360FD-A7EF-4E6F-9DDD-9236408A9F63}"/>
              </a:ext>
            </a:extLst>
          </p:cNvPr>
          <p:cNvSpPr>
            <a:spLocks noGrp="1"/>
          </p:cNvSpPr>
          <p:nvPr/>
        </p:nvSpPr>
        <p:spPr>
          <a:xfrm>
            <a:off x="552450" y="5486400"/>
            <a:ext cx="9353550" cy="57150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ΔMAE:</a:t>
            </a:r>
            <a:r>
              <a:rPr sz="1800" b="0">
                <a:latin typeface="Calibri"/>
                <a:ea typeface="Calibri"/>
                <a:cs typeface="Calibri"/>
              </a:rPr>
              <a:t> Änderung gegenüber der Baseline. Negative Werte können aus Fehlerkompensation im Testfenster entstehen</a:t>
            </a:r>
          </a:p>
        </p:txBody>
      </p:sp>
      <p:sp>
        <p:nvSpPr>
          <p:cNvPr id="32" name="Footer – Seitennummer">
            <a:extLst>
              <a:ext uri="{FF2B5EF4-FFF2-40B4-BE49-F238E27FC236}">
                <a16:creationId xmlns:a16="http://schemas.microsoft.com/office/drawing/2014/main" id="{9C121A05-A342-47D6-BC7B-C9E6E5C3481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a:t>
            </a:r>
          </a:p>
        </p:txBody>
      </p:sp>
      <p:sp>
        <p:nvSpPr>
          <p:cNvPr id="33" name="Footer – Präsentationsangaben">
            <a:extLst>
              <a:ext uri="{FF2B5EF4-FFF2-40B4-BE49-F238E27FC236}">
                <a16:creationId xmlns:a16="http://schemas.microsoft.com/office/drawing/2014/main" id="{F173BB15-7633-4FAB-8018-15359B34F24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Stromrauschen und lokale SOC-Schwankungen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6715125" y="1552575"/>
            <a:ext cx="3238500" cy="11144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Integration:</a:t>
            </a:r>
            <a:r>
              <a:rPr sz="1800" b="0">
                <a:latin typeface="Calibri"/>
                <a:ea typeface="Calibri"/>
                <a:cs typeface="Calibri"/>
              </a:rPr>
              <a:t> Rauschanteile heben sich teilweise auf. Streuung der Summe wächst mit √N</a:t>
            </a:r>
          </a:p>
        </p:txBody>
      </p:sp>
      <p:sp>
        <p:nvSpPr>
          <p:cNvPr id="15" name="Structure separator">
            <a:extLst>
              <a:ext uri="{FF2B5EF4-FFF2-40B4-BE49-F238E27FC236}">
                <a16:creationId xmlns:a16="http://schemas.microsoft.com/office/drawing/2014/main" id="{C5FB202D-EFA5-43A7-ACE9-520C8D550FBE}"/>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2FA50135-848F-4865-9341-46B9FA99E1A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9EA13D9D-14B2-4A34-B17B-2F500283BD8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7437F1D1-2487-45AA-B48D-5E403CFD405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8D40D91A-4170-4CCF-8E8B-601857E7450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FF622501-4996-4FCC-B13D-F84E6B83DA31}"/>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F55A4940-01B1-4249-9A15-3537AB6A1A0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5CEE2A39-58DD-4115-807A-B04893318D1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1" name="Grafik 40"/>
          <p:cNvPicPr>
            <a:picLocks noChangeAspect="1"/>
          </p:cNvPicPr>
          <p:nvPr/>
        </p:nvPicPr>
        <p:blipFill>
          <a:blip r:embed="rId3"/>
          <a:stretch/>
        </p:blipFill>
        <p:spPr>
          <a:xfrm>
            <a:off x="775308" y="1419225"/>
            <a:ext cx="5326434" cy="4400550"/>
          </a:xfrm>
          <a:prstGeom prst="rect">
            <a:avLst/>
          </a:prstGeom>
        </p:spPr>
      </p:pic>
      <p:sp>
        <p:nvSpPr>
          <p:cNvPr id="24" name="v11-text-41-2">
            <a:extLst>
              <a:ext uri="{FF2B5EF4-FFF2-40B4-BE49-F238E27FC236}">
                <a16:creationId xmlns:a16="http://schemas.microsoft.com/office/drawing/2014/main" id="{AAFED736-47C7-4D64-8458-8789F9A42B78}"/>
              </a:ext>
            </a:extLst>
          </p:cNvPr>
          <p:cNvSpPr>
            <a:spLocks noGrp="1"/>
          </p:cNvSpPr>
          <p:nvPr/>
        </p:nvSpPr>
        <p:spPr>
          <a:xfrm>
            <a:off x="6715125" y="2838450"/>
            <a:ext cx="3238500" cy="120967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DD:</a:t>
            </a:r>
            <a:r>
              <a:rPr sz="1800" b="0">
                <a:latin typeface="Calibri"/>
                <a:ea typeface="Calibri"/>
                <a:cs typeface="Calibri"/>
              </a:rPr>
              <a:t> Sichtbare lokale Schwankungen bei nahezu unverändertem globalem MAE</a:t>
            </a:r>
          </a:p>
        </p:txBody>
      </p:sp>
      <mc:AlternateContent xmlns:mc="http://schemas.openxmlformats.org/markup-compatibility/2006" xmlns:a14="http://schemas.microsoft.com/office/drawing/2010/main">
        <mc:Choice Requires="a14">
          <p:sp>
            <p:nvSpPr>
              <p:cNvPr id="25" name="v11-math-41-3">
                <a:extLst>
                  <a:ext uri="{FF2B5EF4-FFF2-40B4-BE49-F238E27FC236}">
                    <a16:creationId xmlns:a16="http://schemas.microsoft.com/office/drawing/2014/main" id="{1CDF9187-CA1D-4610-AF7F-2760FDA738BB}"/>
                  </a:ext>
                </a:extLst>
              </p:cNvPr>
              <p:cNvSpPr>
                <a:spLocks noGrp="1"/>
              </p:cNvSpPr>
              <p:nvPr/>
            </p:nvSpPr>
            <p:spPr>
              <a:xfrm>
                <a:off x="7248525" y="4324350"/>
                <a:ext cx="2085975" cy="381000"/>
              </a:xfrm>
              <a:prstGeom prst="rect">
                <a:avLst/>
              </a:prstGeom>
              <a:noFill/>
              <a:ln w="0">
                <a:noFill/>
              </a:ln>
            </p:spPr>
            <p:txBody>
              <a:bodyPr wrap="square" lIns="0" tIns="0" rIns="0" bIns="0" anchor="t">
                <a:noAutofit/>
              </a:bodyPr>
              <a:lstStyle/>
              <a:p>
                <a:pPr algn="ctr"/>
                <a14:m>
                  <m:oMathPara xmlns:m="http://schemas.openxmlformats.org/officeDocument/2006/math">
                    <m:oMath>
                      <m:r>
                        <a:rPr sz="1875">
                          <a:latin typeface="Cambria Math"/>
                          <a:ea typeface="Cambria Math"/>
                          <a:cs typeface="Cambria Math"/>
                        </a:rPr>
                        <m:t>𝑆𝑡𝑑</m:t>
                      </m:r>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m:t>
                          </m:r>
                        </m:e>
                        <m:sub>
                          <m:r>
                            <a:rPr sz="1313">
                              <a:latin typeface="Cambria Math"/>
                              <a:ea typeface="Cambria Math"/>
                              <a:cs typeface="Cambria Math"/>
                            </a:rPr>
                            <m:t>𝑘</m:t>
                          </m:r>
                          <m:r>
                            <a:rPr sz="1313">
                              <a:latin typeface="Cambria Math"/>
                              <a:ea typeface="Cambria Math"/>
                              <a:cs typeface="Cambria Math"/>
                            </a:rPr>
                            <m:t>=1</m:t>
                          </m:r>
                        </m:sub>
                        <m:sup>
                          <m:r>
                            <a:rPr sz="1313">
                              <a:latin typeface="Cambria Math"/>
                              <a:ea typeface="Cambria Math"/>
                              <a:cs typeface="Cambria Math"/>
                            </a:rPr>
                            <m:t>𝑁</m:t>
                          </m:r>
                        </m:sup>
                      </m:sSubSup>
                      <m:sSub>
                        <m:sSubPr>
                          <m:ctrlPr>
                            <a:rPr sz="1875">
                              <a:latin typeface="Cambria Math"/>
                              <a:ea typeface="Cambria Math"/>
                              <a:cs typeface="Cambria Math"/>
                            </a:rPr>
                          </m:ctrlPr>
                        </m:sSubPr>
                        <m:e>
                          <m:r>
                            <a:rPr sz="1875">
                              <a:latin typeface="Cambria Math"/>
                              <a:ea typeface="Cambria Math"/>
                              <a:cs typeface="Cambria Math"/>
                            </a:rPr>
                            <m:t>𝜀</m:t>
                          </m:r>
                        </m:e>
                        <m:sub>
                          <m:r>
                            <a:rPr sz="1313">
                              <a:latin typeface="Cambria Math"/>
                              <a:ea typeface="Cambria Math"/>
                              <a:cs typeface="Cambria Math"/>
                            </a:rPr>
                            <m:t>𝑘</m:t>
                          </m:r>
                        </m:sub>
                      </m:sSub>
                      <m:r>
                        <a:rPr sz="1875">
                          <a:latin typeface="Cambria Math"/>
                          <a:ea typeface="Cambria Math"/>
                          <a:cs typeface="Cambria Math"/>
                        </a:rPr>
                        <m:t>)=</m:t>
                      </m:r>
                      <m:r>
                        <a:rPr sz="1875">
                          <a:latin typeface="Cambria Math"/>
                          <a:ea typeface="Cambria Math"/>
                          <a:cs typeface="Cambria Math"/>
                        </a:rPr>
                        <m:t>𝜎</m:t>
                      </m:r>
                      <m:rad>
                        <m:radPr>
                          <m:degHide m:val="on"/>
                          <m:ctrlPr>
                            <a:rPr sz="1875" i="1">
                              <a:latin typeface="Cambria Math"/>
                              <a:ea typeface="Cambria Math"/>
                              <a:cs typeface="Cambria Math"/>
                            </a:rPr>
                          </m:ctrlPr>
                        </m:radPr>
                        <m:deg/>
                        <m:e>
                          <m:r>
                            <a:rPr sz="1875">
                              <a:latin typeface="Cambria Math"/>
                              <a:ea typeface="Cambria Math"/>
                              <a:cs typeface="Cambria Math"/>
                            </a:rPr>
                            <m:t>𝑁</m:t>
                          </m:r>
                        </m:e>
                      </m:rad>
                    </m:oMath>
                  </m:oMathPara>
                </a14:m>
                <a:endParaRPr/>
              </a:p>
            </p:txBody>
          </p:sp>
        </mc:Choice>
        <mc:Fallback xmlns="">
          <p:sp>
            <p:nvSpPr>
              <p:cNvPr id="25" name="v11-math-41-3">
                <a:extLst>
                  <a:ext uri="{FF2B5EF4-FFF2-40B4-BE49-F238E27FC236}">
                    <a16:creationId xmlns:a16="http://schemas.microsoft.com/office/drawing/2014/main" id="{1CDF9187-CA1D-4610-AF7F-2760FDA738BB}"/>
                  </a:ext>
                </a:extLst>
              </p:cNvPr>
              <p:cNvSpPr>
                <a:spLocks noGrp="1" noRot="1" noChangeAspect="1" noMove="1" noResize="1" noEditPoints="1" noAdjustHandles="1" noChangeArrowheads="1" noChangeShapeType="1" noTextEdit="1"/>
              </p:cNvSpPr>
              <p:nvPr/>
            </p:nvSpPr>
            <p:spPr>
              <a:xfrm>
                <a:off x="7248525" y="4324350"/>
                <a:ext cx="2085975" cy="381000"/>
              </a:xfrm>
              <a:prstGeom prst="rect">
                <a:avLst/>
              </a:prstGeom>
              <a:blipFill>
                <a:blip r:embed="rId4"/>
                <a:stretch>
                  <a:fillRect l="-2339" b="-11111"/>
                </a:stretch>
              </a:blipFill>
              <a:ln w="0">
                <a:noFill/>
              </a:ln>
            </p:spPr>
            <p:txBody>
              <a:bodyPr/>
              <a:lstStyle/>
              <a:p>
                <a:r>
                  <a:rPr lang="de-DE">
                    <a:noFill/>
                  </a:rPr>
                  <a:t> </a:t>
                </a:r>
              </a:p>
            </p:txBody>
          </p:sp>
        </mc:Fallback>
      </mc:AlternateContent>
      <p:sp>
        <p:nvSpPr>
          <p:cNvPr id="26" name="v11-text-41-4">
            <a:extLst>
              <a:ext uri="{FF2B5EF4-FFF2-40B4-BE49-F238E27FC236}">
                <a16:creationId xmlns:a16="http://schemas.microsoft.com/office/drawing/2014/main" id="{0C83AE00-DB28-4EC7-9BE1-EF2BA9880FE7}"/>
              </a:ext>
            </a:extLst>
          </p:cNvPr>
          <p:cNvSpPr>
            <a:spLocks noGrp="1"/>
          </p:cNvSpPr>
          <p:nvPr/>
        </p:nvSpPr>
        <p:spPr>
          <a:xfrm>
            <a:off x="6715125" y="5000625"/>
            <a:ext cx="3238500" cy="84772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Annahme:</a:t>
            </a:r>
            <a:r>
              <a:rPr sz="1800" b="0">
                <a:latin typeface="Calibri"/>
                <a:ea typeface="Calibri"/>
                <a:cs typeface="Calibri"/>
              </a:rPr>
              <a:t> Unabhängige, mittelwertfreie Fehler mit gleicher Standardabweichung σ</a:t>
            </a:r>
          </a:p>
        </p:txBody>
      </p:sp>
      <p:sp>
        <p:nvSpPr>
          <p:cNvPr id="42" name="Footer – Seitennummer">
            <a:extLst>
              <a:ext uri="{FF2B5EF4-FFF2-40B4-BE49-F238E27FC236}">
                <a16:creationId xmlns:a16="http://schemas.microsoft.com/office/drawing/2014/main" id="{EB46A631-2D8A-4698-8943-739B62862F2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a:t>
            </a:r>
          </a:p>
        </p:txBody>
      </p:sp>
      <p:sp>
        <p:nvSpPr>
          <p:cNvPr id="43" name="Footer – Präsentationsangaben">
            <a:extLst>
              <a:ext uri="{FF2B5EF4-FFF2-40B4-BE49-F238E27FC236}">
                <a16:creationId xmlns:a16="http://schemas.microsoft.com/office/drawing/2014/main" id="{E27FEBFB-E57B-43DB-91CB-0404CB9E732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LSTM-Zelle und Gleichungen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4</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1000" name="Grafik 999"/>
          <p:cNvPicPr>
            <a:picLocks noChangeAspect="1"/>
          </p:cNvPicPr>
          <p:nvPr/>
        </p:nvPicPr>
        <p:blipFill>
          <a:blip r:embed="rId3"/>
          <a:stretch/>
        </p:blipFill>
        <p:spPr>
          <a:xfrm>
            <a:off x="552450" y="1764903"/>
            <a:ext cx="4667250" cy="2528094"/>
          </a:xfrm>
          <a:prstGeom prst="rect">
            <a:avLst/>
          </a:prstGeom>
        </p:spPr>
      </p:pic>
      <p:pic>
        <p:nvPicPr>
          <p:cNvPr id="1001" name="Grafik 1000"/>
          <p:cNvPicPr>
            <a:picLocks noChangeAspect="1"/>
          </p:cNvPicPr>
          <p:nvPr/>
        </p:nvPicPr>
        <p:blipFill>
          <a:blip r:embed="rId4"/>
          <a:stretch/>
        </p:blipFill>
        <p:spPr>
          <a:xfrm>
            <a:off x="5706500" y="1504950"/>
            <a:ext cx="3969875" cy="3105150"/>
          </a:xfrm>
          <a:prstGeom prst="rect">
            <a:avLst/>
          </a:prstGeom>
        </p:spPr>
      </p:pic>
      <p:sp>
        <p:nvSpPr>
          <p:cNvPr id="1002" name="Rechteck 1001">
            <a:extLst>
              <a:ext uri="{FF2B5EF4-FFF2-40B4-BE49-F238E27FC236}">
                <a16:creationId xmlns:a16="http://schemas.microsoft.com/office/drawing/2014/main" id="{979F6F0B-8F5A-4408-B4F0-C09A426C8D65}"/>
              </a:ext>
            </a:extLst>
          </p:cNvPr>
          <p:cNvSpPr>
            <a:spLocks noGrp="1"/>
          </p:cNvSpPr>
          <p:nvPr/>
        </p:nvSpPr>
        <p:spPr>
          <a:xfrm>
            <a:off x="638175" y="4648200"/>
            <a:ext cx="3048000" cy="876300"/>
          </a:xfrm>
          <a:prstGeom prst="rect">
            <a:avLst/>
          </a:prstGeom>
          <a:noFill/>
          <a:ln w="0">
            <a:noFill/>
          </a:ln>
        </p:spPr>
        <p:txBody>
          <a:bodyPr>
            <a:noAutofit/>
          </a:bodyPr>
          <a:lstStyle/>
          <a:p>
            <a:pPr>
              <a:defRPr sz="1725" b="0">
                <a:solidFill>
                  <a:srgbClr val="484848"/>
                </a:solidFill>
                <a:latin typeface="Calibri"/>
                <a:ea typeface="Calibri"/>
                <a:cs typeface="Calibri"/>
              </a:defRPr>
            </a:pPr>
            <a:r>
              <a:rPr sz="1725" b="0">
                <a:solidFill>
                  <a:srgbClr val="484848"/>
                </a:solidFill>
                <a:latin typeface="Calibri"/>
                <a:ea typeface="Calibri"/>
                <a:cs typeface="Calibri"/>
              </a:rPr>
              <a:t>fₜ  Forget Gate</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iₜ  Input Gate</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oₜ  Output Gate</a:t>
            </a:r>
          </a:p>
        </p:txBody>
      </p:sp>
      <p:sp>
        <p:nvSpPr>
          <p:cNvPr id="1003" name="Rechteck 1002">
            <a:extLst>
              <a:ext uri="{FF2B5EF4-FFF2-40B4-BE49-F238E27FC236}">
                <a16:creationId xmlns:a16="http://schemas.microsoft.com/office/drawing/2014/main" id="{8B25CFD4-679D-4ADA-A2E7-FDF5A6353DED}"/>
              </a:ext>
            </a:extLst>
          </p:cNvPr>
          <p:cNvSpPr>
            <a:spLocks noGrp="1"/>
          </p:cNvSpPr>
          <p:nvPr/>
        </p:nvSpPr>
        <p:spPr>
          <a:xfrm>
            <a:off x="3895725" y="4648200"/>
            <a:ext cx="2952750" cy="876300"/>
          </a:xfrm>
          <a:prstGeom prst="rect">
            <a:avLst/>
          </a:prstGeom>
          <a:noFill/>
          <a:ln w="0">
            <a:noFill/>
          </a:ln>
        </p:spPr>
        <p:txBody>
          <a:bodyPr>
            <a:noAutofit/>
          </a:bodyPr>
          <a:lstStyle/>
          <a:p>
            <a:pPr>
              <a:defRPr sz="1725" b="0">
                <a:solidFill>
                  <a:srgbClr val="484848"/>
                </a:solidFill>
                <a:latin typeface="Calibri"/>
                <a:ea typeface="Calibri"/>
                <a:cs typeface="Calibri"/>
              </a:defRPr>
            </a:pPr>
            <a:r>
              <a:rPr sz="1725" b="0">
                <a:solidFill>
                  <a:srgbClr val="484848"/>
                </a:solidFill>
                <a:latin typeface="Calibri"/>
                <a:ea typeface="Calibri"/>
                <a:cs typeface="Calibri"/>
              </a:rPr>
              <a:t>c̃ₜ  Kandidat</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cₜ  Cell State</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hₜ  Hidden State</a:t>
            </a:r>
          </a:p>
        </p:txBody>
      </p:sp>
      <p:sp>
        <p:nvSpPr>
          <p:cNvPr id="1004" name="Rechteck 1003">
            <a:extLst>
              <a:ext uri="{FF2B5EF4-FFF2-40B4-BE49-F238E27FC236}">
                <a16:creationId xmlns:a16="http://schemas.microsoft.com/office/drawing/2014/main" id="{22835CE8-8B61-401D-8186-92A292EABBBF}"/>
              </a:ext>
            </a:extLst>
          </p:cNvPr>
          <p:cNvSpPr>
            <a:spLocks noGrp="1"/>
          </p:cNvSpPr>
          <p:nvPr/>
        </p:nvSpPr>
        <p:spPr>
          <a:xfrm>
            <a:off x="7010400" y="4648200"/>
            <a:ext cx="2876550" cy="876300"/>
          </a:xfrm>
          <a:prstGeom prst="rect">
            <a:avLst/>
          </a:prstGeom>
          <a:noFill/>
          <a:ln w="0">
            <a:noFill/>
          </a:ln>
        </p:spPr>
        <p:txBody>
          <a:bodyPr>
            <a:noAutofit/>
          </a:bodyPr>
          <a:lstStyle/>
          <a:p>
            <a:pPr>
              <a:defRPr sz="1725" b="0">
                <a:solidFill>
                  <a:srgbClr val="484848"/>
                </a:solidFill>
                <a:latin typeface="Calibri"/>
                <a:ea typeface="Calibri"/>
                <a:cs typeface="Calibri"/>
              </a:defRPr>
            </a:pPr>
            <a:r>
              <a:rPr sz="1725" b="0">
                <a:solidFill>
                  <a:srgbClr val="484848"/>
                </a:solidFill>
                <a:latin typeface="Calibri"/>
                <a:ea typeface="Calibri"/>
                <a:cs typeface="Calibri"/>
              </a:rPr>
              <a:t>W, U  Gewichtsmatrizen</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b  Bias</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xₜ  Eingangsvektor</a:t>
            </a:r>
          </a:p>
        </p:txBody>
      </p:sp>
      <p:sp>
        <p:nvSpPr>
          <p:cNvPr id="1005" name="Rechteck 1004">
            <a:extLst>
              <a:ext uri="{FF2B5EF4-FFF2-40B4-BE49-F238E27FC236}">
                <a16:creationId xmlns:a16="http://schemas.microsoft.com/office/drawing/2014/main" id="{A5A5A45B-6748-4791-8BA6-9CC67CFB19AA}"/>
              </a:ext>
            </a:extLst>
          </p:cNvPr>
          <p:cNvSpPr>
            <a:spLocks noGrp="1"/>
          </p:cNvSpPr>
          <p:nvPr/>
        </p:nvSpPr>
        <p:spPr>
          <a:xfrm>
            <a:off x="647700" y="5543550"/>
            <a:ext cx="9239250" cy="285750"/>
          </a:xfrm>
          <a:prstGeom prst="rect">
            <a:avLst/>
          </a:prstGeom>
          <a:noFill/>
          <a:ln w="0">
            <a:noFill/>
          </a:ln>
        </p:spPr>
        <p:txBody>
          <a:bodyPr>
            <a:noAutofit/>
          </a:bodyPr>
          <a:lstStyle/>
          <a:p>
            <a:pPr>
              <a:defRPr sz="1575" b="0">
                <a:solidFill>
                  <a:srgbClr val="484848"/>
                </a:solidFill>
                <a:latin typeface="Calibri"/>
                <a:ea typeface="Calibri"/>
                <a:cs typeface="Calibri"/>
              </a:defRPr>
            </a:pPr>
            <a:r>
              <a:rPr sz="1575" b="0">
                <a:solidFill>
                  <a:srgbClr val="484848"/>
                </a:solidFill>
                <a:latin typeface="Calibri"/>
                <a:ea typeface="Calibri"/>
                <a:cs typeface="Calibri"/>
              </a:rPr>
              <a:t>σ: Sigmoid    tanh: Tangens hyperbolicus    ⊙: elementweise Multiplikation</a:t>
            </a:r>
          </a:p>
        </p:txBody>
      </p:sp>
    </p:spTree>
    <p:extLst>
      <p:ext uri="{BB962C8B-B14F-4D97-AF65-F5344CB8AC3E}">
        <p14:creationId xmlns:p14="http://schemas.microsoft.com/office/powerpoint/2010/main" val="15989129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GRU-Zelle und Gleichungen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5</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1000" name="Grafik 999"/>
          <p:cNvPicPr>
            <a:picLocks noChangeAspect="1"/>
          </p:cNvPicPr>
          <p:nvPr/>
        </p:nvPicPr>
        <p:blipFill>
          <a:blip r:embed="rId3"/>
          <a:stretch/>
        </p:blipFill>
        <p:spPr>
          <a:xfrm>
            <a:off x="552450" y="1793478"/>
            <a:ext cx="4667250" cy="2528094"/>
          </a:xfrm>
          <a:prstGeom prst="rect">
            <a:avLst/>
          </a:prstGeom>
        </p:spPr>
      </p:pic>
      <p:pic>
        <p:nvPicPr>
          <p:cNvPr id="1001" name="Grafik 1000"/>
          <p:cNvPicPr>
            <a:picLocks noChangeAspect="1"/>
          </p:cNvPicPr>
          <p:nvPr/>
        </p:nvPicPr>
        <p:blipFill>
          <a:blip r:embed="rId4"/>
          <a:stretch/>
        </p:blipFill>
        <p:spPr>
          <a:xfrm>
            <a:off x="5381625" y="1927410"/>
            <a:ext cx="4524375" cy="2212605"/>
          </a:xfrm>
          <a:prstGeom prst="rect">
            <a:avLst/>
          </a:prstGeom>
        </p:spPr>
      </p:pic>
      <p:sp>
        <p:nvSpPr>
          <p:cNvPr id="1002" name="Rechteck 1001">
            <a:extLst>
              <a:ext uri="{FF2B5EF4-FFF2-40B4-BE49-F238E27FC236}">
                <a16:creationId xmlns:a16="http://schemas.microsoft.com/office/drawing/2014/main" id="{766BFEF8-B6DC-476A-A955-C54BDCFE8BCA}"/>
              </a:ext>
            </a:extLst>
          </p:cNvPr>
          <p:cNvSpPr>
            <a:spLocks noGrp="1"/>
          </p:cNvSpPr>
          <p:nvPr/>
        </p:nvSpPr>
        <p:spPr>
          <a:xfrm>
            <a:off x="647700" y="4619625"/>
            <a:ext cx="3429000" cy="838200"/>
          </a:xfrm>
          <a:prstGeom prst="rect">
            <a:avLst/>
          </a:prstGeom>
          <a:noFill/>
          <a:ln w="0">
            <a:noFill/>
          </a:ln>
        </p:spPr>
        <p:txBody>
          <a:bodyPr>
            <a:noAutofit/>
          </a:bodyPr>
          <a:lstStyle/>
          <a:p>
            <a:pPr>
              <a:defRPr sz="1725" b="0">
                <a:solidFill>
                  <a:srgbClr val="484848"/>
                </a:solidFill>
                <a:latin typeface="Calibri"/>
                <a:ea typeface="Calibri"/>
                <a:cs typeface="Calibri"/>
              </a:defRPr>
            </a:pPr>
            <a:r>
              <a:rPr sz="1725" b="0">
                <a:solidFill>
                  <a:srgbClr val="484848"/>
                </a:solidFill>
                <a:latin typeface="Calibri"/>
                <a:ea typeface="Calibri"/>
                <a:cs typeface="Calibri"/>
              </a:rPr>
              <a:t>zₜ  Update Gate</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rₜ  Reset Gate</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h̃ₜ  Kandidat</a:t>
            </a:r>
          </a:p>
        </p:txBody>
      </p:sp>
      <p:sp>
        <p:nvSpPr>
          <p:cNvPr id="1003" name="Rechteck 1002">
            <a:extLst>
              <a:ext uri="{FF2B5EF4-FFF2-40B4-BE49-F238E27FC236}">
                <a16:creationId xmlns:a16="http://schemas.microsoft.com/office/drawing/2014/main" id="{5952942D-B6B3-4973-9446-C98D63C74272}"/>
              </a:ext>
            </a:extLst>
          </p:cNvPr>
          <p:cNvSpPr>
            <a:spLocks noGrp="1"/>
          </p:cNvSpPr>
          <p:nvPr/>
        </p:nvSpPr>
        <p:spPr>
          <a:xfrm>
            <a:off x="4543425" y="4619625"/>
            <a:ext cx="5334000" cy="838200"/>
          </a:xfrm>
          <a:prstGeom prst="rect">
            <a:avLst/>
          </a:prstGeom>
          <a:noFill/>
          <a:ln w="0">
            <a:noFill/>
          </a:ln>
        </p:spPr>
        <p:txBody>
          <a:bodyPr>
            <a:noAutofit/>
          </a:bodyPr>
          <a:lstStyle/>
          <a:p>
            <a:pPr>
              <a:defRPr sz="1725" b="0">
                <a:solidFill>
                  <a:srgbClr val="484848"/>
                </a:solidFill>
                <a:latin typeface="Calibri"/>
                <a:ea typeface="Calibri"/>
                <a:cs typeface="Calibri"/>
              </a:defRPr>
            </a:pPr>
            <a:r>
              <a:rPr sz="1725" b="0">
                <a:solidFill>
                  <a:srgbClr val="484848"/>
                </a:solidFill>
                <a:latin typeface="Calibri"/>
                <a:ea typeface="Calibri"/>
                <a:cs typeface="Calibri"/>
              </a:rPr>
              <a:t>hₜ  Gedächtnis und Ausgabe</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Reset wirkt im Kandidatenpfad</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zₜ nahe 1: mehr Kandidat</a:t>
            </a:r>
          </a:p>
        </p:txBody>
      </p:sp>
      <p:sp>
        <p:nvSpPr>
          <p:cNvPr id="1004" name="Rechteck 1003">
            <a:extLst>
              <a:ext uri="{FF2B5EF4-FFF2-40B4-BE49-F238E27FC236}">
                <a16:creationId xmlns:a16="http://schemas.microsoft.com/office/drawing/2014/main" id="{4626E6A8-2C57-4590-9149-EEBE8667C4E3}"/>
              </a:ext>
            </a:extLst>
          </p:cNvPr>
          <p:cNvSpPr>
            <a:spLocks noGrp="1"/>
          </p:cNvSpPr>
          <p:nvPr/>
        </p:nvSpPr>
        <p:spPr>
          <a:xfrm>
            <a:off x="647700" y="5543550"/>
            <a:ext cx="9239250" cy="285750"/>
          </a:xfrm>
          <a:prstGeom prst="rect">
            <a:avLst/>
          </a:prstGeom>
          <a:noFill/>
          <a:ln w="0">
            <a:noFill/>
          </a:ln>
        </p:spPr>
        <p:txBody>
          <a:bodyPr>
            <a:noAutofit/>
          </a:bodyPr>
          <a:lstStyle/>
          <a:p>
            <a:pPr>
              <a:defRPr sz="1575" b="0">
                <a:solidFill>
                  <a:srgbClr val="484848"/>
                </a:solidFill>
                <a:latin typeface="Calibri"/>
                <a:ea typeface="Calibri"/>
                <a:cs typeface="Calibri"/>
              </a:defRPr>
            </a:pPr>
            <a:r>
              <a:rPr sz="1575" b="0">
                <a:solidFill>
                  <a:srgbClr val="484848"/>
                </a:solidFill>
                <a:latin typeface="Calibri"/>
                <a:ea typeface="Calibri"/>
                <a:cs typeface="Calibri"/>
              </a:rPr>
              <a:t>σ: Sigmoid    tanh: Tangens hyperbolicus    ⊙: elementweise Multiplikation</a:t>
            </a:r>
          </a:p>
        </p:txBody>
      </p:sp>
    </p:spTree>
    <p:extLst>
      <p:ext uri="{BB962C8B-B14F-4D97-AF65-F5344CB8AC3E}">
        <p14:creationId xmlns:p14="http://schemas.microsoft.com/office/powerpoint/2010/main" val="15989129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30" name="Footer – Seitennummer">
            <a:extLst>
              <a:ext uri="{FF2B5EF4-FFF2-40B4-BE49-F238E27FC236}">
                <a16:creationId xmlns:a16="http://schemas.microsoft.com/office/drawing/2014/main" id="{8F5DAA0F-2BA3-4A93-91E1-8A539221F4F7}"/>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7a</a:t>
            </a:r>
          </a:p>
        </p:txBody>
      </p:sp>
      <p:sp>
        <p:nvSpPr>
          <p:cNvPr id="31" name="Footer – Präsentationsangaben">
            <a:extLst>
              <a:ext uri="{FF2B5EF4-FFF2-40B4-BE49-F238E27FC236}">
                <a16:creationId xmlns:a16="http://schemas.microsoft.com/office/drawing/2014/main" id="{D9340ED4-924D-4819-B353-9ABADA6DF06A}"/>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20" name="flash-ram-title">
            <a:extLst>
              <a:ext uri="{FF2B5EF4-FFF2-40B4-BE49-F238E27FC236}">
                <a16:creationId xmlns:a16="http://schemas.microsoft.com/office/drawing/2014/main" id="{56620787-8493-49A6-BED7-738523847A2B}"/>
              </a:ext>
            </a:extLst>
          </p:cNvPr>
          <p:cNvSpPr>
            <a:spLocks noGrp="1"/>
          </p:cNvSpPr>
          <p:nvPr/>
        </p:nvSpPr>
        <p:spPr>
          <a:xfrm>
            <a:off x="552450" y="647700"/>
            <a:ext cx="9477375" cy="457200"/>
          </a:xfrm>
          <a:prstGeom prst="rect">
            <a:avLst/>
          </a:prstGeom>
          <a:noFill/>
          <a:ln w="0">
            <a:noFill/>
          </a:ln>
        </p:spPr>
        <p:txBody>
          <a:bodyPr wrap="none" lIns="0" tIns="0" rIns="0" bIns="0">
            <a:noAutofit/>
          </a:bodyPr>
          <a:lstStyle>
            <a:defPPr>
              <a:defRPr sz="2400" b="0">
                <a:solidFill>
                  <a:srgbClr val="CC001C"/>
                </a:solidFill>
                <a:latin typeface="Calibri"/>
                <a:ea typeface="Calibri"/>
                <a:cs typeface="Calibri"/>
              </a:defRPr>
            </a:defPPr>
            <a:lvl1pPr>
              <a:defRPr sz="2400" b="0">
                <a:solidFill>
                  <a:srgbClr val="CC001C"/>
                </a:solidFill>
                <a:latin typeface="Calibri"/>
                <a:ea typeface="Calibri"/>
                <a:cs typeface="Calibri"/>
              </a:defRPr>
            </a:lvl1pPr>
            <a:lvl2pPr>
              <a:defRPr sz="2400" b="0">
                <a:solidFill>
                  <a:srgbClr val="CC001C"/>
                </a:solidFill>
                <a:latin typeface="Calibri"/>
                <a:ea typeface="Calibri"/>
                <a:cs typeface="Calibri"/>
              </a:defRPr>
            </a:lvl2pPr>
            <a:lvl3pPr>
              <a:defRPr sz="2400" b="0">
                <a:solidFill>
                  <a:srgbClr val="CC001C"/>
                </a:solidFill>
                <a:latin typeface="Calibri"/>
                <a:ea typeface="Calibri"/>
                <a:cs typeface="Calibri"/>
              </a:defRPr>
            </a:lvl3pPr>
            <a:lvl4pPr>
              <a:defRPr sz="2400" b="0">
                <a:solidFill>
                  <a:srgbClr val="CC001C"/>
                </a:solidFill>
                <a:latin typeface="Calibri"/>
                <a:ea typeface="Calibri"/>
                <a:cs typeface="Calibri"/>
              </a:defRPr>
            </a:lvl4pPr>
            <a:lvl5pPr>
              <a:defRPr sz="2400" b="0">
                <a:solidFill>
                  <a:srgbClr val="CC001C"/>
                </a:solidFill>
                <a:latin typeface="Calibri"/>
                <a:ea typeface="Calibri"/>
                <a:cs typeface="Calibri"/>
              </a:defRPr>
            </a:lvl5pPr>
            <a:lvl6pPr>
              <a:defRPr sz="2400" b="0">
                <a:solidFill>
                  <a:srgbClr val="CC001C"/>
                </a:solidFill>
                <a:latin typeface="Calibri"/>
                <a:ea typeface="Calibri"/>
                <a:cs typeface="Calibri"/>
              </a:defRPr>
            </a:lvl6pPr>
            <a:lvl7pPr>
              <a:defRPr sz="2400" b="0">
                <a:solidFill>
                  <a:srgbClr val="CC001C"/>
                </a:solidFill>
                <a:latin typeface="Calibri"/>
                <a:ea typeface="Calibri"/>
                <a:cs typeface="Calibri"/>
              </a:defRPr>
            </a:lvl7pPr>
            <a:lvl8pPr>
              <a:defRPr sz="2400" b="0">
                <a:solidFill>
                  <a:srgbClr val="CC001C"/>
                </a:solidFill>
                <a:latin typeface="Calibri"/>
                <a:ea typeface="Calibri"/>
                <a:cs typeface="Calibri"/>
              </a:defRPr>
            </a:lvl8pPr>
            <a:lvl9pPr>
              <a:defRPr sz="2400" b="0">
                <a:solidFill>
                  <a:srgbClr val="CC001C"/>
                </a:solidFill>
                <a:latin typeface="Calibri"/>
                <a:ea typeface="Calibri"/>
                <a:cs typeface="Calibri"/>
              </a:defRPr>
            </a:lvl9pPr>
          </a:lstStyle>
          <a:p>
            <a:pPr>
              <a:defRPr sz="2400" b="0">
                <a:solidFill>
                  <a:srgbClr val="CC001C"/>
                </a:solidFill>
                <a:latin typeface="Calibri"/>
                <a:ea typeface="Calibri"/>
                <a:cs typeface="Calibri"/>
              </a:defRPr>
            </a:pPr>
            <a:r>
              <a:rPr sz="2400" b="0">
                <a:solidFill>
                  <a:srgbClr val="CC001C"/>
                </a:solidFill>
                <a:latin typeface="Calibri"/>
                <a:ea typeface="Calibri"/>
                <a:cs typeface="Calibri"/>
              </a:rPr>
              <a:t>Anhang: Flash und RAM – konkrete Ermittlung</a:t>
            </a:r>
          </a:p>
        </p:txBody>
      </p:sp>
      <p:sp>
        <p:nvSpPr>
          <p:cNvPr id="130" name="flash-heading">
            <a:extLst>
              <a:ext uri="{FF2B5EF4-FFF2-40B4-BE49-F238E27FC236}">
                <a16:creationId xmlns:a16="http://schemas.microsoft.com/office/drawing/2014/main" id="{8D15F174-1CD1-4375-9C98-86A8C6D0C685}"/>
              </a:ext>
            </a:extLst>
          </p:cNvPr>
          <p:cNvSpPr>
            <a:spLocks noGrp="1"/>
          </p:cNvSpPr>
          <p:nvPr/>
        </p:nvSpPr>
        <p:spPr>
          <a:xfrm>
            <a:off x="552450" y="1476375"/>
            <a:ext cx="4572000" cy="304800"/>
          </a:xfrm>
          <a:prstGeom prst="rect">
            <a:avLst/>
          </a:prstGeom>
          <a:noFill/>
          <a:ln w="0">
            <a:noFill/>
          </a:ln>
        </p:spPr>
        <p:txBody>
          <a:bodyPr wrap="none" lIns="0" tIns="0" rIns="0" bIns="0">
            <a:noAutofit/>
          </a:bodyPr>
          <a:lstStyle>
            <a:defPPr>
              <a:defRPr sz="1875" b="1">
                <a:solidFill>
                  <a:srgbClr val="CC001C"/>
                </a:solidFill>
                <a:latin typeface="Calibri"/>
                <a:ea typeface="Calibri"/>
                <a:cs typeface="Calibri"/>
              </a:defRPr>
            </a:defPPr>
            <a:lvl1pPr>
              <a:defRPr sz="1875" b="1">
                <a:solidFill>
                  <a:srgbClr val="CC001C"/>
                </a:solidFill>
                <a:latin typeface="Calibri"/>
                <a:ea typeface="Calibri"/>
                <a:cs typeface="Calibri"/>
              </a:defRPr>
            </a:lvl1pPr>
            <a:lvl2pPr>
              <a:defRPr sz="1875" b="1">
                <a:solidFill>
                  <a:srgbClr val="CC001C"/>
                </a:solidFill>
                <a:latin typeface="Calibri"/>
                <a:ea typeface="Calibri"/>
                <a:cs typeface="Calibri"/>
              </a:defRPr>
            </a:lvl2pPr>
            <a:lvl3pPr>
              <a:defRPr sz="1875" b="1">
                <a:solidFill>
                  <a:srgbClr val="CC001C"/>
                </a:solidFill>
                <a:latin typeface="Calibri"/>
                <a:ea typeface="Calibri"/>
                <a:cs typeface="Calibri"/>
              </a:defRPr>
            </a:lvl3pPr>
            <a:lvl4pPr>
              <a:defRPr sz="1875" b="1">
                <a:solidFill>
                  <a:srgbClr val="CC001C"/>
                </a:solidFill>
                <a:latin typeface="Calibri"/>
                <a:ea typeface="Calibri"/>
                <a:cs typeface="Calibri"/>
              </a:defRPr>
            </a:lvl4pPr>
            <a:lvl5pPr>
              <a:defRPr sz="1875" b="1">
                <a:solidFill>
                  <a:srgbClr val="CC001C"/>
                </a:solidFill>
                <a:latin typeface="Calibri"/>
                <a:ea typeface="Calibri"/>
                <a:cs typeface="Calibri"/>
              </a:defRPr>
            </a:lvl5pPr>
            <a:lvl6pPr>
              <a:defRPr sz="1875" b="1">
                <a:solidFill>
                  <a:srgbClr val="CC001C"/>
                </a:solidFill>
                <a:latin typeface="Calibri"/>
                <a:ea typeface="Calibri"/>
                <a:cs typeface="Calibri"/>
              </a:defRPr>
            </a:lvl6pPr>
            <a:lvl7pPr>
              <a:defRPr sz="1875" b="1">
                <a:solidFill>
                  <a:srgbClr val="CC001C"/>
                </a:solidFill>
                <a:latin typeface="Calibri"/>
                <a:ea typeface="Calibri"/>
                <a:cs typeface="Calibri"/>
              </a:defRPr>
            </a:lvl7pPr>
            <a:lvl8pPr>
              <a:defRPr sz="1875" b="1">
                <a:solidFill>
                  <a:srgbClr val="CC001C"/>
                </a:solidFill>
                <a:latin typeface="Calibri"/>
                <a:ea typeface="Calibri"/>
                <a:cs typeface="Calibri"/>
              </a:defRPr>
            </a:lvl8pPr>
            <a:lvl9pPr>
              <a:defRPr sz="1875" b="1">
                <a:solidFill>
                  <a:srgbClr val="CC001C"/>
                </a:solidFill>
                <a:latin typeface="Calibri"/>
                <a:ea typeface="Calibri"/>
                <a:cs typeface="Calibri"/>
              </a:defRPr>
            </a:lvl9pPr>
          </a:lstStyle>
          <a:p>
            <a:pPr>
              <a:defRPr sz="1875" b="1">
                <a:solidFill>
                  <a:srgbClr val="CC001C"/>
                </a:solidFill>
                <a:latin typeface="Calibri"/>
                <a:ea typeface="Calibri"/>
                <a:cs typeface="Calibri"/>
              </a:defRPr>
            </a:pPr>
            <a:r>
              <a:rPr sz="1875" b="1">
                <a:solidFill>
                  <a:srgbClr val="CC001C"/>
                </a:solidFill>
                <a:latin typeface="Calibri"/>
                <a:ea typeface="Calibri"/>
                <a:cs typeface="Calibri"/>
              </a:rPr>
              <a:t>Flash: aus dem gelinkten Firmware-ELF</a:t>
            </a:r>
          </a:p>
        </p:txBody>
      </p:sp>
      <p:sp>
        <p:nvSpPr>
          <p:cNvPr id="140" name="ram-heading">
            <a:extLst>
              <a:ext uri="{FF2B5EF4-FFF2-40B4-BE49-F238E27FC236}">
                <a16:creationId xmlns:a16="http://schemas.microsoft.com/office/drawing/2014/main" id="{D2CCE0EB-14E1-4AFD-AABE-5C1DA1BEF4E8}"/>
              </a:ext>
            </a:extLst>
          </p:cNvPr>
          <p:cNvSpPr>
            <a:spLocks noGrp="1"/>
          </p:cNvSpPr>
          <p:nvPr/>
        </p:nvSpPr>
        <p:spPr>
          <a:xfrm>
            <a:off x="5391150" y="1476375"/>
            <a:ext cx="4667250" cy="304800"/>
          </a:xfrm>
          <a:prstGeom prst="rect">
            <a:avLst/>
          </a:prstGeom>
          <a:noFill/>
          <a:ln w="0">
            <a:noFill/>
          </a:ln>
        </p:spPr>
        <p:txBody>
          <a:bodyPr wrap="none" lIns="0" tIns="0" rIns="0" bIns="0">
            <a:noAutofit/>
          </a:bodyPr>
          <a:lstStyle>
            <a:defPPr>
              <a:defRPr sz="1875" b="1">
                <a:solidFill>
                  <a:srgbClr val="CC001C"/>
                </a:solidFill>
                <a:latin typeface="Calibri"/>
                <a:ea typeface="Calibri"/>
                <a:cs typeface="Calibri"/>
              </a:defRPr>
            </a:defPPr>
            <a:lvl1pPr>
              <a:defRPr sz="1875" b="1">
                <a:solidFill>
                  <a:srgbClr val="CC001C"/>
                </a:solidFill>
                <a:latin typeface="Calibri"/>
                <a:ea typeface="Calibri"/>
                <a:cs typeface="Calibri"/>
              </a:defRPr>
            </a:lvl1pPr>
            <a:lvl2pPr>
              <a:defRPr sz="1875" b="1">
                <a:solidFill>
                  <a:srgbClr val="CC001C"/>
                </a:solidFill>
                <a:latin typeface="Calibri"/>
                <a:ea typeface="Calibri"/>
                <a:cs typeface="Calibri"/>
              </a:defRPr>
            </a:lvl2pPr>
            <a:lvl3pPr>
              <a:defRPr sz="1875" b="1">
                <a:solidFill>
                  <a:srgbClr val="CC001C"/>
                </a:solidFill>
                <a:latin typeface="Calibri"/>
                <a:ea typeface="Calibri"/>
                <a:cs typeface="Calibri"/>
              </a:defRPr>
            </a:lvl3pPr>
            <a:lvl4pPr>
              <a:defRPr sz="1875" b="1">
                <a:solidFill>
                  <a:srgbClr val="CC001C"/>
                </a:solidFill>
                <a:latin typeface="Calibri"/>
                <a:ea typeface="Calibri"/>
                <a:cs typeface="Calibri"/>
              </a:defRPr>
            </a:lvl4pPr>
            <a:lvl5pPr>
              <a:defRPr sz="1875" b="1">
                <a:solidFill>
                  <a:srgbClr val="CC001C"/>
                </a:solidFill>
                <a:latin typeface="Calibri"/>
                <a:ea typeface="Calibri"/>
                <a:cs typeface="Calibri"/>
              </a:defRPr>
            </a:lvl5pPr>
            <a:lvl6pPr>
              <a:defRPr sz="1875" b="1">
                <a:solidFill>
                  <a:srgbClr val="CC001C"/>
                </a:solidFill>
                <a:latin typeface="Calibri"/>
                <a:ea typeface="Calibri"/>
                <a:cs typeface="Calibri"/>
              </a:defRPr>
            </a:lvl6pPr>
            <a:lvl7pPr>
              <a:defRPr sz="1875" b="1">
                <a:solidFill>
                  <a:srgbClr val="CC001C"/>
                </a:solidFill>
                <a:latin typeface="Calibri"/>
                <a:ea typeface="Calibri"/>
                <a:cs typeface="Calibri"/>
              </a:defRPr>
            </a:lvl7pPr>
            <a:lvl8pPr>
              <a:defRPr sz="1875" b="1">
                <a:solidFill>
                  <a:srgbClr val="CC001C"/>
                </a:solidFill>
                <a:latin typeface="Calibri"/>
                <a:ea typeface="Calibri"/>
                <a:cs typeface="Calibri"/>
              </a:defRPr>
            </a:lvl8pPr>
            <a:lvl9pPr>
              <a:defRPr sz="1875" b="1">
                <a:solidFill>
                  <a:srgbClr val="CC001C"/>
                </a:solidFill>
                <a:latin typeface="Calibri"/>
                <a:ea typeface="Calibri"/>
                <a:cs typeface="Calibri"/>
              </a:defRPr>
            </a:lvl9pPr>
          </a:lstStyle>
          <a:p>
            <a:pPr>
              <a:defRPr sz="1875" b="1">
                <a:solidFill>
                  <a:srgbClr val="CC001C"/>
                </a:solidFill>
                <a:latin typeface="Calibri"/>
                <a:ea typeface="Calibri"/>
                <a:cs typeface="Calibri"/>
              </a:defRPr>
            </a:pPr>
            <a:r>
              <a:rPr sz="1875" b="1">
                <a:solidFill>
                  <a:srgbClr val="CC001C"/>
                </a:solidFill>
                <a:latin typeface="Calibri"/>
                <a:ea typeface="Calibri"/>
                <a:cs typeface="Calibri"/>
              </a:rPr>
              <a:t>RAM: Static Storage + beobachteter Stack</a:t>
            </a:r>
          </a:p>
        </p:txBody>
      </p:sp>
      <p:sp>
        <p:nvSpPr>
          <p:cNvPr id="150" name="flash-equation">
            <a:extLst>
              <a:ext uri="{FF2B5EF4-FFF2-40B4-BE49-F238E27FC236}">
                <a16:creationId xmlns:a16="http://schemas.microsoft.com/office/drawing/2014/main" id="{B51F390A-9EF7-46B1-A0B3-5541E16436EB}"/>
              </a:ext>
            </a:extLst>
          </p:cNvPr>
          <p:cNvSpPr>
            <a:spLocks noGrp="1"/>
          </p:cNvSpPr>
          <p:nvPr/>
        </p:nvSpPr>
        <p:spPr>
          <a:xfrm>
            <a:off x="552450" y="1952625"/>
            <a:ext cx="4667250" cy="304800"/>
          </a:xfrm>
          <a:prstGeom prst="rect">
            <a:avLst/>
          </a:prstGeom>
          <a:noFill/>
          <a:ln w="0">
            <a:noFill/>
          </a:ln>
        </p:spPr>
        <p:txBody>
          <a:bodyPr wrap="none" lIns="0" tIns="0" rIns="0" bIns="0">
            <a:noAutofit/>
          </a:bodyPr>
          <a:lstStyle>
            <a:defPPr>
              <a:defRPr sz="1800" b="1">
                <a:solidFill>
                  <a:srgbClr val="3F3F3F"/>
                </a:solidFill>
                <a:latin typeface="Calibri"/>
                <a:ea typeface="Calibri"/>
                <a:cs typeface="Calibri"/>
              </a:defRPr>
            </a:defPPr>
            <a:lvl1pPr>
              <a:defRPr sz="1800" b="1">
                <a:solidFill>
                  <a:srgbClr val="3F3F3F"/>
                </a:solidFill>
                <a:latin typeface="Calibri"/>
                <a:ea typeface="Calibri"/>
                <a:cs typeface="Calibri"/>
              </a:defRPr>
            </a:lvl1pPr>
            <a:lvl2pPr>
              <a:defRPr sz="1800" b="1">
                <a:solidFill>
                  <a:srgbClr val="3F3F3F"/>
                </a:solidFill>
                <a:latin typeface="Calibri"/>
                <a:ea typeface="Calibri"/>
                <a:cs typeface="Calibri"/>
              </a:defRPr>
            </a:lvl2pPr>
            <a:lvl3pPr>
              <a:defRPr sz="1800" b="1">
                <a:solidFill>
                  <a:srgbClr val="3F3F3F"/>
                </a:solidFill>
                <a:latin typeface="Calibri"/>
                <a:ea typeface="Calibri"/>
                <a:cs typeface="Calibri"/>
              </a:defRPr>
            </a:lvl3pPr>
            <a:lvl4pPr>
              <a:defRPr sz="1800" b="1">
                <a:solidFill>
                  <a:srgbClr val="3F3F3F"/>
                </a:solidFill>
                <a:latin typeface="Calibri"/>
                <a:ea typeface="Calibri"/>
                <a:cs typeface="Calibri"/>
              </a:defRPr>
            </a:lvl4pPr>
            <a:lvl5pPr>
              <a:defRPr sz="1800" b="1">
                <a:solidFill>
                  <a:srgbClr val="3F3F3F"/>
                </a:solidFill>
                <a:latin typeface="Calibri"/>
                <a:ea typeface="Calibri"/>
                <a:cs typeface="Calibri"/>
              </a:defRPr>
            </a:lvl5pPr>
            <a:lvl6pPr>
              <a:defRPr sz="1800" b="1">
                <a:solidFill>
                  <a:srgbClr val="3F3F3F"/>
                </a:solidFill>
                <a:latin typeface="Calibri"/>
                <a:ea typeface="Calibri"/>
                <a:cs typeface="Calibri"/>
              </a:defRPr>
            </a:lvl6pPr>
            <a:lvl7pPr>
              <a:defRPr sz="1800" b="1">
                <a:solidFill>
                  <a:srgbClr val="3F3F3F"/>
                </a:solidFill>
                <a:latin typeface="Calibri"/>
                <a:ea typeface="Calibri"/>
                <a:cs typeface="Calibri"/>
              </a:defRPr>
            </a:lvl7pPr>
            <a:lvl8pPr>
              <a:defRPr sz="1800" b="1">
                <a:solidFill>
                  <a:srgbClr val="3F3F3F"/>
                </a:solidFill>
                <a:latin typeface="Calibri"/>
                <a:ea typeface="Calibri"/>
                <a:cs typeface="Calibri"/>
              </a:defRPr>
            </a:lvl8pPr>
            <a:lvl9pPr>
              <a:defRPr sz="1800" b="1">
                <a:solidFill>
                  <a:srgbClr val="3F3F3F"/>
                </a:solidFill>
                <a:latin typeface="Calibri"/>
                <a:ea typeface="Calibri"/>
                <a:cs typeface="Calibri"/>
              </a:defRPr>
            </a:lvl9pPr>
          </a:lstStyle>
          <a:p>
            <a:pPr>
              <a:defRPr sz="1800" b="1">
                <a:solidFill>
                  <a:srgbClr val="3F3F3F"/>
                </a:solidFill>
                <a:latin typeface="Calibri"/>
                <a:ea typeface="Calibri"/>
                <a:cs typeface="Calibri"/>
              </a:defRPr>
            </a:pPr>
            <a:r>
              <a:rPr sz="1800" b="1">
                <a:solidFill>
                  <a:srgbClr val="3F3F3F"/>
                </a:solidFill>
                <a:latin typeface="Calibri"/>
                <a:ea typeface="Calibri"/>
                <a:cs typeface="Calibri"/>
              </a:rPr>
              <a:t>Flash [KiB] = Σ filesz(Flash-Segment) / 1024</a:t>
            </a:r>
          </a:p>
        </p:txBody>
      </p:sp>
      <p:sp>
        <p:nvSpPr>
          <p:cNvPr id="160" name="flash-scope">
            <a:extLst>
              <a:ext uri="{FF2B5EF4-FFF2-40B4-BE49-F238E27FC236}">
                <a16:creationId xmlns:a16="http://schemas.microsoft.com/office/drawing/2014/main" id="{10875E1F-44BC-4D04-84A9-54EE17803E99}"/>
              </a:ext>
            </a:extLst>
          </p:cNvPr>
          <p:cNvSpPr>
            <a:spLocks noGrp="1"/>
          </p:cNvSpPr>
          <p:nvPr/>
        </p:nvSpPr>
        <p:spPr>
          <a:xfrm>
            <a:off x="552450" y="2400300"/>
            <a:ext cx="4619625" cy="285750"/>
          </a:xfrm>
          <a:prstGeom prst="rect">
            <a:avLst/>
          </a:prstGeom>
          <a:noFill/>
          <a:ln w="0">
            <a:noFill/>
          </a:ln>
        </p:spPr>
        <p:txBody>
          <a:bodyPr wrap="none" lIns="0" tIns="0" rIns="0" bIns="0">
            <a:noAutofit/>
          </a:bodyPr>
          <a:lstStyle>
            <a:defPPr>
              <a:defRPr sz="1800" b="0">
                <a:solidFill>
                  <a:srgbClr val="3F3F3F"/>
                </a:solidFill>
                <a:latin typeface="Calibri"/>
                <a:ea typeface="Calibri"/>
                <a:cs typeface="Calibri"/>
              </a:defRPr>
            </a:defPPr>
            <a:lvl1pPr>
              <a:defRPr sz="1800" b="0">
                <a:solidFill>
                  <a:srgbClr val="3F3F3F"/>
                </a:solidFill>
                <a:latin typeface="Calibri"/>
                <a:ea typeface="Calibri"/>
                <a:cs typeface="Calibri"/>
              </a:defRPr>
            </a:lvl1pPr>
            <a:lvl2pPr>
              <a:defRPr sz="1800" b="0">
                <a:solidFill>
                  <a:srgbClr val="3F3F3F"/>
                </a:solidFill>
                <a:latin typeface="Calibri"/>
                <a:ea typeface="Calibri"/>
                <a:cs typeface="Calibri"/>
              </a:defRPr>
            </a:lvl2pPr>
            <a:lvl3pPr>
              <a:defRPr sz="1800" b="0">
                <a:solidFill>
                  <a:srgbClr val="3F3F3F"/>
                </a:solidFill>
                <a:latin typeface="Calibri"/>
                <a:ea typeface="Calibri"/>
                <a:cs typeface="Calibri"/>
              </a:defRPr>
            </a:lvl3pPr>
            <a:lvl4pPr>
              <a:defRPr sz="1800" b="0">
                <a:solidFill>
                  <a:srgbClr val="3F3F3F"/>
                </a:solidFill>
                <a:latin typeface="Calibri"/>
                <a:ea typeface="Calibri"/>
                <a:cs typeface="Calibri"/>
              </a:defRPr>
            </a:lvl4pPr>
            <a:lvl5pPr>
              <a:defRPr sz="1800" b="0">
                <a:solidFill>
                  <a:srgbClr val="3F3F3F"/>
                </a:solidFill>
                <a:latin typeface="Calibri"/>
                <a:ea typeface="Calibri"/>
                <a:cs typeface="Calibri"/>
              </a:defRPr>
            </a:lvl5pPr>
            <a:lvl6pPr>
              <a:defRPr sz="1800" b="0">
                <a:solidFill>
                  <a:srgbClr val="3F3F3F"/>
                </a:solidFill>
                <a:latin typeface="Calibri"/>
                <a:ea typeface="Calibri"/>
                <a:cs typeface="Calibri"/>
              </a:defRPr>
            </a:lvl6pPr>
            <a:lvl7pPr>
              <a:defRPr sz="1800" b="0">
                <a:solidFill>
                  <a:srgbClr val="3F3F3F"/>
                </a:solidFill>
                <a:latin typeface="Calibri"/>
                <a:ea typeface="Calibri"/>
                <a:cs typeface="Calibri"/>
              </a:defRPr>
            </a:lvl7pPr>
            <a:lvl8pPr>
              <a:defRPr sz="1800" b="0">
                <a:solidFill>
                  <a:srgbClr val="3F3F3F"/>
                </a:solidFill>
                <a:latin typeface="Calibri"/>
                <a:ea typeface="Calibri"/>
                <a:cs typeface="Calibri"/>
              </a:defRPr>
            </a:lvl8pPr>
            <a:lvl9pPr>
              <a:defRPr sz="1800" b="0">
                <a:solidFill>
                  <a:srgbClr val="3F3F3F"/>
                </a:solidFill>
                <a:latin typeface="Calibri"/>
                <a:ea typeface="Calibri"/>
                <a:cs typeface="Calibri"/>
              </a:defRPr>
            </a:lvl9pPr>
          </a:lstStyle>
          <a:p>
            <a:pPr>
              <a:defRPr sz="1800" b="0">
                <a:solidFill>
                  <a:srgbClr val="3F3F3F"/>
                </a:solidFill>
                <a:latin typeface="Calibri"/>
                <a:ea typeface="Calibri"/>
                <a:cs typeface="Calibri"/>
              </a:defRPr>
            </a:pPr>
            <a:r>
              <a:rPr sz="1800" b="0">
                <a:solidFill>
                  <a:srgbClr val="3F3F3F"/>
                </a:solidFill>
                <a:latin typeface="Calibri"/>
                <a:ea typeface="Calibri"/>
                <a:cs typeface="Calibri"/>
              </a:rPr>
              <a:t>Flash-backed Load Segments inklusive:</a:t>
            </a:r>
          </a:p>
        </p:txBody>
      </p:sp>
      <p:sp>
        <p:nvSpPr>
          <p:cNvPr id="170" name="flash-components">
            <a:extLst>
              <a:ext uri="{FF2B5EF4-FFF2-40B4-BE49-F238E27FC236}">
                <a16:creationId xmlns:a16="http://schemas.microsoft.com/office/drawing/2014/main" id="{FD06C636-CF03-43C6-B9DB-9497A2EF42B5}"/>
              </a:ext>
            </a:extLst>
          </p:cNvPr>
          <p:cNvSpPr>
            <a:spLocks noGrp="1"/>
          </p:cNvSpPr>
          <p:nvPr/>
        </p:nvSpPr>
        <p:spPr>
          <a:xfrm>
            <a:off x="552450" y="2771775"/>
            <a:ext cx="4667250" cy="914400"/>
          </a:xfrm>
          <a:prstGeom prst="rect">
            <a:avLst/>
          </a:prstGeom>
          <a:noFill/>
          <a:ln w="0">
            <a:noFill/>
          </a:ln>
        </p:spPr>
        <p:txBody>
          <a:bodyPr wrap="none" lIns="0" tIns="0" rIns="0" bIns="0">
            <a:noAutofit/>
          </a:bodyPr>
          <a:lstStyle>
            <a:defPPr>
              <a:defRPr sz="1800" b="0">
                <a:solidFill>
                  <a:srgbClr val="3F3F3F"/>
                </a:solidFill>
                <a:latin typeface="Calibri"/>
                <a:ea typeface="Calibri"/>
                <a:cs typeface="Calibri"/>
              </a:defRPr>
            </a:defPPr>
            <a:lvl1pPr>
              <a:defRPr sz="1800" b="0">
                <a:solidFill>
                  <a:srgbClr val="3F3F3F"/>
                </a:solidFill>
                <a:latin typeface="Calibri"/>
                <a:ea typeface="Calibri"/>
                <a:cs typeface="Calibri"/>
              </a:defRPr>
            </a:lvl1pPr>
            <a:lvl2pPr>
              <a:defRPr sz="1800" b="0">
                <a:solidFill>
                  <a:srgbClr val="3F3F3F"/>
                </a:solidFill>
                <a:latin typeface="Calibri"/>
                <a:ea typeface="Calibri"/>
                <a:cs typeface="Calibri"/>
              </a:defRPr>
            </a:lvl2pPr>
            <a:lvl3pPr>
              <a:defRPr sz="1800" b="0">
                <a:solidFill>
                  <a:srgbClr val="3F3F3F"/>
                </a:solidFill>
                <a:latin typeface="Calibri"/>
                <a:ea typeface="Calibri"/>
                <a:cs typeface="Calibri"/>
              </a:defRPr>
            </a:lvl3pPr>
            <a:lvl4pPr>
              <a:defRPr sz="1800" b="0">
                <a:solidFill>
                  <a:srgbClr val="3F3F3F"/>
                </a:solidFill>
                <a:latin typeface="Calibri"/>
                <a:ea typeface="Calibri"/>
                <a:cs typeface="Calibri"/>
              </a:defRPr>
            </a:lvl4pPr>
            <a:lvl5pPr>
              <a:defRPr sz="1800" b="0">
                <a:solidFill>
                  <a:srgbClr val="3F3F3F"/>
                </a:solidFill>
                <a:latin typeface="Calibri"/>
                <a:ea typeface="Calibri"/>
                <a:cs typeface="Calibri"/>
              </a:defRPr>
            </a:lvl5pPr>
            <a:lvl6pPr>
              <a:defRPr sz="1800" b="0">
                <a:solidFill>
                  <a:srgbClr val="3F3F3F"/>
                </a:solidFill>
                <a:latin typeface="Calibri"/>
                <a:ea typeface="Calibri"/>
                <a:cs typeface="Calibri"/>
              </a:defRPr>
            </a:lvl6pPr>
            <a:lvl7pPr>
              <a:defRPr sz="1800" b="0">
                <a:solidFill>
                  <a:srgbClr val="3F3F3F"/>
                </a:solidFill>
                <a:latin typeface="Calibri"/>
                <a:ea typeface="Calibri"/>
                <a:cs typeface="Calibri"/>
              </a:defRPr>
            </a:lvl7pPr>
            <a:lvl8pPr>
              <a:defRPr sz="1800" b="0">
                <a:solidFill>
                  <a:srgbClr val="3F3F3F"/>
                </a:solidFill>
                <a:latin typeface="Calibri"/>
                <a:ea typeface="Calibri"/>
                <a:cs typeface="Calibri"/>
              </a:defRPr>
            </a:lvl8pPr>
            <a:lvl9pPr>
              <a:defRPr sz="1800" b="0">
                <a:solidFill>
                  <a:srgbClr val="3F3F3F"/>
                </a:solidFill>
                <a:latin typeface="Calibri"/>
                <a:ea typeface="Calibri"/>
                <a:cs typeface="Calibri"/>
              </a:defRPr>
            </a:lvl9pPr>
          </a:lstStyle>
          <a:p>
            <a:pPr>
              <a:defRPr sz="1800" b="0">
                <a:solidFill>
                  <a:srgbClr val="3F3F3F"/>
                </a:solidFill>
                <a:latin typeface="Calibri"/>
                <a:ea typeface="Calibri"/>
                <a:cs typeface="Calibri"/>
              </a:defRPr>
            </a:pPr>
            <a:r>
              <a:rPr sz="1800" b="0">
                <a:solidFill>
                  <a:srgbClr val="3F3F3F"/>
                </a:solidFill>
                <a:latin typeface="Calibri"/>
                <a:ea typeface="Calibri"/>
                <a:cs typeface="Calibri"/>
              </a:rPr>
              <a:t>Programmcode und Runtime</a:t>
            </a:r>
          </a:p>
          <a:p>
            <a:pPr>
              <a:defRPr sz="1800" b="0">
                <a:solidFill>
                  <a:srgbClr val="3F3F3F"/>
                </a:solidFill>
                <a:latin typeface="Calibri"/>
                <a:ea typeface="Calibri"/>
                <a:cs typeface="Calibri"/>
              </a:defRPr>
            </a:pPr>
            <a:r>
              <a:rPr sz="1800" b="0">
                <a:solidFill>
                  <a:srgbClr val="3F3F3F"/>
                </a:solidFill>
                <a:latin typeface="Calibri"/>
                <a:ea typeface="Calibri"/>
                <a:cs typeface="Calibri"/>
              </a:rPr>
              <a:t>Modellgewichte, Scales und Konstanten</a:t>
            </a:r>
          </a:p>
          <a:p>
            <a:pPr>
              <a:defRPr sz="1800" b="0">
                <a:solidFill>
                  <a:srgbClr val="3F3F3F"/>
                </a:solidFill>
                <a:latin typeface="Calibri"/>
                <a:ea typeface="Calibri"/>
                <a:cs typeface="Calibri"/>
              </a:defRPr>
            </a:pPr>
            <a:r>
              <a:rPr sz="1800" b="0">
                <a:solidFill>
                  <a:srgbClr val="3F3F3F"/>
                </a:solidFill>
                <a:latin typeface="Calibri"/>
                <a:ea typeface="Calibri"/>
                <a:cs typeface="Calibri"/>
              </a:rPr>
              <a:t>Initialwerte für .data im RAM</a:t>
            </a:r>
          </a:p>
        </p:txBody>
      </p:sp>
      <p:sp>
        <p:nvSpPr>
          <p:cNvPr id="180" name="flash-explainer">
            <a:extLst>
              <a:ext uri="{FF2B5EF4-FFF2-40B4-BE49-F238E27FC236}">
                <a16:creationId xmlns:a16="http://schemas.microsoft.com/office/drawing/2014/main" id="{0EEA9C16-56B0-4219-BF2F-381358790A62}"/>
              </a:ext>
            </a:extLst>
          </p:cNvPr>
          <p:cNvSpPr>
            <a:spLocks noGrp="1"/>
          </p:cNvSpPr>
          <p:nvPr/>
        </p:nvSpPr>
        <p:spPr>
          <a:xfrm>
            <a:off x="552450" y="3857625"/>
            <a:ext cx="4667250" cy="542925"/>
          </a:xfrm>
          <a:prstGeom prst="rect">
            <a:avLst/>
          </a:prstGeom>
          <a:noFill/>
          <a:ln w="0">
            <a:noFill/>
          </a:ln>
        </p:spPr>
        <p:txBody>
          <a:bodyPr wrap="none" lIns="0" tIns="0" rIns="0" bIns="0">
            <a:noAutofit/>
          </a:bodyPr>
          <a:lstStyle>
            <a:defPPr>
              <a:defRPr sz="1650" b="0">
                <a:solidFill>
                  <a:srgbClr val="3F3F3F"/>
                </a:solidFill>
                <a:latin typeface="Calibri"/>
                <a:ea typeface="Calibri"/>
                <a:cs typeface="Calibri"/>
              </a:defRPr>
            </a:defPPr>
            <a:lvl1pPr>
              <a:defRPr sz="1650" b="0">
                <a:solidFill>
                  <a:srgbClr val="3F3F3F"/>
                </a:solidFill>
                <a:latin typeface="Calibri"/>
                <a:ea typeface="Calibri"/>
                <a:cs typeface="Calibri"/>
              </a:defRPr>
            </a:lvl1pPr>
            <a:lvl2pPr>
              <a:defRPr sz="1650" b="0">
                <a:solidFill>
                  <a:srgbClr val="3F3F3F"/>
                </a:solidFill>
                <a:latin typeface="Calibri"/>
                <a:ea typeface="Calibri"/>
                <a:cs typeface="Calibri"/>
              </a:defRPr>
            </a:lvl2pPr>
            <a:lvl3pPr>
              <a:defRPr sz="1650" b="0">
                <a:solidFill>
                  <a:srgbClr val="3F3F3F"/>
                </a:solidFill>
                <a:latin typeface="Calibri"/>
                <a:ea typeface="Calibri"/>
                <a:cs typeface="Calibri"/>
              </a:defRPr>
            </a:lvl3pPr>
            <a:lvl4pPr>
              <a:defRPr sz="1650" b="0">
                <a:solidFill>
                  <a:srgbClr val="3F3F3F"/>
                </a:solidFill>
                <a:latin typeface="Calibri"/>
                <a:ea typeface="Calibri"/>
                <a:cs typeface="Calibri"/>
              </a:defRPr>
            </a:lvl4pPr>
            <a:lvl5pPr>
              <a:defRPr sz="1650" b="0">
                <a:solidFill>
                  <a:srgbClr val="3F3F3F"/>
                </a:solidFill>
                <a:latin typeface="Calibri"/>
                <a:ea typeface="Calibri"/>
                <a:cs typeface="Calibri"/>
              </a:defRPr>
            </a:lvl5pPr>
            <a:lvl6pPr>
              <a:defRPr sz="1650" b="0">
                <a:solidFill>
                  <a:srgbClr val="3F3F3F"/>
                </a:solidFill>
                <a:latin typeface="Calibri"/>
                <a:ea typeface="Calibri"/>
                <a:cs typeface="Calibri"/>
              </a:defRPr>
            </a:lvl6pPr>
            <a:lvl7pPr>
              <a:defRPr sz="1650" b="0">
                <a:solidFill>
                  <a:srgbClr val="3F3F3F"/>
                </a:solidFill>
                <a:latin typeface="Calibri"/>
                <a:ea typeface="Calibri"/>
                <a:cs typeface="Calibri"/>
              </a:defRPr>
            </a:lvl7pPr>
            <a:lvl8pPr>
              <a:defRPr sz="1650" b="0">
                <a:solidFill>
                  <a:srgbClr val="3F3F3F"/>
                </a:solidFill>
                <a:latin typeface="Calibri"/>
                <a:ea typeface="Calibri"/>
                <a:cs typeface="Calibri"/>
              </a:defRPr>
            </a:lvl8pPr>
            <a:lvl9pPr>
              <a:defRPr sz="1650" b="0">
                <a:solidFill>
                  <a:srgbClr val="3F3F3F"/>
                </a:solidFill>
                <a:latin typeface="Calibri"/>
                <a:ea typeface="Calibri"/>
                <a:cs typeface="Calibri"/>
              </a:defRPr>
            </a:lvl9pPr>
          </a:lstStyle>
          <a:p>
            <a:pPr>
              <a:defRPr sz="1650" b="0">
                <a:solidFill>
                  <a:srgbClr val="3F3F3F"/>
                </a:solidFill>
                <a:latin typeface="Calibri"/>
                <a:ea typeface="Calibri"/>
                <a:cs typeface="Calibri"/>
              </a:defRPr>
            </a:pPr>
            <a:r>
              <a:rPr sz="1650" b="0">
                <a:solidFill>
                  <a:srgbClr val="3F3F3F"/>
                </a:solidFill>
                <a:latin typeface="Calibri"/>
                <a:ea typeface="Calibri"/>
                <a:cs typeface="Calibri"/>
              </a:rPr>
              <a:t>filesz = gespeicherte Bytes des Segments</a:t>
            </a:r>
          </a:p>
          <a:p>
            <a:pPr>
              <a:defRPr sz="1650" b="0">
                <a:solidFill>
                  <a:srgbClr val="3F3F3F"/>
                </a:solidFill>
                <a:latin typeface="Calibri"/>
                <a:ea typeface="Calibri"/>
                <a:cs typeface="Calibri"/>
              </a:defRPr>
            </a:pPr>
            <a:r>
              <a:rPr sz="1650" b="0">
                <a:solidFill>
                  <a:srgbClr val="3F3F3F"/>
                </a:solidFill>
                <a:latin typeface="Calibri"/>
                <a:ea typeface="Calibri"/>
                <a:cs typeface="Calibri"/>
              </a:rPr>
              <a:t>ELF-Debugsymbole werden nicht mitgezählt.</a:t>
            </a:r>
          </a:p>
        </p:txBody>
      </p:sp>
      <p:sp>
        <p:nvSpPr>
          <p:cNvPr id="190" name="ram-equation">
            <a:extLst>
              <a:ext uri="{FF2B5EF4-FFF2-40B4-BE49-F238E27FC236}">
                <a16:creationId xmlns:a16="http://schemas.microsoft.com/office/drawing/2014/main" id="{1E243DFC-8EB6-4AA9-9DA8-42D04259FAE9}"/>
              </a:ext>
            </a:extLst>
          </p:cNvPr>
          <p:cNvSpPr>
            <a:spLocks noGrp="1"/>
          </p:cNvSpPr>
          <p:nvPr/>
        </p:nvSpPr>
        <p:spPr>
          <a:xfrm>
            <a:off x="5391150" y="1952625"/>
            <a:ext cx="4667250" cy="304800"/>
          </a:xfrm>
          <a:prstGeom prst="rect">
            <a:avLst/>
          </a:prstGeom>
          <a:noFill/>
          <a:ln w="0">
            <a:noFill/>
          </a:ln>
        </p:spPr>
        <p:txBody>
          <a:bodyPr wrap="none" lIns="0" tIns="0" rIns="0" bIns="0">
            <a:noAutofit/>
          </a:bodyPr>
          <a:lstStyle>
            <a:defPPr>
              <a:defRPr sz="1800" b="1">
                <a:solidFill>
                  <a:srgbClr val="3F3F3F"/>
                </a:solidFill>
                <a:latin typeface="Calibri"/>
                <a:ea typeface="Calibri"/>
                <a:cs typeface="Calibri"/>
              </a:defRPr>
            </a:defPPr>
            <a:lvl1pPr>
              <a:defRPr sz="1800" b="1">
                <a:solidFill>
                  <a:srgbClr val="3F3F3F"/>
                </a:solidFill>
                <a:latin typeface="Calibri"/>
                <a:ea typeface="Calibri"/>
                <a:cs typeface="Calibri"/>
              </a:defRPr>
            </a:lvl1pPr>
            <a:lvl2pPr>
              <a:defRPr sz="1800" b="1">
                <a:solidFill>
                  <a:srgbClr val="3F3F3F"/>
                </a:solidFill>
                <a:latin typeface="Calibri"/>
                <a:ea typeface="Calibri"/>
                <a:cs typeface="Calibri"/>
              </a:defRPr>
            </a:lvl2pPr>
            <a:lvl3pPr>
              <a:defRPr sz="1800" b="1">
                <a:solidFill>
                  <a:srgbClr val="3F3F3F"/>
                </a:solidFill>
                <a:latin typeface="Calibri"/>
                <a:ea typeface="Calibri"/>
                <a:cs typeface="Calibri"/>
              </a:defRPr>
            </a:lvl3pPr>
            <a:lvl4pPr>
              <a:defRPr sz="1800" b="1">
                <a:solidFill>
                  <a:srgbClr val="3F3F3F"/>
                </a:solidFill>
                <a:latin typeface="Calibri"/>
                <a:ea typeface="Calibri"/>
                <a:cs typeface="Calibri"/>
              </a:defRPr>
            </a:lvl4pPr>
            <a:lvl5pPr>
              <a:defRPr sz="1800" b="1">
                <a:solidFill>
                  <a:srgbClr val="3F3F3F"/>
                </a:solidFill>
                <a:latin typeface="Calibri"/>
                <a:ea typeface="Calibri"/>
                <a:cs typeface="Calibri"/>
              </a:defRPr>
            </a:lvl5pPr>
            <a:lvl6pPr>
              <a:defRPr sz="1800" b="1">
                <a:solidFill>
                  <a:srgbClr val="3F3F3F"/>
                </a:solidFill>
                <a:latin typeface="Calibri"/>
                <a:ea typeface="Calibri"/>
                <a:cs typeface="Calibri"/>
              </a:defRPr>
            </a:lvl6pPr>
            <a:lvl7pPr>
              <a:defRPr sz="1800" b="1">
                <a:solidFill>
                  <a:srgbClr val="3F3F3F"/>
                </a:solidFill>
                <a:latin typeface="Calibri"/>
                <a:ea typeface="Calibri"/>
                <a:cs typeface="Calibri"/>
              </a:defRPr>
            </a:lvl7pPr>
            <a:lvl8pPr>
              <a:defRPr sz="1800" b="1">
                <a:solidFill>
                  <a:srgbClr val="3F3F3F"/>
                </a:solidFill>
                <a:latin typeface="Calibri"/>
                <a:ea typeface="Calibri"/>
                <a:cs typeface="Calibri"/>
              </a:defRPr>
            </a:lvl8pPr>
            <a:lvl9pPr>
              <a:defRPr sz="1800" b="1">
                <a:solidFill>
                  <a:srgbClr val="3F3F3F"/>
                </a:solidFill>
                <a:latin typeface="Calibri"/>
                <a:ea typeface="Calibri"/>
                <a:cs typeface="Calibri"/>
              </a:defRPr>
            </a:lvl9pPr>
          </a:lstStyle>
          <a:p>
            <a:pPr>
              <a:defRPr sz="1800" b="1">
                <a:solidFill>
                  <a:srgbClr val="3F3F3F"/>
                </a:solidFill>
                <a:latin typeface="Calibri"/>
                <a:ea typeface="Calibri"/>
                <a:cs typeface="Calibri"/>
              </a:defRPr>
            </a:pPr>
            <a:r>
              <a:rPr sz="1800" b="1">
                <a:solidFill>
                  <a:srgbClr val="3F3F3F"/>
                </a:solidFill>
                <a:latin typeface="Calibri"/>
                <a:ea typeface="Calibri"/>
                <a:cs typeface="Calibri"/>
              </a:rPr>
              <a:t>RAM [KiB] = (Static + Stack) / 1024</a:t>
            </a:r>
          </a:p>
        </p:txBody>
      </p:sp>
      <p:sp>
        <p:nvSpPr>
          <p:cNvPr id="200" name="static-equation">
            <a:extLst>
              <a:ext uri="{FF2B5EF4-FFF2-40B4-BE49-F238E27FC236}">
                <a16:creationId xmlns:a16="http://schemas.microsoft.com/office/drawing/2014/main" id="{66689F70-0174-4F6C-968A-0A8CFA828E60}"/>
              </a:ext>
            </a:extLst>
          </p:cNvPr>
          <p:cNvSpPr>
            <a:spLocks noGrp="1"/>
          </p:cNvSpPr>
          <p:nvPr/>
        </p:nvSpPr>
        <p:spPr>
          <a:xfrm>
            <a:off x="5391150" y="2400300"/>
            <a:ext cx="4667250" cy="304800"/>
          </a:xfrm>
          <a:prstGeom prst="rect">
            <a:avLst/>
          </a:prstGeom>
          <a:noFill/>
          <a:ln w="0">
            <a:noFill/>
          </a:ln>
        </p:spPr>
        <p:txBody>
          <a:bodyPr wrap="none" lIns="0" tIns="0" rIns="0" bIns="0">
            <a:noAutofit/>
          </a:bodyPr>
          <a:lstStyle>
            <a:defPPr>
              <a:defRPr sz="1800" b="1">
                <a:solidFill>
                  <a:srgbClr val="3F3F3F"/>
                </a:solidFill>
                <a:latin typeface="Calibri"/>
                <a:ea typeface="Calibri"/>
                <a:cs typeface="Calibri"/>
              </a:defRPr>
            </a:defPPr>
            <a:lvl1pPr>
              <a:defRPr sz="1800" b="1">
                <a:solidFill>
                  <a:srgbClr val="3F3F3F"/>
                </a:solidFill>
                <a:latin typeface="Calibri"/>
                <a:ea typeface="Calibri"/>
                <a:cs typeface="Calibri"/>
              </a:defRPr>
            </a:lvl1pPr>
            <a:lvl2pPr>
              <a:defRPr sz="1800" b="1">
                <a:solidFill>
                  <a:srgbClr val="3F3F3F"/>
                </a:solidFill>
                <a:latin typeface="Calibri"/>
                <a:ea typeface="Calibri"/>
                <a:cs typeface="Calibri"/>
              </a:defRPr>
            </a:lvl2pPr>
            <a:lvl3pPr>
              <a:defRPr sz="1800" b="1">
                <a:solidFill>
                  <a:srgbClr val="3F3F3F"/>
                </a:solidFill>
                <a:latin typeface="Calibri"/>
                <a:ea typeface="Calibri"/>
                <a:cs typeface="Calibri"/>
              </a:defRPr>
            </a:lvl3pPr>
            <a:lvl4pPr>
              <a:defRPr sz="1800" b="1">
                <a:solidFill>
                  <a:srgbClr val="3F3F3F"/>
                </a:solidFill>
                <a:latin typeface="Calibri"/>
                <a:ea typeface="Calibri"/>
                <a:cs typeface="Calibri"/>
              </a:defRPr>
            </a:lvl4pPr>
            <a:lvl5pPr>
              <a:defRPr sz="1800" b="1">
                <a:solidFill>
                  <a:srgbClr val="3F3F3F"/>
                </a:solidFill>
                <a:latin typeface="Calibri"/>
                <a:ea typeface="Calibri"/>
                <a:cs typeface="Calibri"/>
              </a:defRPr>
            </a:lvl5pPr>
            <a:lvl6pPr>
              <a:defRPr sz="1800" b="1">
                <a:solidFill>
                  <a:srgbClr val="3F3F3F"/>
                </a:solidFill>
                <a:latin typeface="Calibri"/>
                <a:ea typeface="Calibri"/>
                <a:cs typeface="Calibri"/>
              </a:defRPr>
            </a:lvl6pPr>
            <a:lvl7pPr>
              <a:defRPr sz="1800" b="1">
                <a:solidFill>
                  <a:srgbClr val="3F3F3F"/>
                </a:solidFill>
                <a:latin typeface="Calibri"/>
                <a:ea typeface="Calibri"/>
                <a:cs typeface="Calibri"/>
              </a:defRPr>
            </a:lvl7pPr>
            <a:lvl8pPr>
              <a:defRPr sz="1800" b="1">
                <a:solidFill>
                  <a:srgbClr val="3F3F3F"/>
                </a:solidFill>
                <a:latin typeface="Calibri"/>
                <a:ea typeface="Calibri"/>
                <a:cs typeface="Calibri"/>
              </a:defRPr>
            </a:lvl8pPr>
            <a:lvl9pPr>
              <a:defRPr sz="1800" b="1">
                <a:solidFill>
                  <a:srgbClr val="3F3F3F"/>
                </a:solidFill>
                <a:latin typeface="Calibri"/>
                <a:ea typeface="Calibri"/>
                <a:cs typeface="Calibri"/>
              </a:defRPr>
            </a:lvl9pPr>
          </a:lstStyle>
          <a:p>
            <a:pPr>
              <a:defRPr sz="1800" b="1">
                <a:solidFill>
                  <a:srgbClr val="3F3F3F"/>
                </a:solidFill>
                <a:latin typeface="Calibri"/>
                <a:ea typeface="Calibri"/>
                <a:cs typeface="Calibri"/>
              </a:defRPr>
            </a:pPr>
            <a:r>
              <a:rPr sz="1800" b="1">
                <a:solidFill>
                  <a:srgbClr val="3F3F3F"/>
                </a:solidFill>
                <a:latin typeface="Calibri"/>
                <a:ea typeface="Calibri"/>
                <a:cs typeface="Calibri"/>
              </a:rPr>
              <a:t>Static = size(.data) + size(.bss)</a:t>
            </a:r>
          </a:p>
        </p:txBody>
      </p:sp>
      <p:sp>
        <p:nvSpPr>
          <p:cNvPr id="210" name="static-defs">
            <a:extLst>
              <a:ext uri="{FF2B5EF4-FFF2-40B4-BE49-F238E27FC236}">
                <a16:creationId xmlns:a16="http://schemas.microsoft.com/office/drawing/2014/main" id="{E1EC5F87-CEF8-426D-97AD-9A33B2597302}"/>
              </a:ext>
            </a:extLst>
          </p:cNvPr>
          <p:cNvSpPr>
            <a:spLocks noGrp="1"/>
          </p:cNvSpPr>
          <p:nvPr/>
        </p:nvSpPr>
        <p:spPr>
          <a:xfrm>
            <a:off x="5391150" y="2771775"/>
            <a:ext cx="4714875" cy="571500"/>
          </a:xfrm>
          <a:prstGeom prst="rect">
            <a:avLst/>
          </a:prstGeom>
          <a:noFill/>
          <a:ln w="0">
            <a:noFill/>
          </a:ln>
        </p:spPr>
        <p:txBody>
          <a:bodyPr wrap="none" lIns="0" tIns="0" rIns="0" bIns="0">
            <a:noAutofit/>
          </a:bodyPr>
          <a:lstStyle>
            <a:defPPr>
              <a:defRPr sz="1650" b="0">
                <a:solidFill>
                  <a:srgbClr val="3F3F3F"/>
                </a:solidFill>
                <a:latin typeface="Calibri"/>
                <a:ea typeface="Calibri"/>
                <a:cs typeface="Calibri"/>
              </a:defRPr>
            </a:defPPr>
            <a:lvl1pPr>
              <a:defRPr sz="1650" b="0">
                <a:solidFill>
                  <a:srgbClr val="3F3F3F"/>
                </a:solidFill>
                <a:latin typeface="Calibri"/>
                <a:ea typeface="Calibri"/>
                <a:cs typeface="Calibri"/>
              </a:defRPr>
            </a:lvl1pPr>
            <a:lvl2pPr>
              <a:defRPr sz="1650" b="0">
                <a:solidFill>
                  <a:srgbClr val="3F3F3F"/>
                </a:solidFill>
                <a:latin typeface="Calibri"/>
                <a:ea typeface="Calibri"/>
                <a:cs typeface="Calibri"/>
              </a:defRPr>
            </a:lvl2pPr>
            <a:lvl3pPr>
              <a:defRPr sz="1650" b="0">
                <a:solidFill>
                  <a:srgbClr val="3F3F3F"/>
                </a:solidFill>
                <a:latin typeface="Calibri"/>
                <a:ea typeface="Calibri"/>
                <a:cs typeface="Calibri"/>
              </a:defRPr>
            </a:lvl3pPr>
            <a:lvl4pPr>
              <a:defRPr sz="1650" b="0">
                <a:solidFill>
                  <a:srgbClr val="3F3F3F"/>
                </a:solidFill>
                <a:latin typeface="Calibri"/>
                <a:ea typeface="Calibri"/>
                <a:cs typeface="Calibri"/>
              </a:defRPr>
            </a:lvl4pPr>
            <a:lvl5pPr>
              <a:defRPr sz="1650" b="0">
                <a:solidFill>
                  <a:srgbClr val="3F3F3F"/>
                </a:solidFill>
                <a:latin typeface="Calibri"/>
                <a:ea typeface="Calibri"/>
                <a:cs typeface="Calibri"/>
              </a:defRPr>
            </a:lvl5pPr>
            <a:lvl6pPr>
              <a:defRPr sz="1650" b="0">
                <a:solidFill>
                  <a:srgbClr val="3F3F3F"/>
                </a:solidFill>
                <a:latin typeface="Calibri"/>
                <a:ea typeface="Calibri"/>
                <a:cs typeface="Calibri"/>
              </a:defRPr>
            </a:lvl6pPr>
            <a:lvl7pPr>
              <a:defRPr sz="1650" b="0">
                <a:solidFill>
                  <a:srgbClr val="3F3F3F"/>
                </a:solidFill>
                <a:latin typeface="Calibri"/>
                <a:ea typeface="Calibri"/>
                <a:cs typeface="Calibri"/>
              </a:defRPr>
            </a:lvl7pPr>
            <a:lvl8pPr>
              <a:defRPr sz="1650" b="0">
                <a:solidFill>
                  <a:srgbClr val="3F3F3F"/>
                </a:solidFill>
                <a:latin typeface="Calibri"/>
                <a:ea typeface="Calibri"/>
                <a:cs typeface="Calibri"/>
              </a:defRPr>
            </a:lvl8pPr>
            <a:lvl9pPr>
              <a:defRPr sz="1650" b="0">
                <a:solidFill>
                  <a:srgbClr val="3F3F3F"/>
                </a:solidFill>
                <a:latin typeface="Calibri"/>
                <a:ea typeface="Calibri"/>
                <a:cs typeface="Calibri"/>
              </a:defRPr>
            </a:lvl9pPr>
          </a:lstStyle>
          <a:p>
            <a:pPr>
              <a:defRPr sz="1650" b="0">
                <a:solidFill>
                  <a:srgbClr val="3F3F3F"/>
                </a:solidFill>
                <a:latin typeface="Calibri"/>
                <a:ea typeface="Calibri"/>
                <a:cs typeface="Calibri"/>
              </a:defRPr>
            </a:pPr>
            <a:r>
              <a:rPr sz="1650" b="0">
                <a:solidFill>
                  <a:srgbClr val="3F3F3F"/>
                </a:solidFill>
                <a:latin typeface="Calibri"/>
                <a:ea typeface="Calibri"/>
                <a:cs typeface="Calibri"/>
              </a:rPr>
              <a:t>.data: initialisierte globale/statische Variablen</a:t>
            </a:r>
          </a:p>
          <a:p>
            <a:pPr>
              <a:defRPr sz="1650" b="0">
                <a:solidFill>
                  <a:srgbClr val="3F3F3F"/>
                </a:solidFill>
                <a:latin typeface="Calibri"/>
                <a:ea typeface="Calibri"/>
                <a:cs typeface="Calibri"/>
              </a:defRPr>
            </a:pPr>
            <a:r>
              <a:rPr sz="1650" b="0">
                <a:solidFill>
                  <a:srgbClr val="3F3F3F"/>
                </a:solidFill>
                <a:latin typeface="Calibri"/>
                <a:ea typeface="Calibri"/>
                <a:cs typeface="Calibri"/>
              </a:rPr>
              <a:t>.bss: mit null initialisierte Variablen</a:t>
            </a:r>
          </a:p>
        </p:txBody>
      </p:sp>
      <p:sp>
        <p:nvSpPr>
          <p:cNvPr id="220" name="stack-equation">
            <a:extLst>
              <a:ext uri="{FF2B5EF4-FFF2-40B4-BE49-F238E27FC236}">
                <a16:creationId xmlns:a16="http://schemas.microsoft.com/office/drawing/2014/main" id="{457BAE21-207A-4947-927D-9051F1FF61AC}"/>
              </a:ext>
            </a:extLst>
          </p:cNvPr>
          <p:cNvSpPr>
            <a:spLocks noGrp="1"/>
          </p:cNvSpPr>
          <p:nvPr/>
        </p:nvSpPr>
        <p:spPr>
          <a:xfrm>
            <a:off x="5391150" y="3476625"/>
            <a:ext cx="4762500" cy="304800"/>
          </a:xfrm>
          <a:prstGeom prst="rect">
            <a:avLst/>
          </a:prstGeom>
          <a:noFill/>
          <a:ln w="0">
            <a:noFill/>
          </a:ln>
        </p:spPr>
        <p:txBody>
          <a:bodyPr wrap="none" lIns="0" tIns="0" rIns="0" bIns="0">
            <a:noAutofit/>
          </a:bodyPr>
          <a:lstStyle>
            <a:defPPr>
              <a:defRPr sz="1800" b="1">
                <a:solidFill>
                  <a:srgbClr val="3F3F3F"/>
                </a:solidFill>
                <a:latin typeface="Calibri"/>
                <a:ea typeface="Calibri"/>
                <a:cs typeface="Calibri"/>
              </a:defRPr>
            </a:defPPr>
            <a:lvl1pPr>
              <a:defRPr sz="1800" b="1">
                <a:solidFill>
                  <a:srgbClr val="3F3F3F"/>
                </a:solidFill>
                <a:latin typeface="Calibri"/>
                <a:ea typeface="Calibri"/>
                <a:cs typeface="Calibri"/>
              </a:defRPr>
            </a:lvl1pPr>
            <a:lvl2pPr>
              <a:defRPr sz="1800" b="1">
                <a:solidFill>
                  <a:srgbClr val="3F3F3F"/>
                </a:solidFill>
                <a:latin typeface="Calibri"/>
                <a:ea typeface="Calibri"/>
                <a:cs typeface="Calibri"/>
              </a:defRPr>
            </a:lvl2pPr>
            <a:lvl3pPr>
              <a:defRPr sz="1800" b="1">
                <a:solidFill>
                  <a:srgbClr val="3F3F3F"/>
                </a:solidFill>
                <a:latin typeface="Calibri"/>
                <a:ea typeface="Calibri"/>
                <a:cs typeface="Calibri"/>
              </a:defRPr>
            </a:lvl3pPr>
            <a:lvl4pPr>
              <a:defRPr sz="1800" b="1">
                <a:solidFill>
                  <a:srgbClr val="3F3F3F"/>
                </a:solidFill>
                <a:latin typeface="Calibri"/>
                <a:ea typeface="Calibri"/>
                <a:cs typeface="Calibri"/>
              </a:defRPr>
            </a:lvl4pPr>
            <a:lvl5pPr>
              <a:defRPr sz="1800" b="1">
                <a:solidFill>
                  <a:srgbClr val="3F3F3F"/>
                </a:solidFill>
                <a:latin typeface="Calibri"/>
                <a:ea typeface="Calibri"/>
                <a:cs typeface="Calibri"/>
              </a:defRPr>
            </a:lvl5pPr>
            <a:lvl6pPr>
              <a:defRPr sz="1800" b="1">
                <a:solidFill>
                  <a:srgbClr val="3F3F3F"/>
                </a:solidFill>
                <a:latin typeface="Calibri"/>
                <a:ea typeface="Calibri"/>
                <a:cs typeface="Calibri"/>
              </a:defRPr>
            </a:lvl6pPr>
            <a:lvl7pPr>
              <a:defRPr sz="1800" b="1">
                <a:solidFill>
                  <a:srgbClr val="3F3F3F"/>
                </a:solidFill>
                <a:latin typeface="Calibri"/>
                <a:ea typeface="Calibri"/>
                <a:cs typeface="Calibri"/>
              </a:defRPr>
            </a:lvl7pPr>
            <a:lvl8pPr>
              <a:defRPr sz="1800" b="1">
                <a:solidFill>
                  <a:srgbClr val="3F3F3F"/>
                </a:solidFill>
                <a:latin typeface="Calibri"/>
                <a:ea typeface="Calibri"/>
                <a:cs typeface="Calibri"/>
              </a:defRPr>
            </a:lvl8pPr>
            <a:lvl9pPr>
              <a:defRPr sz="1800" b="1">
                <a:solidFill>
                  <a:srgbClr val="3F3F3F"/>
                </a:solidFill>
                <a:latin typeface="Calibri"/>
                <a:ea typeface="Calibri"/>
                <a:cs typeface="Calibri"/>
              </a:defRPr>
            </a:lvl9pPr>
          </a:lstStyle>
          <a:p>
            <a:pPr>
              <a:defRPr sz="1800" b="1">
                <a:solidFill>
                  <a:srgbClr val="3F3F3F"/>
                </a:solidFill>
                <a:latin typeface="Calibri"/>
                <a:ea typeface="Calibri"/>
                <a:cs typeface="Calibri"/>
              </a:defRPr>
            </a:pPr>
            <a:r>
              <a:rPr sz="1800" b="1">
                <a:solidFill>
                  <a:srgbClr val="3F3F3F"/>
                </a:solidFill>
                <a:latin typeface="Calibri"/>
                <a:ea typeface="Calibri"/>
                <a:cs typeface="Calibri"/>
              </a:rPr>
              <a:t>Stack = StackTop − min(SP)</a:t>
            </a:r>
          </a:p>
        </p:txBody>
      </p:sp>
      <p:sp>
        <p:nvSpPr>
          <p:cNvPr id="230" name="stack-defs">
            <a:extLst>
              <a:ext uri="{FF2B5EF4-FFF2-40B4-BE49-F238E27FC236}">
                <a16:creationId xmlns:a16="http://schemas.microsoft.com/office/drawing/2014/main" id="{6BCB9281-01D3-4594-AE2F-DB37E5E874C1}"/>
              </a:ext>
            </a:extLst>
          </p:cNvPr>
          <p:cNvSpPr>
            <a:spLocks noGrp="1"/>
          </p:cNvSpPr>
          <p:nvPr/>
        </p:nvSpPr>
        <p:spPr>
          <a:xfrm>
            <a:off x="5391150" y="3857625"/>
            <a:ext cx="4667250" cy="542925"/>
          </a:xfrm>
          <a:prstGeom prst="rect">
            <a:avLst/>
          </a:prstGeom>
          <a:noFill/>
          <a:ln w="0">
            <a:noFill/>
          </a:ln>
        </p:spPr>
        <p:txBody>
          <a:bodyPr wrap="none" lIns="0" tIns="0" rIns="0" bIns="0">
            <a:noAutofit/>
          </a:bodyPr>
          <a:lstStyle>
            <a:defPPr>
              <a:defRPr sz="1650" b="0">
                <a:solidFill>
                  <a:srgbClr val="3F3F3F"/>
                </a:solidFill>
                <a:latin typeface="Calibri"/>
                <a:ea typeface="Calibri"/>
                <a:cs typeface="Calibri"/>
              </a:defRPr>
            </a:defPPr>
            <a:lvl1pPr>
              <a:defRPr sz="1650" b="0">
                <a:solidFill>
                  <a:srgbClr val="3F3F3F"/>
                </a:solidFill>
                <a:latin typeface="Calibri"/>
                <a:ea typeface="Calibri"/>
                <a:cs typeface="Calibri"/>
              </a:defRPr>
            </a:lvl1pPr>
            <a:lvl2pPr>
              <a:defRPr sz="1650" b="0">
                <a:solidFill>
                  <a:srgbClr val="3F3F3F"/>
                </a:solidFill>
                <a:latin typeface="Calibri"/>
                <a:ea typeface="Calibri"/>
                <a:cs typeface="Calibri"/>
              </a:defRPr>
            </a:lvl2pPr>
            <a:lvl3pPr>
              <a:defRPr sz="1650" b="0">
                <a:solidFill>
                  <a:srgbClr val="3F3F3F"/>
                </a:solidFill>
                <a:latin typeface="Calibri"/>
                <a:ea typeface="Calibri"/>
                <a:cs typeface="Calibri"/>
              </a:defRPr>
            </a:lvl3pPr>
            <a:lvl4pPr>
              <a:defRPr sz="1650" b="0">
                <a:solidFill>
                  <a:srgbClr val="3F3F3F"/>
                </a:solidFill>
                <a:latin typeface="Calibri"/>
                <a:ea typeface="Calibri"/>
                <a:cs typeface="Calibri"/>
              </a:defRPr>
            </a:lvl4pPr>
            <a:lvl5pPr>
              <a:defRPr sz="1650" b="0">
                <a:solidFill>
                  <a:srgbClr val="3F3F3F"/>
                </a:solidFill>
                <a:latin typeface="Calibri"/>
                <a:ea typeface="Calibri"/>
                <a:cs typeface="Calibri"/>
              </a:defRPr>
            </a:lvl5pPr>
            <a:lvl6pPr>
              <a:defRPr sz="1650" b="0">
                <a:solidFill>
                  <a:srgbClr val="3F3F3F"/>
                </a:solidFill>
                <a:latin typeface="Calibri"/>
                <a:ea typeface="Calibri"/>
                <a:cs typeface="Calibri"/>
              </a:defRPr>
            </a:lvl6pPr>
            <a:lvl7pPr>
              <a:defRPr sz="1650" b="0">
                <a:solidFill>
                  <a:srgbClr val="3F3F3F"/>
                </a:solidFill>
                <a:latin typeface="Calibri"/>
                <a:ea typeface="Calibri"/>
                <a:cs typeface="Calibri"/>
              </a:defRPr>
            </a:lvl7pPr>
            <a:lvl8pPr>
              <a:defRPr sz="1650" b="0">
                <a:solidFill>
                  <a:srgbClr val="3F3F3F"/>
                </a:solidFill>
                <a:latin typeface="Calibri"/>
                <a:ea typeface="Calibri"/>
                <a:cs typeface="Calibri"/>
              </a:defRPr>
            </a:lvl8pPr>
            <a:lvl9pPr>
              <a:defRPr sz="1650" b="0">
                <a:solidFill>
                  <a:srgbClr val="3F3F3F"/>
                </a:solidFill>
                <a:latin typeface="Calibri"/>
                <a:ea typeface="Calibri"/>
                <a:cs typeface="Calibri"/>
              </a:defRPr>
            </a:lvl9pPr>
          </a:lstStyle>
          <a:p>
            <a:pPr>
              <a:defRPr sz="1650" b="0">
                <a:solidFill>
                  <a:srgbClr val="3F3F3F"/>
                </a:solidFill>
                <a:latin typeface="Calibri"/>
                <a:ea typeface="Calibri"/>
                <a:cs typeface="Calibri"/>
              </a:defRPr>
            </a:pPr>
            <a:r>
              <a:rPr sz="1650" b="0">
                <a:solidFill>
                  <a:srgbClr val="3F3F3F"/>
                </a:solidFill>
                <a:latin typeface="Calibri"/>
                <a:ea typeface="Calibri"/>
                <a:cs typeface="Calibri"/>
              </a:rPr>
              <a:t>SP: Stack Pointer an instrumentierten Stellen</a:t>
            </a:r>
          </a:p>
          <a:p>
            <a:pPr>
              <a:defRPr sz="1650" b="0">
                <a:solidFill>
                  <a:srgbClr val="3F3F3F"/>
                </a:solidFill>
                <a:latin typeface="Calibri"/>
                <a:ea typeface="Calibri"/>
                <a:cs typeface="Calibri"/>
              </a:defRPr>
            </a:pPr>
            <a:r>
              <a:rPr sz="1650" b="0">
                <a:solidFill>
                  <a:srgbClr val="3F3F3F"/>
                </a:solidFill>
                <a:latin typeface="Calibri"/>
                <a:ea typeface="Calibri"/>
                <a:cs typeface="Calibri"/>
              </a:rPr>
              <a:t>Maximum über 10 000 Streaming-Updates</a:t>
            </a:r>
          </a:p>
        </p:txBody>
      </p:sp>
      <p:sp>
        <p:nvSpPr>
          <p:cNvPr id="240" name="example-heading">
            <a:extLst>
              <a:ext uri="{FF2B5EF4-FFF2-40B4-BE49-F238E27FC236}">
                <a16:creationId xmlns:a16="http://schemas.microsoft.com/office/drawing/2014/main" id="{368F2B8C-2566-4C4E-85A8-990A9D7DDEB8}"/>
              </a:ext>
            </a:extLst>
          </p:cNvPr>
          <p:cNvSpPr>
            <a:spLocks noGrp="1"/>
          </p:cNvSpPr>
          <p:nvPr/>
        </p:nvSpPr>
        <p:spPr>
          <a:xfrm>
            <a:off x="552450" y="4629150"/>
            <a:ext cx="9334500" cy="285750"/>
          </a:xfrm>
          <a:prstGeom prst="rect">
            <a:avLst/>
          </a:prstGeom>
          <a:noFill/>
          <a:ln w="0">
            <a:noFill/>
          </a:ln>
        </p:spPr>
        <p:txBody>
          <a:bodyPr wrap="none" lIns="0" tIns="0" rIns="0" bIns="0">
            <a:noAutofit/>
          </a:bodyPr>
          <a:lstStyle>
            <a:defPPr>
              <a:defRPr sz="1800" b="1">
                <a:solidFill>
                  <a:srgbClr val="CC001C"/>
                </a:solidFill>
                <a:latin typeface="Calibri"/>
                <a:ea typeface="Calibri"/>
                <a:cs typeface="Calibri"/>
              </a:defRPr>
            </a:defPPr>
            <a:lvl1pPr>
              <a:defRPr sz="1800" b="1">
                <a:solidFill>
                  <a:srgbClr val="CC001C"/>
                </a:solidFill>
                <a:latin typeface="Calibri"/>
                <a:ea typeface="Calibri"/>
                <a:cs typeface="Calibri"/>
              </a:defRPr>
            </a:lvl1pPr>
            <a:lvl2pPr>
              <a:defRPr sz="1800" b="1">
                <a:solidFill>
                  <a:srgbClr val="CC001C"/>
                </a:solidFill>
                <a:latin typeface="Calibri"/>
                <a:ea typeface="Calibri"/>
                <a:cs typeface="Calibri"/>
              </a:defRPr>
            </a:lvl2pPr>
            <a:lvl3pPr>
              <a:defRPr sz="1800" b="1">
                <a:solidFill>
                  <a:srgbClr val="CC001C"/>
                </a:solidFill>
                <a:latin typeface="Calibri"/>
                <a:ea typeface="Calibri"/>
                <a:cs typeface="Calibri"/>
              </a:defRPr>
            </a:lvl3pPr>
            <a:lvl4pPr>
              <a:defRPr sz="1800" b="1">
                <a:solidFill>
                  <a:srgbClr val="CC001C"/>
                </a:solidFill>
                <a:latin typeface="Calibri"/>
                <a:ea typeface="Calibri"/>
                <a:cs typeface="Calibri"/>
              </a:defRPr>
            </a:lvl4pPr>
            <a:lvl5pPr>
              <a:defRPr sz="1800" b="1">
                <a:solidFill>
                  <a:srgbClr val="CC001C"/>
                </a:solidFill>
                <a:latin typeface="Calibri"/>
                <a:ea typeface="Calibri"/>
                <a:cs typeface="Calibri"/>
              </a:defRPr>
            </a:lvl5pPr>
            <a:lvl6pPr>
              <a:defRPr sz="1800" b="1">
                <a:solidFill>
                  <a:srgbClr val="CC001C"/>
                </a:solidFill>
                <a:latin typeface="Calibri"/>
                <a:ea typeface="Calibri"/>
                <a:cs typeface="Calibri"/>
              </a:defRPr>
            </a:lvl6pPr>
            <a:lvl7pPr>
              <a:defRPr sz="1800" b="1">
                <a:solidFill>
                  <a:srgbClr val="CC001C"/>
                </a:solidFill>
                <a:latin typeface="Calibri"/>
                <a:ea typeface="Calibri"/>
                <a:cs typeface="Calibri"/>
              </a:defRPr>
            </a:lvl7pPr>
            <a:lvl8pPr>
              <a:defRPr sz="1800" b="1">
                <a:solidFill>
                  <a:srgbClr val="CC001C"/>
                </a:solidFill>
                <a:latin typeface="Calibri"/>
                <a:ea typeface="Calibri"/>
                <a:cs typeface="Calibri"/>
              </a:defRPr>
            </a:lvl8pPr>
            <a:lvl9pPr>
              <a:defRPr sz="1800" b="1">
                <a:solidFill>
                  <a:srgbClr val="CC001C"/>
                </a:solidFill>
                <a:latin typeface="Calibri"/>
                <a:ea typeface="Calibri"/>
                <a:cs typeface="Calibri"/>
              </a:defRPr>
            </a:lvl9p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Beispiel SOC Base</a:t>
            </a:r>
          </a:p>
        </p:txBody>
      </p:sp>
      <p:sp>
        <p:nvSpPr>
          <p:cNvPr id="250" name="example-flash">
            <a:extLst>
              <a:ext uri="{FF2B5EF4-FFF2-40B4-BE49-F238E27FC236}">
                <a16:creationId xmlns:a16="http://schemas.microsoft.com/office/drawing/2014/main" id="{BADC424E-13C7-456C-AA89-523B8B99BD30}"/>
              </a:ext>
            </a:extLst>
          </p:cNvPr>
          <p:cNvSpPr>
            <a:spLocks noGrp="1"/>
          </p:cNvSpPr>
          <p:nvPr/>
        </p:nvSpPr>
        <p:spPr>
          <a:xfrm>
            <a:off x="552450" y="4991100"/>
            <a:ext cx="4714875" cy="304800"/>
          </a:xfrm>
          <a:prstGeom prst="rect">
            <a:avLst/>
          </a:prstGeom>
          <a:noFill/>
          <a:ln w="0">
            <a:noFill/>
          </a:ln>
        </p:spPr>
        <p:txBody>
          <a:bodyPr wrap="none" lIns="0" tIns="0" rIns="0" bIns="0">
            <a:noAutofit/>
          </a:bodyPr>
          <a:lstStyle>
            <a:defPPr>
              <a:defRPr sz="1800" b="1">
                <a:solidFill>
                  <a:srgbClr val="3F3F3F"/>
                </a:solidFill>
                <a:latin typeface="Calibri"/>
                <a:ea typeface="Calibri"/>
                <a:cs typeface="Calibri"/>
              </a:defRPr>
            </a:defPPr>
            <a:lvl1pPr>
              <a:defRPr sz="1800" b="1">
                <a:solidFill>
                  <a:srgbClr val="3F3F3F"/>
                </a:solidFill>
                <a:latin typeface="Calibri"/>
                <a:ea typeface="Calibri"/>
                <a:cs typeface="Calibri"/>
              </a:defRPr>
            </a:lvl1pPr>
            <a:lvl2pPr>
              <a:defRPr sz="1800" b="1">
                <a:solidFill>
                  <a:srgbClr val="3F3F3F"/>
                </a:solidFill>
                <a:latin typeface="Calibri"/>
                <a:ea typeface="Calibri"/>
                <a:cs typeface="Calibri"/>
              </a:defRPr>
            </a:lvl2pPr>
            <a:lvl3pPr>
              <a:defRPr sz="1800" b="1">
                <a:solidFill>
                  <a:srgbClr val="3F3F3F"/>
                </a:solidFill>
                <a:latin typeface="Calibri"/>
                <a:ea typeface="Calibri"/>
                <a:cs typeface="Calibri"/>
              </a:defRPr>
            </a:lvl3pPr>
            <a:lvl4pPr>
              <a:defRPr sz="1800" b="1">
                <a:solidFill>
                  <a:srgbClr val="3F3F3F"/>
                </a:solidFill>
                <a:latin typeface="Calibri"/>
                <a:ea typeface="Calibri"/>
                <a:cs typeface="Calibri"/>
              </a:defRPr>
            </a:lvl4pPr>
            <a:lvl5pPr>
              <a:defRPr sz="1800" b="1">
                <a:solidFill>
                  <a:srgbClr val="3F3F3F"/>
                </a:solidFill>
                <a:latin typeface="Calibri"/>
                <a:ea typeface="Calibri"/>
                <a:cs typeface="Calibri"/>
              </a:defRPr>
            </a:lvl5pPr>
            <a:lvl6pPr>
              <a:defRPr sz="1800" b="1">
                <a:solidFill>
                  <a:srgbClr val="3F3F3F"/>
                </a:solidFill>
                <a:latin typeface="Calibri"/>
                <a:ea typeface="Calibri"/>
                <a:cs typeface="Calibri"/>
              </a:defRPr>
            </a:lvl6pPr>
            <a:lvl7pPr>
              <a:defRPr sz="1800" b="1">
                <a:solidFill>
                  <a:srgbClr val="3F3F3F"/>
                </a:solidFill>
                <a:latin typeface="Calibri"/>
                <a:ea typeface="Calibri"/>
                <a:cs typeface="Calibri"/>
              </a:defRPr>
            </a:lvl7pPr>
            <a:lvl8pPr>
              <a:defRPr sz="1800" b="1">
                <a:solidFill>
                  <a:srgbClr val="3F3F3F"/>
                </a:solidFill>
                <a:latin typeface="Calibri"/>
                <a:ea typeface="Calibri"/>
                <a:cs typeface="Calibri"/>
              </a:defRPr>
            </a:lvl8pPr>
            <a:lvl9pPr>
              <a:defRPr sz="1800" b="1">
                <a:solidFill>
                  <a:srgbClr val="3F3F3F"/>
                </a:solidFill>
                <a:latin typeface="Calibri"/>
                <a:ea typeface="Calibri"/>
                <a:cs typeface="Calibri"/>
              </a:defRPr>
            </a:lvl9pPr>
          </a:lstStyle>
          <a:p>
            <a:pPr>
              <a:defRPr sz="1800" b="1">
                <a:solidFill>
                  <a:srgbClr val="3F3F3F"/>
                </a:solidFill>
                <a:latin typeface="Calibri"/>
                <a:ea typeface="Calibri"/>
                <a:cs typeface="Calibri"/>
              </a:defRPr>
            </a:pPr>
            <a:r>
              <a:rPr sz="1800" b="1">
                <a:solidFill>
                  <a:srgbClr val="3F3F3F"/>
                </a:solidFill>
                <a:latin typeface="Calibri"/>
                <a:ea typeface="Calibri"/>
                <a:cs typeface="Calibri"/>
              </a:rPr>
              <a:t>108 924 B / 1024 = 106,37 KiB Flash</a:t>
            </a:r>
          </a:p>
        </p:txBody>
      </p:sp>
      <p:sp>
        <p:nvSpPr>
          <p:cNvPr id="260" name="example-ram">
            <a:extLst>
              <a:ext uri="{FF2B5EF4-FFF2-40B4-BE49-F238E27FC236}">
                <a16:creationId xmlns:a16="http://schemas.microsoft.com/office/drawing/2014/main" id="{BD115B72-F3B8-41E6-8690-88ECBDA980E6}"/>
              </a:ext>
            </a:extLst>
          </p:cNvPr>
          <p:cNvSpPr>
            <a:spLocks noGrp="1"/>
          </p:cNvSpPr>
          <p:nvPr/>
        </p:nvSpPr>
        <p:spPr>
          <a:xfrm>
            <a:off x="5391150" y="4991100"/>
            <a:ext cx="4762500" cy="304800"/>
          </a:xfrm>
          <a:prstGeom prst="rect">
            <a:avLst/>
          </a:prstGeom>
          <a:noFill/>
          <a:ln w="0">
            <a:noFill/>
          </a:ln>
        </p:spPr>
        <p:txBody>
          <a:bodyPr wrap="none" lIns="0" tIns="0" rIns="0" bIns="0">
            <a:noAutofit/>
          </a:bodyPr>
          <a:lstStyle>
            <a:defPPr>
              <a:defRPr sz="1800" b="1">
                <a:solidFill>
                  <a:srgbClr val="3F3F3F"/>
                </a:solidFill>
                <a:latin typeface="Calibri"/>
                <a:ea typeface="Calibri"/>
                <a:cs typeface="Calibri"/>
              </a:defRPr>
            </a:defPPr>
            <a:lvl1pPr>
              <a:defRPr sz="1800" b="1">
                <a:solidFill>
                  <a:srgbClr val="3F3F3F"/>
                </a:solidFill>
                <a:latin typeface="Calibri"/>
                <a:ea typeface="Calibri"/>
                <a:cs typeface="Calibri"/>
              </a:defRPr>
            </a:lvl1pPr>
            <a:lvl2pPr>
              <a:defRPr sz="1800" b="1">
                <a:solidFill>
                  <a:srgbClr val="3F3F3F"/>
                </a:solidFill>
                <a:latin typeface="Calibri"/>
                <a:ea typeface="Calibri"/>
                <a:cs typeface="Calibri"/>
              </a:defRPr>
            </a:lvl2pPr>
            <a:lvl3pPr>
              <a:defRPr sz="1800" b="1">
                <a:solidFill>
                  <a:srgbClr val="3F3F3F"/>
                </a:solidFill>
                <a:latin typeface="Calibri"/>
                <a:ea typeface="Calibri"/>
                <a:cs typeface="Calibri"/>
              </a:defRPr>
            </a:lvl3pPr>
            <a:lvl4pPr>
              <a:defRPr sz="1800" b="1">
                <a:solidFill>
                  <a:srgbClr val="3F3F3F"/>
                </a:solidFill>
                <a:latin typeface="Calibri"/>
                <a:ea typeface="Calibri"/>
                <a:cs typeface="Calibri"/>
              </a:defRPr>
            </a:lvl4pPr>
            <a:lvl5pPr>
              <a:defRPr sz="1800" b="1">
                <a:solidFill>
                  <a:srgbClr val="3F3F3F"/>
                </a:solidFill>
                <a:latin typeface="Calibri"/>
                <a:ea typeface="Calibri"/>
                <a:cs typeface="Calibri"/>
              </a:defRPr>
            </a:lvl5pPr>
            <a:lvl6pPr>
              <a:defRPr sz="1800" b="1">
                <a:solidFill>
                  <a:srgbClr val="3F3F3F"/>
                </a:solidFill>
                <a:latin typeface="Calibri"/>
                <a:ea typeface="Calibri"/>
                <a:cs typeface="Calibri"/>
              </a:defRPr>
            </a:lvl6pPr>
            <a:lvl7pPr>
              <a:defRPr sz="1800" b="1">
                <a:solidFill>
                  <a:srgbClr val="3F3F3F"/>
                </a:solidFill>
                <a:latin typeface="Calibri"/>
                <a:ea typeface="Calibri"/>
                <a:cs typeface="Calibri"/>
              </a:defRPr>
            </a:lvl7pPr>
            <a:lvl8pPr>
              <a:defRPr sz="1800" b="1">
                <a:solidFill>
                  <a:srgbClr val="3F3F3F"/>
                </a:solidFill>
                <a:latin typeface="Calibri"/>
                <a:ea typeface="Calibri"/>
                <a:cs typeface="Calibri"/>
              </a:defRPr>
            </a:lvl8pPr>
            <a:lvl9pPr>
              <a:defRPr sz="1800" b="1">
                <a:solidFill>
                  <a:srgbClr val="3F3F3F"/>
                </a:solidFill>
                <a:latin typeface="Calibri"/>
                <a:ea typeface="Calibri"/>
                <a:cs typeface="Calibri"/>
              </a:defRPr>
            </a:lvl9pPr>
          </a:lstStyle>
          <a:p>
            <a:pPr>
              <a:defRPr sz="1800" b="1">
                <a:solidFill>
                  <a:srgbClr val="3F3F3F"/>
                </a:solidFill>
                <a:latin typeface="Calibri"/>
                <a:ea typeface="Calibri"/>
                <a:cs typeface="Calibri"/>
              </a:defRPr>
            </a:pPr>
            <a:r>
              <a:rPr sz="1800" b="1">
                <a:solidFill>
                  <a:srgbClr val="3F3F3F"/>
                </a:solidFill>
                <a:latin typeface="Calibri"/>
                <a:ea typeface="Calibri"/>
                <a:cs typeface="Calibri"/>
              </a:rPr>
              <a:t>(4 464 B + 584 B) / 1024 = 4,93 KiB RAM</a:t>
            </a:r>
          </a:p>
        </p:txBody>
      </p:sp>
      <p:sp>
        <p:nvSpPr>
          <p:cNvPr id="270" name="measurement-limit">
            <a:extLst>
              <a:ext uri="{FF2B5EF4-FFF2-40B4-BE49-F238E27FC236}">
                <a16:creationId xmlns:a16="http://schemas.microsoft.com/office/drawing/2014/main" id="{000A7A98-E11A-4CE0-8A71-AC71FBF8A279}"/>
              </a:ext>
            </a:extLst>
          </p:cNvPr>
          <p:cNvSpPr>
            <a:spLocks noGrp="1"/>
          </p:cNvSpPr>
          <p:nvPr/>
        </p:nvSpPr>
        <p:spPr>
          <a:xfrm>
            <a:off x="552450" y="5476875"/>
            <a:ext cx="9525000" cy="266700"/>
          </a:xfrm>
          <a:prstGeom prst="rect">
            <a:avLst/>
          </a:prstGeom>
          <a:noFill/>
          <a:ln w="0">
            <a:noFill/>
          </a:ln>
        </p:spPr>
        <p:txBody>
          <a:bodyPr wrap="none" lIns="0" tIns="0" rIns="0" bIns="0">
            <a:noAutofit/>
          </a:bodyPr>
          <a:lstStyle>
            <a:defPPr>
              <a:defRPr sz="1425" b="0">
                <a:solidFill>
                  <a:srgbClr val="3F3F3F"/>
                </a:solidFill>
                <a:latin typeface="Calibri"/>
                <a:ea typeface="Calibri"/>
                <a:cs typeface="Calibri"/>
              </a:defRPr>
            </a:defPPr>
            <a:lvl1pPr>
              <a:defRPr sz="1425" b="0">
                <a:solidFill>
                  <a:srgbClr val="3F3F3F"/>
                </a:solidFill>
                <a:latin typeface="Calibri"/>
                <a:ea typeface="Calibri"/>
                <a:cs typeface="Calibri"/>
              </a:defRPr>
            </a:lvl1pPr>
            <a:lvl2pPr>
              <a:defRPr sz="1425" b="0">
                <a:solidFill>
                  <a:srgbClr val="3F3F3F"/>
                </a:solidFill>
                <a:latin typeface="Calibri"/>
                <a:ea typeface="Calibri"/>
                <a:cs typeface="Calibri"/>
              </a:defRPr>
            </a:lvl2pPr>
            <a:lvl3pPr>
              <a:defRPr sz="1425" b="0">
                <a:solidFill>
                  <a:srgbClr val="3F3F3F"/>
                </a:solidFill>
                <a:latin typeface="Calibri"/>
                <a:ea typeface="Calibri"/>
                <a:cs typeface="Calibri"/>
              </a:defRPr>
            </a:lvl3pPr>
            <a:lvl4pPr>
              <a:defRPr sz="1425" b="0">
                <a:solidFill>
                  <a:srgbClr val="3F3F3F"/>
                </a:solidFill>
                <a:latin typeface="Calibri"/>
                <a:ea typeface="Calibri"/>
                <a:cs typeface="Calibri"/>
              </a:defRPr>
            </a:lvl4pPr>
            <a:lvl5pPr>
              <a:defRPr sz="1425" b="0">
                <a:solidFill>
                  <a:srgbClr val="3F3F3F"/>
                </a:solidFill>
                <a:latin typeface="Calibri"/>
                <a:ea typeface="Calibri"/>
                <a:cs typeface="Calibri"/>
              </a:defRPr>
            </a:lvl5pPr>
            <a:lvl6pPr>
              <a:defRPr sz="1425" b="0">
                <a:solidFill>
                  <a:srgbClr val="3F3F3F"/>
                </a:solidFill>
                <a:latin typeface="Calibri"/>
                <a:ea typeface="Calibri"/>
                <a:cs typeface="Calibri"/>
              </a:defRPr>
            </a:lvl6pPr>
            <a:lvl7pPr>
              <a:defRPr sz="1425" b="0">
                <a:solidFill>
                  <a:srgbClr val="3F3F3F"/>
                </a:solidFill>
                <a:latin typeface="Calibri"/>
                <a:ea typeface="Calibri"/>
                <a:cs typeface="Calibri"/>
              </a:defRPr>
            </a:lvl7pPr>
            <a:lvl8pPr>
              <a:defRPr sz="1425" b="0">
                <a:solidFill>
                  <a:srgbClr val="3F3F3F"/>
                </a:solidFill>
                <a:latin typeface="Calibri"/>
                <a:ea typeface="Calibri"/>
                <a:cs typeface="Calibri"/>
              </a:defRPr>
            </a:lvl8pPr>
            <a:lvl9pPr>
              <a:defRPr sz="1425" b="0">
                <a:solidFill>
                  <a:srgbClr val="3F3F3F"/>
                </a:solidFill>
                <a:latin typeface="Calibri"/>
                <a:ea typeface="Calibri"/>
                <a:cs typeface="Calibri"/>
              </a:defRPr>
            </a:lvl9pPr>
          </a:lstStyle>
          <a:p>
            <a:pPr>
              <a:defRPr sz="1425" b="0">
                <a:solidFill>
                  <a:srgbClr val="3F3F3F"/>
                </a:solidFill>
                <a:latin typeface="Calibri"/>
                <a:ea typeface="Calibri"/>
                <a:cs typeface="Calibri"/>
              </a:defRPr>
            </a:pPr>
            <a:r>
              <a:rPr sz="1425" b="0">
                <a:solidFill>
                  <a:srgbClr val="3F3F3F"/>
                </a:solidFill>
                <a:latin typeface="Calibri"/>
                <a:ea typeface="Calibri"/>
                <a:cs typeface="Calibri"/>
              </a:rPr>
              <a:t>Stack: beobachtetes Maximum, kein garantierter Worst Case. Flash und RAM stammen aus getrennten Records.</a:t>
            </a:r>
          </a:p>
        </p:txBody>
      </p:sp>
      <p:sp>
        <p:nvSpPr>
          <p:cNvPr id="280" name="sources-short">
            <a:extLst>
              <a:ext uri="{FF2B5EF4-FFF2-40B4-BE49-F238E27FC236}">
                <a16:creationId xmlns:a16="http://schemas.microsoft.com/office/drawing/2014/main" id="{C50C4C4E-71F4-4238-9257-33923A215855}"/>
              </a:ext>
            </a:extLst>
          </p:cNvPr>
          <p:cNvSpPr>
            <a:spLocks noGrp="1"/>
          </p:cNvSpPr>
          <p:nvPr/>
        </p:nvSpPr>
        <p:spPr>
          <a:xfrm>
            <a:off x="552450" y="5791200"/>
            <a:ext cx="9525000" cy="238125"/>
          </a:xfrm>
          <a:prstGeom prst="rect">
            <a:avLst/>
          </a:prstGeom>
          <a:noFill/>
          <a:ln w="0">
            <a:noFill/>
          </a:ln>
        </p:spPr>
        <p:txBody>
          <a:bodyPr wrap="none" lIns="0" tIns="0" rIns="0" bIns="0">
            <a:noAutofit/>
          </a:bodyPr>
          <a:lstStyle>
            <a:defPPr>
              <a:defRPr sz="1350" b="0">
                <a:solidFill>
                  <a:srgbClr val="6A6A6A"/>
                </a:solidFill>
                <a:latin typeface="Calibri"/>
                <a:ea typeface="Calibri"/>
                <a:cs typeface="Calibri"/>
              </a:defRPr>
            </a:defPPr>
            <a:lvl1pPr>
              <a:defRPr sz="1350" b="0">
                <a:solidFill>
                  <a:srgbClr val="6A6A6A"/>
                </a:solidFill>
                <a:latin typeface="Calibri"/>
                <a:ea typeface="Calibri"/>
                <a:cs typeface="Calibri"/>
              </a:defRPr>
            </a:lvl1pPr>
            <a:lvl2pPr>
              <a:defRPr sz="1350" b="0">
                <a:solidFill>
                  <a:srgbClr val="6A6A6A"/>
                </a:solidFill>
                <a:latin typeface="Calibri"/>
                <a:ea typeface="Calibri"/>
                <a:cs typeface="Calibri"/>
              </a:defRPr>
            </a:lvl2pPr>
            <a:lvl3pPr>
              <a:defRPr sz="1350" b="0">
                <a:solidFill>
                  <a:srgbClr val="6A6A6A"/>
                </a:solidFill>
                <a:latin typeface="Calibri"/>
                <a:ea typeface="Calibri"/>
                <a:cs typeface="Calibri"/>
              </a:defRPr>
            </a:lvl3pPr>
            <a:lvl4pPr>
              <a:defRPr sz="1350" b="0">
                <a:solidFill>
                  <a:srgbClr val="6A6A6A"/>
                </a:solidFill>
                <a:latin typeface="Calibri"/>
                <a:ea typeface="Calibri"/>
                <a:cs typeface="Calibri"/>
              </a:defRPr>
            </a:lvl4pPr>
            <a:lvl5pPr>
              <a:defRPr sz="1350" b="0">
                <a:solidFill>
                  <a:srgbClr val="6A6A6A"/>
                </a:solidFill>
                <a:latin typeface="Calibri"/>
                <a:ea typeface="Calibri"/>
                <a:cs typeface="Calibri"/>
              </a:defRPr>
            </a:lvl5pPr>
            <a:lvl6pPr>
              <a:defRPr sz="1350" b="0">
                <a:solidFill>
                  <a:srgbClr val="6A6A6A"/>
                </a:solidFill>
                <a:latin typeface="Calibri"/>
                <a:ea typeface="Calibri"/>
                <a:cs typeface="Calibri"/>
              </a:defRPr>
            </a:lvl6pPr>
            <a:lvl7pPr>
              <a:defRPr sz="1350" b="0">
                <a:solidFill>
                  <a:srgbClr val="6A6A6A"/>
                </a:solidFill>
                <a:latin typeface="Calibri"/>
                <a:ea typeface="Calibri"/>
                <a:cs typeface="Calibri"/>
              </a:defRPr>
            </a:lvl7pPr>
            <a:lvl8pPr>
              <a:defRPr sz="1350" b="0">
                <a:solidFill>
                  <a:srgbClr val="6A6A6A"/>
                </a:solidFill>
                <a:latin typeface="Calibri"/>
                <a:ea typeface="Calibri"/>
                <a:cs typeface="Calibri"/>
              </a:defRPr>
            </a:lvl8pPr>
            <a:lvl9pPr>
              <a:defRPr sz="1350" b="0">
                <a:solidFill>
                  <a:srgbClr val="6A6A6A"/>
                </a:solidFill>
                <a:latin typeface="Calibri"/>
                <a:ea typeface="Calibri"/>
                <a:cs typeface="Calibri"/>
              </a:defRPr>
            </a:lvl9pPr>
          </a:lstStyle>
          <a:p>
            <a:pPr>
              <a:defRPr sz="1350" b="0">
                <a:solidFill>
                  <a:srgbClr val="6A6A6A"/>
                </a:solidFill>
                <a:latin typeface="Calibri"/>
                <a:ea typeface="Calibri"/>
                <a:cs typeface="Calibri"/>
              </a:defRPr>
            </a:pPr>
            <a:r>
              <a:rPr sz="1350" b="0">
                <a:solidFill>
                  <a:srgbClr val="6A6A6A"/>
                </a:solidFill>
                <a:latin typeface="Calibri"/>
                <a:ea typeface="Calibri"/>
                <a:cs typeface="Calibri"/>
              </a:rPr>
              <a:t>Grundlage: Diss. S. 137, 144–145 (§7.6.2, §7.11); Firmware und Benchmark-Auswertung.</a:t>
            </a:r>
          </a:p>
        </p:txBody>
      </p:sp>
    </p:spTree>
    <p:extLst>
      <p:ext uri="{BB962C8B-B14F-4D97-AF65-F5344CB8AC3E}">
        <p14:creationId xmlns:p14="http://schemas.microsoft.com/office/powerpoint/2010/main" val="2927743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Parameterspeicher und Firmwarebedarf</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3C15EE52-60E3-43E9-A0E5-0BA4629013B2}"/>
              </a:ext>
            </a:extLst>
          </p:cNvPr>
          <p:cNvSpPr>
            <a:spLocks noGrp="1"/>
          </p:cNvSpPr>
          <p:nvPr/>
        </p:nvSpPr>
        <p:spPr>
          <a:xfrm>
            <a:off x="7162800" y="1457325"/>
            <a:ext cx="2790825" cy="1257300"/>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Messwerte:</a:t>
            </a:r>
            <a:r>
              <a:rPr sz="1800" b="0">
                <a:latin typeface="Calibri"/>
                <a:ea typeface="Calibri"/>
                <a:cs typeface="Calibri"/>
              </a:rPr>
              <a:t> Flash aus vorhandenen ELF-Builds; RAM aus bisherigen Messungen</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7162800" y="2990850"/>
            <a:ext cx="2790825" cy="1219200"/>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SOC-RAM Quantized:</a:t>
            </a:r>
            <a:r>
              <a:rPr sz="1800" b="0">
                <a:latin typeface="Calibri"/>
                <a:ea typeface="Calibri"/>
                <a:cs typeface="Calibri"/>
              </a:rPr>
              <a:t> 3,96 KiB laut Tabelle 7.1, Grafik ca. 3,5 KiB</a:t>
            </a:r>
          </a:p>
        </p:txBody>
      </p:sp>
      <p:pic>
        <p:nvPicPr>
          <p:cNvPr id="38"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15AFD174-6BBF-4B31-BD82-147CEBE088F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895C4AA-3B55-4C57-B7F8-1908B64F6BD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D023E9D-5A52-4DA1-8F38-AC86C0AE020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B8DD2CC6-F8B4-413D-B89B-BF19E2EBB355}"/>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D8F9D8A-F2B7-4A41-BEE0-7D0FDB8F39F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EBA1E4F-95E5-4E6A-A321-3B3C7B1E5C00}"/>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AA3D179D-6DD3-4D07-AAB5-489F479FA85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A911ABF1-E354-406F-B257-60919319560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7" name="Grafik 46"/>
          <p:cNvPicPr>
            <a:picLocks noChangeAspect="1"/>
          </p:cNvPicPr>
          <p:nvPr/>
        </p:nvPicPr>
        <p:blipFill>
          <a:blip r:embed="rId4"/>
          <a:stretch/>
        </p:blipFill>
        <p:spPr>
          <a:xfrm>
            <a:off x="572555" y="1419225"/>
            <a:ext cx="6151039" cy="4391025"/>
          </a:xfrm>
          <a:prstGeom prst="rect">
            <a:avLst/>
          </a:prstGeom>
        </p:spPr>
      </p:pic>
      <p:sp>
        <p:nvSpPr>
          <p:cNvPr id="29" name="v11-text-45-3">
            <a:extLst>
              <a:ext uri="{FF2B5EF4-FFF2-40B4-BE49-F238E27FC236}">
                <a16:creationId xmlns:a16="http://schemas.microsoft.com/office/drawing/2014/main" id="{35ABFB3D-2BBF-4EAE-9FE4-BA0F8955AA9D}"/>
              </a:ext>
            </a:extLst>
          </p:cNvPr>
          <p:cNvSpPr>
            <a:spLocks noGrp="1"/>
          </p:cNvSpPr>
          <p:nvPr/>
        </p:nvSpPr>
        <p:spPr>
          <a:xfrm>
            <a:off x="7162800" y="4362450"/>
            <a:ext cx="2790825" cy="152400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Parameterzahl:</a:t>
            </a:r>
            <a:r>
              <a:rPr sz="1800" b="0">
                <a:latin typeface="Calibri"/>
                <a:ea typeface="Calibri"/>
                <a:cs typeface="Calibri"/>
              </a:rPr>
              <a:t> Base: 22 785 (SOC) und 85 761 (SOH), wie in der Grafik</a:t>
            </a:r>
          </a:p>
        </p:txBody>
      </p:sp>
      <p:sp>
        <p:nvSpPr>
          <p:cNvPr id="48" name="Footer – Seitennummer">
            <a:extLst>
              <a:ext uri="{FF2B5EF4-FFF2-40B4-BE49-F238E27FC236}">
                <a16:creationId xmlns:a16="http://schemas.microsoft.com/office/drawing/2014/main" id="{92C05995-5A23-4980-8358-CA239E779A9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8</a:t>
            </a:r>
          </a:p>
        </p:txBody>
      </p:sp>
      <p:sp>
        <p:nvSpPr>
          <p:cNvPr id="49" name="Footer – Präsentationsangaben">
            <a:extLst>
              <a:ext uri="{FF2B5EF4-FFF2-40B4-BE49-F238E27FC236}">
                <a16:creationId xmlns:a16="http://schemas.microsoft.com/office/drawing/2014/main" id="{A98EA959-3581-411D-B7C1-EC0F4514E90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DD-Ausführung und Zustandsführung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B65EFC6B-0E80-471D-92AE-C9A8AC1F4139}"/>
              </a:ext>
            </a:extLst>
          </p:cNvPr>
          <p:cNvSpPr>
            <a:spLocks noGrp="1"/>
          </p:cNvSpPr>
          <p:nvPr/>
        </p:nvSpPr>
        <p:spPr>
          <a:xfrm>
            <a:off x="552450" y="4572000"/>
            <a:ext cx="9391650" cy="3238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Rolling Window: </a:t>
            </a:r>
            <a:r>
              <a:rPr sz="1800" b="0">
                <a:solidFill>
                  <a:srgbClr val="444444"/>
                </a:solidFill>
                <a:latin typeface="Calibri"/>
                <a:ea typeface="Calibri"/>
                <a:cs typeface="Calibri"/>
              </a:rPr>
              <a:t>Hoher Aufwand durch erneute Auswertung aller 2024 Schritte</a:t>
            </a:r>
          </a:p>
        </p:txBody>
      </p:sp>
      <p:pic>
        <p:nvPicPr>
          <p:cNvPr id="32" name="V5_Figure_11"/>
          <p:cNvPicPr>
            <a:picLocks noChangeAspect="1"/>
          </p:cNvPicPr>
          <p:nvPr/>
        </p:nvPicPr>
        <p:blipFill>
          <a:blip r:embed="rId3"/>
          <a:stretch/>
        </p:blipFill>
        <p:spPr>
          <a:xfrm>
            <a:off x="943570" y="1409700"/>
            <a:ext cx="8571309" cy="2981325"/>
          </a:xfrm>
          <a:prstGeom prst="rect">
            <a:avLst/>
          </a:prstGeom>
        </p:spPr>
      </p:pic>
      <p:sp>
        <p:nvSpPr>
          <p:cNvPr id="15" name="Structure separator">
            <a:extLst>
              <a:ext uri="{FF2B5EF4-FFF2-40B4-BE49-F238E27FC236}">
                <a16:creationId xmlns:a16="http://schemas.microsoft.com/office/drawing/2014/main" id="{4C5264AE-1BFD-43F0-A48B-6A9C34FA7CEE}"/>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E57E6A2D-D2EF-4AD4-B611-11B528B39546}"/>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2A9B45DB-A1C3-4A53-8C1A-E787E5445C4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17FC0192-B2C3-4B71-8A7E-A5A269E7D4C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413E838-54FB-43E5-BC24-6010481C76D7}"/>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BF4DF7C7-0937-45C0-AD17-C3B8F470DC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E0278D5C-BC59-412A-9B64-764DC5965C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883B45E2-F240-4123-96D3-89FAC74F5FCA}"/>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24-2">
            <a:extLst>
              <a:ext uri="{FF2B5EF4-FFF2-40B4-BE49-F238E27FC236}">
                <a16:creationId xmlns:a16="http://schemas.microsoft.com/office/drawing/2014/main" id="{9C573195-611C-4BE7-B885-E357EF2AB80A}"/>
              </a:ext>
            </a:extLst>
          </p:cNvPr>
          <p:cNvSpPr>
            <a:spLocks noGrp="1"/>
          </p:cNvSpPr>
          <p:nvPr/>
        </p:nvSpPr>
        <p:spPr>
          <a:xfrm>
            <a:off x="552450" y="49244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Continuous State: </a:t>
            </a:r>
            <a:r>
              <a:rPr sz="1800" b="0">
                <a:solidFill>
                  <a:srgbClr val="444444"/>
                </a:solidFill>
                <a:latin typeface="Calibri"/>
                <a:ea typeface="Calibri"/>
                <a:cs typeface="Calibri"/>
              </a:rPr>
              <a:t>Ein Update bei erhaltener Historie und ähnlichem Nominalfehler</a:t>
            </a:r>
          </a:p>
        </p:txBody>
      </p:sp>
      <p:sp>
        <p:nvSpPr>
          <p:cNvPr id="25" name="v11-text-24-3">
            <a:extLst>
              <a:ext uri="{FF2B5EF4-FFF2-40B4-BE49-F238E27FC236}">
                <a16:creationId xmlns:a16="http://schemas.microsoft.com/office/drawing/2014/main" id="{534E11BF-2780-4A85-B131-1B0E17C17ADD}"/>
              </a:ext>
            </a:extLst>
          </p:cNvPr>
          <p:cNvSpPr>
            <a:spLocks noGrp="1"/>
          </p:cNvSpPr>
          <p:nvPr/>
        </p:nvSpPr>
        <p:spPr>
          <a:xfrm>
            <a:off x="552450" y="5276850"/>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Periodic Reset: </a:t>
            </a:r>
            <a:r>
              <a:rPr sz="1800" b="0">
                <a:solidFill>
                  <a:srgbClr val="444444"/>
                </a:solidFill>
                <a:latin typeface="Calibri"/>
                <a:ea typeface="Calibri"/>
                <a:cs typeface="Calibri"/>
              </a:rPr>
              <a:t>Große Fehlerpeaks durch wiederholten Verlust der Historie</a:t>
            </a:r>
          </a:p>
        </p:txBody>
      </p:sp>
      <p:sp>
        <p:nvSpPr>
          <p:cNvPr id="3003" name="IR_state_takeaway">
            <a:extLst>
              <a:ext uri="{FF2B5EF4-FFF2-40B4-BE49-F238E27FC236}">
                <a16:creationId xmlns:a16="http://schemas.microsoft.com/office/drawing/2014/main" id="{0BC37AF6-F3CC-4671-919E-11C6A186FBC1}"/>
              </a:ext>
            </a:extLst>
          </p:cNvPr>
          <p:cNvSpPr>
            <a:spLocks noGrp="1"/>
          </p:cNvSpPr>
          <p:nvPr/>
        </p:nvSpPr>
        <p:spPr>
          <a:xfrm>
            <a:off x="552450" y="562927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D00020"/>
                </a:solidFill>
                <a:latin typeface="Calibri"/>
                <a:ea typeface="Calibri"/>
                <a:cs typeface="Calibri"/>
              </a:rPr>
              <a:t>Continuous State als effiziente Betriebsart mit eigenem Validierungsbedarf</a:t>
            </a:r>
          </a:p>
        </p:txBody>
      </p:sp>
      <p:sp>
        <p:nvSpPr>
          <p:cNvPr id="3004" name="Footer – Seitennummer">
            <a:extLst>
              <a:ext uri="{FF2B5EF4-FFF2-40B4-BE49-F238E27FC236}">
                <a16:creationId xmlns:a16="http://schemas.microsoft.com/office/drawing/2014/main" id="{D45D3A4F-87D5-48BB-94A0-72E0E4C2E57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9</a:t>
            </a:r>
          </a:p>
        </p:txBody>
      </p:sp>
      <p:sp>
        <p:nvSpPr>
          <p:cNvPr id="3005" name="Footer – Präsentationsangaben">
            <a:extLst>
              <a:ext uri="{FF2B5EF4-FFF2-40B4-BE49-F238E27FC236}">
                <a16:creationId xmlns:a16="http://schemas.microsoft.com/office/drawing/2014/main" id="{FF614111-EA22-4B0E-B7D2-277A373819D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6547967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SOC-LSTM aus Kapitel 7</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10</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00" name="Rechteck 999">
            <a:extLst>
              <a:ext uri="{FF2B5EF4-FFF2-40B4-BE49-F238E27FC236}">
                <a16:creationId xmlns:a16="http://schemas.microsoft.com/office/drawing/2014/main" id="{D61E0436-484C-40A9-B94C-BB15D570B1EB}"/>
              </a:ext>
            </a:extLst>
          </p:cNvPr>
          <p:cNvSpPr>
            <a:spLocks noGrp="1"/>
          </p:cNvSpPr>
          <p:nvPr/>
        </p:nvSpPr>
        <p:spPr>
          <a:xfrm>
            <a:off x="609600" y="1428750"/>
            <a:ext cx="9239250" cy="285750"/>
          </a:xfrm>
          <a:prstGeom prst="rect">
            <a:avLst/>
          </a:prstGeom>
          <a:noFill/>
          <a:ln w="0">
            <a:noFill/>
          </a:ln>
        </p:spPr>
        <p:txBody>
          <a:bodyPr>
            <a:noAutofit/>
          </a:bodyPr>
          <a:lstStyle/>
          <a:p>
            <a:pPr>
              <a:defRPr sz="1725" b="1">
                <a:solidFill>
                  <a:srgbClr val="CC001C"/>
                </a:solidFill>
                <a:latin typeface="Calibri"/>
                <a:ea typeface="Calibri"/>
                <a:cs typeface="Calibri"/>
              </a:defRPr>
            </a:pPr>
            <a:r>
              <a:rPr sz="1725" b="1">
                <a:solidFill>
                  <a:srgbClr val="CC001C"/>
                </a:solidFill>
                <a:latin typeface="Calibri"/>
                <a:ea typeface="Calibri"/>
                <a:cs typeface="Calibri"/>
              </a:rPr>
              <a:t>6 Eingänge, ein LSTM-Layer, ein MLP-Head</a:t>
            </a:r>
          </a:p>
        </p:txBody>
      </p:sp>
      <p:pic>
        <p:nvPicPr>
          <p:cNvPr id="1001" name="Grafik 1000"/>
          <p:cNvPicPr>
            <a:picLocks noChangeAspect="1"/>
          </p:cNvPicPr>
          <p:nvPr/>
        </p:nvPicPr>
        <p:blipFill>
          <a:blip r:embed="rId3"/>
          <a:stretch/>
        </p:blipFill>
        <p:spPr>
          <a:xfrm>
            <a:off x="571500" y="1960469"/>
            <a:ext cx="9334500" cy="2251262"/>
          </a:xfrm>
          <a:prstGeom prst="rect">
            <a:avLst/>
          </a:prstGeom>
        </p:spPr>
      </p:pic>
      <p:pic>
        <p:nvPicPr>
          <p:cNvPr id="1002" name="Grafik 1001"/>
          <p:cNvPicPr>
            <a:picLocks noChangeAspect="1"/>
          </p:cNvPicPr>
          <p:nvPr/>
        </p:nvPicPr>
        <p:blipFill>
          <a:blip r:embed="rId4"/>
          <a:stretch/>
        </p:blipFill>
        <p:spPr>
          <a:xfrm>
            <a:off x="2090142" y="4552950"/>
            <a:ext cx="6297216" cy="390525"/>
          </a:xfrm>
          <a:prstGeom prst="rect">
            <a:avLst/>
          </a:prstGeom>
        </p:spPr>
      </p:pic>
      <p:pic>
        <p:nvPicPr>
          <p:cNvPr id="1003" name="Grafik 1002"/>
          <p:cNvPicPr>
            <a:picLocks noChangeAspect="1"/>
          </p:cNvPicPr>
          <p:nvPr/>
        </p:nvPicPr>
        <p:blipFill>
          <a:blip r:embed="rId5"/>
          <a:stretch/>
        </p:blipFill>
        <p:spPr>
          <a:xfrm>
            <a:off x="3050825" y="5086350"/>
            <a:ext cx="4375850" cy="371475"/>
          </a:xfrm>
          <a:prstGeom prst="rect">
            <a:avLst/>
          </a:prstGeom>
        </p:spPr>
      </p:pic>
      <p:sp>
        <p:nvSpPr>
          <p:cNvPr id="1004" name="Rechteck 1003">
            <a:extLst>
              <a:ext uri="{FF2B5EF4-FFF2-40B4-BE49-F238E27FC236}">
                <a16:creationId xmlns:a16="http://schemas.microsoft.com/office/drawing/2014/main" id="{B19FEFC0-F5B9-4781-8E09-1A65BF500E58}"/>
              </a:ext>
            </a:extLst>
          </p:cNvPr>
          <p:cNvSpPr>
            <a:spLocks noGrp="1"/>
          </p:cNvSpPr>
          <p:nvPr/>
        </p:nvSpPr>
        <p:spPr>
          <a:xfrm>
            <a:off x="666750" y="5543550"/>
            <a:ext cx="9191625" cy="28575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fout = Sigmoid    H = M = 64    Zustände hₜ und cₜ kontinuierlich bei 1 Hz</a:t>
            </a:r>
          </a:p>
        </p:txBody>
      </p:sp>
    </p:spTree>
    <p:extLst>
      <p:ext uri="{BB962C8B-B14F-4D97-AF65-F5344CB8AC3E}">
        <p14:creationId xmlns:p14="http://schemas.microsoft.com/office/powerpoint/2010/main" val="15989129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SOH-LSTM aus Kapitel 7</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11</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00" name="Rechteck 999">
            <a:extLst>
              <a:ext uri="{FF2B5EF4-FFF2-40B4-BE49-F238E27FC236}">
                <a16:creationId xmlns:a16="http://schemas.microsoft.com/office/drawing/2014/main" id="{33982BBC-5C77-4128-9DBE-6547177DFDE5}"/>
              </a:ext>
            </a:extLst>
          </p:cNvPr>
          <p:cNvSpPr>
            <a:spLocks noGrp="1"/>
          </p:cNvSpPr>
          <p:nvPr/>
        </p:nvSpPr>
        <p:spPr>
          <a:xfrm>
            <a:off x="609600" y="1428750"/>
            <a:ext cx="9239250" cy="285750"/>
          </a:xfrm>
          <a:prstGeom prst="rect">
            <a:avLst/>
          </a:prstGeom>
          <a:noFill/>
          <a:ln w="0">
            <a:noFill/>
          </a:ln>
        </p:spPr>
        <p:txBody>
          <a:bodyPr>
            <a:noAutofit/>
          </a:bodyPr>
          <a:lstStyle/>
          <a:p>
            <a:pPr>
              <a:defRPr sz="1725" b="1">
                <a:solidFill>
                  <a:srgbClr val="CC001C"/>
                </a:solidFill>
                <a:latin typeface="Calibri"/>
                <a:ea typeface="Calibri"/>
                <a:cs typeface="Calibri"/>
              </a:defRPr>
            </a:pPr>
            <a:r>
              <a:rPr sz="1725" b="1">
                <a:solidFill>
                  <a:srgbClr val="CC001C"/>
                </a:solidFill>
                <a:latin typeface="Calibri"/>
                <a:ea typeface="Calibri"/>
                <a:cs typeface="Calibri"/>
              </a:rPr>
              <a:t>6 Eingänge, ein LSTM-Layer, ein MLP-Head</a:t>
            </a:r>
          </a:p>
        </p:txBody>
      </p:sp>
      <p:pic>
        <p:nvPicPr>
          <p:cNvPr id="1001" name="Grafik 1000"/>
          <p:cNvPicPr>
            <a:picLocks noChangeAspect="1"/>
          </p:cNvPicPr>
          <p:nvPr/>
        </p:nvPicPr>
        <p:blipFill>
          <a:blip r:embed="rId3"/>
          <a:stretch/>
        </p:blipFill>
        <p:spPr>
          <a:xfrm>
            <a:off x="571500" y="1864379"/>
            <a:ext cx="9334500" cy="2443443"/>
          </a:xfrm>
          <a:prstGeom prst="rect">
            <a:avLst/>
          </a:prstGeom>
        </p:spPr>
      </p:pic>
      <p:pic>
        <p:nvPicPr>
          <p:cNvPr id="1002" name="Grafik 1001"/>
          <p:cNvPicPr>
            <a:picLocks noChangeAspect="1"/>
          </p:cNvPicPr>
          <p:nvPr/>
        </p:nvPicPr>
        <p:blipFill>
          <a:blip r:embed="rId4"/>
          <a:stretch/>
        </p:blipFill>
        <p:spPr>
          <a:xfrm>
            <a:off x="2315914" y="4552950"/>
            <a:ext cx="5845671" cy="390525"/>
          </a:xfrm>
          <a:prstGeom prst="rect">
            <a:avLst/>
          </a:prstGeom>
        </p:spPr>
      </p:pic>
      <p:pic>
        <p:nvPicPr>
          <p:cNvPr id="1003" name="Grafik 1002"/>
          <p:cNvPicPr>
            <a:picLocks noChangeAspect="1"/>
          </p:cNvPicPr>
          <p:nvPr/>
        </p:nvPicPr>
        <p:blipFill>
          <a:blip r:embed="rId5"/>
          <a:stretch/>
        </p:blipFill>
        <p:spPr>
          <a:xfrm>
            <a:off x="3050825" y="5086350"/>
            <a:ext cx="4375850" cy="371475"/>
          </a:xfrm>
          <a:prstGeom prst="rect">
            <a:avLst/>
          </a:prstGeom>
        </p:spPr>
      </p:pic>
      <p:sp>
        <p:nvSpPr>
          <p:cNvPr id="1004" name="Rechteck 1003">
            <a:extLst>
              <a:ext uri="{FF2B5EF4-FFF2-40B4-BE49-F238E27FC236}">
                <a16:creationId xmlns:a16="http://schemas.microsoft.com/office/drawing/2014/main" id="{5F0B4951-875C-4AB4-8C01-296FF4E0BEF8}"/>
              </a:ext>
            </a:extLst>
          </p:cNvPr>
          <p:cNvSpPr>
            <a:spLocks noGrp="1"/>
          </p:cNvSpPr>
          <p:nvPr/>
        </p:nvSpPr>
        <p:spPr>
          <a:xfrm>
            <a:off x="666750" y="5543550"/>
            <a:ext cx="9191625" cy="28575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fout = linear    H = M = 128    Zustände hₜ und cₜ kontinuierlich bei 1 Hz</a:t>
            </a:r>
          </a:p>
        </p:txBody>
      </p:sp>
    </p:spTree>
    <p:extLst>
      <p:ext uri="{BB962C8B-B14F-4D97-AF65-F5344CB8AC3E}">
        <p14:creationId xmlns:p14="http://schemas.microsoft.com/office/powerpoint/2010/main" val="15989129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Anhang: Parameterzahl und MACs</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PC_mac_parameters">
            <a:extLst>
              <a:ext uri="{FF2B5EF4-FFF2-40B4-BE49-F238E27FC236}">
                <a16:creationId xmlns:a16="http://schemas.microsoft.com/office/drawing/2014/main" id="{5694EB15-B071-4DBE-B2C9-4BFF93E0A1FF}"/>
              </a:ext>
            </a:extLst>
          </p:cNvPr>
          <p:cNvSpPr>
            <a:spLocks noGrp="1"/>
          </p:cNvSpPr>
          <p:nvPr/>
        </p:nvSpPr>
        <p:spPr>
          <a:xfrm>
            <a:off x="552450" y="1495425"/>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Parameter: Gespeicherte Gewichte und Biaswerte</a:t>
            </a:r>
          </a:p>
        </p:txBody>
      </p:sp>
      <p:sp>
        <p:nvSpPr>
          <p:cNvPr id="2001" name="PC_mac_definition">
            <a:extLst>
              <a:ext uri="{FF2B5EF4-FFF2-40B4-BE49-F238E27FC236}">
                <a16:creationId xmlns:a16="http://schemas.microsoft.com/office/drawing/2014/main" id="{5B69C444-13B3-4FF5-B639-218451169610}"/>
              </a:ext>
            </a:extLst>
          </p:cNvPr>
          <p:cNvSpPr>
            <a:spLocks noGrp="1"/>
          </p:cNvSpPr>
          <p:nvPr/>
        </p:nvSpPr>
        <p:spPr>
          <a:xfrm>
            <a:off x="552450" y="19050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MAC (Multiply–Accumulate): Multiplikation mit anschließendem Aufsummieren</a:t>
            </a:r>
          </a:p>
        </p:txBody>
      </p:sp>
      <p:sp>
        <p:nvSpPr>
          <p:cNvPr id="2002" name="PC_mac_formula">
            <a:extLst>
              <a:ext uri="{FF2B5EF4-FFF2-40B4-BE49-F238E27FC236}">
                <a16:creationId xmlns:a16="http://schemas.microsoft.com/office/drawing/2014/main" id="{9FC04401-E548-4304-B8B2-EA48858852A9}"/>
              </a:ext>
            </a:extLst>
          </p:cNvPr>
          <p:cNvSpPr>
            <a:spLocks noGrp="1"/>
          </p:cNvSpPr>
          <p:nvPr/>
        </p:nvSpPr>
        <p:spPr>
          <a:xfrm>
            <a:off x="552450" y="2362200"/>
            <a:ext cx="93916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MACs pro Update = 4H(D + H) + HM + M</a:t>
            </a:r>
          </a:p>
        </p:txBody>
      </p:sp>
      <p:sp>
        <p:nvSpPr>
          <p:cNvPr id="2003" name="PC_mac_scope">
            <a:extLst>
              <a:ext uri="{FF2B5EF4-FFF2-40B4-BE49-F238E27FC236}">
                <a16:creationId xmlns:a16="http://schemas.microsoft.com/office/drawing/2014/main" id="{B228DDB6-7EEC-4062-B7AD-8EF8F8496BBB}"/>
              </a:ext>
            </a:extLst>
          </p:cNvPr>
          <p:cNvSpPr>
            <a:spLocks noGrp="1"/>
          </p:cNvSpPr>
          <p:nvPr/>
        </p:nvSpPr>
        <p:spPr>
          <a:xfrm>
            <a:off x="552450" y="27432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Matrixprodukte je Update, ohne Biasadditionen und Aktivierungsfunktionen</a:t>
            </a:r>
          </a:p>
        </p:txBody>
      </p:sp>
      <p:graphicFrame>
        <p:nvGraphicFramePr>
          <p:cNvPr id="2004" name="Tabelle 2003"/>
          <p:cNvGraphicFramePr/>
          <p:nvPr/>
        </p:nvGraphicFramePr>
        <p:xfrm>
          <a:off x="552450" y="3190875"/>
          <a:ext cx="9391650" cy="1114425"/>
        </p:xfrm>
        <a:graphic>
          <a:graphicData uri="http://schemas.openxmlformats.org/drawingml/2006/table">
            <a:tbl>
              <a:tblPr/>
              <a:tblGrid>
                <a:gridCol w="46672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533650">
                  <a:extLst>
                    <a:ext uri="{9D8B030D-6E8A-4147-A177-3AD203B41FA5}">
                      <a16:colId xmlns:a16="http://schemas.microsoft.com/office/drawing/2014/main" val="20002"/>
                    </a:ext>
                  </a:extLst>
                </a:gridCol>
              </a:tblGrid>
              <a:tr h="371475">
                <a:tc>
                  <a:txBody>
                    <a:bodyPr/>
                    <a:lstStyle/>
                    <a:p>
                      <a:pPr algn="l">
                        <a:buNone/>
                      </a:pPr>
                      <a:r>
                        <a:rPr sz="1800" b="1">
                          <a:solidFill>
                            <a:srgbClr val="444444"/>
                          </a:solidFill>
                          <a:latin typeface="Calibri"/>
                          <a:ea typeface="Calibri"/>
                          <a:cs typeface="Calibri"/>
                        </a:rPr>
                        <a:t>Base-Modell</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Parameter</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MACs je Update</a:t>
                      </a:r>
                    </a:p>
                  </a:txBody>
                  <a:tcPr marL="114300" marR="114300" marT="47625" marB="47625" anchor="ctr">
                    <a:solidFill>
                      <a:srgbClr val="F0F0F0"/>
                    </a:solidFill>
                  </a:tcPr>
                </a:tc>
                <a:extLst>
                  <a:ext uri="{0D108BD9-81ED-4DB2-BD59-A6C34878D82A}">
                    <a16:rowId xmlns:a16="http://schemas.microsoft.com/office/drawing/2014/main" val="10000"/>
                  </a:ext>
                </a:extLst>
              </a:tr>
              <a:tr h="371475">
                <a:tc>
                  <a:txBody>
                    <a:bodyPr/>
                    <a:lstStyle/>
                    <a:p>
                      <a:pPr algn="l">
                        <a:buNone/>
                      </a:pPr>
                      <a:r>
                        <a:rPr sz="1800" b="0">
                          <a:solidFill>
                            <a:srgbClr val="444444"/>
                          </a:solidFill>
                          <a:latin typeface="Calibri"/>
                          <a:ea typeface="Calibri"/>
                          <a:cs typeface="Calibri"/>
                        </a:rPr>
                        <a:t>SOC (D = 6, H = M = 64)</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22 657</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22 080</a:t>
                      </a:r>
                    </a:p>
                  </a:txBody>
                  <a:tcPr marL="114300" marR="114300" marT="47625" marB="47625" anchor="ctr">
                    <a:solidFill>
                      <a:srgbClr val="FFFFFF"/>
                    </a:solidFill>
                  </a:tcPr>
                </a:tc>
                <a:extLst>
                  <a:ext uri="{0D108BD9-81ED-4DB2-BD59-A6C34878D82A}">
                    <a16:rowId xmlns:a16="http://schemas.microsoft.com/office/drawing/2014/main" val="10001"/>
                  </a:ext>
                </a:extLst>
              </a:tr>
              <a:tr h="371475">
                <a:tc>
                  <a:txBody>
                    <a:bodyPr/>
                    <a:lstStyle/>
                    <a:p>
                      <a:pPr algn="l">
                        <a:buNone/>
                      </a:pPr>
                      <a:r>
                        <a:rPr sz="1800" b="0">
                          <a:solidFill>
                            <a:srgbClr val="444444"/>
                          </a:solidFill>
                          <a:latin typeface="Calibri"/>
                          <a:ea typeface="Calibri"/>
                          <a:cs typeface="Calibri"/>
                        </a:rPr>
                        <a:t>SOH (D = 6, H = M = 128)</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86 273</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85 120</a:t>
                      </a:r>
                    </a:p>
                  </a:txBody>
                  <a:tcPr marL="114300" marR="114300" marT="47625" marB="47625" anchor="ctr">
                    <a:solidFill>
                      <a:srgbClr val="FFFFFF"/>
                    </a:solidFill>
                  </a:tcPr>
                </a:tc>
                <a:extLst>
                  <a:ext uri="{0D108BD9-81ED-4DB2-BD59-A6C34878D82A}">
                    <a16:rowId xmlns:a16="http://schemas.microsoft.com/office/drawing/2014/main" val="10002"/>
                  </a:ext>
                </a:extLst>
              </a:tr>
            </a:tbl>
          </a:graphicData>
        </a:graphic>
      </p:graphicFrame>
      <p:sp>
        <p:nvSpPr>
          <p:cNvPr id="2005" name="PC_mac_example">
            <a:extLst>
              <a:ext uri="{FF2B5EF4-FFF2-40B4-BE49-F238E27FC236}">
                <a16:creationId xmlns:a16="http://schemas.microsoft.com/office/drawing/2014/main" id="{A027C4BF-5C22-404D-8AE4-BEFAFE5EA482}"/>
              </a:ext>
            </a:extLst>
          </p:cNvPr>
          <p:cNvSpPr>
            <a:spLocks noGrp="1"/>
          </p:cNvSpPr>
          <p:nvPr/>
        </p:nvSpPr>
        <p:spPr>
          <a:xfrm>
            <a:off x="552450" y="4629150"/>
            <a:ext cx="93916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Beispiel Dense Layer (D = 6, H = 64):</a:t>
            </a:r>
          </a:p>
        </p:txBody>
      </p:sp>
      <p:sp>
        <p:nvSpPr>
          <p:cNvPr id="2006" name="PC_mac_example_detail">
            <a:extLst>
              <a:ext uri="{FF2B5EF4-FFF2-40B4-BE49-F238E27FC236}">
                <a16:creationId xmlns:a16="http://schemas.microsoft.com/office/drawing/2014/main" id="{21B174A4-4D3B-4DBC-891D-795DF93BA508}"/>
              </a:ext>
            </a:extLst>
          </p:cNvPr>
          <p:cNvSpPr>
            <a:spLocks noGrp="1"/>
          </p:cNvSpPr>
          <p:nvPr/>
        </p:nvSpPr>
        <p:spPr>
          <a:xfrm>
            <a:off x="552450" y="50101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448 Parameter = 384 Gewichte + 64 Bias, bei 384 MACs je Update</a:t>
            </a:r>
          </a:p>
        </p:txBody>
      </p:sp>
      <p:sp>
        <p:nvSpPr>
          <p:cNvPr id="2007" name="PC_mac_takeaway">
            <a:extLst>
              <a:ext uri="{FF2B5EF4-FFF2-40B4-BE49-F238E27FC236}">
                <a16:creationId xmlns:a16="http://schemas.microsoft.com/office/drawing/2014/main" id="{A89DFFCE-076D-4E2D-9BC6-B0864F042F3E}"/>
              </a:ext>
            </a:extLst>
          </p:cNvPr>
          <p:cNvSpPr>
            <a:spLocks noGrp="1"/>
          </p:cNvSpPr>
          <p:nvPr/>
        </p:nvSpPr>
        <p:spPr>
          <a:xfrm>
            <a:off x="552450" y="5543550"/>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MAC-Zahl als Rechenmaß, tatsächliche Laufzeit zusätzlich vom Kernel abhängig</a:t>
            </a:r>
          </a:p>
        </p:txBody>
      </p:sp>
      <p:sp>
        <p:nvSpPr>
          <p:cNvPr id="2008" name="Footer – Seitennummer">
            <a:extLst>
              <a:ext uri="{FF2B5EF4-FFF2-40B4-BE49-F238E27FC236}">
                <a16:creationId xmlns:a16="http://schemas.microsoft.com/office/drawing/2014/main" id="{CEF04B45-36AA-40A6-A234-97F58A3F38E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12</a:t>
            </a:r>
          </a:p>
        </p:txBody>
      </p:sp>
      <p:sp>
        <p:nvSpPr>
          <p:cNvPr id="2009" name="Footer – Präsentationsangaben">
            <a:extLst>
              <a:ext uri="{FF2B5EF4-FFF2-40B4-BE49-F238E27FC236}">
                <a16:creationId xmlns:a16="http://schemas.microsoft.com/office/drawing/2014/main" id="{F36F19B0-AEBB-4F2A-BA32-8A5E519AE44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Signed Error Distributions von SOC und SOH</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9255478F-B521-4CBF-B463-6AF0AC331A3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5E1D1FDA-3A78-45B8-8BE9-EB4FF189548E}"/>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88C81035-26C5-42A3-95BC-BF61B6CC25D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67CFA1B8-99B2-4EF7-9E3E-107A3A59172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3068BB09-C0E8-44B6-897A-A61CDDD0A2D0}"/>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4AB73494-47EE-4C18-9B9C-67DF345E9988}"/>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2F324E9B-C60F-406E-8FEB-4793007C944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0C71C263-D7D5-4729-B7BB-38C4F6CA370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AM_definition">
            <a:extLst>
              <a:ext uri="{FF2B5EF4-FFF2-40B4-BE49-F238E27FC236}">
                <a16:creationId xmlns:a16="http://schemas.microsoft.com/office/drawing/2014/main" id="{B1BBA781-BEC8-4A6C-BF3A-F4F2B8DED9F9}"/>
              </a:ext>
            </a:extLst>
          </p:cNvPr>
          <p:cNvSpPr>
            <a:spLocks noGrp="1"/>
          </p:cNvSpPr>
          <p:nvPr/>
        </p:nvSpPr>
        <p:spPr>
          <a:xfrm>
            <a:off x="552450" y="52578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Signed error: Prediction minus Ground Truth</a:t>
            </a:r>
          </a:p>
        </p:txBody>
      </p:sp>
      <p:sp>
        <p:nvSpPr>
          <p:cNvPr id="24" name="AM_interpretation">
            <a:extLst>
              <a:ext uri="{FF2B5EF4-FFF2-40B4-BE49-F238E27FC236}">
                <a16:creationId xmlns:a16="http://schemas.microsoft.com/office/drawing/2014/main" id="{57DDFF62-6A5C-4A25-A7E2-D138D6AF6C39}"/>
              </a:ext>
            </a:extLst>
          </p:cNvPr>
          <p:cNvSpPr>
            <a:spLocks noGrp="1"/>
          </p:cNvSpPr>
          <p:nvPr/>
        </p:nvSpPr>
        <p:spPr>
          <a:xfrm>
            <a:off x="552450" y="56197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Positive Fehler: Überschätzung, negative Fehler: Unterschätzung</a:t>
            </a:r>
          </a:p>
        </p:txBody>
      </p:sp>
      <p:pic>
        <p:nvPicPr>
          <p:cNvPr id="25" name="AM_SOC_histogram"/>
          <p:cNvPicPr>
            <a:picLocks noChangeAspect="1"/>
          </p:cNvPicPr>
          <p:nvPr/>
        </p:nvPicPr>
        <p:blipFill>
          <a:blip r:embed="rId3"/>
          <a:srcRect l="50000"/>
          <a:stretch/>
        </p:blipFill>
        <p:spPr>
          <a:xfrm>
            <a:off x="552450" y="1409700"/>
            <a:ext cx="4381500" cy="3651250"/>
          </a:xfrm>
          <a:prstGeom prst="rect">
            <a:avLst/>
          </a:prstGeom>
        </p:spPr>
      </p:pic>
      <p:pic>
        <p:nvPicPr>
          <p:cNvPr id="26" name="AM_SOH_histogram"/>
          <p:cNvPicPr>
            <a:picLocks noChangeAspect="1"/>
          </p:cNvPicPr>
          <p:nvPr/>
        </p:nvPicPr>
        <p:blipFill>
          <a:blip r:embed="rId4"/>
          <a:srcRect l="50000"/>
          <a:stretch/>
        </p:blipFill>
        <p:spPr>
          <a:xfrm>
            <a:off x="5562600" y="1409700"/>
            <a:ext cx="4381500" cy="3651250"/>
          </a:xfrm>
          <a:prstGeom prst="rect">
            <a:avLst/>
          </a:prstGeom>
        </p:spPr>
      </p:pic>
      <p:sp>
        <p:nvSpPr>
          <p:cNvPr id="27" name="Footer – Seitennummer">
            <a:extLst>
              <a:ext uri="{FF2B5EF4-FFF2-40B4-BE49-F238E27FC236}">
                <a16:creationId xmlns:a16="http://schemas.microsoft.com/office/drawing/2014/main" id="{EB0C9849-A6B5-499B-80F1-7821E56A1AE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14</a:t>
            </a:r>
          </a:p>
        </p:txBody>
      </p:sp>
      <p:sp>
        <p:nvSpPr>
          <p:cNvPr id="28" name="Footer – Präsentationsangaben">
            <a:extLst>
              <a:ext uri="{FF2B5EF4-FFF2-40B4-BE49-F238E27FC236}">
                <a16:creationId xmlns:a16="http://schemas.microsoft.com/office/drawing/2014/main" id="{0C4F65AC-868F-4D4A-AB88-9C8B1DA4963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7838505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MLP und Neuronengleichung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18</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1000" name="Grafik 999"/>
          <p:cNvPicPr>
            <a:picLocks noChangeAspect="1"/>
          </p:cNvPicPr>
          <p:nvPr/>
        </p:nvPicPr>
        <p:blipFill>
          <a:blip r:embed="rId3"/>
          <a:stretch/>
        </p:blipFill>
        <p:spPr>
          <a:xfrm>
            <a:off x="571500" y="1645354"/>
            <a:ext cx="6838950" cy="2500491"/>
          </a:xfrm>
          <a:prstGeom prst="rect">
            <a:avLst/>
          </a:prstGeom>
        </p:spPr>
      </p:pic>
      <p:sp>
        <p:nvSpPr>
          <p:cNvPr id="1001" name="Rechteck 1000">
            <a:extLst>
              <a:ext uri="{FF2B5EF4-FFF2-40B4-BE49-F238E27FC236}">
                <a16:creationId xmlns:a16="http://schemas.microsoft.com/office/drawing/2014/main" id="{141439D8-252E-430A-83E2-DBC03EE46FC6}"/>
              </a:ext>
            </a:extLst>
          </p:cNvPr>
          <p:cNvSpPr>
            <a:spLocks noGrp="1"/>
          </p:cNvSpPr>
          <p:nvPr/>
        </p:nvSpPr>
        <p:spPr>
          <a:xfrm>
            <a:off x="7639050" y="1981200"/>
            <a:ext cx="2286000" cy="1952625"/>
          </a:xfrm>
          <a:prstGeom prst="rect">
            <a:avLst/>
          </a:prstGeom>
          <a:noFill/>
          <a:ln w="0">
            <a:noFill/>
          </a:ln>
        </p:spPr>
        <p:txBody>
          <a:bodyPr>
            <a:noAutofit/>
          </a:bodyPr>
          <a:lstStyle/>
          <a:p>
            <a:pPr>
              <a:defRPr sz="1725" b="0">
                <a:solidFill>
                  <a:srgbClr val="484848"/>
                </a:solidFill>
                <a:latin typeface="Calibri"/>
                <a:ea typeface="Calibri"/>
                <a:cs typeface="Calibri"/>
              </a:defRPr>
            </a:pPr>
            <a:r>
              <a:rPr sz="1725" b="0">
                <a:solidFill>
                  <a:srgbClr val="484848"/>
                </a:solidFill>
                <a:latin typeface="Calibri"/>
                <a:ea typeface="Calibri"/>
                <a:cs typeface="Calibri"/>
              </a:rPr>
              <a:t>W  Gewichte</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b  Bias</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z  gewichtete Summe</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a  Aktivierung</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ℓ  Schichtindex</a:t>
            </a:r>
          </a:p>
        </p:txBody>
      </p:sp>
      <p:pic>
        <p:nvPicPr>
          <p:cNvPr id="1002" name="Grafik 1001"/>
          <p:cNvPicPr>
            <a:picLocks noChangeAspect="1"/>
          </p:cNvPicPr>
          <p:nvPr/>
        </p:nvPicPr>
        <p:blipFill>
          <a:blip r:embed="rId4"/>
          <a:stretch/>
        </p:blipFill>
        <p:spPr>
          <a:xfrm>
            <a:off x="1205778" y="4457700"/>
            <a:ext cx="8065943" cy="438150"/>
          </a:xfrm>
          <a:prstGeom prst="rect">
            <a:avLst/>
          </a:prstGeom>
        </p:spPr>
      </p:pic>
      <p:pic>
        <p:nvPicPr>
          <p:cNvPr id="1003" name="Grafik 1002"/>
          <p:cNvPicPr>
            <a:picLocks noChangeAspect="1"/>
          </p:cNvPicPr>
          <p:nvPr/>
        </p:nvPicPr>
        <p:blipFill>
          <a:blip r:embed="rId5"/>
          <a:stretch/>
        </p:blipFill>
        <p:spPr>
          <a:xfrm>
            <a:off x="2878149" y="5029200"/>
            <a:ext cx="4721203" cy="762000"/>
          </a:xfrm>
          <a:prstGeom prst="rect">
            <a:avLst/>
          </a:prstGeom>
        </p:spPr>
      </p:pic>
    </p:spTree>
    <p:extLst>
      <p:ext uri="{BB962C8B-B14F-4D97-AF65-F5344CB8AC3E}">
        <p14:creationId xmlns:p14="http://schemas.microsoft.com/office/powerpoint/2010/main" val="15989129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Konkretes SOH-MLP aus Kapitel 5</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19</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1000" name="Grafik 999"/>
          <p:cNvPicPr>
            <a:picLocks noChangeAspect="1"/>
          </p:cNvPicPr>
          <p:nvPr/>
        </p:nvPicPr>
        <p:blipFill>
          <a:blip r:embed="rId3"/>
          <a:stretch/>
        </p:blipFill>
        <p:spPr>
          <a:xfrm>
            <a:off x="581025" y="1442966"/>
            <a:ext cx="9315450" cy="514493"/>
          </a:xfrm>
          <a:prstGeom prst="rect">
            <a:avLst/>
          </a:prstGeom>
        </p:spPr>
      </p:pic>
      <p:pic>
        <p:nvPicPr>
          <p:cNvPr id="1001" name="Grafik 1000"/>
          <p:cNvPicPr>
            <a:picLocks noChangeAspect="1"/>
          </p:cNvPicPr>
          <p:nvPr/>
        </p:nvPicPr>
        <p:blipFill>
          <a:blip r:embed="rId4"/>
          <a:stretch/>
        </p:blipFill>
        <p:spPr>
          <a:xfrm>
            <a:off x="1213880" y="2352675"/>
            <a:ext cx="3334865" cy="2476500"/>
          </a:xfrm>
          <a:prstGeom prst="rect">
            <a:avLst/>
          </a:prstGeom>
        </p:spPr>
      </p:pic>
      <p:sp>
        <p:nvSpPr>
          <p:cNvPr id="1002" name="Rechteck 1001">
            <a:extLst>
              <a:ext uri="{FF2B5EF4-FFF2-40B4-BE49-F238E27FC236}">
                <a16:creationId xmlns:a16="http://schemas.microsoft.com/office/drawing/2014/main" id="{7CA80025-0486-48CD-9D76-A15F25882B43}"/>
              </a:ext>
            </a:extLst>
          </p:cNvPr>
          <p:cNvSpPr>
            <a:spLocks noGrp="1"/>
          </p:cNvSpPr>
          <p:nvPr/>
        </p:nvSpPr>
        <p:spPr>
          <a:xfrm>
            <a:off x="619125" y="5076825"/>
            <a:ext cx="4619625" cy="76200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16 Lag-Schritte zu je 10 min</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64 Eingänge aus vier Merkmalen</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9 Hidden Layers und linearer Ausgang</a:t>
            </a:r>
          </a:p>
        </p:txBody>
      </p:sp>
      <p:graphicFrame>
        <p:nvGraphicFramePr>
          <p:cNvPr id="1003" name="Tabelle 1002"/>
          <p:cNvGraphicFramePr/>
          <p:nvPr/>
        </p:nvGraphicFramePr>
        <p:xfrm>
          <a:off x="5486400" y="2190750"/>
          <a:ext cx="4410075" cy="3590928"/>
        </p:xfrm>
        <a:graphic>
          <a:graphicData uri="http://schemas.openxmlformats.org/drawingml/2006/table">
            <a:tbl>
              <a:tblPr/>
              <a:tblGrid>
                <a:gridCol w="1047750">
                  <a:extLst>
                    <a:ext uri="{9D8B030D-6E8A-4147-A177-3AD203B41FA5}">
                      <a16:colId xmlns:a16="http://schemas.microsoft.com/office/drawing/2014/main" val="20000"/>
                    </a:ext>
                  </a:extLst>
                </a:gridCol>
                <a:gridCol w="1476375">
                  <a:extLst>
                    <a:ext uri="{9D8B030D-6E8A-4147-A177-3AD203B41FA5}">
                      <a16:colId xmlns:a16="http://schemas.microsoft.com/office/drawing/2014/main" val="20001"/>
                    </a:ext>
                  </a:extLst>
                </a:gridCol>
                <a:gridCol w="1885950">
                  <a:extLst>
                    <a:ext uri="{9D8B030D-6E8A-4147-A177-3AD203B41FA5}">
                      <a16:colId xmlns:a16="http://schemas.microsoft.com/office/drawing/2014/main" val="20002"/>
                    </a:ext>
                  </a:extLst>
                </a:gridCol>
              </a:tblGrid>
              <a:tr h="326448">
                <a:tc>
                  <a:txBody>
                    <a:bodyPr/>
                    <a:lstStyle/>
                    <a:p>
                      <a:r>
                        <a:rPr sz="1500" b="1">
                          <a:solidFill>
                            <a:srgbClr val="484848"/>
                          </a:solidFill>
                          <a:latin typeface="Calibri"/>
                          <a:ea typeface="Calibri"/>
                          <a:cs typeface="Calibri"/>
                        </a:rPr>
                        <a:t>Layer</a:t>
                      </a:r>
                    </a:p>
                  </a:txBody>
                  <a:tcPr>
                    <a:solidFill>
                      <a:srgbClr val="F0E4E7"/>
                    </a:solidFill>
                  </a:tcPr>
                </a:tc>
                <a:tc>
                  <a:txBody>
                    <a:bodyPr/>
                    <a:lstStyle/>
                    <a:p>
                      <a:r>
                        <a:rPr sz="1500" b="1">
                          <a:solidFill>
                            <a:srgbClr val="484848"/>
                          </a:solidFill>
                          <a:latin typeface="Calibri"/>
                          <a:ea typeface="Calibri"/>
                          <a:cs typeface="Calibri"/>
                        </a:rPr>
                        <a:t>Neuronen</a:t>
                      </a:r>
                    </a:p>
                  </a:txBody>
                  <a:tcPr>
                    <a:solidFill>
                      <a:srgbClr val="F0E4E7"/>
                    </a:solidFill>
                  </a:tcPr>
                </a:tc>
                <a:tc>
                  <a:txBody>
                    <a:bodyPr/>
                    <a:lstStyle/>
                    <a:p>
                      <a:r>
                        <a:rPr sz="1500" b="1">
                          <a:solidFill>
                            <a:srgbClr val="484848"/>
                          </a:solidFill>
                          <a:latin typeface="Calibri"/>
                          <a:ea typeface="Calibri"/>
                          <a:cs typeface="Calibri"/>
                        </a:rPr>
                        <a:t>Aktivierung</a:t>
                      </a:r>
                    </a:p>
                  </a:txBody>
                  <a:tcPr>
                    <a:solidFill>
                      <a:srgbClr val="F0E4E7"/>
                    </a:solidFill>
                  </a:tcPr>
                </a:tc>
                <a:extLst>
                  <a:ext uri="{0D108BD9-81ED-4DB2-BD59-A6C34878D82A}">
                    <a16:rowId xmlns:a16="http://schemas.microsoft.com/office/drawing/2014/main" val="10000"/>
                  </a:ext>
                </a:extLst>
              </a:tr>
              <a:tr h="326448">
                <a:tc>
                  <a:txBody>
                    <a:bodyPr/>
                    <a:lstStyle/>
                    <a:p>
                      <a:r>
                        <a:rPr sz="1500" b="0">
                          <a:solidFill>
                            <a:srgbClr val="484848"/>
                          </a:solidFill>
                          <a:latin typeface="Calibri"/>
                          <a:ea typeface="Calibri"/>
                          <a:cs typeface="Calibri"/>
                        </a:rPr>
                        <a:t>0</a:t>
                      </a:r>
                    </a:p>
                  </a:txBody>
                  <a:tcPr>
                    <a:solidFill>
                      <a:srgbClr val="FFFFFF"/>
                    </a:solidFill>
                  </a:tcPr>
                </a:tc>
                <a:tc>
                  <a:txBody>
                    <a:bodyPr/>
                    <a:lstStyle/>
                    <a:p>
                      <a:r>
                        <a:rPr sz="1500" b="0">
                          <a:solidFill>
                            <a:srgbClr val="484848"/>
                          </a:solidFill>
                          <a:latin typeface="Calibri"/>
                          <a:ea typeface="Calibri"/>
                          <a:cs typeface="Calibri"/>
                        </a:rPr>
                        <a:t>128</a:t>
                      </a:r>
                    </a:p>
                  </a:txBody>
                  <a:tcPr>
                    <a:solidFill>
                      <a:srgbClr val="FFFFFF"/>
                    </a:solidFill>
                  </a:tcPr>
                </a:tc>
                <a:tc>
                  <a:txBody>
                    <a:bodyPr/>
                    <a:lstStyle/>
                    <a:p>
                      <a:r>
                        <a:rPr sz="1500" b="0">
                          <a:solidFill>
                            <a:srgbClr val="484848"/>
                          </a:solidFill>
                          <a:latin typeface="Calibri"/>
                          <a:ea typeface="Calibri"/>
                          <a:cs typeface="Calibri"/>
                        </a:rPr>
                        <a:t>ReLU</a:t>
                      </a:r>
                    </a:p>
                  </a:txBody>
                  <a:tcPr>
                    <a:solidFill>
                      <a:srgbClr val="FFFFFF"/>
                    </a:solidFill>
                  </a:tcPr>
                </a:tc>
                <a:extLst>
                  <a:ext uri="{0D108BD9-81ED-4DB2-BD59-A6C34878D82A}">
                    <a16:rowId xmlns:a16="http://schemas.microsoft.com/office/drawing/2014/main" val="10001"/>
                  </a:ext>
                </a:extLst>
              </a:tr>
              <a:tr h="326448">
                <a:tc>
                  <a:txBody>
                    <a:bodyPr/>
                    <a:lstStyle/>
                    <a:p>
                      <a:r>
                        <a:rPr sz="1500" b="0">
                          <a:solidFill>
                            <a:srgbClr val="484848"/>
                          </a:solidFill>
                          <a:latin typeface="Calibri"/>
                          <a:ea typeface="Calibri"/>
                          <a:cs typeface="Calibri"/>
                        </a:rPr>
                        <a:t>1</a:t>
                      </a:r>
                    </a:p>
                  </a:txBody>
                  <a:tcPr>
                    <a:solidFill>
                      <a:srgbClr val="F4F4F4"/>
                    </a:solidFill>
                  </a:tcPr>
                </a:tc>
                <a:tc>
                  <a:txBody>
                    <a:bodyPr/>
                    <a:lstStyle/>
                    <a:p>
                      <a:r>
                        <a:rPr sz="1500" b="0">
                          <a:solidFill>
                            <a:srgbClr val="484848"/>
                          </a:solidFill>
                          <a:latin typeface="Calibri"/>
                          <a:ea typeface="Calibri"/>
                          <a:cs typeface="Calibri"/>
                        </a:rPr>
                        <a:t>256</a:t>
                      </a:r>
                    </a:p>
                  </a:txBody>
                  <a:tcPr>
                    <a:solidFill>
                      <a:srgbClr val="F4F4F4"/>
                    </a:solidFill>
                  </a:tcPr>
                </a:tc>
                <a:tc>
                  <a:txBody>
                    <a:bodyPr/>
                    <a:lstStyle/>
                    <a:p>
                      <a:r>
                        <a:rPr sz="1500" b="0">
                          <a:solidFill>
                            <a:srgbClr val="484848"/>
                          </a:solidFill>
                          <a:latin typeface="Calibri"/>
                          <a:ea typeface="Calibri"/>
                          <a:cs typeface="Calibri"/>
                        </a:rPr>
                        <a:t>ReLU</a:t>
                      </a:r>
                    </a:p>
                  </a:txBody>
                  <a:tcPr>
                    <a:solidFill>
                      <a:srgbClr val="F4F4F4"/>
                    </a:solidFill>
                  </a:tcPr>
                </a:tc>
                <a:extLst>
                  <a:ext uri="{0D108BD9-81ED-4DB2-BD59-A6C34878D82A}">
                    <a16:rowId xmlns:a16="http://schemas.microsoft.com/office/drawing/2014/main" val="10002"/>
                  </a:ext>
                </a:extLst>
              </a:tr>
              <a:tr h="326448">
                <a:tc>
                  <a:txBody>
                    <a:bodyPr/>
                    <a:lstStyle/>
                    <a:p>
                      <a:r>
                        <a:rPr sz="1500" b="0">
                          <a:solidFill>
                            <a:srgbClr val="484848"/>
                          </a:solidFill>
                          <a:latin typeface="Calibri"/>
                          <a:ea typeface="Calibri"/>
                          <a:cs typeface="Calibri"/>
                        </a:rPr>
                        <a:t>2</a:t>
                      </a:r>
                    </a:p>
                  </a:txBody>
                  <a:tcPr>
                    <a:solidFill>
                      <a:srgbClr val="FFFFFF"/>
                    </a:solidFill>
                  </a:tcPr>
                </a:tc>
                <a:tc>
                  <a:txBody>
                    <a:bodyPr/>
                    <a:lstStyle/>
                    <a:p>
                      <a:r>
                        <a:rPr sz="1500" b="0">
                          <a:solidFill>
                            <a:srgbClr val="484848"/>
                          </a:solidFill>
                          <a:latin typeface="Calibri"/>
                          <a:ea typeface="Calibri"/>
                          <a:cs typeface="Calibri"/>
                        </a:rPr>
                        <a:t>256</a:t>
                      </a:r>
                    </a:p>
                  </a:txBody>
                  <a:tcPr>
                    <a:solidFill>
                      <a:srgbClr val="FFFFFF"/>
                    </a:solidFill>
                  </a:tcPr>
                </a:tc>
                <a:tc>
                  <a:txBody>
                    <a:bodyPr/>
                    <a:lstStyle/>
                    <a:p>
                      <a:r>
                        <a:rPr sz="1500" b="0">
                          <a:solidFill>
                            <a:srgbClr val="484848"/>
                          </a:solidFill>
                          <a:latin typeface="Calibri"/>
                          <a:ea typeface="Calibri"/>
                          <a:cs typeface="Calibri"/>
                        </a:rPr>
                        <a:t>ReLU</a:t>
                      </a:r>
                    </a:p>
                  </a:txBody>
                  <a:tcPr>
                    <a:solidFill>
                      <a:srgbClr val="FFFFFF"/>
                    </a:solidFill>
                  </a:tcPr>
                </a:tc>
                <a:extLst>
                  <a:ext uri="{0D108BD9-81ED-4DB2-BD59-A6C34878D82A}">
                    <a16:rowId xmlns:a16="http://schemas.microsoft.com/office/drawing/2014/main" val="10003"/>
                  </a:ext>
                </a:extLst>
              </a:tr>
              <a:tr h="326448">
                <a:tc>
                  <a:txBody>
                    <a:bodyPr/>
                    <a:lstStyle/>
                    <a:p>
                      <a:r>
                        <a:rPr sz="1500" b="0">
                          <a:solidFill>
                            <a:srgbClr val="484848"/>
                          </a:solidFill>
                          <a:latin typeface="Calibri"/>
                          <a:ea typeface="Calibri"/>
                          <a:cs typeface="Calibri"/>
                        </a:rPr>
                        <a:t>3</a:t>
                      </a:r>
                    </a:p>
                  </a:txBody>
                  <a:tcPr>
                    <a:solidFill>
                      <a:srgbClr val="F4F4F4"/>
                    </a:solidFill>
                  </a:tcPr>
                </a:tc>
                <a:tc>
                  <a:txBody>
                    <a:bodyPr/>
                    <a:lstStyle/>
                    <a:p>
                      <a:r>
                        <a:rPr sz="1500" b="0">
                          <a:solidFill>
                            <a:srgbClr val="484848"/>
                          </a:solidFill>
                          <a:latin typeface="Calibri"/>
                          <a:ea typeface="Calibri"/>
                          <a:cs typeface="Calibri"/>
                        </a:rPr>
                        <a:t>256</a:t>
                      </a:r>
                    </a:p>
                  </a:txBody>
                  <a:tcPr>
                    <a:solidFill>
                      <a:srgbClr val="F4F4F4"/>
                    </a:solidFill>
                  </a:tcPr>
                </a:tc>
                <a:tc>
                  <a:txBody>
                    <a:bodyPr/>
                    <a:lstStyle/>
                    <a:p>
                      <a:r>
                        <a:rPr sz="1500" b="0">
                          <a:solidFill>
                            <a:srgbClr val="484848"/>
                          </a:solidFill>
                          <a:latin typeface="Calibri"/>
                          <a:ea typeface="Calibri"/>
                          <a:cs typeface="Calibri"/>
                        </a:rPr>
                        <a:t>ReLU</a:t>
                      </a:r>
                    </a:p>
                  </a:txBody>
                  <a:tcPr>
                    <a:solidFill>
                      <a:srgbClr val="F4F4F4"/>
                    </a:solidFill>
                  </a:tcPr>
                </a:tc>
                <a:extLst>
                  <a:ext uri="{0D108BD9-81ED-4DB2-BD59-A6C34878D82A}">
                    <a16:rowId xmlns:a16="http://schemas.microsoft.com/office/drawing/2014/main" val="10004"/>
                  </a:ext>
                </a:extLst>
              </a:tr>
              <a:tr h="326448">
                <a:tc>
                  <a:txBody>
                    <a:bodyPr/>
                    <a:lstStyle/>
                    <a:p>
                      <a:r>
                        <a:rPr sz="1500" b="0">
                          <a:solidFill>
                            <a:srgbClr val="484848"/>
                          </a:solidFill>
                          <a:latin typeface="Calibri"/>
                          <a:ea typeface="Calibri"/>
                          <a:cs typeface="Calibri"/>
                        </a:rPr>
                        <a:t>4</a:t>
                      </a:r>
                    </a:p>
                  </a:txBody>
                  <a:tcPr>
                    <a:solidFill>
                      <a:srgbClr val="FFFFFF"/>
                    </a:solidFill>
                  </a:tcPr>
                </a:tc>
                <a:tc>
                  <a:txBody>
                    <a:bodyPr/>
                    <a:lstStyle/>
                    <a:p>
                      <a:r>
                        <a:rPr sz="1500" b="0">
                          <a:solidFill>
                            <a:srgbClr val="484848"/>
                          </a:solidFill>
                          <a:latin typeface="Calibri"/>
                          <a:ea typeface="Calibri"/>
                          <a:cs typeface="Calibri"/>
                        </a:rPr>
                        <a:t>128</a:t>
                      </a:r>
                    </a:p>
                  </a:txBody>
                  <a:tcPr>
                    <a:solidFill>
                      <a:srgbClr val="FFFFFF"/>
                    </a:solidFill>
                  </a:tcPr>
                </a:tc>
                <a:tc>
                  <a:txBody>
                    <a:bodyPr/>
                    <a:lstStyle/>
                    <a:p>
                      <a:r>
                        <a:rPr sz="1500" b="0">
                          <a:solidFill>
                            <a:srgbClr val="484848"/>
                          </a:solidFill>
                          <a:latin typeface="Calibri"/>
                          <a:ea typeface="Calibri"/>
                          <a:cs typeface="Calibri"/>
                        </a:rPr>
                        <a:t>ReLU</a:t>
                      </a:r>
                    </a:p>
                  </a:txBody>
                  <a:tcPr>
                    <a:solidFill>
                      <a:srgbClr val="FFFFFF"/>
                    </a:solidFill>
                  </a:tcPr>
                </a:tc>
                <a:extLst>
                  <a:ext uri="{0D108BD9-81ED-4DB2-BD59-A6C34878D82A}">
                    <a16:rowId xmlns:a16="http://schemas.microsoft.com/office/drawing/2014/main" val="10005"/>
                  </a:ext>
                </a:extLst>
              </a:tr>
              <a:tr h="326448">
                <a:tc>
                  <a:txBody>
                    <a:bodyPr/>
                    <a:lstStyle/>
                    <a:p>
                      <a:r>
                        <a:rPr sz="1500" b="0">
                          <a:solidFill>
                            <a:srgbClr val="484848"/>
                          </a:solidFill>
                          <a:latin typeface="Calibri"/>
                          <a:ea typeface="Calibri"/>
                          <a:cs typeface="Calibri"/>
                        </a:rPr>
                        <a:t>5</a:t>
                      </a:r>
                    </a:p>
                  </a:txBody>
                  <a:tcPr>
                    <a:solidFill>
                      <a:srgbClr val="F4F4F4"/>
                    </a:solidFill>
                  </a:tcPr>
                </a:tc>
                <a:tc>
                  <a:txBody>
                    <a:bodyPr/>
                    <a:lstStyle/>
                    <a:p>
                      <a:r>
                        <a:rPr sz="1500" b="0">
                          <a:solidFill>
                            <a:srgbClr val="484848"/>
                          </a:solidFill>
                          <a:latin typeface="Calibri"/>
                          <a:ea typeface="Calibri"/>
                          <a:cs typeface="Calibri"/>
                        </a:rPr>
                        <a:t>512</a:t>
                      </a:r>
                    </a:p>
                  </a:txBody>
                  <a:tcPr>
                    <a:solidFill>
                      <a:srgbClr val="F4F4F4"/>
                    </a:solidFill>
                  </a:tcPr>
                </a:tc>
                <a:tc>
                  <a:txBody>
                    <a:bodyPr/>
                    <a:lstStyle/>
                    <a:p>
                      <a:r>
                        <a:rPr sz="1500" b="0">
                          <a:solidFill>
                            <a:srgbClr val="484848"/>
                          </a:solidFill>
                          <a:latin typeface="Calibri"/>
                          <a:ea typeface="Calibri"/>
                          <a:cs typeface="Calibri"/>
                        </a:rPr>
                        <a:t>ReLU</a:t>
                      </a:r>
                    </a:p>
                  </a:txBody>
                  <a:tcPr>
                    <a:solidFill>
                      <a:srgbClr val="F4F4F4"/>
                    </a:solidFill>
                  </a:tcPr>
                </a:tc>
                <a:extLst>
                  <a:ext uri="{0D108BD9-81ED-4DB2-BD59-A6C34878D82A}">
                    <a16:rowId xmlns:a16="http://schemas.microsoft.com/office/drawing/2014/main" val="10006"/>
                  </a:ext>
                </a:extLst>
              </a:tr>
              <a:tr h="326448">
                <a:tc>
                  <a:txBody>
                    <a:bodyPr/>
                    <a:lstStyle/>
                    <a:p>
                      <a:r>
                        <a:rPr sz="1500" b="0">
                          <a:solidFill>
                            <a:srgbClr val="484848"/>
                          </a:solidFill>
                          <a:latin typeface="Calibri"/>
                          <a:ea typeface="Calibri"/>
                          <a:cs typeface="Calibri"/>
                        </a:rPr>
                        <a:t>6</a:t>
                      </a:r>
                    </a:p>
                  </a:txBody>
                  <a:tcPr>
                    <a:solidFill>
                      <a:srgbClr val="FFFFFF"/>
                    </a:solidFill>
                  </a:tcPr>
                </a:tc>
                <a:tc>
                  <a:txBody>
                    <a:bodyPr/>
                    <a:lstStyle/>
                    <a:p>
                      <a:r>
                        <a:rPr sz="1500" b="0">
                          <a:solidFill>
                            <a:srgbClr val="484848"/>
                          </a:solidFill>
                          <a:latin typeface="Calibri"/>
                          <a:ea typeface="Calibri"/>
                          <a:cs typeface="Calibri"/>
                        </a:rPr>
                        <a:t>128</a:t>
                      </a:r>
                    </a:p>
                  </a:txBody>
                  <a:tcPr>
                    <a:solidFill>
                      <a:srgbClr val="FFFFFF"/>
                    </a:solidFill>
                  </a:tcPr>
                </a:tc>
                <a:tc>
                  <a:txBody>
                    <a:bodyPr/>
                    <a:lstStyle/>
                    <a:p>
                      <a:r>
                        <a:rPr sz="1500" b="0">
                          <a:solidFill>
                            <a:srgbClr val="484848"/>
                          </a:solidFill>
                          <a:latin typeface="Calibri"/>
                          <a:ea typeface="Calibri"/>
                          <a:cs typeface="Calibri"/>
                        </a:rPr>
                        <a:t>ReLU</a:t>
                      </a:r>
                    </a:p>
                  </a:txBody>
                  <a:tcPr>
                    <a:solidFill>
                      <a:srgbClr val="FFFFFF"/>
                    </a:solidFill>
                  </a:tcPr>
                </a:tc>
                <a:extLst>
                  <a:ext uri="{0D108BD9-81ED-4DB2-BD59-A6C34878D82A}">
                    <a16:rowId xmlns:a16="http://schemas.microsoft.com/office/drawing/2014/main" val="10007"/>
                  </a:ext>
                </a:extLst>
              </a:tr>
              <a:tr h="326448">
                <a:tc>
                  <a:txBody>
                    <a:bodyPr/>
                    <a:lstStyle/>
                    <a:p>
                      <a:r>
                        <a:rPr sz="1500" b="0">
                          <a:solidFill>
                            <a:srgbClr val="484848"/>
                          </a:solidFill>
                          <a:latin typeface="Calibri"/>
                          <a:ea typeface="Calibri"/>
                          <a:cs typeface="Calibri"/>
                        </a:rPr>
                        <a:t>7</a:t>
                      </a:r>
                    </a:p>
                  </a:txBody>
                  <a:tcPr>
                    <a:solidFill>
                      <a:srgbClr val="F4F4F4"/>
                    </a:solidFill>
                  </a:tcPr>
                </a:tc>
                <a:tc>
                  <a:txBody>
                    <a:bodyPr/>
                    <a:lstStyle/>
                    <a:p>
                      <a:r>
                        <a:rPr sz="1500" b="0">
                          <a:solidFill>
                            <a:srgbClr val="484848"/>
                          </a:solidFill>
                          <a:latin typeface="Calibri"/>
                          <a:ea typeface="Calibri"/>
                          <a:cs typeface="Calibri"/>
                        </a:rPr>
                        <a:t>256</a:t>
                      </a:r>
                    </a:p>
                  </a:txBody>
                  <a:tcPr>
                    <a:solidFill>
                      <a:srgbClr val="F4F4F4"/>
                    </a:solidFill>
                  </a:tcPr>
                </a:tc>
                <a:tc>
                  <a:txBody>
                    <a:bodyPr/>
                    <a:lstStyle/>
                    <a:p>
                      <a:r>
                        <a:rPr sz="1500" b="0">
                          <a:solidFill>
                            <a:srgbClr val="484848"/>
                          </a:solidFill>
                          <a:latin typeface="Calibri"/>
                          <a:ea typeface="Calibri"/>
                          <a:cs typeface="Calibri"/>
                        </a:rPr>
                        <a:t>ReLU</a:t>
                      </a:r>
                    </a:p>
                  </a:txBody>
                  <a:tcPr>
                    <a:solidFill>
                      <a:srgbClr val="F4F4F4"/>
                    </a:solidFill>
                  </a:tcPr>
                </a:tc>
                <a:extLst>
                  <a:ext uri="{0D108BD9-81ED-4DB2-BD59-A6C34878D82A}">
                    <a16:rowId xmlns:a16="http://schemas.microsoft.com/office/drawing/2014/main" val="10008"/>
                  </a:ext>
                </a:extLst>
              </a:tr>
              <a:tr h="326448">
                <a:tc>
                  <a:txBody>
                    <a:bodyPr/>
                    <a:lstStyle/>
                    <a:p>
                      <a:r>
                        <a:rPr sz="1500" b="0">
                          <a:solidFill>
                            <a:srgbClr val="484848"/>
                          </a:solidFill>
                          <a:latin typeface="Calibri"/>
                          <a:ea typeface="Calibri"/>
                          <a:cs typeface="Calibri"/>
                        </a:rPr>
                        <a:t>8</a:t>
                      </a:r>
                    </a:p>
                  </a:txBody>
                  <a:tcPr>
                    <a:solidFill>
                      <a:srgbClr val="FFFFFF"/>
                    </a:solidFill>
                  </a:tcPr>
                </a:tc>
                <a:tc>
                  <a:txBody>
                    <a:bodyPr/>
                    <a:lstStyle/>
                    <a:p>
                      <a:r>
                        <a:rPr sz="1500" b="0">
                          <a:solidFill>
                            <a:srgbClr val="484848"/>
                          </a:solidFill>
                          <a:latin typeface="Calibri"/>
                          <a:ea typeface="Calibri"/>
                          <a:cs typeface="Calibri"/>
                        </a:rPr>
                        <a:t>256</a:t>
                      </a:r>
                    </a:p>
                  </a:txBody>
                  <a:tcPr>
                    <a:solidFill>
                      <a:srgbClr val="FFFFFF"/>
                    </a:solidFill>
                  </a:tcPr>
                </a:tc>
                <a:tc>
                  <a:txBody>
                    <a:bodyPr/>
                    <a:lstStyle/>
                    <a:p>
                      <a:r>
                        <a:rPr sz="1500" b="0">
                          <a:solidFill>
                            <a:srgbClr val="484848"/>
                          </a:solidFill>
                          <a:latin typeface="Calibri"/>
                          <a:ea typeface="Calibri"/>
                          <a:cs typeface="Calibri"/>
                        </a:rPr>
                        <a:t>ReLU</a:t>
                      </a:r>
                    </a:p>
                  </a:txBody>
                  <a:tcPr>
                    <a:solidFill>
                      <a:srgbClr val="FFFFFF"/>
                    </a:solidFill>
                  </a:tcPr>
                </a:tc>
                <a:extLst>
                  <a:ext uri="{0D108BD9-81ED-4DB2-BD59-A6C34878D82A}">
                    <a16:rowId xmlns:a16="http://schemas.microsoft.com/office/drawing/2014/main" val="10009"/>
                  </a:ext>
                </a:extLst>
              </a:tr>
              <a:tr h="326448">
                <a:tc>
                  <a:txBody>
                    <a:bodyPr/>
                    <a:lstStyle/>
                    <a:p>
                      <a:r>
                        <a:rPr sz="1500" b="0">
                          <a:solidFill>
                            <a:srgbClr val="484848"/>
                          </a:solidFill>
                          <a:latin typeface="Calibri"/>
                          <a:ea typeface="Calibri"/>
                          <a:cs typeface="Calibri"/>
                        </a:rPr>
                        <a:t>9</a:t>
                      </a:r>
                    </a:p>
                  </a:txBody>
                  <a:tcPr>
                    <a:solidFill>
                      <a:srgbClr val="F4F4F4"/>
                    </a:solidFill>
                  </a:tcPr>
                </a:tc>
                <a:tc>
                  <a:txBody>
                    <a:bodyPr/>
                    <a:lstStyle/>
                    <a:p>
                      <a:r>
                        <a:rPr sz="1500" b="0">
                          <a:solidFill>
                            <a:srgbClr val="484848"/>
                          </a:solidFill>
                          <a:latin typeface="Calibri"/>
                          <a:ea typeface="Calibri"/>
                          <a:cs typeface="Calibri"/>
                        </a:rPr>
                        <a:t>1</a:t>
                      </a:r>
                    </a:p>
                  </a:txBody>
                  <a:tcPr>
                    <a:solidFill>
                      <a:srgbClr val="F4F4F4"/>
                    </a:solidFill>
                  </a:tcPr>
                </a:tc>
                <a:tc>
                  <a:txBody>
                    <a:bodyPr/>
                    <a:lstStyle/>
                    <a:p>
                      <a:r>
                        <a:rPr sz="1500" b="0">
                          <a:solidFill>
                            <a:srgbClr val="484848"/>
                          </a:solidFill>
                          <a:latin typeface="Calibri"/>
                          <a:ea typeface="Calibri"/>
                          <a:cs typeface="Calibri"/>
                        </a:rPr>
                        <a:t>Linear</a:t>
                      </a:r>
                    </a:p>
                  </a:txBody>
                  <a:tcPr>
                    <a:solidFill>
                      <a:srgbClr val="F4F4F4"/>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5989129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GRU und MLP-Head aus Kapitel 6</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20</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1000" name="Grafik 999"/>
          <p:cNvPicPr>
            <a:picLocks noChangeAspect="1"/>
          </p:cNvPicPr>
          <p:nvPr/>
        </p:nvPicPr>
        <p:blipFill>
          <a:blip r:embed="rId3"/>
          <a:stretch/>
        </p:blipFill>
        <p:spPr>
          <a:xfrm>
            <a:off x="2641865" y="1533525"/>
            <a:ext cx="5193771" cy="619125"/>
          </a:xfrm>
          <a:prstGeom prst="rect">
            <a:avLst/>
          </a:prstGeom>
        </p:spPr>
      </p:pic>
      <p:sp>
        <p:nvSpPr>
          <p:cNvPr id="1001" name="Rechteck 1000">
            <a:extLst>
              <a:ext uri="{FF2B5EF4-FFF2-40B4-BE49-F238E27FC236}">
                <a16:creationId xmlns:a16="http://schemas.microsoft.com/office/drawing/2014/main" id="{6F599373-E0AC-4E74-A094-519F1B79555D}"/>
              </a:ext>
            </a:extLst>
          </p:cNvPr>
          <p:cNvSpPr>
            <a:spLocks noGrp="1"/>
          </p:cNvSpPr>
          <p:nvPr/>
        </p:nvSpPr>
        <p:spPr>
          <a:xfrm>
            <a:off x="600075" y="2581275"/>
            <a:ext cx="1866900" cy="1123950"/>
          </a:xfrm>
          <a:prstGeom prst="rect">
            <a:avLst/>
          </a:prstGeom>
          <a:solidFill>
            <a:srgbClr val="F5F5F5"/>
          </a:solidFill>
          <a:ln w="11430">
            <a:solidFill>
              <a:srgbClr val="484848"/>
            </a:solidFill>
          </a:ln>
        </p:spPr>
        <p:txBody>
          <a:bodyPr/>
          <a:lstStyle/>
          <a:p>
            <a:endParaRPr lang="de-DE"/>
          </a:p>
        </p:txBody>
      </p:sp>
      <p:sp>
        <p:nvSpPr>
          <p:cNvPr id="1002" name="Rechteck 1001">
            <a:extLst>
              <a:ext uri="{FF2B5EF4-FFF2-40B4-BE49-F238E27FC236}">
                <a16:creationId xmlns:a16="http://schemas.microsoft.com/office/drawing/2014/main" id="{FA98827D-E72E-4FAE-B885-49A41C63C256}"/>
              </a:ext>
            </a:extLst>
          </p:cNvPr>
          <p:cNvSpPr>
            <a:spLocks noGrp="1"/>
          </p:cNvSpPr>
          <p:nvPr/>
        </p:nvSpPr>
        <p:spPr>
          <a:xfrm>
            <a:off x="714375" y="2705100"/>
            <a:ext cx="1638300" cy="91440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Eingang</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8 Merkmale</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L = 2024</a:t>
            </a:r>
          </a:p>
        </p:txBody>
      </p:sp>
      <p:sp>
        <p:nvSpPr>
          <p:cNvPr id="1003" name="Pfeil: nach rechts 1002">
            <a:extLst>
              <a:ext uri="{FF2B5EF4-FFF2-40B4-BE49-F238E27FC236}">
                <a16:creationId xmlns:a16="http://schemas.microsoft.com/office/drawing/2014/main" id="{030DFBB6-A615-4FDB-98C4-B086FC454085}"/>
              </a:ext>
            </a:extLst>
          </p:cNvPr>
          <p:cNvSpPr>
            <a:spLocks noGrp="1"/>
          </p:cNvSpPr>
          <p:nvPr/>
        </p:nvSpPr>
        <p:spPr>
          <a:xfrm>
            <a:off x="2543175" y="3057525"/>
            <a:ext cx="266700" cy="152400"/>
          </a:xfrm>
          <a:prstGeom prst="rightArrow">
            <a:avLst/>
          </a:prstGeom>
          <a:solidFill>
            <a:srgbClr val="484848"/>
          </a:solidFill>
          <a:ln w="0">
            <a:solidFill>
              <a:srgbClr val="484848"/>
            </a:solidFill>
          </a:ln>
        </p:spPr>
        <p:txBody>
          <a:bodyPr/>
          <a:lstStyle/>
          <a:p>
            <a:endParaRPr lang="de-DE"/>
          </a:p>
        </p:txBody>
      </p:sp>
      <p:sp>
        <p:nvSpPr>
          <p:cNvPr id="1004" name="Rechteck 1003">
            <a:extLst>
              <a:ext uri="{FF2B5EF4-FFF2-40B4-BE49-F238E27FC236}">
                <a16:creationId xmlns:a16="http://schemas.microsoft.com/office/drawing/2014/main" id="{45C44789-06BD-4B75-8D93-9185C76A0E6C}"/>
              </a:ext>
            </a:extLst>
          </p:cNvPr>
          <p:cNvSpPr>
            <a:spLocks noGrp="1"/>
          </p:cNvSpPr>
          <p:nvPr/>
        </p:nvSpPr>
        <p:spPr>
          <a:xfrm>
            <a:off x="2895600" y="2581275"/>
            <a:ext cx="1905000" cy="1123950"/>
          </a:xfrm>
          <a:prstGeom prst="rect">
            <a:avLst/>
          </a:prstGeom>
          <a:solidFill>
            <a:srgbClr val="F5F5F5"/>
          </a:solidFill>
          <a:ln w="11430">
            <a:solidFill>
              <a:srgbClr val="484848"/>
            </a:solidFill>
          </a:ln>
        </p:spPr>
        <p:txBody>
          <a:bodyPr/>
          <a:lstStyle/>
          <a:p>
            <a:endParaRPr lang="de-DE"/>
          </a:p>
        </p:txBody>
      </p:sp>
      <p:sp>
        <p:nvSpPr>
          <p:cNvPr id="1005" name="Rechteck 1004">
            <a:extLst>
              <a:ext uri="{FF2B5EF4-FFF2-40B4-BE49-F238E27FC236}">
                <a16:creationId xmlns:a16="http://schemas.microsoft.com/office/drawing/2014/main" id="{ADCD2464-3D62-404F-B046-02CBCA54A798}"/>
              </a:ext>
            </a:extLst>
          </p:cNvPr>
          <p:cNvSpPr>
            <a:spLocks noGrp="1"/>
          </p:cNvSpPr>
          <p:nvPr/>
        </p:nvSpPr>
        <p:spPr>
          <a:xfrm>
            <a:off x="3009900" y="2705100"/>
            <a:ext cx="1676400" cy="91440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GRU</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1 Layer</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H = 67</a:t>
            </a:r>
          </a:p>
        </p:txBody>
      </p:sp>
      <p:sp>
        <p:nvSpPr>
          <p:cNvPr id="1006" name="Pfeil: nach rechts 1005">
            <a:extLst>
              <a:ext uri="{FF2B5EF4-FFF2-40B4-BE49-F238E27FC236}">
                <a16:creationId xmlns:a16="http://schemas.microsoft.com/office/drawing/2014/main" id="{A8A9E66F-9403-4991-99CC-3CC9A0456E55}"/>
              </a:ext>
            </a:extLst>
          </p:cNvPr>
          <p:cNvSpPr>
            <a:spLocks noGrp="1"/>
          </p:cNvSpPr>
          <p:nvPr/>
        </p:nvSpPr>
        <p:spPr>
          <a:xfrm>
            <a:off x="4876800" y="3057525"/>
            <a:ext cx="266700" cy="152400"/>
          </a:xfrm>
          <a:prstGeom prst="rightArrow">
            <a:avLst/>
          </a:prstGeom>
          <a:solidFill>
            <a:srgbClr val="484848"/>
          </a:solidFill>
          <a:ln w="0">
            <a:solidFill>
              <a:srgbClr val="484848"/>
            </a:solidFill>
          </a:ln>
        </p:spPr>
        <p:txBody>
          <a:bodyPr/>
          <a:lstStyle/>
          <a:p>
            <a:endParaRPr lang="de-DE"/>
          </a:p>
        </p:txBody>
      </p:sp>
      <p:sp>
        <p:nvSpPr>
          <p:cNvPr id="1007" name="Rechteck 1006">
            <a:extLst>
              <a:ext uri="{FF2B5EF4-FFF2-40B4-BE49-F238E27FC236}">
                <a16:creationId xmlns:a16="http://schemas.microsoft.com/office/drawing/2014/main" id="{99DE34DF-9BC3-4168-B5F2-533D6DB023FD}"/>
              </a:ext>
            </a:extLst>
          </p:cNvPr>
          <p:cNvSpPr>
            <a:spLocks noGrp="1"/>
          </p:cNvSpPr>
          <p:nvPr/>
        </p:nvSpPr>
        <p:spPr>
          <a:xfrm>
            <a:off x="5229225" y="2581275"/>
            <a:ext cx="2057400" cy="1123950"/>
          </a:xfrm>
          <a:prstGeom prst="rect">
            <a:avLst/>
          </a:prstGeom>
          <a:solidFill>
            <a:srgbClr val="F5F5F5"/>
          </a:solidFill>
          <a:ln w="11430">
            <a:solidFill>
              <a:srgbClr val="484848"/>
            </a:solidFill>
          </a:ln>
        </p:spPr>
        <p:txBody>
          <a:bodyPr/>
          <a:lstStyle/>
          <a:p>
            <a:endParaRPr lang="de-DE"/>
          </a:p>
        </p:txBody>
      </p:sp>
      <p:sp>
        <p:nvSpPr>
          <p:cNvPr id="1008" name="Rechteck 1007">
            <a:extLst>
              <a:ext uri="{FF2B5EF4-FFF2-40B4-BE49-F238E27FC236}">
                <a16:creationId xmlns:a16="http://schemas.microsoft.com/office/drawing/2014/main" id="{F3ECC1C4-5B68-4504-904F-31F5B2C8C534}"/>
              </a:ext>
            </a:extLst>
          </p:cNvPr>
          <p:cNvSpPr>
            <a:spLocks noGrp="1"/>
          </p:cNvSpPr>
          <p:nvPr/>
        </p:nvSpPr>
        <p:spPr>
          <a:xfrm>
            <a:off x="5343525" y="2705100"/>
            <a:ext cx="1828800" cy="91440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MLP-Head</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67 → 96</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ReLU</a:t>
            </a:r>
          </a:p>
        </p:txBody>
      </p:sp>
      <p:sp>
        <p:nvSpPr>
          <p:cNvPr id="1009" name="Pfeil: nach rechts 1008">
            <a:extLst>
              <a:ext uri="{FF2B5EF4-FFF2-40B4-BE49-F238E27FC236}">
                <a16:creationId xmlns:a16="http://schemas.microsoft.com/office/drawing/2014/main" id="{B9648A4B-F92D-4B04-B141-CBB05D762AEC}"/>
              </a:ext>
            </a:extLst>
          </p:cNvPr>
          <p:cNvSpPr>
            <a:spLocks noGrp="1"/>
          </p:cNvSpPr>
          <p:nvPr/>
        </p:nvSpPr>
        <p:spPr>
          <a:xfrm>
            <a:off x="7362825" y="3057525"/>
            <a:ext cx="266700" cy="152400"/>
          </a:xfrm>
          <a:prstGeom prst="rightArrow">
            <a:avLst/>
          </a:prstGeom>
          <a:solidFill>
            <a:srgbClr val="484848"/>
          </a:solidFill>
          <a:ln w="0">
            <a:solidFill>
              <a:srgbClr val="484848"/>
            </a:solidFill>
          </a:ln>
        </p:spPr>
        <p:txBody>
          <a:bodyPr/>
          <a:lstStyle/>
          <a:p>
            <a:endParaRPr lang="de-DE"/>
          </a:p>
        </p:txBody>
      </p:sp>
      <p:sp>
        <p:nvSpPr>
          <p:cNvPr id="1010" name="Rechteck 1009">
            <a:extLst>
              <a:ext uri="{FF2B5EF4-FFF2-40B4-BE49-F238E27FC236}">
                <a16:creationId xmlns:a16="http://schemas.microsoft.com/office/drawing/2014/main" id="{13035CEE-5EF1-4FFA-B94D-799C7C0D550D}"/>
              </a:ext>
            </a:extLst>
          </p:cNvPr>
          <p:cNvSpPr>
            <a:spLocks noGrp="1"/>
          </p:cNvSpPr>
          <p:nvPr/>
        </p:nvSpPr>
        <p:spPr>
          <a:xfrm>
            <a:off x="7715250" y="2581275"/>
            <a:ext cx="2143125" cy="1123950"/>
          </a:xfrm>
          <a:prstGeom prst="rect">
            <a:avLst/>
          </a:prstGeom>
          <a:solidFill>
            <a:srgbClr val="F5F5F5"/>
          </a:solidFill>
          <a:ln w="11430">
            <a:solidFill>
              <a:srgbClr val="484848"/>
            </a:solidFill>
          </a:ln>
        </p:spPr>
        <p:txBody>
          <a:bodyPr/>
          <a:lstStyle/>
          <a:p>
            <a:endParaRPr lang="de-DE"/>
          </a:p>
        </p:txBody>
      </p:sp>
      <p:sp>
        <p:nvSpPr>
          <p:cNvPr id="1011" name="Rechteck 1010">
            <a:extLst>
              <a:ext uri="{FF2B5EF4-FFF2-40B4-BE49-F238E27FC236}">
                <a16:creationId xmlns:a16="http://schemas.microsoft.com/office/drawing/2014/main" id="{737F2053-6E65-4800-B959-2F5DD5A1B313}"/>
              </a:ext>
            </a:extLst>
          </p:cNvPr>
          <p:cNvSpPr>
            <a:spLocks noGrp="1"/>
          </p:cNvSpPr>
          <p:nvPr/>
        </p:nvSpPr>
        <p:spPr>
          <a:xfrm>
            <a:off x="7829550" y="2705100"/>
            <a:ext cx="1914525" cy="91440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Ausgang</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96 → 1</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Sigmoid</a:t>
            </a:r>
          </a:p>
        </p:txBody>
      </p:sp>
      <p:sp>
        <p:nvSpPr>
          <p:cNvPr id="1012" name="Rechteck 1011">
            <a:extLst>
              <a:ext uri="{FF2B5EF4-FFF2-40B4-BE49-F238E27FC236}">
                <a16:creationId xmlns:a16="http://schemas.microsoft.com/office/drawing/2014/main" id="{2F8787FF-7820-4EC4-A6E1-B0D88E790053}"/>
              </a:ext>
            </a:extLst>
          </p:cNvPr>
          <p:cNvSpPr>
            <a:spLocks noGrp="1"/>
          </p:cNvSpPr>
          <p:nvPr/>
        </p:nvSpPr>
        <p:spPr>
          <a:xfrm>
            <a:off x="2905125" y="3914775"/>
            <a:ext cx="4095750" cy="590550"/>
          </a:xfrm>
          <a:prstGeom prst="rect">
            <a:avLst/>
          </a:prstGeom>
          <a:noFill/>
          <a:ln w="0">
            <a:noFill/>
          </a:ln>
        </p:spPr>
        <p:txBody>
          <a:bodyPr>
            <a:noAutofit/>
          </a:bodyPr>
          <a:lstStyle/>
          <a:p>
            <a:pPr>
              <a:defRPr sz="1725" b="0">
                <a:solidFill>
                  <a:srgbClr val="484848"/>
                </a:solidFill>
                <a:latin typeface="Calibri"/>
                <a:ea typeface="Calibri"/>
                <a:cs typeface="Calibri"/>
              </a:defRPr>
            </a:pPr>
            <a:r>
              <a:rPr sz="1725" b="0">
                <a:solidFill>
                  <a:srgbClr val="484848"/>
                </a:solidFill>
                <a:latin typeface="Calibri"/>
                <a:ea typeface="Calibri"/>
                <a:cs typeface="Calibri"/>
              </a:rPr>
              <a:t>Vor Pruning: H = 96</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29 Kanäle entfernt, H = 67</a:t>
            </a:r>
          </a:p>
        </p:txBody>
      </p:sp>
      <p:pic>
        <p:nvPicPr>
          <p:cNvPr id="1013" name="Grafik 1012"/>
          <p:cNvPicPr>
            <a:picLocks noChangeAspect="1"/>
          </p:cNvPicPr>
          <p:nvPr/>
        </p:nvPicPr>
        <p:blipFill>
          <a:blip r:embed="rId4"/>
          <a:stretch/>
        </p:blipFill>
        <p:spPr>
          <a:xfrm>
            <a:off x="590550" y="4793424"/>
            <a:ext cx="9286875" cy="490601"/>
          </a:xfrm>
          <a:prstGeom prst="rect">
            <a:avLst/>
          </a:prstGeom>
        </p:spPr>
      </p:pic>
      <p:sp>
        <p:nvSpPr>
          <p:cNvPr id="1014" name="Rechteck 1013">
            <a:extLst>
              <a:ext uri="{FF2B5EF4-FFF2-40B4-BE49-F238E27FC236}">
                <a16:creationId xmlns:a16="http://schemas.microsoft.com/office/drawing/2014/main" id="{48B6929B-94A2-4A31-8D1B-7AEF4C40893A}"/>
              </a:ext>
            </a:extLst>
          </p:cNvPr>
          <p:cNvSpPr>
            <a:spLocks noGrp="1"/>
          </p:cNvSpPr>
          <p:nvPr/>
        </p:nvSpPr>
        <p:spPr>
          <a:xfrm>
            <a:off x="619125" y="5534025"/>
            <a:ext cx="9258300" cy="295275"/>
          </a:xfrm>
          <a:prstGeom prst="rect">
            <a:avLst/>
          </a:prstGeom>
          <a:noFill/>
          <a:ln w="0">
            <a:noFill/>
          </a:ln>
        </p:spPr>
        <p:txBody>
          <a:bodyPr>
            <a:noAutofit/>
          </a:bodyPr>
          <a:lstStyle/>
          <a:p>
            <a:pPr>
              <a:defRPr sz="1575" b="0">
                <a:solidFill>
                  <a:srgbClr val="484848"/>
                </a:solidFill>
                <a:latin typeface="Calibri"/>
                <a:ea typeface="Calibri"/>
                <a:cs typeface="Calibri"/>
              </a:defRPr>
            </a:pPr>
            <a:r>
              <a:rPr sz="1575" b="0">
                <a:solidFill>
                  <a:srgbClr val="484848"/>
                </a:solidFill>
                <a:latin typeface="Calibri"/>
                <a:ea typeface="Calibri"/>
                <a:cs typeface="Calibri"/>
              </a:rPr>
              <a:t>Benchmark: 2024 Schritte je Fenster, Hidden State zwischen Fenstern zurückgesetzt</a:t>
            </a:r>
          </a:p>
        </p:txBody>
      </p:sp>
    </p:spTree>
    <p:extLst>
      <p:ext uri="{BB962C8B-B14F-4D97-AF65-F5344CB8AC3E}">
        <p14:creationId xmlns:p14="http://schemas.microsoft.com/office/powerpoint/2010/main" val="15989129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SOH-LSTM und MLP-Blöcke aus Kapitel 6</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21</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1000" name="Grafik 999"/>
          <p:cNvPicPr>
            <a:picLocks noChangeAspect="1"/>
          </p:cNvPicPr>
          <p:nvPr/>
        </p:nvPicPr>
        <p:blipFill>
          <a:blip r:embed="rId3"/>
          <a:stretch/>
        </p:blipFill>
        <p:spPr>
          <a:xfrm>
            <a:off x="1022804" y="1485900"/>
            <a:ext cx="8431893" cy="523875"/>
          </a:xfrm>
          <a:prstGeom prst="rect">
            <a:avLst/>
          </a:prstGeom>
        </p:spPr>
      </p:pic>
      <p:sp>
        <p:nvSpPr>
          <p:cNvPr id="1001" name="Rechteck 1000">
            <a:extLst>
              <a:ext uri="{FF2B5EF4-FFF2-40B4-BE49-F238E27FC236}">
                <a16:creationId xmlns:a16="http://schemas.microsoft.com/office/drawing/2014/main" id="{433AFF94-5506-453E-B258-0FB6990956D7}"/>
              </a:ext>
            </a:extLst>
          </p:cNvPr>
          <p:cNvSpPr>
            <a:spLocks noGrp="1"/>
          </p:cNvSpPr>
          <p:nvPr/>
        </p:nvSpPr>
        <p:spPr>
          <a:xfrm>
            <a:off x="571500" y="2495550"/>
            <a:ext cx="1619250" cy="1276350"/>
          </a:xfrm>
          <a:prstGeom prst="rect">
            <a:avLst/>
          </a:prstGeom>
          <a:solidFill>
            <a:srgbClr val="F5F5F5"/>
          </a:solidFill>
          <a:ln w="11430">
            <a:solidFill>
              <a:srgbClr val="484848"/>
            </a:solidFill>
          </a:ln>
        </p:spPr>
        <p:txBody>
          <a:bodyPr/>
          <a:lstStyle/>
          <a:p>
            <a:endParaRPr lang="de-DE"/>
          </a:p>
        </p:txBody>
      </p:sp>
      <p:sp>
        <p:nvSpPr>
          <p:cNvPr id="1002" name="Rechteck 1001">
            <a:extLst>
              <a:ext uri="{FF2B5EF4-FFF2-40B4-BE49-F238E27FC236}">
                <a16:creationId xmlns:a16="http://schemas.microsoft.com/office/drawing/2014/main" id="{40105776-08D5-4C2A-A75D-76BACDC3542F}"/>
              </a:ext>
            </a:extLst>
          </p:cNvPr>
          <p:cNvSpPr>
            <a:spLocks noGrp="1"/>
          </p:cNvSpPr>
          <p:nvPr/>
        </p:nvSpPr>
        <p:spPr>
          <a:xfrm>
            <a:off x="685800" y="2619375"/>
            <a:ext cx="1390650" cy="106680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Stundenwerte</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20 Merkmale</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RobustScaler</a:t>
            </a:r>
          </a:p>
        </p:txBody>
      </p:sp>
      <p:sp>
        <p:nvSpPr>
          <p:cNvPr id="1003" name="Pfeil: nach rechts 1002">
            <a:extLst>
              <a:ext uri="{FF2B5EF4-FFF2-40B4-BE49-F238E27FC236}">
                <a16:creationId xmlns:a16="http://schemas.microsoft.com/office/drawing/2014/main" id="{9E8CBDFC-F9AD-4556-B9AA-3A184AF76FD9}"/>
              </a:ext>
            </a:extLst>
          </p:cNvPr>
          <p:cNvSpPr>
            <a:spLocks noGrp="1"/>
          </p:cNvSpPr>
          <p:nvPr/>
        </p:nvSpPr>
        <p:spPr>
          <a:xfrm>
            <a:off x="2257425" y="3019425"/>
            <a:ext cx="190500" cy="152400"/>
          </a:xfrm>
          <a:prstGeom prst="rightArrow">
            <a:avLst/>
          </a:prstGeom>
          <a:solidFill>
            <a:srgbClr val="484848"/>
          </a:solidFill>
          <a:ln w="0">
            <a:solidFill>
              <a:srgbClr val="484848"/>
            </a:solidFill>
          </a:ln>
        </p:spPr>
        <p:txBody>
          <a:bodyPr/>
          <a:lstStyle/>
          <a:p>
            <a:endParaRPr lang="de-DE"/>
          </a:p>
        </p:txBody>
      </p:sp>
      <p:sp>
        <p:nvSpPr>
          <p:cNvPr id="1004" name="Rechteck 1003">
            <a:extLst>
              <a:ext uri="{FF2B5EF4-FFF2-40B4-BE49-F238E27FC236}">
                <a16:creationId xmlns:a16="http://schemas.microsoft.com/office/drawing/2014/main" id="{D177DB78-61C3-4AB8-B9F9-87E0DDA962F6}"/>
              </a:ext>
            </a:extLst>
          </p:cNvPr>
          <p:cNvSpPr>
            <a:spLocks noGrp="1"/>
          </p:cNvSpPr>
          <p:nvPr/>
        </p:nvSpPr>
        <p:spPr>
          <a:xfrm>
            <a:off x="2514600" y="2495550"/>
            <a:ext cx="1866900" cy="1276350"/>
          </a:xfrm>
          <a:prstGeom prst="rect">
            <a:avLst/>
          </a:prstGeom>
          <a:solidFill>
            <a:srgbClr val="F5F5F5"/>
          </a:solidFill>
          <a:ln w="11430">
            <a:solidFill>
              <a:srgbClr val="484848"/>
            </a:solidFill>
          </a:ln>
        </p:spPr>
        <p:txBody>
          <a:bodyPr/>
          <a:lstStyle/>
          <a:p>
            <a:endParaRPr lang="de-DE"/>
          </a:p>
        </p:txBody>
      </p:sp>
      <p:sp>
        <p:nvSpPr>
          <p:cNvPr id="1005" name="Rechteck 1004">
            <a:extLst>
              <a:ext uri="{FF2B5EF4-FFF2-40B4-BE49-F238E27FC236}">
                <a16:creationId xmlns:a16="http://schemas.microsoft.com/office/drawing/2014/main" id="{8971DF41-2881-4B4C-B851-8F60EE790F1C}"/>
              </a:ext>
            </a:extLst>
          </p:cNvPr>
          <p:cNvSpPr>
            <a:spLocks noGrp="1"/>
          </p:cNvSpPr>
          <p:nvPr/>
        </p:nvSpPr>
        <p:spPr>
          <a:xfrm>
            <a:off x="2628900" y="2619375"/>
            <a:ext cx="1638300" cy="106680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Embedding</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20 → 128 → 128</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LN, GELU</a:t>
            </a:r>
          </a:p>
        </p:txBody>
      </p:sp>
      <p:sp>
        <p:nvSpPr>
          <p:cNvPr id="1006" name="Pfeil: nach rechts 1005">
            <a:extLst>
              <a:ext uri="{FF2B5EF4-FFF2-40B4-BE49-F238E27FC236}">
                <a16:creationId xmlns:a16="http://schemas.microsoft.com/office/drawing/2014/main" id="{73DB98F4-DD51-4E5A-A1BF-943624A8AFD4}"/>
              </a:ext>
            </a:extLst>
          </p:cNvPr>
          <p:cNvSpPr>
            <a:spLocks noGrp="1"/>
          </p:cNvSpPr>
          <p:nvPr/>
        </p:nvSpPr>
        <p:spPr>
          <a:xfrm>
            <a:off x="4438650" y="3019425"/>
            <a:ext cx="190500" cy="152400"/>
          </a:xfrm>
          <a:prstGeom prst="rightArrow">
            <a:avLst/>
          </a:prstGeom>
          <a:solidFill>
            <a:srgbClr val="484848"/>
          </a:solidFill>
          <a:ln w="0">
            <a:solidFill>
              <a:srgbClr val="484848"/>
            </a:solidFill>
          </a:ln>
        </p:spPr>
        <p:txBody>
          <a:bodyPr/>
          <a:lstStyle/>
          <a:p>
            <a:endParaRPr lang="de-DE"/>
          </a:p>
        </p:txBody>
      </p:sp>
      <p:sp>
        <p:nvSpPr>
          <p:cNvPr id="1007" name="Rechteck 1006">
            <a:extLst>
              <a:ext uri="{FF2B5EF4-FFF2-40B4-BE49-F238E27FC236}">
                <a16:creationId xmlns:a16="http://schemas.microsoft.com/office/drawing/2014/main" id="{5BEB8A9A-11F4-4FD8-AE95-348CA59A22EE}"/>
              </a:ext>
            </a:extLst>
          </p:cNvPr>
          <p:cNvSpPr>
            <a:spLocks noGrp="1"/>
          </p:cNvSpPr>
          <p:nvPr/>
        </p:nvSpPr>
        <p:spPr>
          <a:xfrm>
            <a:off x="4695825" y="2495550"/>
            <a:ext cx="1495425" cy="1276350"/>
          </a:xfrm>
          <a:prstGeom prst="rect">
            <a:avLst/>
          </a:prstGeom>
          <a:solidFill>
            <a:srgbClr val="F5F5F5"/>
          </a:solidFill>
          <a:ln w="11430">
            <a:solidFill>
              <a:srgbClr val="484848"/>
            </a:solidFill>
          </a:ln>
        </p:spPr>
        <p:txBody>
          <a:bodyPr/>
          <a:lstStyle/>
          <a:p>
            <a:endParaRPr lang="de-DE"/>
          </a:p>
        </p:txBody>
      </p:sp>
      <p:sp>
        <p:nvSpPr>
          <p:cNvPr id="1008" name="Rechteck 1007">
            <a:extLst>
              <a:ext uri="{FF2B5EF4-FFF2-40B4-BE49-F238E27FC236}">
                <a16:creationId xmlns:a16="http://schemas.microsoft.com/office/drawing/2014/main" id="{F25586F1-3C79-444F-88BE-78EF25FA637B}"/>
              </a:ext>
            </a:extLst>
          </p:cNvPr>
          <p:cNvSpPr>
            <a:spLocks noGrp="1"/>
          </p:cNvSpPr>
          <p:nvPr/>
        </p:nvSpPr>
        <p:spPr>
          <a:xfrm>
            <a:off x="4810125" y="2619375"/>
            <a:ext cx="1266825" cy="106680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LSTM + LN</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2 Layer</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H = 112</a:t>
            </a:r>
          </a:p>
        </p:txBody>
      </p:sp>
      <p:sp>
        <p:nvSpPr>
          <p:cNvPr id="1009" name="Pfeil: nach rechts 1008">
            <a:extLst>
              <a:ext uri="{FF2B5EF4-FFF2-40B4-BE49-F238E27FC236}">
                <a16:creationId xmlns:a16="http://schemas.microsoft.com/office/drawing/2014/main" id="{5FDA118A-E29B-4104-A70C-851EDD234E2D}"/>
              </a:ext>
            </a:extLst>
          </p:cNvPr>
          <p:cNvSpPr>
            <a:spLocks noGrp="1"/>
          </p:cNvSpPr>
          <p:nvPr/>
        </p:nvSpPr>
        <p:spPr>
          <a:xfrm>
            <a:off x="6257925" y="3019425"/>
            <a:ext cx="190500" cy="152400"/>
          </a:xfrm>
          <a:prstGeom prst="rightArrow">
            <a:avLst/>
          </a:prstGeom>
          <a:solidFill>
            <a:srgbClr val="484848"/>
          </a:solidFill>
          <a:ln w="0">
            <a:solidFill>
              <a:srgbClr val="484848"/>
            </a:solidFill>
          </a:ln>
        </p:spPr>
        <p:txBody>
          <a:bodyPr/>
          <a:lstStyle/>
          <a:p>
            <a:endParaRPr lang="de-DE"/>
          </a:p>
        </p:txBody>
      </p:sp>
      <p:sp>
        <p:nvSpPr>
          <p:cNvPr id="1010" name="Rechteck 1009">
            <a:extLst>
              <a:ext uri="{FF2B5EF4-FFF2-40B4-BE49-F238E27FC236}">
                <a16:creationId xmlns:a16="http://schemas.microsoft.com/office/drawing/2014/main" id="{FF8EF09B-2A2D-4710-8DAD-99DAFB621571}"/>
              </a:ext>
            </a:extLst>
          </p:cNvPr>
          <p:cNvSpPr>
            <a:spLocks noGrp="1"/>
          </p:cNvSpPr>
          <p:nvPr/>
        </p:nvSpPr>
        <p:spPr>
          <a:xfrm>
            <a:off x="6515100" y="2495550"/>
            <a:ext cx="1876425" cy="1276350"/>
          </a:xfrm>
          <a:prstGeom prst="rect">
            <a:avLst/>
          </a:prstGeom>
          <a:solidFill>
            <a:srgbClr val="F5F5F5"/>
          </a:solidFill>
          <a:ln w="11430">
            <a:solidFill>
              <a:srgbClr val="484848"/>
            </a:solidFill>
          </a:ln>
        </p:spPr>
        <p:txBody>
          <a:bodyPr/>
          <a:lstStyle/>
          <a:p>
            <a:endParaRPr lang="de-DE"/>
          </a:p>
        </p:txBody>
      </p:sp>
      <p:sp>
        <p:nvSpPr>
          <p:cNvPr id="1011" name="Rechteck 1010">
            <a:extLst>
              <a:ext uri="{FF2B5EF4-FFF2-40B4-BE49-F238E27FC236}">
                <a16:creationId xmlns:a16="http://schemas.microsoft.com/office/drawing/2014/main" id="{528BB9C7-5E3B-4690-BA71-58EDAF69BD83}"/>
              </a:ext>
            </a:extLst>
          </p:cNvPr>
          <p:cNvSpPr>
            <a:spLocks noGrp="1"/>
          </p:cNvSpPr>
          <p:nvPr/>
        </p:nvSpPr>
        <p:spPr>
          <a:xfrm>
            <a:off x="6629400" y="2619375"/>
            <a:ext cx="1647825" cy="1066800"/>
          </a:xfrm>
          <a:prstGeom prst="rect">
            <a:avLst/>
          </a:prstGeom>
          <a:noFill/>
          <a:ln w="0">
            <a:noFill/>
          </a:ln>
        </p:spPr>
        <p:txBody>
          <a:bodyPr>
            <a:noAutofit/>
          </a:bodyPr>
          <a:lstStyle/>
          <a:p>
            <a:pPr>
              <a:defRPr sz="1500" b="0">
                <a:solidFill>
                  <a:srgbClr val="484848"/>
                </a:solidFill>
                <a:latin typeface="Calibri"/>
                <a:ea typeface="Calibri"/>
                <a:cs typeface="Calibri"/>
              </a:defRPr>
            </a:pPr>
            <a:r>
              <a:rPr sz="1500" b="0">
                <a:solidFill>
                  <a:srgbClr val="484848"/>
                </a:solidFill>
                <a:latin typeface="Calibri"/>
                <a:ea typeface="Calibri"/>
                <a:cs typeface="Calibri"/>
              </a:rPr>
              <a:t>3 MLP-Blöcke</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112 → 160</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160 → 112</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Residual, LN</a:t>
            </a:r>
          </a:p>
        </p:txBody>
      </p:sp>
      <p:sp>
        <p:nvSpPr>
          <p:cNvPr id="1012" name="Pfeil: nach rechts 1011">
            <a:extLst>
              <a:ext uri="{FF2B5EF4-FFF2-40B4-BE49-F238E27FC236}">
                <a16:creationId xmlns:a16="http://schemas.microsoft.com/office/drawing/2014/main" id="{89B21AAF-C14B-4EF2-9AAE-50E81CE1A9D3}"/>
              </a:ext>
            </a:extLst>
          </p:cNvPr>
          <p:cNvSpPr>
            <a:spLocks noGrp="1"/>
          </p:cNvSpPr>
          <p:nvPr/>
        </p:nvSpPr>
        <p:spPr>
          <a:xfrm>
            <a:off x="8458200" y="3019425"/>
            <a:ext cx="190500" cy="152400"/>
          </a:xfrm>
          <a:prstGeom prst="rightArrow">
            <a:avLst/>
          </a:prstGeom>
          <a:solidFill>
            <a:srgbClr val="484848"/>
          </a:solidFill>
          <a:ln w="0">
            <a:solidFill>
              <a:srgbClr val="484848"/>
            </a:solidFill>
          </a:ln>
        </p:spPr>
        <p:txBody>
          <a:bodyPr/>
          <a:lstStyle/>
          <a:p>
            <a:endParaRPr lang="de-DE"/>
          </a:p>
        </p:txBody>
      </p:sp>
      <p:sp>
        <p:nvSpPr>
          <p:cNvPr id="1013" name="Rechteck 1012">
            <a:extLst>
              <a:ext uri="{FF2B5EF4-FFF2-40B4-BE49-F238E27FC236}">
                <a16:creationId xmlns:a16="http://schemas.microsoft.com/office/drawing/2014/main" id="{BE3AF60C-C5AF-4C43-A18A-C5F01360568F}"/>
              </a:ext>
            </a:extLst>
          </p:cNvPr>
          <p:cNvSpPr>
            <a:spLocks noGrp="1"/>
          </p:cNvSpPr>
          <p:nvPr/>
        </p:nvSpPr>
        <p:spPr>
          <a:xfrm>
            <a:off x="8715375" y="2495550"/>
            <a:ext cx="1219200" cy="1276350"/>
          </a:xfrm>
          <a:prstGeom prst="rect">
            <a:avLst/>
          </a:prstGeom>
          <a:solidFill>
            <a:srgbClr val="F5F5F5"/>
          </a:solidFill>
          <a:ln w="11430">
            <a:solidFill>
              <a:srgbClr val="484848"/>
            </a:solidFill>
          </a:ln>
        </p:spPr>
        <p:txBody>
          <a:bodyPr/>
          <a:lstStyle/>
          <a:p>
            <a:endParaRPr lang="de-DE"/>
          </a:p>
        </p:txBody>
      </p:sp>
      <p:sp>
        <p:nvSpPr>
          <p:cNvPr id="1014" name="Rechteck 1013">
            <a:extLst>
              <a:ext uri="{FF2B5EF4-FFF2-40B4-BE49-F238E27FC236}">
                <a16:creationId xmlns:a16="http://schemas.microsoft.com/office/drawing/2014/main" id="{9DC92064-7E51-48F5-994E-03ABDAC8BDD9}"/>
              </a:ext>
            </a:extLst>
          </p:cNvPr>
          <p:cNvSpPr>
            <a:spLocks noGrp="1"/>
          </p:cNvSpPr>
          <p:nvPr/>
        </p:nvSpPr>
        <p:spPr>
          <a:xfrm>
            <a:off x="8829675" y="2619375"/>
            <a:ext cx="990600" cy="1066800"/>
          </a:xfrm>
          <a:prstGeom prst="rect">
            <a:avLst/>
          </a:prstGeom>
          <a:noFill/>
          <a:ln w="0">
            <a:noFill/>
          </a:ln>
        </p:spPr>
        <p:txBody>
          <a:bodyPr>
            <a:noAutofit/>
          </a:bodyPr>
          <a:lstStyle/>
          <a:p>
            <a:pPr>
              <a:defRPr sz="1425" b="0">
                <a:solidFill>
                  <a:srgbClr val="484848"/>
                </a:solidFill>
                <a:latin typeface="Calibri"/>
                <a:ea typeface="Calibri"/>
                <a:cs typeface="Calibri"/>
              </a:defRPr>
            </a:pPr>
            <a:r>
              <a:rPr sz="1425" b="0">
                <a:solidFill>
                  <a:srgbClr val="484848"/>
                </a:solidFill>
                <a:latin typeface="Calibri"/>
                <a:ea typeface="Calibri"/>
                <a:cs typeface="Calibri"/>
              </a:rPr>
              <a:t>Head</a:t>
            </a:r>
          </a:p>
          <a:p>
            <a:pPr>
              <a:defRPr sz="1425" b="0">
                <a:solidFill>
                  <a:srgbClr val="484848"/>
                </a:solidFill>
                <a:latin typeface="Calibri"/>
                <a:ea typeface="Calibri"/>
                <a:cs typeface="Calibri"/>
              </a:defRPr>
            </a:pPr>
            <a:r>
              <a:rPr sz="1425" b="0">
                <a:solidFill>
                  <a:srgbClr val="484848"/>
                </a:solidFill>
                <a:latin typeface="Calibri"/>
                <a:ea typeface="Calibri"/>
                <a:cs typeface="Calibri"/>
              </a:rPr>
              <a:t>112 → 160</a:t>
            </a:r>
          </a:p>
          <a:p>
            <a:pPr>
              <a:defRPr sz="1425" b="0">
                <a:solidFill>
                  <a:srgbClr val="484848"/>
                </a:solidFill>
                <a:latin typeface="Calibri"/>
                <a:ea typeface="Calibri"/>
                <a:cs typeface="Calibri"/>
              </a:defRPr>
            </a:pPr>
            <a:r>
              <a:rPr sz="1425" b="0">
                <a:solidFill>
                  <a:srgbClr val="484848"/>
                </a:solidFill>
                <a:latin typeface="Calibri"/>
                <a:ea typeface="Calibri"/>
                <a:cs typeface="Calibri"/>
              </a:rPr>
              <a:t>160 → 160</a:t>
            </a:r>
          </a:p>
          <a:p>
            <a:pPr>
              <a:defRPr sz="1425" b="0">
                <a:solidFill>
                  <a:srgbClr val="484848"/>
                </a:solidFill>
                <a:latin typeface="Calibri"/>
                <a:ea typeface="Calibri"/>
                <a:cs typeface="Calibri"/>
              </a:defRPr>
            </a:pPr>
            <a:r>
              <a:rPr sz="1425" b="0">
                <a:solidFill>
                  <a:srgbClr val="484848"/>
                </a:solidFill>
                <a:latin typeface="Calibri"/>
                <a:ea typeface="Calibri"/>
                <a:cs typeface="Calibri"/>
              </a:rPr>
              <a:t>160 → 1</a:t>
            </a:r>
          </a:p>
        </p:txBody>
      </p:sp>
      <p:sp>
        <p:nvSpPr>
          <p:cNvPr id="1015" name="Rechteck 1014">
            <a:extLst>
              <a:ext uri="{FF2B5EF4-FFF2-40B4-BE49-F238E27FC236}">
                <a16:creationId xmlns:a16="http://schemas.microsoft.com/office/drawing/2014/main" id="{0E3D5F31-8AB6-43CA-8550-5050A874DC3F}"/>
              </a:ext>
            </a:extLst>
          </p:cNvPr>
          <p:cNvSpPr>
            <a:spLocks noGrp="1"/>
          </p:cNvSpPr>
          <p:nvPr/>
        </p:nvSpPr>
        <p:spPr>
          <a:xfrm>
            <a:off x="609600" y="4048125"/>
            <a:ext cx="9239250" cy="295275"/>
          </a:xfrm>
          <a:prstGeom prst="rect">
            <a:avLst/>
          </a:prstGeom>
          <a:noFill/>
          <a:ln w="0">
            <a:noFill/>
          </a:ln>
        </p:spPr>
        <p:txBody>
          <a:bodyPr>
            <a:noAutofit/>
          </a:bodyPr>
          <a:lstStyle/>
          <a:p>
            <a:pPr>
              <a:defRPr sz="1725" b="0">
                <a:solidFill>
                  <a:srgbClr val="484848"/>
                </a:solidFill>
                <a:latin typeface="Calibri"/>
                <a:ea typeface="Calibri"/>
                <a:cs typeface="Calibri"/>
              </a:defRPr>
            </a:pPr>
            <a:r>
              <a:rPr sz="1725" b="0">
                <a:solidFill>
                  <a:srgbClr val="484848"/>
                </a:solidFill>
                <a:latin typeface="Calibri"/>
                <a:ea typeface="Calibri"/>
                <a:cs typeface="Calibri"/>
              </a:rPr>
              <a:t>GELU in den MLP-Blöcken und im Head; linearer Ausgang</a:t>
            </a:r>
          </a:p>
        </p:txBody>
      </p:sp>
      <p:pic>
        <p:nvPicPr>
          <p:cNvPr id="1016" name="Grafik 1015"/>
          <p:cNvPicPr>
            <a:picLocks noChangeAspect="1"/>
          </p:cNvPicPr>
          <p:nvPr/>
        </p:nvPicPr>
        <p:blipFill>
          <a:blip r:embed="rId4"/>
          <a:stretch/>
        </p:blipFill>
        <p:spPr>
          <a:xfrm>
            <a:off x="2701010" y="4591050"/>
            <a:ext cx="5085004" cy="447675"/>
          </a:xfrm>
          <a:prstGeom prst="rect">
            <a:avLst/>
          </a:prstGeom>
        </p:spPr>
      </p:pic>
      <p:sp>
        <p:nvSpPr>
          <p:cNvPr id="1017" name="Rechteck 1016">
            <a:extLst>
              <a:ext uri="{FF2B5EF4-FFF2-40B4-BE49-F238E27FC236}">
                <a16:creationId xmlns:a16="http://schemas.microsoft.com/office/drawing/2014/main" id="{CA4E4156-B90A-4D83-A713-06A7B60C7888}"/>
              </a:ext>
            </a:extLst>
          </p:cNvPr>
          <p:cNvSpPr>
            <a:spLocks noGrp="1"/>
          </p:cNvSpPr>
          <p:nvPr/>
        </p:nvSpPr>
        <p:spPr>
          <a:xfrm>
            <a:off x="619125" y="5267325"/>
            <a:ext cx="9286875" cy="561975"/>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LN: Layer Normalization    Dropout nur beim Training</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Hidden und Cell State stündlich weitergeführt, SOH dazwischen gehalten</a:t>
            </a:r>
          </a:p>
        </p:txBody>
      </p:sp>
    </p:spTree>
    <p:extLst>
      <p:ext uri="{BB962C8B-B14F-4D97-AF65-F5344CB8AC3E}">
        <p14:creationId xmlns:p14="http://schemas.microsoft.com/office/powerpoint/2010/main" val="15989129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Flash- und RAM-Bedarf der SOC-Verfahren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4FFBDB5B-EF21-44E3-9122-6033D1CE83DE}"/>
              </a:ext>
            </a:extLst>
          </p:cNvPr>
          <p:cNvSpPr>
            <a:spLocks noGrp="1"/>
          </p:cNvSpPr>
          <p:nvPr/>
        </p:nvSpPr>
        <p:spPr>
          <a:xfrm>
            <a:off x="552450" y="4933950"/>
            <a:ext cx="9391650" cy="3238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Hoher Flash-Bedarf durch Parameter- und OCV-Kennfelder</a:t>
            </a:r>
          </a:p>
        </p:txBody>
      </p:sp>
      <p:sp>
        <p:nvSpPr>
          <p:cNvPr id="13" name="V5_Text_13">
            <a:extLst>
              <a:ext uri="{FF2B5EF4-FFF2-40B4-BE49-F238E27FC236}">
                <a16:creationId xmlns:a16="http://schemas.microsoft.com/office/drawing/2014/main" id="{739728C6-1D87-4F11-A222-91728605352C}"/>
              </a:ext>
            </a:extLst>
          </p:cNvPr>
          <p:cNvSpPr>
            <a:spLocks noGrp="1"/>
          </p:cNvSpPr>
          <p:nvPr/>
        </p:nvSpPr>
        <p:spPr>
          <a:xfrm>
            <a:off x="552450" y="5286375"/>
            <a:ext cx="9391650" cy="628650"/>
          </a:xfrm>
          <a:prstGeom prst="rect">
            <a:avLst/>
          </a:prstGeom>
          <a:noFill/>
          <a:ln w="0">
            <a:noFill/>
          </a:ln>
        </p:spPr>
        <p:txBody>
          <a:bodyPr vert="horz"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DD mit Continuous State: Rund 1 700× schneller</a:t>
            </a:r>
          </a:p>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und 94 % weniger RAM als Rolling Window</a:t>
            </a:r>
          </a:p>
        </p:txBody>
      </p:sp>
      <p:pic>
        <p:nvPicPr>
          <p:cNvPr id="31" name="V5_Figure_11"/>
          <p:cNvPicPr>
            <a:picLocks noChangeAspect="1"/>
          </p:cNvPicPr>
          <p:nvPr/>
        </p:nvPicPr>
        <p:blipFill>
          <a:blip r:embed="rId3"/>
          <a:stretch/>
        </p:blipFill>
        <p:spPr>
          <a:xfrm>
            <a:off x="1605808" y="1419225"/>
            <a:ext cx="7246834" cy="3028950"/>
          </a:xfrm>
          <a:prstGeom prst="rect">
            <a:avLst/>
          </a:prstGeom>
        </p:spPr>
      </p:pic>
      <p:sp>
        <p:nvSpPr>
          <p:cNvPr id="16" name="Structure separator">
            <a:extLst>
              <a:ext uri="{FF2B5EF4-FFF2-40B4-BE49-F238E27FC236}">
                <a16:creationId xmlns:a16="http://schemas.microsoft.com/office/drawing/2014/main" id="{2BB459C4-0A3A-41A8-847F-2C34FBF077A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81627503-561B-4DD3-83F9-D4DC40884BCA}"/>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6FC14A9D-96CA-4287-9854-865D452796B7}"/>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F0E50906-092B-40E6-8298-198BE183BFC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E1272A1C-E903-44B1-A0C0-EA9A4E08BE3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BC85B164-AD0D-4CC4-AE93-E9ED9AE4A8D6}"/>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2" name="Structure 4">
            <a:extLst>
              <a:ext uri="{FF2B5EF4-FFF2-40B4-BE49-F238E27FC236}">
                <a16:creationId xmlns:a16="http://schemas.microsoft.com/office/drawing/2014/main" id="{2BEB0F9B-A834-4AC0-91ED-5224B759C6F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3" name="Structure 5">
            <a:extLst>
              <a:ext uri="{FF2B5EF4-FFF2-40B4-BE49-F238E27FC236}">
                <a16:creationId xmlns:a16="http://schemas.microsoft.com/office/drawing/2014/main" id="{D795E694-5C8F-4116-A220-39902717152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000" name="IR_scalar_memory">
            <a:extLst>
              <a:ext uri="{FF2B5EF4-FFF2-40B4-BE49-F238E27FC236}">
                <a16:creationId xmlns:a16="http://schemas.microsoft.com/office/drawing/2014/main" id="{EC3F42B2-6123-4F9D-A400-27D12D67E053}"/>
              </a:ext>
            </a:extLst>
          </p:cNvPr>
          <p:cNvSpPr>
            <a:spLocks noGrp="1"/>
          </p:cNvSpPr>
          <p:nvPr/>
        </p:nvSpPr>
        <p:spPr>
          <a:xfrm>
            <a:off x="552450" y="45815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DM/HDM: </a:t>
            </a:r>
            <a:r>
              <a:rPr sz="1800" b="0">
                <a:solidFill>
                  <a:srgbClr val="444444"/>
                </a:solidFill>
                <a:latin typeface="Calibri"/>
                <a:ea typeface="Calibri"/>
                <a:cs typeface="Calibri"/>
              </a:rPr>
              <a:t>Geringer Speicherbedarf durch wenige skalare Zustandsgrößen</a:t>
            </a:r>
          </a:p>
        </p:txBody>
      </p:sp>
      <p:sp>
        <p:nvSpPr>
          <p:cNvPr id="3001" name="Footer – Seitennummer">
            <a:extLst>
              <a:ext uri="{FF2B5EF4-FFF2-40B4-BE49-F238E27FC236}">
                <a16:creationId xmlns:a16="http://schemas.microsoft.com/office/drawing/2014/main" id="{AE56853D-E2CD-42C7-8A55-D4729272A27B}"/>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25</a:t>
            </a:r>
          </a:p>
        </p:txBody>
      </p:sp>
      <p:sp>
        <p:nvSpPr>
          <p:cNvPr id="3002" name="Footer – Präsentationsangaben">
            <a:extLst>
              <a:ext uri="{FF2B5EF4-FFF2-40B4-BE49-F238E27FC236}">
                <a16:creationId xmlns:a16="http://schemas.microsoft.com/office/drawing/2014/main" id="{47EBA913-7826-4FC9-B356-7ED9F0557C2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2340655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Sign-Flip-Test und Holm-Korrektur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26</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8276C2A0-0D5B-4E74-A280-50E52D54332C}"/>
              </a:ext>
            </a:extLst>
          </p:cNvPr>
          <p:cNvSpPr>
            <a:spLocks noGrp="1"/>
          </p:cNvSpPr>
          <p:nvPr/>
        </p:nvSpPr>
        <p:spPr>
          <a:xfrm>
            <a:off x="552450" y="1390650"/>
            <a:ext cx="4619625" cy="304800"/>
          </a:xfrm>
          <a:prstGeom prst="rect">
            <a:avLst/>
          </a:prstGeom>
          <a:noFill/>
          <a:ln w="0">
            <a:noFill/>
          </a:ln>
        </p:spPr>
        <p:txBody>
          <a:bodyPr>
            <a:noAutofit/>
          </a:bodyPr>
          <a:lstStyle/>
          <a:p>
            <a:pPr>
              <a:defRPr sz="1800" b="1">
                <a:solidFill>
                  <a:srgbClr val="C8102E"/>
                </a:solidFill>
                <a:latin typeface="Calibri"/>
                <a:ea typeface="Calibri"/>
                <a:cs typeface="Calibri"/>
              </a:defRPr>
            </a:pPr>
            <a:r>
              <a:rPr sz="1800" b="1">
                <a:solidFill>
                  <a:srgbClr val="C8102E"/>
                </a:solidFill>
                <a:latin typeface="Calibri"/>
                <a:ea typeface="Calibri"/>
                <a:cs typeface="Calibri"/>
              </a:rPr>
              <a:t>n = 6 unabhängige Testzellen</a:t>
            </a:r>
          </a:p>
        </p:txBody>
      </p:sp>
      <p:sp>
        <p:nvSpPr>
          <p:cNvPr id="503" name="Rechteck 502">
            <a:extLst>
              <a:ext uri="{FF2B5EF4-FFF2-40B4-BE49-F238E27FC236}">
                <a16:creationId xmlns:a16="http://schemas.microsoft.com/office/drawing/2014/main" id="{A357D690-3F81-43EF-B507-5DE7490B2F83}"/>
              </a:ext>
            </a:extLst>
          </p:cNvPr>
          <p:cNvSpPr>
            <a:spLocks noGrp="1"/>
          </p:cNvSpPr>
          <p:nvPr/>
        </p:nvSpPr>
        <p:spPr>
          <a:xfrm>
            <a:off x="552450" y="1724025"/>
            <a:ext cx="4619625" cy="5524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Erst Fenster je Zelle mitteln. Dann je Zelle</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den MAE-Unterschied zweier Modelle bilden.</a:t>
            </a:r>
          </a:p>
        </p:txBody>
      </p:sp>
      <p:sp>
        <p:nvSpPr>
          <p:cNvPr id="504" name="Rechteck 503">
            <a:extLst>
              <a:ext uri="{FF2B5EF4-FFF2-40B4-BE49-F238E27FC236}">
                <a16:creationId xmlns:a16="http://schemas.microsoft.com/office/drawing/2014/main" id="{F2C9D182-BB44-4EBD-A899-6C4A4680E41C}"/>
              </a:ext>
            </a:extLst>
          </p:cNvPr>
          <p:cNvSpPr>
            <a:spLocks noGrp="1"/>
          </p:cNvSpPr>
          <p:nvPr/>
        </p:nvSpPr>
        <p:spPr>
          <a:xfrm>
            <a:off x="552450" y="2276475"/>
            <a:ext cx="4619625" cy="53340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Beispiel: HECM 5 %, DD 3 % MAE</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Differenz HECM − DD = +2 Prozentpunkte</a:t>
            </a:r>
          </a:p>
        </p:txBody>
      </p:sp>
      <p:sp>
        <p:nvSpPr>
          <p:cNvPr id="505" name="Rechteck 504">
            <a:extLst>
              <a:ext uri="{FF2B5EF4-FFF2-40B4-BE49-F238E27FC236}">
                <a16:creationId xmlns:a16="http://schemas.microsoft.com/office/drawing/2014/main" id="{EE6E705A-2802-4541-A03A-C60394E267DC}"/>
              </a:ext>
            </a:extLst>
          </p:cNvPr>
          <p:cNvSpPr>
            <a:spLocks noGrp="1"/>
          </p:cNvSpPr>
          <p:nvPr/>
        </p:nvSpPr>
        <p:spPr>
          <a:xfrm>
            <a:off x="5343525" y="1390650"/>
            <a:ext cx="4572000" cy="304800"/>
          </a:xfrm>
          <a:prstGeom prst="rect">
            <a:avLst/>
          </a:prstGeom>
          <a:noFill/>
          <a:ln w="0">
            <a:noFill/>
          </a:ln>
        </p:spPr>
        <p:txBody>
          <a:bodyPr>
            <a:noAutofit/>
          </a:bodyPr>
          <a:lstStyle/>
          <a:p>
            <a:pPr>
              <a:defRPr sz="1800" b="1">
                <a:solidFill>
                  <a:srgbClr val="C8102E"/>
                </a:solidFill>
                <a:latin typeface="Calibri"/>
                <a:ea typeface="Calibri"/>
                <a:cs typeface="Calibri"/>
              </a:defRPr>
            </a:pPr>
            <a:r>
              <a:rPr sz="1800" b="1">
                <a:solidFill>
                  <a:srgbClr val="C8102E"/>
                </a:solidFill>
                <a:latin typeface="Calibri"/>
                <a:ea typeface="Calibri"/>
                <a:cs typeface="Calibri"/>
              </a:rPr>
              <a:t>m = 6 Paare aus 4 Modellen</a:t>
            </a:r>
          </a:p>
        </p:txBody>
      </p:sp>
      <p:sp>
        <p:nvSpPr>
          <p:cNvPr id="506" name="Rechteck 505">
            <a:extLst>
              <a:ext uri="{FF2B5EF4-FFF2-40B4-BE49-F238E27FC236}">
                <a16:creationId xmlns:a16="http://schemas.microsoft.com/office/drawing/2014/main" id="{F862A1D9-0655-4AAA-8732-197A794DFC49}"/>
              </a:ext>
            </a:extLst>
          </p:cNvPr>
          <p:cNvSpPr>
            <a:spLocks noGrp="1"/>
          </p:cNvSpPr>
          <p:nvPr/>
        </p:nvSpPr>
        <p:spPr>
          <a:xfrm>
            <a:off x="5343525" y="1724025"/>
            <a:ext cx="4572000" cy="5524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DM–HDM, DM–HECM, DM–DD</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HDM–HECM, HDM–DD, HECM–DD</a:t>
            </a:r>
          </a:p>
        </p:txBody>
      </p:sp>
      <p:sp>
        <p:nvSpPr>
          <p:cNvPr id="507" name="Rechteck 506">
            <a:extLst>
              <a:ext uri="{FF2B5EF4-FFF2-40B4-BE49-F238E27FC236}">
                <a16:creationId xmlns:a16="http://schemas.microsoft.com/office/drawing/2014/main" id="{6CD65F9C-FD4B-48E2-8254-E5A42E384DAC}"/>
              </a:ext>
            </a:extLst>
          </p:cNvPr>
          <p:cNvSpPr>
            <a:spLocks noGrp="1"/>
          </p:cNvSpPr>
          <p:nvPr/>
        </p:nvSpPr>
        <p:spPr>
          <a:xfrm>
            <a:off x="5343525" y="2276475"/>
            <a:ext cx="4572000" cy="53340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3 + 2 + 1 = 6 Vergleiche</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Auch bei 8 Zellen bleiben es diese 6 Paare.</a:t>
            </a:r>
          </a:p>
        </p:txBody>
      </p:sp>
      <p:sp>
        <p:nvSpPr>
          <p:cNvPr id="508" name="Rechteck 507">
            <a:extLst>
              <a:ext uri="{FF2B5EF4-FFF2-40B4-BE49-F238E27FC236}">
                <a16:creationId xmlns:a16="http://schemas.microsoft.com/office/drawing/2014/main" id="{194031DB-1D20-49FC-850D-7ED655195804}"/>
              </a:ext>
            </a:extLst>
          </p:cNvPr>
          <p:cNvSpPr>
            <a:spLocks noGrp="1"/>
          </p:cNvSpPr>
          <p:nvPr/>
        </p:nvSpPr>
        <p:spPr>
          <a:xfrm>
            <a:off x="552450" y="2819400"/>
            <a:ext cx="9353550" cy="285750"/>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Sign-Flip: Vorzeichen wechseln, Beträge beibehalten</a:t>
            </a:r>
          </a:p>
        </p:txBody>
      </p:sp>
      <p:sp>
        <p:nvSpPr>
          <p:cNvPr id="509" name="Rechteck 508">
            <a:extLst>
              <a:ext uri="{FF2B5EF4-FFF2-40B4-BE49-F238E27FC236}">
                <a16:creationId xmlns:a16="http://schemas.microsoft.com/office/drawing/2014/main" id="{7BD4515B-1B98-4624-BC7F-079DC6F057F4}"/>
              </a:ext>
            </a:extLst>
          </p:cNvPr>
          <p:cNvSpPr>
            <a:spLocks noGrp="1"/>
          </p:cNvSpPr>
          <p:nvPr/>
        </p:nvSpPr>
        <p:spPr>
          <a:xfrm>
            <a:off x="552450" y="3162300"/>
            <a:ext cx="9353550" cy="5524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Beispieldifferenzen: +1, +2, +1, +2, +1, +2 Prozentpunkte. Mittel = +1,5.</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64 Muster. Nur alle + und alle − sind so extrem: p = 2 / 64 = 0,03125 (zweiseitig).</a:t>
            </a:r>
          </a:p>
        </p:txBody>
      </p:sp>
      <p:sp>
        <p:nvSpPr>
          <p:cNvPr id="510" name="Rechteck 509">
            <a:extLst>
              <a:ext uri="{FF2B5EF4-FFF2-40B4-BE49-F238E27FC236}">
                <a16:creationId xmlns:a16="http://schemas.microsoft.com/office/drawing/2014/main" id="{BBB10B1E-9E34-4940-A921-0779999AC62E}"/>
              </a:ext>
            </a:extLst>
          </p:cNvPr>
          <p:cNvSpPr>
            <a:spLocks noGrp="1"/>
          </p:cNvSpPr>
          <p:nvPr/>
        </p:nvSpPr>
        <p:spPr>
          <a:xfrm>
            <a:off x="552450" y="3762375"/>
            <a:ext cx="9353550" cy="266700"/>
          </a:xfrm>
          <a:prstGeom prst="rect">
            <a:avLst/>
          </a:prstGeom>
          <a:noFill/>
          <a:ln w="0">
            <a:noFill/>
          </a:ln>
        </p:spPr>
        <p:txBody>
          <a:bodyPr>
            <a:noAutofit/>
          </a:bodyPr>
          <a:lstStyle/>
          <a:p>
            <a:pPr>
              <a:defRPr sz="1650" b="1">
                <a:solidFill>
                  <a:srgbClr val="454545"/>
                </a:solidFill>
                <a:latin typeface="Calibri"/>
                <a:ea typeface="Calibri"/>
                <a:cs typeface="Calibri"/>
              </a:defRPr>
            </a:pPr>
            <a:r>
              <a:rPr sz="1650" b="1">
                <a:solidFill>
                  <a:srgbClr val="454545"/>
                </a:solidFill>
                <a:latin typeface="Calibri"/>
                <a:ea typeface="Calibri"/>
                <a:cs typeface="Calibri"/>
              </a:rPr>
              <a:t>Holm: gewählte Fehlergrenze α = 0,05 für die Familie der 6 Vergleiche</a:t>
            </a:r>
          </a:p>
        </p:txBody>
      </p:sp>
      <p:sp>
        <p:nvSpPr>
          <p:cNvPr id="511" name="Rechteck 510">
            <a:extLst>
              <a:ext uri="{FF2B5EF4-FFF2-40B4-BE49-F238E27FC236}">
                <a16:creationId xmlns:a16="http://schemas.microsoft.com/office/drawing/2014/main" id="{34191498-E8FE-4FE8-8B1D-055B616DEF4A}"/>
              </a:ext>
            </a:extLst>
          </p:cNvPr>
          <p:cNvSpPr>
            <a:spLocks noGrp="1"/>
          </p:cNvSpPr>
          <p:nvPr/>
        </p:nvSpPr>
        <p:spPr>
          <a:xfrm>
            <a:off x="552450" y="4086225"/>
            <a:ext cx="9353550" cy="257175"/>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Erste Hürde für den kleinsten p-Wert: α / m = 0,05 / 6 = 0,008333…</a:t>
            </a:r>
          </a:p>
        </p:txBody>
      </p:sp>
      <p:graphicFrame>
        <p:nvGraphicFramePr>
          <p:cNvPr id="512" name="Tabelle 511"/>
          <p:cNvGraphicFramePr/>
          <p:nvPr/>
        </p:nvGraphicFramePr>
        <p:xfrm>
          <a:off x="552450" y="4448175"/>
          <a:ext cx="9353550" cy="1234440"/>
        </p:xfrm>
        <a:graphic>
          <a:graphicData uri="http://schemas.openxmlformats.org/drawingml/2006/table">
            <a:tbl>
              <a:tblPr/>
              <a:tblGrid>
                <a:gridCol w="1333500">
                  <a:extLst>
                    <a:ext uri="{9D8B030D-6E8A-4147-A177-3AD203B41FA5}">
                      <a16:colId xmlns:a16="http://schemas.microsoft.com/office/drawing/2014/main" val="20000"/>
                    </a:ext>
                  </a:extLst>
                </a:gridCol>
                <a:gridCol w="254317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2809875">
                  <a:extLst>
                    <a:ext uri="{9D8B030D-6E8A-4147-A177-3AD203B41FA5}">
                      <a16:colId xmlns:a16="http://schemas.microsoft.com/office/drawing/2014/main" val="20003"/>
                    </a:ext>
                  </a:extLst>
                </a:gridCol>
              </a:tblGrid>
              <a:tr h="266700">
                <a:tc>
                  <a:txBody>
                    <a:bodyPr/>
                    <a:lstStyle/>
                    <a:p>
                      <a:r>
                        <a:rPr sz="1425" b="1">
                          <a:solidFill>
                            <a:srgbClr val="454545"/>
                          </a:solidFill>
                          <a:latin typeface="Calibri"/>
                          <a:ea typeface="Calibri"/>
                          <a:cs typeface="Calibri"/>
                        </a:rPr>
                        <a:t>Zellen n</a:t>
                      </a:r>
                    </a:p>
                  </a:txBody>
                  <a:tcPr>
                    <a:solidFill>
                      <a:srgbClr val="F1E3E6"/>
                    </a:solidFill>
                  </a:tcPr>
                </a:tc>
                <a:tc>
                  <a:txBody>
                    <a:bodyPr/>
                    <a:lstStyle/>
                    <a:p>
                      <a:r>
                        <a:rPr sz="1425" b="1">
                          <a:solidFill>
                            <a:srgbClr val="454545"/>
                          </a:solidFill>
                          <a:latin typeface="Calibri"/>
                          <a:ea typeface="Calibri"/>
                          <a:cs typeface="Calibri"/>
                        </a:rPr>
                        <a:t>Vorzeichenmuster 2ⁿ</a:t>
                      </a:r>
                    </a:p>
                  </a:txBody>
                  <a:tcPr>
                    <a:solidFill>
                      <a:srgbClr val="F1E3E6"/>
                    </a:solidFill>
                  </a:tcPr>
                </a:tc>
                <a:tc>
                  <a:txBody>
                    <a:bodyPr/>
                    <a:lstStyle/>
                    <a:p>
                      <a:r>
                        <a:rPr sz="1425" b="1">
                          <a:solidFill>
                            <a:srgbClr val="454545"/>
                          </a:solidFill>
                          <a:latin typeface="Calibri"/>
                          <a:ea typeface="Calibri"/>
                          <a:cs typeface="Calibri"/>
                        </a:rPr>
                        <a:t>Kleinstes p = 2 / 2ⁿ</a:t>
                      </a:r>
                    </a:p>
                  </a:txBody>
                  <a:tcPr>
                    <a:solidFill>
                      <a:srgbClr val="F1E3E6"/>
                    </a:solidFill>
                  </a:tcPr>
                </a:tc>
                <a:tc>
                  <a:txBody>
                    <a:bodyPr/>
                    <a:lstStyle/>
                    <a:p>
                      <a:r>
                        <a:rPr sz="1425" b="1">
                          <a:solidFill>
                            <a:srgbClr val="454545"/>
                          </a:solidFill>
                          <a:latin typeface="Calibri"/>
                          <a:ea typeface="Calibri"/>
                          <a:cs typeface="Calibri"/>
                        </a:rPr>
                        <a:t>Erste Holm-Hürde</a:t>
                      </a:r>
                    </a:p>
                  </a:txBody>
                  <a:tcPr>
                    <a:solidFill>
                      <a:srgbClr val="F1E3E6"/>
                    </a:solidFill>
                  </a:tcPr>
                </a:tc>
                <a:extLst>
                  <a:ext uri="{0D108BD9-81ED-4DB2-BD59-A6C34878D82A}">
                    <a16:rowId xmlns:a16="http://schemas.microsoft.com/office/drawing/2014/main" val="10000"/>
                  </a:ext>
                </a:extLst>
              </a:tr>
              <a:tr h="266700">
                <a:tc>
                  <a:txBody>
                    <a:bodyPr/>
                    <a:lstStyle/>
                    <a:p>
                      <a:r>
                        <a:rPr sz="1425" b="0">
                          <a:solidFill>
                            <a:srgbClr val="454545"/>
                          </a:solidFill>
                          <a:latin typeface="Calibri"/>
                          <a:ea typeface="Calibri"/>
                          <a:cs typeface="Calibri"/>
                        </a:rPr>
                        <a:t>6</a:t>
                      </a:r>
                    </a:p>
                  </a:txBody>
                  <a:tcPr>
                    <a:solidFill>
                      <a:srgbClr val="FFFFFF"/>
                    </a:solidFill>
                  </a:tcPr>
                </a:tc>
                <a:tc>
                  <a:txBody>
                    <a:bodyPr/>
                    <a:lstStyle/>
                    <a:p>
                      <a:r>
                        <a:rPr sz="1425" b="0">
                          <a:solidFill>
                            <a:srgbClr val="454545"/>
                          </a:solidFill>
                          <a:latin typeface="Calibri"/>
                          <a:ea typeface="Calibri"/>
                          <a:cs typeface="Calibri"/>
                        </a:rPr>
                        <a:t>64</a:t>
                      </a:r>
                    </a:p>
                  </a:txBody>
                  <a:tcPr>
                    <a:solidFill>
                      <a:srgbClr val="FFFFFF"/>
                    </a:solidFill>
                  </a:tcPr>
                </a:tc>
                <a:tc>
                  <a:txBody>
                    <a:bodyPr/>
                    <a:lstStyle/>
                    <a:p>
                      <a:r>
                        <a:rPr sz="1425" b="0">
                          <a:solidFill>
                            <a:srgbClr val="454545"/>
                          </a:solidFill>
                          <a:latin typeface="Calibri"/>
                          <a:ea typeface="Calibri"/>
                          <a:cs typeface="Calibri"/>
                        </a:rPr>
                        <a:t>0,03125</a:t>
                      </a:r>
                    </a:p>
                  </a:txBody>
                  <a:tcPr>
                    <a:solidFill>
                      <a:srgbClr val="FFFFFF"/>
                    </a:solidFill>
                  </a:tcPr>
                </a:tc>
                <a:tc>
                  <a:txBody>
                    <a:bodyPr/>
                    <a:lstStyle/>
                    <a:p>
                      <a:r>
                        <a:rPr sz="1425" b="0">
                          <a:solidFill>
                            <a:srgbClr val="454545"/>
                          </a:solidFill>
                          <a:latin typeface="Calibri"/>
                          <a:ea typeface="Calibri"/>
                          <a:cs typeface="Calibri"/>
                        </a:rPr>
                        <a:t>nicht erreichbar</a:t>
                      </a:r>
                    </a:p>
                  </a:txBody>
                  <a:tcPr>
                    <a:solidFill>
                      <a:srgbClr val="FFFFFF"/>
                    </a:solidFill>
                  </a:tcPr>
                </a:tc>
                <a:extLst>
                  <a:ext uri="{0D108BD9-81ED-4DB2-BD59-A6C34878D82A}">
                    <a16:rowId xmlns:a16="http://schemas.microsoft.com/office/drawing/2014/main" val="10001"/>
                  </a:ext>
                </a:extLst>
              </a:tr>
              <a:tr h="266700">
                <a:tc>
                  <a:txBody>
                    <a:bodyPr/>
                    <a:lstStyle/>
                    <a:p>
                      <a:r>
                        <a:rPr sz="1425" b="0">
                          <a:solidFill>
                            <a:srgbClr val="454545"/>
                          </a:solidFill>
                          <a:latin typeface="Calibri"/>
                          <a:ea typeface="Calibri"/>
                          <a:cs typeface="Calibri"/>
                        </a:rPr>
                        <a:t>7</a:t>
                      </a:r>
                    </a:p>
                  </a:txBody>
                  <a:tcPr>
                    <a:solidFill>
                      <a:srgbClr val="F4F4F4"/>
                    </a:solidFill>
                  </a:tcPr>
                </a:tc>
                <a:tc>
                  <a:txBody>
                    <a:bodyPr/>
                    <a:lstStyle/>
                    <a:p>
                      <a:r>
                        <a:rPr sz="1425" b="0">
                          <a:solidFill>
                            <a:srgbClr val="454545"/>
                          </a:solidFill>
                          <a:latin typeface="Calibri"/>
                          <a:ea typeface="Calibri"/>
                          <a:cs typeface="Calibri"/>
                        </a:rPr>
                        <a:t>128</a:t>
                      </a:r>
                    </a:p>
                  </a:txBody>
                  <a:tcPr>
                    <a:solidFill>
                      <a:srgbClr val="F4F4F4"/>
                    </a:solidFill>
                  </a:tcPr>
                </a:tc>
                <a:tc>
                  <a:txBody>
                    <a:bodyPr/>
                    <a:lstStyle/>
                    <a:p>
                      <a:r>
                        <a:rPr sz="1425" b="0">
                          <a:solidFill>
                            <a:srgbClr val="454545"/>
                          </a:solidFill>
                          <a:latin typeface="Calibri"/>
                          <a:ea typeface="Calibri"/>
                          <a:cs typeface="Calibri"/>
                        </a:rPr>
                        <a:t>0,015625</a:t>
                      </a:r>
                    </a:p>
                  </a:txBody>
                  <a:tcPr>
                    <a:solidFill>
                      <a:srgbClr val="F4F4F4"/>
                    </a:solidFill>
                  </a:tcPr>
                </a:tc>
                <a:tc>
                  <a:txBody>
                    <a:bodyPr/>
                    <a:lstStyle/>
                    <a:p>
                      <a:r>
                        <a:rPr sz="1425" b="0">
                          <a:solidFill>
                            <a:srgbClr val="454545"/>
                          </a:solidFill>
                          <a:latin typeface="Calibri"/>
                          <a:ea typeface="Calibri"/>
                          <a:cs typeface="Calibri"/>
                        </a:rPr>
                        <a:t>nicht erreichbar</a:t>
                      </a:r>
                    </a:p>
                  </a:txBody>
                  <a:tcPr>
                    <a:solidFill>
                      <a:srgbClr val="F4F4F4"/>
                    </a:solidFill>
                  </a:tcPr>
                </a:tc>
                <a:extLst>
                  <a:ext uri="{0D108BD9-81ED-4DB2-BD59-A6C34878D82A}">
                    <a16:rowId xmlns:a16="http://schemas.microsoft.com/office/drawing/2014/main" val="10002"/>
                  </a:ext>
                </a:extLst>
              </a:tr>
              <a:tr h="266700">
                <a:tc>
                  <a:txBody>
                    <a:bodyPr/>
                    <a:lstStyle/>
                    <a:p>
                      <a:r>
                        <a:rPr sz="1425" b="0">
                          <a:solidFill>
                            <a:srgbClr val="454545"/>
                          </a:solidFill>
                          <a:latin typeface="Calibri"/>
                          <a:ea typeface="Calibri"/>
                          <a:cs typeface="Calibri"/>
                        </a:rPr>
                        <a:t>8</a:t>
                      </a:r>
                    </a:p>
                  </a:txBody>
                  <a:tcPr>
                    <a:solidFill>
                      <a:srgbClr val="FFFFFF"/>
                    </a:solidFill>
                  </a:tcPr>
                </a:tc>
                <a:tc>
                  <a:txBody>
                    <a:bodyPr/>
                    <a:lstStyle/>
                    <a:p>
                      <a:r>
                        <a:rPr sz="1425" b="0">
                          <a:solidFill>
                            <a:srgbClr val="454545"/>
                          </a:solidFill>
                          <a:latin typeface="Calibri"/>
                          <a:ea typeface="Calibri"/>
                          <a:cs typeface="Calibri"/>
                        </a:rPr>
                        <a:t>256</a:t>
                      </a:r>
                    </a:p>
                  </a:txBody>
                  <a:tcPr>
                    <a:solidFill>
                      <a:srgbClr val="FFFFFF"/>
                    </a:solidFill>
                  </a:tcPr>
                </a:tc>
                <a:tc>
                  <a:txBody>
                    <a:bodyPr/>
                    <a:lstStyle/>
                    <a:p>
                      <a:r>
                        <a:rPr sz="1425" b="0">
                          <a:solidFill>
                            <a:srgbClr val="454545"/>
                          </a:solidFill>
                          <a:latin typeface="Calibri"/>
                          <a:ea typeface="Calibri"/>
                          <a:cs typeface="Calibri"/>
                        </a:rPr>
                        <a:t>0,0078125</a:t>
                      </a:r>
                    </a:p>
                  </a:txBody>
                  <a:tcPr>
                    <a:solidFill>
                      <a:srgbClr val="FFFFFF"/>
                    </a:solidFill>
                  </a:tcPr>
                </a:tc>
                <a:tc>
                  <a:txBody>
                    <a:bodyPr/>
                    <a:lstStyle/>
                    <a:p>
                      <a:r>
                        <a:rPr sz="1425" b="0">
                          <a:solidFill>
                            <a:srgbClr val="454545"/>
                          </a:solidFill>
                          <a:latin typeface="Calibri"/>
                          <a:ea typeface="Calibri"/>
                          <a:cs typeface="Calibri"/>
                        </a:rPr>
                        <a:t>erreichbar</a:t>
                      </a:r>
                    </a:p>
                  </a:txBody>
                  <a:tcPr>
                    <a:solidFill>
                      <a:srgbClr val="FFFFFF"/>
                    </a:solidFill>
                  </a:tcPr>
                </a:tc>
                <a:extLst>
                  <a:ext uri="{0D108BD9-81ED-4DB2-BD59-A6C34878D82A}">
                    <a16:rowId xmlns:a16="http://schemas.microsoft.com/office/drawing/2014/main" val="10003"/>
                  </a:ext>
                </a:extLst>
              </a:tr>
            </a:tbl>
          </a:graphicData>
        </a:graphic>
      </p:graphicFrame>
      <p:sp>
        <p:nvSpPr>
          <p:cNvPr id="513" name="Rechteck 512">
            <a:extLst>
              <a:ext uri="{FF2B5EF4-FFF2-40B4-BE49-F238E27FC236}">
                <a16:creationId xmlns:a16="http://schemas.microsoft.com/office/drawing/2014/main" id="{05906663-91DB-49EF-BD2E-6257774B1D2E}"/>
              </a:ext>
            </a:extLst>
          </p:cNvPr>
          <p:cNvSpPr>
            <a:spLocks noGrp="1"/>
          </p:cNvSpPr>
          <p:nvPr/>
        </p:nvSpPr>
        <p:spPr>
          <a:xfrm>
            <a:off x="552450" y="5715000"/>
            <a:ext cx="9353550" cy="2667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8 Zellen ermöglichen Signifikanz rechnerisch. Sie garantieren sie nicht.</a:t>
            </a:r>
          </a:p>
        </p:txBody>
      </p:sp>
    </p:spTree>
    <p:extLst>
      <p:ext uri="{BB962C8B-B14F-4D97-AF65-F5344CB8AC3E}">
        <p14:creationId xmlns:p14="http://schemas.microsoft.com/office/powerpoint/2010/main" val="15989129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Bootstrap und 95%-Konfidenzintervall</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27</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7D0AB3D3-0155-4CCE-97AD-6B867D00B8F3}"/>
              </a:ext>
            </a:extLst>
          </p:cNvPr>
          <p:cNvSpPr>
            <a:spLocks noGrp="1"/>
          </p:cNvSpPr>
          <p:nvPr/>
        </p:nvSpPr>
        <p:spPr>
          <a:xfrm>
            <a:off x="552450" y="1381125"/>
            <a:ext cx="9353550" cy="304800"/>
          </a:xfrm>
          <a:prstGeom prst="rect">
            <a:avLst/>
          </a:prstGeom>
          <a:noFill/>
          <a:ln w="0">
            <a:noFill/>
          </a:ln>
        </p:spPr>
        <p:txBody>
          <a:bodyPr>
            <a:noAutofit/>
          </a:bodyPr>
          <a:lstStyle/>
          <a:p>
            <a:pPr>
              <a:defRPr sz="1800" b="1">
                <a:solidFill>
                  <a:srgbClr val="C8102E"/>
                </a:solidFill>
                <a:latin typeface="Calibri"/>
                <a:ea typeface="Calibri"/>
                <a:cs typeface="Calibri"/>
              </a:defRPr>
            </a:pPr>
            <a:r>
              <a:rPr sz="1800" b="1">
                <a:solidFill>
                  <a:srgbClr val="C8102E"/>
                </a:solidFill>
                <a:latin typeface="Calibri"/>
                <a:ea typeface="Calibri"/>
                <a:cs typeface="Calibri"/>
              </a:rPr>
              <a:t>1  Ausgangspunkt: sechs gleich gewichtete Zellwerte</a:t>
            </a:r>
          </a:p>
        </p:txBody>
      </p:sp>
      <p:sp>
        <p:nvSpPr>
          <p:cNvPr id="503" name="Rechteck 502">
            <a:extLst>
              <a:ext uri="{FF2B5EF4-FFF2-40B4-BE49-F238E27FC236}">
                <a16:creationId xmlns:a16="http://schemas.microsoft.com/office/drawing/2014/main" id="{FFE13186-3C2D-4B87-B964-3E7ECD7CEC3A}"/>
              </a:ext>
            </a:extLst>
          </p:cNvPr>
          <p:cNvSpPr>
            <a:spLocks noGrp="1"/>
          </p:cNvSpPr>
          <p:nvPr/>
        </p:nvSpPr>
        <p:spPr>
          <a:xfrm>
            <a:off x="552450" y="1733550"/>
            <a:ext cx="9353550" cy="2857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16 Fenster zuerst je Zelle mitteln. Der Balken mittelt die sechs Zellwerte gleich gewichtet.</a:t>
            </a:r>
          </a:p>
        </p:txBody>
      </p:sp>
      <p:sp>
        <p:nvSpPr>
          <p:cNvPr id="504" name="Rechteck 503">
            <a:extLst>
              <a:ext uri="{FF2B5EF4-FFF2-40B4-BE49-F238E27FC236}">
                <a16:creationId xmlns:a16="http://schemas.microsoft.com/office/drawing/2014/main" id="{E24081F5-5529-449D-8357-3A113DFF43AA}"/>
              </a:ext>
            </a:extLst>
          </p:cNvPr>
          <p:cNvSpPr>
            <a:spLocks noGrp="1"/>
          </p:cNvSpPr>
          <p:nvPr/>
        </p:nvSpPr>
        <p:spPr>
          <a:xfrm>
            <a:off x="552450" y="2085975"/>
            <a:ext cx="9353550" cy="285750"/>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2  Zufällig sechs Zellen ziehen, mit Zurücklegen</a:t>
            </a:r>
          </a:p>
        </p:txBody>
      </p:sp>
      <p:sp>
        <p:nvSpPr>
          <p:cNvPr id="505" name="Rechteck 504">
            <a:extLst>
              <a:ext uri="{FF2B5EF4-FFF2-40B4-BE49-F238E27FC236}">
                <a16:creationId xmlns:a16="http://schemas.microsoft.com/office/drawing/2014/main" id="{30AE5B61-DDE2-4FF9-AABF-B7F91484E477}"/>
              </a:ext>
            </a:extLst>
          </p:cNvPr>
          <p:cNvSpPr>
            <a:spLocks noGrp="1"/>
          </p:cNvSpPr>
          <p:nvPr/>
        </p:nvSpPr>
        <p:spPr>
          <a:xfrm>
            <a:off x="552450" y="2390775"/>
            <a:ext cx="9353550" cy="276225"/>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Erfundenes Beispiel: Zellen dürfen mehrfach vorkommen, andere fehlen.</a:t>
            </a:r>
          </a:p>
        </p:txBody>
      </p:sp>
      <p:graphicFrame>
        <p:nvGraphicFramePr>
          <p:cNvPr id="506" name="Tabelle 505"/>
          <p:cNvGraphicFramePr/>
          <p:nvPr/>
        </p:nvGraphicFramePr>
        <p:xfrm>
          <a:off x="552450" y="2714625"/>
          <a:ext cx="9353550" cy="1234440"/>
        </p:xfrm>
        <a:graphic>
          <a:graphicData uri="http://schemas.openxmlformats.org/drawingml/2006/table">
            <a:tbl>
              <a:tblPr/>
              <a:tblGrid>
                <a:gridCol w="2190750">
                  <a:extLst>
                    <a:ext uri="{9D8B030D-6E8A-4147-A177-3AD203B41FA5}">
                      <a16:colId xmlns:a16="http://schemas.microsoft.com/office/drawing/2014/main" val="20000"/>
                    </a:ext>
                  </a:extLst>
                </a:gridCol>
                <a:gridCol w="5238750">
                  <a:extLst>
                    <a:ext uri="{9D8B030D-6E8A-4147-A177-3AD203B41FA5}">
                      <a16:colId xmlns:a16="http://schemas.microsoft.com/office/drawing/2014/main" val="20001"/>
                    </a:ext>
                  </a:extLst>
                </a:gridCol>
                <a:gridCol w="1924050">
                  <a:extLst>
                    <a:ext uri="{9D8B030D-6E8A-4147-A177-3AD203B41FA5}">
                      <a16:colId xmlns:a16="http://schemas.microsoft.com/office/drawing/2014/main" val="20002"/>
                    </a:ext>
                  </a:extLst>
                </a:gridCol>
              </a:tblGrid>
              <a:tr h="266700">
                <a:tc>
                  <a:txBody>
                    <a:bodyPr/>
                    <a:lstStyle/>
                    <a:p>
                      <a:r>
                        <a:rPr sz="1425" b="1">
                          <a:solidFill>
                            <a:srgbClr val="454545"/>
                          </a:solidFill>
                          <a:latin typeface="Calibri"/>
                          <a:ea typeface="Calibri"/>
                          <a:cs typeface="Calibri"/>
                        </a:rPr>
                        <a:t>Zusammenstellung</a:t>
                      </a:r>
                    </a:p>
                  </a:txBody>
                  <a:tcPr>
                    <a:solidFill>
                      <a:srgbClr val="F1E3E6"/>
                    </a:solidFill>
                  </a:tcPr>
                </a:tc>
                <a:tc>
                  <a:txBody>
                    <a:bodyPr/>
                    <a:lstStyle/>
                    <a:p>
                      <a:r>
                        <a:rPr sz="1425" b="1">
                          <a:solidFill>
                            <a:srgbClr val="454545"/>
                          </a:solidFill>
                          <a:latin typeface="Calibri"/>
                          <a:ea typeface="Calibri"/>
                          <a:cs typeface="Calibri"/>
                        </a:rPr>
                        <a:t>Sechs Zell-MAE-Werte in %</a:t>
                      </a:r>
                    </a:p>
                  </a:txBody>
                  <a:tcPr>
                    <a:solidFill>
                      <a:srgbClr val="F1E3E6"/>
                    </a:solidFill>
                  </a:tcPr>
                </a:tc>
                <a:tc>
                  <a:txBody>
                    <a:bodyPr/>
                    <a:lstStyle/>
                    <a:p>
                      <a:r>
                        <a:rPr sz="1425" b="1">
                          <a:solidFill>
                            <a:srgbClr val="454545"/>
                          </a:solidFill>
                          <a:latin typeface="Calibri"/>
                          <a:ea typeface="Calibri"/>
                          <a:cs typeface="Calibri"/>
                        </a:rPr>
                        <a:t>Mittelwert</a:t>
                      </a:r>
                    </a:p>
                  </a:txBody>
                  <a:tcPr>
                    <a:solidFill>
                      <a:srgbClr val="F1E3E6"/>
                    </a:solidFill>
                  </a:tcPr>
                </a:tc>
                <a:extLst>
                  <a:ext uri="{0D108BD9-81ED-4DB2-BD59-A6C34878D82A}">
                    <a16:rowId xmlns:a16="http://schemas.microsoft.com/office/drawing/2014/main" val="10000"/>
                  </a:ext>
                </a:extLst>
              </a:tr>
              <a:tr h="266700">
                <a:tc>
                  <a:txBody>
                    <a:bodyPr/>
                    <a:lstStyle/>
                    <a:p>
                      <a:r>
                        <a:rPr sz="1425" b="0">
                          <a:solidFill>
                            <a:srgbClr val="454545"/>
                          </a:solidFill>
                          <a:latin typeface="Calibri"/>
                          <a:ea typeface="Calibri"/>
                          <a:cs typeface="Calibri"/>
                        </a:rPr>
                        <a:t>Original: A B C D E F</a:t>
                      </a:r>
                    </a:p>
                  </a:txBody>
                  <a:tcPr>
                    <a:solidFill>
                      <a:srgbClr val="FFFFFF"/>
                    </a:solidFill>
                  </a:tcPr>
                </a:tc>
                <a:tc>
                  <a:txBody>
                    <a:bodyPr/>
                    <a:lstStyle/>
                    <a:p>
                      <a:r>
                        <a:rPr sz="1425" b="0">
                          <a:solidFill>
                            <a:srgbClr val="454545"/>
                          </a:solidFill>
                          <a:latin typeface="Calibri"/>
                          <a:ea typeface="Calibri"/>
                          <a:cs typeface="Calibri"/>
                        </a:rPr>
                        <a:t>2 + 3 + 4 + 5 + 6 + 10</a:t>
                      </a:r>
                    </a:p>
                  </a:txBody>
                  <a:tcPr>
                    <a:solidFill>
                      <a:srgbClr val="FFFFFF"/>
                    </a:solidFill>
                  </a:tcPr>
                </a:tc>
                <a:tc>
                  <a:txBody>
                    <a:bodyPr/>
                    <a:lstStyle/>
                    <a:p>
                      <a:r>
                        <a:rPr sz="1425" b="0">
                          <a:solidFill>
                            <a:srgbClr val="454545"/>
                          </a:solidFill>
                          <a:latin typeface="Calibri"/>
                          <a:ea typeface="Calibri"/>
                          <a:cs typeface="Calibri"/>
                        </a:rPr>
                        <a:t>30 / 6 = 5 %</a:t>
                      </a:r>
                    </a:p>
                  </a:txBody>
                  <a:tcPr>
                    <a:solidFill>
                      <a:srgbClr val="FFFFFF"/>
                    </a:solidFill>
                  </a:tcPr>
                </a:tc>
                <a:extLst>
                  <a:ext uri="{0D108BD9-81ED-4DB2-BD59-A6C34878D82A}">
                    <a16:rowId xmlns:a16="http://schemas.microsoft.com/office/drawing/2014/main" val="10001"/>
                  </a:ext>
                </a:extLst>
              </a:tr>
              <a:tr h="266700">
                <a:tc>
                  <a:txBody>
                    <a:bodyPr/>
                    <a:lstStyle/>
                    <a:p>
                      <a:r>
                        <a:rPr sz="1425" b="0">
                          <a:solidFill>
                            <a:srgbClr val="454545"/>
                          </a:solidFill>
                          <a:latin typeface="Calibri"/>
                          <a:ea typeface="Calibri"/>
                          <a:cs typeface="Calibri"/>
                        </a:rPr>
                        <a:t>Ziehung 1: A A B C D F</a:t>
                      </a:r>
                    </a:p>
                  </a:txBody>
                  <a:tcPr>
                    <a:solidFill>
                      <a:srgbClr val="F4F4F4"/>
                    </a:solidFill>
                  </a:tcPr>
                </a:tc>
                <a:tc>
                  <a:txBody>
                    <a:bodyPr/>
                    <a:lstStyle/>
                    <a:p>
                      <a:r>
                        <a:rPr sz="1425" b="0">
                          <a:solidFill>
                            <a:srgbClr val="454545"/>
                          </a:solidFill>
                          <a:latin typeface="Calibri"/>
                          <a:ea typeface="Calibri"/>
                          <a:cs typeface="Calibri"/>
                        </a:rPr>
                        <a:t>2 + 2 + 3 + 4 + 5 + 10</a:t>
                      </a:r>
                    </a:p>
                  </a:txBody>
                  <a:tcPr>
                    <a:solidFill>
                      <a:srgbClr val="F4F4F4"/>
                    </a:solidFill>
                  </a:tcPr>
                </a:tc>
                <a:tc>
                  <a:txBody>
                    <a:bodyPr/>
                    <a:lstStyle/>
                    <a:p>
                      <a:r>
                        <a:rPr sz="1425" b="0">
                          <a:solidFill>
                            <a:srgbClr val="454545"/>
                          </a:solidFill>
                          <a:latin typeface="Calibri"/>
                          <a:ea typeface="Calibri"/>
                          <a:cs typeface="Calibri"/>
                        </a:rPr>
                        <a:t>26 / 6 ≈ 4,33 %</a:t>
                      </a:r>
                    </a:p>
                  </a:txBody>
                  <a:tcPr>
                    <a:solidFill>
                      <a:srgbClr val="F4F4F4"/>
                    </a:solidFill>
                  </a:tcPr>
                </a:tc>
                <a:extLst>
                  <a:ext uri="{0D108BD9-81ED-4DB2-BD59-A6C34878D82A}">
                    <a16:rowId xmlns:a16="http://schemas.microsoft.com/office/drawing/2014/main" val="10002"/>
                  </a:ext>
                </a:extLst>
              </a:tr>
              <a:tr h="266700">
                <a:tc>
                  <a:txBody>
                    <a:bodyPr/>
                    <a:lstStyle/>
                    <a:p>
                      <a:r>
                        <a:rPr sz="1425" b="0">
                          <a:solidFill>
                            <a:srgbClr val="454545"/>
                          </a:solidFill>
                          <a:latin typeface="Calibri"/>
                          <a:ea typeface="Calibri"/>
                          <a:cs typeface="Calibri"/>
                        </a:rPr>
                        <a:t>Ziehung 2: F F E D C B</a:t>
                      </a:r>
                    </a:p>
                  </a:txBody>
                  <a:tcPr>
                    <a:solidFill>
                      <a:srgbClr val="FFFFFF"/>
                    </a:solidFill>
                  </a:tcPr>
                </a:tc>
                <a:tc>
                  <a:txBody>
                    <a:bodyPr/>
                    <a:lstStyle/>
                    <a:p>
                      <a:r>
                        <a:rPr sz="1425" b="0">
                          <a:solidFill>
                            <a:srgbClr val="454545"/>
                          </a:solidFill>
                          <a:latin typeface="Calibri"/>
                          <a:ea typeface="Calibri"/>
                          <a:cs typeface="Calibri"/>
                        </a:rPr>
                        <a:t>10 + 10 + 6 + 5 + 4 + 3</a:t>
                      </a:r>
                    </a:p>
                  </a:txBody>
                  <a:tcPr>
                    <a:solidFill>
                      <a:srgbClr val="FFFFFF"/>
                    </a:solidFill>
                  </a:tcPr>
                </a:tc>
                <a:tc>
                  <a:txBody>
                    <a:bodyPr/>
                    <a:lstStyle/>
                    <a:p>
                      <a:r>
                        <a:rPr sz="1425" b="0">
                          <a:solidFill>
                            <a:srgbClr val="454545"/>
                          </a:solidFill>
                          <a:latin typeface="Calibri"/>
                          <a:ea typeface="Calibri"/>
                          <a:cs typeface="Calibri"/>
                        </a:rPr>
                        <a:t>38 / 6 ≈ 6,33 %</a:t>
                      </a:r>
                    </a:p>
                  </a:txBody>
                  <a:tcPr>
                    <a:solidFill>
                      <a:srgbClr val="FFFFFF"/>
                    </a:solidFill>
                  </a:tcPr>
                </a:tc>
                <a:extLst>
                  <a:ext uri="{0D108BD9-81ED-4DB2-BD59-A6C34878D82A}">
                    <a16:rowId xmlns:a16="http://schemas.microsoft.com/office/drawing/2014/main" val="10003"/>
                  </a:ext>
                </a:extLst>
              </a:tr>
            </a:tbl>
          </a:graphicData>
        </a:graphic>
      </p:graphicFrame>
      <p:sp>
        <p:nvSpPr>
          <p:cNvPr id="507" name="Rechteck 506">
            <a:extLst>
              <a:ext uri="{FF2B5EF4-FFF2-40B4-BE49-F238E27FC236}">
                <a16:creationId xmlns:a16="http://schemas.microsoft.com/office/drawing/2014/main" id="{2C85167D-1D30-44F0-992F-50F3504B0CA8}"/>
              </a:ext>
            </a:extLst>
          </p:cNvPr>
          <p:cNvSpPr>
            <a:spLocks noGrp="1"/>
          </p:cNvSpPr>
          <p:nvPr/>
        </p:nvSpPr>
        <p:spPr>
          <a:xfrm>
            <a:off x="552450" y="4010025"/>
            <a:ext cx="9353550" cy="295275"/>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3  10.000-mal neu ziehen und jeweils den Mittelwert berechnen</a:t>
            </a:r>
          </a:p>
        </p:txBody>
      </p:sp>
      <p:sp>
        <p:nvSpPr>
          <p:cNvPr id="508" name="Rechteck 507">
            <a:extLst>
              <a:ext uri="{FF2B5EF4-FFF2-40B4-BE49-F238E27FC236}">
                <a16:creationId xmlns:a16="http://schemas.microsoft.com/office/drawing/2014/main" id="{1C477A5A-191A-4B89-99FA-247F5F032B51}"/>
              </a:ext>
            </a:extLst>
          </p:cNvPr>
          <p:cNvSpPr>
            <a:spLocks noGrp="1"/>
          </p:cNvSpPr>
          <p:nvPr/>
        </p:nvSpPr>
        <p:spPr>
          <a:xfrm>
            <a:off x="552450" y="4324350"/>
            <a:ext cx="9353550" cy="276225"/>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Die vorhandenen Daten werden neu kombiniert. Es entstehen 10.000 Mittelwerte.</a:t>
            </a:r>
          </a:p>
        </p:txBody>
      </p:sp>
      <p:sp>
        <p:nvSpPr>
          <p:cNvPr id="509" name="Rechteck 508">
            <a:extLst>
              <a:ext uri="{FF2B5EF4-FFF2-40B4-BE49-F238E27FC236}">
                <a16:creationId xmlns:a16="http://schemas.microsoft.com/office/drawing/2014/main" id="{2FE86BD4-0965-4765-A143-D613D0AC0707}"/>
              </a:ext>
            </a:extLst>
          </p:cNvPr>
          <p:cNvSpPr>
            <a:spLocks noGrp="1"/>
          </p:cNvSpPr>
          <p:nvPr/>
        </p:nvSpPr>
        <p:spPr>
          <a:xfrm>
            <a:off x="552450" y="4648200"/>
            <a:ext cx="9353550" cy="295275"/>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4  95%-Intervall: 2,5%- bis 97,5%-Perzentil der Mittelwerte</a:t>
            </a:r>
          </a:p>
        </p:txBody>
      </p:sp>
      <p:sp>
        <p:nvSpPr>
          <p:cNvPr id="510" name="Rechteck 509">
            <a:extLst>
              <a:ext uri="{FF2B5EF4-FFF2-40B4-BE49-F238E27FC236}">
                <a16:creationId xmlns:a16="http://schemas.microsoft.com/office/drawing/2014/main" id="{D2EDDB03-4DBD-4361-A061-D8E9A630653B}"/>
              </a:ext>
            </a:extLst>
          </p:cNvPr>
          <p:cNvSpPr>
            <a:spLocks noGrp="1"/>
          </p:cNvSpPr>
          <p:nvPr/>
        </p:nvSpPr>
        <p:spPr>
          <a:xfrm>
            <a:off x="552450" y="4962525"/>
            <a:ext cx="9353550" cy="276225"/>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Die mittleren 95 % bilden den Bereich. 95 % ist gewählt; 99 % ergibt ein breiteres Intervall.</a:t>
            </a:r>
          </a:p>
        </p:txBody>
      </p:sp>
      <p:sp>
        <p:nvSpPr>
          <p:cNvPr id="511" name="Rechteck 510">
            <a:extLst>
              <a:ext uri="{FF2B5EF4-FFF2-40B4-BE49-F238E27FC236}">
                <a16:creationId xmlns:a16="http://schemas.microsoft.com/office/drawing/2014/main" id="{0B576A80-01FE-48F7-B697-72F46D217BBF}"/>
              </a:ext>
            </a:extLst>
          </p:cNvPr>
          <p:cNvSpPr>
            <a:spLocks noGrp="1"/>
          </p:cNvSpPr>
          <p:nvPr/>
        </p:nvSpPr>
        <p:spPr>
          <a:xfrm>
            <a:off x="552450" y="5191125"/>
            <a:ext cx="9353550" cy="285750"/>
          </a:xfrm>
          <a:prstGeom prst="rect">
            <a:avLst/>
          </a:prstGeom>
          <a:noFill/>
          <a:ln w="0">
            <a:noFill/>
          </a:ln>
        </p:spPr>
        <p:txBody>
          <a:bodyPr>
            <a:noAutofit/>
          </a:bodyPr>
          <a:lstStyle/>
          <a:p>
            <a:pPr>
              <a:defRPr sz="1650" b="1">
                <a:solidFill>
                  <a:srgbClr val="C8102E"/>
                </a:solidFill>
                <a:latin typeface="Calibri"/>
                <a:ea typeface="Calibri"/>
                <a:cs typeface="Calibri"/>
              </a:defRPr>
            </a:pPr>
            <a:r>
              <a:rPr sz="1650" b="1">
                <a:solidFill>
                  <a:srgbClr val="C8102E"/>
                </a:solidFill>
                <a:latin typeface="Calibri"/>
                <a:ea typeface="Calibri"/>
                <a:cs typeface="Calibri"/>
              </a:rPr>
              <a:t>Warum Bootstrap statt eines Intervalls mit Normalitätsannahme?</a:t>
            </a:r>
          </a:p>
        </p:txBody>
      </p:sp>
      <p:sp>
        <p:nvSpPr>
          <p:cNvPr id="512" name="Rechteck 511">
            <a:extLst>
              <a:ext uri="{FF2B5EF4-FFF2-40B4-BE49-F238E27FC236}">
                <a16:creationId xmlns:a16="http://schemas.microsoft.com/office/drawing/2014/main" id="{6E84AD8F-817D-496B-B061-B01F96F1BF16}"/>
              </a:ext>
            </a:extLst>
          </p:cNvPr>
          <p:cNvSpPr>
            <a:spLocks noGrp="1"/>
          </p:cNvSpPr>
          <p:nvPr/>
        </p:nvSpPr>
        <p:spPr>
          <a:xfrm>
            <a:off x="552450" y="5476875"/>
            <a:ext cx="9353550" cy="49530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Bootstrap setzt keine Normalverteilung der Zellwerte voraus und bildet ihre Gruppierung ab.</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Ein t-Intervall wäre bei plausibler Normalität möglich. Sechs Zellen bleiben bei beiden wenig.</a:t>
            </a:r>
          </a:p>
        </p:txBody>
      </p:sp>
    </p:spTree>
    <p:extLst>
      <p:ext uri="{BB962C8B-B14F-4D97-AF65-F5344CB8AC3E}">
        <p14:creationId xmlns:p14="http://schemas.microsoft.com/office/powerpoint/2010/main" val="15989129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DoE: systematische Kombination von Belastungen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8102E"/>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28</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0C4E6581-D06E-4FB1-9602-CEEF0825BE9E}"/>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Mit begrenzten Zellen mehrere Betriebsbedingungen gezielt abdecken.</a:t>
            </a:r>
          </a:p>
        </p:txBody>
      </p:sp>
      <p:sp>
        <p:nvSpPr>
          <p:cNvPr id="503" name="Rechteck 502">
            <a:extLst>
              <a:ext uri="{FF2B5EF4-FFF2-40B4-BE49-F238E27FC236}">
                <a16:creationId xmlns:a16="http://schemas.microsoft.com/office/drawing/2014/main" id="{82450314-6630-487E-A757-59A574513E18}"/>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LFP-Kampagne: Lade-C-Rate, Entlade-C-Rate und Entladetiefe variieren.</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15 Zellen decken acht Betriebspunkte eines gemischten faktoriellen Plans ab.</a:t>
            </a:r>
          </a:p>
        </p:txBody>
      </p:sp>
      <p:sp>
        <p:nvSpPr>
          <p:cNvPr id="504" name="Rechteck 503">
            <a:extLst>
              <a:ext uri="{FF2B5EF4-FFF2-40B4-BE49-F238E27FC236}">
                <a16:creationId xmlns:a16="http://schemas.microsoft.com/office/drawing/2014/main" id="{18F62545-4FB6-4201-A18C-B599C554E864}"/>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Lehrbeispiel mit zwei Faktoren, dritter Faktor konstant</a:t>
            </a:r>
          </a:p>
        </p:txBody>
      </p:sp>
      <p:graphicFrame>
        <p:nvGraphicFramePr>
          <p:cNvPr id="505" name="Tabelle 504"/>
          <p:cNvGraphicFramePr/>
          <p:nvPr/>
        </p:nvGraphicFramePr>
        <p:xfrm>
          <a:off x="552450" y="3048000"/>
          <a:ext cx="9353550" cy="1619250"/>
        </p:xfrm>
        <a:graphic>
          <a:graphicData uri="http://schemas.openxmlformats.org/drawingml/2006/table">
            <a:tbl>
              <a:tblPr/>
              <a:tblGrid>
                <a:gridCol w="21907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2781300">
                  <a:extLst>
                    <a:ext uri="{9D8B030D-6E8A-4147-A177-3AD203B41FA5}">
                      <a16:colId xmlns:a16="http://schemas.microsoft.com/office/drawing/2014/main" val="20003"/>
                    </a:ext>
                  </a:extLst>
                </a:gridCol>
              </a:tblGrid>
              <a:tr h="323850">
                <a:tc>
                  <a:txBody>
                    <a:bodyPr/>
                    <a:lstStyle/>
                    <a:p>
                      <a:r>
                        <a:rPr sz="1425" b="1">
                          <a:solidFill>
                            <a:srgbClr val="454545"/>
                          </a:solidFill>
                          <a:latin typeface="Calibri"/>
                          <a:ea typeface="Calibri"/>
                          <a:cs typeface="Calibri"/>
                        </a:rPr>
                        <a:t>Versuch</a:t>
                      </a:r>
                    </a:p>
                  </a:txBody>
                  <a:tcPr>
                    <a:solidFill>
                      <a:srgbClr val="F1E3E6"/>
                    </a:solidFill>
                  </a:tcPr>
                </a:tc>
                <a:tc>
                  <a:txBody>
                    <a:bodyPr/>
                    <a:lstStyle/>
                    <a:p>
                      <a:r>
                        <a:rPr sz="1425" b="1">
                          <a:solidFill>
                            <a:srgbClr val="454545"/>
                          </a:solidFill>
                          <a:latin typeface="Calibri"/>
                          <a:ea typeface="Calibri"/>
                          <a:cs typeface="Calibri"/>
                        </a:rPr>
                        <a:t>Ladestrom</a:t>
                      </a:r>
                    </a:p>
                  </a:txBody>
                  <a:tcPr>
                    <a:solidFill>
                      <a:srgbClr val="F1E3E6"/>
                    </a:solidFill>
                  </a:tcPr>
                </a:tc>
                <a:tc>
                  <a:txBody>
                    <a:bodyPr/>
                    <a:lstStyle/>
                    <a:p>
                      <a:r>
                        <a:rPr sz="1425" b="1">
                          <a:solidFill>
                            <a:srgbClr val="454545"/>
                          </a:solidFill>
                          <a:latin typeface="Calibri"/>
                          <a:ea typeface="Calibri"/>
                          <a:cs typeface="Calibri"/>
                        </a:rPr>
                        <a:t>Entladetiefe</a:t>
                      </a:r>
                    </a:p>
                  </a:txBody>
                  <a:tcPr>
                    <a:solidFill>
                      <a:srgbClr val="F1E3E6"/>
                    </a:solidFill>
                  </a:tcPr>
                </a:tc>
                <a:tc>
                  <a:txBody>
                    <a:bodyPr/>
                    <a:lstStyle/>
                    <a:p>
                      <a:r>
                        <a:rPr sz="1425" b="1">
                          <a:solidFill>
                            <a:srgbClr val="454545"/>
                          </a:solidFill>
                          <a:latin typeface="Calibri"/>
                          <a:ea typeface="Calibri"/>
                          <a:cs typeface="Calibri"/>
                        </a:rPr>
                        <a:t>Kapazitätsverlust</a:t>
                      </a:r>
                    </a:p>
                  </a:txBody>
                  <a:tcPr>
                    <a:solidFill>
                      <a:srgbClr val="F1E3E6"/>
                    </a:solidFill>
                  </a:tcPr>
                </a:tc>
                <a:extLst>
                  <a:ext uri="{0D108BD9-81ED-4DB2-BD59-A6C34878D82A}">
                    <a16:rowId xmlns:a16="http://schemas.microsoft.com/office/drawing/2014/main" val="10000"/>
                  </a:ext>
                </a:extLst>
              </a:tr>
              <a:tr h="323850">
                <a:tc>
                  <a:txBody>
                    <a:bodyPr/>
                    <a:lstStyle/>
                    <a:p>
                      <a:r>
                        <a:rPr sz="1425" b="0">
                          <a:solidFill>
                            <a:srgbClr val="454545"/>
                          </a:solidFill>
                          <a:latin typeface="Calibri"/>
                          <a:ea typeface="Calibri"/>
                          <a:cs typeface="Calibri"/>
                        </a:rPr>
                        <a:t>A</a:t>
                      </a:r>
                    </a:p>
                  </a:txBody>
                  <a:tcPr>
                    <a:solidFill>
                      <a:srgbClr val="FFFFFF"/>
                    </a:solidFill>
                  </a:tcPr>
                </a:tc>
                <a:tc>
                  <a:txBody>
                    <a:bodyPr/>
                    <a:lstStyle/>
                    <a:p>
                      <a:r>
                        <a:rPr sz="1425" b="0">
                          <a:solidFill>
                            <a:srgbClr val="454545"/>
                          </a:solidFill>
                          <a:latin typeface="Calibri"/>
                          <a:ea typeface="Calibri"/>
                          <a:cs typeface="Calibri"/>
                        </a:rPr>
                        <a:t>niedrig</a:t>
                      </a:r>
                    </a:p>
                  </a:txBody>
                  <a:tcPr>
                    <a:solidFill>
                      <a:srgbClr val="FFFFFF"/>
                    </a:solidFill>
                  </a:tcPr>
                </a:tc>
                <a:tc>
                  <a:txBody>
                    <a:bodyPr/>
                    <a:lstStyle/>
                    <a:p>
                      <a:r>
                        <a:rPr sz="1425" b="0">
                          <a:solidFill>
                            <a:srgbClr val="454545"/>
                          </a:solidFill>
                          <a:latin typeface="Calibri"/>
                          <a:ea typeface="Calibri"/>
                          <a:cs typeface="Calibri"/>
                        </a:rPr>
                        <a:t>flach</a:t>
                      </a:r>
                    </a:p>
                  </a:txBody>
                  <a:tcPr>
                    <a:solidFill>
                      <a:srgbClr val="FFFFFF"/>
                    </a:solidFill>
                  </a:tcPr>
                </a:tc>
                <a:tc>
                  <a:txBody>
                    <a:bodyPr/>
                    <a:lstStyle/>
                    <a:p>
                      <a:r>
                        <a:rPr sz="1425" b="0">
                          <a:solidFill>
                            <a:srgbClr val="454545"/>
                          </a:solidFill>
                          <a:latin typeface="Calibri"/>
                          <a:ea typeface="Calibri"/>
                          <a:cs typeface="Calibri"/>
                        </a:rPr>
                        <a:t>1 %</a:t>
                      </a:r>
                    </a:p>
                  </a:txBody>
                  <a:tcPr>
                    <a:solidFill>
                      <a:srgbClr val="FFFFFF"/>
                    </a:solidFill>
                  </a:tcPr>
                </a:tc>
                <a:extLst>
                  <a:ext uri="{0D108BD9-81ED-4DB2-BD59-A6C34878D82A}">
                    <a16:rowId xmlns:a16="http://schemas.microsoft.com/office/drawing/2014/main" val="10001"/>
                  </a:ext>
                </a:extLst>
              </a:tr>
              <a:tr h="323850">
                <a:tc>
                  <a:txBody>
                    <a:bodyPr/>
                    <a:lstStyle/>
                    <a:p>
                      <a:r>
                        <a:rPr sz="1425" b="0">
                          <a:solidFill>
                            <a:srgbClr val="454545"/>
                          </a:solidFill>
                          <a:latin typeface="Calibri"/>
                          <a:ea typeface="Calibri"/>
                          <a:cs typeface="Calibri"/>
                        </a:rPr>
                        <a:t>B</a:t>
                      </a:r>
                    </a:p>
                  </a:txBody>
                  <a:tcPr>
                    <a:solidFill>
                      <a:srgbClr val="F4F4F4"/>
                    </a:solidFill>
                  </a:tcPr>
                </a:tc>
                <a:tc>
                  <a:txBody>
                    <a:bodyPr/>
                    <a:lstStyle/>
                    <a:p>
                      <a:r>
                        <a:rPr sz="1425" b="0">
                          <a:solidFill>
                            <a:srgbClr val="454545"/>
                          </a:solidFill>
                          <a:latin typeface="Calibri"/>
                          <a:ea typeface="Calibri"/>
                          <a:cs typeface="Calibri"/>
                        </a:rPr>
                        <a:t>hoch</a:t>
                      </a:r>
                    </a:p>
                  </a:txBody>
                  <a:tcPr>
                    <a:solidFill>
                      <a:srgbClr val="F4F4F4"/>
                    </a:solidFill>
                  </a:tcPr>
                </a:tc>
                <a:tc>
                  <a:txBody>
                    <a:bodyPr/>
                    <a:lstStyle/>
                    <a:p>
                      <a:r>
                        <a:rPr sz="1425" b="0">
                          <a:solidFill>
                            <a:srgbClr val="454545"/>
                          </a:solidFill>
                          <a:latin typeface="Calibri"/>
                          <a:ea typeface="Calibri"/>
                          <a:cs typeface="Calibri"/>
                        </a:rPr>
                        <a:t>flach</a:t>
                      </a:r>
                    </a:p>
                  </a:txBody>
                  <a:tcPr>
                    <a:solidFill>
                      <a:srgbClr val="F4F4F4"/>
                    </a:solidFill>
                  </a:tcPr>
                </a:tc>
                <a:tc>
                  <a:txBody>
                    <a:bodyPr/>
                    <a:lstStyle/>
                    <a:p>
                      <a:r>
                        <a:rPr sz="1425" b="0">
                          <a:solidFill>
                            <a:srgbClr val="454545"/>
                          </a:solidFill>
                          <a:latin typeface="Calibri"/>
                          <a:ea typeface="Calibri"/>
                          <a:cs typeface="Calibri"/>
                        </a:rPr>
                        <a:t>2 %</a:t>
                      </a:r>
                    </a:p>
                  </a:txBody>
                  <a:tcPr>
                    <a:solidFill>
                      <a:srgbClr val="F4F4F4"/>
                    </a:solidFill>
                  </a:tcPr>
                </a:tc>
                <a:extLst>
                  <a:ext uri="{0D108BD9-81ED-4DB2-BD59-A6C34878D82A}">
                    <a16:rowId xmlns:a16="http://schemas.microsoft.com/office/drawing/2014/main" val="10002"/>
                  </a:ext>
                </a:extLst>
              </a:tr>
              <a:tr h="323850">
                <a:tc>
                  <a:txBody>
                    <a:bodyPr/>
                    <a:lstStyle/>
                    <a:p>
                      <a:r>
                        <a:rPr sz="1425" b="0">
                          <a:solidFill>
                            <a:srgbClr val="454545"/>
                          </a:solidFill>
                          <a:latin typeface="Calibri"/>
                          <a:ea typeface="Calibri"/>
                          <a:cs typeface="Calibri"/>
                        </a:rPr>
                        <a:t>C</a:t>
                      </a:r>
                    </a:p>
                  </a:txBody>
                  <a:tcPr>
                    <a:solidFill>
                      <a:srgbClr val="FFFFFF"/>
                    </a:solidFill>
                  </a:tcPr>
                </a:tc>
                <a:tc>
                  <a:txBody>
                    <a:bodyPr/>
                    <a:lstStyle/>
                    <a:p>
                      <a:r>
                        <a:rPr sz="1425" b="0">
                          <a:solidFill>
                            <a:srgbClr val="454545"/>
                          </a:solidFill>
                          <a:latin typeface="Calibri"/>
                          <a:ea typeface="Calibri"/>
                          <a:cs typeface="Calibri"/>
                        </a:rPr>
                        <a:t>niedrig</a:t>
                      </a:r>
                    </a:p>
                  </a:txBody>
                  <a:tcPr>
                    <a:solidFill>
                      <a:srgbClr val="FFFFFF"/>
                    </a:solidFill>
                  </a:tcPr>
                </a:tc>
                <a:tc>
                  <a:txBody>
                    <a:bodyPr/>
                    <a:lstStyle/>
                    <a:p>
                      <a:r>
                        <a:rPr sz="1425" b="0">
                          <a:solidFill>
                            <a:srgbClr val="454545"/>
                          </a:solidFill>
                          <a:latin typeface="Calibri"/>
                          <a:ea typeface="Calibri"/>
                          <a:cs typeface="Calibri"/>
                        </a:rPr>
                        <a:t>tief</a:t>
                      </a:r>
                    </a:p>
                  </a:txBody>
                  <a:tcPr>
                    <a:solidFill>
                      <a:srgbClr val="FFFFFF"/>
                    </a:solidFill>
                  </a:tcPr>
                </a:tc>
                <a:tc>
                  <a:txBody>
                    <a:bodyPr/>
                    <a:lstStyle/>
                    <a:p>
                      <a:r>
                        <a:rPr sz="1425" b="0">
                          <a:solidFill>
                            <a:srgbClr val="454545"/>
                          </a:solidFill>
                          <a:latin typeface="Calibri"/>
                          <a:ea typeface="Calibri"/>
                          <a:cs typeface="Calibri"/>
                        </a:rPr>
                        <a:t>3 %</a:t>
                      </a:r>
                    </a:p>
                  </a:txBody>
                  <a:tcPr>
                    <a:solidFill>
                      <a:srgbClr val="FFFFFF"/>
                    </a:solidFill>
                  </a:tcPr>
                </a:tc>
                <a:extLst>
                  <a:ext uri="{0D108BD9-81ED-4DB2-BD59-A6C34878D82A}">
                    <a16:rowId xmlns:a16="http://schemas.microsoft.com/office/drawing/2014/main" val="10003"/>
                  </a:ext>
                </a:extLst>
              </a:tr>
              <a:tr h="323850">
                <a:tc>
                  <a:txBody>
                    <a:bodyPr/>
                    <a:lstStyle/>
                    <a:p>
                      <a:r>
                        <a:rPr sz="1425" b="0">
                          <a:solidFill>
                            <a:srgbClr val="454545"/>
                          </a:solidFill>
                          <a:latin typeface="Calibri"/>
                          <a:ea typeface="Calibri"/>
                          <a:cs typeface="Calibri"/>
                        </a:rPr>
                        <a:t>D</a:t>
                      </a:r>
                    </a:p>
                  </a:txBody>
                  <a:tcPr>
                    <a:solidFill>
                      <a:srgbClr val="F4F4F4"/>
                    </a:solidFill>
                  </a:tcPr>
                </a:tc>
                <a:tc>
                  <a:txBody>
                    <a:bodyPr/>
                    <a:lstStyle/>
                    <a:p>
                      <a:r>
                        <a:rPr sz="1425" b="0">
                          <a:solidFill>
                            <a:srgbClr val="454545"/>
                          </a:solidFill>
                          <a:latin typeface="Calibri"/>
                          <a:ea typeface="Calibri"/>
                          <a:cs typeface="Calibri"/>
                        </a:rPr>
                        <a:t>hoch</a:t>
                      </a:r>
                    </a:p>
                  </a:txBody>
                  <a:tcPr>
                    <a:solidFill>
                      <a:srgbClr val="F4F4F4"/>
                    </a:solidFill>
                  </a:tcPr>
                </a:tc>
                <a:tc>
                  <a:txBody>
                    <a:bodyPr/>
                    <a:lstStyle/>
                    <a:p>
                      <a:r>
                        <a:rPr sz="1425" b="0">
                          <a:solidFill>
                            <a:srgbClr val="454545"/>
                          </a:solidFill>
                          <a:latin typeface="Calibri"/>
                          <a:ea typeface="Calibri"/>
                          <a:cs typeface="Calibri"/>
                        </a:rPr>
                        <a:t>tief</a:t>
                      </a:r>
                    </a:p>
                  </a:txBody>
                  <a:tcPr>
                    <a:solidFill>
                      <a:srgbClr val="F4F4F4"/>
                    </a:solidFill>
                  </a:tcPr>
                </a:tc>
                <a:tc>
                  <a:txBody>
                    <a:bodyPr/>
                    <a:lstStyle/>
                    <a:p>
                      <a:r>
                        <a:rPr sz="1425" b="0">
                          <a:solidFill>
                            <a:srgbClr val="454545"/>
                          </a:solidFill>
                          <a:latin typeface="Calibri"/>
                          <a:ea typeface="Calibri"/>
                          <a:cs typeface="Calibri"/>
                        </a:rPr>
                        <a:t>6 %</a:t>
                      </a:r>
                    </a:p>
                  </a:txBody>
                  <a:tcPr>
                    <a:solidFill>
                      <a:srgbClr val="F4F4F4"/>
                    </a:solidFill>
                  </a:tcPr>
                </a:tc>
                <a:extLst>
                  <a:ext uri="{0D108BD9-81ED-4DB2-BD59-A6C34878D82A}">
                    <a16:rowId xmlns:a16="http://schemas.microsoft.com/office/drawing/2014/main" val="10004"/>
                  </a:ext>
                </a:extLst>
              </a:tr>
            </a:tbl>
          </a:graphicData>
        </a:graphic>
      </p:graphicFrame>
      <p:sp>
        <p:nvSpPr>
          <p:cNvPr id="506" name="Rechteck 505">
            <a:extLst>
              <a:ext uri="{FF2B5EF4-FFF2-40B4-BE49-F238E27FC236}">
                <a16:creationId xmlns:a16="http://schemas.microsoft.com/office/drawing/2014/main" id="{B0EEB8AF-754C-4BD5-8849-A9B34C29C427}"/>
              </a:ext>
            </a:extLst>
          </p:cNvPr>
          <p:cNvSpPr>
            <a:spLocks noGrp="1"/>
          </p:cNvSpPr>
          <p:nvPr/>
        </p:nvSpPr>
        <p:spPr>
          <a:xfrm>
            <a:off x="552450" y="48101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Ladestrom-Effekt: B − A = 1 pp, D − C = 3 pp.</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Die Differenz zeigt eine Wechselwirkung im erfundenen Beispiel.</a:t>
            </a:r>
          </a:p>
        </p:txBody>
      </p:sp>
      <p:sp>
        <p:nvSpPr>
          <p:cNvPr id="507" name="Rechteck 506">
            <a:extLst>
              <a:ext uri="{FF2B5EF4-FFF2-40B4-BE49-F238E27FC236}">
                <a16:creationId xmlns:a16="http://schemas.microsoft.com/office/drawing/2014/main" id="{B27F1700-B945-4F4F-B5CB-8021198F152C}"/>
              </a:ext>
            </a:extLst>
          </p:cNvPr>
          <p:cNvSpPr>
            <a:spLocks noGrp="1"/>
          </p:cNvSpPr>
          <p:nvPr/>
        </p:nvSpPr>
        <p:spPr>
          <a:xfrm>
            <a:off x="552450" y="54292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Ein Versuch liefert mehrere Vergleiche. Der Plan allein beweist noch keine Alterungsursache.</a:t>
            </a:r>
          </a:p>
        </p:txBody>
      </p:sp>
    </p:spTree>
    <p:extLst>
      <p:ext uri="{BB962C8B-B14F-4D97-AF65-F5344CB8AC3E}">
        <p14:creationId xmlns:p14="http://schemas.microsoft.com/office/powerpoint/2010/main" val="15989129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ECM (1RC) im kontinuierlichen Zustandsraum</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34</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1000" name="Grafik 999"/>
          <p:cNvPicPr>
            <a:picLocks noChangeAspect="1"/>
          </p:cNvPicPr>
          <p:nvPr/>
        </p:nvPicPr>
        <p:blipFill>
          <a:blip r:embed="rId3"/>
          <a:stretch/>
        </p:blipFill>
        <p:spPr>
          <a:xfrm>
            <a:off x="1008653" y="1504950"/>
            <a:ext cx="1878419" cy="914400"/>
          </a:xfrm>
          <a:prstGeom prst="rect">
            <a:avLst/>
          </a:prstGeom>
        </p:spPr>
      </p:pic>
      <p:pic>
        <p:nvPicPr>
          <p:cNvPr id="1001" name="Grafik 1000"/>
          <p:cNvPicPr>
            <a:picLocks noChangeAspect="1"/>
          </p:cNvPicPr>
          <p:nvPr/>
        </p:nvPicPr>
        <p:blipFill>
          <a:blip r:embed="rId4"/>
          <a:stretch/>
        </p:blipFill>
        <p:spPr>
          <a:xfrm>
            <a:off x="3495675" y="1764604"/>
            <a:ext cx="4286250" cy="528442"/>
          </a:xfrm>
          <a:prstGeom prst="rect">
            <a:avLst/>
          </a:prstGeom>
        </p:spPr>
      </p:pic>
      <p:pic>
        <p:nvPicPr>
          <p:cNvPr id="1002" name="Grafik 1001"/>
          <p:cNvPicPr>
            <a:picLocks noChangeAspect="1"/>
          </p:cNvPicPr>
          <p:nvPr/>
        </p:nvPicPr>
        <p:blipFill>
          <a:blip r:embed="rId5"/>
          <a:stretch/>
        </p:blipFill>
        <p:spPr>
          <a:xfrm>
            <a:off x="8155769" y="1419225"/>
            <a:ext cx="1604987" cy="1371600"/>
          </a:xfrm>
          <a:prstGeom prst="rect">
            <a:avLst/>
          </a:prstGeom>
        </p:spPr>
      </p:pic>
      <p:pic>
        <p:nvPicPr>
          <p:cNvPr id="1003" name="Grafik 1002"/>
          <p:cNvPicPr>
            <a:picLocks noChangeAspect="1"/>
          </p:cNvPicPr>
          <p:nvPr/>
        </p:nvPicPr>
        <p:blipFill>
          <a:blip r:embed="rId6"/>
          <a:stretch/>
        </p:blipFill>
        <p:spPr>
          <a:xfrm>
            <a:off x="2879819" y="2981325"/>
            <a:ext cx="4755961" cy="1171575"/>
          </a:xfrm>
          <a:prstGeom prst="rect">
            <a:avLst/>
          </a:prstGeom>
        </p:spPr>
      </p:pic>
      <p:pic>
        <p:nvPicPr>
          <p:cNvPr id="1004" name="Grafik 1003"/>
          <p:cNvPicPr>
            <a:picLocks noChangeAspect="1"/>
          </p:cNvPicPr>
          <p:nvPr/>
        </p:nvPicPr>
        <p:blipFill>
          <a:blip r:embed="rId7"/>
          <a:stretch/>
        </p:blipFill>
        <p:spPr>
          <a:xfrm>
            <a:off x="2308827" y="4371975"/>
            <a:ext cx="5907471" cy="971550"/>
          </a:xfrm>
          <a:prstGeom prst="rect">
            <a:avLst/>
          </a:prstGeom>
        </p:spPr>
      </p:pic>
      <p:sp>
        <p:nvSpPr>
          <p:cNvPr id="1005" name="Rechteck 1004">
            <a:extLst>
              <a:ext uri="{FF2B5EF4-FFF2-40B4-BE49-F238E27FC236}">
                <a16:creationId xmlns:a16="http://schemas.microsoft.com/office/drawing/2014/main" id="{D6C7849C-B973-4366-9177-5F3807783E9D}"/>
              </a:ext>
            </a:extLst>
          </p:cNvPr>
          <p:cNvSpPr>
            <a:spLocks noGrp="1"/>
          </p:cNvSpPr>
          <p:nvPr/>
        </p:nvSpPr>
        <p:spPr>
          <a:xfrm>
            <a:off x="628650" y="5429250"/>
            <a:ext cx="9277350" cy="476250"/>
          </a:xfrm>
          <a:prstGeom prst="rect">
            <a:avLst/>
          </a:prstGeom>
          <a:noFill/>
          <a:ln w="0">
            <a:noFill/>
          </a:ln>
        </p:spPr>
        <p:txBody>
          <a:bodyPr>
            <a:noAutofit/>
          </a:bodyPr>
          <a:lstStyle/>
          <a:p>
            <a:pPr>
              <a:defRPr sz="1575" b="0">
                <a:solidFill>
                  <a:srgbClr val="484848"/>
                </a:solidFill>
                <a:latin typeface="Calibri"/>
                <a:ea typeface="Calibri"/>
                <a:cs typeface="Calibri"/>
              </a:defRPr>
            </a:pPr>
            <a:r>
              <a:rPr sz="1575" b="0">
                <a:solidFill>
                  <a:srgbClr val="484848"/>
                </a:solidFill>
                <a:latin typeface="Calibri"/>
                <a:ea typeface="Calibri"/>
                <a:cs typeface="Calibri"/>
              </a:rPr>
              <a:t>A  Systemmatrix    B  Eingangsmatrix    C  Ausgangsmatrix    D  Durchgriff</a:t>
            </a:r>
          </a:p>
          <a:p>
            <a:pPr>
              <a:defRPr sz="1575" b="0">
                <a:solidFill>
                  <a:srgbClr val="484848"/>
                </a:solidFill>
                <a:latin typeface="Calibri"/>
                <a:ea typeface="Calibri"/>
                <a:cs typeface="Calibri"/>
              </a:defRPr>
            </a:pPr>
            <a:r>
              <a:rPr sz="1575" b="0">
                <a:solidFill>
                  <a:srgbClr val="484848"/>
                </a:solidFill>
                <a:latin typeface="Calibri"/>
                <a:ea typeface="Calibri"/>
                <a:cs typeface="Calibri"/>
              </a:rPr>
              <a:t>f(SOC) = UOC    CN in As    τ₁ = R₁C₁    I &gt; 0: Laden</a:t>
            </a:r>
          </a:p>
        </p:txBody>
      </p:sp>
    </p:spTree>
    <p:extLst>
      <p:ext uri="{BB962C8B-B14F-4D97-AF65-F5344CB8AC3E}">
        <p14:creationId xmlns:p14="http://schemas.microsoft.com/office/powerpoint/2010/main" val="15989129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ECM (1RC) im diskreten Zustandsraum</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35</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1000" name="Grafik 999"/>
          <p:cNvPicPr>
            <a:picLocks noChangeAspect="1"/>
          </p:cNvPicPr>
          <p:nvPr/>
        </p:nvPicPr>
        <p:blipFill>
          <a:blip r:embed="rId3"/>
          <a:stretch/>
        </p:blipFill>
        <p:spPr>
          <a:xfrm>
            <a:off x="3148940" y="1457325"/>
            <a:ext cx="4217720" cy="962025"/>
          </a:xfrm>
          <a:prstGeom prst="rect">
            <a:avLst/>
          </a:prstGeom>
        </p:spPr>
      </p:pic>
      <p:pic>
        <p:nvPicPr>
          <p:cNvPr id="1001" name="Grafik 1000"/>
          <p:cNvPicPr>
            <a:picLocks noChangeAspect="1"/>
          </p:cNvPicPr>
          <p:nvPr/>
        </p:nvPicPr>
        <p:blipFill>
          <a:blip r:embed="rId4"/>
          <a:stretch/>
        </p:blipFill>
        <p:spPr>
          <a:xfrm>
            <a:off x="590550" y="2878080"/>
            <a:ext cx="9296400" cy="930390"/>
          </a:xfrm>
          <a:prstGeom prst="rect">
            <a:avLst/>
          </a:prstGeom>
        </p:spPr>
      </p:pic>
      <p:pic>
        <p:nvPicPr>
          <p:cNvPr id="1002" name="Grafik 1001"/>
          <p:cNvPicPr>
            <a:picLocks noChangeAspect="1"/>
          </p:cNvPicPr>
          <p:nvPr/>
        </p:nvPicPr>
        <p:blipFill>
          <a:blip r:embed="rId5"/>
          <a:stretch/>
        </p:blipFill>
        <p:spPr>
          <a:xfrm>
            <a:off x="2120330" y="4276725"/>
            <a:ext cx="6236840" cy="895350"/>
          </a:xfrm>
          <a:prstGeom prst="rect">
            <a:avLst/>
          </a:prstGeom>
        </p:spPr>
      </p:pic>
      <p:sp>
        <p:nvSpPr>
          <p:cNvPr id="1003" name="Rechteck 1002">
            <a:extLst>
              <a:ext uri="{FF2B5EF4-FFF2-40B4-BE49-F238E27FC236}">
                <a16:creationId xmlns:a16="http://schemas.microsoft.com/office/drawing/2014/main" id="{F24C7BBE-0C8B-4BEA-AD21-47DF99756D7D}"/>
              </a:ext>
            </a:extLst>
          </p:cNvPr>
          <p:cNvSpPr>
            <a:spLocks noGrp="1"/>
          </p:cNvSpPr>
          <p:nvPr/>
        </p:nvSpPr>
        <p:spPr>
          <a:xfrm>
            <a:off x="628650" y="5295900"/>
            <a:ext cx="9229725" cy="561975"/>
          </a:xfrm>
          <a:prstGeom prst="rect">
            <a:avLst/>
          </a:prstGeom>
          <a:noFill/>
          <a:ln w="0">
            <a:noFill/>
          </a:ln>
        </p:spPr>
        <p:txBody>
          <a:bodyPr>
            <a:noAutofit/>
          </a:bodyPr>
          <a:lstStyle/>
          <a:p>
            <a:pPr>
              <a:defRPr sz="1725" b="0">
                <a:solidFill>
                  <a:srgbClr val="484848"/>
                </a:solidFill>
                <a:latin typeface="Calibri"/>
                <a:ea typeface="Calibri"/>
                <a:cs typeface="Calibri"/>
              </a:defRPr>
            </a:pPr>
            <a:r>
              <a:rPr sz="1725" b="0">
                <a:solidFill>
                  <a:srgbClr val="484848"/>
                </a:solidFill>
                <a:latin typeface="Calibri"/>
                <a:ea typeface="Calibri"/>
                <a:cs typeface="Calibri"/>
              </a:rPr>
              <a:t>Zero-Order Hold: I[k] wirkt im Intervall von tₖ bis tₖ₊₁</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Δt  Abtastzeit    SOC[k+1], U₁[k+1]  Zustand am Intervallende</a:t>
            </a:r>
          </a:p>
        </p:txBody>
      </p:sp>
    </p:spTree>
    <p:extLst>
      <p:ext uri="{BB962C8B-B14F-4D97-AF65-F5344CB8AC3E}">
        <p14:creationId xmlns:p14="http://schemas.microsoft.com/office/powerpoint/2010/main" val="15989129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Zeitpunkte in Übung und ECM-Code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36</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00" name="Rechteck 999">
            <a:extLst>
              <a:ext uri="{FF2B5EF4-FFF2-40B4-BE49-F238E27FC236}">
                <a16:creationId xmlns:a16="http://schemas.microsoft.com/office/drawing/2014/main" id="{4245D83A-60DE-413C-A4E2-80FB343F6E09}"/>
              </a:ext>
            </a:extLst>
          </p:cNvPr>
          <p:cNvSpPr>
            <a:spLocks noGrp="1"/>
          </p:cNvSpPr>
          <p:nvPr/>
        </p:nvSpPr>
        <p:spPr>
          <a:xfrm>
            <a:off x="628650" y="1419225"/>
            <a:ext cx="9239250" cy="285750"/>
          </a:xfrm>
          <a:prstGeom prst="rect">
            <a:avLst/>
          </a:prstGeom>
          <a:noFill/>
          <a:ln w="0">
            <a:noFill/>
          </a:ln>
        </p:spPr>
        <p:txBody>
          <a:bodyPr>
            <a:noAutofit/>
          </a:bodyPr>
          <a:lstStyle/>
          <a:p>
            <a:pPr>
              <a:defRPr sz="1725" b="1">
                <a:solidFill>
                  <a:srgbClr val="CC001C"/>
                </a:solidFill>
                <a:latin typeface="Calibri"/>
                <a:ea typeface="Calibri"/>
                <a:cs typeface="Calibri"/>
              </a:defRPr>
            </a:pPr>
            <a:r>
              <a:rPr sz="1725" b="1">
                <a:solidFill>
                  <a:srgbClr val="CC001C"/>
                </a:solidFill>
                <a:latin typeface="Calibri"/>
                <a:ea typeface="Calibri"/>
                <a:cs typeface="Calibri"/>
              </a:rPr>
              <a:t>Prediction mit gespeichertem Strom</a:t>
            </a:r>
          </a:p>
        </p:txBody>
      </p:sp>
      <p:pic>
        <p:nvPicPr>
          <p:cNvPr id="1001" name="Grafik 1000"/>
          <p:cNvPicPr>
            <a:picLocks noChangeAspect="1"/>
          </p:cNvPicPr>
          <p:nvPr/>
        </p:nvPicPr>
        <p:blipFill>
          <a:blip r:embed="rId3"/>
          <a:stretch/>
        </p:blipFill>
        <p:spPr>
          <a:xfrm>
            <a:off x="3635720" y="1857375"/>
            <a:ext cx="3234635" cy="552450"/>
          </a:xfrm>
          <a:prstGeom prst="rect">
            <a:avLst/>
          </a:prstGeom>
        </p:spPr>
      </p:pic>
      <p:sp>
        <p:nvSpPr>
          <p:cNvPr id="1002" name="Rechteck 1001">
            <a:extLst>
              <a:ext uri="{FF2B5EF4-FFF2-40B4-BE49-F238E27FC236}">
                <a16:creationId xmlns:a16="http://schemas.microsoft.com/office/drawing/2014/main" id="{4FBF374D-D9F4-41F3-A42A-91B55E325E77}"/>
              </a:ext>
            </a:extLst>
          </p:cNvPr>
          <p:cNvSpPr>
            <a:spLocks noGrp="1"/>
          </p:cNvSpPr>
          <p:nvPr/>
        </p:nvSpPr>
        <p:spPr>
          <a:xfrm>
            <a:off x="619125" y="2762250"/>
            <a:ext cx="2638425" cy="1104900"/>
          </a:xfrm>
          <a:prstGeom prst="rect">
            <a:avLst/>
          </a:prstGeom>
          <a:solidFill>
            <a:srgbClr val="F5F5F5"/>
          </a:solidFill>
          <a:ln w="11430">
            <a:solidFill>
              <a:srgbClr val="484848"/>
            </a:solidFill>
          </a:ln>
        </p:spPr>
        <p:txBody>
          <a:bodyPr/>
          <a:lstStyle/>
          <a:p>
            <a:endParaRPr lang="de-DE"/>
          </a:p>
        </p:txBody>
      </p:sp>
      <p:sp>
        <p:nvSpPr>
          <p:cNvPr id="1003" name="Rechteck 1002">
            <a:extLst>
              <a:ext uri="{FF2B5EF4-FFF2-40B4-BE49-F238E27FC236}">
                <a16:creationId xmlns:a16="http://schemas.microsoft.com/office/drawing/2014/main" id="{E7A7DD16-2DFC-4FF6-9F60-8EE58840442C}"/>
              </a:ext>
            </a:extLst>
          </p:cNvPr>
          <p:cNvSpPr>
            <a:spLocks noGrp="1"/>
          </p:cNvSpPr>
          <p:nvPr/>
        </p:nvSpPr>
        <p:spPr>
          <a:xfrm>
            <a:off x="733425" y="2886075"/>
            <a:ext cx="2409825" cy="89535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Zeitpunkt tₖ</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x̂ₖ⁺ gespeichert</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Iₖ gespeichert</a:t>
            </a:r>
          </a:p>
        </p:txBody>
      </p:sp>
      <p:sp>
        <p:nvSpPr>
          <p:cNvPr id="1004" name="Pfeil: nach rechts 1003">
            <a:extLst>
              <a:ext uri="{FF2B5EF4-FFF2-40B4-BE49-F238E27FC236}">
                <a16:creationId xmlns:a16="http://schemas.microsoft.com/office/drawing/2014/main" id="{B9122591-C73F-4E0C-AD8B-147667C6AC3F}"/>
              </a:ext>
            </a:extLst>
          </p:cNvPr>
          <p:cNvSpPr>
            <a:spLocks noGrp="1"/>
          </p:cNvSpPr>
          <p:nvPr/>
        </p:nvSpPr>
        <p:spPr>
          <a:xfrm>
            <a:off x="3400425" y="3228975"/>
            <a:ext cx="523875" cy="152400"/>
          </a:xfrm>
          <a:prstGeom prst="rightArrow">
            <a:avLst/>
          </a:prstGeom>
          <a:solidFill>
            <a:srgbClr val="484848"/>
          </a:solidFill>
          <a:ln w="0">
            <a:solidFill>
              <a:srgbClr val="484848"/>
            </a:solidFill>
          </a:ln>
        </p:spPr>
        <p:txBody>
          <a:bodyPr/>
          <a:lstStyle/>
          <a:p>
            <a:endParaRPr lang="de-DE"/>
          </a:p>
        </p:txBody>
      </p:sp>
      <p:sp>
        <p:nvSpPr>
          <p:cNvPr id="1005" name="Rechteck 1004">
            <a:extLst>
              <a:ext uri="{FF2B5EF4-FFF2-40B4-BE49-F238E27FC236}">
                <a16:creationId xmlns:a16="http://schemas.microsoft.com/office/drawing/2014/main" id="{E0834BA2-F150-40D6-81DA-B5A3D0D86A31}"/>
              </a:ext>
            </a:extLst>
          </p:cNvPr>
          <p:cNvSpPr>
            <a:spLocks noGrp="1"/>
          </p:cNvSpPr>
          <p:nvPr/>
        </p:nvSpPr>
        <p:spPr>
          <a:xfrm>
            <a:off x="4095750" y="2762250"/>
            <a:ext cx="2638425" cy="1104900"/>
          </a:xfrm>
          <a:prstGeom prst="rect">
            <a:avLst/>
          </a:prstGeom>
          <a:solidFill>
            <a:srgbClr val="F5F5F5"/>
          </a:solidFill>
          <a:ln w="11430">
            <a:solidFill>
              <a:srgbClr val="484848"/>
            </a:solidFill>
          </a:ln>
        </p:spPr>
        <p:txBody>
          <a:bodyPr/>
          <a:lstStyle/>
          <a:p>
            <a:endParaRPr lang="de-DE"/>
          </a:p>
        </p:txBody>
      </p:sp>
      <p:sp>
        <p:nvSpPr>
          <p:cNvPr id="1006" name="Rechteck 1005">
            <a:extLst>
              <a:ext uri="{FF2B5EF4-FFF2-40B4-BE49-F238E27FC236}">
                <a16:creationId xmlns:a16="http://schemas.microsoft.com/office/drawing/2014/main" id="{BBEEA297-8D66-4C41-A379-4E76EB8A4F14}"/>
              </a:ext>
            </a:extLst>
          </p:cNvPr>
          <p:cNvSpPr>
            <a:spLocks noGrp="1"/>
          </p:cNvSpPr>
          <p:nvPr/>
        </p:nvSpPr>
        <p:spPr>
          <a:xfrm>
            <a:off x="4210050" y="2886075"/>
            <a:ext cx="2409825" cy="89535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Intervall tₖ bis tₖ₊₁</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Zustand fortschreiben</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mit Iₖ</a:t>
            </a:r>
          </a:p>
        </p:txBody>
      </p:sp>
      <p:sp>
        <p:nvSpPr>
          <p:cNvPr id="1007" name="Pfeil: nach rechts 1006">
            <a:extLst>
              <a:ext uri="{FF2B5EF4-FFF2-40B4-BE49-F238E27FC236}">
                <a16:creationId xmlns:a16="http://schemas.microsoft.com/office/drawing/2014/main" id="{EA5EB422-C9B7-427B-BFF1-AFD06B68211C}"/>
              </a:ext>
            </a:extLst>
          </p:cNvPr>
          <p:cNvSpPr>
            <a:spLocks noGrp="1"/>
          </p:cNvSpPr>
          <p:nvPr/>
        </p:nvSpPr>
        <p:spPr>
          <a:xfrm>
            <a:off x="6877050" y="3228975"/>
            <a:ext cx="523875" cy="152400"/>
          </a:xfrm>
          <a:prstGeom prst="rightArrow">
            <a:avLst/>
          </a:prstGeom>
          <a:solidFill>
            <a:srgbClr val="484848"/>
          </a:solidFill>
          <a:ln w="0">
            <a:solidFill>
              <a:srgbClr val="484848"/>
            </a:solidFill>
          </a:ln>
        </p:spPr>
        <p:txBody>
          <a:bodyPr/>
          <a:lstStyle/>
          <a:p>
            <a:endParaRPr lang="de-DE"/>
          </a:p>
        </p:txBody>
      </p:sp>
      <p:sp>
        <p:nvSpPr>
          <p:cNvPr id="1008" name="Rechteck 1007">
            <a:extLst>
              <a:ext uri="{FF2B5EF4-FFF2-40B4-BE49-F238E27FC236}">
                <a16:creationId xmlns:a16="http://schemas.microsoft.com/office/drawing/2014/main" id="{93723B2B-D8F5-49D9-9AE2-05A72CFC0EEF}"/>
              </a:ext>
            </a:extLst>
          </p:cNvPr>
          <p:cNvSpPr>
            <a:spLocks noGrp="1"/>
          </p:cNvSpPr>
          <p:nvPr/>
        </p:nvSpPr>
        <p:spPr>
          <a:xfrm>
            <a:off x="7572375" y="2762250"/>
            <a:ext cx="2324100" cy="1104900"/>
          </a:xfrm>
          <a:prstGeom prst="rect">
            <a:avLst/>
          </a:prstGeom>
          <a:solidFill>
            <a:srgbClr val="F5F5F5"/>
          </a:solidFill>
          <a:ln w="11430">
            <a:solidFill>
              <a:srgbClr val="484848"/>
            </a:solidFill>
          </a:ln>
        </p:spPr>
        <p:txBody>
          <a:bodyPr/>
          <a:lstStyle/>
          <a:p>
            <a:endParaRPr lang="de-DE"/>
          </a:p>
        </p:txBody>
      </p:sp>
      <p:sp>
        <p:nvSpPr>
          <p:cNvPr id="1009" name="Rechteck 1008">
            <a:extLst>
              <a:ext uri="{FF2B5EF4-FFF2-40B4-BE49-F238E27FC236}">
                <a16:creationId xmlns:a16="http://schemas.microsoft.com/office/drawing/2014/main" id="{4614CAD5-0C73-4DB5-BAC0-91FEBD53EA96}"/>
              </a:ext>
            </a:extLst>
          </p:cNvPr>
          <p:cNvSpPr>
            <a:spLocks noGrp="1"/>
          </p:cNvSpPr>
          <p:nvPr/>
        </p:nvSpPr>
        <p:spPr>
          <a:xfrm>
            <a:off x="7686675" y="2886075"/>
            <a:ext cx="2095500" cy="89535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Zeitpunkt tₖ₊₁</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neue Messung Uₜ[k+1]</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neuer Strom Iₖ₊₁</a:t>
            </a:r>
          </a:p>
        </p:txBody>
      </p:sp>
      <p:pic>
        <p:nvPicPr>
          <p:cNvPr id="1010" name="Grafik 1009"/>
          <p:cNvPicPr>
            <a:picLocks noChangeAspect="1"/>
          </p:cNvPicPr>
          <p:nvPr/>
        </p:nvPicPr>
        <p:blipFill>
          <a:blip r:embed="rId4"/>
          <a:stretch/>
        </p:blipFill>
        <p:spPr>
          <a:xfrm>
            <a:off x="3665538" y="4191000"/>
            <a:ext cx="3175000" cy="457200"/>
          </a:xfrm>
          <a:prstGeom prst="rect">
            <a:avLst/>
          </a:prstGeom>
        </p:spPr>
      </p:pic>
      <p:pic>
        <p:nvPicPr>
          <p:cNvPr id="1011" name="Grafik 1010"/>
          <p:cNvPicPr>
            <a:picLocks noChangeAspect="1"/>
          </p:cNvPicPr>
          <p:nvPr/>
        </p:nvPicPr>
        <p:blipFill>
          <a:blip r:embed="rId5"/>
          <a:stretch/>
        </p:blipFill>
        <p:spPr>
          <a:xfrm>
            <a:off x="2832445" y="4810125"/>
            <a:ext cx="4841185" cy="533400"/>
          </a:xfrm>
          <a:prstGeom prst="rect">
            <a:avLst/>
          </a:prstGeom>
        </p:spPr>
      </p:pic>
      <p:sp>
        <p:nvSpPr>
          <p:cNvPr id="1012" name="Rechteck 1011">
            <a:extLst>
              <a:ext uri="{FF2B5EF4-FFF2-40B4-BE49-F238E27FC236}">
                <a16:creationId xmlns:a16="http://schemas.microsoft.com/office/drawing/2014/main" id="{E809F4EB-0C45-4E61-9BBB-ED38AEEAFBF0}"/>
              </a:ext>
            </a:extLst>
          </p:cNvPr>
          <p:cNvSpPr>
            <a:spLocks noGrp="1"/>
          </p:cNvSpPr>
          <p:nvPr/>
        </p:nvSpPr>
        <p:spPr>
          <a:xfrm>
            <a:off x="657225" y="5467350"/>
            <a:ext cx="9144000" cy="457200"/>
          </a:xfrm>
          <a:prstGeom prst="rect">
            <a:avLst/>
          </a:prstGeom>
          <a:noFill/>
          <a:ln w="0">
            <a:noFill/>
          </a:ln>
        </p:spPr>
        <p:txBody>
          <a:bodyPr>
            <a:noAutofit/>
          </a:bodyPr>
          <a:lstStyle/>
          <a:p>
            <a:pPr>
              <a:defRPr sz="1500" b="0">
                <a:solidFill>
                  <a:srgbClr val="484848"/>
                </a:solidFill>
                <a:latin typeface="Calibri"/>
                <a:ea typeface="Calibri"/>
                <a:cs typeface="Calibri"/>
              </a:defRPr>
            </a:pPr>
            <a:r>
              <a:rPr sz="1500" b="0">
                <a:solidFill>
                  <a:srgbClr val="484848"/>
                </a:solidFill>
                <a:latin typeface="Calibri"/>
                <a:ea typeface="Calibri"/>
                <a:cs typeface="Calibri"/>
              </a:rPr>
              <a:t>Code:  x_p = Ad @ self.x + Bd * self.I_prev</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Nach dem Update:  self.I_prev = I</a:t>
            </a:r>
          </a:p>
        </p:txBody>
      </p:sp>
    </p:spTree>
    <p:extLst>
      <p:ext uri="{BB962C8B-B14F-4D97-AF65-F5344CB8AC3E}">
        <p14:creationId xmlns:p14="http://schemas.microsoft.com/office/powerpoint/2010/main" val="15989129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Kalmanfilter und Kovarianzen Q, P, 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37</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1000" name="Grafik 999"/>
          <p:cNvPicPr>
            <a:picLocks noChangeAspect="1"/>
          </p:cNvPicPr>
          <p:nvPr/>
        </p:nvPicPr>
        <p:blipFill>
          <a:blip r:embed="rId3"/>
          <a:stretch/>
        </p:blipFill>
        <p:spPr>
          <a:xfrm>
            <a:off x="1150088" y="1438275"/>
            <a:ext cx="4443523" cy="1123950"/>
          </a:xfrm>
          <a:prstGeom prst="rect">
            <a:avLst/>
          </a:prstGeom>
        </p:spPr>
      </p:pic>
      <p:sp>
        <p:nvSpPr>
          <p:cNvPr id="1001" name="Rechteck 1000">
            <a:extLst>
              <a:ext uri="{FF2B5EF4-FFF2-40B4-BE49-F238E27FC236}">
                <a16:creationId xmlns:a16="http://schemas.microsoft.com/office/drawing/2014/main" id="{97A03061-CE36-4042-AEA2-88E37D6294E3}"/>
              </a:ext>
            </a:extLst>
          </p:cNvPr>
          <p:cNvSpPr>
            <a:spLocks noGrp="1"/>
          </p:cNvSpPr>
          <p:nvPr/>
        </p:nvSpPr>
        <p:spPr>
          <a:xfrm>
            <a:off x="6772275" y="1600200"/>
            <a:ext cx="3048000" cy="91440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wₖ  Prozessrauschen</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vₖ  Messrauschen</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Annahme: Mittelwerte null</a:t>
            </a:r>
          </a:p>
        </p:txBody>
      </p:sp>
      <p:pic>
        <p:nvPicPr>
          <p:cNvPr id="1002" name="Grafik 1001"/>
          <p:cNvPicPr>
            <a:picLocks noChangeAspect="1"/>
          </p:cNvPicPr>
          <p:nvPr/>
        </p:nvPicPr>
        <p:blipFill>
          <a:blip r:embed="rId4"/>
          <a:stretch/>
        </p:blipFill>
        <p:spPr>
          <a:xfrm>
            <a:off x="920405" y="2876550"/>
            <a:ext cx="3569390" cy="971550"/>
          </a:xfrm>
          <a:prstGeom prst="rect">
            <a:avLst/>
          </a:prstGeom>
        </p:spPr>
      </p:pic>
      <p:sp>
        <p:nvSpPr>
          <p:cNvPr id="1003" name="Rechteck 1002">
            <a:extLst>
              <a:ext uri="{FF2B5EF4-FFF2-40B4-BE49-F238E27FC236}">
                <a16:creationId xmlns:a16="http://schemas.microsoft.com/office/drawing/2014/main" id="{12D539B5-553D-4383-AC94-EE384C4A43A5}"/>
              </a:ext>
            </a:extLst>
          </p:cNvPr>
          <p:cNvSpPr>
            <a:spLocks noGrp="1"/>
          </p:cNvSpPr>
          <p:nvPr/>
        </p:nvSpPr>
        <p:spPr>
          <a:xfrm>
            <a:off x="4991100" y="2905125"/>
            <a:ext cx="4933950" cy="942975"/>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Qₖ  Unsicherheit des Übergangsmodells</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Rₖ  Unsicherheit der Messung</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Pₖ  Unsicherheit der Zustandsschätzung</a:t>
            </a:r>
          </a:p>
        </p:txBody>
      </p:sp>
      <p:pic>
        <p:nvPicPr>
          <p:cNvPr id="1004" name="Grafik 1003"/>
          <p:cNvPicPr>
            <a:picLocks noChangeAspect="1"/>
          </p:cNvPicPr>
          <p:nvPr/>
        </p:nvPicPr>
        <p:blipFill>
          <a:blip r:embed="rId5"/>
          <a:stretch/>
        </p:blipFill>
        <p:spPr>
          <a:xfrm>
            <a:off x="2996648" y="4171950"/>
            <a:ext cx="4522304" cy="533400"/>
          </a:xfrm>
          <a:prstGeom prst="rect">
            <a:avLst/>
          </a:prstGeom>
        </p:spPr>
      </p:pic>
      <p:pic>
        <p:nvPicPr>
          <p:cNvPr id="1005" name="Grafik 1004"/>
          <p:cNvPicPr>
            <a:picLocks noChangeAspect="1"/>
          </p:cNvPicPr>
          <p:nvPr/>
        </p:nvPicPr>
        <p:blipFill>
          <a:blip r:embed="rId6"/>
          <a:stretch/>
        </p:blipFill>
        <p:spPr>
          <a:xfrm>
            <a:off x="3093142" y="4905375"/>
            <a:ext cx="4329316" cy="676275"/>
          </a:xfrm>
          <a:prstGeom prst="rect">
            <a:avLst/>
          </a:prstGeom>
        </p:spPr>
      </p:pic>
      <p:sp>
        <p:nvSpPr>
          <p:cNvPr id="1006" name="Rechteck 1005">
            <a:extLst>
              <a:ext uri="{FF2B5EF4-FFF2-40B4-BE49-F238E27FC236}">
                <a16:creationId xmlns:a16="http://schemas.microsoft.com/office/drawing/2014/main" id="{DB6C1ED5-A4DB-4984-B822-B1FA9D310DE1}"/>
              </a:ext>
            </a:extLst>
          </p:cNvPr>
          <p:cNvSpPr>
            <a:spLocks noGrp="1"/>
          </p:cNvSpPr>
          <p:nvPr/>
        </p:nvSpPr>
        <p:spPr>
          <a:xfrm>
            <a:off x="666750" y="5610225"/>
            <a:ext cx="9201150" cy="257175"/>
          </a:xfrm>
          <a:prstGeom prst="rect">
            <a:avLst/>
          </a:prstGeom>
          <a:noFill/>
          <a:ln w="0">
            <a:noFill/>
          </a:ln>
        </p:spPr>
        <p:txBody>
          <a:bodyPr>
            <a:noAutofit/>
          </a:bodyPr>
          <a:lstStyle/>
          <a:p>
            <a:pPr>
              <a:defRPr sz="1575" b="0">
                <a:solidFill>
                  <a:srgbClr val="484848"/>
                </a:solidFill>
                <a:latin typeface="Calibri"/>
                <a:ea typeface="Calibri"/>
                <a:cs typeface="Calibri"/>
              </a:defRPr>
            </a:pPr>
            <a:r>
              <a:rPr sz="1575" b="0">
                <a:solidFill>
                  <a:srgbClr val="484848"/>
                </a:solidFill>
                <a:latin typeface="Calibri"/>
                <a:ea typeface="Calibri"/>
                <a:cs typeface="Calibri"/>
              </a:rPr>
              <a:t>e = x − x̂    Diagonale: Varianzen    Nebendiagonale: Kovarianzen</a:t>
            </a:r>
          </a:p>
        </p:txBody>
      </p:sp>
    </p:spTree>
    <p:extLst>
      <p:ext uri="{BB962C8B-B14F-4D97-AF65-F5344CB8AC3E}">
        <p14:creationId xmlns:p14="http://schemas.microsoft.com/office/powerpoint/2010/main" val="15989129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Kalmanfilter – Initialisierung und Prediction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38</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00" name="Rechteck 999">
            <a:extLst>
              <a:ext uri="{FF2B5EF4-FFF2-40B4-BE49-F238E27FC236}">
                <a16:creationId xmlns:a16="http://schemas.microsoft.com/office/drawing/2014/main" id="{E922C066-83A8-4623-93BF-61FFB32EA5C3}"/>
              </a:ext>
            </a:extLst>
          </p:cNvPr>
          <p:cNvSpPr>
            <a:spLocks noGrp="1"/>
          </p:cNvSpPr>
          <p:nvPr/>
        </p:nvSpPr>
        <p:spPr>
          <a:xfrm>
            <a:off x="628650" y="1438275"/>
            <a:ext cx="4286250" cy="285750"/>
          </a:xfrm>
          <a:prstGeom prst="rect">
            <a:avLst/>
          </a:prstGeom>
          <a:noFill/>
          <a:ln w="0">
            <a:noFill/>
          </a:ln>
        </p:spPr>
        <p:txBody>
          <a:bodyPr>
            <a:noAutofit/>
          </a:bodyPr>
          <a:lstStyle/>
          <a:p>
            <a:pPr>
              <a:defRPr sz="1725" b="1">
                <a:solidFill>
                  <a:srgbClr val="CC001C"/>
                </a:solidFill>
                <a:latin typeface="Calibri"/>
                <a:ea typeface="Calibri"/>
                <a:cs typeface="Calibri"/>
              </a:defRPr>
            </a:pPr>
            <a:r>
              <a:rPr sz="1725" b="1">
                <a:solidFill>
                  <a:srgbClr val="CC001C"/>
                </a:solidFill>
                <a:latin typeface="Calibri"/>
                <a:ea typeface="Calibri"/>
                <a:cs typeface="Calibri"/>
              </a:rPr>
              <a:t>Initialisierung</a:t>
            </a:r>
          </a:p>
        </p:txBody>
      </p:sp>
      <p:pic>
        <p:nvPicPr>
          <p:cNvPr id="1001" name="Grafik 1000"/>
          <p:cNvPicPr>
            <a:picLocks noChangeAspect="1"/>
          </p:cNvPicPr>
          <p:nvPr/>
        </p:nvPicPr>
        <p:blipFill>
          <a:blip r:embed="rId3"/>
          <a:stretch/>
        </p:blipFill>
        <p:spPr>
          <a:xfrm>
            <a:off x="2452755" y="1866900"/>
            <a:ext cx="5581516" cy="504825"/>
          </a:xfrm>
          <a:prstGeom prst="rect">
            <a:avLst/>
          </a:prstGeom>
        </p:spPr>
      </p:pic>
      <p:sp>
        <p:nvSpPr>
          <p:cNvPr id="1002" name="Rechteck 1001">
            <a:extLst>
              <a:ext uri="{FF2B5EF4-FFF2-40B4-BE49-F238E27FC236}">
                <a16:creationId xmlns:a16="http://schemas.microsoft.com/office/drawing/2014/main" id="{62EAA4D3-BB4C-46C1-8F5E-7A82A401B8CB}"/>
              </a:ext>
            </a:extLst>
          </p:cNvPr>
          <p:cNvSpPr>
            <a:spLocks noGrp="1"/>
          </p:cNvSpPr>
          <p:nvPr/>
        </p:nvSpPr>
        <p:spPr>
          <a:xfrm>
            <a:off x="628650" y="2743200"/>
            <a:ext cx="4429125" cy="285750"/>
          </a:xfrm>
          <a:prstGeom prst="rect">
            <a:avLst/>
          </a:prstGeom>
          <a:noFill/>
          <a:ln w="0">
            <a:noFill/>
          </a:ln>
        </p:spPr>
        <p:txBody>
          <a:bodyPr>
            <a:noAutofit/>
          </a:bodyPr>
          <a:lstStyle/>
          <a:p>
            <a:pPr>
              <a:defRPr sz="1725" b="1">
                <a:solidFill>
                  <a:srgbClr val="CC001C"/>
                </a:solidFill>
                <a:latin typeface="Calibri"/>
                <a:ea typeface="Calibri"/>
                <a:cs typeface="Calibri"/>
              </a:defRPr>
            </a:pPr>
            <a:r>
              <a:rPr sz="1725" b="1">
                <a:solidFill>
                  <a:srgbClr val="CC001C"/>
                </a:solidFill>
                <a:latin typeface="Calibri"/>
                <a:ea typeface="Calibri"/>
                <a:cs typeface="Calibri"/>
              </a:rPr>
              <a:t>Prediction für k+1</a:t>
            </a:r>
          </a:p>
        </p:txBody>
      </p:sp>
      <p:pic>
        <p:nvPicPr>
          <p:cNvPr id="1003" name="Grafik 1002"/>
          <p:cNvPicPr>
            <a:picLocks noChangeAspect="1"/>
          </p:cNvPicPr>
          <p:nvPr/>
        </p:nvPicPr>
        <p:blipFill>
          <a:blip r:embed="rId4"/>
          <a:stretch/>
        </p:blipFill>
        <p:spPr>
          <a:xfrm>
            <a:off x="1107705" y="3257550"/>
            <a:ext cx="3651990" cy="1371600"/>
          </a:xfrm>
          <a:prstGeom prst="rect">
            <a:avLst/>
          </a:prstGeom>
        </p:spPr>
      </p:pic>
      <p:pic>
        <p:nvPicPr>
          <p:cNvPr id="1004" name="Grafik 1003"/>
          <p:cNvPicPr>
            <a:picLocks noChangeAspect="1"/>
          </p:cNvPicPr>
          <p:nvPr/>
        </p:nvPicPr>
        <p:blipFill>
          <a:blip r:embed="rId5"/>
          <a:stretch/>
        </p:blipFill>
        <p:spPr>
          <a:xfrm>
            <a:off x="5581650" y="3009888"/>
            <a:ext cx="4352925" cy="1657374"/>
          </a:xfrm>
          <a:prstGeom prst="rect">
            <a:avLst/>
          </a:prstGeom>
        </p:spPr>
      </p:pic>
      <p:sp>
        <p:nvSpPr>
          <p:cNvPr id="1005" name="Rechteck 1004">
            <a:extLst>
              <a:ext uri="{FF2B5EF4-FFF2-40B4-BE49-F238E27FC236}">
                <a16:creationId xmlns:a16="http://schemas.microsoft.com/office/drawing/2014/main" id="{8A2F0E5A-7A8F-4688-9927-AE70E9C2CF0F}"/>
              </a:ext>
            </a:extLst>
          </p:cNvPr>
          <p:cNvSpPr>
            <a:spLocks noGrp="1"/>
          </p:cNvSpPr>
          <p:nvPr/>
        </p:nvSpPr>
        <p:spPr>
          <a:xfrm>
            <a:off x="666750" y="5057775"/>
            <a:ext cx="9153525" cy="571500"/>
          </a:xfrm>
          <a:prstGeom prst="rect">
            <a:avLst/>
          </a:prstGeom>
          <a:noFill/>
          <a:ln w="0">
            <a:noFill/>
          </a:ln>
        </p:spPr>
        <p:txBody>
          <a:bodyPr>
            <a:noAutofit/>
          </a:bodyPr>
          <a:lstStyle/>
          <a:p>
            <a:pPr>
              <a:defRPr sz="1725" b="0">
                <a:solidFill>
                  <a:srgbClr val="484848"/>
                </a:solidFill>
                <a:latin typeface="Calibri"/>
                <a:ea typeface="Calibri"/>
                <a:cs typeface="Calibri"/>
              </a:defRPr>
            </a:pPr>
            <a:r>
              <a:rPr sz="1725" b="0">
                <a:solidFill>
                  <a:srgbClr val="484848"/>
                </a:solidFill>
                <a:latin typeface="Calibri"/>
                <a:ea typeface="Calibri"/>
                <a:cs typeface="Calibri"/>
              </a:rPr>
              <a:t>x̂ₖ⁺, Pₖ⁺  nach dem letzten Update</a:t>
            </a:r>
          </a:p>
          <a:p>
            <a:pPr>
              <a:defRPr sz="1725" b="0">
                <a:solidFill>
                  <a:srgbClr val="484848"/>
                </a:solidFill>
                <a:latin typeface="Calibri"/>
                <a:ea typeface="Calibri"/>
                <a:cs typeface="Calibri"/>
              </a:defRPr>
            </a:pPr>
            <a:r>
              <a:rPr sz="1725" b="0">
                <a:solidFill>
                  <a:srgbClr val="484848"/>
                </a:solidFill>
                <a:latin typeface="Calibri"/>
                <a:ea typeface="Calibri"/>
                <a:cs typeface="Calibri"/>
              </a:rPr>
              <a:t>x̂ₖ₊₁⁻, Pₖ₊₁⁻  vor der neuen Messkorrektur</a:t>
            </a:r>
          </a:p>
        </p:txBody>
      </p:sp>
      <p:sp>
        <p:nvSpPr>
          <p:cNvPr id="1006" name="Rechteck 1005">
            <a:extLst>
              <a:ext uri="{FF2B5EF4-FFF2-40B4-BE49-F238E27FC236}">
                <a16:creationId xmlns:a16="http://schemas.microsoft.com/office/drawing/2014/main" id="{CD8CD135-151E-4044-840A-E8D13337DE30}"/>
              </a:ext>
            </a:extLst>
          </p:cNvPr>
          <p:cNvSpPr>
            <a:spLocks noGrp="1"/>
          </p:cNvSpPr>
          <p:nvPr/>
        </p:nvSpPr>
        <p:spPr>
          <a:xfrm>
            <a:off x="666750" y="5629275"/>
            <a:ext cx="9201150" cy="247650"/>
          </a:xfrm>
          <a:prstGeom prst="rect">
            <a:avLst/>
          </a:prstGeom>
          <a:noFill/>
          <a:ln w="0">
            <a:noFill/>
          </a:ln>
        </p:spPr>
        <p:txBody>
          <a:bodyPr>
            <a:noAutofit/>
          </a:bodyPr>
          <a:lstStyle/>
          <a:p>
            <a:pPr>
              <a:defRPr sz="1575" b="0">
                <a:solidFill>
                  <a:srgbClr val="484848"/>
                </a:solidFill>
                <a:latin typeface="Calibri"/>
                <a:ea typeface="Calibri"/>
                <a:cs typeface="Calibri"/>
              </a:defRPr>
            </a:pPr>
            <a:r>
              <a:rPr sz="1575" b="0">
                <a:solidFill>
                  <a:srgbClr val="484848"/>
                </a:solidFill>
                <a:latin typeface="Calibri"/>
                <a:ea typeface="Calibri"/>
                <a:cs typeface="Calibri"/>
              </a:rPr>
              <a:t>Qₖ wird in jedem Prediction-Schritt zur fortgeschriebenen Kovarianz addiert</a:t>
            </a:r>
          </a:p>
        </p:txBody>
      </p:sp>
    </p:spTree>
    <p:extLst>
      <p:ext uri="{BB962C8B-B14F-4D97-AF65-F5344CB8AC3E}">
        <p14:creationId xmlns:p14="http://schemas.microsoft.com/office/powerpoint/2010/main" val="15989129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Kalmanfilter – Gain und Update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C001C"/>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39</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1000" name="Grafik 999"/>
          <p:cNvPicPr>
            <a:picLocks noChangeAspect="1"/>
          </p:cNvPicPr>
          <p:nvPr/>
        </p:nvPicPr>
        <p:blipFill>
          <a:blip r:embed="rId3"/>
          <a:stretch/>
        </p:blipFill>
        <p:spPr>
          <a:xfrm>
            <a:off x="2134203" y="1438275"/>
            <a:ext cx="6266244" cy="581025"/>
          </a:xfrm>
          <a:prstGeom prst="rect">
            <a:avLst/>
          </a:prstGeom>
        </p:spPr>
      </p:pic>
      <p:pic>
        <p:nvPicPr>
          <p:cNvPr id="1001" name="Grafik 1000"/>
          <p:cNvPicPr>
            <a:picLocks noChangeAspect="1"/>
          </p:cNvPicPr>
          <p:nvPr/>
        </p:nvPicPr>
        <p:blipFill>
          <a:blip r:embed="rId4"/>
          <a:stretch/>
        </p:blipFill>
        <p:spPr>
          <a:xfrm>
            <a:off x="1943894" y="2266950"/>
            <a:ext cx="6637338" cy="1057275"/>
          </a:xfrm>
          <a:prstGeom prst="rect">
            <a:avLst/>
          </a:prstGeom>
        </p:spPr>
      </p:pic>
      <p:pic>
        <p:nvPicPr>
          <p:cNvPr id="1002" name="Grafik 1001"/>
          <p:cNvPicPr>
            <a:picLocks noChangeAspect="1"/>
          </p:cNvPicPr>
          <p:nvPr/>
        </p:nvPicPr>
        <p:blipFill>
          <a:blip r:embed="rId5"/>
          <a:stretch/>
        </p:blipFill>
        <p:spPr>
          <a:xfrm>
            <a:off x="619125" y="3672768"/>
            <a:ext cx="5210175" cy="1912764"/>
          </a:xfrm>
          <a:prstGeom prst="rect">
            <a:avLst/>
          </a:prstGeom>
        </p:spPr>
      </p:pic>
      <p:sp>
        <p:nvSpPr>
          <p:cNvPr id="1003" name="Rechteck 1002">
            <a:extLst>
              <a:ext uri="{FF2B5EF4-FFF2-40B4-BE49-F238E27FC236}">
                <a16:creationId xmlns:a16="http://schemas.microsoft.com/office/drawing/2014/main" id="{D9296D90-72F3-478E-BC51-F14566C21B39}"/>
              </a:ext>
            </a:extLst>
          </p:cNvPr>
          <p:cNvSpPr>
            <a:spLocks noGrp="1"/>
          </p:cNvSpPr>
          <p:nvPr/>
        </p:nvSpPr>
        <p:spPr>
          <a:xfrm>
            <a:off x="6181725" y="3657600"/>
            <a:ext cx="3629025" cy="1257300"/>
          </a:xfrm>
          <a:prstGeom prst="rect">
            <a:avLst/>
          </a:prstGeom>
          <a:noFill/>
          <a:ln w="0">
            <a:noFill/>
          </a:ln>
        </p:spPr>
        <p:txBody>
          <a:bodyPr>
            <a:noAutofit/>
          </a:bodyPr>
          <a:lstStyle/>
          <a:p>
            <a:pPr>
              <a:defRPr sz="1650" b="0">
                <a:solidFill>
                  <a:srgbClr val="484848"/>
                </a:solidFill>
                <a:latin typeface="Calibri"/>
                <a:ea typeface="Calibri"/>
                <a:cs typeface="Calibri"/>
              </a:defRPr>
            </a:pPr>
            <a:r>
              <a:rPr sz="1650" b="0">
                <a:solidFill>
                  <a:srgbClr val="484848"/>
                </a:solidFill>
                <a:latin typeface="Calibri"/>
                <a:ea typeface="Calibri"/>
                <a:cs typeface="Calibri"/>
              </a:rPr>
              <a:t>Kₖ₊₁  Kalman-Gain</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yₖ₊₁  neue Messung</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Rₖ₊₁  Messkovarianz</a:t>
            </a:r>
          </a:p>
          <a:p>
            <a:pPr>
              <a:defRPr sz="1650" b="0">
                <a:solidFill>
                  <a:srgbClr val="484848"/>
                </a:solidFill>
                <a:latin typeface="Calibri"/>
                <a:ea typeface="Calibri"/>
                <a:cs typeface="Calibri"/>
              </a:defRPr>
            </a:pPr>
            <a:r>
              <a:rPr sz="1650" b="0">
                <a:solidFill>
                  <a:srgbClr val="484848"/>
                </a:solidFill>
                <a:latin typeface="Calibri"/>
                <a:ea typeface="Calibri"/>
                <a:cs typeface="Calibri"/>
              </a:rPr>
              <a:t>[ … ]  Innovation</a:t>
            </a:r>
          </a:p>
        </p:txBody>
      </p:sp>
      <p:pic>
        <p:nvPicPr>
          <p:cNvPr id="1004" name="Grafik 1003"/>
          <p:cNvPicPr>
            <a:picLocks noChangeAspect="1"/>
          </p:cNvPicPr>
          <p:nvPr/>
        </p:nvPicPr>
        <p:blipFill>
          <a:blip r:embed="rId6"/>
          <a:stretch/>
        </p:blipFill>
        <p:spPr>
          <a:xfrm>
            <a:off x="7086600" y="5095875"/>
            <a:ext cx="1866900" cy="419100"/>
          </a:xfrm>
          <a:prstGeom prst="rect">
            <a:avLst/>
          </a:prstGeom>
        </p:spPr>
      </p:pic>
      <p:sp>
        <p:nvSpPr>
          <p:cNvPr id="1005" name="Rechteck 1004">
            <a:extLst>
              <a:ext uri="{FF2B5EF4-FFF2-40B4-BE49-F238E27FC236}">
                <a16:creationId xmlns:a16="http://schemas.microsoft.com/office/drawing/2014/main" id="{6967B827-3D6D-4A43-85F3-9516DD2D991B}"/>
              </a:ext>
            </a:extLst>
          </p:cNvPr>
          <p:cNvSpPr>
            <a:spLocks noGrp="1"/>
          </p:cNvSpPr>
          <p:nvPr/>
        </p:nvSpPr>
        <p:spPr>
          <a:xfrm>
            <a:off x="6172200" y="5467350"/>
            <a:ext cx="3724275" cy="400050"/>
          </a:xfrm>
          <a:prstGeom prst="rect">
            <a:avLst/>
          </a:prstGeom>
          <a:noFill/>
          <a:ln w="0">
            <a:noFill/>
          </a:ln>
        </p:spPr>
        <p:txBody>
          <a:bodyPr>
            <a:noAutofit/>
          </a:bodyPr>
          <a:lstStyle/>
          <a:p>
            <a:pPr>
              <a:defRPr sz="1425" b="0">
                <a:solidFill>
                  <a:srgbClr val="484848"/>
                </a:solidFill>
                <a:latin typeface="Calibri"/>
                <a:ea typeface="Calibri"/>
                <a:cs typeface="Calibri"/>
              </a:defRPr>
            </a:pPr>
            <a:r>
              <a:rPr sz="1425" b="0">
                <a:solidFill>
                  <a:srgbClr val="484848"/>
                </a:solidFill>
                <a:latin typeface="Calibri"/>
                <a:ea typeface="Calibri"/>
                <a:cs typeface="Calibri"/>
              </a:rPr>
              <a:t>Skalar, sonst gleiche Bedingungen:</a:t>
            </a:r>
          </a:p>
          <a:p>
            <a:pPr>
              <a:defRPr sz="1425" b="0">
                <a:solidFill>
                  <a:srgbClr val="484848"/>
                </a:solidFill>
                <a:latin typeface="Calibri"/>
                <a:ea typeface="Calibri"/>
                <a:cs typeface="Calibri"/>
              </a:defRPr>
            </a:pPr>
            <a:r>
              <a:rPr sz="1425" b="0">
                <a:solidFill>
                  <a:srgbClr val="484848"/>
                </a:solidFill>
                <a:latin typeface="Calibri"/>
                <a:ea typeface="Calibri"/>
                <a:cs typeface="Calibri"/>
              </a:rPr>
              <a:t>größeres R bedeutet kleineres K</a:t>
            </a:r>
          </a:p>
        </p:txBody>
      </p:sp>
    </p:spTree>
    <p:extLst>
      <p:ext uri="{BB962C8B-B14F-4D97-AF65-F5344CB8AC3E}">
        <p14:creationId xmlns:p14="http://schemas.microsoft.com/office/powerpoint/2010/main" val="15989129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Pruning und die quadratische MAC-Einsparung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47</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AE557C26-860B-44A0-9C60-5AFE24B7573D}"/>
              </a:ext>
            </a:extLst>
          </p:cNvPr>
          <p:cNvSpPr>
            <a:spLocks noGrp="1"/>
          </p:cNvSpPr>
          <p:nvPr/>
        </p:nvSpPr>
        <p:spPr>
          <a:xfrm>
            <a:off x="552450" y="1381125"/>
            <a:ext cx="9353550" cy="361950"/>
          </a:xfrm>
          <a:prstGeom prst="rect">
            <a:avLst/>
          </a:prstGeom>
          <a:noFill/>
          <a:ln w="0">
            <a:noFill/>
          </a:ln>
        </p:spPr>
        <p:txBody>
          <a:bodyPr>
            <a:noAutofit/>
          </a:bodyPr>
          <a:lstStyle/>
          <a:p>
            <a:pPr>
              <a:defRPr sz="2025" b="1">
                <a:solidFill>
                  <a:srgbClr val="C8102E"/>
                </a:solidFill>
                <a:latin typeface="Calibri"/>
                <a:ea typeface="Calibri"/>
                <a:cs typeface="Calibri"/>
              </a:defRPr>
            </a:pPr>
            <a:r>
              <a:rPr sz="2025" b="1">
                <a:solidFill>
                  <a:srgbClr val="C8102E"/>
                </a:solidFill>
                <a:latin typeface="Calibri"/>
                <a:ea typeface="Calibri"/>
                <a:cs typeface="Calibri"/>
              </a:rPr>
              <a:t>MACs pro Zeitschritt: N(H) = 4HD + 4H² + HM + M</a:t>
            </a:r>
          </a:p>
        </p:txBody>
      </p:sp>
      <p:sp>
        <p:nvSpPr>
          <p:cNvPr id="503" name="Rechteck 502">
            <a:extLst>
              <a:ext uri="{FF2B5EF4-FFF2-40B4-BE49-F238E27FC236}">
                <a16:creationId xmlns:a16="http://schemas.microsoft.com/office/drawing/2014/main" id="{85232B20-6B96-4B75-8172-1779042232E4}"/>
              </a:ext>
            </a:extLst>
          </p:cNvPr>
          <p:cNvSpPr>
            <a:spLocks noGrp="1"/>
          </p:cNvSpPr>
          <p:nvPr/>
        </p:nvSpPr>
        <p:spPr>
          <a:xfrm>
            <a:off x="552450" y="1781175"/>
            <a:ext cx="9353550" cy="333375"/>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D: Inputs     H: Hidden Channels     M: MLP-Breite     p: entfernter Anteil</a:t>
            </a:r>
          </a:p>
        </p:txBody>
      </p:sp>
      <p:sp>
        <p:nvSpPr>
          <p:cNvPr id="504" name="Rechteck 503">
            <a:extLst>
              <a:ext uri="{FF2B5EF4-FFF2-40B4-BE49-F238E27FC236}">
                <a16:creationId xmlns:a16="http://schemas.microsoft.com/office/drawing/2014/main" id="{79A6B3CA-4941-47E4-B11B-7976755BC53D}"/>
              </a:ext>
            </a:extLst>
          </p:cNvPr>
          <p:cNvSpPr>
            <a:spLocks noGrp="1"/>
          </p:cNvSpPr>
          <p:nvPr/>
        </p:nvSpPr>
        <p:spPr>
          <a:xfrm>
            <a:off x="552450" y="2343150"/>
            <a:ext cx="4524375" cy="304800"/>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Herleitung aus Gl. 7.9 und 7.10</a:t>
            </a:r>
          </a:p>
        </p:txBody>
      </p:sp>
      <p:sp>
        <p:nvSpPr>
          <p:cNvPr id="505" name="Rechteck 504">
            <a:extLst>
              <a:ext uri="{FF2B5EF4-FFF2-40B4-BE49-F238E27FC236}">
                <a16:creationId xmlns:a16="http://schemas.microsoft.com/office/drawing/2014/main" id="{0007273C-15C1-4E26-A291-0C21C3BC8122}"/>
              </a:ext>
            </a:extLst>
          </p:cNvPr>
          <p:cNvSpPr>
            <a:spLocks noGrp="1"/>
          </p:cNvSpPr>
          <p:nvPr/>
        </p:nvSpPr>
        <p:spPr>
          <a:xfrm>
            <a:off x="552450" y="2762250"/>
            <a:ext cx="4572000" cy="342900"/>
          </a:xfrm>
          <a:prstGeom prst="rect">
            <a:avLst/>
          </a:prstGeom>
          <a:noFill/>
          <a:ln w="0">
            <a:noFill/>
          </a:ln>
        </p:spPr>
        <p:txBody>
          <a:bodyPr>
            <a:noAutofit/>
          </a:bodyPr>
          <a:lstStyle/>
          <a:p>
            <a:pPr>
              <a:defRPr sz="1800" b="0">
                <a:solidFill>
                  <a:srgbClr val="454545"/>
                </a:solidFill>
                <a:latin typeface="Calibri"/>
                <a:ea typeface="Calibri"/>
                <a:cs typeface="Calibri"/>
              </a:defRPr>
            </a:pPr>
            <a:r>
              <a:rPr sz="1800" b="0">
                <a:solidFill>
                  <a:srgbClr val="454545"/>
                </a:solidFill>
                <a:latin typeface="Calibri"/>
                <a:ea typeface="Calibri"/>
                <a:cs typeface="Calibri"/>
              </a:rPr>
              <a:t>Nach Pruning: Hₚ = (1 − p)H</a:t>
            </a:r>
          </a:p>
        </p:txBody>
      </p:sp>
      <p:sp>
        <p:nvSpPr>
          <p:cNvPr id="506" name="Rechteck 505">
            <a:extLst>
              <a:ext uri="{FF2B5EF4-FFF2-40B4-BE49-F238E27FC236}">
                <a16:creationId xmlns:a16="http://schemas.microsoft.com/office/drawing/2014/main" id="{9CFE59BE-F75F-4F83-A89B-B8C4339F0833}"/>
              </a:ext>
            </a:extLst>
          </p:cNvPr>
          <p:cNvSpPr>
            <a:spLocks noGrp="1"/>
          </p:cNvSpPr>
          <p:nvPr/>
        </p:nvSpPr>
        <p:spPr>
          <a:xfrm>
            <a:off x="552450" y="3200400"/>
            <a:ext cx="4572000" cy="381000"/>
          </a:xfrm>
          <a:prstGeom prst="rect">
            <a:avLst/>
          </a:prstGeom>
          <a:noFill/>
          <a:ln w="0">
            <a:noFill/>
          </a:ln>
        </p:spPr>
        <p:txBody>
          <a:bodyPr>
            <a:noAutofit/>
          </a:bodyPr>
          <a:lstStyle/>
          <a:p>
            <a:pPr>
              <a:defRPr sz="1725" b="0">
                <a:solidFill>
                  <a:srgbClr val="454545"/>
                </a:solidFill>
                <a:latin typeface="Calibri"/>
                <a:ea typeface="Calibri"/>
                <a:cs typeface="Calibri"/>
              </a:defRPr>
            </a:pPr>
            <a:r>
              <a:rPr sz="1725" b="0">
                <a:solidFill>
                  <a:srgbClr val="454545"/>
                </a:solidFill>
                <a:latin typeface="Calibri"/>
                <a:ea typeface="Calibri"/>
                <a:cs typeface="Calibri"/>
              </a:rPr>
              <a:t>R(H,p) = 1 − N((1 − p)H) / N(H)</a:t>
            </a:r>
          </a:p>
        </p:txBody>
      </p:sp>
      <p:sp>
        <p:nvSpPr>
          <p:cNvPr id="507" name="Rechteck 506">
            <a:extLst>
              <a:ext uri="{FF2B5EF4-FFF2-40B4-BE49-F238E27FC236}">
                <a16:creationId xmlns:a16="http://schemas.microsoft.com/office/drawing/2014/main" id="{9BE181EF-297B-4011-8120-44EE7C39AB6F}"/>
              </a:ext>
            </a:extLst>
          </p:cNvPr>
          <p:cNvSpPr>
            <a:spLocks noGrp="1"/>
          </p:cNvSpPr>
          <p:nvPr/>
        </p:nvSpPr>
        <p:spPr>
          <a:xfrm>
            <a:off x="552450" y="3714750"/>
            <a:ext cx="4572000" cy="619125"/>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Für H → ∞ bei festem D und M</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dominiert der Hidden-to-Hidden-Term 4H².</a:t>
            </a:r>
          </a:p>
        </p:txBody>
      </p:sp>
      <p:sp>
        <p:nvSpPr>
          <p:cNvPr id="508" name="Rechteck 507">
            <a:extLst>
              <a:ext uri="{FF2B5EF4-FFF2-40B4-BE49-F238E27FC236}">
                <a16:creationId xmlns:a16="http://schemas.microsoft.com/office/drawing/2014/main" id="{D867E4D6-F950-4D81-B784-C066F85A3994}"/>
              </a:ext>
            </a:extLst>
          </p:cNvPr>
          <p:cNvSpPr>
            <a:spLocks noGrp="1"/>
          </p:cNvSpPr>
          <p:nvPr/>
        </p:nvSpPr>
        <p:spPr>
          <a:xfrm>
            <a:off x="552450" y="4476750"/>
            <a:ext cx="4619625" cy="400050"/>
          </a:xfrm>
          <a:prstGeom prst="rect">
            <a:avLst/>
          </a:prstGeom>
          <a:noFill/>
          <a:ln w="0">
            <a:noFill/>
          </a:ln>
        </p:spPr>
        <p:txBody>
          <a:bodyPr>
            <a:noAutofit/>
          </a:bodyPr>
          <a:lstStyle/>
          <a:p>
            <a:pPr>
              <a:defRPr sz="1950" b="1">
                <a:solidFill>
                  <a:srgbClr val="C8102E"/>
                </a:solidFill>
                <a:latin typeface="Calibri"/>
                <a:ea typeface="Calibri"/>
                <a:cs typeface="Calibri"/>
              </a:defRPr>
            </a:pPr>
            <a:r>
              <a:rPr sz="1950" b="1">
                <a:solidFill>
                  <a:srgbClr val="C8102E"/>
                </a:solidFill>
                <a:latin typeface="Calibri"/>
                <a:ea typeface="Calibri"/>
                <a:cs typeface="Calibri"/>
              </a:rPr>
              <a:t>R∞(p) = 1 − (1 − p)² = 2p − p²</a:t>
            </a:r>
          </a:p>
        </p:txBody>
      </p:sp>
      <p:sp>
        <p:nvSpPr>
          <p:cNvPr id="509" name="Rechteck 508">
            <a:extLst>
              <a:ext uri="{FF2B5EF4-FFF2-40B4-BE49-F238E27FC236}">
                <a16:creationId xmlns:a16="http://schemas.microsoft.com/office/drawing/2014/main" id="{D0A449B6-D8B6-45B6-A20F-E6B002BA30C9}"/>
              </a:ext>
            </a:extLst>
          </p:cNvPr>
          <p:cNvSpPr>
            <a:spLocks noGrp="1"/>
          </p:cNvSpPr>
          <p:nvPr/>
        </p:nvSpPr>
        <p:spPr>
          <a:xfrm>
            <a:off x="552450" y="5000625"/>
            <a:ext cx="4524375" cy="342900"/>
          </a:xfrm>
          <a:prstGeom prst="rect">
            <a:avLst/>
          </a:prstGeom>
          <a:noFill/>
          <a:ln w="0">
            <a:noFill/>
          </a:ln>
        </p:spPr>
        <p:txBody>
          <a:bodyPr>
            <a:noAutofit/>
          </a:bodyPr>
          <a:lstStyle/>
          <a:p>
            <a:pPr>
              <a:defRPr sz="1650" b="0">
                <a:solidFill>
                  <a:srgbClr val="454545"/>
                </a:solidFill>
                <a:latin typeface="Calibri"/>
                <a:ea typeface="Calibri"/>
                <a:cs typeface="Calibri"/>
              </a:defRPr>
            </a:pPr>
            <a:r>
              <a:rPr sz="1650" b="0">
                <a:solidFill>
                  <a:srgbClr val="454545"/>
                </a:solidFill>
                <a:latin typeface="Calibri"/>
                <a:ea typeface="Calibri"/>
                <a:cs typeface="Calibri"/>
              </a:rPr>
              <a:t>Bei p = 0,30: 0,60 − 0,09 = 0,51</a:t>
            </a:r>
          </a:p>
        </p:txBody>
      </p:sp>
      <p:graphicFrame>
        <p:nvGraphicFramePr>
          <p:cNvPr id="510" name="Chart"/>
          <p:cNvGraphicFramePr/>
          <p:nvPr/>
        </p:nvGraphicFramePr>
        <p:xfrm>
          <a:off x="5295900" y="2247900"/>
          <a:ext cx="4667250" cy="3171825"/>
        </p:xfrm>
        <a:graphic>
          <a:graphicData uri="http://schemas.openxmlformats.org/drawingml/2006/chart">
            <c:chart xmlns:c="http://schemas.openxmlformats.org/drawingml/2006/chart" xmlns:r="http://schemas.openxmlformats.org/officeDocument/2006/relationships" r:id="rId3"/>
          </a:graphicData>
        </a:graphic>
      </p:graphicFrame>
      <p:sp>
        <p:nvSpPr>
          <p:cNvPr id="511" name="Rechteck 510">
            <a:extLst>
              <a:ext uri="{FF2B5EF4-FFF2-40B4-BE49-F238E27FC236}">
                <a16:creationId xmlns:a16="http://schemas.microsoft.com/office/drawing/2014/main" id="{386D67FD-FFC0-4A66-9B8F-63EB0406F018}"/>
              </a:ext>
            </a:extLst>
          </p:cNvPr>
          <p:cNvSpPr>
            <a:spLocks noGrp="1"/>
          </p:cNvSpPr>
          <p:nvPr/>
        </p:nvSpPr>
        <p:spPr>
          <a:xfrm>
            <a:off x="5286375" y="5476875"/>
            <a:ext cx="46672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30 % → 51 %     40 % → 64 %     50 % → 75 %</a:t>
            </a:r>
          </a:p>
        </p:txBody>
      </p:sp>
      <p:sp>
        <p:nvSpPr>
          <p:cNvPr id="512" name="Rechteck 511">
            <a:extLst>
              <a:ext uri="{FF2B5EF4-FFF2-40B4-BE49-F238E27FC236}">
                <a16:creationId xmlns:a16="http://schemas.microsoft.com/office/drawing/2014/main" id="{C1F5BC1D-61EA-416A-80D5-13B8A11E3127}"/>
              </a:ext>
            </a:extLst>
          </p:cNvPr>
          <p:cNvSpPr>
            <a:spLocks noGrp="1"/>
          </p:cNvSpPr>
          <p:nvPr/>
        </p:nvSpPr>
        <p:spPr>
          <a:xfrm>
            <a:off x="552450" y="5505450"/>
            <a:ext cx="4572000" cy="571500"/>
          </a:xfrm>
          <a:prstGeom prst="rect">
            <a:avLst/>
          </a:prstGeom>
          <a:noFill/>
          <a:ln w="0">
            <a:noFill/>
          </a:ln>
        </p:spPr>
        <p:txBody>
          <a:bodyPr>
            <a:noAutofit/>
          </a:bodyPr>
          <a:lstStyle/>
          <a:p>
            <a:pPr>
              <a:defRPr sz="1425" b="0">
                <a:solidFill>
                  <a:srgbClr val="454545"/>
                </a:solidFill>
                <a:latin typeface="Calibri"/>
                <a:ea typeface="Calibri"/>
                <a:cs typeface="Calibri"/>
              </a:defRPr>
            </a:pPr>
            <a:r>
              <a:rPr sz="1425" b="0">
                <a:solidFill>
                  <a:srgbClr val="454545"/>
                </a:solidFill>
                <a:latin typeface="Calibri"/>
                <a:ea typeface="Calibri"/>
                <a:cs typeface="Calibri"/>
              </a:rPr>
              <a:t>Reale Modelle bei 30 % Pruning:</a:t>
            </a:r>
          </a:p>
          <a:p>
            <a:pPr>
              <a:defRPr sz="1425" b="0">
                <a:solidFill>
                  <a:srgbClr val="454545"/>
                </a:solidFill>
                <a:latin typeface="Calibri"/>
                <a:ea typeface="Calibri"/>
                <a:cs typeface="Calibri"/>
              </a:defRPr>
            </a:pPr>
            <a:r>
              <a:rPr sz="1425" b="0">
                <a:solidFill>
                  <a:srgbClr val="454545"/>
                </a:solidFill>
                <a:latin typeface="Calibri"/>
                <a:ea typeface="Calibri"/>
                <a:cs typeface="Calibri"/>
              </a:rPr>
              <a:t>SOC 45,1 %, SOH 45,7 % (ganzzahlige H).</a:t>
            </a:r>
          </a:p>
        </p:txBody>
      </p:sp>
    </p:spTree>
    <p:extLst>
      <p:ext uri="{BB962C8B-B14F-4D97-AF65-F5344CB8AC3E}">
        <p14:creationId xmlns:p14="http://schemas.microsoft.com/office/powerpoint/2010/main" val="15989129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Einen Boxplot lesen</a:t>
            </a:r>
          </a:p>
        </p:txBody>
      </p:sp>
      <p:sp>
        <p:nvSpPr>
          <p:cNvPr id="3" name="Rechteck 2"/>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48</a:t>
            </a:r>
          </a:p>
        </p:txBody>
      </p:sp>
      <p:sp>
        <p:nvSpPr>
          <p:cNvPr id="31" name="Footer – Präsentationsangaben"/>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pic>
        <p:nvPicPr>
          <p:cNvPr id="32" name="Grafik 31">
            <a:extLst>
              <a:ext uri="{FF2B5EF4-FFF2-40B4-BE49-F238E27FC236}">
                <a16:creationId xmlns:a16="http://schemas.microsoft.com/office/drawing/2014/main" id="{B19F2114-DA27-4F95-8770-2017F2E71216}"/>
              </a:ext>
            </a:extLst>
          </p:cNvPr>
          <p:cNvPicPr>
            <a:picLocks noChangeAspect="1"/>
          </p:cNvPicPr>
          <p:nvPr/>
        </p:nvPicPr>
        <p:blipFill>
          <a:blip r:embed="rId3"/>
          <a:stretch/>
        </p:blipFill>
        <p:spPr>
          <a:xfrm>
            <a:off x="495300" y="1381125"/>
            <a:ext cx="5476875" cy="4429125"/>
          </a:xfrm>
          <a:prstGeom prst="rect">
            <a:avLst/>
          </a:prstGeom>
        </p:spPr>
      </p:pic>
      <p:sp>
        <p:nvSpPr>
          <p:cNvPr id="33" name="Definition Median title">
            <a:extLst>
              <a:ext uri="{FF2B5EF4-FFF2-40B4-BE49-F238E27FC236}">
                <a16:creationId xmlns:a16="http://schemas.microsoft.com/office/drawing/2014/main" id="{41762627-FAF0-41A8-934D-06DD0B21E701}"/>
              </a:ext>
            </a:extLst>
          </p:cNvPr>
          <p:cNvSpPr>
            <a:spLocks noGrp="1"/>
          </p:cNvSpPr>
          <p:nvPr/>
        </p:nvSpPr>
        <p:spPr>
          <a:xfrm>
            <a:off x="6019800" y="1457325"/>
            <a:ext cx="3952875" cy="285750"/>
          </a:xfrm>
          <a:prstGeom prst="rect">
            <a:avLst/>
          </a:prstGeom>
          <a:noFill/>
          <a:ln w="0">
            <a:noFill/>
          </a:ln>
        </p:spPr>
        <p:txBody>
          <a:bodyPr lIns="0" tIns="0" rIns="0" bIns="0"/>
          <a:lstStyle>
            <a:defPPr>
              <a:defRPr sz="1800" b="1">
                <a:solidFill>
                  <a:srgbClr val="505050"/>
                </a:solidFill>
              </a:defRPr>
            </a:defPPr>
            <a:lvl1pPr>
              <a:defRPr sz="1800" b="1">
                <a:solidFill>
                  <a:srgbClr val="505050"/>
                </a:solidFill>
              </a:defRPr>
            </a:lvl1pPr>
            <a:lvl2pPr>
              <a:defRPr sz="1800" b="1">
                <a:solidFill>
                  <a:srgbClr val="505050"/>
                </a:solidFill>
              </a:defRPr>
            </a:lvl2pPr>
            <a:lvl3pPr>
              <a:defRPr sz="1800" b="1">
                <a:solidFill>
                  <a:srgbClr val="505050"/>
                </a:solidFill>
              </a:defRPr>
            </a:lvl3pPr>
            <a:lvl4pPr>
              <a:defRPr sz="1800" b="1">
                <a:solidFill>
                  <a:srgbClr val="505050"/>
                </a:solidFill>
              </a:defRPr>
            </a:lvl4pPr>
            <a:lvl5pPr>
              <a:defRPr sz="1800" b="1">
                <a:solidFill>
                  <a:srgbClr val="505050"/>
                </a:solidFill>
              </a:defRPr>
            </a:lvl5pPr>
            <a:lvl6pPr>
              <a:defRPr sz="1800" b="1">
                <a:solidFill>
                  <a:srgbClr val="505050"/>
                </a:solidFill>
              </a:defRPr>
            </a:lvl6pPr>
            <a:lvl7pPr>
              <a:defRPr sz="1800" b="1">
                <a:solidFill>
                  <a:srgbClr val="505050"/>
                </a:solidFill>
              </a:defRPr>
            </a:lvl7pPr>
            <a:lvl8pPr>
              <a:defRPr sz="1800" b="1">
                <a:solidFill>
                  <a:srgbClr val="505050"/>
                </a:solidFill>
              </a:defRPr>
            </a:lvl8pPr>
            <a:lvl9pPr>
              <a:defRPr sz="1800" b="1">
                <a:solidFill>
                  <a:srgbClr val="505050"/>
                </a:solidFill>
              </a:defRPr>
            </a:lvl9pPr>
          </a:lstStyle>
          <a:p>
            <a:pPr>
              <a:defRPr sz="1800" b="1">
                <a:solidFill>
                  <a:srgbClr val="505050"/>
                </a:solidFill>
              </a:defRPr>
            </a:pPr>
            <a:r>
              <a:rPr sz="1800" b="1">
                <a:solidFill>
                  <a:srgbClr val="505050"/>
                </a:solidFill>
              </a:rPr>
              <a:t>Median (Q2, 50%-Quantil)</a:t>
            </a:r>
          </a:p>
        </p:txBody>
      </p:sp>
      <p:sp>
        <p:nvSpPr>
          <p:cNvPr id="34" name="Definition Median">
            <a:extLst>
              <a:ext uri="{FF2B5EF4-FFF2-40B4-BE49-F238E27FC236}">
                <a16:creationId xmlns:a16="http://schemas.microsoft.com/office/drawing/2014/main" id="{52DF7701-BFAF-4634-B6DC-0A9CF5FBE07C}"/>
              </a:ext>
            </a:extLst>
          </p:cNvPr>
          <p:cNvSpPr>
            <a:spLocks noGrp="1"/>
          </p:cNvSpPr>
          <p:nvPr/>
        </p:nvSpPr>
        <p:spPr>
          <a:xfrm>
            <a:off x="6019800" y="1781175"/>
            <a:ext cx="3952875" cy="571500"/>
          </a:xfrm>
          <a:prstGeom prst="rect">
            <a:avLst/>
          </a:prstGeom>
          <a:noFill/>
          <a:ln w="0">
            <a:noFill/>
          </a:ln>
        </p:spPr>
        <p:txBody>
          <a:bodyPr lIns="0" tIns="0" rIns="0" bIns="0"/>
          <a:lstStyle>
            <a:defPPr>
              <a:defRPr sz="1725" b="0">
                <a:solidFill>
                  <a:srgbClr val="505050"/>
                </a:solidFill>
              </a:defRPr>
            </a:defPPr>
            <a:lvl1pPr>
              <a:defRPr sz="1725" b="0">
                <a:solidFill>
                  <a:srgbClr val="505050"/>
                </a:solidFill>
              </a:defRPr>
            </a:lvl1pPr>
            <a:lvl2pPr>
              <a:defRPr sz="1725" b="0">
                <a:solidFill>
                  <a:srgbClr val="505050"/>
                </a:solidFill>
              </a:defRPr>
            </a:lvl2pPr>
            <a:lvl3pPr>
              <a:defRPr sz="1725" b="0">
                <a:solidFill>
                  <a:srgbClr val="505050"/>
                </a:solidFill>
              </a:defRPr>
            </a:lvl3pPr>
            <a:lvl4pPr>
              <a:defRPr sz="1725" b="0">
                <a:solidFill>
                  <a:srgbClr val="505050"/>
                </a:solidFill>
              </a:defRPr>
            </a:lvl4pPr>
            <a:lvl5pPr>
              <a:defRPr sz="1725" b="0">
                <a:solidFill>
                  <a:srgbClr val="505050"/>
                </a:solidFill>
              </a:defRPr>
            </a:lvl5pPr>
            <a:lvl6pPr>
              <a:defRPr sz="1725" b="0">
                <a:solidFill>
                  <a:srgbClr val="505050"/>
                </a:solidFill>
              </a:defRPr>
            </a:lvl6pPr>
            <a:lvl7pPr>
              <a:defRPr sz="1725" b="0">
                <a:solidFill>
                  <a:srgbClr val="505050"/>
                </a:solidFill>
              </a:defRPr>
            </a:lvl7pPr>
            <a:lvl8pPr>
              <a:defRPr sz="1725" b="0">
                <a:solidFill>
                  <a:srgbClr val="505050"/>
                </a:solidFill>
              </a:defRPr>
            </a:lvl8pPr>
            <a:lvl9pPr>
              <a:defRPr sz="1725" b="0">
                <a:solidFill>
                  <a:srgbClr val="505050"/>
                </a:solidFill>
              </a:defRPr>
            </a:lvl9pPr>
          </a:lstStyle>
          <a:p>
            <a:pPr>
              <a:defRPr sz="1725" b="0">
                <a:solidFill>
                  <a:srgbClr val="505050"/>
                </a:solidFill>
              </a:defRPr>
            </a:pPr>
            <a:r>
              <a:rPr sz="1725" b="0">
                <a:solidFill>
                  <a:srgbClr val="505050"/>
                </a:solidFill>
              </a:rPr>
              <a:t>Mittlerer Wert der sortierten Daten.</a:t>
            </a:r>
          </a:p>
          <a:p>
            <a:pPr>
              <a:defRPr sz="1725" b="0">
                <a:solidFill>
                  <a:srgbClr val="505050"/>
                </a:solidFill>
              </a:defRPr>
            </a:pPr>
            <a:r>
              <a:rPr sz="1725" b="0">
                <a:solidFill>
                  <a:srgbClr val="505050"/>
                </a:solidFill>
              </a:rPr>
              <a:t>1, 2, 3, 4, 20: Median = 3.</a:t>
            </a:r>
          </a:p>
        </p:txBody>
      </p:sp>
      <p:sp>
        <p:nvSpPr>
          <p:cNvPr id="35" name="Definition Quartiles title">
            <a:extLst>
              <a:ext uri="{FF2B5EF4-FFF2-40B4-BE49-F238E27FC236}">
                <a16:creationId xmlns:a16="http://schemas.microsoft.com/office/drawing/2014/main" id="{C79B44B4-46D7-4FBE-BBB7-CB9F2928DC6E}"/>
              </a:ext>
            </a:extLst>
          </p:cNvPr>
          <p:cNvSpPr>
            <a:spLocks noGrp="1"/>
          </p:cNvSpPr>
          <p:nvPr/>
        </p:nvSpPr>
        <p:spPr>
          <a:xfrm>
            <a:off x="6019800" y="2486025"/>
            <a:ext cx="3952875" cy="285750"/>
          </a:xfrm>
          <a:prstGeom prst="rect">
            <a:avLst/>
          </a:prstGeom>
          <a:noFill/>
          <a:ln w="0">
            <a:noFill/>
          </a:ln>
        </p:spPr>
        <p:txBody>
          <a:bodyPr lIns="0" tIns="0" rIns="0" bIns="0"/>
          <a:lstStyle>
            <a:defPPr>
              <a:defRPr sz="1800" b="1">
                <a:solidFill>
                  <a:srgbClr val="505050"/>
                </a:solidFill>
              </a:defRPr>
            </a:defPPr>
            <a:lvl1pPr>
              <a:defRPr sz="1800" b="1">
                <a:solidFill>
                  <a:srgbClr val="505050"/>
                </a:solidFill>
              </a:defRPr>
            </a:lvl1pPr>
            <a:lvl2pPr>
              <a:defRPr sz="1800" b="1">
                <a:solidFill>
                  <a:srgbClr val="505050"/>
                </a:solidFill>
              </a:defRPr>
            </a:lvl2pPr>
            <a:lvl3pPr>
              <a:defRPr sz="1800" b="1">
                <a:solidFill>
                  <a:srgbClr val="505050"/>
                </a:solidFill>
              </a:defRPr>
            </a:lvl3pPr>
            <a:lvl4pPr>
              <a:defRPr sz="1800" b="1">
                <a:solidFill>
                  <a:srgbClr val="505050"/>
                </a:solidFill>
              </a:defRPr>
            </a:lvl4pPr>
            <a:lvl5pPr>
              <a:defRPr sz="1800" b="1">
                <a:solidFill>
                  <a:srgbClr val="505050"/>
                </a:solidFill>
              </a:defRPr>
            </a:lvl5pPr>
            <a:lvl6pPr>
              <a:defRPr sz="1800" b="1">
                <a:solidFill>
                  <a:srgbClr val="505050"/>
                </a:solidFill>
              </a:defRPr>
            </a:lvl6pPr>
            <a:lvl7pPr>
              <a:defRPr sz="1800" b="1">
                <a:solidFill>
                  <a:srgbClr val="505050"/>
                </a:solidFill>
              </a:defRPr>
            </a:lvl7pPr>
            <a:lvl8pPr>
              <a:defRPr sz="1800" b="1">
                <a:solidFill>
                  <a:srgbClr val="505050"/>
                </a:solidFill>
              </a:defRPr>
            </a:lvl8pPr>
            <a:lvl9pPr>
              <a:defRPr sz="1800" b="1">
                <a:solidFill>
                  <a:srgbClr val="505050"/>
                </a:solidFill>
              </a:defRPr>
            </a:lvl9pPr>
          </a:lstStyle>
          <a:p>
            <a:pPr>
              <a:defRPr sz="1800" b="1">
                <a:solidFill>
                  <a:srgbClr val="505050"/>
                </a:solidFill>
              </a:defRPr>
            </a:pPr>
            <a:r>
              <a:rPr sz="1800" b="1">
                <a:solidFill>
                  <a:srgbClr val="505050"/>
                </a:solidFill>
              </a:rPr>
              <a:t>Quartile und Box</a:t>
            </a:r>
          </a:p>
        </p:txBody>
      </p:sp>
      <p:sp>
        <p:nvSpPr>
          <p:cNvPr id="36" name="Definition Quartiles">
            <a:extLst>
              <a:ext uri="{FF2B5EF4-FFF2-40B4-BE49-F238E27FC236}">
                <a16:creationId xmlns:a16="http://schemas.microsoft.com/office/drawing/2014/main" id="{2ABA91E4-34D3-4D34-AD35-3996B01F901A}"/>
              </a:ext>
            </a:extLst>
          </p:cNvPr>
          <p:cNvSpPr>
            <a:spLocks noGrp="1"/>
          </p:cNvSpPr>
          <p:nvPr/>
        </p:nvSpPr>
        <p:spPr>
          <a:xfrm>
            <a:off x="6019800" y="2809875"/>
            <a:ext cx="3952875" cy="828675"/>
          </a:xfrm>
          <a:prstGeom prst="rect">
            <a:avLst/>
          </a:prstGeom>
          <a:noFill/>
          <a:ln w="0">
            <a:noFill/>
          </a:ln>
        </p:spPr>
        <p:txBody>
          <a:bodyPr lIns="0" tIns="0" rIns="0" bIns="0"/>
          <a:lstStyle>
            <a:defPPr>
              <a:defRPr sz="1725" b="0">
                <a:solidFill>
                  <a:srgbClr val="505050"/>
                </a:solidFill>
              </a:defRPr>
            </a:defPPr>
            <a:lvl1pPr>
              <a:defRPr sz="1725" b="0">
                <a:solidFill>
                  <a:srgbClr val="505050"/>
                </a:solidFill>
              </a:defRPr>
            </a:lvl1pPr>
            <a:lvl2pPr>
              <a:defRPr sz="1725" b="0">
                <a:solidFill>
                  <a:srgbClr val="505050"/>
                </a:solidFill>
              </a:defRPr>
            </a:lvl2pPr>
            <a:lvl3pPr>
              <a:defRPr sz="1725" b="0">
                <a:solidFill>
                  <a:srgbClr val="505050"/>
                </a:solidFill>
              </a:defRPr>
            </a:lvl3pPr>
            <a:lvl4pPr>
              <a:defRPr sz="1725" b="0">
                <a:solidFill>
                  <a:srgbClr val="505050"/>
                </a:solidFill>
              </a:defRPr>
            </a:lvl4pPr>
            <a:lvl5pPr>
              <a:defRPr sz="1725" b="0">
                <a:solidFill>
                  <a:srgbClr val="505050"/>
                </a:solidFill>
              </a:defRPr>
            </a:lvl5pPr>
            <a:lvl6pPr>
              <a:defRPr sz="1725" b="0">
                <a:solidFill>
                  <a:srgbClr val="505050"/>
                </a:solidFill>
              </a:defRPr>
            </a:lvl6pPr>
            <a:lvl7pPr>
              <a:defRPr sz="1725" b="0">
                <a:solidFill>
                  <a:srgbClr val="505050"/>
                </a:solidFill>
              </a:defRPr>
            </a:lvl7pPr>
            <a:lvl8pPr>
              <a:defRPr sz="1725" b="0">
                <a:solidFill>
                  <a:srgbClr val="505050"/>
                </a:solidFill>
              </a:defRPr>
            </a:lvl8pPr>
            <a:lvl9pPr>
              <a:defRPr sz="1725" b="0">
                <a:solidFill>
                  <a:srgbClr val="505050"/>
                </a:solidFill>
              </a:defRPr>
            </a:lvl9pPr>
          </a:lstStyle>
          <a:p>
            <a:pPr>
              <a:defRPr sz="1725" b="0">
                <a:solidFill>
                  <a:srgbClr val="505050"/>
                </a:solidFill>
              </a:defRPr>
            </a:pPr>
            <a:r>
              <a:rPr sz="1725" b="0">
                <a:solidFill>
                  <a:srgbClr val="505050"/>
                </a:solidFill>
              </a:rPr>
              <a:t>Q1: 25%-Quantil; Q3: 75%-Quantil.</a:t>
            </a:r>
          </a:p>
          <a:p>
            <a:pPr>
              <a:defRPr sz="1725" b="0">
                <a:solidFill>
                  <a:srgbClr val="505050"/>
                </a:solidFill>
              </a:defRPr>
            </a:pPr>
            <a:r>
              <a:rPr sz="1725" b="0">
                <a:solidFill>
                  <a:srgbClr val="505050"/>
                </a:solidFill>
              </a:rPr>
              <a:t>Die Box enthält die mittleren 50 %.</a:t>
            </a:r>
          </a:p>
          <a:p>
            <a:pPr>
              <a:defRPr sz="1725" b="0">
                <a:solidFill>
                  <a:srgbClr val="505050"/>
                </a:solidFill>
              </a:defRPr>
            </a:pPr>
            <a:r>
              <a:rPr sz="1725" b="0">
                <a:solidFill>
                  <a:srgbClr val="505050"/>
                </a:solidFill>
              </a:rPr>
              <a:t>IQR = Q3 − Q1: Interquartilsabstand.</a:t>
            </a:r>
          </a:p>
        </p:txBody>
      </p:sp>
      <p:sp>
        <p:nvSpPr>
          <p:cNvPr id="37" name="Definition Whiskers title">
            <a:extLst>
              <a:ext uri="{FF2B5EF4-FFF2-40B4-BE49-F238E27FC236}">
                <a16:creationId xmlns:a16="http://schemas.microsoft.com/office/drawing/2014/main" id="{CFF7AE5C-593C-4FE1-BB33-2984CB5D3F4D}"/>
              </a:ext>
            </a:extLst>
          </p:cNvPr>
          <p:cNvSpPr>
            <a:spLocks noGrp="1"/>
          </p:cNvSpPr>
          <p:nvPr/>
        </p:nvSpPr>
        <p:spPr>
          <a:xfrm>
            <a:off x="6019800" y="3743325"/>
            <a:ext cx="3952875" cy="285750"/>
          </a:xfrm>
          <a:prstGeom prst="rect">
            <a:avLst/>
          </a:prstGeom>
          <a:noFill/>
          <a:ln w="0">
            <a:noFill/>
          </a:ln>
        </p:spPr>
        <p:txBody>
          <a:bodyPr lIns="0" tIns="0" rIns="0" bIns="0"/>
          <a:lstStyle>
            <a:defPPr>
              <a:defRPr sz="1800" b="1">
                <a:solidFill>
                  <a:srgbClr val="505050"/>
                </a:solidFill>
              </a:defRPr>
            </a:defPPr>
            <a:lvl1pPr>
              <a:defRPr sz="1800" b="1">
                <a:solidFill>
                  <a:srgbClr val="505050"/>
                </a:solidFill>
              </a:defRPr>
            </a:lvl1pPr>
            <a:lvl2pPr>
              <a:defRPr sz="1800" b="1">
                <a:solidFill>
                  <a:srgbClr val="505050"/>
                </a:solidFill>
              </a:defRPr>
            </a:lvl2pPr>
            <a:lvl3pPr>
              <a:defRPr sz="1800" b="1">
                <a:solidFill>
                  <a:srgbClr val="505050"/>
                </a:solidFill>
              </a:defRPr>
            </a:lvl3pPr>
            <a:lvl4pPr>
              <a:defRPr sz="1800" b="1">
                <a:solidFill>
                  <a:srgbClr val="505050"/>
                </a:solidFill>
              </a:defRPr>
            </a:lvl4pPr>
            <a:lvl5pPr>
              <a:defRPr sz="1800" b="1">
                <a:solidFill>
                  <a:srgbClr val="505050"/>
                </a:solidFill>
              </a:defRPr>
            </a:lvl5pPr>
            <a:lvl6pPr>
              <a:defRPr sz="1800" b="1">
                <a:solidFill>
                  <a:srgbClr val="505050"/>
                </a:solidFill>
              </a:defRPr>
            </a:lvl6pPr>
            <a:lvl7pPr>
              <a:defRPr sz="1800" b="1">
                <a:solidFill>
                  <a:srgbClr val="505050"/>
                </a:solidFill>
              </a:defRPr>
            </a:lvl7pPr>
            <a:lvl8pPr>
              <a:defRPr sz="1800" b="1">
                <a:solidFill>
                  <a:srgbClr val="505050"/>
                </a:solidFill>
              </a:defRPr>
            </a:lvl8pPr>
            <a:lvl9pPr>
              <a:defRPr sz="1800" b="1">
                <a:solidFill>
                  <a:srgbClr val="505050"/>
                </a:solidFill>
              </a:defRPr>
            </a:lvl9pPr>
          </a:lstStyle>
          <a:p>
            <a:pPr>
              <a:defRPr sz="1800" b="1">
                <a:solidFill>
                  <a:srgbClr val="505050"/>
                </a:solidFill>
              </a:defRPr>
            </a:pPr>
            <a:r>
              <a:rPr sz="1800" b="1">
                <a:solidFill>
                  <a:srgbClr val="505050"/>
                </a:solidFill>
              </a:rPr>
              <a:t>Whisker („Antennen“)</a:t>
            </a:r>
          </a:p>
        </p:txBody>
      </p:sp>
      <p:sp>
        <p:nvSpPr>
          <p:cNvPr id="38" name="Definition Whiskers">
            <a:extLst>
              <a:ext uri="{FF2B5EF4-FFF2-40B4-BE49-F238E27FC236}">
                <a16:creationId xmlns:a16="http://schemas.microsoft.com/office/drawing/2014/main" id="{9E9B8155-7EC3-4D0E-8176-73F2FEBED74F}"/>
              </a:ext>
            </a:extLst>
          </p:cNvPr>
          <p:cNvSpPr>
            <a:spLocks noGrp="1"/>
          </p:cNvSpPr>
          <p:nvPr/>
        </p:nvSpPr>
        <p:spPr>
          <a:xfrm>
            <a:off x="6019800" y="4067175"/>
            <a:ext cx="3952875" cy="819150"/>
          </a:xfrm>
          <a:prstGeom prst="rect">
            <a:avLst/>
          </a:prstGeom>
          <a:noFill/>
          <a:ln w="0">
            <a:noFill/>
          </a:ln>
        </p:spPr>
        <p:txBody>
          <a:bodyPr lIns="0" tIns="0" rIns="0" bIns="0"/>
          <a:lstStyle>
            <a:defPPr>
              <a:defRPr sz="1725" b="0">
                <a:solidFill>
                  <a:srgbClr val="505050"/>
                </a:solidFill>
              </a:defRPr>
            </a:defPPr>
            <a:lvl1pPr>
              <a:defRPr sz="1725" b="0">
                <a:solidFill>
                  <a:srgbClr val="505050"/>
                </a:solidFill>
              </a:defRPr>
            </a:lvl1pPr>
            <a:lvl2pPr>
              <a:defRPr sz="1725" b="0">
                <a:solidFill>
                  <a:srgbClr val="505050"/>
                </a:solidFill>
              </a:defRPr>
            </a:lvl2pPr>
            <a:lvl3pPr>
              <a:defRPr sz="1725" b="0">
                <a:solidFill>
                  <a:srgbClr val="505050"/>
                </a:solidFill>
              </a:defRPr>
            </a:lvl3pPr>
            <a:lvl4pPr>
              <a:defRPr sz="1725" b="0">
                <a:solidFill>
                  <a:srgbClr val="505050"/>
                </a:solidFill>
              </a:defRPr>
            </a:lvl4pPr>
            <a:lvl5pPr>
              <a:defRPr sz="1725" b="0">
                <a:solidFill>
                  <a:srgbClr val="505050"/>
                </a:solidFill>
              </a:defRPr>
            </a:lvl5pPr>
            <a:lvl6pPr>
              <a:defRPr sz="1725" b="0">
                <a:solidFill>
                  <a:srgbClr val="505050"/>
                </a:solidFill>
              </a:defRPr>
            </a:lvl6pPr>
            <a:lvl7pPr>
              <a:defRPr sz="1725" b="0">
                <a:solidFill>
                  <a:srgbClr val="505050"/>
                </a:solidFill>
              </a:defRPr>
            </a:lvl7pPr>
            <a:lvl8pPr>
              <a:defRPr sz="1725" b="0">
                <a:solidFill>
                  <a:srgbClr val="505050"/>
                </a:solidFill>
              </a:defRPr>
            </a:lvl8pPr>
            <a:lvl9pPr>
              <a:defRPr sz="1725" b="0">
                <a:solidFill>
                  <a:srgbClr val="505050"/>
                </a:solidFill>
              </a:defRPr>
            </a:lvl9pPr>
          </a:lstStyle>
          <a:p>
            <a:pPr>
              <a:defRPr sz="1725" b="0">
                <a:solidFill>
                  <a:srgbClr val="505050"/>
                </a:solidFill>
              </a:defRPr>
            </a:pPr>
            <a:r>
              <a:rPr sz="1725" b="0">
                <a:solidFill>
                  <a:srgbClr val="505050"/>
                </a:solidFill>
              </a:rPr>
              <a:t>Bis zum äußersten Wert innerhalb</a:t>
            </a:r>
          </a:p>
          <a:p>
            <a:pPr>
              <a:defRPr sz="1725" b="0">
                <a:solidFill>
                  <a:srgbClr val="505050"/>
                </a:solidFill>
              </a:defRPr>
            </a:pPr>
            <a:r>
              <a:rPr sz="1725" b="0">
                <a:solidFill>
                  <a:srgbClr val="505050"/>
                </a:solidFill>
              </a:rPr>
              <a:t>der Grenzen Q1 − 1,5×IQR und</a:t>
            </a:r>
          </a:p>
          <a:p>
            <a:pPr>
              <a:defRPr sz="1725" b="0">
                <a:solidFill>
                  <a:srgbClr val="505050"/>
                </a:solidFill>
              </a:defRPr>
            </a:pPr>
            <a:r>
              <a:rPr sz="1725" b="0">
                <a:solidFill>
                  <a:srgbClr val="505050"/>
                </a:solidFill>
              </a:rPr>
              <a:t>Q3 + 1,5×IQR.</a:t>
            </a:r>
          </a:p>
        </p:txBody>
      </p:sp>
      <p:sp>
        <p:nvSpPr>
          <p:cNvPr id="39" name="Definition Outliers title">
            <a:extLst>
              <a:ext uri="{FF2B5EF4-FFF2-40B4-BE49-F238E27FC236}">
                <a16:creationId xmlns:a16="http://schemas.microsoft.com/office/drawing/2014/main" id="{E3F893F1-1FD9-453A-86FB-987D6371522F}"/>
              </a:ext>
            </a:extLst>
          </p:cNvPr>
          <p:cNvSpPr>
            <a:spLocks noGrp="1"/>
          </p:cNvSpPr>
          <p:nvPr/>
        </p:nvSpPr>
        <p:spPr>
          <a:xfrm>
            <a:off x="6019800" y="5000625"/>
            <a:ext cx="3952875" cy="285750"/>
          </a:xfrm>
          <a:prstGeom prst="rect">
            <a:avLst/>
          </a:prstGeom>
          <a:noFill/>
          <a:ln w="0">
            <a:noFill/>
          </a:ln>
        </p:spPr>
        <p:txBody>
          <a:bodyPr lIns="0" tIns="0" rIns="0" bIns="0"/>
          <a:lstStyle>
            <a:defPPr>
              <a:defRPr sz="1800" b="1">
                <a:solidFill>
                  <a:srgbClr val="D50024"/>
                </a:solidFill>
              </a:defRPr>
            </a:defPPr>
            <a:lvl1pPr>
              <a:defRPr sz="1800" b="1">
                <a:solidFill>
                  <a:srgbClr val="D50024"/>
                </a:solidFill>
              </a:defRPr>
            </a:lvl1pPr>
            <a:lvl2pPr>
              <a:defRPr sz="1800" b="1">
                <a:solidFill>
                  <a:srgbClr val="D50024"/>
                </a:solidFill>
              </a:defRPr>
            </a:lvl2pPr>
            <a:lvl3pPr>
              <a:defRPr sz="1800" b="1">
                <a:solidFill>
                  <a:srgbClr val="D50024"/>
                </a:solidFill>
              </a:defRPr>
            </a:lvl3pPr>
            <a:lvl4pPr>
              <a:defRPr sz="1800" b="1">
                <a:solidFill>
                  <a:srgbClr val="D50024"/>
                </a:solidFill>
              </a:defRPr>
            </a:lvl4pPr>
            <a:lvl5pPr>
              <a:defRPr sz="1800" b="1">
                <a:solidFill>
                  <a:srgbClr val="D50024"/>
                </a:solidFill>
              </a:defRPr>
            </a:lvl5pPr>
            <a:lvl6pPr>
              <a:defRPr sz="1800" b="1">
                <a:solidFill>
                  <a:srgbClr val="D50024"/>
                </a:solidFill>
              </a:defRPr>
            </a:lvl6pPr>
            <a:lvl7pPr>
              <a:defRPr sz="1800" b="1">
                <a:solidFill>
                  <a:srgbClr val="D50024"/>
                </a:solidFill>
              </a:defRPr>
            </a:lvl7pPr>
            <a:lvl8pPr>
              <a:defRPr sz="1800" b="1">
                <a:solidFill>
                  <a:srgbClr val="D50024"/>
                </a:solidFill>
              </a:defRPr>
            </a:lvl8pPr>
            <a:lvl9pPr>
              <a:defRPr sz="1800" b="1">
                <a:solidFill>
                  <a:srgbClr val="D50024"/>
                </a:solidFill>
              </a:defRPr>
            </a:lvl9pPr>
          </a:lstStyle>
          <a:p>
            <a:pPr>
              <a:defRPr sz="1800" b="1">
                <a:solidFill>
                  <a:srgbClr val="D50024"/>
                </a:solidFill>
              </a:defRPr>
            </a:pPr>
            <a:r>
              <a:rPr sz="1800" b="1">
                <a:solidFill>
                  <a:srgbClr val="D50024"/>
                </a:solidFill>
              </a:rPr>
              <a:t>Ausreißer</a:t>
            </a:r>
          </a:p>
        </p:txBody>
      </p:sp>
      <p:sp>
        <p:nvSpPr>
          <p:cNvPr id="40" name="Definition Outliers">
            <a:extLst>
              <a:ext uri="{FF2B5EF4-FFF2-40B4-BE49-F238E27FC236}">
                <a16:creationId xmlns:a16="http://schemas.microsoft.com/office/drawing/2014/main" id="{31F042A1-6485-4B79-8CB9-F579C01AF494}"/>
              </a:ext>
            </a:extLst>
          </p:cNvPr>
          <p:cNvSpPr>
            <a:spLocks noGrp="1"/>
          </p:cNvSpPr>
          <p:nvPr/>
        </p:nvSpPr>
        <p:spPr>
          <a:xfrm>
            <a:off x="6019800" y="5324475"/>
            <a:ext cx="3952875" cy="571500"/>
          </a:xfrm>
          <a:prstGeom prst="rect">
            <a:avLst/>
          </a:prstGeom>
          <a:noFill/>
          <a:ln w="0">
            <a:noFill/>
          </a:ln>
        </p:spPr>
        <p:txBody>
          <a:bodyPr lIns="0" tIns="0" rIns="0" bIns="0"/>
          <a:lstStyle>
            <a:defPPr>
              <a:defRPr sz="1725" b="0">
                <a:solidFill>
                  <a:srgbClr val="505050"/>
                </a:solidFill>
              </a:defRPr>
            </a:defPPr>
            <a:lvl1pPr>
              <a:defRPr sz="1725" b="0">
                <a:solidFill>
                  <a:srgbClr val="505050"/>
                </a:solidFill>
              </a:defRPr>
            </a:lvl1pPr>
            <a:lvl2pPr>
              <a:defRPr sz="1725" b="0">
                <a:solidFill>
                  <a:srgbClr val="505050"/>
                </a:solidFill>
              </a:defRPr>
            </a:lvl2pPr>
            <a:lvl3pPr>
              <a:defRPr sz="1725" b="0">
                <a:solidFill>
                  <a:srgbClr val="505050"/>
                </a:solidFill>
              </a:defRPr>
            </a:lvl3pPr>
            <a:lvl4pPr>
              <a:defRPr sz="1725" b="0">
                <a:solidFill>
                  <a:srgbClr val="505050"/>
                </a:solidFill>
              </a:defRPr>
            </a:lvl4pPr>
            <a:lvl5pPr>
              <a:defRPr sz="1725" b="0">
                <a:solidFill>
                  <a:srgbClr val="505050"/>
                </a:solidFill>
              </a:defRPr>
            </a:lvl5pPr>
            <a:lvl6pPr>
              <a:defRPr sz="1725" b="0">
                <a:solidFill>
                  <a:srgbClr val="505050"/>
                </a:solidFill>
              </a:defRPr>
            </a:lvl6pPr>
            <a:lvl7pPr>
              <a:defRPr sz="1725" b="0">
                <a:solidFill>
                  <a:srgbClr val="505050"/>
                </a:solidFill>
              </a:defRPr>
            </a:lvl7pPr>
            <a:lvl8pPr>
              <a:defRPr sz="1725" b="0">
                <a:solidFill>
                  <a:srgbClr val="505050"/>
                </a:solidFill>
              </a:defRPr>
            </a:lvl8pPr>
            <a:lvl9pPr>
              <a:defRPr sz="1725" b="0">
                <a:solidFill>
                  <a:srgbClr val="505050"/>
                </a:solidFill>
              </a:defRPr>
            </a:lvl9pPr>
          </a:lstStyle>
          <a:p>
            <a:pPr>
              <a:defRPr sz="1725" b="0">
                <a:solidFill>
                  <a:srgbClr val="505050"/>
                </a:solidFill>
              </a:defRPr>
            </a:pPr>
            <a:r>
              <a:rPr sz="1725" b="0">
                <a:solidFill>
                  <a:srgbClr val="505050"/>
                </a:solidFill>
              </a:rPr>
              <a:t>Einzelne Werte außerhalb der Grenzen.</a:t>
            </a:r>
          </a:p>
          <a:p>
            <a:pPr>
              <a:defRPr sz="1725" b="0">
                <a:solidFill>
                  <a:srgbClr val="505050"/>
                </a:solidFill>
              </a:defRPr>
            </a:pPr>
            <a:r>
              <a:rPr sz="1725" b="0">
                <a:solidFill>
                  <a:srgbClr val="505050"/>
                </a:solidFill>
              </a:rPr>
              <a:t>Nicht automatisch Messfehler.</a:t>
            </a:r>
          </a:p>
        </p:txBody>
      </p:sp>
    </p:spTree>
    <p:extLst>
      <p:ext uri="{BB962C8B-B14F-4D97-AF65-F5344CB8AC3E}">
        <p14:creationId xmlns:p14="http://schemas.microsoft.com/office/powerpoint/2010/main" val="15989129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Grafik 1"/>
          <p:cNvPicPr>
            <a:picLocks noChangeAspect="1"/>
          </p:cNvPicPr>
          <p:nvPr/>
        </p:nvPicPr>
        <p:blipFill>
          <a:blip r:embed="rId3"/>
          <a:stretch/>
        </p:blipFill>
        <p:spPr>
          <a:xfrm>
            <a:off x="2939721" y="0"/>
            <a:ext cx="6312557" cy="6858000"/>
          </a:xfrm>
          <a:prstGeom prst="rect">
            <a:avLst/>
          </a:prstGeom>
        </p:spPr>
      </p:pic>
    </p:spTree>
    <p:extLst>
      <p:ext uri="{BB962C8B-B14F-4D97-AF65-F5344CB8AC3E}">
        <p14:creationId xmlns:p14="http://schemas.microsoft.com/office/powerpoint/2010/main" val="19192449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(1/9)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
            <a:extLst>
              <a:ext uri="{FF2B5EF4-FFF2-40B4-BE49-F238E27FC236}">
                <a16:creationId xmlns:a16="http://schemas.microsoft.com/office/drawing/2014/main" id="{3437C301-2A1D-4563-AD3C-70E294390BDD}"/>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a:t>
            </a:r>
          </a:p>
        </p:txBody>
      </p:sp>
      <p:sp>
        <p:nvSpPr>
          <p:cNvPr id="41" name="Quelle 1 author">
            <a:extLst>
              <a:ext uri="{FF2B5EF4-FFF2-40B4-BE49-F238E27FC236}">
                <a16:creationId xmlns:a16="http://schemas.microsoft.com/office/drawing/2014/main" id="{36C8BF2B-81C9-422A-8DC0-3012B0AC3AF4}"/>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MG-FARM-Konsortium</a:t>
            </a:r>
          </a:p>
        </p:txBody>
      </p:sp>
      <p:sp>
        <p:nvSpPr>
          <p:cNvPr id="42" name="Quelle 1 title">
            <a:extLst>
              <a:ext uri="{FF2B5EF4-FFF2-40B4-BE49-F238E27FC236}">
                <a16:creationId xmlns:a16="http://schemas.microsoft.com/office/drawing/2014/main" id="{FDB89969-B8A3-4CC3-B332-31A63E167B23}"/>
              </a:ext>
            </a:extLst>
          </p:cNvPr>
          <p:cNvSpPr>
            <a:spLocks noGrp="1"/>
          </p:cNvSpPr>
          <p:nvPr/>
        </p:nvSpPr>
        <p:spPr>
          <a:xfrm>
            <a:off x="1162050" y="16859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Projektbericht: Projektübersicht (Abbildung)</a:t>
            </a:r>
          </a:p>
        </p:txBody>
      </p:sp>
      <p:sp>
        <p:nvSpPr>
          <p:cNvPr id="43" name="Quelle 1 pub">
            <a:extLst>
              <a:ext uri="{FF2B5EF4-FFF2-40B4-BE49-F238E27FC236}">
                <a16:creationId xmlns:a16="http://schemas.microsoft.com/office/drawing/2014/main" id="{905B78D2-D03F-48B6-BB48-090FEEA3E0CA}"/>
              </a:ext>
            </a:extLst>
          </p:cNvPr>
          <p:cNvSpPr>
            <a:spLocks noGrp="1"/>
          </p:cNvSpPr>
          <p:nvPr/>
        </p:nvSpPr>
        <p:spPr>
          <a:xfrm>
            <a:off x="1162050" y="19431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Bildquelle laut Verfasser; genaue Berichtsangabe nicht vorliegend.</a:t>
            </a:r>
          </a:p>
        </p:txBody>
      </p:sp>
      <p:sp>
        <p:nvSpPr>
          <p:cNvPr id="44" name="Quellennummer 2">
            <a:extLst>
              <a:ext uri="{FF2B5EF4-FFF2-40B4-BE49-F238E27FC236}">
                <a16:creationId xmlns:a16="http://schemas.microsoft.com/office/drawing/2014/main" id="{27FDF1B1-E706-419B-B3E8-CDE18FFE6E6E}"/>
              </a:ext>
            </a:extLst>
          </p:cNvPr>
          <p:cNvSpPr>
            <a:spLocks noGrp="1"/>
          </p:cNvSpPr>
          <p:nvPr/>
        </p:nvSpPr>
        <p:spPr>
          <a:xfrm>
            <a:off x="552450" y="240982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a:t>
            </a:r>
          </a:p>
        </p:txBody>
      </p:sp>
      <p:sp>
        <p:nvSpPr>
          <p:cNvPr id="45" name="Quelle 2 author">
            <a:extLst>
              <a:ext uri="{FF2B5EF4-FFF2-40B4-BE49-F238E27FC236}">
                <a16:creationId xmlns:a16="http://schemas.microsoft.com/office/drawing/2014/main" id="{E81E9F0F-EEE8-4679-9F55-31F58E32867F}"/>
              </a:ext>
            </a:extLst>
          </p:cNvPr>
          <p:cNvSpPr>
            <a:spLocks noGrp="1"/>
          </p:cNvSpPr>
          <p:nvPr/>
        </p:nvSpPr>
        <p:spPr>
          <a:xfrm>
            <a:off x="1162050" y="240982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J. Kim et al. (2018)</a:t>
            </a:r>
          </a:p>
        </p:txBody>
      </p:sp>
      <p:sp>
        <p:nvSpPr>
          <p:cNvPr id="46" name="Quelle 2 title">
            <a:extLst>
              <a:ext uri="{FF2B5EF4-FFF2-40B4-BE49-F238E27FC236}">
                <a16:creationId xmlns:a16="http://schemas.microsoft.com/office/drawing/2014/main" id="{81A7C9B9-3C9F-45A3-9894-B6F81427BD85}"/>
              </a:ext>
            </a:extLst>
          </p:cNvPr>
          <p:cNvSpPr>
            <a:spLocks noGrp="1"/>
          </p:cNvSpPr>
          <p:nvPr/>
        </p:nvSpPr>
        <p:spPr>
          <a:xfrm>
            <a:off x="1162050" y="266700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Estimation of Li-ion Battery State of Health Based on Multilayer Perceptron: As an EV</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Application</a:t>
            </a:r>
          </a:p>
        </p:txBody>
      </p:sp>
      <p:sp>
        <p:nvSpPr>
          <p:cNvPr id="47" name="Quelle 2 pub">
            <a:extLst>
              <a:ext uri="{FF2B5EF4-FFF2-40B4-BE49-F238E27FC236}">
                <a16:creationId xmlns:a16="http://schemas.microsoft.com/office/drawing/2014/main" id="{528D5EEC-9F59-4340-ACBD-A5973C71C1A7}"/>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IFAC-PapersOnLine 51(28), 392–397.</a:t>
            </a:r>
          </a:p>
        </p:txBody>
      </p:sp>
      <p:sp>
        <p:nvSpPr>
          <p:cNvPr id="48" name="Quelle 2 link">
            <a:extLst>
              <a:ext uri="{FF2B5EF4-FFF2-40B4-BE49-F238E27FC236}">
                <a16:creationId xmlns:a16="http://schemas.microsoft.com/office/drawing/2014/main" id="{F34BDF76-159F-4636-AE34-6E835AD0C1C7}"/>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10.1016/j.ifacol.2018.11.734</a:t>
            </a:r>
          </a:p>
        </p:txBody>
      </p:sp>
      <p:sp>
        <p:nvSpPr>
          <p:cNvPr id="49" name="Quellennummer 3">
            <a:extLst>
              <a:ext uri="{FF2B5EF4-FFF2-40B4-BE49-F238E27FC236}">
                <a16:creationId xmlns:a16="http://schemas.microsoft.com/office/drawing/2014/main" id="{54DF8053-F8C7-4B30-9074-DF3918CFAA4D}"/>
              </a:ext>
            </a:extLst>
          </p:cNvPr>
          <p:cNvSpPr>
            <a:spLocks noGrp="1"/>
          </p:cNvSpPr>
          <p:nvPr/>
        </p:nvSpPr>
        <p:spPr>
          <a:xfrm>
            <a:off x="552450" y="39052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[3]</a:t>
            </a:r>
          </a:p>
        </p:txBody>
      </p:sp>
      <p:sp>
        <p:nvSpPr>
          <p:cNvPr id="50" name="Quelle 3 author">
            <a:extLst>
              <a:ext uri="{FF2B5EF4-FFF2-40B4-BE49-F238E27FC236}">
                <a16:creationId xmlns:a16="http://schemas.microsoft.com/office/drawing/2014/main" id="{B1EBC6CF-8713-4BBD-BFA7-86DE4D73C636}"/>
              </a:ext>
            </a:extLst>
          </p:cNvPr>
          <p:cNvSpPr>
            <a:spLocks noGrp="1"/>
          </p:cNvSpPr>
          <p:nvPr/>
        </p:nvSpPr>
        <p:spPr>
          <a:xfrm>
            <a:off x="1162050" y="39052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H. Chaoui, C. C. Ibe-Ekeocha und H. Gualous (2017)</a:t>
            </a:r>
          </a:p>
        </p:txBody>
      </p:sp>
      <p:sp>
        <p:nvSpPr>
          <p:cNvPr id="51" name="Quelle 3 title">
            <a:extLst>
              <a:ext uri="{FF2B5EF4-FFF2-40B4-BE49-F238E27FC236}">
                <a16:creationId xmlns:a16="http://schemas.microsoft.com/office/drawing/2014/main" id="{822636D4-4237-4523-8B0B-2052AD298400}"/>
              </a:ext>
            </a:extLst>
          </p:cNvPr>
          <p:cNvSpPr>
            <a:spLocks noGrp="1"/>
          </p:cNvSpPr>
          <p:nvPr/>
        </p:nvSpPr>
        <p:spPr>
          <a:xfrm>
            <a:off x="1162050" y="41624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Aging Prediction and State of Charge Estimation of a LiFePO4 Battery Using Input Time-Delayed</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Neural Networks</a:t>
            </a:r>
          </a:p>
        </p:txBody>
      </p:sp>
      <p:sp>
        <p:nvSpPr>
          <p:cNvPr id="52" name="Quelle 3 pub">
            <a:extLst>
              <a:ext uri="{FF2B5EF4-FFF2-40B4-BE49-F238E27FC236}">
                <a16:creationId xmlns:a16="http://schemas.microsoft.com/office/drawing/2014/main" id="{D25D9E68-B63A-456B-BE51-6A46086CBB84}"/>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Electric Power Systems Research 146, 189–197.</a:t>
            </a:r>
          </a:p>
        </p:txBody>
      </p:sp>
      <p:sp>
        <p:nvSpPr>
          <p:cNvPr id="53" name="Quelle 3 link">
            <a:extLst>
              <a:ext uri="{FF2B5EF4-FFF2-40B4-BE49-F238E27FC236}">
                <a16:creationId xmlns:a16="http://schemas.microsoft.com/office/drawing/2014/main" id="{0ECA1092-ABF6-4579-83E2-17BEE192E803}"/>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10.1016/j.epsr.2017.01.032</a:t>
            </a:r>
          </a:p>
        </p:txBody>
      </p:sp>
      <p:sp>
        <p:nvSpPr>
          <p:cNvPr id="54" name="Footer – Seitennummer">
            <a:extLst>
              <a:ext uri="{FF2B5EF4-FFF2-40B4-BE49-F238E27FC236}">
                <a16:creationId xmlns:a16="http://schemas.microsoft.com/office/drawing/2014/main" id="{37E62823-22E1-464D-9236-3F183F7B7EE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1 / 9</a:t>
            </a:r>
          </a:p>
        </p:txBody>
      </p:sp>
      <p:sp>
        <p:nvSpPr>
          <p:cNvPr id="55" name="Footer – Präsentationsangaben">
            <a:extLst>
              <a:ext uri="{FF2B5EF4-FFF2-40B4-BE49-F238E27FC236}">
                <a16:creationId xmlns:a16="http://schemas.microsoft.com/office/drawing/2014/main" id="{A961C8AE-610D-4050-8681-2A77FB55FA1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(2/9)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4">
            <a:extLst>
              <a:ext uri="{FF2B5EF4-FFF2-40B4-BE49-F238E27FC236}">
                <a16:creationId xmlns:a16="http://schemas.microsoft.com/office/drawing/2014/main" id="{2FA9E148-4669-4749-9EE0-A616F8548D50}"/>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[4]</a:t>
            </a:r>
          </a:p>
        </p:txBody>
      </p:sp>
      <p:sp>
        <p:nvSpPr>
          <p:cNvPr id="41" name="Quelle 4 author">
            <a:extLst>
              <a:ext uri="{FF2B5EF4-FFF2-40B4-BE49-F238E27FC236}">
                <a16:creationId xmlns:a16="http://schemas.microsoft.com/office/drawing/2014/main" id="{9D77ED31-2AC5-45E0-A60F-60474D03F17C}"/>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W. Li et al. (2021)</a:t>
            </a:r>
          </a:p>
        </p:txBody>
      </p:sp>
      <p:sp>
        <p:nvSpPr>
          <p:cNvPr id="42" name="Quelle 4 title">
            <a:extLst>
              <a:ext uri="{FF2B5EF4-FFF2-40B4-BE49-F238E27FC236}">
                <a16:creationId xmlns:a16="http://schemas.microsoft.com/office/drawing/2014/main" id="{3117A1BF-58D3-4B5E-A6FE-E34EFACA6F10}"/>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Online Capacity Estimation of Lithium-Ion Batteries with Deep Long Short-Term Memory</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Networks</a:t>
            </a:r>
          </a:p>
        </p:txBody>
      </p:sp>
      <p:sp>
        <p:nvSpPr>
          <p:cNvPr id="43" name="Quelle 4 pub">
            <a:extLst>
              <a:ext uri="{FF2B5EF4-FFF2-40B4-BE49-F238E27FC236}">
                <a16:creationId xmlns:a16="http://schemas.microsoft.com/office/drawing/2014/main" id="{0E1DCF64-F29D-419C-974A-57CDFB19F02B}"/>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Journal of Power Sources 482, 228863.</a:t>
            </a:r>
          </a:p>
        </p:txBody>
      </p:sp>
      <p:sp>
        <p:nvSpPr>
          <p:cNvPr id="44" name="Quelle 4 link">
            <a:extLst>
              <a:ext uri="{FF2B5EF4-FFF2-40B4-BE49-F238E27FC236}">
                <a16:creationId xmlns:a16="http://schemas.microsoft.com/office/drawing/2014/main" id="{64E8FE90-BD05-46C6-ADF4-F1AF1963E537}"/>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10.1016/j.jpowsour.2020.228863</a:t>
            </a:r>
          </a:p>
        </p:txBody>
      </p:sp>
      <p:sp>
        <p:nvSpPr>
          <p:cNvPr id="45" name="Quellennummer 5">
            <a:extLst>
              <a:ext uri="{FF2B5EF4-FFF2-40B4-BE49-F238E27FC236}">
                <a16:creationId xmlns:a16="http://schemas.microsoft.com/office/drawing/2014/main" id="{975C51F3-19BE-4FCF-A0FC-B18361CB1A10}"/>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[5]</a:t>
            </a:r>
          </a:p>
        </p:txBody>
      </p:sp>
      <p:sp>
        <p:nvSpPr>
          <p:cNvPr id="46" name="Quelle 5 author">
            <a:extLst>
              <a:ext uri="{FF2B5EF4-FFF2-40B4-BE49-F238E27FC236}">
                <a16:creationId xmlns:a16="http://schemas.microsoft.com/office/drawing/2014/main" id="{9B107F74-EF1A-45F5-A49B-0859A4BBA5BB}"/>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X. Li et al. (2015)</a:t>
            </a:r>
          </a:p>
        </p:txBody>
      </p:sp>
      <p:sp>
        <p:nvSpPr>
          <p:cNvPr id="47" name="Quelle 5 title">
            <a:extLst>
              <a:ext uri="{FF2B5EF4-FFF2-40B4-BE49-F238E27FC236}">
                <a16:creationId xmlns:a16="http://schemas.microsoft.com/office/drawing/2014/main" id="{309946BB-5E28-46AE-A4B0-35E28F517385}"/>
              </a:ext>
            </a:extLst>
          </p:cNvPr>
          <p:cNvSpPr>
            <a:spLocks noGrp="1"/>
          </p:cNvSpPr>
          <p:nvPr/>
        </p:nvSpPr>
        <p:spPr>
          <a:xfrm>
            <a:off x="1162050" y="318135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Robustness of SOC Estimation Algorithms for EV Lithium-Ion Batteries against Modeling Errors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and Measurement Noise</a:t>
            </a:r>
          </a:p>
        </p:txBody>
      </p:sp>
      <p:sp>
        <p:nvSpPr>
          <p:cNvPr id="48" name="Quelle 5 pub">
            <a:extLst>
              <a:ext uri="{FF2B5EF4-FFF2-40B4-BE49-F238E27FC236}">
                <a16:creationId xmlns:a16="http://schemas.microsoft.com/office/drawing/2014/main" id="{7926F4A7-C636-4D8A-95F4-8CA7D7295539}"/>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Mathematical Problems in Engineering, Artikel 719490.</a:t>
            </a:r>
          </a:p>
        </p:txBody>
      </p:sp>
      <p:sp>
        <p:nvSpPr>
          <p:cNvPr id="49" name="Quelle 5 link">
            <a:extLst>
              <a:ext uri="{FF2B5EF4-FFF2-40B4-BE49-F238E27FC236}">
                <a16:creationId xmlns:a16="http://schemas.microsoft.com/office/drawing/2014/main" id="{47EE1BBF-6A42-45A8-B87E-0415D01C38B4}"/>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10.1155/2015/719490</a:t>
            </a:r>
          </a:p>
        </p:txBody>
      </p:sp>
      <p:sp>
        <p:nvSpPr>
          <p:cNvPr id="50" name="Quellennummer 6">
            <a:extLst>
              <a:ext uri="{FF2B5EF4-FFF2-40B4-BE49-F238E27FC236}">
                <a16:creationId xmlns:a16="http://schemas.microsoft.com/office/drawing/2014/main" id="{3947FEEE-59EB-4DCA-94C2-E3A43991466E}"/>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[6]</a:t>
            </a:r>
          </a:p>
        </p:txBody>
      </p:sp>
      <p:sp>
        <p:nvSpPr>
          <p:cNvPr id="51" name="Quelle 6 author">
            <a:extLst>
              <a:ext uri="{FF2B5EF4-FFF2-40B4-BE49-F238E27FC236}">
                <a16:creationId xmlns:a16="http://schemas.microsoft.com/office/drawing/2014/main" id="{3DCD3635-1742-42C5-BB75-C8EC03AA41DC}"/>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Berger et al. (2024)</a:t>
            </a:r>
          </a:p>
        </p:txBody>
      </p:sp>
      <p:sp>
        <p:nvSpPr>
          <p:cNvPr id="52" name="Quelle 6 title">
            <a:extLst>
              <a:ext uri="{FF2B5EF4-FFF2-40B4-BE49-F238E27FC236}">
                <a16:creationId xmlns:a16="http://schemas.microsoft.com/office/drawing/2014/main" id="{315712C0-8B04-45C7-87DC-F59323EB27A3}"/>
              </a:ext>
            </a:extLst>
          </p:cNvPr>
          <p:cNvSpPr>
            <a:spLocks noGrp="1"/>
          </p:cNvSpPr>
          <p:nvPr/>
        </p:nvSpPr>
        <p:spPr>
          <a:xfrm>
            <a:off x="1162050" y="467677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Benchmarking Battery Management System Algorithms – Requirements, Scenarios and</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Validation for Automotive Applications</a:t>
            </a:r>
          </a:p>
        </p:txBody>
      </p:sp>
      <p:sp>
        <p:nvSpPr>
          <p:cNvPr id="53" name="Quelle 6 pub">
            <a:extLst>
              <a:ext uri="{FF2B5EF4-FFF2-40B4-BE49-F238E27FC236}">
                <a16:creationId xmlns:a16="http://schemas.microsoft.com/office/drawing/2014/main" id="{6DE3A453-2FD1-415B-B46F-806E11953B22}"/>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eTransportation 22, 100355.</a:t>
            </a:r>
          </a:p>
        </p:txBody>
      </p:sp>
      <p:sp>
        <p:nvSpPr>
          <p:cNvPr id="54" name="Quelle 6 link">
            <a:extLst>
              <a:ext uri="{FF2B5EF4-FFF2-40B4-BE49-F238E27FC236}">
                <a16:creationId xmlns:a16="http://schemas.microsoft.com/office/drawing/2014/main" id="{37463B0D-4D02-40F7-9BCC-EEE4A0EC134F}"/>
              </a:ext>
            </a:extLst>
          </p:cNvPr>
          <p:cNvSpPr>
            <a:spLocks noGrp="1"/>
          </p:cNvSpPr>
          <p:nvPr/>
        </p:nvSpPr>
        <p:spPr>
          <a:xfrm>
            <a:off x="1162050" y="54483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doi: 10.1016/j.etran.2024.100355</a:t>
            </a:r>
          </a:p>
        </p:txBody>
      </p:sp>
      <p:sp>
        <p:nvSpPr>
          <p:cNvPr id="55" name="Footer – Seitennummer">
            <a:extLst>
              <a:ext uri="{FF2B5EF4-FFF2-40B4-BE49-F238E27FC236}">
                <a16:creationId xmlns:a16="http://schemas.microsoft.com/office/drawing/2014/main" id="{FEF10D23-0D0C-4FF5-AE6C-39532842E96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2 / 9</a:t>
            </a:r>
          </a:p>
        </p:txBody>
      </p:sp>
      <p:sp>
        <p:nvSpPr>
          <p:cNvPr id="56" name="Footer – Präsentationsangaben">
            <a:extLst>
              <a:ext uri="{FF2B5EF4-FFF2-40B4-BE49-F238E27FC236}">
                <a16:creationId xmlns:a16="http://schemas.microsoft.com/office/drawing/2014/main" id="{21D1E6C7-56D7-49F7-A35E-F9E5E82871D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(3/9)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7">
            <a:extLst>
              <a:ext uri="{FF2B5EF4-FFF2-40B4-BE49-F238E27FC236}">
                <a16:creationId xmlns:a16="http://schemas.microsoft.com/office/drawing/2014/main" id="{23EB343A-A6AE-4A43-BD01-3B6DFD88AF1A}"/>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[7]</a:t>
            </a:r>
          </a:p>
        </p:txBody>
      </p:sp>
      <p:sp>
        <p:nvSpPr>
          <p:cNvPr id="41" name="Quelle 7 author">
            <a:extLst>
              <a:ext uri="{FF2B5EF4-FFF2-40B4-BE49-F238E27FC236}">
                <a16:creationId xmlns:a16="http://schemas.microsoft.com/office/drawing/2014/main" id="{1B70D698-9082-4A5E-A05D-DB3305AE470C}"/>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O. Aiello (2020)</a:t>
            </a:r>
          </a:p>
        </p:txBody>
      </p:sp>
      <p:sp>
        <p:nvSpPr>
          <p:cNvPr id="42" name="Quelle 7 title">
            <a:extLst>
              <a:ext uri="{FF2B5EF4-FFF2-40B4-BE49-F238E27FC236}">
                <a16:creationId xmlns:a16="http://schemas.microsoft.com/office/drawing/2014/main" id="{94447A73-2B6B-485B-9775-BA264017A400}"/>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Electromagnetic Susceptibility of Battery Management Systems’ ICs for Electric Vehicles: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Experimental Study</a:t>
            </a:r>
          </a:p>
        </p:txBody>
      </p:sp>
      <p:sp>
        <p:nvSpPr>
          <p:cNvPr id="43" name="Quelle 7 pub">
            <a:extLst>
              <a:ext uri="{FF2B5EF4-FFF2-40B4-BE49-F238E27FC236}">
                <a16:creationId xmlns:a16="http://schemas.microsoft.com/office/drawing/2014/main" id="{510054D6-E5AF-4510-B5ED-D9537D126108}"/>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Electronics 9(3), 510.</a:t>
            </a:r>
          </a:p>
        </p:txBody>
      </p:sp>
      <p:sp>
        <p:nvSpPr>
          <p:cNvPr id="44" name="Quelle 7 link">
            <a:extLst>
              <a:ext uri="{FF2B5EF4-FFF2-40B4-BE49-F238E27FC236}">
                <a16:creationId xmlns:a16="http://schemas.microsoft.com/office/drawing/2014/main" id="{92FF1732-9F73-4A47-9D94-D9A298B1E732}"/>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10.3390/electronics9030510</a:t>
            </a:r>
          </a:p>
        </p:txBody>
      </p:sp>
      <p:sp>
        <p:nvSpPr>
          <p:cNvPr id="45" name="Quellennummer 8">
            <a:extLst>
              <a:ext uri="{FF2B5EF4-FFF2-40B4-BE49-F238E27FC236}">
                <a16:creationId xmlns:a16="http://schemas.microsoft.com/office/drawing/2014/main" id="{D728A380-DB9F-429E-857C-E3A126E54EB9}"/>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[8]</a:t>
            </a:r>
          </a:p>
        </p:txBody>
      </p:sp>
      <p:sp>
        <p:nvSpPr>
          <p:cNvPr id="46" name="Quelle 8 author">
            <a:extLst>
              <a:ext uri="{FF2B5EF4-FFF2-40B4-BE49-F238E27FC236}">
                <a16:creationId xmlns:a16="http://schemas.microsoft.com/office/drawing/2014/main" id="{5AE47B13-2FA1-4198-A4BD-CDF8F1595F20}"/>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G. Crocioni et al. (2020)</a:t>
            </a:r>
          </a:p>
        </p:txBody>
      </p:sp>
      <p:sp>
        <p:nvSpPr>
          <p:cNvPr id="47" name="Quelle 8 title">
            <a:extLst>
              <a:ext uri="{FF2B5EF4-FFF2-40B4-BE49-F238E27FC236}">
                <a16:creationId xmlns:a16="http://schemas.microsoft.com/office/drawing/2014/main" id="{F547C65D-DC0D-49E6-837D-0BF08022A5AA}"/>
              </a:ext>
            </a:extLst>
          </p:cNvPr>
          <p:cNvSpPr>
            <a:spLocks noGrp="1"/>
          </p:cNvSpPr>
          <p:nvPr/>
        </p:nvSpPr>
        <p:spPr>
          <a:xfrm>
            <a:off x="1162050" y="318135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Li-Ion Batteries Parameter Estimation With Tiny Neural Networks Embedded on Intelligent IoT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Microcontrollers</a:t>
            </a:r>
          </a:p>
        </p:txBody>
      </p:sp>
      <p:sp>
        <p:nvSpPr>
          <p:cNvPr id="48" name="Quelle 8 pub">
            <a:extLst>
              <a:ext uri="{FF2B5EF4-FFF2-40B4-BE49-F238E27FC236}">
                <a16:creationId xmlns:a16="http://schemas.microsoft.com/office/drawing/2014/main" id="{813F74CD-C2F6-4B36-808A-945C94AB91D9}"/>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IEEE Access 8, 122135–122146.</a:t>
            </a:r>
          </a:p>
        </p:txBody>
      </p:sp>
      <p:sp>
        <p:nvSpPr>
          <p:cNvPr id="49" name="Quelle 8 link">
            <a:extLst>
              <a:ext uri="{FF2B5EF4-FFF2-40B4-BE49-F238E27FC236}">
                <a16:creationId xmlns:a16="http://schemas.microsoft.com/office/drawing/2014/main" id="{83F277F5-0227-4753-892C-EE5FE8E66D09}"/>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10.1109/ACCESS.2020.3007046</a:t>
            </a:r>
          </a:p>
        </p:txBody>
      </p:sp>
      <p:sp>
        <p:nvSpPr>
          <p:cNvPr id="50" name="Quellennummer 9">
            <a:extLst>
              <a:ext uri="{FF2B5EF4-FFF2-40B4-BE49-F238E27FC236}">
                <a16:creationId xmlns:a16="http://schemas.microsoft.com/office/drawing/2014/main" id="{482A326A-154F-4EED-A327-3D830283A409}"/>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[9]</a:t>
            </a:r>
          </a:p>
        </p:txBody>
      </p:sp>
      <p:sp>
        <p:nvSpPr>
          <p:cNvPr id="51" name="Quelle 9 author">
            <a:extLst>
              <a:ext uri="{FF2B5EF4-FFF2-40B4-BE49-F238E27FC236}">
                <a16:creationId xmlns:a16="http://schemas.microsoft.com/office/drawing/2014/main" id="{68825D5A-4A41-4363-8AEC-0631659C3702}"/>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S. Giazitzis et al. (2024)</a:t>
            </a:r>
          </a:p>
        </p:txBody>
      </p:sp>
      <p:sp>
        <p:nvSpPr>
          <p:cNvPr id="52" name="Quelle 9 title">
            <a:extLst>
              <a:ext uri="{FF2B5EF4-FFF2-40B4-BE49-F238E27FC236}">
                <a16:creationId xmlns:a16="http://schemas.microsoft.com/office/drawing/2014/main" id="{FC63FC66-42CE-4926-B91D-FA9968F714C1}"/>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 Case Study of a Tiny Machine Learning Application for Battery State-of-Charge Estimation</a:t>
            </a:r>
          </a:p>
        </p:txBody>
      </p:sp>
      <p:sp>
        <p:nvSpPr>
          <p:cNvPr id="53" name="Quelle 9 pub">
            <a:extLst>
              <a:ext uri="{FF2B5EF4-FFF2-40B4-BE49-F238E27FC236}">
                <a16:creationId xmlns:a16="http://schemas.microsoft.com/office/drawing/2014/main" id="{030BECB9-D631-4AA6-B652-9B85D4AD88A8}"/>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Electronics 13(10), 1964.</a:t>
            </a:r>
          </a:p>
        </p:txBody>
      </p:sp>
      <p:sp>
        <p:nvSpPr>
          <p:cNvPr id="54" name="Quelle 9 link">
            <a:extLst>
              <a:ext uri="{FF2B5EF4-FFF2-40B4-BE49-F238E27FC236}">
                <a16:creationId xmlns:a16="http://schemas.microsoft.com/office/drawing/2014/main" id="{81C29963-999E-4499-907F-E27A251A676B}"/>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doi: 10.3390/electronics13101964</a:t>
            </a:r>
          </a:p>
        </p:txBody>
      </p:sp>
      <p:sp>
        <p:nvSpPr>
          <p:cNvPr id="55" name="Footer – Seitennummer">
            <a:extLst>
              <a:ext uri="{FF2B5EF4-FFF2-40B4-BE49-F238E27FC236}">
                <a16:creationId xmlns:a16="http://schemas.microsoft.com/office/drawing/2014/main" id="{D3155131-A323-4B16-A058-8D506FE37DC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3 / 9</a:t>
            </a:r>
          </a:p>
        </p:txBody>
      </p:sp>
      <p:sp>
        <p:nvSpPr>
          <p:cNvPr id="56" name="Footer – Präsentationsangaben">
            <a:extLst>
              <a:ext uri="{FF2B5EF4-FFF2-40B4-BE49-F238E27FC236}">
                <a16:creationId xmlns:a16="http://schemas.microsoft.com/office/drawing/2014/main" id="{819ED60A-F60F-4AAE-9432-38199D89E9E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(4/9)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0">
            <a:extLst>
              <a:ext uri="{FF2B5EF4-FFF2-40B4-BE49-F238E27FC236}">
                <a16:creationId xmlns:a16="http://schemas.microsoft.com/office/drawing/2014/main" id="{DC71E97C-13CC-4711-AE21-55BE34CDCFD6}"/>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[10]</a:t>
            </a:r>
          </a:p>
        </p:txBody>
      </p:sp>
      <p:sp>
        <p:nvSpPr>
          <p:cNvPr id="41" name="Quelle 10 author">
            <a:extLst>
              <a:ext uri="{FF2B5EF4-FFF2-40B4-BE49-F238E27FC236}">
                <a16:creationId xmlns:a16="http://schemas.microsoft.com/office/drawing/2014/main" id="{A6F12260-1B98-4500-9B6E-E6B56EAA381E}"/>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D. H. Park, H.-d. Jang und D. E. Chang (2023)</a:t>
            </a:r>
          </a:p>
        </p:txBody>
      </p:sp>
      <p:sp>
        <p:nvSpPr>
          <p:cNvPr id="42" name="Quelle 10 title">
            <a:extLst>
              <a:ext uri="{FF2B5EF4-FFF2-40B4-BE49-F238E27FC236}">
                <a16:creationId xmlns:a16="http://schemas.microsoft.com/office/drawing/2014/main" id="{175F1CF0-8D27-4041-891F-533347400F94}"/>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Optimized Network Pruning Method for Li-ion Batteries State-of-charge Estimation on Robot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Embedded System</a:t>
            </a:r>
          </a:p>
        </p:txBody>
      </p:sp>
      <p:sp>
        <p:nvSpPr>
          <p:cNvPr id="43" name="Quelle 10 pub">
            <a:extLst>
              <a:ext uri="{FF2B5EF4-FFF2-40B4-BE49-F238E27FC236}">
                <a16:creationId xmlns:a16="http://schemas.microsoft.com/office/drawing/2014/main" id="{85949D29-E0CD-45CE-BA49-C71EDDE70D9C}"/>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Journal of Korea Robotics Society 18(1), 88–92.</a:t>
            </a:r>
          </a:p>
        </p:txBody>
      </p:sp>
      <p:sp>
        <p:nvSpPr>
          <p:cNvPr id="44" name="Quelle 10 link">
            <a:extLst>
              <a:ext uri="{FF2B5EF4-FFF2-40B4-BE49-F238E27FC236}">
                <a16:creationId xmlns:a16="http://schemas.microsoft.com/office/drawing/2014/main" id="{B86D9200-B89D-4CD0-AB9E-679B2B88114A}"/>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10.7746/jkros.2023.18.1.088</a:t>
            </a:r>
          </a:p>
        </p:txBody>
      </p:sp>
      <p:sp>
        <p:nvSpPr>
          <p:cNvPr id="45" name="Quellennummer 11">
            <a:extLst>
              <a:ext uri="{FF2B5EF4-FFF2-40B4-BE49-F238E27FC236}">
                <a16:creationId xmlns:a16="http://schemas.microsoft.com/office/drawing/2014/main" id="{7713F247-1489-48E1-AE7A-3F2914C952BC}"/>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[11]</a:t>
            </a:r>
          </a:p>
        </p:txBody>
      </p:sp>
      <p:sp>
        <p:nvSpPr>
          <p:cNvPr id="46" name="Quelle 11 author">
            <a:extLst>
              <a:ext uri="{FF2B5EF4-FFF2-40B4-BE49-F238E27FC236}">
                <a16:creationId xmlns:a16="http://schemas.microsoft.com/office/drawing/2014/main" id="{0ED34ECD-A72F-4BAB-B08E-4A7CBFE1FE5B}"/>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(2026)</a:t>
            </a:r>
          </a:p>
        </p:txBody>
      </p:sp>
      <p:sp>
        <p:nvSpPr>
          <p:cNvPr id="47" name="Quelle 11 title">
            <a:extLst>
              <a:ext uri="{FF2B5EF4-FFF2-40B4-BE49-F238E27FC236}">
                <a16:creationId xmlns:a16="http://schemas.microsoft.com/office/drawing/2014/main" id="{84F253B4-B2CD-49A0-9E3F-BF28436D5C4B}"/>
              </a:ext>
            </a:extLst>
          </p:cNvPr>
          <p:cNvSpPr>
            <a:spLocks noGrp="1"/>
          </p:cNvSpPr>
          <p:nvPr/>
        </p:nvSpPr>
        <p:spPr>
          <a:xfrm>
            <a:off x="1162050" y="3181350"/>
            <a:ext cx="8886825" cy="81915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Deployment-Oriented Neural Network State-Estimation Methods for Battery Management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Systems: Ageing Estimation, Robustness Benchmarking, Embedded Optimization, and</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Hardware Integration</a:t>
            </a:r>
          </a:p>
        </p:txBody>
      </p:sp>
      <p:sp>
        <p:nvSpPr>
          <p:cNvPr id="48" name="Quelle 11 pub">
            <a:extLst>
              <a:ext uri="{FF2B5EF4-FFF2-40B4-BE49-F238E27FC236}">
                <a16:creationId xmlns:a16="http://schemas.microsoft.com/office/drawing/2014/main" id="{4B9D2B89-ADBF-44E1-A284-903241DD8596}"/>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Dissertationsmanuskript, TU Berlin. Grundlage: bereitgestellte main.pdf.</a:t>
            </a:r>
          </a:p>
        </p:txBody>
      </p:sp>
      <p:sp>
        <p:nvSpPr>
          <p:cNvPr id="49" name="Quellennummer 12">
            <a:extLst>
              <a:ext uri="{FF2B5EF4-FFF2-40B4-BE49-F238E27FC236}">
                <a16:creationId xmlns:a16="http://schemas.microsoft.com/office/drawing/2014/main" id="{CD074E23-F1CD-4396-9826-AD42AC846870}"/>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[12]</a:t>
            </a:r>
          </a:p>
        </p:txBody>
      </p:sp>
      <p:sp>
        <p:nvSpPr>
          <p:cNvPr id="50" name="Quelle 12 author">
            <a:extLst>
              <a:ext uri="{FF2B5EF4-FFF2-40B4-BE49-F238E27FC236}">
                <a16:creationId xmlns:a16="http://schemas.microsoft.com/office/drawing/2014/main" id="{8980D91A-C57A-4D89-85D9-EE6FCAE8AD59}"/>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P. Hematty, M. Schmitz und J. Kowal (2023)</a:t>
            </a:r>
          </a:p>
        </p:txBody>
      </p:sp>
      <p:sp>
        <p:nvSpPr>
          <p:cNvPr id="51" name="Quelle 12 title">
            <a:extLst>
              <a:ext uri="{FF2B5EF4-FFF2-40B4-BE49-F238E27FC236}">
                <a16:creationId xmlns:a16="http://schemas.microsoft.com/office/drawing/2014/main" id="{AA63FEE1-BAC7-414A-A092-F25F83608E1E}"/>
              </a:ext>
            </a:extLst>
          </p:cNvPr>
          <p:cNvSpPr>
            <a:spLocks noGrp="1"/>
          </p:cNvSpPr>
          <p:nvPr/>
        </p:nvSpPr>
        <p:spPr>
          <a:xfrm>
            <a:off x="1162050" y="467677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Neural Network Architecture for Determining the Aging of Stationary Storage Systems in Smart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Grids</a:t>
            </a:r>
          </a:p>
        </p:txBody>
      </p:sp>
      <p:sp>
        <p:nvSpPr>
          <p:cNvPr id="52" name="Quelle 12 pub">
            <a:extLst>
              <a:ext uri="{FF2B5EF4-FFF2-40B4-BE49-F238E27FC236}">
                <a16:creationId xmlns:a16="http://schemas.microsoft.com/office/drawing/2014/main" id="{995C2CFF-7B1A-40D7-8339-0EFDD3CD270B}"/>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Energies 16(17), 6103.</a:t>
            </a:r>
          </a:p>
        </p:txBody>
      </p:sp>
      <p:sp>
        <p:nvSpPr>
          <p:cNvPr id="53" name="Quelle 12 link">
            <a:extLst>
              <a:ext uri="{FF2B5EF4-FFF2-40B4-BE49-F238E27FC236}">
                <a16:creationId xmlns:a16="http://schemas.microsoft.com/office/drawing/2014/main" id="{F290692D-79BD-465E-A2DE-F5A7B97F9271}"/>
              </a:ext>
            </a:extLst>
          </p:cNvPr>
          <p:cNvSpPr>
            <a:spLocks noGrp="1"/>
          </p:cNvSpPr>
          <p:nvPr/>
        </p:nvSpPr>
        <p:spPr>
          <a:xfrm>
            <a:off x="1162050" y="54483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10.3390/en16176103</a:t>
            </a:r>
          </a:p>
        </p:txBody>
      </p:sp>
      <p:sp>
        <p:nvSpPr>
          <p:cNvPr id="54" name="Footer – Seitennummer">
            <a:extLst>
              <a:ext uri="{FF2B5EF4-FFF2-40B4-BE49-F238E27FC236}">
                <a16:creationId xmlns:a16="http://schemas.microsoft.com/office/drawing/2014/main" id="{54586390-9A87-4ECF-BFFA-3995ED4E4DC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4 / 9</a:t>
            </a:r>
          </a:p>
        </p:txBody>
      </p:sp>
      <p:sp>
        <p:nvSpPr>
          <p:cNvPr id="55" name="Footer – Präsentationsangaben">
            <a:extLst>
              <a:ext uri="{FF2B5EF4-FFF2-40B4-BE49-F238E27FC236}">
                <a16:creationId xmlns:a16="http://schemas.microsoft.com/office/drawing/2014/main" id="{7E84A50A-0A64-42AB-914C-27B62E312ED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(5/9)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3">
            <a:extLst>
              <a:ext uri="{FF2B5EF4-FFF2-40B4-BE49-F238E27FC236}">
                <a16:creationId xmlns:a16="http://schemas.microsoft.com/office/drawing/2014/main" id="{AB7AA30C-883C-4AB0-BBC9-BB3E52C76E11}"/>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[13]</a:t>
            </a:r>
          </a:p>
        </p:txBody>
      </p:sp>
      <p:sp>
        <p:nvSpPr>
          <p:cNvPr id="41" name="Quelle 13 author">
            <a:extLst>
              <a:ext uri="{FF2B5EF4-FFF2-40B4-BE49-F238E27FC236}">
                <a16:creationId xmlns:a16="http://schemas.microsoft.com/office/drawing/2014/main" id="{F3DF7C5A-6852-4DFB-9F6D-A0B3E4D1BDDD}"/>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(2025)</a:t>
            </a:r>
          </a:p>
        </p:txBody>
      </p:sp>
      <p:sp>
        <p:nvSpPr>
          <p:cNvPr id="42" name="Quelle 13 title">
            <a:extLst>
              <a:ext uri="{FF2B5EF4-FFF2-40B4-BE49-F238E27FC236}">
                <a16:creationId xmlns:a16="http://schemas.microsoft.com/office/drawing/2014/main" id="{D9DAABBC-CF45-49C9-BEE4-A827EEF47522}"/>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Design of Experiments for Cyclic Aging of LFP 18650 Cells: Impact of Charge/Discharge C-Rates,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Depth of Discharge, and Temperature on Battery Degradation</a:t>
            </a:r>
          </a:p>
        </p:txBody>
      </p:sp>
      <p:sp>
        <p:nvSpPr>
          <p:cNvPr id="43" name="Quelle 13 pub">
            <a:extLst>
              <a:ext uri="{FF2B5EF4-FFF2-40B4-BE49-F238E27FC236}">
                <a16:creationId xmlns:a16="http://schemas.microsoft.com/office/drawing/2014/main" id="{6B1725EB-F7C8-4B4A-AE35-3122CBA704DD}"/>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Datensatz, TU Berlin / DepositOnce, 13. November 2025.</a:t>
            </a:r>
          </a:p>
        </p:txBody>
      </p:sp>
      <p:sp>
        <p:nvSpPr>
          <p:cNvPr id="44" name="Quelle 13 link">
            <a:extLst>
              <a:ext uri="{FF2B5EF4-FFF2-40B4-BE49-F238E27FC236}">
                <a16:creationId xmlns:a16="http://schemas.microsoft.com/office/drawing/2014/main" id="{03B71585-4756-4B76-B17A-1AF797E700DF}"/>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10.14279/DEPOSITONCE-24800</a:t>
            </a:r>
          </a:p>
        </p:txBody>
      </p:sp>
      <p:sp>
        <p:nvSpPr>
          <p:cNvPr id="45" name="Quellennummer 14">
            <a:extLst>
              <a:ext uri="{FF2B5EF4-FFF2-40B4-BE49-F238E27FC236}">
                <a16:creationId xmlns:a16="http://schemas.microsoft.com/office/drawing/2014/main" id="{ACAF70D6-7787-43C4-BC06-FFEAE903DA38}"/>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[14]</a:t>
            </a:r>
          </a:p>
        </p:txBody>
      </p:sp>
      <p:sp>
        <p:nvSpPr>
          <p:cNvPr id="46" name="Quelle 14 author">
            <a:extLst>
              <a:ext uri="{FF2B5EF4-FFF2-40B4-BE49-F238E27FC236}">
                <a16:creationId xmlns:a16="http://schemas.microsoft.com/office/drawing/2014/main" id="{7D60D9AC-C199-4F1C-9244-6162530EB3AA}"/>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STMicroelectronics</a:t>
            </a:r>
          </a:p>
        </p:txBody>
      </p:sp>
      <p:sp>
        <p:nvSpPr>
          <p:cNvPr id="47" name="Quelle 14 title">
            <a:extLst>
              <a:ext uri="{FF2B5EF4-FFF2-40B4-BE49-F238E27FC236}">
                <a16:creationId xmlns:a16="http://schemas.microsoft.com/office/drawing/2014/main" id="{9128A4AC-5848-4C91-BC59-FF5E5D1E81D1}"/>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STM32 Nucleo-144 Boards</a:t>
            </a:r>
          </a:p>
        </p:txBody>
      </p:sp>
      <p:sp>
        <p:nvSpPr>
          <p:cNvPr id="48" name="Quelle 14 pub">
            <a:extLst>
              <a:ext uri="{FF2B5EF4-FFF2-40B4-BE49-F238E27FC236}">
                <a16:creationId xmlns:a16="http://schemas.microsoft.com/office/drawing/2014/main" id="{294DCD00-D411-4FC6-ADF3-C367E1989BFB}"/>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NUCLEO-H753ZI, Data Brief. Hardwarequelle aus der Dissertation.</a:t>
            </a:r>
          </a:p>
        </p:txBody>
      </p:sp>
      <p:sp>
        <p:nvSpPr>
          <p:cNvPr id="49" name="Quelle 14 link">
            <a:extLst>
              <a:ext uri="{FF2B5EF4-FFF2-40B4-BE49-F238E27FC236}">
                <a16:creationId xmlns:a16="http://schemas.microsoft.com/office/drawing/2014/main" id="{1747C76D-D05B-4939-AE42-3B13FE496C9E}"/>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st.com: NUCLEO-H753ZI Data Brief</a:t>
            </a:r>
          </a:p>
        </p:txBody>
      </p:sp>
      <p:sp>
        <p:nvSpPr>
          <p:cNvPr id="50" name="Quellennummer 15">
            <a:extLst>
              <a:ext uri="{FF2B5EF4-FFF2-40B4-BE49-F238E27FC236}">
                <a16:creationId xmlns:a16="http://schemas.microsoft.com/office/drawing/2014/main" id="{6303F4A4-469E-404A-9467-6051B23A04FD}"/>
              </a:ext>
            </a:extLst>
          </p:cNvPr>
          <p:cNvSpPr>
            <a:spLocks noGrp="1"/>
          </p:cNvSpPr>
          <p:nvPr/>
        </p:nvSpPr>
        <p:spPr>
          <a:xfrm>
            <a:off x="552450" y="416242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[15]</a:t>
            </a:r>
          </a:p>
        </p:txBody>
      </p:sp>
      <p:sp>
        <p:nvSpPr>
          <p:cNvPr id="51" name="Quelle 15 author">
            <a:extLst>
              <a:ext uri="{FF2B5EF4-FFF2-40B4-BE49-F238E27FC236}">
                <a16:creationId xmlns:a16="http://schemas.microsoft.com/office/drawing/2014/main" id="{6A47826B-7ACC-46C5-ADCB-ABDC3763C36E}"/>
              </a:ext>
            </a:extLst>
          </p:cNvPr>
          <p:cNvSpPr>
            <a:spLocks noGrp="1"/>
          </p:cNvSpPr>
          <p:nvPr/>
        </p:nvSpPr>
        <p:spPr>
          <a:xfrm>
            <a:off x="1162050" y="416242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L. Li et al. (2016)</a:t>
            </a:r>
          </a:p>
        </p:txBody>
      </p:sp>
      <p:sp>
        <p:nvSpPr>
          <p:cNvPr id="52" name="Quelle 15 title">
            <a:extLst>
              <a:ext uri="{FF2B5EF4-FFF2-40B4-BE49-F238E27FC236}">
                <a16:creationId xmlns:a16="http://schemas.microsoft.com/office/drawing/2014/main" id="{529ACAF6-E7A7-44E6-8CD7-496DB217F556}"/>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Hyperband: A Novel Bandit-Based Approach to Hyperparameter Optimization</a:t>
            </a:r>
          </a:p>
        </p:txBody>
      </p:sp>
      <p:sp>
        <p:nvSpPr>
          <p:cNvPr id="53" name="Quelle 15 pub">
            <a:extLst>
              <a:ext uri="{FF2B5EF4-FFF2-40B4-BE49-F238E27FC236}">
                <a16:creationId xmlns:a16="http://schemas.microsoft.com/office/drawing/2014/main" id="{20465A3F-CBA1-4BED-BC4D-6C4476D164BC}"/>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arXiv-Preprint, Fassung gemäß Dissertation.</a:t>
            </a:r>
          </a:p>
        </p:txBody>
      </p:sp>
      <p:sp>
        <p:nvSpPr>
          <p:cNvPr id="54" name="Quelle 15 link">
            <a:extLst>
              <a:ext uri="{FF2B5EF4-FFF2-40B4-BE49-F238E27FC236}">
                <a16:creationId xmlns:a16="http://schemas.microsoft.com/office/drawing/2014/main" id="{9AA3B7E3-BB2C-43BF-885C-4C69B621FFEF}"/>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arXiv: 1603.06560</a:t>
            </a:r>
          </a:p>
        </p:txBody>
      </p:sp>
      <p:sp>
        <p:nvSpPr>
          <p:cNvPr id="55" name="Footer – Seitennummer">
            <a:extLst>
              <a:ext uri="{FF2B5EF4-FFF2-40B4-BE49-F238E27FC236}">
                <a16:creationId xmlns:a16="http://schemas.microsoft.com/office/drawing/2014/main" id="{5A34A577-A822-42BF-9A22-8C8175C50A9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5 / 9</a:t>
            </a:r>
          </a:p>
        </p:txBody>
      </p:sp>
      <p:sp>
        <p:nvSpPr>
          <p:cNvPr id="56" name="Footer – Präsentationsangaben">
            <a:extLst>
              <a:ext uri="{FF2B5EF4-FFF2-40B4-BE49-F238E27FC236}">
                <a16:creationId xmlns:a16="http://schemas.microsoft.com/office/drawing/2014/main" id="{B0F9D8DB-9848-4BAA-8B20-635735F62A4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(6/9)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6">
            <a:extLst>
              <a:ext uri="{FF2B5EF4-FFF2-40B4-BE49-F238E27FC236}">
                <a16:creationId xmlns:a16="http://schemas.microsoft.com/office/drawing/2014/main" id="{B390ABEA-4481-4228-B686-F22B49CCE53F}"/>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[16]</a:t>
            </a:r>
          </a:p>
        </p:txBody>
      </p:sp>
      <p:sp>
        <p:nvSpPr>
          <p:cNvPr id="41" name="Quelle 16 author">
            <a:extLst>
              <a:ext uri="{FF2B5EF4-FFF2-40B4-BE49-F238E27FC236}">
                <a16:creationId xmlns:a16="http://schemas.microsoft.com/office/drawing/2014/main" id="{07682424-67C1-48C2-8C3C-037F478BB7E2}"/>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Q. Chen und J. Kowal (2026)</a:t>
            </a:r>
          </a:p>
        </p:txBody>
      </p:sp>
      <p:sp>
        <p:nvSpPr>
          <p:cNvPr id="42" name="Quelle 16 title">
            <a:extLst>
              <a:ext uri="{FF2B5EF4-FFF2-40B4-BE49-F238E27FC236}">
                <a16:creationId xmlns:a16="http://schemas.microsoft.com/office/drawing/2014/main" id="{56CC1DF9-BBD0-483A-874B-13172DF84C6B}"/>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Performance and Robustness Benchmarking Across Battery State-of-Charge Estimator Classes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for Embedded Applications</a:t>
            </a:r>
          </a:p>
        </p:txBody>
      </p:sp>
      <p:sp>
        <p:nvSpPr>
          <p:cNvPr id="43" name="Quelle 16 pub">
            <a:extLst>
              <a:ext uri="{FF2B5EF4-FFF2-40B4-BE49-F238E27FC236}">
                <a16:creationId xmlns:a16="http://schemas.microsoft.com/office/drawing/2014/main" id="{01DB2624-F5FA-425B-8D59-6D576F582401}"/>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Manuskript, bei Engineering Applications of Artificial Intelligence eingereicht.</a:t>
            </a:r>
          </a:p>
        </p:txBody>
      </p:sp>
      <p:sp>
        <p:nvSpPr>
          <p:cNvPr id="44" name="Quellennummer 17">
            <a:extLst>
              <a:ext uri="{FF2B5EF4-FFF2-40B4-BE49-F238E27FC236}">
                <a16:creationId xmlns:a16="http://schemas.microsoft.com/office/drawing/2014/main" id="{2F9C9CF1-14DB-42D8-8C1D-BAAF899A83F7}"/>
              </a:ext>
            </a:extLst>
          </p:cNvPr>
          <p:cNvSpPr>
            <a:spLocks noGrp="1"/>
          </p:cNvSpPr>
          <p:nvPr/>
        </p:nvSpPr>
        <p:spPr>
          <a:xfrm>
            <a:off x="552450" y="26670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[17]</a:t>
            </a:r>
          </a:p>
        </p:txBody>
      </p:sp>
      <p:sp>
        <p:nvSpPr>
          <p:cNvPr id="45" name="Quelle 17 author">
            <a:extLst>
              <a:ext uri="{FF2B5EF4-FFF2-40B4-BE49-F238E27FC236}">
                <a16:creationId xmlns:a16="http://schemas.microsoft.com/office/drawing/2014/main" id="{284436E9-E4AC-4DED-AEA9-0862E61F5DE7}"/>
              </a:ext>
            </a:extLst>
          </p:cNvPr>
          <p:cNvSpPr>
            <a:spLocks noGrp="1"/>
          </p:cNvSpPr>
          <p:nvPr/>
        </p:nvSpPr>
        <p:spPr>
          <a:xfrm>
            <a:off x="1162050" y="26670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G. L. Plett (2015)</a:t>
            </a:r>
          </a:p>
        </p:txBody>
      </p:sp>
      <p:sp>
        <p:nvSpPr>
          <p:cNvPr id="46" name="Quelle 17 title">
            <a:extLst>
              <a:ext uri="{FF2B5EF4-FFF2-40B4-BE49-F238E27FC236}">
                <a16:creationId xmlns:a16="http://schemas.microsoft.com/office/drawing/2014/main" id="{AB120120-7543-4D49-BA93-37648E9E516F}"/>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Battery Management Systems. Volume 1: Battery Modeling</a:t>
            </a:r>
          </a:p>
        </p:txBody>
      </p:sp>
      <p:sp>
        <p:nvSpPr>
          <p:cNvPr id="47" name="Quelle 17 pub">
            <a:extLst>
              <a:ext uri="{FF2B5EF4-FFF2-40B4-BE49-F238E27FC236}">
                <a16:creationId xmlns:a16="http://schemas.microsoft.com/office/drawing/2014/main" id="{C378BBEB-2D3E-42B3-9866-548F155AF0D5}"/>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Artech House. Grundlagen zu Batteriemodellen und Zustandsbestimmung.</a:t>
            </a:r>
          </a:p>
        </p:txBody>
      </p:sp>
      <p:sp>
        <p:nvSpPr>
          <p:cNvPr id="48" name="Quellennummer 18">
            <a:extLst>
              <a:ext uri="{FF2B5EF4-FFF2-40B4-BE49-F238E27FC236}">
                <a16:creationId xmlns:a16="http://schemas.microsoft.com/office/drawing/2014/main" id="{AA813756-BE4B-464E-B98C-BA3E4784D153}"/>
              </a:ext>
            </a:extLst>
          </p:cNvPr>
          <p:cNvSpPr>
            <a:spLocks noGrp="1"/>
          </p:cNvSpPr>
          <p:nvPr/>
        </p:nvSpPr>
        <p:spPr>
          <a:xfrm>
            <a:off x="552450" y="36480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[18]</a:t>
            </a:r>
          </a:p>
        </p:txBody>
      </p:sp>
      <p:sp>
        <p:nvSpPr>
          <p:cNvPr id="49" name="Quelle 18 author">
            <a:extLst>
              <a:ext uri="{FF2B5EF4-FFF2-40B4-BE49-F238E27FC236}">
                <a16:creationId xmlns:a16="http://schemas.microsoft.com/office/drawing/2014/main" id="{24FBD353-3CE0-4994-9A03-8549818FCB82}"/>
              </a:ext>
            </a:extLst>
          </p:cNvPr>
          <p:cNvSpPr>
            <a:spLocks noGrp="1"/>
          </p:cNvSpPr>
          <p:nvPr/>
        </p:nvSpPr>
        <p:spPr>
          <a:xfrm>
            <a:off x="1162050" y="36480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Z. C. Lipton, J. Berkowitz und C. Elkan (2015)</a:t>
            </a:r>
          </a:p>
        </p:txBody>
      </p:sp>
      <p:sp>
        <p:nvSpPr>
          <p:cNvPr id="50" name="Quelle 18 title">
            <a:extLst>
              <a:ext uri="{FF2B5EF4-FFF2-40B4-BE49-F238E27FC236}">
                <a16:creationId xmlns:a16="http://schemas.microsoft.com/office/drawing/2014/main" id="{D0E21694-B711-4518-926C-0DADE1E28FFE}"/>
              </a:ext>
            </a:extLst>
          </p:cNvPr>
          <p:cNvSpPr>
            <a:spLocks noGrp="1"/>
          </p:cNvSpPr>
          <p:nvPr/>
        </p:nvSpPr>
        <p:spPr>
          <a:xfrm>
            <a:off x="1162050" y="39052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 Critical Review of Recurrent Neural Networks for Sequence Learning</a:t>
            </a:r>
          </a:p>
        </p:txBody>
      </p:sp>
      <p:sp>
        <p:nvSpPr>
          <p:cNvPr id="51" name="Quelle 18 pub">
            <a:extLst>
              <a:ext uri="{FF2B5EF4-FFF2-40B4-BE49-F238E27FC236}">
                <a16:creationId xmlns:a16="http://schemas.microsoft.com/office/drawing/2014/main" id="{9C175B6F-B595-4E50-BD04-28973ACF46E5}"/>
              </a:ext>
            </a:extLst>
          </p:cNvPr>
          <p:cNvSpPr>
            <a:spLocks noGrp="1"/>
          </p:cNvSpPr>
          <p:nvPr/>
        </p:nvSpPr>
        <p:spPr>
          <a:xfrm>
            <a:off x="1162050" y="41624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arXiv-Preprint.</a:t>
            </a:r>
          </a:p>
        </p:txBody>
      </p:sp>
      <p:sp>
        <p:nvSpPr>
          <p:cNvPr id="52" name="Quelle 18 link">
            <a:extLst>
              <a:ext uri="{FF2B5EF4-FFF2-40B4-BE49-F238E27FC236}">
                <a16:creationId xmlns:a16="http://schemas.microsoft.com/office/drawing/2014/main" id="{DB9EA521-9F16-4F2D-90E4-0C4388EEBE49}"/>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arXiv: 1506.00019</a:t>
            </a:r>
          </a:p>
        </p:txBody>
      </p:sp>
      <p:sp>
        <p:nvSpPr>
          <p:cNvPr id="53" name="Footer – Seitennummer">
            <a:extLst>
              <a:ext uri="{FF2B5EF4-FFF2-40B4-BE49-F238E27FC236}">
                <a16:creationId xmlns:a16="http://schemas.microsoft.com/office/drawing/2014/main" id="{5BE84286-734B-42CD-BF53-9E53D438F52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6 / 9</a:t>
            </a:r>
          </a:p>
        </p:txBody>
      </p:sp>
      <p:sp>
        <p:nvSpPr>
          <p:cNvPr id="54" name="Footer – Präsentationsangaben">
            <a:extLst>
              <a:ext uri="{FF2B5EF4-FFF2-40B4-BE49-F238E27FC236}">
                <a16:creationId xmlns:a16="http://schemas.microsoft.com/office/drawing/2014/main" id="{986B9FD7-D8A0-49B9-88FD-77AF9A23192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(7/9)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9">
            <a:extLst>
              <a:ext uri="{FF2B5EF4-FFF2-40B4-BE49-F238E27FC236}">
                <a16:creationId xmlns:a16="http://schemas.microsoft.com/office/drawing/2014/main" id="{6E4BE561-52D8-49EA-8F3C-489132332915}"/>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[19]</a:t>
            </a:r>
          </a:p>
        </p:txBody>
      </p:sp>
      <p:sp>
        <p:nvSpPr>
          <p:cNvPr id="41" name="Quelle 19 author">
            <a:extLst>
              <a:ext uri="{FF2B5EF4-FFF2-40B4-BE49-F238E27FC236}">
                <a16:creationId xmlns:a16="http://schemas.microsoft.com/office/drawing/2014/main" id="{D07A5832-0813-44F9-881E-E8FC26F01315}"/>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J. Li et al. (2021)</a:t>
            </a:r>
          </a:p>
        </p:txBody>
      </p:sp>
      <p:sp>
        <p:nvSpPr>
          <p:cNvPr id="42" name="Quelle 19 title">
            <a:extLst>
              <a:ext uri="{FF2B5EF4-FFF2-40B4-BE49-F238E27FC236}">
                <a16:creationId xmlns:a16="http://schemas.microsoft.com/office/drawing/2014/main" id="{67F05617-33F3-4987-96EA-FB4C45BBD3D4}"/>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Joint Estimation of State of Charge and State of Health for Lithium-ion Battery Based on Dual</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Adaptive Extended Kalman Filter</a:t>
            </a:r>
          </a:p>
        </p:txBody>
      </p:sp>
      <p:sp>
        <p:nvSpPr>
          <p:cNvPr id="43" name="Quelle 19 pub">
            <a:extLst>
              <a:ext uri="{FF2B5EF4-FFF2-40B4-BE49-F238E27FC236}">
                <a16:creationId xmlns:a16="http://schemas.microsoft.com/office/drawing/2014/main" id="{3A22A670-E4EE-4242-8F2F-A64CC6B781E0}"/>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International Journal of Energy Research 45(9), 13307–13322.</a:t>
            </a:r>
          </a:p>
        </p:txBody>
      </p:sp>
      <p:sp>
        <p:nvSpPr>
          <p:cNvPr id="44" name="Quelle 19 link">
            <a:extLst>
              <a:ext uri="{FF2B5EF4-FFF2-40B4-BE49-F238E27FC236}">
                <a16:creationId xmlns:a16="http://schemas.microsoft.com/office/drawing/2014/main" id="{33967021-EA55-4793-A183-2CFADE57684C}"/>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10.1002/er.6658</a:t>
            </a:r>
          </a:p>
        </p:txBody>
      </p:sp>
      <p:sp>
        <p:nvSpPr>
          <p:cNvPr id="45" name="Quellennummer 20">
            <a:extLst>
              <a:ext uri="{FF2B5EF4-FFF2-40B4-BE49-F238E27FC236}">
                <a16:creationId xmlns:a16="http://schemas.microsoft.com/office/drawing/2014/main" id="{5D5AB461-2D5F-4DE2-8BAE-FD358D13761B}"/>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[20]</a:t>
            </a:r>
          </a:p>
        </p:txBody>
      </p:sp>
      <p:sp>
        <p:nvSpPr>
          <p:cNvPr id="46" name="Quelle 20 author">
            <a:extLst>
              <a:ext uri="{FF2B5EF4-FFF2-40B4-BE49-F238E27FC236}">
                <a16:creationId xmlns:a16="http://schemas.microsoft.com/office/drawing/2014/main" id="{AA19B724-E983-4BBD-8764-98034B601FAA}"/>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und J. Kowal (2026)</a:t>
            </a:r>
          </a:p>
        </p:txBody>
      </p:sp>
      <p:sp>
        <p:nvSpPr>
          <p:cNvPr id="47" name="Quelle 20 title">
            <a:extLst>
              <a:ext uri="{FF2B5EF4-FFF2-40B4-BE49-F238E27FC236}">
                <a16:creationId xmlns:a16="http://schemas.microsoft.com/office/drawing/2014/main" id="{3F701E60-EAD5-4104-901B-64230A772C67}"/>
              </a:ext>
            </a:extLst>
          </p:cNvPr>
          <p:cNvSpPr>
            <a:spLocks noGrp="1"/>
          </p:cNvSpPr>
          <p:nvPr/>
        </p:nvSpPr>
        <p:spPr>
          <a:xfrm>
            <a:off x="1162050" y="318135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Embedded Artificial Intelligence in Battery Management Systems: Pruning and Quantization for</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Efficient State-of-Charge and State-of-Health Estimation</a:t>
            </a:r>
          </a:p>
        </p:txBody>
      </p:sp>
      <p:sp>
        <p:nvSpPr>
          <p:cNvPr id="48" name="Quelle 20 pub">
            <a:extLst>
              <a:ext uri="{FF2B5EF4-FFF2-40B4-BE49-F238E27FC236}">
                <a16:creationId xmlns:a16="http://schemas.microsoft.com/office/drawing/2014/main" id="{5EF983A1-64BC-4CB0-B1A0-6B9111635A04}"/>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SSRN-Preprint, 24. Februar 2026.</a:t>
            </a:r>
          </a:p>
        </p:txBody>
      </p:sp>
      <p:sp>
        <p:nvSpPr>
          <p:cNvPr id="49" name="Quelle 20 link">
            <a:extLst>
              <a:ext uri="{FF2B5EF4-FFF2-40B4-BE49-F238E27FC236}">
                <a16:creationId xmlns:a16="http://schemas.microsoft.com/office/drawing/2014/main" id="{0C8D507C-836F-4D01-A776-DD942CE46FF9}"/>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10.2139/ssrn.6298526</a:t>
            </a:r>
          </a:p>
        </p:txBody>
      </p:sp>
      <p:sp>
        <p:nvSpPr>
          <p:cNvPr id="50" name="Quellennummer 21">
            <a:extLst>
              <a:ext uri="{FF2B5EF4-FFF2-40B4-BE49-F238E27FC236}">
                <a16:creationId xmlns:a16="http://schemas.microsoft.com/office/drawing/2014/main" id="{781CB002-42A4-43D5-A26C-D7844FFD1318}"/>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[21]</a:t>
            </a:r>
          </a:p>
        </p:txBody>
      </p:sp>
      <p:sp>
        <p:nvSpPr>
          <p:cNvPr id="51" name="Quelle 21 author">
            <a:extLst>
              <a:ext uri="{FF2B5EF4-FFF2-40B4-BE49-F238E27FC236}">
                <a16:creationId xmlns:a16="http://schemas.microsoft.com/office/drawing/2014/main" id="{066028FB-D247-4E9C-8A3D-B473EDE59519}"/>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S. Han, J. Pool, J. Tran und W. J. Dally (2015)</a:t>
            </a:r>
          </a:p>
        </p:txBody>
      </p:sp>
      <p:sp>
        <p:nvSpPr>
          <p:cNvPr id="52" name="Quelle 21 title">
            <a:extLst>
              <a:ext uri="{FF2B5EF4-FFF2-40B4-BE49-F238E27FC236}">
                <a16:creationId xmlns:a16="http://schemas.microsoft.com/office/drawing/2014/main" id="{30BEBD2B-7F3C-493C-9868-CB49F00E30AD}"/>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Learning Both Weights and Connections for Efficient Neural Networks</a:t>
            </a:r>
          </a:p>
        </p:txBody>
      </p:sp>
      <p:sp>
        <p:nvSpPr>
          <p:cNvPr id="53" name="Quelle 21 pub">
            <a:extLst>
              <a:ext uri="{FF2B5EF4-FFF2-40B4-BE49-F238E27FC236}">
                <a16:creationId xmlns:a16="http://schemas.microsoft.com/office/drawing/2014/main" id="{9BF99727-FCAB-44F4-BE61-74A55E7D674A}"/>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NeurIPS 28, 1135–1143.</a:t>
            </a:r>
          </a:p>
        </p:txBody>
      </p:sp>
      <p:sp>
        <p:nvSpPr>
          <p:cNvPr id="54" name="Quelle 21 link">
            <a:extLst>
              <a:ext uri="{FF2B5EF4-FFF2-40B4-BE49-F238E27FC236}">
                <a16:creationId xmlns:a16="http://schemas.microsoft.com/office/drawing/2014/main" id="{240BA32B-4CF0-4BB0-84E0-075DA4F40637}"/>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NeurIPS Proceedings (2015)</a:t>
            </a:r>
          </a:p>
        </p:txBody>
      </p:sp>
      <p:sp>
        <p:nvSpPr>
          <p:cNvPr id="55" name="Footer – Seitennummer">
            <a:extLst>
              <a:ext uri="{FF2B5EF4-FFF2-40B4-BE49-F238E27FC236}">
                <a16:creationId xmlns:a16="http://schemas.microsoft.com/office/drawing/2014/main" id="{FC38F064-6E48-4096-BF09-AFB3C6D6F23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7 / 9</a:t>
            </a:r>
          </a:p>
        </p:txBody>
      </p:sp>
      <p:sp>
        <p:nvSpPr>
          <p:cNvPr id="56" name="Footer – Präsentationsangaben">
            <a:extLst>
              <a:ext uri="{FF2B5EF4-FFF2-40B4-BE49-F238E27FC236}">
                <a16:creationId xmlns:a16="http://schemas.microsoft.com/office/drawing/2014/main" id="{3E61F88F-6F4B-4BC5-8209-86A160E36E8C}"/>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(8/9)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22">
            <a:extLst>
              <a:ext uri="{FF2B5EF4-FFF2-40B4-BE49-F238E27FC236}">
                <a16:creationId xmlns:a16="http://schemas.microsoft.com/office/drawing/2014/main" id="{AACBAFDC-5C53-4ECB-8587-D112AEE3EA0B}"/>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[22]</a:t>
            </a:r>
          </a:p>
        </p:txBody>
      </p:sp>
      <p:sp>
        <p:nvSpPr>
          <p:cNvPr id="41" name="Quelle 22 author">
            <a:extLst>
              <a:ext uri="{FF2B5EF4-FFF2-40B4-BE49-F238E27FC236}">
                <a16:creationId xmlns:a16="http://schemas.microsoft.com/office/drawing/2014/main" id="{DE3C019C-208D-416D-A9DF-CF4A2BFBD9CB}"/>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W. Wen et al. (2016)</a:t>
            </a:r>
          </a:p>
        </p:txBody>
      </p:sp>
      <p:sp>
        <p:nvSpPr>
          <p:cNvPr id="42" name="Quelle 22 title">
            <a:extLst>
              <a:ext uri="{FF2B5EF4-FFF2-40B4-BE49-F238E27FC236}">
                <a16:creationId xmlns:a16="http://schemas.microsoft.com/office/drawing/2014/main" id="{1FF42E99-3D84-4EAC-A875-AAA79FAF1589}"/>
              </a:ext>
            </a:extLst>
          </p:cNvPr>
          <p:cNvSpPr>
            <a:spLocks noGrp="1"/>
          </p:cNvSpPr>
          <p:nvPr/>
        </p:nvSpPr>
        <p:spPr>
          <a:xfrm>
            <a:off x="1162050" y="16859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Learning Structured Sparsity in Deep Neural Networks</a:t>
            </a:r>
          </a:p>
        </p:txBody>
      </p:sp>
      <p:sp>
        <p:nvSpPr>
          <p:cNvPr id="43" name="Quelle 22 pub">
            <a:extLst>
              <a:ext uri="{FF2B5EF4-FFF2-40B4-BE49-F238E27FC236}">
                <a16:creationId xmlns:a16="http://schemas.microsoft.com/office/drawing/2014/main" id="{359C0FC2-88D6-4631-A978-6F65D8A7A038}"/>
              </a:ext>
            </a:extLst>
          </p:cNvPr>
          <p:cNvSpPr>
            <a:spLocks noGrp="1"/>
          </p:cNvSpPr>
          <p:nvPr/>
        </p:nvSpPr>
        <p:spPr>
          <a:xfrm>
            <a:off x="1162050" y="19431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NeurIPS 29, 2074–2082.</a:t>
            </a:r>
          </a:p>
        </p:txBody>
      </p:sp>
      <p:sp>
        <p:nvSpPr>
          <p:cNvPr id="44" name="Quelle 22 link">
            <a:extLst>
              <a:ext uri="{FF2B5EF4-FFF2-40B4-BE49-F238E27FC236}">
                <a16:creationId xmlns:a16="http://schemas.microsoft.com/office/drawing/2014/main" id="{162204AC-A8FC-491B-8AA8-F710449C7E97}"/>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arXiv: 1608.03665</a:t>
            </a:r>
          </a:p>
        </p:txBody>
      </p:sp>
      <p:sp>
        <p:nvSpPr>
          <p:cNvPr id="45" name="Quellennummer 23">
            <a:extLst>
              <a:ext uri="{FF2B5EF4-FFF2-40B4-BE49-F238E27FC236}">
                <a16:creationId xmlns:a16="http://schemas.microsoft.com/office/drawing/2014/main" id="{34D92939-3675-428F-8754-1503E73BACFD}"/>
              </a:ext>
            </a:extLst>
          </p:cNvPr>
          <p:cNvSpPr>
            <a:spLocks noGrp="1"/>
          </p:cNvSpPr>
          <p:nvPr/>
        </p:nvSpPr>
        <p:spPr>
          <a:xfrm>
            <a:off x="552450" y="26670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[23]</a:t>
            </a:r>
          </a:p>
        </p:txBody>
      </p:sp>
      <p:sp>
        <p:nvSpPr>
          <p:cNvPr id="46" name="Quelle 23 author">
            <a:extLst>
              <a:ext uri="{FF2B5EF4-FFF2-40B4-BE49-F238E27FC236}">
                <a16:creationId xmlns:a16="http://schemas.microsoft.com/office/drawing/2014/main" id="{938CDF7E-2029-4594-A521-C9343B9D0E92}"/>
              </a:ext>
            </a:extLst>
          </p:cNvPr>
          <p:cNvSpPr>
            <a:spLocks noGrp="1"/>
          </p:cNvSpPr>
          <p:nvPr/>
        </p:nvSpPr>
        <p:spPr>
          <a:xfrm>
            <a:off x="1162050" y="26670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E. Lobacheva et al. (2020)</a:t>
            </a:r>
          </a:p>
        </p:txBody>
      </p:sp>
      <p:sp>
        <p:nvSpPr>
          <p:cNvPr id="47" name="Quelle 23 title">
            <a:extLst>
              <a:ext uri="{FF2B5EF4-FFF2-40B4-BE49-F238E27FC236}">
                <a16:creationId xmlns:a16="http://schemas.microsoft.com/office/drawing/2014/main" id="{FE1404F5-1EBA-4631-B337-9B48C55E5F69}"/>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Structured Sparsification of Gated Recurrent Neural Networks</a:t>
            </a:r>
          </a:p>
        </p:txBody>
      </p:sp>
      <p:sp>
        <p:nvSpPr>
          <p:cNvPr id="48" name="Quelle 23 pub">
            <a:extLst>
              <a:ext uri="{FF2B5EF4-FFF2-40B4-BE49-F238E27FC236}">
                <a16:creationId xmlns:a16="http://schemas.microsoft.com/office/drawing/2014/main" id="{F13152B6-791F-44EF-8C38-D58448482A44}"/>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AAAI 34(04), 4989–4996.</a:t>
            </a:r>
          </a:p>
        </p:txBody>
      </p:sp>
      <p:sp>
        <p:nvSpPr>
          <p:cNvPr id="49" name="Quelle 23 link">
            <a:extLst>
              <a:ext uri="{FF2B5EF4-FFF2-40B4-BE49-F238E27FC236}">
                <a16:creationId xmlns:a16="http://schemas.microsoft.com/office/drawing/2014/main" id="{22C090F7-D7AC-4BAC-AD69-284956DD6B92}"/>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10.1609/aaai.v34i04.5938</a:t>
            </a:r>
          </a:p>
        </p:txBody>
      </p:sp>
      <p:sp>
        <p:nvSpPr>
          <p:cNvPr id="50" name="Footer – Seitennummer">
            <a:extLst>
              <a:ext uri="{FF2B5EF4-FFF2-40B4-BE49-F238E27FC236}">
                <a16:creationId xmlns:a16="http://schemas.microsoft.com/office/drawing/2014/main" id="{12ACDCB7-C3BB-40E0-9D5A-6C035AFC5907}"/>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8 / 9</a:t>
            </a:r>
          </a:p>
        </p:txBody>
      </p:sp>
      <p:sp>
        <p:nvSpPr>
          <p:cNvPr id="51" name="Footer – Präsentationsangaben">
            <a:extLst>
              <a:ext uri="{FF2B5EF4-FFF2-40B4-BE49-F238E27FC236}">
                <a16:creationId xmlns:a16="http://schemas.microsoft.com/office/drawing/2014/main" id="{7696CADE-9715-4A55-B7AF-FD720521FAD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(9/9)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24">
            <a:extLst>
              <a:ext uri="{FF2B5EF4-FFF2-40B4-BE49-F238E27FC236}">
                <a16:creationId xmlns:a16="http://schemas.microsoft.com/office/drawing/2014/main" id="{1402B8B6-CB4E-4593-8C83-30DC43997BBE}"/>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[24]</a:t>
            </a:r>
          </a:p>
        </p:txBody>
      </p:sp>
      <p:sp>
        <p:nvSpPr>
          <p:cNvPr id="41" name="Quelle 24 author">
            <a:extLst>
              <a:ext uri="{FF2B5EF4-FFF2-40B4-BE49-F238E27FC236}">
                <a16:creationId xmlns:a16="http://schemas.microsoft.com/office/drawing/2014/main" id="{F60FF103-E893-4F5E-96E8-1804C30437A5}"/>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B. Jacob et al. (2018)</a:t>
            </a:r>
          </a:p>
        </p:txBody>
      </p:sp>
      <p:sp>
        <p:nvSpPr>
          <p:cNvPr id="42" name="Quelle 24 title">
            <a:extLst>
              <a:ext uri="{FF2B5EF4-FFF2-40B4-BE49-F238E27FC236}">
                <a16:creationId xmlns:a16="http://schemas.microsoft.com/office/drawing/2014/main" id="{2C4967EC-2003-4916-974B-7E32A46BC4E8}"/>
              </a:ext>
            </a:extLst>
          </p:cNvPr>
          <p:cNvSpPr>
            <a:spLocks noGrp="1"/>
          </p:cNvSpPr>
          <p:nvPr/>
        </p:nvSpPr>
        <p:spPr>
          <a:xfrm>
            <a:off x="1162050" y="16859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Quantization and Training of Neural Networks for Efficient Integer-Arithmetic-Only Inference</a:t>
            </a:r>
          </a:p>
        </p:txBody>
      </p:sp>
      <p:sp>
        <p:nvSpPr>
          <p:cNvPr id="43" name="Quelle 24 pub">
            <a:extLst>
              <a:ext uri="{FF2B5EF4-FFF2-40B4-BE49-F238E27FC236}">
                <a16:creationId xmlns:a16="http://schemas.microsoft.com/office/drawing/2014/main" id="{DB85BDE2-FACE-49FC-8962-E618BEC19562}"/>
              </a:ext>
            </a:extLst>
          </p:cNvPr>
          <p:cNvSpPr>
            <a:spLocks noGrp="1"/>
          </p:cNvSpPr>
          <p:nvPr/>
        </p:nvSpPr>
        <p:spPr>
          <a:xfrm>
            <a:off x="1162050" y="19431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CVPR, 2704–2713.</a:t>
            </a:r>
          </a:p>
        </p:txBody>
      </p:sp>
      <p:sp>
        <p:nvSpPr>
          <p:cNvPr id="44" name="Quelle 24 link">
            <a:extLst>
              <a:ext uri="{FF2B5EF4-FFF2-40B4-BE49-F238E27FC236}">
                <a16:creationId xmlns:a16="http://schemas.microsoft.com/office/drawing/2014/main" id="{E4B4D912-5E02-43A0-A3FD-56D3997BB203}"/>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10.1109/CVPR.2018.00286</a:t>
            </a:r>
          </a:p>
        </p:txBody>
      </p:sp>
      <p:sp>
        <p:nvSpPr>
          <p:cNvPr id="45" name="Quellennummer 25">
            <a:extLst>
              <a:ext uri="{FF2B5EF4-FFF2-40B4-BE49-F238E27FC236}">
                <a16:creationId xmlns:a16="http://schemas.microsoft.com/office/drawing/2014/main" id="{9433DAA8-B4AC-4545-8A20-DF03EC8237D8}"/>
              </a:ext>
            </a:extLst>
          </p:cNvPr>
          <p:cNvSpPr>
            <a:spLocks noGrp="1"/>
          </p:cNvSpPr>
          <p:nvPr/>
        </p:nvSpPr>
        <p:spPr>
          <a:xfrm>
            <a:off x="552450" y="26670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[25]</a:t>
            </a:r>
          </a:p>
        </p:txBody>
      </p:sp>
      <p:sp>
        <p:nvSpPr>
          <p:cNvPr id="46" name="Quelle 25 author">
            <a:extLst>
              <a:ext uri="{FF2B5EF4-FFF2-40B4-BE49-F238E27FC236}">
                <a16:creationId xmlns:a16="http://schemas.microsoft.com/office/drawing/2014/main" id="{7489F974-AFB9-4193-B7D8-D199921187F3}"/>
              </a:ext>
            </a:extLst>
          </p:cNvPr>
          <p:cNvSpPr>
            <a:spLocks noGrp="1"/>
          </p:cNvSpPr>
          <p:nvPr/>
        </p:nvSpPr>
        <p:spPr>
          <a:xfrm>
            <a:off x="1162050" y="26670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R. Krishnamoorthi (2018)</a:t>
            </a:r>
          </a:p>
        </p:txBody>
      </p:sp>
      <p:sp>
        <p:nvSpPr>
          <p:cNvPr id="47" name="Quelle 25 title">
            <a:extLst>
              <a:ext uri="{FF2B5EF4-FFF2-40B4-BE49-F238E27FC236}">
                <a16:creationId xmlns:a16="http://schemas.microsoft.com/office/drawing/2014/main" id="{94AFD71D-616A-47A3-9FF4-7A9ABDAEEB5F}"/>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Quantizing Deep Convolutional Networks for Efficient Inference: A Whitepaper</a:t>
            </a:r>
          </a:p>
        </p:txBody>
      </p:sp>
      <p:sp>
        <p:nvSpPr>
          <p:cNvPr id="48" name="Quelle 25 pub">
            <a:extLst>
              <a:ext uri="{FF2B5EF4-FFF2-40B4-BE49-F238E27FC236}">
                <a16:creationId xmlns:a16="http://schemas.microsoft.com/office/drawing/2014/main" id="{CF72271E-301B-480E-9625-6541D482A090}"/>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arXiv-Preprint.</a:t>
            </a:r>
          </a:p>
        </p:txBody>
      </p:sp>
      <p:sp>
        <p:nvSpPr>
          <p:cNvPr id="49" name="Quelle 25 link">
            <a:extLst>
              <a:ext uri="{FF2B5EF4-FFF2-40B4-BE49-F238E27FC236}">
                <a16:creationId xmlns:a16="http://schemas.microsoft.com/office/drawing/2014/main" id="{6A737F4B-0832-4624-B850-BAC27645874C}"/>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arXiv: 1806.08342</a:t>
            </a:r>
          </a:p>
        </p:txBody>
      </p:sp>
      <p:sp>
        <p:nvSpPr>
          <p:cNvPr id="50" name="Footer – Seitennummer">
            <a:extLst>
              <a:ext uri="{FF2B5EF4-FFF2-40B4-BE49-F238E27FC236}">
                <a16:creationId xmlns:a16="http://schemas.microsoft.com/office/drawing/2014/main" id="{4F79511E-8DB0-4A8E-9D50-CB64F8F84A4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9 / 9</a:t>
            </a:r>
          </a:p>
        </p:txBody>
      </p:sp>
      <p:sp>
        <p:nvSpPr>
          <p:cNvPr id="51" name="Footer – Präsentationsangaben">
            <a:extLst>
              <a:ext uri="{FF2B5EF4-FFF2-40B4-BE49-F238E27FC236}">
                <a16:creationId xmlns:a16="http://schemas.microsoft.com/office/drawing/2014/main" id="{C28DB2A0-95EA-4F63-97B3-2062AAA4E02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theme/theme1.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U Berlin ">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U Berlin ">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27660</Words>
  <Application>Microsoft Office PowerPoint</Application>
  <DocSecurity>0</DocSecurity>
  <PresentationFormat>Breitbild</PresentationFormat>
  <Paragraphs>2695</Paragraphs>
  <Slides>77</Slides>
  <Notes>77</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77</vt:i4>
      </vt:variant>
    </vt:vector>
  </HeadingPairs>
  <TitlesOfParts>
    <vt:vector size="83" baseType="lpstr">
      <vt:lpstr>Arial</vt:lpstr>
      <vt:lpstr>Calibri</vt:lpstr>
      <vt:lpstr>Cambria Math</vt:lpstr>
      <vt:lpstr>Symbol</vt:lpstr>
      <vt:lpstr>Wingdings</vt:lpstr>
      <vt:lpstr>Master für Folgeseiten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TU-Pseudonym 0562860610859421</cp:lastModifiedBy>
  <cp:revision>11</cp:revision>
  <dcterms:created xsi:type="dcterms:W3CDTF">2026-09-08T15:48:05Z</dcterms:created>
  <dcterms:modified xsi:type="dcterms:W3CDTF">2026-10-22T07:12:08Z</dcterms:modified>
</cp:coreProperties>
</file>