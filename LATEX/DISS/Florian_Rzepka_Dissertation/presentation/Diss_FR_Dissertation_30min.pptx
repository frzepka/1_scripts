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1"/>
  </p:sldMasterIdLst>
  <p:notesMasterIdLst>
    <p:notesMasterId r:id="rId29"/>
  </p:notesMasterIdLst>
  <p:handoutMasterIdLst>
    <p:handoutMasterId r:id="rId30"/>
  </p:handoutMasterIdLst>
  <p:sldIdLst>
    <p:sldId id="404" r:id="rId2"/>
    <p:sldId id="405" r:id="rId3"/>
    <p:sldId id="406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22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EFD"/>
    <a:srgbClr val="B2E1C1"/>
    <a:srgbClr val="C7DFED"/>
    <a:srgbClr val="DBF5D9"/>
    <a:srgbClr val="DC6E7B"/>
    <a:srgbClr val="EFF7F5"/>
    <a:srgbClr val="7DCD96"/>
    <a:srgbClr val="BAE4C7"/>
    <a:srgbClr val="D9D9D9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8" autoAdjust="0"/>
    <p:restoredTop sz="96327"/>
  </p:normalViewPr>
  <p:slideViewPr>
    <p:cSldViewPr snapToGrid="0" snapToObjects="1">
      <p:cViewPr varScale="1">
        <p:scale>
          <a:sx n="117" d="100"/>
          <a:sy n="117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5" d="100"/>
          <a:sy n="95" d="100"/>
        </p:scale>
        <p:origin x="3562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3131527-C7E3-490D-B090-3ACC335788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86F279-702D-4870-8D30-3EF893E10C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9F0CD-77CA-402D-AEAB-C0807171C2DC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FD5FA2-025C-44FE-A255-A1D48A835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E6CF89-78B7-4BA4-9386-3EBB95CBEB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C4770-5E22-4763-980C-C62FB9BDDA9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049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14.08.2026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876" y="1382206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91809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0221" y="1373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4F835FC2-209C-B623-B2FE-93104346F5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</p:spTree>
    <p:extLst>
      <p:ext uri="{BB962C8B-B14F-4D97-AF65-F5344CB8AC3E}">
        <p14:creationId xmlns:p14="http://schemas.microsoft.com/office/powerpoint/2010/main" val="322685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6531CAD3-CD14-C701-E880-CF6FFC010DF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</p:spTree>
    <p:extLst>
      <p:ext uri="{BB962C8B-B14F-4D97-AF65-F5344CB8AC3E}">
        <p14:creationId xmlns:p14="http://schemas.microsoft.com/office/powerpoint/2010/main" val="74132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D4420194-6463-FB88-6066-2CE3890B88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07866423"/>
              </p:ext>
            </p:extLst>
          </p:nvPr>
        </p:nvGraphicFramePr>
        <p:xfrm>
          <a:off x="555867" y="1619296"/>
          <a:ext cx="10515600" cy="28080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 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98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9" name="Tabelle 3">
            <a:extLst>
              <a:ext uri="{FF2B5EF4-FFF2-40B4-BE49-F238E27FC236}">
                <a16:creationId xmlns:a16="http://schemas.microsoft.com/office/drawing/2014/main" id="{21EE799C-704F-3D4E-6952-86E9F1A7A87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44605626"/>
              </p:ext>
            </p:extLst>
          </p:nvPr>
        </p:nvGraphicFramePr>
        <p:xfrm>
          <a:off x="555867" y="1619296"/>
          <a:ext cx="10512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l"/>
                      <a:endParaRPr lang="en-US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Regular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44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D4420194-6463-FB88-6066-2CE3890B88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3329497"/>
              </p:ext>
            </p:extLst>
          </p:nvPr>
        </p:nvGraphicFramePr>
        <p:xfrm>
          <a:off x="6096000" y="1382400"/>
          <a:ext cx="4320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08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89707"/>
                  </a:ext>
                </a:extLst>
              </a:tr>
            </a:tbl>
          </a:graphicData>
        </a:graphic>
      </p:graphicFrame>
      <p:sp>
        <p:nvSpPr>
          <p:cNvPr id="5" name="Textplatzhalter 2">
            <a:extLst>
              <a:ext uri="{FF2B5EF4-FFF2-40B4-BE49-F238E27FC236}">
                <a16:creationId xmlns:a16="http://schemas.microsoft.com/office/drawing/2014/main" id="{91015A61-BBF3-58D4-B646-D7F07D397D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876" y="1382206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871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0FA6DEC0-2DEB-E663-4450-A41FA125E4E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21515962"/>
              </p:ext>
            </p:extLst>
          </p:nvPr>
        </p:nvGraphicFramePr>
        <p:xfrm>
          <a:off x="555867" y="1382400"/>
          <a:ext cx="4320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08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89707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A52B688-20A1-8CFE-428A-BC897BDC49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409939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2188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14400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</p:spTree>
    <p:extLst>
      <p:ext uri="{BB962C8B-B14F-4D97-AF65-F5344CB8AC3E}">
        <p14:creationId xmlns:p14="http://schemas.microsoft.com/office/powerpoint/2010/main" val="2315032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0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842000"/>
            <a:ext cx="12195175" cy="1015999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99924"/>
            <a:ext cx="7615318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Florian Rzepka | EET | Interim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Embedded AI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BMS| 9. April 2025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3FC34A-DB88-456F-BDA4-DF3311B9A28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21" r:id="rId3"/>
    <p:sldLayoutId id="2147483712" r:id="rId4"/>
    <p:sldLayoutId id="2147483719" r:id="rId5"/>
    <p:sldLayoutId id="2147483715" r:id="rId6"/>
    <p:sldLayoutId id="2147483716" r:id="rId7"/>
    <p:sldLayoutId id="2147483720" r:id="rId8"/>
    <p:sldLayoutId id="2147483717" r:id="rId9"/>
    <p:sldLayoutId id="2147483718" r:id="rId10"/>
    <p:sldLayoutId id="2147483723" r:id="rId11"/>
    <p:sldLayoutId id="214748372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5D1BB-3422-C77E-97D0-AD58E4991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708D277B-B15B-C487-E462-7968C735FE32}"/>
              </a:ext>
            </a:extLst>
          </p:cNvPr>
          <p:cNvSpPr/>
          <p:nvPr/>
        </p:nvSpPr>
        <p:spPr>
          <a:xfrm>
            <a:off x="0" y="4445000"/>
            <a:ext cx="12192001" cy="2413001"/>
          </a:xfrm>
          <a:custGeom>
            <a:avLst/>
            <a:gdLst/>
            <a:ahLst/>
            <a:cxnLst/>
            <a:rect l="0" t="0" r="0" b="0"/>
            <a:pathLst>
              <a:path w="12192001" h="2413001">
                <a:moveTo>
                  <a:pt x="0" y="355600"/>
                </a:moveTo>
                <a:lnTo>
                  <a:pt x="12192000" y="0"/>
                </a:lnTo>
                <a:lnTo>
                  <a:pt x="12192000" y="2413000"/>
                </a:lnTo>
                <a:lnTo>
                  <a:pt x="0" y="2413000"/>
                </a:lnTo>
              </a:path>
            </a:pathLst>
          </a:custGeom>
          <a:solidFill>
            <a:srgbClr val="C40D1E"/>
          </a:solidFill>
          <a:ln w="63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accent1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72B0CD7-D22B-3D65-E453-21E4425C94DF}"/>
              </a:ext>
            </a:extLst>
          </p:cNvPr>
          <p:cNvSpPr txBox="1"/>
          <p:nvPr/>
        </p:nvSpPr>
        <p:spPr>
          <a:xfrm>
            <a:off x="550801" y="4973943"/>
            <a:ext cx="8328079" cy="883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Deployment-Oriented Neural Network State Estimation for Battery Management Systems</a:t>
            </a:r>
            <a:endParaRPr lang="de-DE" sz="2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5269871-D11D-6710-754D-12159AE8AFA4}"/>
              </a:ext>
            </a:extLst>
          </p:cNvPr>
          <p:cNvSpPr txBox="1"/>
          <p:nvPr/>
        </p:nvSpPr>
        <p:spPr>
          <a:xfrm>
            <a:off x="550801" y="6085778"/>
            <a:ext cx="8328079" cy="271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Florian Rzepka | Technische Universität Berlin | 2026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Bildplatzhalter 3">
            <a:extLst>
              <a:ext uri="{FF2B5EF4-FFF2-40B4-BE49-F238E27FC236}">
                <a16:creationId xmlns:a16="http://schemas.microsoft.com/office/drawing/2014/main" id="{E872B9E7-D02E-9F65-B6A1-E36221894B3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25289" b="25289"/>
          <a:stretch>
            <a:fillRect/>
          </a:stretch>
        </p:blipFill>
        <p:spPr>
          <a:xfrm>
            <a:off x="-14400" y="1260572"/>
            <a:ext cx="8885359" cy="3273604"/>
          </a:xfr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C2FB7F2-2932-26B1-5F54-0101F84D8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9A7F2636-00D5-E9CC-99E0-09D27B55BE3D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4343009-B412-EAF0-FFBB-D08662EB816A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31265DA-3864-2FA6-5B26-6F9F1AA132B3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2386528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48A0B-533C-AF1E-1F0D-3E853AC6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AEA09DA-F807-25A8-2CDD-F6427417E3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497751"/>
            <a:ext cx="9721850" cy="2872450"/>
          </a:xfrm>
        </p:spPr>
        <p:txBody>
          <a:bodyPr/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/>
              <a:t>Motivation and research questions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/>
              <a:t>Evaluation framework and experimental basis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/>
              <a:t>Compact neural ageing estimation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/>
              <a:t>Robustness benchmarking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/>
              <a:t>Embedded AI and model compression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/>
              <a:t>Integrated findings and outlook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D7E0C2-2552-AF91-7D78-6FB6866824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Structure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312BE34-95F4-CFB5-AF72-F503E287B9E6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129B1EB-3AC5-FB5B-7443-FD463790DF14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F1BC91A-BD5B-C845-5D92-0ADE634BE8D1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1164223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1A17-C3CC-0BB1-13B8-C7FFE7B67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D217A41-2DF1-1FB2-3CC7-8DEF546109CD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E5E82F0-6AB7-22B1-F5C7-FB8274B1E4D9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Motivation and Research Questions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83D6C2F-882D-8700-7A4D-54D508198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D33727D1-F9DE-DD04-3D79-ADFC70E4374D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3FD9C60-D15C-8EAB-FBEE-27D97D463B45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9B46CE4-7EC1-D398-273D-3A8667D43CB1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392848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83CE0-30C9-06D1-D1EA-20FAB2039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A042A7C-456F-4072-9263-3AC0A8F71F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Why Deployment-Oriented State Estimation?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FB56E986-0BFD-A6A1-189E-0B9F37A32B56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53C3099-9392-A0D7-65DC-D62A09E095EA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16F02E5-623D-E056-ECD9-1B09E7B396DD}"/>
              </a:ext>
            </a:extLst>
          </p:cNvPr>
          <p:cNvSpPr txBox="1"/>
          <p:nvPr/>
        </p:nvSpPr>
        <p:spPr>
          <a:xfrm>
            <a:off x="698500" y="15240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900">
                <a:solidFill>
                  <a:srgbClr val="434343"/>
                </a:solidFill>
                <a:latin typeface="Arial" panose="020B0604020202020204" pitchFamily="34" charset="0"/>
              </a:rPr>
              <a:t>• SOC and SOH as non-measurable internal battery states</a:t>
            </a:r>
          </a:p>
          <a:p>
            <a:pPr>
              <a:spcAft>
                <a:spcPts val="1000"/>
              </a:spcAft>
            </a:pPr>
            <a:r>
              <a:rPr lang="en-US" sz="1900">
                <a:solidFill>
                  <a:srgbClr val="434343"/>
                </a:solidFill>
                <a:latin typeface="Arial" panose="020B0604020202020204" pitchFamily="34" charset="0"/>
              </a:rPr>
              <a:t>• Field signals with bias, noise, missing data, and timing irregularities</a:t>
            </a:r>
          </a:p>
          <a:p>
            <a:pPr>
              <a:spcAft>
                <a:spcPts val="1000"/>
              </a:spcAft>
            </a:pPr>
            <a:r>
              <a:rPr lang="en-US" sz="1900">
                <a:solidFill>
                  <a:srgbClr val="434343"/>
                </a:solidFill>
                <a:latin typeface="Arial" panose="020B0604020202020204" pitchFamily="34" charset="0"/>
              </a:rPr>
              <a:t>• Embedded limits in flash, RAM, latency, and energy</a:t>
            </a:r>
          </a:p>
          <a:p>
            <a:pPr>
              <a:spcAft>
                <a:spcPts val="1000"/>
              </a:spcAft>
            </a:pPr>
            <a:r>
              <a:rPr lang="en-US" sz="1900">
                <a:solidFill>
                  <a:srgbClr val="434343"/>
                </a:solidFill>
                <a:latin typeface="Arial" panose="020B0604020202020204" pitchFamily="34" charset="0"/>
              </a:rPr>
              <a:t>• Accuracy alone as an incomplete deployment criterion</a:t>
            </a:r>
            <a:endParaRPr lang="de-DE" sz="19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B260848-0C6B-F83D-FD7D-5AFDBFCCB88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917493"/>
            <a:ext cx="4381500" cy="2756315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234A524-7AFA-5042-3B62-6A16E1F112DF}"/>
              </a:ext>
            </a:extLst>
          </p:cNvPr>
          <p:cNvSpPr/>
          <p:nvPr/>
        </p:nvSpPr>
        <p:spPr>
          <a:xfrm>
            <a:off x="5969000" y="5130800"/>
            <a:ext cx="50800" cy="609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01AFB81-EF9E-9DF7-81F8-3CC1031CF772}"/>
              </a:ext>
            </a:extLst>
          </p:cNvPr>
          <p:cNvSpPr txBox="1"/>
          <p:nvPr/>
        </p:nvSpPr>
        <p:spPr>
          <a:xfrm>
            <a:off x="6108700" y="5105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One estimator path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9CEC43A-0DDF-885F-4306-E2BC2550D74B}"/>
              </a:ext>
            </a:extLst>
          </p:cNvPr>
          <p:cNvSpPr txBox="1"/>
          <p:nvPr/>
        </p:nvSpPr>
        <p:spPr>
          <a:xfrm>
            <a:off x="6108700" y="54737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767171"/>
                </a:solidFill>
                <a:latin typeface="Arial" panose="020B0604020202020204" pitchFamily="34" charset="0"/>
              </a:rPr>
              <a:t>Data representation to MCU execution</a:t>
            </a:r>
            <a:endParaRPr lang="de-DE" sz="120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E97E009-DE8F-F686-4D73-92A230AEB3A7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2D21666-AB59-A2B3-25DA-F449781BD2A1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4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B1D0D80-1C3B-AB4F-DD8F-9D45DBBACA52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3447344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633F-1EED-3E82-4B3E-1F1F297D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9FC8B3-670C-1312-3541-8A7FE0D9A1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Research Questions and Contribution Path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CD2703B5-E060-2C7B-F7BA-B35E8F1C88C2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B395B10-DADF-4E96-49A4-23CA082B59DC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9F8A483-8C76-A6A2-C530-E20525AFD694}"/>
              </a:ext>
            </a:extLst>
          </p:cNvPr>
          <p:cNvSpPr/>
          <p:nvPr/>
        </p:nvSpPr>
        <p:spPr>
          <a:xfrm>
            <a:off x="609600" y="18415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8B197D3-3354-4391-729E-511E3AC780AE}"/>
              </a:ext>
            </a:extLst>
          </p:cNvPr>
          <p:cNvSpPr/>
          <p:nvPr/>
        </p:nvSpPr>
        <p:spPr>
          <a:xfrm>
            <a:off x="762000" y="1993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61ACD38-6F41-9FD3-8A03-867AF63E32E1}"/>
              </a:ext>
            </a:extLst>
          </p:cNvPr>
          <p:cNvSpPr txBox="1"/>
          <p:nvPr/>
        </p:nvSpPr>
        <p:spPr>
          <a:xfrm>
            <a:off x="1308100" y="20447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434343"/>
                </a:solidFill>
                <a:latin typeface="Arial" panose="020B0604020202020204" pitchFamily="34" charset="0"/>
              </a:rPr>
              <a:t>Representation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060896B-8BA8-6A08-A0A5-3ABE445BCDD0}"/>
              </a:ext>
            </a:extLst>
          </p:cNvPr>
          <p:cNvSpPr txBox="1"/>
          <p:nvPr/>
        </p:nvSpPr>
        <p:spPr>
          <a:xfrm>
            <a:off x="812800" y="25781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767171"/>
                </a:solidFill>
                <a:latin typeface="Arial" panose="020B0604020202020204" pitchFamily="34" charset="0"/>
              </a:rPr>
              <a:t>Ageing-relevant history in compact neural estimators</a:t>
            </a:r>
            <a:endParaRPr lang="de-DE" sz="130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5240C64-4A4D-E44F-5CCB-14ACB3E2E889}"/>
              </a:ext>
            </a:extLst>
          </p:cNvPr>
          <p:cNvSpPr/>
          <p:nvPr/>
        </p:nvSpPr>
        <p:spPr>
          <a:xfrm>
            <a:off x="3873500" y="18415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6EE9F27-8B7F-FD58-2F5C-64A0C9C7D51C}"/>
              </a:ext>
            </a:extLst>
          </p:cNvPr>
          <p:cNvSpPr/>
          <p:nvPr/>
        </p:nvSpPr>
        <p:spPr>
          <a:xfrm>
            <a:off x="4025900" y="1993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0D007E8-5B18-4029-D2B3-EBE7D5505E0B}"/>
              </a:ext>
            </a:extLst>
          </p:cNvPr>
          <p:cNvSpPr txBox="1"/>
          <p:nvPr/>
        </p:nvSpPr>
        <p:spPr>
          <a:xfrm>
            <a:off x="4572000" y="20447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434343"/>
                </a:solidFill>
                <a:latin typeface="Arial" panose="020B0604020202020204" pitchFamily="34" charset="0"/>
              </a:rPr>
              <a:t>Robustness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731ACEF-3329-AD68-8B89-73A4BCCA9C00}"/>
              </a:ext>
            </a:extLst>
          </p:cNvPr>
          <p:cNvSpPr txBox="1"/>
          <p:nvPr/>
        </p:nvSpPr>
        <p:spPr>
          <a:xfrm>
            <a:off x="4076700" y="25781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767171"/>
                </a:solidFill>
                <a:latin typeface="Arial" panose="020B0604020202020204" pitchFamily="34" charset="0"/>
              </a:rPr>
              <a:t>Matched disturbances across estimator families</a:t>
            </a:r>
            <a:endParaRPr lang="de-DE" sz="130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C0437BE-036F-D104-2C41-A43E1F62EA7D}"/>
              </a:ext>
            </a:extLst>
          </p:cNvPr>
          <p:cNvSpPr/>
          <p:nvPr/>
        </p:nvSpPr>
        <p:spPr>
          <a:xfrm>
            <a:off x="7137400" y="18415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BBDCB66-B51A-AA97-B015-5CE1BF6D31A5}"/>
              </a:ext>
            </a:extLst>
          </p:cNvPr>
          <p:cNvSpPr/>
          <p:nvPr/>
        </p:nvSpPr>
        <p:spPr>
          <a:xfrm>
            <a:off x="7289800" y="1993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C141F40-9657-298B-1903-02FD6B05077E}"/>
              </a:ext>
            </a:extLst>
          </p:cNvPr>
          <p:cNvSpPr txBox="1"/>
          <p:nvPr/>
        </p:nvSpPr>
        <p:spPr>
          <a:xfrm>
            <a:off x="7835900" y="20447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434343"/>
                </a:solidFill>
                <a:latin typeface="Arial" panose="020B0604020202020204" pitchFamily="34" charset="0"/>
              </a:rPr>
              <a:t>Deployment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2A02C3A-4C14-239C-1061-6420491E3867}"/>
              </a:ext>
            </a:extLst>
          </p:cNvPr>
          <p:cNvSpPr txBox="1"/>
          <p:nvPr/>
        </p:nvSpPr>
        <p:spPr>
          <a:xfrm>
            <a:off x="7340600" y="25781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767171"/>
                </a:solidFill>
                <a:latin typeface="Arial" panose="020B0604020202020204" pitchFamily="34" charset="0"/>
              </a:rPr>
              <a:t>Compression, firmware transfer, and MCU measurement</a:t>
            </a:r>
            <a:endParaRPr lang="de-DE" sz="130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C7F866A9-E900-4B26-4735-2E8065442B3F}"/>
              </a:ext>
            </a:extLst>
          </p:cNvPr>
          <p:cNvSpPr/>
          <p:nvPr/>
        </p:nvSpPr>
        <p:spPr>
          <a:xfrm>
            <a:off x="3479800" y="2374900"/>
            <a:ext cx="355600" cy="304800"/>
          </a:xfrm>
          <a:prstGeom prst="rightArrow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3F8C0DEF-B50F-DA2E-F315-58B3872A4FFF}"/>
              </a:ext>
            </a:extLst>
          </p:cNvPr>
          <p:cNvSpPr/>
          <p:nvPr/>
        </p:nvSpPr>
        <p:spPr>
          <a:xfrm>
            <a:off x="6743700" y="2374900"/>
            <a:ext cx="355600" cy="304800"/>
          </a:xfrm>
          <a:prstGeom prst="rightArrow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28AC70D-90F9-0248-E036-73B4C4383E81}"/>
              </a:ext>
            </a:extLst>
          </p:cNvPr>
          <p:cNvSpPr txBox="1"/>
          <p:nvPr/>
        </p:nvSpPr>
        <p:spPr>
          <a:xfrm>
            <a:off x="1054100" y="3873500"/>
            <a:ext cx="850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RQ1: Which input representation captures battery ageing?</a:t>
            </a:r>
          </a:p>
          <a:p>
            <a:pPr>
              <a:spcAft>
                <a:spcPts val="5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RQ2: Which estimator remains reliable under disturbed measurements?</a:t>
            </a:r>
          </a:p>
          <a:p>
            <a:pPr>
              <a:spcAft>
                <a:spcPts val="5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RQ3: Which compression route preserves accuracy within embedded limits?</a:t>
            </a:r>
            <a:endParaRPr lang="de-DE" sz="17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EAAF67E-E77B-AD47-E032-6E82B23D3FCA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C18FDDC-E3BF-06F8-83C1-8AD5EC55A249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5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ADCF182-B5C4-A970-30C6-827C9D392981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274674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5205E-2D5E-1F2B-63F4-4537FC33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FBD6655-06CF-7143-053C-9E7525EA5AEE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5B4F184-A49F-EF60-7B5A-E15F1025B40C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</a:rPr>
              <a:t>Evaluation Framework and Experimental Basis</a:t>
            </a:r>
            <a:endParaRPr lang="de-DE" sz="3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6FAF0C0-83CE-E0ED-E345-C63E44DEB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1BD30738-2A20-FA4D-5CE1-9CC582A0F8EC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4598658-9B35-8BBA-9E79-E922E2E98517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0BE931F-27AA-4BB3-E8D0-6FE2FCD5AD3C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534717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89288-3B46-28D7-8858-D8B0C5DC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9BA8BC-59EF-24DF-9113-AEA6BE80D7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Three Coupled BMS Requirement Dimensions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1C1361E6-025F-7181-4D6F-B190603BEFA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90F50AC-F810-9E1B-8A85-C72528E135EC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F39817E-8DBA-3D49-269B-29D0F211F35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531537"/>
            <a:ext cx="6032500" cy="3794926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1109A3C2-1572-FADA-B2C0-1E2768B07320}"/>
              </a:ext>
            </a:extLst>
          </p:cNvPr>
          <p:cNvSpPr/>
          <p:nvPr/>
        </p:nvSpPr>
        <p:spPr>
          <a:xfrm>
            <a:off x="7048500" y="1828800"/>
            <a:ext cx="260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7B960D6-4A7D-5C73-9BE3-04A92202FD87}"/>
              </a:ext>
            </a:extLst>
          </p:cNvPr>
          <p:cNvSpPr txBox="1"/>
          <p:nvPr/>
        </p:nvSpPr>
        <p:spPr>
          <a:xfrm>
            <a:off x="7048500" y="15240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Joint evaluation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AA2B349-1C4F-2B4B-78C3-EF2BA542DEB3}"/>
              </a:ext>
            </a:extLst>
          </p:cNvPr>
          <p:cNvSpPr txBox="1"/>
          <p:nvPr/>
        </p:nvSpPr>
        <p:spPr>
          <a:xfrm>
            <a:off x="7048500" y="2095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Performance: accuracy, recovery, disturbance response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Hardware: flash, RAM, latency, energy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Deployment: features, export, firmware, repeatability</a:t>
            </a:r>
            <a:endParaRPr lang="de-DE" sz="17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D304913-ABE2-182A-3ED8-32E41C9DC960}"/>
              </a:ext>
            </a:extLst>
          </p:cNvPr>
          <p:cNvSpPr/>
          <p:nvPr/>
        </p:nvSpPr>
        <p:spPr>
          <a:xfrm>
            <a:off x="7302500" y="4953000"/>
            <a:ext cx="50800" cy="609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F3710F8-1FB9-5980-5DBB-9F7C07DED6D2}"/>
              </a:ext>
            </a:extLst>
          </p:cNvPr>
          <p:cNvSpPr txBox="1"/>
          <p:nvPr/>
        </p:nvSpPr>
        <p:spPr>
          <a:xfrm>
            <a:off x="7442200" y="4927600"/>
            <a:ext cx="2146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3 dimensions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78FD43B-B0AB-5AF3-438F-E68E18E90682}"/>
              </a:ext>
            </a:extLst>
          </p:cNvPr>
          <p:cNvSpPr txBox="1"/>
          <p:nvPr/>
        </p:nvSpPr>
        <p:spPr>
          <a:xfrm>
            <a:off x="7442200" y="5295900"/>
            <a:ext cx="2146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>
                <a:solidFill>
                  <a:srgbClr val="767171"/>
                </a:solidFill>
                <a:latin typeface="Arial" panose="020B0604020202020204" pitchFamily="34" charset="0"/>
              </a:rPr>
              <a:t>No single metric as a substitute</a:t>
            </a:r>
            <a:endParaRPr lang="de-DE" sz="120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54605F7-FAEA-428C-084C-AA95DB0B8EA3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871AFAC-C132-8843-996B-E21C861B7D72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7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574F340-AF2B-4AEF-C191-7407AB17DEA4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2981046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20224-F70F-5C39-45A8-F9533B69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27B1F2-54CC-40D6-9781-0F592F2973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Estimator Families and Evaluation Logic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BAF9F9B0-7E1F-F246-A4FE-7DC998A21D6A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0095B1-1CB2-FD2B-5164-C6383697CEE7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5DCCF30-3A6C-F446-4396-D6171FFC28D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24668"/>
            <a:ext cx="9271000" cy="297996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EAE23DBA-92EF-D84C-7532-81EBBC11EB06}"/>
              </a:ext>
            </a:extLst>
          </p:cNvPr>
          <p:cNvSpPr txBox="1"/>
          <p:nvPr/>
        </p:nvSpPr>
        <p:spPr>
          <a:xfrm>
            <a:off x="1016000" y="44704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434343"/>
                </a:solidFill>
                <a:latin typeface="Arial" panose="020B0604020202020204" pitchFamily="34" charset="0"/>
              </a:rPr>
              <a:t>• Direct-measurement: low complexity, accumulated drift</a:t>
            </a:r>
          </a:p>
          <a:p>
            <a:pPr>
              <a:spcAft>
                <a:spcPts val="400"/>
              </a:spcAft>
            </a:pPr>
            <a:r>
              <a:rPr lang="en-US" sz="1600">
                <a:solidFill>
                  <a:srgbClr val="434343"/>
                </a:solidFill>
                <a:latin typeface="Arial" panose="020B0604020202020204" pitchFamily="34" charset="0"/>
              </a:rPr>
              <a:t>• Model-based and hybrid: physical correction paths</a:t>
            </a:r>
          </a:p>
          <a:p>
            <a:pPr>
              <a:spcAft>
                <a:spcPts val="400"/>
              </a:spcAft>
            </a:pPr>
            <a:r>
              <a:rPr lang="en-US" sz="1600">
                <a:solidFill>
                  <a:srgbClr val="434343"/>
                </a:solidFill>
                <a:latin typeface="Arial" panose="020B0604020202020204" pitchFamily="34" charset="0"/>
              </a:rPr>
              <a:t>• Data-driven: flexible nonlinear mapping and temporal context</a:t>
            </a:r>
          </a:p>
          <a:p>
            <a:pPr>
              <a:spcAft>
                <a:spcPts val="400"/>
              </a:spcAft>
            </a:pPr>
            <a:r>
              <a:rPr lang="en-US" sz="1600">
                <a:solidFill>
                  <a:srgbClr val="434343"/>
                </a:solidFill>
                <a:latin typeface="Arial" panose="020B0604020202020204" pitchFamily="34" charset="0"/>
              </a:rPr>
              <a:t>• Matched assessment: baseline, disturbance sensitivity, recovery</a:t>
            </a:r>
            <a:endParaRPr lang="de-DE" sz="16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E6A25C7-855B-3056-B89D-2E76774EECEE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69CB71E-0C9F-C1AE-F9BF-26CAF805EEC7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8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B3795E8-7C72-769D-72ED-9B64816F8D5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452076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EBD7B-A98F-B1B9-1974-E53199B66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A02B549-7139-8B33-8B87-ECC61DD5E5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Experimental Basis and Embedded Execution Chain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74AD35C3-AEC1-8B5F-554A-6331068348F6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D31DFFE-D796-2B8A-A36B-F19BD6938E7D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0C98A41-1900-7FDA-EC00-14A956813501}"/>
              </a:ext>
            </a:extLst>
          </p:cNvPr>
          <p:cNvSpPr/>
          <p:nvPr/>
        </p:nvSpPr>
        <p:spPr>
          <a:xfrm>
            <a:off x="571500" y="1651000"/>
            <a:ext cx="2857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86336DA-0623-4CD3-7CE9-6540F5E064C5}"/>
              </a:ext>
            </a:extLst>
          </p:cNvPr>
          <p:cNvSpPr txBox="1"/>
          <p:nvPr/>
        </p:nvSpPr>
        <p:spPr>
          <a:xfrm>
            <a:off x="571500" y="13462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NMC ageing study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7C1F11-5E5A-EB02-62AD-DE34175BE9D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58156"/>
            <a:ext cx="2857500" cy="1401888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8C16E573-3783-927E-A8F2-0AC9C3525087}"/>
              </a:ext>
            </a:extLst>
          </p:cNvPr>
          <p:cNvSpPr txBox="1"/>
          <p:nvPr/>
        </p:nvSpPr>
        <p:spPr>
          <a:xfrm>
            <a:off x="736600" y="41910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14 cells</a:t>
            </a:r>
          </a:p>
          <a:p>
            <a:pPr>
              <a:spcAft>
                <a:spcPts val="2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7 ageing scenarios</a:t>
            </a:r>
          </a:p>
          <a:p>
            <a:pPr>
              <a:spcAft>
                <a:spcPts val="2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Capacity-based SOH labels</a:t>
            </a:r>
            <a:endParaRPr lang="de-DE" sz="14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F965803-319F-D18D-68EF-1AF1E188A879}"/>
              </a:ext>
            </a:extLst>
          </p:cNvPr>
          <p:cNvSpPr/>
          <p:nvPr/>
        </p:nvSpPr>
        <p:spPr>
          <a:xfrm>
            <a:off x="3810000" y="1651000"/>
            <a:ext cx="2857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3EDEFBB-9812-E466-70E7-90AABE0AE469}"/>
              </a:ext>
            </a:extLst>
          </p:cNvPr>
          <p:cNvSpPr txBox="1"/>
          <p:nvPr/>
        </p:nvSpPr>
        <p:spPr>
          <a:xfrm>
            <a:off x="3810000" y="13462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LFP DoE campaign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FEFEF8C-0C32-67E8-EC83-01775B63B87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850148"/>
            <a:ext cx="2857500" cy="2217904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C43FCAB2-3834-3A9D-1C7A-5520477EAC5E}"/>
              </a:ext>
            </a:extLst>
          </p:cNvPr>
          <p:cNvSpPr txBox="1"/>
          <p:nvPr/>
        </p:nvSpPr>
        <p:spPr>
          <a:xfrm>
            <a:off x="3975100" y="41910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15 cells</a:t>
            </a:r>
          </a:p>
          <a:p>
            <a:pPr>
              <a:spcAft>
                <a:spcPts val="2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8 operating points</a:t>
            </a:r>
          </a:p>
          <a:p>
            <a:pPr>
              <a:spcAft>
                <a:spcPts val="2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1 Hz measurement stream</a:t>
            </a:r>
            <a:endParaRPr lang="de-DE" sz="14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30BD800-453C-8C9B-34DC-A077785ADA22}"/>
              </a:ext>
            </a:extLst>
          </p:cNvPr>
          <p:cNvSpPr/>
          <p:nvPr/>
        </p:nvSpPr>
        <p:spPr>
          <a:xfrm>
            <a:off x="7048500" y="1651000"/>
            <a:ext cx="2857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41E6FE1-B59C-B6C0-2B58-8F5956C8BFB6}"/>
              </a:ext>
            </a:extLst>
          </p:cNvPr>
          <p:cNvSpPr txBox="1"/>
          <p:nvPr/>
        </p:nvSpPr>
        <p:spPr>
          <a:xfrm>
            <a:off x="7048500" y="13462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Embedded chain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152509AD-FE62-430D-E74C-CD0F56B00D4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2425020"/>
            <a:ext cx="2857500" cy="877661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8FE5DA44-14CF-3E7F-D1E8-DD5A414CCCF1}"/>
              </a:ext>
            </a:extLst>
          </p:cNvPr>
          <p:cNvSpPr txBox="1"/>
          <p:nvPr/>
        </p:nvSpPr>
        <p:spPr>
          <a:xfrm>
            <a:off x="7213600" y="38735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Custom 4s BMS platform</a:t>
            </a:r>
          </a:p>
          <a:p>
            <a:pPr>
              <a:spcAft>
                <a:spcPts val="3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STM32H7 execution</a:t>
            </a:r>
          </a:p>
          <a:p>
            <a:pPr>
              <a:spcAft>
                <a:spcPts val="3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Common sensing and firmware basis</a:t>
            </a:r>
            <a:endParaRPr lang="de-DE" sz="14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0ECF63D-0A62-E3F5-E088-895B3FCC6E84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AF5EBA0-EDAF-E375-8041-479F536F4EE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9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0D11553-3C0A-731C-D037-8318D61B825A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10947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B1636-A17C-1156-BEC6-944D225A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432615B-95F5-19A0-492A-AD28B6401858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D132B8C-D428-74A1-0F19-3905CFA0E550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Compact Neural Ageing Estimation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E6BE702-AEBD-EF74-F9D1-9817A8396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B0562546-9D76-148F-4480-13BA6BA07C5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FE89B57-5CE9-401E-9FEC-C03CC22445F2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10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F2E85EB-63DC-53AD-1BBF-443A50C07A42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449056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DA8C-A7B5-1F52-777B-516E8102E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DE4DF2-7DFF-675E-891F-BEBA534861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Time-Aware Features for a Feedforward Model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8DAB2127-604B-C19C-760A-36FD6D25C832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82BDCEA-238D-A2D3-D125-BF4E206B7DC6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9E30B84-3D79-30B6-FC9D-B3CE86D5C67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04067"/>
            <a:ext cx="6540500" cy="2935567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05A65924-F350-921A-7C3F-50DCE3AF9C59}"/>
              </a:ext>
            </a:extLst>
          </p:cNvPr>
          <p:cNvSpPr/>
          <p:nvPr/>
        </p:nvSpPr>
        <p:spPr>
          <a:xfrm>
            <a:off x="7429500" y="1803400"/>
            <a:ext cx="2413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5AB4402-26FA-5EB3-EA4B-312C95585EDE}"/>
              </a:ext>
            </a:extLst>
          </p:cNvPr>
          <p:cNvSpPr txBox="1"/>
          <p:nvPr/>
        </p:nvSpPr>
        <p:spPr>
          <a:xfrm>
            <a:off x="7429500" y="1498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Engineered temporal context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63453DE-4785-36B0-9C1B-7E2439416902}"/>
              </a:ext>
            </a:extLst>
          </p:cNvPr>
          <p:cNvSpPr txBox="1"/>
          <p:nvPr/>
        </p:nvSpPr>
        <p:spPr>
          <a:xfrm>
            <a:off x="7429500" y="2095500"/>
            <a:ext cx="247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434343"/>
                </a:solidFill>
                <a:latin typeface="Arial" panose="020B0604020202020204" pitchFamily="34" charset="0"/>
              </a:rPr>
              <a:t>• Voltage, current, and temperature measurements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434343"/>
                </a:solidFill>
                <a:latin typeface="Arial" panose="020B0604020202020204" pitchFamily="34" charset="0"/>
              </a:rPr>
              <a:t>• Cumulative-current throughput features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434343"/>
                </a:solidFill>
                <a:latin typeface="Arial" panose="020B0604020202020204" pitchFamily="34" charset="0"/>
              </a:rPr>
              <a:t>• 16 lag steps at 10 min resolution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434343"/>
                </a:solidFill>
                <a:latin typeface="Arial" panose="020B0604020202020204" pitchFamily="34" charset="0"/>
              </a:rPr>
              <a:t>• 160 min effective history</a:t>
            </a:r>
            <a:endParaRPr lang="de-DE" sz="16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EC1B202-E156-0600-277A-FD936003A85A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BB0A929-E786-7389-2C7E-85DB5D203A71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5C8DE69-0FAC-B2D2-A715-13F7E7E3551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3206556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8A009-B5E9-5D3E-69BB-5A2FAE80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B9EC70-2215-5E58-D0BB-581D613C2C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Compact MLP Architecture for SOH Estimation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4EDE13BD-FA3C-F071-247F-FE6A8E931320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650C537-3AFB-F637-63EE-7D40B936878B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A5B40C8-7F54-C942-6A27-16003DD275E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12181" y="1308100"/>
            <a:ext cx="5814637" cy="431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808F3AE-FA65-FE88-A002-D40B7F61F144}"/>
              </a:ext>
            </a:extLst>
          </p:cNvPr>
          <p:cNvSpPr txBox="1"/>
          <p:nvPr/>
        </p:nvSpPr>
        <p:spPr>
          <a:xfrm>
            <a:off x="7048500" y="18415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Compact feedforward architecture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Time dependence encoded in engineered inputs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SOH output from operational measurements</a:t>
            </a:r>
          </a:p>
          <a:p>
            <a:pPr>
              <a:spcAft>
                <a:spcPts val="10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Low architectural complexity</a:t>
            </a:r>
            <a:endParaRPr lang="de-DE" sz="17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BD2EEC3-4AC0-2A70-32BC-F2A59F917502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6BF6CD7-CB38-27BD-8471-DE80A207F226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A9E88F2-D9E3-68CD-C16D-EE261D6EC55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300193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E90E-E235-B500-E213-26125EE98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7974CD4-3FC0-E6AA-275A-16FA731299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Ageing-Estimation Results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86BF875E-F87A-81A9-7972-4C61B39C1D1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46749B8-150A-338D-15BA-E2172FCDE6BE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83E1B63-4C3B-F366-89E7-1F35D864C91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27150"/>
            <a:ext cx="9334500" cy="31115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D31BEC7A-0F8C-866B-0A8F-85B035E89B7C}"/>
              </a:ext>
            </a:extLst>
          </p:cNvPr>
          <p:cNvSpPr/>
          <p:nvPr/>
        </p:nvSpPr>
        <p:spPr>
          <a:xfrm>
            <a:off x="889000" y="4762500"/>
            <a:ext cx="50800" cy="609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D2ADB9D-B977-87AD-D4E3-400036086126}"/>
              </a:ext>
            </a:extLst>
          </p:cNvPr>
          <p:cNvSpPr txBox="1"/>
          <p:nvPr/>
        </p:nvSpPr>
        <p:spPr>
          <a:xfrm>
            <a:off x="1028700" y="4737100"/>
            <a:ext cx="2146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1.10 pp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6166F54-8B01-6BAE-85BC-638F6DE648D9}"/>
              </a:ext>
            </a:extLst>
          </p:cNvPr>
          <p:cNvSpPr txBox="1"/>
          <p:nvPr/>
        </p:nvSpPr>
        <p:spPr>
          <a:xfrm>
            <a:off x="1028700" y="5105400"/>
            <a:ext cx="2146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Average SOH MAE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3E492FC-A807-764B-E780-41FEF5581A6E}"/>
              </a:ext>
            </a:extLst>
          </p:cNvPr>
          <p:cNvSpPr/>
          <p:nvPr/>
        </p:nvSpPr>
        <p:spPr>
          <a:xfrm>
            <a:off x="3683000" y="4762500"/>
            <a:ext cx="50800" cy="609600"/>
          </a:xfrm>
          <a:prstGeom prst="rect">
            <a:avLst/>
          </a:prstGeom>
          <a:solidFill>
            <a:srgbClr val="1F77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61D1D81-F37D-3EA7-32F3-40F72FABFE72}"/>
              </a:ext>
            </a:extLst>
          </p:cNvPr>
          <p:cNvSpPr txBox="1"/>
          <p:nvPr/>
        </p:nvSpPr>
        <p:spPr>
          <a:xfrm>
            <a:off x="3822700" y="4737100"/>
            <a:ext cx="2273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16 x 10 min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AD29BC9-BC41-8F66-B3EE-12F6439104BC}"/>
              </a:ext>
            </a:extLst>
          </p:cNvPr>
          <p:cNvSpPr txBox="1"/>
          <p:nvPr/>
        </p:nvSpPr>
        <p:spPr>
          <a:xfrm>
            <a:off x="3822700" y="5105400"/>
            <a:ext cx="2273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Best lag configuration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78142D5-9A14-8EBA-B13F-FA67DD72747A}"/>
              </a:ext>
            </a:extLst>
          </p:cNvPr>
          <p:cNvSpPr/>
          <p:nvPr/>
        </p:nvSpPr>
        <p:spPr>
          <a:xfrm>
            <a:off x="6731000" y="4762500"/>
            <a:ext cx="50800" cy="609600"/>
          </a:xfrm>
          <a:prstGeom prst="rect">
            <a:avLst/>
          </a:prstGeom>
          <a:solidFill>
            <a:srgbClr val="76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59E87D1-D130-3FD3-989B-8DF28E2F40C8}"/>
              </a:ext>
            </a:extLst>
          </p:cNvPr>
          <p:cNvSpPr txBox="1"/>
          <p:nvPr/>
        </p:nvSpPr>
        <p:spPr>
          <a:xfrm>
            <a:off x="6870700" y="4737100"/>
            <a:ext cx="2527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Cell 9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AF9011C-7F35-8789-5AB6-0A98BA904271}"/>
              </a:ext>
            </a:extLst>
          </p:cNvPr>
          <p:cNvSpPr txBox="1"/>
          <p:nvPr/>
        </p:nvSpPr>
        <p:spPr>
          <a:xfrm>
            <a:off x="6870700" y="5105400"/>
            <a:ext cx="2527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767171"/>
                </a:solidFill>
                <a:latin typeface="Arial" panose="020B0604020202020204" pitchFamily="34" charset="0"/>
              </a:rPr>
              <a:t>Reduced transfer to atypical ageing</a:t>
            </a:r>
            <a:endParaRPr lang="de-DE" sz="120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D047208-7A76-927F-CEF3-FDD0A440F16D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CF3A278-84E4-AB33-CD2F-58E8401594AC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13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C617A07-B46B-1929-6902-38AE3C293E7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630382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E1D17-4EC1-6766-01CB-77C001BF9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EAB2896-DE1F-265D-8579-5BE09B9400C7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DB7FA38-038E-6C1C-D8AE-11532E5352F9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Robustness Benchmarking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8DF0BE9-244D-3280-489A-02D92BF7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95CEEA3A-B59F-4063-0289-10F582690788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F026081-EC8E-BD8B-2261-5FF9E7BB2C99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87AFFB2-DC84-57A4-0B24-D181EFA7D8A3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3228133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F6CB9-A5FC-E32C-FC8B-75E23D61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E3AF34-C1D5-B41A-100E-22C649AA7A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Matched Benchmark Across Four Estimator Classes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CCC9DE66-0A78-8129-32B9-43C2A9A40FAA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AF3F08F-8ADC-0749-6742-03D1CD0BB081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041ED1D-BD49-2A64-D541-7D1A268D1F7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86939"/>
            <a:ext cx="9334500" cy="257282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B5C26B7-2A8D-E095-CEA4-EDEE3ACF2005}"/>
              </a:ext>
            </a:extLst>
          </p:cNvPr>
          <p:cNvSpPr txBox="1"/>
          <p:nvPr/>
        </p:nvSpPr>
        <p:spPr>
          <a:xfrm>
            <a:off x="952500" y="4191000"/>
            <a:ext cx="857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de-DE" sz="1600">
                <a:solidFill>
                  <a:srgbClr val="434343"/>
                </a:solidFill>
                <a:latin typeface="Arial" panose="020B0604020202020204" pitchFamily="34" charset="0"/>
              </a:rPr>
              <a:t>• DM: direct Coulomb-counting path</a:t>
            </a:r>
          </a:p>
          <a:p>
            <a:pPr>
              <a:spcAft>
                <a:spcPts val="400"/>
              </a:spcAft>
            </a:pPr>
            <a:r>
              <a:rPr lang="de-DE" sz="1600">
                <a:solidFill>
                  <a:srgbClr val="434343"/>
                </a:solidFill>
                <a:latin typeface="Arial" panose="020B0604020202020204" pitchFamily="34" charset="0"/>
              </a:rPr>
              <a:t>• HDM: direct path with shared SOH context</a:t>
            </a:r>
          </a:p>
          <a:p>
            <a:pPr>
              <a:spcAft>
                <a:spcPts val="400"/>
              </a:spcAft>
            </a:pPr>
            <a:r>
              <a:rPr lang="de-DE" sz="1600">
                <a:solidFill>
                  <a:srgbClr val="434343"/>
                </a:solidFill>
                <a:latin typeface="Arial" panose="020B0604020202020204" pitchFamily="34" charset="0"/>
              </a:rPr>
              <a:t>• HECM: equivalent-circuit observer with SOH context</a:t>
            </a:r>
          </a:p>
          <a:p>
            <a:pPr>
              <a:spcAft>
                <a:spcPts val="400"/>
              </a:spcAft>
            </a:pPr>
            <a:r>
              <a:rPr lang="de-DE" sz="1600">
                <a:solidFill>
                  <a:srgbClr val="434343"/>
                </a:solidFill>
                <a:latin typeface="Arial" panose="020B0604020202020204" pitchFamily="34" charset="0"/>
              </a:rPr>
              <a:t>• DD: recurrent data-driven SOC estimator</a:t>
            </a:r>
          </a:p>
          <a:p>
            <a:pPr>
              <a:spcAft>
                <a:spcPts val="400"/>
              </a:spcAft>
            </a:pPr>
            <a:r>
              <a:rPr lang="de-DE" sz="1600">
                <a:solidFill>
                  <a:srgbClr val="434343"/>
                </a:solidFill>
                <a:latin typeface="Arial" panose="020B0604020202020204" pitchFamily="34" charset="0"/>
              </a:rPr>
              <a:t>• Identical online stream and matched disturbance protocols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7672EEF-68AC-8E81-8E4C-B2C7BB2D57EC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28BFE7E-DFDA-B416-E2D3-EB80D865A136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15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2F9E2C1-6100-D6FA-26A9-540BC72A47BC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2306671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58622-F492-AC5F-03EA-3C783882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F96D76-CC19-1E66-6702-E86771297F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Clean Accuracy Is Only the Starting Point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1D902571-5EF8-2A1F-9D5A-098E4AFCC334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D7E6E3C-EE45-388E-D0B9-556FB1A4A9CB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5292353-FDCB-9D39-5484-7339558FB9C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82083" y="1333500"/>
            <a:ext cx="9313333" cy="34925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0E41EAB4-10E6-D66E-132C-CA89EB4F5BAD}"/>
              </a:ext>
            </a:extLst>
          </p:cNvPr>
          <p:cNvSpPr/>
          <p:nvPr/>
        </p:nvSpPr>
        <p:spPr>
          <a:xfrm>
            <a:off x="1016000" y="4953000"/>
            <a:ext cx="50800" cy="609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1F79A57-2C7D-AFA6-2D4C-FE0D247275FA}"/>
              </a:ext>
            </a:extLst>
          </p:cNvPr>
          <p:cNvSpPr txBox="1"/>
          <p:nvPr/>
        </p:nvSpPr>
        <p:spPr>
          <a:xfrm>
            <a:off x="1155700" y="49276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0.24 pp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8302840-698F-6A11-7296-A39D53AB385C}"/>
              </a:ext>
            </a:extLst>
          </p:cNvPr>
          <p:cNvSpPr txBox="1"/>
          <p:nvPr/>
        </p:nvSpPr>
        <p:spPr>
          <a:xfrm>
            <a:off x="1155700" y="52959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HDM baseline MAE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C26DBF0-501B-45BB-9E1B-12A6CEF590D9}"/>
              </a:ext>
            </a:extLst>
          </p:cNvPr>
          <p:cNvSpPr/>
          <p:nvPr/>
        </p:nvSpPr>
        <p:spPr>
          <a:xfrm>
            <a:off x="3683000" y="4953000"/>
            <a:ext cx="50800" cy="609600"/>
          </a:xfrm>
          <a:prstGeom prst="rect">
            <a:avLst/>
          </a:prstGeom>
          <a:solidFill>
            <a:srgbClr val="1F77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5165C96-30E6-852B-C859-25E6D90F85D2}"/>
              </a:ext>
            </a:extLst>
          </p:cNvPr>
          <p:cNvSpPr txBox="1"/>
          <p:nvPr/>
        </p:nvSpPr>
        <p:spPr>
          <a:xfrm>
            <a:off x="3822700" y="49276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0.90 pp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F1A8C40-001C-998E-6271-A9045EDE5280}"/>
              </a:ext>
            </a:extLst>
          </p:cNvPr>
          <p:cNvSpPr txBox="1"/>
          <p:nvPr/>
        </p:nvSpPr>
        <p:spPr>
          <a:xfrm>
            <a:off x="3822700" y="52959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HECM baseline MAE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D9653A1-5092-B8FD-06FB-1B06E942C43F}"/>
              </a:ext>
            </a:extLst>
          </p:cNvPr>
          <p:cNvSpPr/>
          <p:nvPr/>
        </p:nvSpPr>
        <p:spPr>
          <a:xfrm>
            <a:off x="6350000" y="4953000"/>
            <a:ext cx="50800" cy="609600"/>
          </a:xfrm>
          <a:prstGeom prst="rect">
            <a:avLst/>
          </a:prstGeom>
          <a:solidFill>
            <a:srgbClr val="76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B35C10B-A07B-13AD-CCEA-256BAFEE63FE}"/>
              </a:ext>
            </a:extLst>
          </p:cNvPr>
          <p:cNvSpPr txBox="1"/>
          <p:nvPr/>
        </p:nvSpPr>
        <p:spPr>
          <a:xfrm>
            <a:off x="6489700" y="4927600"/>
            <a:ext cx="1765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1.00 pp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5E125A1-960F-9AE0-903F-C5A0CC229F19}"/>
              </a:ext>
            </a:extLst>
          </p:cNvPr>
          <p:cNvSpPr txBox="1"/>
          <p:nvPr/>
        </p:nvSpPr>
        <p:spPr>
          <a:xfrm>
            <a:off x="6489700" y="5295900"/>
            <a:ext cx="1765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DD baseline MAE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02817BB-9E08-3D3D-CF7C-5139D96676BE}"/>
              </a:ext>
            </a:extLst>
          </p:cNvPr>
          <p:cNvSpPr/>
          <p:nvPr/>
        </p:nvSpPr>
        <p:spPr>
          <a:xfrm>
            <a:off x="8318500" y="4953000"/>
            <a:ext cx="50800" cy="609600"/>
          </a:xfrm>
          <a:prstGeom prst="rect">
            <a:avLst/>
          </a:prstGeom>
          <a:solidFill>
            <a:srgbClr val="76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21E6AED-13FF-DD5F-255F-C07028E173CF}"/>
              </a:ext>
            </a:extLst>
          </p:cNvPr>
          <p:cNvSpPr txBox="1"/>
          <p:nvPr/>
        </p:nvSpPr>
        <p:spPr>
          <a:xfrm>
            <a:off x="8458200" y="49276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3.11 pp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D02AD4C-C572-D755-54D8-1FC5CBFAE75F}"/>
              </a:ext>
            </a:extLst>
          </p:cNvPr>
          <p:cNvSpPr txBox="1"/>
          <p:nvPr/>
        </p:nvSpPr>
        <p:spPr>
          <a:xfrm>
            <a:off x="8458200" y="52959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DM baseline MAE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7F809A4-1F5A-125D-1667-B8FA900107CD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65CB0D5-425D-48CD-1BC5-37155DDDCC56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16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CCB063F-84C2-7F58-CEEC-D000E261E39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2796202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1F0A-8D0E-091D-BE59-B334568E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6881DA-A8C3-AEC0-822A-C3C5A02216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Disturbances Change the Estimator Ranking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417018A4-7EAD-6ED3-1524-698C21CACD7D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B5F66BC-3ED3-FCE0-D1E1-1554AACEC516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544C5AA-4479-FFAA-EF9D-959F6C63C14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82587"/>
            <a:ext cx="6794500" cy="2807127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C283C56-F303-DC7D-F82A-8A65686087E4}"/>
              </a:ext>
            </a:extLst>
          </p:cNvPr>
          <p:cNvSpPr txBox="1"/>
          <p:nvPr/>
        </p:nvSpPr>
        <p:spPr>
          <a:xfrm>
            <a:off x="7620000" y="1841500"/>
            <a:ext cx="234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de-DE" sz="1600">
                <a:solidFill>
                  <a:srgbClr val="434343"/>
                </a:solidFill>
                <a:latin typeface="Arial" panose="020B0604020202020204" pitchFamily="34" charset="0"/>
              </a:rPr>
              <a:t>• Current bias: HECM strongest</a:t>
            </a:r>
          </a:p>
          <a:p>
            <a:pPr>
              <a:spcAft>
                <a:spcPts val="900"/>
              </a:spcAft>
            </a:pPr>
            <a:r>
              <a:rPr lang="de-DE" sz="1600">
                <a:solidFill>
                  <a:srgbClr val="434343"/>
                </a:solidFill>
                <a:latin typeface="Arial" panose="020B0604020202020204" pitchFamily="34" charset="0"/>
              </a:rPr>
              <a:t>• Missing samples: DD strongest</a:t>
            </a:r>
          </a:p>
          <a:p>
            <a:pPr>
              <a:spcAft>
                <a:spcPts val="900"/>
              </a:spcAft>
            </a:pPr>
            <a:r>
              <a:rPr lang="de-DE" sz="1600">
                <a:solidFill>
                  <a:srgbClr val="434343"/>
                </a:solidFill>
                <a:latin typeface="Arial" panose="020B0604020202020204" pitchFamily="34" charset="0"/>
              </a:rPr>
              <a:t>• Initialization mismatch: DD fastest strict recovery</a:t>
            </a:r>
          </a:p>
          <a:p>
            <a:pPr>
              <a:spcAft>
                <a:spcPts val="900"/>
              </a:spcAft>
            </a:pPr>
            <a:r>
              <a:rPr lang="de-DE" sz="1600">
                <a:solidFill>
                  <a:srgbClr val="434343"/>
                </a:solidFill>
                <a:latin typeface="Arial" panose="020B0604020202020204" pitchFamily="34" charset="0"/>
              </a:rPr>
              <a:t>• Noise and spikes: estimator-specific propagation paths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710A14E-7C25-CFED-3358-A2109FE5B70A}"/>
              </a:ext>
            </a:extLst>
          </p:cNvPr>
          <p:cNvSpPr/>
          <p:nvPr/>
        </p:nvSpPr>
        <p:spPr>
          <a:xfrm>
            <a:off x="7747000" y="4953000"/>
            <a:ext cx="50800" cy="609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25C1EB2-C083-35E4-F827-AC74ADB69789}"/>
              </a:ext>
            </a:extLst>
          </p:cNvPr>
          <p:cNvSpPr txBox="1"/>
          <p:nvPr/>
        </p:nvSpPr>
        <p:spPr>
          <a:xfrm>
            <a:off x="7886700" y="49276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Ranking shift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E4E15BC-EF37-A9AE-B14D-B50F6B7E9CA4}"/>
              </a:ext>
            </a:extLst>
          </p:cNvPr>
          <p:cNvSpPr txBox="1"/>
          <p:nvPr/>
        </p:nvSpPr>
        <p:spPr>
          <a:xfrm>
            <a:off x="7886700" y="52959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Fault type as decisive context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DA74EE2-5202-10AE-06C9-290451D1475E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FFFA7E2-D5F3-3040-BA10-91800437B5F6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17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DDA7AC6-E9FD-9469-ABF1-5319EC85A38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1539975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F5A68-48F0-CDC5-80A5-03EFCF69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67F736-FAB4-92AA-6810-9CBDC7EEE0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Robustness Result: No Universal Winner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A839D6DB-F986-9405-34A4-2E4163887360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156D20A-AF3C-7FE7-594F-69AD3651930A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E20C08E-FEB0-D64E-A6CA-4A17C06FB64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0388" y="1295400"/>
            <a:ext cx="9300523" cy="4318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0E7E653-4EBA-6060-18F6-7B88B8C1AB0D}"/>
              </a:ext>
            </a:extLst>
          </p:cNvPr>
          <p:cNvSpPr txBox="1"/>
          <p:nvPr/>
        </p:nvSpPr>
        <p:spPr>
          <a:xfrm>
            <a:off x="990600" y="53086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434343"/>
                </a:solidFill>
                <a:latin typeface="Arial" panose="020B0604020202020204" pitchFamily="34" charset="0"/>
              </a:rPr>
              <a:t>Selection target: acceptable accuracy, recovery, and disturbance response for the intended operating profile</a:t>
            </a:r>
            <a:endParaRPr lang="de-DE" sz="1400" b="1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79EC0C8-C6B0-480D-B5A0-ED82375BA32E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D98FCC7-04AE-12CB-EC9C-853C3A2FB935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18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B82E602-D1F1-100F-4BF0-7D4917751CE4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2591117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5A389-254B-37F4-226C-7FDD285B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597CB33-8686-DD15-3A34-CD79C98DB7EB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85E6687-9C14-BB3F-15EF-DBD010602D56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Embedded AI and Model Compression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457F3B5-CF80-55E2-5439-1D7952380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90AF2AFA-35E9-53E9-CA6F-16A5374100CD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6DEE572-E924-E464-383A-856BB6F72E8B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19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BE3789C-958D-AA63-7418-8EC70991F9E5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2829547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60B0C-C871-A687-CF85-5A5E13AA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E8DE1A-FF63-9C88-B726-96504ACE8C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Stateful Estimation from Training to STM32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DE5C857A-EC37-3B4E-A658-57B187733760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60A29A3-6577-1EF5-60DC-419C495867A9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0E2BA95-15EB-A2BF-5D62-D7522D7EA73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356647" y="1333500"/>
            <a:ext cx="5776906" cy="18415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5AB3618-D6C5-6FBF-3BA4-1E6E47AC274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648611" y="3429000"/>
            <a:ext cx="7192979" cy="19685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0A09E76-A28B-C422-3957-3F8C76329780}"/>
              </a:ext>
            </a:extLst>
          </p:cNvPr>
          <p:cNvSpPr txBox="1"/>
          <p:nvPr/>
        </p:nvSpPr>
        <p:spPr>
          <a:xfrm>
            <a:off x="889000" y="53848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434343"/>
                </a:solidFill>
                <a:latin typeface="Arial" panose="020B0604020202020204" pitchFamily="34" charset="0"/>
              </a:rPr>
              <a:t>Stateful 1 Hz replay | Explicit recurrent states | PyTorch-to-C export | STM32 measurements</a:t>
            </a:r>
            <a:endParaRPr lang="de-DE" sz="1400" b="1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ED47E3-B55D-A68A-1C95-002826FBD48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966ECB6-45A5-AB6D-90FB-E155D42DBFDF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20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5702596-A692-85CD-2DE8-2BDCC74A37C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3624224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CC4D-150B-3B84-0276-C57F871D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03A7E6-6327-C8A5-3F77-307488C530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Two Compression Routes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3A19CCEC-C778-4CE1-72CE-03424BED9BD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D3B75C3-780F-679C-C00E-473D4EDFC907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42ECB7D-C2BB-0C65-26C1-EAA424A401F7}"/>
              </a:ext>
            </a:extLst>
          </p:cNvPr>
          <p:cNvSpPr/>
          <p:nvPr/>
        </p:nvSpPr>
        <p:spPr>
          <a:xfrm>
            <a:off x="571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D466D5F-187F-8FD7-132B-46E965FAD991}"/>
              </a:ext>
            </a:extLst>
          </p:cNvPr>
          <p:cNvSpPr txBox="1"/>
          <p:nvPr/>
        </p:nvSpPr>
        <p:spPr>
          <a:xfrm>
            <a:off x="571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Structured pruning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A6614F-41E7-ED10-A1F1-6F5ADFCE8DA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88692"/>
            <a:ext cx="4445000" cy="1940916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FFDA0B0-0550-F519-2B53-5EAE10CF2214}"/>
              </a:ext>
            </a:extLst>
          </p:cNvPr>
          <p:cNvSpPr txBox="1"/>
          <p:nvPr/>
        </p:nvSpPr>
        <p:spPr>
          <a:xfrm>
            <a:off x="698500" y="4978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"/>
              </a:spcAft>
            </a:pPr>
            <a:r>
              <a:rPr lang="de-DE" sz="1400">
                <a:solidFill>
                  <a:srgbClr val="434343"/>
                </a:solidFill>
                <a:latin typeface="Arial" panose="020B0604020202020204" pitchFamily="34" charset="0"/>
              </a:rPr>
              <a:t>• 30% hidden-channel reduction</a:t>
            </a:r>
          </a:p>
          <a:p>
            <a:pPr>
              <a:spcAft>
                <a:spcPts val="100"/>
              </a:spcAft>
            </a:pPr>
            <a:r>
              <a:rPr lang="de-DE" sz="1400">
                <a:solidFill>
                  <a:srgbClr val="434343"/>
                </a:solidFill>
                <a:latin typeface="Arial" panose="020B0604020202020204" pitchFamily="34" charset="0"/>
              </a:rPr>
              <a:t>• Smaller dense tensors</a:t>
            </a:r>
          </a:p>
          <a:p>
            <a:pPr>
              <a:spcAft>
                <a:spcPts val="100"/>
              </a:spcAft>
            </a:pPr>
            <a:r>
              <a:rPr lang="de-DE" sz="1400">
                <a:solidFill>
                  <a:srgbClr val="434343"/>
                </a:solidFill>
                <a:latin typeface="Arial" panose="020B0604020202020204" pitchFamily="34" charset="0"/>
              </a:rPr>
              <a:t>• Post-pruning fine-tuning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36DCF1B-F448-1DE8-50BC-DCEB8EAF82D4}"/>
              </a:ext>
            </a:extLst>
          </p:cNvPr>
          <p:cNvSpPr/>
          <p:nvPr/>
        </p:nvSpPr>
        <p:spPr>
          <a:xfrm>
            <a:off x="5397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F6928C3-F4EE-97BC-0335-092EACF5DD05}"/>
              </a:ext>
            </a:extLst>
          </p:cNvPr>
          <p:cNvSpPr txBox="1"/>
          <p:nvPr/>
        </p:nvSpPr>
        <p:spPr>
          <a:xfrm>
            <a:off x="5397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INT8 weight quantization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C871387E-DC6A-C3DB-58CE-948472A1D87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0" y="2487030"/>
            <a:ext cx="4445000" cy="174424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CD09F883-DB36-382E-0B95-55185F4E9007}"/>
              </a:ext>
            </a:extLst>
          </p:cNvPr>
          <p:cNvSpPr txBox="1"/>
          <p:nvPr/>
        </p:nvSpPr>
        <p:spPr>
          <a:xfrm>
            <a:off x="5524500" y="4978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Row-wise signed symmetric mapping</a:t>
            </a:r>
          </a:p>
          <a:p>
            <a:pPr>
              <a:spcAft>
                <a:spcPts val="1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Recurrent weights in INT8</a:t>
            </a:r>
          </a:p>
          <a:p>
            <a:pPr>
              <a:spcAft>
                <a:spcPts val="100"/>
              </a:spcAft>
            </a:pPr>
            <a:r>
              <a:rPr lang="en-US" sz="1400">
                <a:solidFill>
                  <a:srgbClr val="434343"/>
                </a:solidFill>
                <a:latin typeface="Arial" panose="020B0604020202020204" pitchFamily="34" charset="0"/>
              </a:rPr>
              <a:t>• Scales, states, and MLP in FP32</a:t>
            </a:r>
            <a:endParaRPr lang="de-DE" sz="14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1638393-3042-D972-7694-CDD6FF5F03C1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A287BBC-6D51-C05B-7834-56705204966F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21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F869789-1610-14F3-CE99-50054276A575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901727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37D84-BBFA-AD79-B730-06D74EC4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F35182-9201-0B78-0622-8B79FC3985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Accuracy and Long-Horizon Stability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F862DF6E-8651-56D5-E206-7B60A9836390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AD339FC-E7AE-9D77-801F-0BFFB235C813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DED56CD-3258-7637-5449-71CA7392E3D2}"/>
              </a:ext>
            </a:extLst>
          </p:cNvPr>
          <p:cNvSpPr/>
          <p:nvPr/>
        </p:nvSpPr>
        <p:spPr>
          <a:xfrm>
            <a:off x="533400" y="1612900"/>
            <a:ext cx="514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7A80BB5-C97C-2342-43CB-9A3EBE55FFE7}"/>
              </a:ext>
            </a:extLst>
          </p:cNvPr>
          <p:cNvSpPr txBox="1"/>
          <p:nvPr/>
        </p:nvSpPr>
        <p:spPr>
          <a:xfrm>
            <a:off x="533400" y="13081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SOC streaming replay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BAFA36E-B9B3-0085-92C3-2F3B835AA14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09750"/>
            <a:ext cx="5143500" cy="3429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D944124-DC6E-010F-281E-78AECC042900}"/>
              </a:ext>
            </a:extLst>
          </p:cNvPr>
          <p:cNvSpPr/>
          <p:nvPr/>
        </p:nvSpPr>
        <p:spPr>
          <a:xfrm>
            <a:off x="6032500" y="1612900"/>
            <a:ext cx="387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6F8EB31-5032-2AE1-2597-71F6BC216F03}"/>
              </a:ext>
            </a:extLst>
          </p:cNvPr>
          <p:cNvSpPr txBox="1"/>
          <p:nvPr/>
        </p:nvSpPr>
        <p:spPr>
          <a:xfrm>
            <a:off x="6032500" y="1308100"/>
            <a:ext cx="387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SOH streaming replay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5FFF200-2D8C-EC83-24D3-089A46F68B8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987550"/>
            <a:ext cx="3873500" cy="15494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48519E6-9D21-98F8-BCC1-89517AEFD537}"/>
              </a:ext>
            </a:extLst>
          </p:cNvPr>
          <p:cNvSpPr txBox="1"/>
          <p:nvPr/>
        </p:nvSpPr>
        <p:spPr>
          <a:xfrm>
            <a:off x="6286500" y="40005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de-DE" sz="1500">
                <a:solidFill>
                  <a:srgbClr val="434343"/>
                </a:solidFill>
                <a:latin typeface="Arial" panose="020B0604020202020204" pitchFamily="34" charset="0"/>
              </a:rPr>
              <a:t>• SOC MAE: 2.68 / 2.34 / 2.79 pp</a:t>
            </a:r>
          </a:p>
          <a:p>
            <a:pPr>
              <a:spcAft>
                <a:spcPts val="400"/>
              </a:spcAft>
            </a:pPr>
            <a:r>
              <a:rPr lang="de-DE" sz="1500">
                <a:solidFill>
                  <a:srgbClr val="434343"/>
                </a:solidFill>
                <a:latin typeface="Arial" panose="020B0604020202020204" pitchFamily="34" charset="0"/>
              </a:rPr>
              <a:t>• SOH MAE: 0.85 / 1.46 / 1.41 pp</a:t>
            </a:r>
          </a:p>
          <a:p>
            <a:pPr>
              <a:spcAft>
                <a:spcPts val="400"/>
              </a:spcAft>
            </a:pPr>
            <a:r>
              <a:rPr lang="de-DE" sz="1500">
                <a:solidFill>
                  <a:srgbClr val="434343"/>
                </a:solidFill>
                <a:latin typeface="Arial" panose="020B0604020202020204" pitchFamily="34" charset="0"/>
              </a:rPr>
              <a:t>• Order: Base / Pruned / Quantized</a:t>
            </a:r>
          </a:p>
          <a:p>
            <a:pPr>
              <a:spcAft>
                <a:spcPts val="400"/>
              </a:spcAft>
            </a:pPr>
            <a:r>
              <a:rPr lang="de-DE" sz="1500">
                <a:solidFill>
                  <a:srgbClr val="434343"/>
                </a:solidFill>
                <a:latin typeface="Arial" panose="020B0604020202020204" pitchFamily="34" charset="0"/>
              </a:rPr>
              <a:t>• No increasing Quantized-to-Base divergence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67C10DF-BCE7-90F3-FD07-212339868AC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8EF6CEA-7D18-8A74-303E-8D45B2734D4E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EE03BC7-5887-1C88-766B-65B195BA435B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860584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A445F-160D-8F8C-62FC-E23F7E2C0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544E0C-AADA-1E70-5AA1-39C336E0D5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Resource, Latency, and Utility Trade-Offs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4373BF85-6E08-A9C9-C63E-259838BE946D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2013184-4130-F71A-D794-072AA7D72DF5}"/>
              </a:ext>
            </a:extLst>
          </p:cNvPr>
          <p:cNvSpPr/>
          <p:nvPr/>
        </p:nvSpPr>
        <p:spPr>
          <a:xfrm>
            <a:off x="10350587" y="1483912"/>
            <a:ext cx="2215581" cy="2564420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200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B08B496-33D3-DD05-B920-8E9953C4B01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70000"/>
            <a:ext cx="6223000" cy="4445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D494936-DC0A-24B8-FEBE-85F8AEC5B810}"/>
              </a:ext>
            </a:extLst>
          </p:cNvPr>
          <p:cNvSpPr/>
          <p:nvPr/>
        </p:nvSpPr>
        <p:spPr>
          <a:xfrm>
            <a:off x="7175500" y="1676400"/>
            <a:ext cx="2730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804B1AE-C669-21E5-FB61-9F440BE003F8}"/>
              </a:ext>
            </a:extLst>
          </p:cNvPr>
          <p:cNvSpPr txBox="1"/>
          <p:nvPr/>
        </p:nvSpPr>
        <p:spPr>
          <a:xfrm>
            <a:off x="7175500" y="13716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SOC operating points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A23A8D2-9FFA-E06D-A4FB-0388233C0E7A}"/>
              </a:ext>
            </a:extLst>
          </p:cNvPr>
          <p:cNvSpPr txBox="1"/>
          <p:nvPr/>
        </p:nvSpPr>
        <p:spPr>
          <a:xfrm>
            <a:off x="7175500" y="19050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500">
                <a:solidFill>
                  <a:srgbClr val="434343"/>
                </a:solidFill>
                <a:latin typeface="Arial" panose="020B0604020202020204" pitchFamily="34" charset="0"/>
              </a:rPr>
              <a:t>• Pruned: -41% flash, -43% kernel time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434343"/>
                </a:solidFill>
                <a:latin typeface="Arial" panose="020B0604020202020204" pitchFamily="34" charset="0"/>
              </a:rPr>
              <a:t>• Quantized: -50% flash, +399% kernel time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434343"/>
                </a:solidFill>
                <a:latin typeface="Arial" panose="020B0604020202020204" pitchFamily="34" charset="0"/>
              </a:rPr>
              <a:t>• Utility: 0.71 Pruned / 1.83 Quantized</a:t>
            </a:r>
            <a:endParaRPr lang="de-DE" sz="15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3856DC6-278E-5F92-0014-A654DE1B6E34}"/>
              </a:ext>
            </a:extLst>
          </p:cNvPr>
          <p:cNvSpPr/>
          <p:nvPr/>
        </p:nvSpPr>
        <p:spPr>
          <a:xfrm>
            <a:off x="7175500" y="4013200"/>
            <a:ext cx="2730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435076C-8D77-C828-974A-745DEDDEA05A}"/>
              </a:ext>
            </a:extLst>
          </p:cNvPr>
          <p:cNvSpPr txBox="1"/>
          <p:nvPr/>
        </p:nvSpPr>
        <p:spPr>
          <a:xfrm>
            <a:off x="7175500" y="37084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SOH operating points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A9FF5F0-E181-8A74-9F62-D4C7CF723A33}"/>
              </a:ext>
            </a:extLst>
          </p:cNvPr>
          <p:cNvSpPr txBox="1"/>
          <p:nvPr/>
        </p:nvSpPr>
        <p:spPr>
          <a:xfrm>
            <a:off x="7175500" y="42418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sz="1500">
                <a:solidFill>
                  <a:srgbClr val="434343"/>
                </a:solidFill>
                <a:latin typeface="Arial" panose="020B0604020202020204" pitchFamily="34" charset="0"/>
              </a:rPr>
              <a:t>• Pruned: -46% flash, -44% kernel time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434343"/>
                </a:solidFill>
                <a:latin typeface="Arial" panose="020B0604020202020204" pitchFamily="34" charset="0"/>
              </a:rPr>
              <a:t>• Quantized: -59% flash, +29% kernel time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434343"/>
                </a:solidFill>
                <a:latin typeface="Arial" panose="020B0604020202020204" pitchFamily="34" charset="0"/>
              </a:rPr>
              <a:t>• Constraint-dependent optimum</a:t>
            </a:r>
            <a:endParaRPr lang="de-DE" sz="15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3B12DF0-AF25-85FB-7E18-E96EFB19A32A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D935DB7-FC54-0FD8-D6D4-DB669A3A75BE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B22F535-7A2D-2D6A-E034-878B02BBE61D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1914741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7244-1EB3-260F-DD4E-F27170556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E9CCC45-80C3-E53B-3602-824F90E89065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0D67DEA-9359-5A7F-AA75-A97B54764F10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Integrated Findings and Outlook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19A3D5-49E0-06C9-5CFF-2D00E440C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0706271-0118-E547-DC24-E639070C740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C6EA4A4-ECCC-C38F-23B9-17AB2C751064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5BD1CE6-EB10-1DC6-CE31-EA5A1632A8C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3317310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D160B-33AD-61BE-6876-54FCA28E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CEED86-23FF-35D2-48C1-D00CF26B74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Integrated Findings Across the Three Studies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3E7C8BA0-2646-C91D-4B3E-BB8CC4BD542F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064889-6DC8-F5C6-BE3B-97FAED9E52CF}"/>
              </a:ext>
            </a:extLst>
          </p:cNvPr>
          <p:cNvSpPr/>
          <p:nvPr/>
        </p:nvSpPr>
        <p:spPr>
          <a:xfrm>
            <a:off x="10350587" y="1483912"/>
            <a:ext cx="2215581" cy="2547108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600" b="1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7593C8F-8EB5-3133-191D-D2288DBE73C4}"/>
              </a:ext>
            </a:extLst>
          </p:cNvPr>
          <p:cNvSpPr/>
          <p:nvPr/>
        </p:nvSpPr>
        <p:spPr>
          <a:xfrm>
            <a:off x="609600" y="17145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D607840-C71F-D7F4-9F9F-06AD89F42A4F}"/>
              </a:ext>
            </a:extLst>
          </p:cNvPr>
          <p:cNvSpPr/>
          <p:nvPr/>
        </p:nvSpPr>
        <p:spPr>
          <a:xfrm>
            <a:off x="762000" y="1866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E01FFD3-48F6-ED2B-4B66-310BCDFE6C4B}"/>
              </a:ext>
            </a:extLst>
          </p:cNvPr>
          <p:cNvSpPr txBox="1"/>
          <p:nvPr/>
        </p:nvSpPr>
        <p:spPr>
          <a:xfrm>
            <a:off x="1308100" y="19177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434343"/>
                </a:solidFill>
                <a:latin typeface="Arial" panose="020B0604020202020204" pitchFamily="34" charset="0"/>
              </a:rPr>
              <a:t>Representation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98F8F90-3392-69CF-75A8-022EEFE448C8}"/>
              </a:ext>
            </a:extLst>
          </p:cNvPr>
          <p:cNvSpPr txBox="1"/>
          <p:nvPr/>
        </p:nvSpPr>
        <p:spPr>
          <a:xfrm>
            <a:off x="812800" y="24511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767171"/>
                </a:solidFill>
                <a:latin typeface="Arial" panose="020B0604020202020204" pitchFamily="34" charset="0"/>
              </a:rPr>
              <a:t>Cumulative-current and lag features enable compact ageing estimation</a:t>
            </a:r>
            <a:endParaRPr lang="de-DE" sz="130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A04A3A-B593-5E1A-10FA-8B097645F38B}"/>
              </a:ext>
            </a:extLst>
          </p:cNvPr>
          <p:cNvSpPr/>
          <p:nvPr/>
        </p:nvSpPr>
        <p:spPr>
          <a:xfrm>
            <a:off x="3873500" y="17145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58499D7-A521-DB8A-97A8-8C31BC7FF338}"/>
              </a:ext>
            </a:extLst>
          </p:cNvPr>
          <p:cNvSpPr/>
          <p:nvPr/>
        </p:nvSpPr>
        <p:spPr>
          <a:xfrm>
            <a:off x="4025900" y="1866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81D4309-8023-0F8F-51C4-3BAB9172B843}"/>
              </a:ext>
            </a:extLst>
          </p:cNvPr>
          <p:cNvSpPr txBox="1"/>
          <p:nvPr/>
        </p:nvSpPr>
        <p:spPr>
          <a:xfrm>
            <a:off x="4572000" y="19177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434343"/>
                </a:solidFill>
                <a:latin typeface="Arial" panose="020B0604020202020204" pitchFamily="34" charset="0"/>
              </a:rPr>
              <a:t>Validation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141A6F2-F7B6-A848-CCE2-FEE69B3B267C}"/>
              </a:ext>
            </a:extLst>
          </p:cNvPr>
          <p:cNvSpPr txBox="1"/>
          <p:nvPr/>
        </p:nvSpPr>
        <p:spPr>
          <a:xfrm>
            <a:off x="4076700" y="24511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767171"/>
                </a:solidFill>
                <a:latin typeface="Arial" panose="020B0604020202020204" pitchFamily="34" charset="0"/>
              </a:rPr>
              <a:t>Nominal accuracy, recovery, and disturbances require separate evidence</a:t>
            </a:r>
            <a:endParaRPr lang="de-DE" sz="130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59E9ECF-B01D-D71E-678B-3C4E87C928E9}"/>
              </a:ext>
            </a:extLst>
          </p:cNvPr>
          <p:cNvSpPr/>
          <p:nvPr/>
        </p:nvSpPr>
        <p:spPr>
          <a:xfrm>
            <a:off x="7137400" y="1714500"/>
            <a:ext cx="2844800" cy="14224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084E992-78D2-0151-21CD-842DC90CA284}"/>
              </a:ext>
            </a:extLst>
          </p:cNvPr>
          <p:cNvSpPr/>
          <p:nvPr/>
        </p:nvSpPr>
        <p:spPr>
          <a:xfrm>
            <a:off x="7289800" y="1866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9AFB695-9B3F-6854-C593-679B4EEB660D}"/>
              </a:ext>
            </a:extLst>
          </p:cNvPr>
          <p:cNvSpPr txBox="1"/>
          <p:nvPr/>
        </p:nvSpPr>
        <p:spPr>
          <a:xfrm>
            <a:off x="7835900" y="19177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434343"/>
                </a:solidFill>
                <a:latin typeface="Arial" panose="020B0604020202020204" pitchFamily="34" charset="0"/>
              </a:rPr>
              <a:t>Implementation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E5DE110-534B-F8A0-33EC-1DC0D679F3E5}"/>
              </a:ext>
            </a:extLst>
          </p:cNvPr>
          <p:cNvSpPr txBox="1"/>
          <p:nvPr/>
        </p:nvSpPr>
        <p:spPr>
          <a:xfrm>
            <a:off x="7340600" y="24511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767171"/>
                </a:solidFill>
                <a:latin typeface="Arial" panose="020B0604020202020204" pitchFamily="34" charset="0"/>
              </a:rPr>
              <a:t>Compression choice depends on the active hardware constraint</a:t>
            </a:r>
            <a:endParaRPr lang="de-DE" sz="130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C02B8A5-7516-FD4B-E175-9AFFA811F716}"/>
              </a:ext>
            </a:extLst>
          </p:cNvPr>
          <p:cNvSpPr txBox="1"/>
          <p:nvPr/>
        </p:nvSpPr>
        <p:spPr>
          <a:xfrm>
            <a:off x="1016000" y="38100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Model class alone does not determine deployment suitability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Feature pipeline, estimator, compression, firmware, and hardware as one design system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Transferable evaluation logic instead of one universal estimator ranking</a:t>
            </a:r>
            <a:endParaRPr lang="de-DE" sz="17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DE415A8-DE77-6EBB-B62C-6FFBB2CB9F22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08D40FC-E3EC-BFF6-7BEC-28B0DE4D55C6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3FA01DD-9FB9-8269-949D-F0D14C027A1E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2345765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9A227-B860-BE29-6F76-09266E7C7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3D8C01-0573-5E77-216E-5D6D4B9CFA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Design Rules, Limitations, and Outlook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F4DE2228-4AA4-AE10-56EC-0B51A55A4AC0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3828809-1F0E-44B6-9B6B-E0A2F179883D}"/>
              </a:ext>
            </a:extLst>
          </p:cNvPr>
          <p:cNvSpPr/>
          <p:nvPr/>
        </p:nvSpPr>
        <p:spPr>
          <a:xfrm>
            <a:off x="10350587" y="1483912"/>
            <a:ext cx="2215581" cy="2547108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2. Framework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3. Ageing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4. Robustness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200">
                <a:solidFill>
                  <a:srgbClr val="767171"/>
                </a:solidFill>
                <a:latin typeface="Calibri" panose="020F0502020204030204" pitchFamily="34" charset="0"/>
              </a:rPr>
              <a:t>5.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600" b="1">
                <a:solidFill>
                  <a:srgbClr val="767171"/>
                </a:solidFill>
                <a:latin typeface="Calibri" panose="020F0502020204030204" pitchFamily="34" charset="0"/>
              </a:rPr>
              <a:t>6. Synthesis</a:t>
            </a:r>
            <a:endParaRPr lang="de-DE" sz="1600" b="1" dirty="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E5DC4D8-A937-E2B7-2B02-47451AF4165A}"/>
              </a:ext>
            </a:extLst>
          </p:cNvPr>
          <p:cNvSpPr/>
          <p:nvPr/>
        </p:nvSpPr>
        <p:spPr>
          <a:xfrm>
            <a:off x="698500" y="1727200"/>
            <a:ext cx="4127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FAEA64F-9F0F-E268-064F-0E6DC828893A}"/>
              </a:ext>
            </a:extLst>
          </p:cNvPr>
          <p:cNvSpPr txBox="1"/>
          <p:nvPr/>
        </p:nvSpPr>
        <p:spPr>
          <a:xfrm>
            <a:off x="698500" y="1422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Design rules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5919817-3D3D-D149-D50D-6B2243C42AAE}"/>
              </a:ext>
            </a:extLst>
          </p:cNvPr>
          <p:cNvSpPr txBox="1"/>
          <p:nvPr/>
        </p:nvSpPr>
        <p:spPr>
          <a:xfrm>
            <a:off x="698500" y="19939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Representative features before model complexity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Disturbance testing beyond clean MAE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Compression matched to flash, RAM, or latency bottleneck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Target-hardware validation before deployment</a:t>
            </a:r>
            <a:endParaRPr lang="de-DE" sz="17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D38520E-E03B-B78E-1E7E-4544788222F3}"/>
              </a:ext>
            </a:extLst>
          </p:cNvPr>
          <p:cNvSpPr/>
          <p:nvPr/>
        </p:nvSpPr>
        <p:spPr>
          <a:xfrm>
            <a:off x="5651500" y="1727200"/>
            <a:ext cx="4191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8F363E1-AF1B-E877-76F0-9CAC5376D454}"/>
              </a:ext>
            </a:extLst>
          </p:cNvPr>
          <p:cNvSpPr txBox="1"/>
          <p:nvPr/>
        </p:nvSpPr>
        <p:spPr>
          <a:xfrm>
            <a:off x="5651500" y="1422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Next steps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459B2E4-E374-AE5D-031A-DDEA495B4AAB}"/>
              </a:ext>
            </a:extLst>
          </p:cNvPr>
          <p:cNvSpPr txBox="1"/>
          <p:nvPr/>
        </p:nvSpPr>
        <p:spPr>
          <a:xfrm>
            <a:off x="5651500" y="1993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Additional cells, chemistries, and operating profiles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Live disturbance injection in firmware and sensing chain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Joint pruning and quantization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434343"/>
                </a:solidFill>
                <a:latin typeface="Arial" panose="020B0604020202020204" pitchFamily="34" charset="0"/>
              </a:rPr>
              <a:t>• Larger packs and longer autonomous operation</a:t>
            </a:r>
            <a:endParaRPr lang="de-DE" sz="1700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235ED4A-B1E4-A80C-A06D-715CA71CC3F3}"/>
              </a:ext>
            </a:extLst>
          </p:cNvPr>
          <p:cNvSpPr/>
          <p:nvPr/>
        </p:nvSpPr>
        <p:spPr>
          <a:xfrm>
            <a:off x="3683000" y="5143500"/>
            <a:ext cx="50800" cy="609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46BBDB1-345A-F103-1ABE-334848967199}"/>
              </a:ext>
            </a:extLst>
          </p:cNvPr>
          <p:cNvSpPr txBox="1"/>
          <p:nvPr/>
        </p:nvSpPr>
        <p:spPr>
          <a:xfrm>
            <a:off x="3822700" y="5118100"/>
            <a:ext cx="3416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Main conclusion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0C7BB21-856C-F239-5F5C-4ADCC76F2238}"/>
              </a:ext>
            </a:extLst>
          </p:cNvPr>
          <p:cNvSpPr txBox="1"/>
          <p:nvPr/>
        </p:nvSpPr>
        <p:spPr>
          <a:xfrm>
            <a:off x="3822700" y="5486400"/>
            <a:ext cx="3416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767171"/>
                </a:solidFill>
                <a:latin typeface="Arial" panose="020B0604020202020204" pitchFamily="34" charset="0"/>
              </a:rPr>
              <a:t>Deployment readiness as a system property</a:t>
            </a:r>
            <a:endParaRPr lang="de-DE" sz="120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FDEA262-206C-6406-B2F7-783D0C289732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1FE749E-6AE9-106D-20E7-1C01A6E4671F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26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85A4A43-E142-62BD-90C9-7F0D30C8B8E7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4189712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C85B0-1953-201C-FD1F-EDB49DD2E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0750024-19DD-9CE2-1F37-DE4DAE2E332A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8577FB2-C4AD-D1BB-8316-59A176381FBA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Thank You | Questions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4F287B7-FC90-B349-103D-D53E2F075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C6E781E4-A748-F944-4835-C16409C51472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5624329-A3DC-E4EB-9F3A-8A3150C48B54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27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F1E54A0-4F62-3033-4A9F-0576771380AC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Doctoral Defense | 2026</a:t>
            </a:r>
          </a:p>
        </p:txBody>
      </p:sp>
    </p:spTree>
    <p:extLst>
      <p:ext uri="{BB962C8B-B14F-4D97-AF65-F5344CB8AC3E}">
        <p14:creationId xmlns:p14="http://schemas.microsoft.com/office/powerpoint/2010/main" val="12991454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heme/theme1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T_Master.pptx" id="{9E64158D-9991-4F76-B6D4-8CD845D898ED}" vid="{2BE3AA34-AB6A-4E14-AC19-13E0943D1B5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Diss_FR_220325</Template>
  <TotalTime>0</TotalTime>
  <Words>1452</Words>
  <Application>Microsoft Office PowerPoint</Application>
  <PresentationFormat>Breitbild</PresentationFormat>
  <Paragraphs>318</Paragraphs>
  <Slides>27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2" baseType="lpstr">
      <vt:lpstr>Arial</vt:lpstr>
      <vt:lpstr>Calibri</vt:lpstr>
      <vt:lpstr>Symbol</vt:lpstr>
      <vt:lpstr>Wingdings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</dc:creator>
  <cp:lastModifiedBy>TU-Pseudonym 0562860610859421</cp:lastModifiedBy>
  <cp:revision>148</cp:revision>
  <cp:lastPrinted>2021-03-24T16:10:50Z</cp:lastPrinted>
  <dcterms:created xsi:type="dcterms:W3CDTF">2025-03-28T09:19:50Z</dcterms:created>
  <dcterms:modified xsi:type="dcterms:W3CDTF">2026-08-14T09:22:27Z</dcterms:modified>
</cp:coreProperties>
</file>