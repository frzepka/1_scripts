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da186e6379c46d0" /><Relationship Type="http://schemas.openxmlformats.org/officeDocument/2006/relationships/extended-properties" Target="/docProps/app.xml" Id="R664fcdd240064148" /><Relationship Type="http://schemas.openxmlformats.org/officeDocument/2006/relationships/officeDocument" Target="/ppt/presentation.xml" Id="R07cece14fd954fb7" /></Relationships>
</file>

<file path=ppt/presentation.xml><?xml version="1.0" encoding="utf-8"?>
<p:presentation xmlns:p="http://schemas.openxmlformats.org/presentationml/2006/main">
  <p:sldMasterIdLst>
    <p:sldMasterId xmlns:r="http://schemas.openxmlformats.org/officeDocument/2006/relationships" id="2147483648" r:id="Rdbaf3b256a594232"/>
  </p:sldMasterIdLst>
  <p:notesMasterIdLst>
    <p:notesMasterId xmlns:r="http://schemas.openxmlformats.org/officeDocument/2006/relationships" r:id="Rd2786918e7694da8"/>
  </p:notesMasterIdLst>
  <p:sldIdLst>
    <p:sldId xmlns:r="http://schemas.openxmlformats.org/officeDocument/2006/relationships" id="256" r:id="R85de8aa1874145f5"/>
    <p:sldId xmlns:r="http://schemas.openxmlformats.org/officeDocument/2006/relationships" id="257" r:id="R402090ea30034f29"/>
    <p:sldId xmlns:r="http://schemas.openxmlformats.org/officeDocument/2006/relationships" id="258" r:id="R3b7067df93d34a0b"/>
    <p:sldId xmlns:r="http://schemas.openxmlformats.org/officeDocument/2006/relationships" id="259" r:id="Rf34f76c07643413b"/>
    <p:sldId xmlns:r="http://schemas.openxmlformats.org/officeDocument/2006/relationships" id="260" r:id="R248730b02b63404a"/>
    <p:sldId xmlns:r="http://schemas.openxmlformats.org/officeDocument/2006/relationships" id="261" r:id="R89844bad9bec4ea0"/>
    <p:sldId xmlns:r="http://schemas.openxmlformats.org/officeDocument/2006/relationships" id="262" r:id="Raf9d32238cf04c9b"/>
    <p:sldId xmlns:r="http://schemas.openxmlformats.org/officeDocument/2006/relationships" id="263" r:id="R39f178c4462a4aa5"/>
    <p:sldId xmlns:r="http://schemas.openxmlformats.org/officeDocument/2006/relationships" id="264" r:id="Rac94a1ec17f2447e"/>
    <p:sldId xmlns:r="http://schemas.openxmlformats.org/officeDocument/2006/relationships" id="265" r:id="Rae50a5f0303e4b0f"/>
    <p:sldId xmlns:r="http://schemas.openxmlformats.org/officeDocument/2006/relationships" id="266" r:id="R1991bb332fa145b9"/>
    <p:sldId xmlns:r="http://schemas.openxmlformats.org/officeDocument/2006/relationships" id="267" r:id="R6e583e15cb924459"/>
    <p:sldId xmlns:r="http://schemas.openxmlformats.org/officeDocument/2006/relationships" id="268" r:id="Re3d91fadc6f14644"/>
    <p:sldId xmlns:r="http://schemas.openxmlformats.org/officeDocument/2006/relationships" id="269" r:id="Rcaa9e72dba5e4e42"/>
    <p:sldId xmlns:r="http://schemas.openxmlformats.org/officeDocument/2006/relationships" id="270" r:id="R0927e648779747c1"/>
    <p:sldId xmlns:r="http://schemas.openxmlformats.org/officeDocument/2006/relationships" id="271" r:id="Rb6b354fef7dc4ed2"/>
    <p:sldId xmlns:ns1="http://schemas.openxmlformats.org/officeDocument/2006/relationships" id="301" ns1:id="rIdBenchmark46"/>
    <p:sldId xmlns:ns1="http://schemas.openxmlformats.org/officeDocument/2006/relationships" id="302" ns1:id="rIdBenchmark47"/>
    <p:sldId xmlns:ns1="http://schemas.openxmlformats.org/officeDocument/2006/relationships" id="303" ns1:id="rIdBenchmark48"/>
    <p:sldId xmlns:ns1="http://schemas.openxmlformats.org/officeDocument/2006/relationships" id="304" ns1:id="rIdBenchmark49"/>
    <p:sldId xmlns:r="http://schemas.openxmlformats.org/officeDocument/2006/relationships" id="272" r:id="R81c83d4b28724fd4"/>
    <p:sldId xmlns:ns1="http://schemas.openxmlformats.org/officeDocument/2006/relationships" id="305" ns1:id="rIdDisturbanceView50"/>
    <p:sldId xmlns:ns1="http://schemas.openxmlformats.org/officeDocument/2006/relationships" id="306" ns1:id="rIdDisturbanceView51"/>
    <p:sldId xmlns:ns1="http://schemas.openxmlformats.org/officeDocument/2006/relationships" id="307" ns1:id="rIdDisturbanceView52"/>
    <p:sldId xmlns:r="http://schemas.openxmlformats.org/officeDocument/2006/relationships" id="273" r:id="R127f4d6a16b84525"/>
    <p:sldId xmlns:r="http://schemas.openxmlformats.org/officeDocument/2006/relationships" id="274" r:id="Re893e3c3134749e9"/>
    <p:sldId xmlns:r="http://schemas.openxmlformats.org/officeDocument/2006/relationships" id="275" r:id="R79ef25b06c65420c"/>
    <p:sldId xmlns:r="http://schemas.openxmlformats.org/officeDocument/2006/relationships" id="276" r:id="R57738c4c8d2143cc"/>
    <p:sldId xmlns:r="http://schemas.openxmlformats.org/officeDocument/2006/relationships" id="277" r:id="Rbd9e5a80c8a84d7b"/>
    <p:sldId xmlns:r="http://schemas.openxmlformats.org/officeDocument/2006/relationships" id="278" r:id="R042881e6648d4614"/>
    <p:sldId xmlns:r="http://schemas.openxmlformats.org/officeDocument/2006/relationships" id="280" r:id="R94f82402969346c1"/>
    <p:sldId xmlns:r="http://schemas.openxmlformats.org/officeDocument/2006/relationships" id="282" r:id="Re090cba35cc4457c"/>
    <p:sldId xmlns:ns1="http://schemas.openxmlformats.org/officeDocument/2006/relationships" id="308" ns1:id="rIdParameterView53"/>
    <p:sldId xmlns:ns1="http://schemas.openxmlformats.org/officeDocument/2006/relationships" id="309" ns1:id="rIdParameterView54"/>
    <p:sldId xmlns:r="http://schemas.openxmlformats.org/officeDocument/2006/relationships" id="283" r:id="R5655eaf81b384256"/>
    <p:sldId xmlns:r="http://schemas.openxmlformats.org/officeDocument/2006/relationships" id="284" r:id="R41643666070a4eab"/>
    <p:sldId xmlns:r="http://schemas.openxmlformats.org/officeDocument/2006/relationships" id="285" r:id="R56b4c7ac4df74cbc"/>
    <p:sldId xmlns:r="http://schemas.openxmlformats.org/officeDocument/2006/relationships" id="286" r:id="Rda0531f86d1c4ba6"/>
    <p:sldId xmlns:r="http://schemas.openxmlformats.org/officeDocument/2006/relationships" id="287" r:id="R145016236c944f7e"/>
    <p:sldId xmlns:r="http://schemas.openxmlformats.org/officeDocument/2006/relationships" id="289" r:id="R2317cb4239a14fbc"/>
    <p:sldId xmlns:r="http://schemas.openxmlformats.org/officeDocument/2006/relationships" id="290" r:id="R4939a4e825214037"/>
    <p:sldId xmlns:ns1="http://schemas.openxmlformats.org/officeDocument/2006/relationships" id="314" ns1:id="rIdLatencyView59"/>
    <p:sldId xmlns:r="http://schemas.openxmlformats.org/officeDocument/2006/relationships" id="292" r:id="R15ab5d7e8a9c4618"/>
    <p:sldId xmlns:r="http://schemas.openxmlformats.org/officeDocument/2006/relationships" id="293" r:id="R4b18c11704744f08"/>
    <p:sldId xmlns:r="http://schemas.openxmlformats.org/officeDocument/2006/relationships" id="294" r:id="Rc1866bbe160e4e40"/>
    <p:sldId xmlns:r="http://schemas.openxmlformats.org/officeDocument/2006/relationships" id="295" r:id="R0be83803769f4f36"/>
    <p:sldId xmlns:r="http://schemas.openxmlformats.org/officeDocument/2006/relationships" id="296" r:id="R4ea9ab07d5cb4e2f"/>
    <p:sldId xmlns:r="http://schemas.openxmlformats.org/officeDocument/2006/relationships" id="297" r:id="R874628a02d5c49b1"/>
    <p:sldId xmlns:r="http://schemas.openxmlformats.org/officeDocument/2006/relationships" id="298" r:id="R0b8d1225fe214d84"/>
    <p:sldId xmlns:r="http://schemas.openxmlformats.org/officeDocument/2006/relationships" id="299" r:id="R16bc1a8ff9ae4f50"/>
    <p:sldId xmlns:r="http://schemas.openxmlformats.org/officeDocument/2006/relationships" id="300" r:id="R49b3fb13d03b414e"/>
    <p:sldId xmlns:r="http://schemas.openxmlformats.org/officeDocument/2006/relationships" id="279" r:id="R45ccf28ec7504ca7"/>
    <p:sldId xmlns:r="http://schemas.openxmlformats.org/officeDocument/2006/relationships" id="281" r:id="R34d08353197c4096"/>
    <p:sldId xmlns:ns1="http://schemas.openxmlformats.org/officeDocument/2006/relationships" id="310" ns1:id="rIdParameterView55"/>
    <p:sldId xmlns:ns0="http://schemas.openxmlformats.org/officeDocument/2006/relationships" id="311" ns0:id="rIdPruningAppendix56"/>
    <p:sldId xmlns:r="http://schemas.openxmlformats.org/officeDocument/2006/relationships" id="288" r:id="R2dbb0a364889402f"/>
    <p:sldId xmlns:ns0="http://schemas.openxmlformats.org/officeDocument/2006/relationships" id="312" ns0:id="rIdSOHOverview57"/>
    <p:sldId xmlns:ns0="http://schemas.openxmlformats.org/officeDocument/2006/relationships" id="313" ns0:id="rIdLatencyAppendix58"/>
    <p:sldId xmlns:r="http://schemas.openxmlformats.org/officeDocument/2006/relationships" id="291" r:id="R178b2ef922554fa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Type="http://schemas.openxmlformats.org/officeDocument/2006/relationships/theme" Target="/ppt/theme/theme1.xml" Id="R170d5c990d104658"/><Relationship Type="http://schemas.openxmlformats.org/officeDocument/2006/relationships/slideMaster" Target="/ppt/slideMasters/slideMaster1.xml" Id="Rdbaf3b256a594232"/><Relationship Type="http://schemas.openxmlformats.org/officeDocument/2006/relationships/notesMaster" Target="/ppt/notesMasters/notesMaster1.xml" Id="Rd2786918e7694da8"/><Relationship Type="http://schemas.openxmlformats.org/officeDocument/2006/relationships/presProps" Target="/ppt/presProps.xml" Id="R0124f3f9ca494a04"/><Relationship Type="http://schemas.openxmlformats.org/officeDocument/2006/relationships/viewProps" Target="/ppt/viewProps.xml" Id="R7f71886609294081"/><Relationship Type="http://schemas.openxmlformats.org/officeDocument/2006/relationships/tableStyles" Target="/ppt/tableStyles.xml" Id="Rffaa68d673e04777"/><Relationship Type="http://schemas.openxmlformats.org/officeDocument/2006/relationships/slide" Target="/ppt/slides/slide1.xml" Id="R85de8aa1874145f5"/><Relationship Type="http://schemas.openxmlformats.org/officeDocument/2006/relationships/slide" Target="/ppt/slides/slide2.xml" Id="R402090ea30034f29"/><Relationship Type="http://schemas.openxmlformats.org/officeDocument/2006/relationships/slide" Target="/ppt/slides/slide3.xml" Id="R3b7067df93d34a0b"/><Relationship Type="http://schemas.openxmlformats.org/officeDocument/2006/relationships/slide" Target="/ppt/slides/slide4.xml" Id="Rf34f76c07643413b"/><Relationship Type="http://schemas.openxmlformats.org/officeDocument/2006/relationships/slide" Target="/ppt/slides/slide5.xml" Id="R248730b02b63404a"/><Relationship Type="http://schemas.openxmlformats.org/officeDocument/2006/relationships/slide" Target="/ppt/slides/slide6.xml" Id="R89844bad9bec4ea0"/><Relationship Type="http://schemas.openxmlformats.org/officeDocument/2006/relationships/slide" Target="/ppt/slides/slide7.xml" Id="Raf9d32238cf04c9b"/><Relationship Type="http://schemas.openxmlformats.org/officeDocument/2006/relationships/slide" Target="/ppt/slides/slide8.xml" Id="R39f178c4462a4aa5"/><Relationship Type="http://schemas.openxmlformats.org/officeDocument/2006/relationships/slide" Target="/ppt/slides/slide9.xml" Id="Rac94a1ec17f2447e"/><Relationship Type="http://schemas.openxmlformats.org/officeDocument/2006/relationships/slide" Target="/ppt/slides/slide10.xml" Id="Rae50a5f0303e4b0f"/><Relationship Type="http://schemas.openxmlformats.org/officeDocument/2006/relationships/slide" Target="/ppt/slides/slide11.xml" Id="R1991bb332fa145b9"/><Relationship Type="http://schemas.openxmlformats.org/officeDocument/2006/relationships/slide" Target="/ppt/slides/slide12.xml" Id="R6e583e15cb924459"/><Relationship Type="http://schemas.openxmlformats.org/officeDocument/2006/relationships/slide" Target="/ppt/slides/slide13.xml" Id="Re3d91fadc6f14644"/><Relationship Type="http://schemas.openxmlformats.org/officeDocument/2006/relationships/slide" Target="/ppt/slides/slide14.xml" Id="Rcaa9e72dba5e4e42"/><Relationship Type="http://schemas.openxmlformats.org/officeDocument/2006/relationships/slide" Target="/ppt/slides/slide15.xml" Id="R0927e648779747c1"/><Relationship Type="http://schemas.openxmlformats.org/officeDocument/2006/relationships/slide" Target="/ppt/slides/slide16.xml" Id="Rb6b354fef7dc4ed2"/><Relationship Type="http://schemas.openxmlformats.org/officeDocument/2006/relationships/slide" Target="/ppt/slides/slide17.xml" Id="R81c83d4b28724fd4"/><Relationship Type="http://schemas.openxmlformats.org/officeDocument/2006/relationships/slide" Target="/ppt/slides/slide18.xml" Id="R127f4d6a16b84525"/><Relationship Type="http://schemas.openxmlformats.org/officeDocument/2006/relationships/slide" Target="/ppt/slides/slide19.xml" Id="Re893e3c3134749e9"/><Relationship Type="http://schemas.openxmlformats.org/officeDocument/2006/relationships/slide" Target="/ppt/slides/slide20.xml" Id="R79ef25b06c65420c"/><Relationship Type="http://schemas.openxmlformats.org/officeDocument/2006/relationships/slide" Target="/ppt/slides/slide21.xml" Id="R57738c4c8d2143cc"/><Relationship Type="http://schemas.openxmlformats.org/officeDocument/2006/relationships/slide" Target="/ppt/slides/slide22.xml" Id="Rbd9e5a80c8a84d7b"/><Relationship Type="http://schemas.openxmlformats.org/officeDocument/2006/relationships/slide" Target="/ppt/slides/slide23.xml" Id="R042881e6648d4614"/><Relationship Type="http://schemas.openxmlformats.org/officeDocument/2006/relationships/slide" Target="/ppt/slides/slide24.xml" Id="R45ccf28ec7504ca7"/><Relationship Type="http://schemas.openxmlformats.org/officeDocument/2006/relationships/slide" Target="/ppt/slides/slide25.xml" Id="R94f82402969346c1"/><Relationship Type="http://schemas.openxmlformats.org/officeDocument/2006/relationships/slide" Target="/ppt/slides/slide26.xml" Id="R34d08353197c4096"/><Relationship Type="http://schemas.openxmlformats.org/officeDocument/2006/relationships/slide" Target="/ppt/slides/slide27.xml" Id="Re090cba35cc4457c"/><Relationship Type="http://schemas.openxmlformats.org/officeDocument/2006/relationships/slide" Target="/ppt/slides/slide28.xml" Id="R5655eaf81b384256"/><Relationship Type="http://schemas.openxmlformats.org/officeDocument/2006/relationships/slide" Target="/ppt/slides/slide29.xml" Id="R41643666070a4eab"/><Relationship Type="http://schemas.openxmlformats.org/officeDocument/2006/relationships/slide" Target="/ppt/slides/slide30.xml" Id="R56b4c7ac4df74cbc"/><Relationship Type="http://schemas.openxmlformats.org/officeDocument/2006/relationships/slide" Target="/ppt/slides/slide31.xml" Id="Rda0531f86d1c4ba6"/><Relationship Type="http://schemas.openxmlformats.org/officeDocument/2006/relationships/slide" Target="/ppt/slides/slide32.xml" Id="R145016236c944f7e"/><Relationship Type="http://schemas.openxmlformats.org/officeDocument/2006/relationships/slide" Target="/ppt/slides/slide33.xml" Id="R2dbb0a364889402f"/><Relationship Type="http://schemas.openxmlformats.org/officeDocument/2006/relationships/slide" Target="/ppt/slides/slide34.xml" Id="R2317cb4239a14fbc"/><Relationship Type="http://schemas.openxmlformats.org/officeDocument/2006/relationships/slide" Target="/ppt/slides/slide35.xml" Id="R4939a4e825214037"/><Relationship Type="http://schemas.openxmlformats.org/officeDocument/2006/relationships/slide" Target="/ppt/slides/slide36.xml" Id="R178b2ef922554fa2"/><Relationship Type="http://schemas.openxmlformats.org/officeDocument/2006/relationships/slide" Target="/ppt/slides/slide37.xml" Id="R15ab5d7e8a9c4618"/><Relationship Type="http://schemas.openxmlformats.org/officeDocument/2006/relationships/slide" Target="/ppt/slides/slide38.xml" Id="R4b18c11704744f08"/><Relationship Type="http://schemas.openxmlformats.org/officeDocument/2006/relationships/slide" Target="/ppt/slides/slide39.xml" Id="Rc1866bbe160e4e40"/><Relationship Type="http://schemas.openxmlformats.org/officeDocument/2006/relationships/slide" Target="/ppt/slides/slide40.xml" Id="R0be83803769f4f36"/><Relationship Type="http://schemas.openxmlformats.org/officeDocument/2006/relationships/slide" Target="/ppt/slides/slide41.xml" Id="R4ea9ab07d5cb4e2f"/><Relationship Type="http://schemas.openxmlformats.org/officeDocument/2006/relationships/slide" Target="/ppt/slides/slide42.xml" Id="R874628a02d5c49b1"/><Relationship Type="http://schemas.openxmlformats.org/officeDocument/2006/relationships/slide" Target="/ppt/slides/slide43.xml" Id="R0b8d1225fe214d84"/><Relationship Type="http://schemas.openxmlformats.org/officeDocument/2006/relationships/slide" Target="/ppt/slides/slide44.xml" Id="R16bc1a8ff9ae4f50"/><Relationship Type="http://schemas.openxmlformats.org/officeDocument/2006/relationships/slide" Target="/ppt/slides/slide45.xml" Id="R49b3fb13d03b414e"/><Relationship Id="rIdBenchmark46" Type="http://schemas.openxmlformats.org/officeDocument/2006/relationships/slide" Target="/ppt/slides/slide46.xml"/><Relationship Id="rIdBenchmark47" Type="http://schemas.openxmlformats.org/officeDocument/2006/relationships/slide" Target="/ppt/slides/slide47.xml"/><Relationship Id="rIdBenchmark48" Type="http://schemas.openxmlformats.org/officeDocument/2006/relationships/slide" Target="/ppt/slides/slide48.xml"/><Relationship Id="rIdBenchmark49" Type="http://schemas.openxmlformats.org/officeDocument/2006/relationships/slide" Target="/ppt/slides/slide49.xml"/><Relationship Id="rIdDisturbanceView50" Type="http://schemas.openxmlformats.org/officeDocument/2006/relationships/slide" Target="/ppt/slides/slide50.xml"/><Relationship Id="rIdDisturbanceView51" Type="http://schemas.openxmlformats.org/officeDocument/2006/relationships/slide" Target="/ppt/slides/slide51.xml"/><Relationship Id="rIdDisturbanceView52" Type="http://schemas.openxmlformats.org/officeDocument/2006/relationships/slide" Target="/ppt/slides/slide52.xml"/><Relationship Id="rIdParameterView53" Type="http://schemas.openxmlformats.org/officeDocument/2006/relationships/slide" Target="/ppt/slides/slide53.xml"/><Relationship Id="rIdParameterView54" Type="http://schemas.openxmlformats.org/officeDocument/2006/relationships/slide" Target="/ppt/slides/slide54.xml"/><Relationship Id="rIdParameterView55" Type="http://schemas.openxmlformats.org/officeDocument/2006/relationships/slide" Target="/ppt/slides/slide55.xml"/><Relationship Id="rIdPruningAppendix56" Type="http://schemas.openxmlformats.org/officeDocument/2006/relationships/slide" Target="/ppt/slides/slide56.xml"/><Relationship Id="rIdSOHOverview57" Type="http://schemas.openxmlformats.org/officeDocument/2006/relationships/slide" Target="/ppt/slides/slide57.xml"/><Relationship Id="rIdLatencyAppendix58" Type="http://schemas.openxmlformats.org/officeDocument/2006/relationships/slide" Target="/ppt/slides/slide58.xml"/><Relationship Id="rIdLatencyView59" Type="http://schemas.openxmlformats.org/officeDocument/2006/relationships/slide" Target="/ppt/slides/slide59.xml"/></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07e0c2926e94a5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Master für Folgeseiten">
  <a:themeElements>
    <a:clrScheme name="TU Berlin ">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U Berlin ">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5c8de23379b4cac" /><Relationship Type="http://schemas.openxmlformats.org/officeDocument/2006/relationships/notesMaster" Target="/ppt/notesMasters/notesMaster1.xml" Id="R067d99dcb9494ac4" /></Relationships>
</file>

<file path=ppt/notesSlides/_rels/notesSlide2.xml.rels>&#65279;<?xml version="1.0" encoding="utf-8"?><Relationships xmlns="http://schemas.openxmlformats.org/package/2006/relationships"><Relationship Type="http://schemas.openxmlformats.org/officeDocument/2006/relationships/slide" Target="/ppt/slides/slide2.xml" Id="R038ec657dc91422b" /><Relationship Type="http://schemas.openxmlformats.org/officeDocument/2006/relationships/notesMaster" Target="/ppt/notesMasters/notesMaster1.xml" Id="R967d115fa4e045e1" /></Relationships>
</file>

<file path=ppt/notesSlides/_rels/notesSlide3.xml.rels>&#65279;<?xml version="1.0" encoding="utf-8"?><Relationships xmlns="http://schemas.openxmlformats.org/package/2006/relationships"><Relationship Type="http://schemas.openxmlformats.org/officeDocument/2006/relationships/slide" Target="/ppt/slides/slide3.xml" Id="Rfd4617dad1b8474d" /><Relationship Type="http://schemas.openxmlformats.org/officeDocument/2006/relationships/notesMaster" Target="/ppt/notesMasters/notesMaster1.xml" Id="R5cce280ab5434718" /></Relationships>
</file>

<file path=ppt/notesSlides/_rels/notesSlide4.xml.rels>&#65279;<?xml version="1.0" encoding="utf-8"?><Relationships xmlns="http://schemas.openxmlformats.org/package/2006/relationships"><Relationship Type="http://schemas.openxmlformats.org/officeDocument/2006/relationships/slide" Target="/ppt/slides/slide4.xml" Id="R647441ca586248cc" /><Relationship Type="http://schemas.openxmlformats.org/officeDocument/2006/relationships/notesMaster" Target="/ppt/notesMasters/notesMaster1.xml" Id="R6615101180584591" /></Relationships>
</file>

<file path=ppt/notesSlides/_rels/notesSlide5.xml.rels>&#65279;<?xml version="1.0" encoding="utf-8"?><Relationships xmlns="http://schemas.openxmlformats.org/package/2006/relationships"><Relationship Type="http://schemas.openxmlformats.org/officeDocument/2006/relationships/slide" Target="/ppt/slides/slide5.xml" Id="R2131e961a2ec4528" /><Relationship Type="http://schemas.openxmlformats.org/officeDocument/2006/relationships/notesMaster" Target="/ppt/notesMasters/notesMaster1.xml" Id="R0a7fc5ac46d84e38" /></Relationships>
</file>

<file path=ppt/notesSlides/_rels/notesSlide6.xml.rels>&#65279;<?xml version="1.0" encoding="utf-8"?><Relationships xmlns="http://schemas.openxmlformats.org/package/2006/relationships"><Relationship Type="http://schemas.openxmlformats.org/officeDocument/2006/relationships/slide" Target="/ppt/slides/slide6.xml" Id="Ra9aaeb49000a4893" /><Relationship Type="http://schemas.openxmlformats.org/officeDocument/2006/relationships/notesMaster" Target="/ppt/notesMasters/notesMaster1.xml" Id="Re1e11935b9fb48b6" /></Relationships>
</file>

<file path=ppt/notesSlides/_rels/notesSlide7.xml.rels>&#65279;<?xml version="1.0" encoding="utf-8"?><Relationships xmlns="http://schemas.openxmlformats.org/package/2006/relationships"><Relationship Type="http://schemas.openxmlformats.org/officeDocument/2006/relationships/slide" Target="/ppt/slides/slide7.xml" Id="Raf395df862d24f83" /><Relationship Type="http://schemas.openxmlformats.org/officeDocument/2006/relationships/notesMaster" Target="/ppt/notesMasters/notesMaster1.xml" Id="R0db9a468627e4eae" /></Relationships>
</file>

<file path=ppt/notesSlides/_rels/notesSlide8.xml.rels>&#65279;<?xml version="1.0" encoding="utf-8"?><Relationships xmlns="http://schemas.openxmlformats.org/package/2006/relationships"><Relationship Type="http://schemas.openxmlformats.org/officeDocument/2006/relationships/slide" Target="/ppt/slides/slide8.xml" Id="R6cddbac78acf4f23" /><Relationship Type="http://schemas.openxmlformats.org/officeDocument/2006/relationships/notesMaster" Target="/ppt/notesMasters/notesMaster1.xml" Id="R26af677083194acd" /></Relationships>
</file>

<file path=ppt/notesSlides/_rels/notesSlide9.xml.rels>&#65279;<?xml version="1.0" encoding="utf-8"?><Relationships xmlns="http://schemas.openxmlformats.org/package/2006/relationships"><Relationship Type="http://schemas.openxmlformats.org/officeDocument/2006/relationships/slide" Target="/ppt/slides/slide9.xml" Id="Re7f74107c9594c35" /><Relationship Type="http://schemas.openxmlformats.org/officeDocument/2006/relationships/notesMaster" Target="/ppt/notesMasters/notesMaster1.xml" Id="Rf7b3b81a462a45a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4ec0c2c95a04bfd" /><Relationship Type="http://schemas.openxmlformats.org/officeDocument/2006/relationships/notesMaster" Target="/ppt/notesMasters/notesMaster1.xml" Id="R89a6ccaf916a404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0a1184c27e64347" /><Relationship Type="http://schemas.openxmlformats.org/officeDocument/2006/relationships/notesMaster" Target="/ppt/notesMasters/notesMaster1.xml" Id="R3e3e64f17df5435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2b5235887b34785" /><Relationship Type="http://schemas.openxmlformats.org/officeDocument/2006/relationships/notesMaster" Target="/ppt/notesMasters/notesMaster1.xml" Id="R77ca71a1dbbf443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42582fddac24321" /><Relationship Type="http://schemas.openxmlformats.org/officeDocument/2006/relationships/notesMaster" Target="/ppt/notesMasters/notesMaster1.xml" Id="R3b3e6d1f5f014527" /></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bb33e7694c74420c"/><Relationship Type="http://schemas.openxmlformats.org/officeDocument/2006/relationships/notesMaster" Target="/ppt/notesMasters/notesMaster1.xml" Id="R87f0b599e6f1484a"/></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bb33e7694c74420c"/><Relationship Type="http://schemas.openxmlformats.org/officeDocument/2006/relationships/notesMaster" Target="/ppt/notesMasters/notesMaster1.xml" Id="R87f0b599e6f1484a"/></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bb33e7694c74420c"/><Relationship Type="http://schemas.openxmlformats.org/officeDocument/2006/relationships/notesMaster" Target="/ppt/notesMasters/notesMaster1.xml" Id="R87f0b599e6f1484a"/></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afb0437d247a4c75"/><Relationship Type="http://schemas.openxmlformats.org/officeDocument/2006/relationships/notesMaster" Target="/ppt/notesMasters/notesMaster1.xml" Id="R39166f5cce2e4ce0"/></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24bc39fe971454f" /><Relationship Type="http://schemas.openxmlformats.org/officeDocument/2006/relationships/notesMaster" Target="/ppt/notesMasters/notesMaster1.xml" Id="R4a88ae32da514f5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6b7d44518874ad5" /><Relationship Type="http://schemas.openxmlformats.org/officeDocument/2006/relationships/notesMaster" Target="/ppt/notesMasters/notesMaster1.xml" Id="Ref9fa3a9525747d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efa1ed131a64fe4" /><Relationship Type="http://schemas.openxmlformats.org/officeDocument/2006/relationships/notesMaster" Target="/ppt/notesMasters/notesMaster1.xml" Id="Rc06dd8814b72478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ad9d38d3cbb43e7" /><Relationship Type="http://schemas.openxmlformats.org/officeDocument/2006/relationships/notesMaster" Target="/ppt/notesMasters/notesMaster1.xml" Id="Rd5d6441f8e0446d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e2e1ff6fb27494f" /><Relationship Type="http://schemas.openxmlformats.org/officeDocument/2006/relationships/notesMaster" Target="/ppt/notesMasters/notesMaster1.xml" Id="R3ff748444f3c442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69c8b087a0540b9" /><Relationship Type="http://schemas.openxmlformats.org/officeDocument/2006/relationships/notesMaster" Target="/ppt/notesMasters/notesMaster1.xml" Id="R9bf3c230fb77486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f1cc3f2f5544137" /><Relationship Type="http://schemas.openxmlformats.org/officeDocument/2006/relationships/notesMaster" Target="/ppt/notesMasters/notesMaster1.xml" Id="R96497b3f2db1450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bd422ace1024fd4" /><Relationship Type="http://schemas.openxmlformats.org/officeDocument/2006/relationships/notesMaster" Target="/ppt/notesMasters/notesMaster1.xml" Id="Raa82d009d4094f9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e34916b574a4115" /><Relationship Type="http://schemas.openxmlformats.org/officeDocument/2006/relationships/notesMaster" Target="/ppt/notesMasters/notesMaster1.xml" Id="R019d8dd783c442bb" /></Relationships>
</file>

<file path=ppt/notesSlides/_rels/notesSlide27.xml.rels><?xml version='1.0' encoding='UTF-8' standalone='yes'?>
<Relationships xmlns="http://schemas.openxmlformats.org/package/2006/relationships"><Relationship Type="http://schemas.openxmlformats.org/officeDocument/2006/relationships/slide" Target="/ppt/slides/slide27.xml" Id="R1e34916b574a4115"/><Relationship Type="http://schemas.openxmlformats.org/officeDocument/2006/relationships/notesMaster" Target="/ppt/notesMasters/notesMaster1.xml" Id="R019d8dd783c442bb"/></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c5d44c164504058" /><Relationship Type="http://schemas.openxmlformats.org/officeDocument/2006/relationships/notesMaster" Target="/ppt/notesMasters/notesMaster1.xml" Id="R7b030de593c849b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78b886ee2a64436" /><Relationship Type="http://schemas.openxmlformats.org/officeDocument/2006/relationships/notesMaster" Target="/ppt/notesMasters/notesMaster1.xml" Id="Rc76b2812fcb7412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615f8aeb24a4d68" /><Relationship Type="http://schemas.openxmlformats.org/officeDocument/2006/relationships/notesMaster" Target="/ppt/notesMasters/notesMaster1.xml" Id="Rbbd4b348b006457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c2553bd03d14546" /><Relationship Type="http://schemas.openxmlformats.org/officeDocument/2006/relationships/notesMaster" Target="/ppt/notesMasters/notesMaster1.xml" Id="Rcca8743fc1b042c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259701d844341f5" /><Relationship Type="http://schemas.openxmlformats.org/officeDocument/2006/relationships/notesMaster" Target="/ppt/notesMasters/notesMaster1.xml" Id="R420d9daca92843c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3ec5abcf63146eb" /><Relationship Type="http://schemas.openxmlformats.org/officeDocument/2006/relationships/notesMaster" Target="/ppt/notesMasters/notesMaster1.xml" Id="R8a9588a9d83a4a2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14b1dba5ae94ca6" /><Relationship Type="http://schemas.openxmlformats.org/officeDocument/2006/relationships/notesMaster" Target="/ppt/notesMasters/notesMaster1.xml" Id="Ree925628e5944af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d8ff6705a824de1" /><Relationship Type="http://schemas.openxmlformats.org/officeDocument/2006/relationships/notesMaster" Target="/ppt/notesMasters/notesMaster1.xml" Id="Re7498827f3c44a3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23fb7df8f9245f8" /><Relationship Type="http://schemas.openxmlformats.org/officeDocument/2006/relationships/notesMaster" Target="/ppt/notesMasters/notesMaster1.xml" Id="R0ffe7869c4584d99"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6d39dc5069024b42" /><Relationship Type="http://schemas.openxmlformats.org/officeDocument/2006/relationships/notesMaster" Target="/ppt/notesMasters/notesMaster1.xml" Id="Rb6e79a57ca284c7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96a0d85e6994726" /><Relationship Type="http://schemas.openxmlformats.org/officeDocument/2006/relationships/notesMaster" Target="/ppt/notesMasters/notesMaster1.xml" Id="R5f8be05e4570413a"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0b01246477774032" /><Relationship Type="http://schemas.openxmlformats.org/officeDocument/2006/relationships/notesMaster" Target="/ppt/notesMasters/notesMaster1.xml" Id="Rc7ed037c7b7544ef"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4496a2bce174577" /><Relationship Type="http://schemas.openxmlformats.org/officeDocument/2006/relationships/notesMaster" Target="/ppt/notesMasters/notesMaster1.xml" Id="Rb569a02a8d2949c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f9bce2f4c0ea4b38" /><Relationship Type="http://schemas.openxmlformats.org/officeDocument/2006/relationships/notesMaster" Target="/ppt/notesMasters/notesMaster1.xml" Id="R40520fb2fa384480"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4d48f0ef5b1e447a" /><Relationship Type="http://schemas.openxmlformats.org/officeDocument/2006/relationships/notesMaster" Target="/ppt/notesMasters/notesMaster1.xml" Id="R0e017b6ec6d740c8"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1859a074d0d14925" /><Relationship Type="http://schemas.openxmlformats.org/officeDocument/2006/relationships/notesMaster" Target="/ppt/notesMasters/notesMaster1.xml" Id="Re605970d433247dd"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3f3fcd2c05494d7f" /><Relationship Type="http://schemas.openxmlformats.org/officeDocument/2006/relationships/notesMaster" Target="/ppt/notesMasters/notesMaster1.xml" Id="R6a507f23080f455c"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75453a896e0e459b" /><Relationship Type="http://schemas.openxmlformats.org/officeDocument/2006/relationships/notesMaster" Target="/ppt/notesMasters/notesMaster1.xml" Id="Rc9a8e1db22e44a08" /></Relationships>
</file>

<file path=ppt/notesSlides/_rels/notesSlide46.xml.rels><?xml version='1.0' encoding='UTF-8' standalone='yes'?>
<Relationships xmlns="http://schemas.openxmlformats.org/package/2006/relationships"><Relationship Type="http://schemas.openxmlformats.org/officeDocument/2006/relationships/slide" Target="/ppt/slides/slide46.xml" Id="Rbb33e7694c74420c"/><Relationship Type="http://schemas.openxmlformats.org/officeDocument/2006/relationships/notesMaster" Target="/ppt/notesMasters/notesMaster1.xml" Id="R87f0b599e6f1484a"/></Relationships>
</file>

<file path=ppt/notesSlides/_rels/notesSlide47.xml.rels><?xml version='1.0' encoding='UTF-8' standalone='yes'?>
<Relationships xmlns="http://schemas.openxmlformats.org/package/2006/relationships"><Relationship Type="http://schemas.openxmlformats.org/officeDocument/2006/relationships/slide" Target="/ppt/slides/slide47.xml" Id="Rbb33e7694c74420c"/><Relationship Type="http://schemas.openxmlformats.org/officeDocument/2006/relationships/notesMaster" Target="/ppt/notesMasters/notesMaster1.xml" Id="R87f0b599e6f1484a"/></Relationships>
</file>

<file path=ppt/notesSlides/_rels/notesSlide48.xml.rels><?xml version='1.0' encoding='UTF-8' standalone='yes'?>
<Relationships xmlns="http://schemas.openxmlformats.org/package/2006/relationships"><Relationship Type="http://schemas.openxmlformats.org/officeDocument/2006/relationships/slide" Target="/ppt/slides/slide48.xml" Id="Rbb33e7694c74420c"/><Relationship Type="http://schemas.openxmlformats.org/officeDocument/2006/relationships/notesMaster" Target="/ppt/notesMasters/notesMaster1.xml" Id="R87f0b599e6f1484a"/></Relationships>
</file>

<file path=ppt/notesSlides/_rels/notesSlide49.xml.rels><?xml version='1.0' encoding='UTF-8' standalone='yes'?>
<Relationships xmlns="http://schemas.openxmlformats.org/package/2006/relationships"><Relationship Type="http://schemas.openxmlformats.org/officeDocument/2006/relationships/slide" Target="/ppt/slides/slide49.xml" Id="Rbb33e7694c74420c"/><Relationship Type="http://schemas.openxmlformats.org/officeDocument/2006/relationships/notesMaster" Target="/ppt/notesMasters/notesMaster1.xml" Id="R87f0b599e6f1484a"/></Relationships>
</file>

<file path=ppt/notesSlides/_rels/notesSlide50.xml.rels><?xml version='1.0' encoding='UTF-8' standalone='yes'?>
<Relationships xmlns="http://schemas.openxmlformats.org/package/2006/relationships"><Relationship Type="http://schemas.openxmlformats.org/officeDocument/2006/relationships/slide" Target="/ppt/slides/slide50.xml" Id="Rafb0437d247a4c75"/><Relationship Type="http://schemas.openxmlformats.org/officeDocument/2006/relationships/notesMaster" Target="/ppt/notesMasters/notesMaster1.xml" Id="R39166f5cce2e4ce0"/></Relationships>
</file>

<file path=ppt/notesSlides/_rels/notesSlide51.xml.rels><?xml version='1.0' encoding='UTF-8' standalone='yes'?>
<Relationships xmlns="http://schemas.openxmlformats.org/package/2006/relationships"><Relationship Type="http://schemas.openxmlformats.org/officeDocument/2006/relationships/slide" Target="/ppt/slides/slide51.xml" Id="Rafb0437d247a4c75"/><Relationship Type="http://schemas.openxmlformats.org/officeDocument/2006/relationships/notesMaster" Target="/ppt/notesMasters/notesMaster1.xml" Id="R39166f5cce2e4ce0"/></Relationships>
</file>

<file path=ppt/notesSlides/_rels/notesSlide52.xml.rels><?xml version='1.0' encoding='UTF-8' standalone='yes'?>
<Relationships xmlns="http://schemas.openxmlformats.org/package/2006/relationships"><Relationship Type="http://schemas.openxmlformats.org/officeDocument/2006/relationships/slide" Target="/ppt/slides/slide52.xml" Id="Rafb0437d247a4c75"/><Relationship Type="http://schemas.openxmlformats.org/officeDocument/2006/relationships/notesMaster" Target="/ppt/notesMasters/notesMaster1.xml" Id="R39166f5cce2e4ce0"/></Relationships>
</file>

<file path=ppt/notesSlides/_rels/notesSlide53.xml.rels><?xml version='1.0' encoding='UTF-8' standalone='yes'?>
<Relationships xmlns="http://schemas.openxmlformats.org/package/2006/relationships"><Relationship Type="http://schemas.openxmlformats.org/officeDocument/2006/relationships/slide" Target="/ppt/slides/slide53.xml" Id="R1e34916b574a4115"/><Relationship Type="http://schemas.openxmlformats.org/officeDocument/2006/relationships/notesMaster" Target="/ppt/notesMasters/notesMaster1.xml" Id="R019d8dd783c442bb"/></Relationships>
</file>

<file path=ppt/notesSlides/_rels/notesSlide54.xml.rels><?xml version='1.0' encoding='UTF-8' standalone='yes'?>
<Relationships xmlns="http://schemas.openxmlformats.org/package/2006/relationships"><Relationship Type="http://schemas.openxmlformats.org/officeDocument/2006/relationships/slide" Target="/ppt/slides/slide54.xml" Id="R1e34916b574a4115"/><Relationship Type="http://schemas.openxmlformats.org/officeDocument/2006/relationships/notesMaster" Target="/ppt/notesMasters/notesMaster1.xml" Id="R019d8dd783c442bb"/></Relationships>
</file>

<file path=ppt/notesSlides/_rels/notesSlide55.xml.rels><?xml version='1.0' encoding='UTF-8' standalone='yes'?>
<Relationships xmlns="http://schemas.openxmlformats.org/package/2006/relationships"><Relationship Type="http://schemas.openxmlformats.org/officeDocument/2006/relationships/slide" Target="/ppt/slides/slide55.xml" Id="R1e34916b574a4115"/><Relationship Type="http://schemas.openxmlformats.org/officeDocument/2006/relationships/notesMaster" Target="/ppt/notesMasters/notesMaster1.xml" Id="R019d8dd783c442bb"/></Relationships>
</file>

<file path=ppt/notesSlides/_rels/notesSlide56.xml.rels><?xml version='1.0' encoding='UTF-8' standalone='yes'?>
<Relationships xmlns="http://schemas.openxmlformats.org/package/2006/relationships"><Relationship Type="http://schemas.openxmlformats.org/officeDocument/2006/relationships/slide" Target="/ppt/slides/slide56.xml" Id="Rb615f8aeb24a4d68"/><Relationship Type="http://schemas.openxmlformats.org/officeDocument/2006/relationships/notesMaster" Target="/ppt/notesMasters/notesMaster1.xml" Id="Rbbd4b348b006457f"/></Relationships>
</file>

<file path=ppt/notesSlides/_rels/notesSlide57.xml.rels><?xml version='1.0' encoding='UTF-8' standalone='yes'?>
<Relationships xmlns="http://schemas.openxmlformats.org/package/2006/relationships"><Relationship Type="http://schemas.openxmlformats.org/officeDocument/2006/relationships/slide" Target="/ppt/slides/slide57.xml" Id="Rc14b1dba5ae94ca6"/><Relationship Type="http://schemas.openxmlformats.org/officeDocument/2006/relationships/notesMaster" Target="/ppt/notesMasters/notesMaster1.xml" Id="Ree925628e5944af6"/></Relationships>
</file>

<file path=ppt/notesSlides/_rels/notesSlide58.xml.rels><?xml version='1.0' encoding='UTF-8' standalone='yes'?>
<Relationships xmlns="http://schemas.openxmlformats.org/package/2006/relationships"><Relationship Type="http://schemas.openxmlformats.org/officeDocument/2006/relationships/slide" Target="/ppt/slides/slide58.xml" Id="Rad8ff6705a824de1"/><Relationship Type="http://schemas.openxmlformats.org/officeDocument/2006/relationships/notesMaster" Target="/ppt/notesMasters/notesMaster1.xml" Id="Re7498827f3c44a33"/></Relationships>
</file>

<file path=ppt/notesSlides/_rels/notesSlide59.xml.rels><?xml version='1.0' encoding='UTF-8' standalone='yes'?>
<Relationships xmlns="http://schemas.openxmlformats.org/package/2006/relationships"><Relationship Type="http://schemas.openxmlformats.org/officeDocument/2006/relationships/slide" Target="/ppt/slides/slide59.xml" Id="Rad8ff6705a824de1"/><Relationship Type="http://schemas.openxmlformats.org/officeDocument/2006/relationships/notesMaster" Target="/ppt/notesMasters/notesMaster1.xml" Id="Re7498827f3c44a33"/></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Zielzeit: 20 Sekunden. Die Arbeit verbindet zeitliche Repräsentation, Robustheitsprüfung und gemessene Embedded-Ausführung.</a:t>
            </a:r>
          </a:p>
          <a:p xmlns:a="http://schemas.openxmlformats.org/drawingml/2006/main">
            <a:r>
              <a:t/>
            </a:r>
          </a:p>
          <a:p xmlns:a="http://schemas.openxmlformats.org/drawingml/2006/main">
            <a:r>
              <a:t>[Sources]</a:t>
            </a:r>
          </a:p>
          <a:p xmlns:a="http://schemas.openxmlformats.org/drawingml/2006/main">
            <a:r>
              <a:t>Dissertation, Titelseite</a:t>
            </a:r>
          </a:p>
          <a:p xmlns:a="http://schemas.openxmlformats.org/drawingml/2006/main">
            <a:r>
              <a:t>Quelle: main(1).pdf (Dissertation, bereitgestellte Fassung); Erzählfolge: Vortrag_Erzaehlfassung_30min_v3.pdf.</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Zielzeit: 60 Sekunden. MG-Farm veranschaulicht den Ausgangspunkt in dezentralen Energiesystemen mit lokal verteilter Erzeugung und Batteriespeichern. Die Motivation reicht über dieses Projekt hinaus: Auch mobile Anwendungen und entfernte Einsatzorte benötigen Zustandsschätzung bei begrenztem Speicher, begrenzter Rechenleistung und eingeschränkter oder zeitweise fehlender Internetverbindung. Deshalb muss die Schätzung lokal auf der BMS-Hardware zuverlässig ausführbar sein. Nicht jede Anwendung ist dauerhaft offline; entscheidend ist die fehlende Abhängigkeit von einer verfügbaren Cloud-Verbindung. Daraus folgen die Forschungsfragen zu Repräsentation, Zuverlässigkeit und gemessenem Ressourcenbedarf.</a:t>
            </a:r>
          </a:p>
          <a:p xmlns:a="http://schemas.openxmlformats.org/drawingml/2006/main">
            <a:r>
              <a:t/>
            </a:r>
            <a:endParaRPr/>
          </a:p>
          <a:p xmlns:a="http://schemas.openxmlformats.org/drawingml/2006/main">
            <a:r>
              <a:t>[Sources]</a:t>
            </a:r>
          </a:p>
          <a:p xmlns:a="http://schemas.openxmlformats.org/drawingml/2006/main">
            <a:r>
              <a:t>Dissertation, Kap. 1; Kap. 2; Nutzerbeschreibung zu MG-Farm, dezentralen und mobilen Anwendungen; bereitgestellte MG-Farm-Abbildung</a:t>
            </a:r>
            <a:endParaRPr/>
          </a:p>
          <a:p xmlns:a="http://schemas.openxmlformats.org/drawingml/2006/main">
            <a:r>
              <a:t>Quelle: main(1).pdf (Dissertation, bereitgestellte Fassung); Erzählfolge: Vortrag_Erzaehlfassung_30min_v3.pdf.</a:t>
            </a:r>
          </a:p>
          <a:p xmlns:a="http://schemas.openxmlformats.org/drawingml/2006/main">
            <a:r>
              <a:t>a4f43739-9787-4fe3-a418-a8ae64ccc95a.png – bereitgestellte Originalabbildung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Zielzeit: 65 Sekunden. Die drei Forschungsfragen sind eigenständig formuliert und entsprechen den Fragen aus Abschnitt 1.1 der Dissertation. Frage 1: kompakte SOH-Modelle mit Feature Engineering (Kapitel 5). Frage 2: Benchmark der Estimatorklassen unter realistischen Betriebs- und Messbedingungen (Kapitel 6). Frage 3: Transfer und Optimierung auf Embedded-Hardware, einschließlich Pruning und Quantization (Kapitel 7). Die rechte Strukturnavigation dient der mündlichen Zuordnung der Fragen zu den Beiträgen.</a:t>
            </a:r>
          </a:p>
          <a:p xmlns:a="http://schemas.openxmlformats.org/drawingml/2006/main">
            <a:r>
              <a:t/>
            </a:r>
            <a:endParaRPr/>
          </a:p>
          <a:p xmlns:a="http://schemas.openxmlformats.org/drawingml/2006/main">
            <a:r>
              <a:t>[Sources]</a:t>
            </a:r>
          </a:p>
          <a:p xmlns:a="http://schemas.openxmlformats.org/drawingml/2006/main">
            <a:r>
              <a:t>Dissertation, Abschn. 1.1–1.2; Abb. 2.1. Forschungsfragen und Ziele gemäß abgestimmter deutscher Formulierung des Autors.</a:t>
            </a:r>
            <a:endParaRPr/>
          </a:p>
          <a:p xmlns:a="http://schemas.openxmlformats.org/drawingml/2006/main">
            <a:r>
              <a:t>Quelle: bereitgestellte Dissertation main(1).pdf.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Der NMC-Datensatz umfasst 14 INR18650-Zellen in sieben Szenarien mit zwei Zellen je Szenario. Variiert werden mittlerer SOC, Entladetiefe, Entlade-C-Rate und Temperatur. Wiederholte Kapazitätstests liefern die SOH-Referenz. Dieser Datensatz gehört zur MLP-/Feature-Engineering-Studie und ist vom späteren LFP-Datensatz getrennt.</ns0:t>
            </ns0:r>
          </ns0:p>
          <ns1:p xmlns:ns1="http://schemas.openxmlformats.org/drawingml/2006/main">
            <ns1:r>
              <ns1:t/>
            </ns1:r>
          </ns1:p>
          <ns2:p xmlns:ns2="http://schemas.openxmlformats.org/drawingml/2006/main">
            <ns2:r>
              <ns2:t>Quelle: Florian Rzepka, bereitgestellte Dissertation main(1).pdf, Abschn. 4.1.1, Tab. 4.2, Abb. 4.1, S. 50–52.</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Der LFP-DoE-Datensatz umfasst 15 Zellen mit acht Betriebspunkten. Die Umgebungstemperatur bleibt bei 25 °C konstant. Systematisch variiert werden Lade-C-Rate (0,3–1,0 C), Entlade-C-Rate (0,5–3,0 C) und Entladetiefe (38–71 %). Gemessene Zelltemperatur ist weiterhin ein Eingangssignal. Der Datensatz bildet die Grundlage für den Robustheitsbenchmark und den Embedded-Kompressionsvergleich.</ns0:t>
            </ns0:r>
          </ns0:p>
          <ns1:p xmlns:ns1="http://schemas.openxmlformats.org/drawingml/2006/main">
            <ns1:r>
              <ns1:t/>
            </ns1:r>
          </ns1:p>
          <ns2:p xmlns:ns2="http://schemas.openxmlformats.org/drawingml/2006/main">
            <ns2:r>
              <ns2:t>Quelle: Florian Rzepka, bereitgestellte Dissertation main(1).pdf, Abschn. 4.1.2, Abb. 4.2–4.4, S. 52–55.</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Zielzeit: 50 Sekunden. Die Platinenabbildung zeigt die eigene BMS-Plattform. Markierung 1 bezeichnet den TLE9012DQU für Zellspannungs- und Temperaturmessung sowie passives Balancing. Die Strommessung erfolgt über einen zusätzlichen Messpfad. Markierung 2 bezeichnet den teilweise vom Display verdeckten STM32H755ZITx. Der Cortex-M4 übernimmt Messwerterfassung, Grenzwertüberwachung, Schutzansteuerung, Balancing-Koordination, Kommunikation und Systemmanagement; der Cortex-M7 führt die SOC- und SOH-Modelle aus. Der quantitative Hardwarebenchmark verwendet den STM32H753ZI auf einem Nucleo-144-Board. Beide Controller gehören zur STM32H7-Familie und besitzen einen Cortex-M7; die gezeigte H755-Platine und der H753ZI-Benchmark dürfen nicht gleichgesetzt werden. Der genaue Messumfang von Kernelzeit, Host-Latenz, Flash und Peak-RAM wird in der Benchmarkmethodik und im Anhang erläutert.</a:t>
            </a:r>
          </a:p>
          <a:p xmlns:a="http://schemas.openxmlformats.org/drawingml/2006/main">
            <a:r>
              <a:t/>
            </a:r>
          </a:p>
          <a:p xmlns:a="http://schemas.openxmlformats.org/drawingml/2006/main">
            <a:r>
              <a:t>[Sources]</a:t>
            </a:r>
          </a:p>
          <a:p xmlns:a="http://schemas.openxmlformats.org/drawingml/2006/main">
            <a:r>
              <a:t>Dissertation, Abb. 4.6; Abschn. 4.3.2–4.3.4 (TLE9012DQU, STM32H755 und Aufgabenteilung); Abschn. 6.2 und 7.6 (STM32H753ZI-Benchmark). Originalabbildung: 04_Abb_4-6_BMS_Platine.png.</a:t>
            </a:r>
          </a:p>
          <a:p xmlns:a="http://schemas.openxmlformats.org/drawingml/2006/main">
            <a:r>
              <a:t>Quelle: bereitgestellte Dissertation main(1).pdf.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Das MLP erhält die Belastungshistorie über kumulative Strommerkmale und lokale Betriebsverläufe über Lag Sequences. Die Untersuchung betrifft explizites Feature Engineering. Sie belegt keine allgemeine Überlegenheit des MLP gegenüber rekurrenten Architekturen.</ns0:t>
            </ns0:r>
          </ns0:p>
          <ns1:p xmlns:ns1="http://schemas.openxmlformats.org/drawingml/2006/main">
            <ns1:r>
              <ns1:t/>
            </ns1:r>
          </ns1:p>
          <ns2:p xmlns:ns2="http://schemas.openxmlformats.org/drawingml/2006/main">
            <ns2:r>
              <ns2:t>Quelle: Florian Rzepka, bereitgestellte Dissertation main(1).pdf, Abschn. 5.1–5.2.3, S. 65–71.</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Zielzeit: 50 Sekunden. Das MLP besteht aus einem Input Layer, Fully Connected Hidden Layers und einem Output Layer. Die Abbildung zeigt bereits diese englischen Fachbegriffe.</ns0:t>
            </ns0:r>
          </ns0:p>
          <ns1:p xmlns:ns1="http://schemas.openxmlformats.org/drawingml/2006/main">
            <ns1:r>
              <ns1:t>Weighted Sum + Bias: Die Activations a des vorherigen Layers werden mit den Weights W verknüpft und um Bias b ergänzt. Das Ergebnis z ist die Pre-activation. Im ersten Hidden Layer sind die Inputs die ursprünglichen Eingangsfeatures; in späteren Hidden Layers sind es die Activations des vorherigen Layers. Der Index ℓ bezeichnet den aktuellen Layer, ℓ−1 den vorherigen Layer. Die hervorgehobene Verbindung in der Abbildung ist der einzelne Weight w_ji.</ns1:t>
            </ns1:r>
          </ns1:p>
          <ns2:p xmlns:ns2="http://schemas.openxmlformats.org/drawingml/2006/main">
            <ns2:r>
              <ns2:t>Activation Function: a = f(z) liefert die Activations des aktuellen Layers. Die Hidden Layers verwenden eine Nonlinear Activation Function. Weights und Bias sind Trainable Parameters. Für den Output Layer richtet sich die Activation Function nach der Aufgabe; die Aussage über Nonlinear Activation bezieht sich hier ausdrücklich auf die Hidden Layers.</ns2:t>
            </ns2:r>
          </ns2:p>
          <ns3:p xmlns:ns3="http://schemas.openxmlformats.org/drawingml/2006/main">
            <ns3:r>
              <ns3:t>Parameter Count pro Fully Connected Layer: n_in × n_out Weights sowie ein Bias für jeden der n_out Outputs. Daher N_Layer = n_in n_out + n_out. Zeitinformation stammt beim MLP aus den Inputs, nicht aus einem internen recurrent state.</ns3:t>
            </ns3:r>
          </ns3:p>
          <ns4:p xmlns:ns4="http://schemas.openxmlformats.org/drawingml/2006/main">
            <ns4:r>
              <ns4:t>[Sources]</ns4:t>
            </ns4:r>
          </ns4:p>
          <ns5:p xmlns:ns5="http://schemas.openxmlformats.org/drawingml/2006/main">
            <ns5:r>
              <ns5:t>Dissertation, Abschn. 3.4.2, Gl. 3.7–3.10; Abb. 3.2</ns5:t>
            </ns5:r>
          </ns5:p>
          <ns6:p xmlns:ns6="http://schemas.openxmlformats.org/drawingml/2006/main">
            <ns6:r>
              <ns6:t>Quelle: main(1).pdf (Dissertation, bereitgestellte Fassung).</ns6:t>
            </ns6:r>
          </ns6:p>
          <ns7:p xmlns:ns7="http://schemas.openxmlformats.org/drawingml/2006/main">
            <ns7:r>
              <ns7:t>05_Abb_3-2_MLP_Architektur(1).png – bereitgestellte Originalabbildung</ns7:t>
            </ns7:r>
          </ns7:p>
          <ns8:p xmlns:ns8="http://schemas.openxmlformats.org/drawingml/2006/main">
            <ns8:r>
              <ns8:t>[/Sources]</ns8:t>
            </ns8:r>
          </ns8: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L bezeichnet die Anzahl der Einträge, Δt ihren zeitlichen Abstand. Die Dissertation verwendet L · Δt als Zeitabdeckung. Das Ziel ist SOH am Ende des Fensters. Die Sequenz schätzt den aktuellen Zustand, sie prognostiziert keine zukünftige Alterung. Q steht in der schematischen Abbildung für kumulative Strommerkmale. In der Aufbereitung werden Lade- und Entladedurchsatz getrennt berücksichtigt.</ns0:t>
            </ns0:r>
          </ns0:p>
          <ns1:p xmlns:ns1="http://schemas.openxmlformats.org/drawingml/2006/main">
            <ns1:r>
              <ns1:t/>
            </ns1:r>
          </ns1:p>
          <ns2:p xmlns:ns2="http://schemas.openxmlformats.org/drawingml/2006/main">
            <ns2:r>
              <ns2:t>Quelle: Florian Rzepka, bereitgestellte Dissertation main(1).pdf, Abschn. 5.2.1 und 5.2.3, Abb. 5.2, S. 67–71.</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Zehn NMC-Zellen liefern Training und Validierung, vier vollständige Zellen dienen als unabhängiger Test. 20 % der Entwicklungssequenzen sind für Validierung vorgesehen. Diese Validierung ist nicht als zellgetrennt beschrieben. Die Dissertation nennt die Skalierung der Eingänge auf [0, 1] und eine einheitliche Skalierung über die Teilmengen. Hyperband unterstützt die Hyperparameteroptimierung. MSE ist die Verlustfunktion, MAE und MSE bewerten die Testfehler. Bei Darstellung auf der SOH-Skala 0–100 % hat MAE die Einheit Prozentpunkte und MSE die Einheit quadrierte Prozentpunkte. N zählt ausgewertete Werte, k ist der Index.</ns0:t>
            </ns0:r>
          </ns0:p>
          <ns1:p xmlns:ns1="http://schemas.openxmlformats.org/drawingml/2006/main">
            <ns1:r>
              <ns1:t/>
            </ns1:r>
          </ns1:p>
          <ns2:p xmlns:ns2="http://schemas.openxmlformats.org/drawingml/2006/main">
            <ns2:r>
              <ns2:t>Quelle: Florian Rzepka, bereitgestellte Dissertation main(1).pdf, Abschn. 5.2.4–5.2.5 und 5.4, Gl. 5.4–5.5, S. 71–76.</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Verglichen werden L = 8, 12, 16, 20 und Δt = 1, 10, 30, 60 min. Die Heatmap-Achse „Number of sequences“ bezeichnet hier die Lag-Sequence Length L, also die Anzahl zeitlicher Einträge pro Eingang. Bei festem L ändert Δt die Zeitabdeckung, nicht die Anzahl der Eingänge. Die Lade- und Entladeintervalle dauern im Datensatz typischerweise etwa 20 min bis 1 h. Die Studie wählt L = 16 und Δt = 10 min als günstige Konfiguration. Dies ist kein universelles Optimum und nicht das eindeutige Minimum jeder einzelnen Zelle. Die Farbbalken sind zellspezifisch. MAE ist in SOH-Prozentpunkten angegeben.</ns0:t>
            </ns0:r>
          </ns0:p>
          <ns1:p xmlns:ns1="http://schemas.openxmlformats.org/drawingml/2006/main">
            <ns1:r>
              <ns1:t/>
            </ns1:r>
          </ns1:p>
          <ns2:p xmlns:ns2="http://schemas.openxmlformats.org/drawingml/2006/main">
            <ns2:r>
              <ns2:t>Quelle: Florian Rzepka, bereitgestellte Dissertation main(1).pdf, Abschn. 5.2.3 und 5.5, Abb. 5.5, S. 69–70 und 77–78.</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Die beiden günstigeren Zellen erreichen MAE von 0,487 und 0,253 Prozentpunkten. Cell 9 erreicht 2,528 Prozentpunkte und MSE = 8,327 pp². Entscheidend sind die Abweichungen zwischen Vorhersage und kapazitätsbasierter Referenz. Aus einer ungewöhnlichen Kurvenform allein folgt kein hoher Fehler. Die dargestellten Trajektorien sind zusätzlich geglättet. Über die ausgewerteten Fälle berichtet die Dissertation einen mittleren MAE von 1,10 pp und MSE von 2,95 pp². Die beobachtete Übertragbarkeit bleibt an die repräsentierten Betriebs- und Alterungsmuster gebunden.</ns0:t>
            </ns0:r>
          </ns0:p>
          <ns1:p xmlns:ns1="http://schemas.openxmlformats.org/drawingml/2006/main">
            <ns1:r>
              <ns1:t/>
            </ns1:r>
          </ns1:p>
          <ns2:p xmlns:ns2="http://schemas.openxmlformats.org/drawingml/2006/main">
            <ns2:r>
              <ns2:t>Quelle: Florian Rzepka, bereitgestellte Dissertation main(1).pdf, Abschn. 5.5–5.6, Abb. 5.6–5.7, S. 78–81.</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Vier festgelegte Repräsentanten werden unter identischen kausalen Daten- und Bewertungsbedingungen verglichen. Genauigkeit bezieht sich auf Dataset-SOC, Robustheit auf die gepaarte Änderung unter einer Störung und Recovery auf die Abweichung vom korrekt initialisierten Lauf desselben Modells. Die Untersuchung beansprucht keine universelle Rangfolge aller Vertreter einer Klasse. Die Hardwareauswertung ergänzt den Vergleich durch numerische Äquivalenz, Speicher und Laufzeit.</ns0:t>
            </ns0:r>
          </ns0:p>
          <ns1:p xmlns:ns1="http://schemas.openxmlformats.org/drawingml/2006/main">
            <ns1:r>
              <ns1:t/>
            </ns1:r>
          </ns1:p>
          <ns2:p xmlns:ns2="http://schemas.openxmlformats.org/drawingml/2006/main">
            <ns2:r>
              <ns2:t>Quelle: Florian Rzepka, bereitgestellte Dissertation main(1).pdf, Abschn. 6.1, 6.2.1 und 6.2.6, S. 83–86 und 93–94.</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Sechs unabhängige LFP-Holdout-Zellen ergeben 16 repräsentative Zell-/SOH-Fenster. Die Fensterwahl verwendet ausschließlich gemessene Betriebsmerkmale, keine Modellfehler. Standardfälle werden über 24 h bewertet, der einstündige Dropout über 48 h. Die Grundidee des Feature Engineering knüpft an den ersten Vortragsteil an, die konkrete Rekonstruktion ist hier kausal: Ladungsdurchsatz, EFC, Ableitungen und stündliche SOH-Statistiken entstehen aus dem jeweiligen Signalstrom. Die SOH-LSTM-Eingänge enthalten 20 stündlich aggregierte Merkmale. Die SOC-GRU erhält acht Eingänge. Unter Störungen müssen abhängige Features ebenfalls aus den gestörten Signalen rekonstruiert werden.</ns0:t>
            </ns0:r>
          </ns0:p>
          <ns1:p xmlns:ns1="http://schemas.openxmlformats.org/drawingml/2006/main">
            <ns1:r>
              <ns1:t>Quelle: Dissertation main(1).pdf, Abschnitt 6.2.3, S. 89, Abschnitt 6.3, S. 95–96 und Abbildung 6.1, S. 86.</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Die Einteilung beschreibt drei Grundfamilien und vier konkrete Vertreter: DM als Direct Measurement mit fester Kapazität, HDM als dessen hybride Erweiterung, HECM als modellbasierter 2RC-EKF mit datengetriebenem SOH-Kontext und DD als datengetriebene GRU. Es handelt sich um vier feste Implementierungen, nicht um eine vollständige Bewertung aller denkbaren Modelle einer Familie. HDM, HECM und DD erhalten dieselbe kausale LSTM-SOH-Spur. Beim DM ist keine SOH-Schätzung angebunden. Die Hybridisierung von HDM und HECM verbindet den jeweiligen SOC-Kern mit datengetrieben geschätzter Kapazität beziehungsweise SOH-abhängigen Parametern.</ns0:t>
            </ns0:r>
          </ns0:p>
          <ns1:p xmlns:ns1="http://schemas.openxmlformats.org/drawingml/2006/main">
            <ns1:r>
              <ns1:t>Quelle: Dissertation main(1).pdf, Abschnitte 6.2.1–6.2.3, Tabelle 6.1, S. 84–89.</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Abbildung 6.2 unterscheidet drei Obergruppen: Input Disturbances, Initialization Errors und Signal-Integrity Faults. Input Disturbances verändern die Messwerte, Initialization Errors den zugänglichen Startzustand und Signal-Integrity Faults Verfügbarkeit oder Zeitbezug der Samples. Die drei Obergruppen sind von den acht gleich gewichteten Störfamilien der späteren Robustheitsaggregation zu unterscheiden. Im Initialisierungsvergleich wird ein SOC-äquivalenter Startfehler von −10 Prozentpunkten eingebracht. Bei DD erfolgt dies über den Qc-Eingang. Parameter-Mismatch gehört nicht in das gemeinsame Cross-Model-Ranking.</ns0:t>
            </ns0:r>
          </ns0:p>
          <ns1:p xmlns:ns1="http://schemas.openxmlformats.org/drawingml/2006/main">
            <ns1:r>
              <ns1:t>Quelle: Dissertation main(1).pdf, Abschnitt 6.2.5, Abbildung 6.2 und Tabelle 6.2, S. 90–93, Abschnitt 6.2.6, S. 94–95.</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Initialization Errors bilden unsichere Startzustände nach Neustart, Lagerung oder fehlender aktueller Historie ab. Bei LFP begrenzt die flache OCV-SOC-Kennlinie die Verankerung des SOC allein aus der Ruhespannung. Deshalb wird untersucht, ob und wie dauerhaft die Modelle einen Startfehler überwinden. Der feste Benchmark-Startfehler beträgt −0,10 SOC bzw. −10 Prozentpunkte. Beim DD wird der online zugängliche Qc-Eingang gestört, nicht willkürlich der Hidden State. Recovery ist die Annäherung an den passenden korrekt initialisierten Lauf und wird von der Genauigkeit gegenüber der SOC-Referenz getrennt. Die genannten Praxisbeispiele motivieren die Störmechanismen; die feste Störhöhe ist eine Benchmark-Konfiguration.</ns0:t>
            </ns0:r>
          </ns0:p>
          <ns1:p xmlns:ns1="http://schemas.openxmlformats.org/drawingml/2006/main">
            <ns1:r>
              <ns1:t>Quelle: Dissertation main(1).pdf, Abschnitt 6.2.5, Abbildung 6.2 und Tabelle 6.2, S. 90–93; Abschnitt 6.2.6, S. 93–94.</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16 repräsentative 24-h-Fenster decken die verfügbaren Zell-/SOH-Kombinationen von sechs unabhängigen Holdout-Zellen ab. Die Fensterauswahl verwendet gemessene Betriebs- und Alterungsmerkmale, keine Modellfehler. Alle Modelle werden ab dem ersten gültigen DD-Wert über dieselben Samples bewertet. Die Fenster werden innerhalb der Zelle zusammengefasst, danach erhält jede Zelle das gleiche Gewicht.</ns0:t>
            </ns0:r>
          </ns0:p>
          <ns1:p xmlns:ns1="http://schemas.openxmlformats.org/drawingml/2006/main">
            <ns1:r>
              <ns1:t>Die Punkte in der Abbildung zeigen Fehlerwerte einzelner Zell-/SOH-Fenster. Die Balken zeigen das gleichgewichtete Zell-Makromittel. Die Fehlerbalken sind hierarchische 95-%-Konfidenzintervalle dieses Mittels. Die sichtbare Streuung beschreibt Unterschiede zwischen den Fensterfehlern. Hohe einzelne Fensterwerte kommen bei DM, HDM und HECM vor, während DD eine engere dargestellte Fehlerspanne aufweist. DM hat laut Abschnitt 6.4.1 die stärkste Variation zwischen Zellen und Fenstern.</ns1:t>
            </ns1:r>
          </ns1:p>
          <ns2:p xmlns:ns2="http://schemas.openxmlformats.org/drawingml/2006/main">
            <ns2:r>
              <ns2:t>Die Fehlerquellen dienen der mechanistischen Einordnung. DM verwendet eine feste Nennkapazität trotz variierender Alterung und besitzt zwischen Volllade-Ankern keinen kontinuierlichen Korrekturpfad. HDM passt die Kapazität an den geschätzten SOH an, HECM verwendet zusätzlich Spannungsfeedback sowie SOH-abhängige Kennfelder. Fehler des gemeinsamen SOH-LSTM gehen daher in beide vollständigen SOC-Pipelines ein. Der diagnostische Austausch gegen Ground-truth-SOH reduziert den mittleren Baseline-MAE um 0,0370 bei HDM und 0,0166 bei HECM und stützt diesen zusätzlichen Fehlerbeitrag. Dies ist eine Attribution von Fehlerbeiträgen; eine vollständige Zerlegung der Streuung jedes Fensterpunkts wurde damit nicht vorgenommen.</ns2:t>
            </ns2:r>
          </ns2:p>
          <ns3:p xmlns:ns3="http://schemas.openxmlformats.org/drawingml/2006/main">
            <ns3:r>
              <ns3:t>DD erzielt den niedrigsten nominalen Zell-Makro-MAE von 0,0258 mit 95-%-KI [0,0189; 0,0325]. Auch das RMSE-Ranking ist identisch. Die mehrkanalige zeitliche Historie erlaubt die gemeinsame Nutzung von Strom, Spannung, Temperatur und kausalen Features. Die Schlussaussage gilt für die nominale Genauigkeit der getesteten Vertreter. Die anschließenden Störtests untersuchen ihre Robustheit. Bei sechs unabhängigen Testzellen bleiben Holm-korrigierte Sign-flip-p-Werte über 0,05; Effektgrößen, Unsicherheitsintervalle und die beobachtete Rangfolge tragen die Interpretation.</ns3:t>
            </ns3:r>
          </ns3:p>
          <ns4:p xmlns:ns4="http://schemas.openxmlformats.org/drawingml/2006/main">
            <ns4:r>
              <ns4:t>Quelle: Florian Rzepka, bereitgestellte Dissertation main(1).pdf, Abschnitte 6.2.6 und 6.3, S. 93–97; Abschnitt 6.4.1 und Abbildung 6.4, S. 97–98; Abschnitt 6.4.9, S. 109–110; Abschnitt 6.5, S. 116–118; Tabellen A.2–A.3, S. 189–190.</ns4:t>
            </ns4:r>
          </ns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Ein multiplikativer Gain-Fehler skaliert den gemessenen Strom dauerhaft. Der Sweep umfasst ±0,5 %, ±1,5 % und ±3 %. Je Betrag wird zunächst pro Zelle das ungünstigere Vorzeichen anhand des gepaarten MAE-Anstiegs gewählt, danach erfolgt die gleichgewichtete Zellaggregation. Diese Auswertungsdefinition gilt weiterhin für das Diagramm.</ns0:t>
            </ns0:r>
          </ns0:p>
          <ns1:p xmlns:ns1="http://schemas.openxmlformats.org/drawingml/2006/main">
            <ns1:r>
              <ns1:t>Der Fehleranstieg wächst im Sechs-Zell-Vergleich mit dem Gain-Betrag bei allen vier Verfahren. Bei 3 % betragen die Anstiege 1,08 pp für DM, 1,01 pp für HDM, 0,60 pp für HECM und 0,38 pp für DD. DM und HDM integrieren den skalierten Strom, sodass sich der Fehler mit der übertragenen Ladung aufbaut. HECM kann Teile der Abweichung über das Spannungsresiduum korrigieren. DD verwendet zusätzlich weitere Messkanäle, abgeleitete Features und den zeitlichen Kontext. Dies ist eine plausible Erklärung der geringeren Stromkanalabhängigkeit, keine durch Feature-Ablation isoliert nachgewiesene Ursache.</ns1:t>
            </ns1:r>
          </ns1:p>
          <ns2:p xmlns:ns2="http://schemas.openxmlformats.org/drawingml/2006/main">
            <ns2:r>
              <ns2:t>DD zeigt damit den geringsten MAE-Anstieg im unabhängigen Sechs-Zell-Fenstervergleich. In der ergänzenden einzelnen Lebensdauertrajektorie führt dagegen HECM. Diese Diagnose ersetzt den hier gezeigten Vergleich nicht. In der Formel sind g der relative Gain-Fehler und C die Kapazität. Das Fehlerwachstum ist wegen Stromrichtungswechseln und Vollade-Ankern nicht als unbegrenzt monotone Drift zu interpretieren.</ns2:t>
            </ns2:r>
          </ns2:p>
          <ns3:p xmlns:ns3="http://schemas.openxmlformats.org/drawingml/2006/main">
            <ns3:r>
              <ns3:t>Quelle: Florian Rzepka, bereitgestellte Dissertation main(1).pdf, Abschnitt 6.4.2, Abbildungen 6.5–6.6, S. 98–100; Abschnitte 6.5.1 und 6.5.3, S. 116–119.</ns3:t>
            </ns3:r>
          </ns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Das Experiment verwendet einen Startfehler von −0,10 SOC-äquivalent, also −10 Prozentpunkten. DM/HDM erhalten einen Coulomb-counting-Zustandsfehler, HECM einen EKF-SOC-Fehler, DD einen Qc-Offset von −0,10 Cnom. Die Intervention betrifft damit jeweils einen zugänglichen Zustand und nicht identische latente Zustände.</ns0:t>
            </ns0:r>
          </ns0:p>
          <ns1:p xmlns:ns1="http://schemas.openxmlformats.org/drawingml/2006/main">
            <ns1:r>
              <ns1:t>d(t) ist der absolute gepaarte Abstand zum korrekt initialisierten Lauf desselben Modells, nicht der Fehler gegenüber dem Dataset-SOC. Erster qualifizierender Eintritt: d(t) ≤ 0,02 für mindestens 300 s. Persistente Recovery: anschließender Verbleib im Band bis zum Ende des 24-h-Horizonts. Die Zahlen sind protokollgebundene Recovery-or-censor-Zeiten.</ns1:t>
            </ns1:r>
          </ns1:p>
          <ns2:p xmlns:ns2="http://schemas.openxmlformats.org/drawingml/2006/main">
            <ns2:r>
              <ns2:t>HECM erreicht die schnellste persistente Recovery mit einem Zellmittel von 1,20 h, gegenüber 2,60 h für DD. DD hat eine Relapse-Fraktion von 0,78 gegenüber 0,17 für HECM. DM und HDM bleiben in 0,89 der zusammengefassten Fälle rechtszensiert. Ihre Zustände führen den Startfehler ohne kontinuierliches Spannungsfeedback bis zu einem physischen Ladeanker fort. HECM korrigiert dagegen den expliziten SOC-Zustand über das Spannungsresiduum. DD kann die gestörte Qc-Information durch seine Mehrkanalhistorie teilweise kompensieren. Ihr wechselnder Einfluss im rekurrenten Kontext erklärt, warum ein früher Eintritt in das Recovery-Band noch keine dauerhafte Erholung bedeutet.</ns2:t>
            </ns2:r>
          </ns2:p>
          <ns3:p xmlns:ns3="http://schemas.openxmlformats.org/drawingml/2006/main">
            <ns3:r>
              <ns3:t>Die Schlussfolgerung gilt für die stärkste beobachtete persistente Recovery unter diesem Initialisierungsprotokoll. Sie belegt keine universelle Überlegenheit von HECM bei jeder Störung.</ns3:t>
            </ns3:r>
          </ns3:p>
          <ns4:p xmlns:ns4="http://schemas.openxmlformats.org/drawingml/2006/main">
            <ns4:r>
              <ns4:t>Quelle: Florian Rzepka, bereitgestellte Dissertation main(1).pdf, Abschnitt 6.2.6, S. 93–94; Abschnitt 6.4.5 und Abbildung 6.9, S. 103–104; Abschnitt 6.5.1, S. 116–118.</ns4:t>
            </ns4:r>
          </ns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Die Abbildung zeigt die ereignisbezogene Reaktion auf einzelne Spannungsspitzen. Der getestete DD-Vertreter weist die deutlichste lokale Reaktion auf. Der mittlere zusätzliche Fehler direkt am Spike-Sample beträgt etwa 0,77 Prozentpunkte, während die anderen Repräsentanten nahezu keinen direkten zusätzlichen Fehler zeigen. Die Stärke der Reaktion variiert über Zellen und SOH-Zustände. Der Ausschlag klingt anschließend rasch ab.</ns0:t>
            </ns0:r>
          </ns0:p>
          <ns1:p xmlns:ns1="http://schemas.openxmlformats.org/drawingml/2006/main">
            <ns1:r>
              <ns1:t>Die lokale Empfindlichkeit betrifft die untersuchten Spannungsspitzen. Daraus folgt keine allgemeine Störanfälligkeit aller datengetriebenen Modelle bei sämtlichen lokalen Ereignissen. Die anderen Szenarien zeigen teilweise andere Rangfolgen und Mechanismen.</ns1:t>
            </ns1:r>
          </ns1:p>
          <ns2:p xmlns:ns2="http://schemas.openxmlformats.org/drawingml/2006/main">
            <ns2:r>
              <ns2:t>U ist die gemessene Spannung. dU/dt beschreibt ihre zeitliche Änderung. Eine Spannungsspitze stört beide Eingangsfeatures des DD-Modells. Beide Werte gelangen in den rekurrenten Kontext. Dies ist eine plausible Erklärung der kurzzeitigen SOC-Reaktion. Die Einzelbeiträge der beiden Features wurden nicht durch Ablation isoliert. DM und HDM nutzen Spannung nicht als kontinuierliche SOC-Korrektur. HECM verarbeitet sie über das Beobachterresiduum und die Kovarianzgewichtung.</ns2:t>
            </ns2:r>
          </ns2:p>
          <ns3:p xmlns:ns3="http://schemas.openxmlformats.org/drawingml/2006/main">
            <ns3:r>
              <ns3:t>Der 24-h-MAE-Anstieg bleibt bei allen vier Verfahren unter 0,04 Prozentpunkten. Der MAE mittelt den absoluten Fehler über alle Messzeitpunkte. Der kurze Transient erhält deshalb im gesamten Tagesfenster nur ein geringes Gewicht. Das erklärt den geringen globalen Einfluss trotz des deutlichen lokalen Fehlers. Zusätzlich zum Tages-MAE sind ereignisbezogene Fehlermaße nötig. Der gezeigte 95.-Perzentil-Peak ist nicht mit dem mittleren Fehler direkt am Spike-Sample gleichzusetzen.</ns3:t>
            </ns3:r>
          </ns3:p>
          <ns4:p xmlns:ns4="http://schemas.openxmlformats.org/drawingml/2006/main">
            <ns4:r>
              <ns4:t>Quelle: Florian Rzepka, bereitgestellte Dissertation main(1).pdf, Abschnitt 6.4.7, Abbildungen 6.12–6.13, S. 107–108; Abschnitte 6.5.1–6.5.2, S. 117–118.</ns4:t>
            </ns4:r>
          </ns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Abbildung 6.16 kombiniert min–max-normalisierte Genauigkeit, family-balanced Robustheit und beobachtete persistente Recovery. Die drei dargestellten Prioritätsprofile gewichten jeweils eine Dimension mit 60 % und die übrigen beiden mit je 20 %. Sie sind von den drei separat untersuchten Definitionen der Robustheitsaggregation zu unterscheiden.</ns0:t>
            </ns0:r>
          </ns0:p>
          <ns1:p xmlns:ns1="http://schemas.openxmlformats.org/drawingml/2006/main">
            <ns1:r>
              <ns1:t>DD erreicht in allen drei dargestellten Prioritätsprofilen den höchsten Gesamtscore. HECM erreicht die schnellste persistente Recovery durch die Korrektur seines expliziten SOC-Zustands über das Spannungsresiduum. Die Modelle besitzen damit unterschiedliche Stärken und Störreaktionen. Die normierten Scores sind relative Größen innerhalb der vier untersuchten Repräsentanten.</ns1:t>
            </ns1:r>
          </ns1:p>
          <ns2:p xmlns:ns2="http://schemas.openxmlformats.org/drawingml/2006/main">
            <ns2:r>
              <ns2:t>Die zentrale methodische Schlussfolgerung ist die notwendige Ergänzung einer MAE-Bewertung durch praxisnahe Störtests und lokale, ereignisbezogene Analysen. Ein niedriger Nominalfehler beschreibt nicht, wie sich ein Modell bei fehlerhaften, unvollständigen oder gestörten Eingangsdaten verhält. Die Modelle reagieren auf solche Eingriffe teilweise sehr unterschiedlich. Ein über ein langes Fenster gemittelter MAE kann zudem kurze Fehlerpeaks weitgehend verdecken, wie die Spannungsspitzen beim DD-Modell zeigen.</ns2:t>
            </ns2:r>
          </ns2:p>
          <ns3:p xmlns:ns3="http://schemas.openxmlformats.org/drawingml/2006/main">
            <ns3:r>
              <ns3:t>Genauigkeit, Robustheit und Recovery sind deshalb getrennt zu prüfen. Das Benchmark verbindet die mittlere Fehlerbewertung mit definierten Störszenarien, zeitlich aufgelösten Reaktionen und persistenter Recovery. Diese Methodik macht Schwächen sichtbar, die eine alleinige MAE-Rangfolge nicht abbildet. Praxisnah bezeichnet hier gezielt nachgebildete Störungen der Messkette und Initialisierung im kontrollierten Protokoll, keine bereits abgeschlossene Feldvalidierung des vollständigen BMS.</ns3:t>
            </ns3:r>
          </ns3:p>
          <ns4:p xmlns:ns4="http://schemas.openxmlformats.org/drawingml/2006/main">
            <ns4:r>
              <ns4:t>Quelle: Florian Rzepka, bereitgestellte Dissertation main(1).pdf, Abschnitt 6.4.7, S. 107–108; Abschnitt 6.4.11, Abbildungen 6.15–6.16, S. 110–112; Abschnitt 6.5.2, S. 118.</ns4:t>
            </ns4:r>
          </ns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Die Abbildung zeigt Flash- und RAM-Bedarf der isolierten SOC-Kerne auf dem STM32H753. Der gezeigte DD-Balken entspricht Continuous State. Rolling Window dient hier als Vergleich für den ergänzenden Modusbefund. Die gemeinsame SOH-Spur wird extern bereitgestellt, die Messung entspricht daher nicht dem Ressourcenbedarf eines vollständigen BMS. DM und HDM verwenden wenige skalare Zustände. Die HECM-Kennfelder dominieren den Flash-Bedarf. Beim DD entfallen Gewichte auf Flash, Laufzeitzustände und Zwischenwerte auf RAM.</ns0:t>
            </ns0:r>
          </ns0:p>
          <ns1:p xmlns:ns1="http://schemas.openxmlformats.org/drawingml/2006/main">
            <ns1:r>
              <ns1:t>Eine zusätzliche Untersuchung vergleicht die gleichen DD-GRU-Gewichte in Rolling Window, Continuous State und Periodic Reset. Rolling Window berechnet das kausale Fenster von 2024 Samples neu. Continuous State behält den Zustand und führt je Sample nur ein Update aus. Die mediane Latenz sinkt von 724 ms auf 0,425 ms, der RAM-Bedarf von 67,3 KiB auf 4,1 KiB. Dies entspricht einem Faktor 1703.5294117647059 für die Latenz und einer RAM-Reduktion von 93.9078751857355 %. Die Folie rundet auf 1700× und 94 %.</ns1:t>
            </ns1:r>
          </ns1:p>
          <ns2:p xmlns:ns2="http://schemas.openxmlformats.org/drawingml/2006/main">
            <ns2:r>
              <ns2:t>Die ähnlichen Nominalfehler beziehen sich auf die sechs untersuchten Sequenzen. Die unterschiedlichen Zustandssemantiken erfordern eine eigene Validierung; der Betriebsartenvergleich mit Reset-Effekten befindet sich in Anhang 8.</ns2:t>
            </ns2:r>
          </ns2:p>
          <ns3:p xmlns:ns3="http://schemas.openxmlformats.org/drawingml/2006/main">
            <ns3:r>
              <ns3:t>Quelle: main(1).pdf, Abschnitt 6.4.12, S. 113–116.</ns3:t>
            </ns3:r>
          </ns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Alle drei Ausführungsarten verwenden dieselben pruned GRU-Gewichte, Skalierungen und FP32-Kernels. Die dargestellten Unterschiede stammen aus der wiederholten Sequenzauswertung und der Zustandsführung, nicht aus einer weiteren Modellkompression.</ns0:t>
            </ns0:r>
          </ns0:p>
          <ns1:p xmlns:ns1="http://schemas.openxmlformats.org/drawingml/2006/main">
            <ns1:r>
              <ns1:t>Rolling Window setzt den Hidden State pro Ausgabe zurück und berechnet alle 2024 Samples des aktuellen Fensters erneut. Dies entspricht der primären Sequence-to-one-Semantik aus Training und Robustheitsbenchmark. Der hohe Wiederholungsaufwand erfordert ungefähr 724 ms Medianlatenz und 67,3 KiB Peak-RAM, entsprechend 72,4 % eines 1-s-Abtastintervalls.</ns1:t>
            </ns1:r>
          </ns1:p>
          <ns2:p xmlns:ns2="http://schemas.openxmlformats.org/drawingml/2006/main">
            <ns2:r>
              <ns2:t>Continuous State übernimmt den Hidden State zum nächsten Update und berechnet nur den neuen Zeitschritt. Das reduziert die Medianlatenz auf etwa 0,425 ms und Peak-RAM auf 4,1 KiB. Auf den sechs nominalen Sequenzen bleibt der Schätzfehler ähnlich. Periodic Reset arbeitet ebenfalls inkrementell, setzt den Zustand jedoch nach jeweils 2024 Updates zurück. Dadurch geht akkumulierte Historie verloren, und es entstehen ausgeprägte Fehlerpeaks. Der Mittelwert der zellweisen Maximalfehler beträgt etwa 29 Prozentpunkte, einzelne Zellen erreichen ungefähr 39 Prozentpunkte. Das sind Maximalfehler, keine mittleren MAE-Werte.</ns2:t>
            </ns2:r>
          </ns2:p>
          <ns3:p xmlns:ns3="http://schemas.openxmlformats.org/drawingml/2006/main">
            <ns3:r>
              <ns3:t>Continuous State ist damit die praktische effiziente DD-Konfiguration auf dieser Hardware. Seine Zustandssemantik unterscheidet sich jedoch vom trainierten Rolling Window. Die nominelle Vergleichsmessung allein überträgt deshalb nicht sämtliche Robustheitsergebnisse auf diesen Modus. Die Zustandsführung ist als eigene Deployment-Variante zu validieren.</ns3:t>
            </ns3:r>
          </ns3:p>
          <ns4:p xmlns:ns4="http://schemas.openxmlformats.org/drawingml/2006/main">
            <ns4:r>
              <ns4:t>Quelle: Florian Rzepka, bereitgestellte Dissertation main(1).pdf, Abschnitt 6.2.4, S. 90; Abschnitt 6.4.12 und Abbildung 6.20, S. 115–116; Abschnitt 6.5.3, S. 119–120.</ns4:t>
            </ns4:r>
          </ns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Einführung in Kapitel 7: Embedded-AI-Optimierung. Die beiden hervorgehobenen Bereiche des BMS-Anforderungsrahmens sind Hardware und Deployment. Hardware umfasst Flash, RAM und Inferenzzeit. Deployment umfasst insbesondere die Modellkomplexität und die Übertragung auf den Zielcontroller. Accuracy bleibt als Erhaltungsziel der Kompression Bestandteil der Bewertung.</ns0:t>
            </ns0:r>
          </ns0:p>
          <ns1:p xmlns:ns1="http://schemas.openxmlformats.org/drawingml/2006/main">
            <ns1:r>
              <ns1:t>Motivation: Komplexe neuronale Schätzer benötigen Speicher für Gewichte, Zustände und Zwischenwerte sowie Rechenzeit für jedes Update. Im BMS stehen diese Ressourcen nur begrenzt zur Verfügung. Eine gute Offline-Accuracy allein gewährleistet daher noch keine geeignete Ausführung auf dem Mikrocontroller.</ns1:t>
            </ns1:r>
          </ns1:p>
          <ns2:p xmlns:ns2="http://schemas.openxmlformats.org/drawingml/2006/main">
            <ns2:r>
              <ns2:t>Methodik: Für SOC und SOH jeweils dasselbe trainierte stateful LSTM+MLP-Base-Modell als Ausgangspunkt zweier getrennt untersuchter Kompressionspfade. Structured Pruning entfernt ausgewählte LSTM-Hidden-Units und passt die verbundenen Matrizen an, mit anschließendem Fine-Tuning. Die Post-Training-Quantization verringert die Bitbreite der rekurrenten Gewichte auf INT8. Pruned und Quantized sind eigenständige Varianten, keine zwingend nacheinander angewandte Kombination. Vergleich von Base FP32, Pruned FP32 und Quantized im kontinuierlichen Replay sowie nach C-Export auf dem STM32H753. Die Hardwarebewertung umfasst den verlinkten Flash-Bedarf, Peak Runtime RAM und die gemessene Kernelzeit. Die Messgrenze schließt Sensorik und Feature Engineering aus.</ns2:t>
            </ns2:r>
          </ns2:p>
          <ns3:p xmlns:ns3="http://schemas.openxmlformats.org/drawingml/2006/main">
            <ns3:r>
              <ns3:t>Ziel: Kleinere, für die BMS-Hardware geeignete SOC-/SOH-Modelle mit geringerem Ressourcenbedarf bei möglichst erhaltener Accuracy und stabilem Verhalten über den Datenstrom. Dies ist die Untersuchungsfrage, keine vorweggenommene Garantie einer Laufzeit- oder RAM-Verbesserung für jeden Kompressionspfad. Pruning verändert die Zahl der Parameter, Quantization primär deren Speicherrepräsentation.</ns3:t>
            </ns3:r>
          </ns3:p>
          <ns4:p xmlns:ns4="http://schemas.openxmlformats.org/drawingml/2006/main">
            <ns4:r>
              <ns4:t>Quelle: Florian Rzepka, bereitgestellte Dissertation main(1).pdf, Kapitel 7, Einleitung und Abschnitt 7.1, S. 123–124; Abschnitt 7.3, S. 127–129; Abschnitte 7.4–7.6 zur Kompression und zum MCU-Vergleich.</ns4:t>
            </ns4:r>
          </ns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Beide Modelle sind Single-layer-LSTMs mit anschließendem ReLU-MLP-Head und separatem skalarem Ausgang. Die SOC-Eingänge sind U, I, T, Qc, dU/dt und dI/dt. SOH erhält t, U, I, T, EFC und Qc. Der RobustScaler wird auf Trainingsdaten angepasst und unverändert exportiert. Die Zustände h und c werden im 1-Hz-Replay ohne künstliche Segment-Resets weitergereicht. SOC nutzt H=M=64 und Sigmoid, SOH H=M=128 und linearen Ausgang. Dies unterscheidet sich vom stündlich aggregierten gemeinsamen SOH-Service des vorherigen Kapitels.</ns0:t>
            </ns0:r>
          </ns0:p>
          <ns1:p xmlns:ns1="http://schemas.openxmlformats.org/drawingml/2006/main">
            <ns1:r>
              <ns1:t/>
            </ns1:r>
          </ns1:p>
          <ns2:p xmlns:ns2="http://schemas.openxmlformats.org/drawingml/2006/main">
            <ns2:r>
              <ns2:t>Quelle: Florian Rzepka, bereitgestellte Dissertation main(1).pdf, Abschn. 7.2–7.3, Abb. 7.1–7.2, Gl. 7.1–7.5, S. 124–128.</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Bezug: Kapitel 7 der Dissertation, eigenständige SOC- und SOH-Modelle für Embedded AI. Beide Modelle verwenden eine einzelne LSTM-Schicht und einen MLP-Head mit einem ReLU-Hidden-Layer und skalarem Ausgang. Dies sind andere Modelle als die SOC-GRU und der stündliche SOH-Kontext im Benchmark aus Kapitel 6. Beide Modelle verarbeiten jeweils D = 6 Eingänge auf dem 1-Hz-Strom.</ns0:t>
            </ns0:r>
          </ns0:p>
          <ns1:p xmlns:ns1="http://schemas.openxmlformats.org/drawingml/2006/main">
            <ns1:r>
              <ns1:t>Parameterzählung gemäß der in Abschnitt 3.4.3 beschriebenen PyTorch-Konvention mit zwei LSTM-Biasvektoren pro Transformation. Gezählt werden gespeicherte trainierbare Gewichte und Biaswerte. hₜ und cₜ sind Laufzeitzustände, keine trainierbaren Parameter. Keine zusätzlichen Parameter für ReLU, Sigmoid oder Tanh.</ns1:t>
            </ns1:r>
          </ns1:p>
          <ns2:p xmlns:ns2="http://schemas.openxmlformats.org/drawingml/2006/main">
            <ns2:r>
              <ns2:t>Die Zahlen sind aus der angegebenen Architektur hergeleitet, keine Messung der Binärgröße. Quelle: main(1).pdf, Abschnitt 3.4.3, S. 18–19; Abschnitt 7.3, S. 127–129, Abbildungen 7.1–7.2.</ns2:t>
            </ns2:r>
          </ns2:p>
          <ns3:p xmlns:ns3="http://schemas.openxmlformats.org/drawingml/2006/main">
            <ns3:r>
              <ns3:t>Vier Transformationen: Input-, Forget- und Output-Gate sowie Zellkandidat. Jede verwendet eine H×D-Eingangsmatrix, eine H×H-Rekurrenzmatrix und zwei Biasvektoren der Länge H. Daher 4(HD + H² + 2H).</ns3:t>
            </ns3:r>
          </ns3:p>
          <ns4:p xmlns:ns4="http://schemas.openxmlformats.org/drawingml/2006/main">
            <ns4:r>
              <ns4:t>SOC: 18432 Parameter im LSTM-Kern. SOH: 69632 Parameter im LSTM-Kern. Die rote Kontur umfasst ausschließlich den LSTM-Baustein der unveränderten Abbildung.</ns4:t>
            </ns4:r>
          </ns4:p>
          <ns0:p xmlns:ns0="http://schemas.openxmlformats.org/drawingml/2006/main">
            <ns0:r>
              <ns0:t>Erläuterung der Eingangsgröße D: D ist die Zahl der Features pro Zeitschritt, unabhängig von der Länge der zeitlichen Historie. Beide Modelle verwenden sechs Features, aber unterschiedliche Zusammenstellungen. SOC: Klemmenspannung U, Strom I, Temperatur T, kumulierter Ladungszustand Qc aus Stromintegration sowie zeitliche Änderungen dU/dt und dI/dt. SOH: kumulierte Zeit t, U, I, T, äquivalente Vollzyklen EFC und Qc. Beide Feature-Vektoren enthalten die drei Messgrößen U, I, T und drei zusätzliche zeitliche bzw. abgeleitete Größen. Die Features entstehen im Feature Engineering. Damit bedeutet D = 6 nicht sechs verschiedene physikalische Sensoren. Qc ist eine bilanzierte Ladungsgröße, EFC beruht auf dem absoluten Ladungsdurchsatz.</ns0:t>
            </ns0:r>
          </ns0:p>
          <ns1:p xmlns:ns1="http://schemas.openxmlformats.org/drawingml/2006/main">
            <ns1:r>
              <ns1:t>Quelle der Feature-Vektoren und Definitionen: Dissertation main(1).pdf, Abschnitt 7.2, Gleichungen 7.1–7.4, S. 124–125. Die Ableitungen stammen aus kausalen, timestampbezogenen Rückwärtsdifferenzen.</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Versuchsaufbau zur Kompression und zum Vergleich der SOC- und SOH-Schätzer. Je Aufgabe bildet dasselbe trainierte LSTM+MLP-Base-Modell den Ausgangspunkt. Zwei getrennte Varianten entstehen durch Structured Pruning beziehungsweise Post-Training-INT8-Quantization. Pruned und Quantized bezeichnen eigenständige Kompressionspfade, keine zwingend nacheinander angewandte Kombination.</ns0:t>
            </ns0:r>
          </ns0:p>
          <ns1:p xmlns:ns1="http://schemas.openxmlformats.org/drawingml/2006/main">
            <ns1:r>
              <ns1:t>Alle drei Varianten, Base FP32, Pruned FP32 und Quantized, werden im PC-Referenzreplay und als Implementierung auf dem STM32H753 untersucht. Sie erhalten denselben geordneten Feature-Strom und verwenden dieselbe kontinuierliche Zustandsführung. So lassen sich Unterschiede durch Kompression von Unterschieden durch Datenwahl oder die Ausführungsplattform abgrenzen.</ns1:t>
            </ns1:r>
          </ns1:p>
          <ns2:p xmlns:ns2="http://schemas.openxmlformats.org/drawingml/2006/main">
            <ns2:r>
              <ns2:t>Der Versuch enthält zwei Vergleichsebenen. Erstens: Schätzfehler und zeitliches Verhalten der komprimierten Modelle gegenüber dem Base-Modell bei gleichen Daten und Referenzlabels. Zweitens: Konsistenz zwischen PC-Referenz und STM32-Ausgaben sowie der Ressourcenbedarf auf dem Mikrocontroller, insbesondere Flash, RAM und Inferenzzeit. Die Fähigkeit zur Ausführung auf der Zielhardware und die Erhaltung der Schätzgüte bilden damit zusammen das Deployment-Ziel.</ns2:t>
            </ns2:r>
          </ns2:p>
          <ns3:p xmlns:ns3="http://schemas.openxmlformats.org/drawingml/2006/main">
            <ns3:r>
              <ns3:t>Ziel ist ein geringerer Hardwarebedarf bei möglichst unverändertem Schätzfehler. Dies ist eine Zielsetzung, keine Behauptung identischer Fehler für alle Varianten. Die folgenden Ergebnisse prüfen die tatsächlich erzielten Kompromisse. Insbesondere können Quantization und Pruning Accuracy und Laufzeit unterschiedlich beeinflussen. Konsistente PC-/STM32-Ausgaben bezeichnen die numerisch geprüfte Übertragung derselben Modellvariante, nicht eine behauptete bitgenaue Gleichheit aller Varianten.</ns3:t>
            </ns3:r>
          </ns3:p>
          <ns4:p xmlns:ns4="http://schemas.openxmlformats.org/drawingml/2006/main">
            <ns4:r>
              <ns4:t>Quelle: Florian Rzepka, bereitgestellte Dissertation main(1).pdf, Abschnitt 7.1, S. 123–124; Abschnitte 7.4–7.5; Abschnitt 7.6, S. 135–137; Abschnitt 7.7, S. 137–138.</ns4:t>
            </ns4:r>
          </ns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Unstructured Pruning erzeugt Nullgewichte. Ohne Sparse-Unterstützung werden die unveränderten dichten Matrizen weiterhin vollständig verarbeitet. Structured Pruning entfernt ganze Kanäle und verkleinert damit dichte Tensoren. Bei einem LSTM betrifft dies gekoppelte Gate-Zeilen, rekurrente Spalten, Bias, Zustände und nachgeschaltete MLP-Eingänge. Die Untersuchung nutzt Structured Pruning, damit der vorhandene manuelle FP32-Kernel kleinere Arrays unmittelbar ausführen kann.</ns0:t>
            </ns0:r>
          </ns0:p>
          <ns1:p xmlns:ns1="http://schemas.openxmlformats.org/drawingml/2006/main">
            <ns1:r>
              <ns1:t/>
            </ns1:r>
          </ns1:p>
          <ns2:p xmlns:ns2="http://schemas.openxmlformats.org/drawingml/2006/main">
            <ns2:r>
              <ns2:t>Quelle: Florian Rzepka, bereitgestellte Dissertation main(1).pdf, Abschn. 3.5.1 und 7.4, Abb. 3.5, S. 25–27 und 130–132.</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Die Folie knüpft ausdrücklich an den rechten Teil (c) der unveränderten Abbildung auf Folie 36 an. Es wird derselbe Bildausschnitt wiederverwendet, kein zusätzliches Zahlenbeispiel. Die generische Abbildung zeigt das gemeinsame Kürzen der Ausgangszeilen einer Schicht und der passenden Eingangsspalten der Folgeschicht. I_out und I_in sind die jeweils beibehaltenen Indexmengen, nicht die entfernten Indizes.</ns0:t>
            </ns0:r>
          </ns0:p>
          <ns1:p xmlns:ns1="http://schemas.openxmlformats.org/drawingml/2006/main">
            <ns1:r>
              <ns1:t>Der Score s_h summiert für jede Hidden Unit h die L2-Zeilennormen ihrer Input weights W_ih und Recurrent weights W_hh über die vier Gate-/Kandidatenblöcke. W_ih verknüpft die aktuellen Features mit den Gate-Aktivierungen; W_hh verknüpft den vorherigen Hidden State mit diesen Aktivierungen. Hohe Scores sind das verwendete gewichtsbasierte Auswahlkriterium, kein Nachweis einer kausalen Bedeutung einzelner Units.</ns1:t>
            </ns1:r>
          </ns1:p>
          <ns2:p xmlns:ns2="http://schemas.openxmlformats.org/drawingml/2006/main">
            <ns2:r>
              <ns2:t>Beibehalten werden die Hidden Units mit den höchsten Scores. Innerhalb jedes Gate-Blocks entsprechen sie den Ausgangszeilen I_out. Die nicht ausgewählten Zeilen werden tatsächlich entfernt. Die sechs ursprünglichen Feature-Eingänge bleiben erhalten. Der MLP-Head erhält nur die verbleibenden LSTM-Ausgänge; deshalb werden seine Eingangsspalten nach denselben Hidden-Unit-Identitäten I_in gewählt. Seine Hidden-Layer-Breite M bleibt unverändert.</ns2:t>
            </ns2:r>
          </ns2:p>
          <ns3:p xmlns:ns3="http://schemas.openxmlformats.org/drawingml/2006/main">
            <ns3:r>
              <ns3:t>Beim LSTM ist diese Auswahl über alle vier Gate-/Kandidatenblöcke gekoppelt. In jedem W_ih-Block werden die ausgewählten Zeilen behalten, in jedem W_hh-Block dieselben Zeilen und Spalten. Außerdem werden beide Biasvektoren sowie h_t und c_t entsprechend gekürzt. Die Gleichheit der ausgewählten Hidden-Unit-Identitäten ist keine pauschale Gleichheit der gesamten Zeilen- und Spaltenindices der gestapelten 4H×H-Gatematrix.</ns3:t>
            </ns3:r>
          </ns3:p>
          <ns4:p xmlns:ns4="http://schemas.openxmlformats.org/drawingml/2006/main">
            <ns4:r>
              <ns4:t>Das Resultat sind kleinere dichte Matrizen und kürzere Zustandsvektoren. Im untersuchten One-Shot-Pruning sinkt H für SOC von 64 auf 45 und für SOH von 128 auf 90; anschließend folgt kurzes Fine-Tuning zur Anpassung des verkleinerten Netzes. Rund 30 Prozent Pruning sind der untersuchte moderate Betriebspunkt, kein durch umfassende Suche ermitteltes Optimum. L2 wurde als reproduzierbares Kriterium gewählt; alternative Kriterien wurden nicht experimentell gerankt.</ns4:t>
            </ns4:r>
          </ns4:p>
          <ns5:p xmlns:ns5="http://schemas.openxmlformats.org/drawingml/2006/main">
            <ns5:r>
              <ns5:t>Die ausführliche Schreibweise mit R aus der Dissertation und die MAC-Reduktionen stehen in Anhang 11. R bezeichnet dort die gemeinsame Menge der verbleibenden Hidden-Unit-Indizes.</ns5:t>
            </ns5:r>
          </ns5:p>
          <ns6:p xmlns:ns6="http://schemas.openxmlformats.org/drawingml/2006/main">
            <ns6:r>
              <ns6:t>Quelle: Florian Rzepka, bereitgestellte Dissertation main(1).pdf, Abschnitt 3.5.1, Gleichung 3.19 und Abbildung 3.5, S. 24–27; Abschnitt 7.4, Gleichungen 7.11–7.12, S. 130–132.</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Leseführung der linken Spalte: Zunächst eine unbetonte Definition der Matrix W und der Positionsindices r,k. Danach zwei hervorgehobene Phasen. Quantization zur Speicherung: einmalige Ermittlung der Zeilenskalen s_r und der INT8-Codes q_{r,k} aus den trainierten FP32-Gewichten. Gespeichert werden die Codes als INT8 und die zugehörigen Skalen als FP32. Dequantization zur Laufzeit: Verwendung des rekonstruierten Näherungswerts W_hat_{r,k}=s_r q_{r,k} in der FP32-Berechnung. Bias, States und MLP bleiben ebenfalls FP32. Die Anmerkung zu epsilon_q ist in den folgenden Notizen erläutert und steht nicht als eigener hervorgehobener Punkt auf der Folie.</ns0:t>
            </ns0:r>
          </ns0:p>
          <ns0:p xmlns:ns0="http://schemas.openxmlformats.org/drawingml/2006/main">
            <ns0:r>
              <ns0:t>Die Grafik ist der vergrößerte Rasterteil (b) aus Abbildung 3.7 der Dissertation, Abschnitt 3.5.2, S. 35. Der auf der vorherigen Fassung ebenfalls sichtbare generische Neuronenteil (a) ist für diese Ansicht durch einen reversiblen PowerPoint-Bildausschnitt ausgeblendet. Die Originalbilddatei bleibt unverändert eingebettet. Die drei Raster zeigen allgemeine Quantisierungsvarianten. Im hier ausgewerteten Embedded-Versuch wurde ausschließlich die rot markierte signed symmetric INT8-Variante für W_ih und W_hh verwendet. Die beiden UINT8-Raster sind allgemeine Alternativen, keine weiteren experimentell verglichenen Modellvarianten.</ns0:t>
            </ns0:r>
          </ns0:p>
          <ns1:p xmlns:ns1="http://schemas.openxmlformats.org/drawingml/2006/main">
            <ns1:r>
              <ns1:t>W bezeichnet in den Formeln jeweils eine gesamte Gewichtsmatrix: entweder W_ih (Input weights) oder W_hh (Recurrent weights). W_{r,k} bezeichnet den einzelnen Eintrag in Zeile r und Spalte k dieser Matrix. Die Buchstaben ih und hh benennen die Art der Verbindung und sind keine Positionsindices r,k. Ausführlich wäre etwa (W_ih)_{r,k} zu schreiben. Auf der Folie wird die Kurzform W_{r,k} mit expliziter Matrix- und Indexdefinition verwendet.</ns1:t>
            </ns1:r>
          </ns1:p>
          <ns2:p xmlns:ns2="http://schemas.openxmlformats.org/drawingml/2006/main">
            <ns2:r>
              <ns2:t>Die Quantisierung erfolgt für jede Matrix separat und je Zeile r. s_r ist eine eigene FP32-Skala pro Zeile, ermittelt aus deren größtem Gewichtsbetrag über alle Spalten k. Die Untergrenze epsilon_q schützt eine vollständig mit Nullen belegte Zeile. q_{r,k} bezeichnet den gespeicherten signed INT8-Code des jeweiligen Gewichts. Die Codes reichen symmetrisch von -127 bis +127; -128 bleibt ungenutzt, der Zero point ist 0. Die Symmetrie passt zu Gewichten mit positiven und negativen Werten.</ns2:t>
            </ns2:r>
          </ns2:p>
          <ns3:p xmlns:ns3="http://schemas.openxmlformats.org/drawingml/2006/main">
            <ns3:r>
              <ns3:t>W_hat_{r,k}=s_r q_{r,k} ist der rekonstruierte FP32-Wert, der für die Rechnung verwendet wird. Durch Rundung ist er in der Regel eine Näherung des ursprünglichen W_{r,k}. Für endliche Gewichte verhindert die auf dem Zeilenmaximum beruhende Skala Clipping; der maximale Rundungsfehler ist |W_{r,k}-W_hat_{r,k}| &lt;= s_r/2. Diese Fehlergrenze ist zur Entlastung der Hauptfolie in den Notizen dokumentiert.</ns3:t>
            </ns3:r>
          </ns3:p>
          <ns4:p xmlns:ns4="http://schemas.openxmlformats.org/drawingml/2006/main">
            <ns4:r>
              <ns4:t>In den konkret untersuchten C-Kernels wird jedes INT8-Gewicht in der Akkumulation nach FP32 konvertiert und mit seiner Zeilenskala multipliziert. Nur W_ih und W_hh verwenden INT8-Speicherung. Skalen, Bias, Hidden State, Cell State, Aktivierungen, MLP-Gewichte, MLP-Rechnung und Output bleiben FP32. Es handelt sich um post-training weight-only Mixed Precision. Die Topologie und die Zahl der gewichteten Matrixprodukt-MACs bleiben gleich, während der Gewichtsspeicher sinkt. Zusätzliche Konvertierungs- und Skalierungsoperationen können die Laufzeit beeinflussen. Weniger Speicher garantiert in diesem Kernel keine Beschleunigung. Ein voll-integer Kernel oder Quantization-aware Training wurde hier nicht untersucht.</ns4:t>
            </ns4:r>
          </ns4:p>
          <ns5:p xmlns:ns5="http://schemas.openxmlformats.org/drawingml/2006/main">
            <ns5:r>
              <ns5:t>Die beiden unteren Raster erläutern Alternativen: unsigned zero-anchored UINT8 mit Zero point 0 für nichtnegative Werte; asymmetric UINT8 mit verschobenem Zero point für verschobene Wertebereiche. Trotz unsigned Codes können beim asymmetrischen Raster negative reale Werte repräsentiert werden, weil die Rekonstruktion s(q-z) verwendet.</ns5:t>
            </ns5:r>
          </ns5:p>
          <ns6:p xmlns:ns6="http://schemas.openxmlformats.org/drawingml/2006/main">
            <ns6:r>
              <ns6:t>Quellen: Florian Rzepka, bereitgestellte Dissertation main(1).pdf, Abschnitt 3.5.2, Abbildung 3.7, S. 34–37; Abschnitt 7.5, Gleichungen 7.13–7.17 und Abbildung 7.5, S. 133–134.</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Vergleich von Base, Pruned und Quantized im vollständigen Streaming-Replay mit derselben geordneten Feature-Sequenz und zustandsbehafteter Ausführung. Die Ergebnisse gelten für die untersuchten Modelle und diesen Replay-Lauf.</ns0:t>
            </ns0:r>
          </ns0:p>
          <ns1:p xmlns:ns1="http://schemas.openxmlformats.org/drawingml/2006/main">
            <ns1:r>
              <ns1:t>Links: SOC. Quantized bleibt nahe am Base-Niveau. Pruned weist im vorliegenden Lauf eine geringere Streuung der absoluten Fehler auf; daraus folgt keine allgemeine Überlegenheit von Pruning und kein Nachweis eines Regularisierungseffekts.</ns1:t>
            </ns1:r>
          </ns1:p>
          <ns2:p xmlns:ns2="http://schemas.openxmlformats.org/drawingml/2006/main">
            <ns2:r>
              <ns2:t>Rechts: SOH nach der vollständigen kausalen Filterkette. Bei Pruned und Quantized liegen Median und Streuung der absoluten Fehler höher als bei Base. Die Boxplots isolieren den Filtereinfluss nicht.</ns2:t>
            </ns2:r>
          </ns2:p>
          <ns3:p xmlns:ns3="http://schemas.openxmlformats.org/drawingml/2006/main">
            <ns3:r>
              <ns3:t>Die schwarze Linie im Boxplot kennzeichnet den Median des absoluten Fehlers, nicht den MAE. Die MAE-Werte stehen in den Originallegenden und werden deshalb im Folientext nicht wiederholt.</ns3:t>
            </ns3:r>
          </ns3:p>
          <ns4:p xmlns:ns4="http://schemas.openxmlformats.org/drawingml/2006/main">
            <ns4:r>
              <ns4:t>Kernaussage: SOC-Accuracy weitgehend erhalten; höhere SOH-Fehler nach Kompression. Keine pauschale Aussage, dass Kompression beide Zielgrößen unbeeinflusst lässt. Der Accuracy-Vergleich bildet die Grundlage für die anschließende Bewertung von Speicherbedarf und Hardware-Ausführung.</ns4:t>
            </ns4:r>
          </ns4:p>
          <ns5:p xmlns:ns5="http://schemas.openxmlformats.org/drawingml/2006/main">
            <ns5:r>
              <ns5:t>Quelle: Dissertation, Kapitel 7, insbesondere Abschnitte 7.7–7.9, 7.12.1 und 7.13. Die ergänzenden Signed Error Histograms befinden sich in Anhang 12.</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Ergänzung zur gemeinsamen Accuracy-Folie: unveränderte Signed Error Histograms aus den ursprünglichen SOC- und SOH-Ergebnisgrafiken.</ns0:t>
            </ns0:r>
          </ns0:p>
          <ns1:p xmlns:ns1="http://schemas.openxmlformats.org/drawingml/2006/main">
            <ns1:r>
              <ns1:t>Signed error = Prediction minus Ground Truth. Positive Werte bedeuten Überschätzung; negative Werte bedeuten Unterschätzung. Die Histogramme ergänzen die absoluten Fehlerverteilungen um Fehlerrichtung, Asymmetrie und Verteilungsform.</ns1:t>
            </ns1:r>
          </ns1:p>
          <ns2:p xmlns:ns2="http://schemas.openxmlformats.org/drawingml/2006/main">
            <ns2:r>
              <ns2:t>SOC links, SOH rechts. SOH-Ergebnisse nach der vollständigen kausalen Filterkette. Die Verteilungen allein erlauben keine isolierte Quantifizierung des Filtereinflusses.</ns2:t>
            </ns2:r>
          </ns2:p>
          <ns3:p xmlns:ns3="http://schemas.openxmlformats.org/drawingml/2006/main">
            <ns3:r>
              <ns3:t>Quelle: Dissertation, Kapitel 7, insbesondere Abschnitte 7.7–7.9, 7.12.1 und 7.13.</ns3:t>
            </ns3:r>
          </ns3:p>
          <ns4:p xmlns:ns4="http://schemas.openxmlformats.org/drawingml/2006/main">
            <ns4:r>
              <ns4:t>Zusätzliche Sprechernotizen der ursprünglichen SOH-Folie:</ns4:t>
            </ns4:r>
          </ns4:p>
          <ns5:p xmlns:ns5="http://schemas.openxmlformats.org/drawingml/2006/main">
            <ns5:r>
              <ns5:t>Die gezeigten MAE-Werte nach vollständiger Filterung sind 0,85 / 1,46 / 1,41 Prozentpunkte. Sie gehören zum vollständigen Replay in der Hauptauswertung. Die separate kontrollierte Filterdiagnose in Abschn. 7.8 nutzt eine eigene Vergleichssequenz und zeigt, dass die Nachverarbeitung auch die Rangfolge ändern kann. Die initiale Ausrichtung nutzt das Anfangslabel, weitere Stufen enthalten EMA und Ratenbegrenzer. Für den linearen EMA-Anteil der zweiten Stufe gelten α=10⁻⁶ bei 1 Hz, τ≈11,57 Tage und eine 90-%-Antwortzeit von 26,65 Tagen. Dies sind keine linearen Kennwerte der gesamten nichtlinearen Filterkette. Rohnetzfehler, gefilterter Fehler und Antwortverzug sind getrennt zu beurteilen.</ns5:t>
            </ns5:r>
          </ns5:p>
          <ns6:p xmlns:ns6="http://schemas.openxmlformats.org/drawingml/2006/main">
            <ns6:r>
              <ns6:t>Quelle: Florian Rzepka, bereitgestellte Dissertation main(1).pdf, Abschn. 7.2, 7.7–7.9 und 7.12.1, Abb. 7.9, Gl. 7.6–7.8, S. 125–126 und 138–149.</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Flash-Bilanz: F_Firmware = F_Gewichte + F_Code + F_Konstanten. F_Gewichte bezeichnet den persistenten Gewichtsspeicher; F_Code umfasst Programmcode; F_Konstanten umfasst weitere gespeicherte Konstanten wie Biaswerte, Feature-Skalierung und Quantisierungsskalen.</ns0:t>
            </ns0:r>
          </ns0:p>
          <ns1:p xmlns:ns1="http://schemas.openxmlformats.org/drawingml/2006/main">
            <ns1:r>
              <ns1:t>Die Quantisierungsskalen sind FP32-Skalierungsfaktoren pro Matrixzeile. Zusammen mit den gespeicherten INT8-Gewichtscodes erlauben sie die näherungsweise Dequantization eines Gewichts: W_hat[r,k] = s_r q[r,k]. Ein Skalenwert gilt für mehrere Gewichte einer Zeile. Er ist kein zusätzliches trainiertes Gewicht. Die Skalen zählen hier zu F_Konstanten und nicht ein zweites Mal zu F_Gewichte.</ns1:t>
            </ns1:r>
          </ns1:p>
          <ns2:p xmlns:ns2="http://schemas.openxmlformats.org/drawingml/2006/main">
            <ns2:r>
              <ns2:t>RAM in Kapitel 7: Summe aus initialisiertem statischem Speicher (.data), nullinitialisiertem statischem Speicher (.bss) und dem größten beobachteten Stack-Bedarf während des Streaming-Replays. Die statischen Speicherbereiche ergeben sich aus der gelinkten Firmware. Der Stack-Anteil wird während der Ausführung beobachtet. Dies ist ein beobachteter maximaler Bedarf im Test, keine formale Worst-Case-Grenze. Abschnitt 7.6.2 nennt keinen zusätzlichen Heap-Anteil und beschreibt keine konkrete Stack-Messinstrumentierung. Das detailliertere Heap-/High-Water-Mark-Protokoll aus Kapitel 6 wird deshalb nicht auf diese Studie übertragen.</ns2:t>
            </ns2:r>
          </ns2:p>
          <ns3:p xmlns:ns3="http://schemas.openxmlformats.org/drawingml/2006/main">
            <ns3:r>
              <ns3:t>RAM-Werte gemäß Tabelle 7.1: SOC Base 4,93 KB, Pruned 4,03 KB, Quantized 3,96 KB. Gemäß Tabelle 7.2: SOH Base 8,69 KB, Pruned 6,96 KB, Quantized 6,70 KB. Einsparung = 100 × (1 − RAM_Variante / RAM_Base). Gerundet auf eine Nachkommastelle: Pruned 18,3 % (SOC) und 19,9 % (SOH), Quantized 19,7 % (SOC) und 22,9 % (SOH).</ns3:t>
            </ns3:r>
          </ns3:p>
          <ns4:p xmlns:ns4="http://schemas.openxmlformats.org/drawingml/2006/main">
            <ns4:r>
              <ns4:t>Die RAM-Ersparnis liegt deutlich unter der Flash-Ersparnis. Quantized behält FP32-Zustände, Gate-Aktivierungen und FP32-Arithmetik bei. Die Weight-only-Quantisierung reduziert daher vor allem den persistenten Gewichtsspeicher. Die gemessene verbleibende RAM-Differenz ist ein Firmware-Befund; ohne Speicherprofiling folgt daraus keine quantifizierte kausale Zuordnung einzelner Buffer oder Stack-Anteile.</ns4:t>
            </ns4:r>
          </ns4:p>
          <ns5:p xmlns:ns5="http://schemas.openxmlformats.org/drawingml/2006/main">
            <ns5:r>
              <ns5:t>Quellen: main(1).pdf, Kapitel 7, Abschnitte 7.5 und 7.6.2, S. 132–137, Tabellen 7.1 und 7.2 sowie Abbildung 7.12. Einheiten der tabellarischen Speicherwerte hier gemäß Dissertation (KB).</ns5:t>
            </ns5:r>
          </ns5:p>
          <ns0:p xmlns:ns0="http://schemas.openxmlformats.org/drawingml/2006/main">
            <ns0:r>
              <ns0:t>RAM-Bilanz in der vereinfachten funktionalen Darstellung: R_gesamt = R_Variablen + R_Puffer + R_Stack,max. Variablen und Puffer bilden gemeinsam den statisch belegten RAM. Erfasst werden sowohl initialisierte als auch nullinitialisierte statische Speicherbereiche.</ns0:t>
            </ns0:r>
          </ns0:p>
          <ns1:p xmlns:ns1="http://schemas.openxmlformats.org/drawingml/2006/main">
            <ns1:r>
              <ns1:t>Die drei Summanden sind disjunkt definiert: R_Variablen bezeichnet die übrigen statischen Variablen ohne die unter R_Puffer gezählten statischen Puffer. Temporäre Variablen oder Puffer auf dem Stack gehören ausschließlich zum Stack-Anteil. Damit wird kein Speicher doppelt gezählt. Die Dissertation berichtet den statischen Gesamtanteil und den beobachteten Stack-Höchstbedarf, keine separat gemessenen Variablen-/Puffer-KPIs.</ns1:t>
            </ns1:r>
          </ns1:p>
          <ns2:p xmlns:ns2="http://schemas.openxmlformats.org/drawingml/2006/main">
            <ns2:r>
              <ns2:t>R_Stack,max bezeichnet den größten beobachteten Stack-Bedarf im Streaming-Replay. Die Formel erläutert dieselbe Messgrenze wie in Abschnitt 7.6.2, S. 137. Sie ist keine zusätzliche Worst-Case-Messung.</ns2:t>
            </ns2:r>
          </ns2:p>
          <ns3:p xmlns:ns3="http://schemas.openxmlformats.org/drawingml/2006/main">
            <ns3:r>
              <ns3:t>Der Vergleich rechts gruppiert die prozentualen Einsparungen gegenüber der jeweiligen Base-Firmware nach Pruning und Quantized. SOC und SOH stehen in festen Spalten. Flash: Pruning 40,9 % / 45,5 %, Quantized 50,2 % / 58,8 %. RAM: Pruning 18,3 % / 19,9 %, Quantized 19,7 % / 22,9 %. Grundlage: Tabellen 7.1 und 7.2.</ns3:t>
            </ns3:r>
          </ns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Messbasis: Dissertation, Tabellen 7.1 und 7.2, S. 137; unveränderte Histogramme aus Abbildung 7.13, S. 148. Alle Prozentänderungen relativ zum jeweiligen Base-Modell derselben Aufgabe und desselben Messintervalls, aus den publizierten gerundeten Mittelwerten berechnet. Negative Werte bedeuten kürzere, positive Werte längere Zeiten. Vollständige absolute Werte in Anhang 14.</ns0:t>
            </ns0:r>
          </ns0:p>
          <ns1:p xmlns:ns1="http://schemas.openxmlformats.org/drawingml/2006/main">
            <ns1:r>
              <ns1:t>Kernelzeit: DWT-Cycle-Counter um LSTM und MLP auf dem STM32; Mittelwert über 10 000 Streaming-Updates, einschließlich der im Kernel ausgeführten Instruktionen und Speicherzugriffe. Ohne UART, Host-Verarbeitung, Sensoraufnahme und hostseitige Feature-Erstellung. Host-Latenz: End-to-End-Dauer aus Sicht des Hosts, einschließlich Übertragung, Scheduling, Kernel-Ausführung und Rückgabe.</ns1:t>
            </ns1:r>
          </ns1:p>
          <ns2:p xmlns:ns2="http://schemas.openxmlformats.org/drawingml/2006/main">
            <ns2:r>
              <ns2:t>Messgrenze: SOC-Feature-Skalierung innerhalb des gemessenen Aufrufs. Bei SOH liegt sie für Base und Pruned unmittelbar davor, im Quantized-Forward-Path innerhalb. Dieser kleine affine Anteil wurde nicht separat quantifiziert. Hard-float-Interface und Cortex-M7-FPU, deaktivierte Compileroptimierung. Ergebnisse der beschriebenen Referenzkernel, keine allgemeine Aussage über jede Pruning- oder Quantisierungsimplementierung.</ns2:t>
            </ns2:r>
          </ns2:p>
          <ns3:p xmlns:ns3="http://schemas.openxmlformats.org/drawingml/2006/main">
            <ns3:r>
              <ns3:t>Pruning: Weniger Hidden Units, kleinere recurrent matrices und schmalerer Eingang des MLP-Heads; dadurch weniger Modelloperationen. Rund 30 % weniger Hidden Units reduzieren die Modell-MACs auf 54,9 % (SOC) beziehungsweise 54,3 % (SOH) der jeweiligen Base.</ns3:t>
            </ns3:r>
          </ns3:p>
          <ns4:p xmlns:ns4="http://schemas.openxmlformats.org/drawingml/2006/main">
            <ns4:r>
              <ns4:t>SOC: Kernel 1,40 → 0,80 ms, also −42,9 %; Host 12,70 → 12,20 ms, also −3,9 %. SOH: Kernel 22,73 → 12,72 ms, also −44,0 %; Host 34,88 → 24,69 ms, also −29,2 %. Prozentänderung: 100 × (Zeit Variante / Zeit Base − 1). Die Formel wird zur Berechnung verwendet und bewusst nicht auf der Folie angezeigt.</ns4:t>
            </ns4:r>
          </ns4:p>
          <ns5:p xmlns:ns5="http://schemas.openxmlformats.org/drawingml/2006/main">
            <ns5:r>
              <ns5:t>Interpretation: Die vergleichbare relative Kernel-Beschleunigung durch Pruning schlägt bei SOH stärker auf die Host-Latenz durch, weil der größere SOH-Kern mehr absolute Rechenzeit einspart. Beim SOC dominiert der außerhalb des Kernels liegende Anteil. Die Differenz von Host- und Kernel-Mittelwert beträgt für SOC ungefähr 11,3–11,5 ms, für SOH rund 12 ms. Dies sind abgeleitete Restzeiten, keine separat gemessenen UART-Zeitanteile. Übertragung, Scheduling und Rückgabe werden nicht isoliert profiliert.</ns5:t>
            </ns5:r>
          </ns5:p>
          <ns6:p xmlns:ns6="http://schemas.openxmlformats.org/drawingml/2006/main">
            <ns6:r>
              <ns6:t>Ausblick: Übertragung und Scheduling des Test- und Deployment-Pfads untersuchen und optimieren, damit ein schnellerer Kernel stärker auf die End-to-End-Latenz durchschlägt. Pruning erzielt bereits einen messbaren Host-Gewinn; dieser ist bei SOC wesentlich kleiner als der Kernel-Gewinn. Quelle: Dissertation, Abschnitte 7.6.2, 7.11, 7.12.2 und 7.12.3, S. 136–137, 144–150.</ns6:t>
            </ns6:r>
          </ns6:p>
          <ns0:p xmlns:ns0="http://schemas.openxmlformats.org/drawingml/2006/main">
            <ns0:r>
              <ns0:t>Messbereich in der Tabelle: Kernelzeit (STM32) bezeichnet die lokale Modellberechnung; Host-Latenz (PC ↔ STM32) bezeichnet den vollständigen Round Trip einschließlich Übertragung vom PC, Scheduling, Modellberechnung auf dem STM32 und Rückgabe an den PC. STM32 to PC allein würde nur die Rückrichtung beschreiben. Bei Quantized sind die individuellen Ursachenanteile nicht separat gemessen; Dequantization ist ein bekannter zusätzlicher Arbeitsschritt, weitere Beiträge bleiben mögliche Erklärungen.</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DWT-Kernelzeiten über 10 000 Updates: SOC 1,40 / 0,80 / 6,99 ms, SOH 22,73 / 12,72 / 29,21 ms. Die Rundungen ergeben SOC Pruned −43 %, Quantized +399 %, SOH Pruned −44 %, Quantized +29 %. Pruning reduziert analytische MACs um 45,1 beziehungsweise 45,7 %. Die Quellenkernels laufen ohne Compileroptimierung. Quantized enthält INT8-nach-FP32-Konvertierungen und zeilenweise Skalierungen innerhalb der Akkumulation, ohne optimierten Integer-Dot-Product-Kernel. Ohne Instruktions- und Speicherprofiling lässt sich der Zeitaufschlag nicht einer einzelnen Ursache zuordnen. Die SOH-Skalierung liegt bei Base/Pruned vor dem Messintervall, bei Quantized im Forward-Pfad. Ergebnisse gelten für diese Implementierung.</ns0:t>
            </ns0:r>
          </ns0:p>
          <ns1:p xmlns:ns1="http://schemas.openxmlformats.org/drawingml/2006/main">
            <ns1:r>
              <ns1:t/>
            </ns1:r>
          </ns1:p>
          <ns2:p xmlns:ns2="http://schemas.openxmlformats.org/drawingml/2006/main">
            <ns2:r>
              <ns2:t>Quelle: Florian Rzepka, bereitgestellte Dissertation main(1).pdf, Abschn. 7.6.2, 7.11–7.12, Tab. 7.1–7.2, S. 136–137 und 144–151.</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Antworten auf die drei Forschungsfragen aus Kapitel 1 und Folie 3. Die Aussagen fassen nachgewiesene Möglichkeiten und methodische Konsequenzen zusammen; sie sind keine universellen Leistungs- oder Effizienzgarantien für beliebige Zellen, Architekturen oder Hardware.</ns0:t>
            </ns0:r>
          </ns0:p>
          <ns1:p xmlns:ns1="http://schemas.openxmlformats.org/drawingml/2006/main">
            <ns1:r>
              <ns1:t>Feature Engineering: Kapitel 5 zeigt eine SOH-Schätzung mit einem nichtrekurrenten MLP, dem kumulierte Stromgrößen und Lag Sequences alterungsrelevanten zeitlichen Kontext liefern. Damit kann Zeitabhängigkeit über die Eingabedarstellung erschlossen werden. Das Ergebnis belegt weder die universelle Überlegenheit von MLPs gegenüber rekurrenten Architekturen noch den kleinsten Hardwarebedarf. Zeitauflösung und Lag-Sequence Length hängen vom Datensatz und den Betriebsprofilen ab. Quellen: Dissertation, Abschnitte 1.1–1.2, 5.6 und 8.1, S. 2, 80–81 und 153.</ns1:t>
            </ns1:r>
          </ns1:p>
          <ns2:p xmlns:ns2="http://schemas.openxmlformats.org/drawingml/2006/main">
            <ns2:r>
              <ns2:t>Zuverlässigkeit: Der untersuchte DD-GRU erreicht die höchste nominale Genauigkeit und zeigt starke Ergebnisse in mehreren Störklassen. Insbesondere bei systematischen Stromfehlern und vereinzeltem Sample Loss ist der Ansatz vergleichsweise robust. Mehrere gemessene und abgeleitete Eingangskanäle und deren zeitlicher Kontext bieten hierfür einen plausiblen Mechanismus. Diese Interpretation ist kein Ablationsnachweis. Lokale Spannungsspitzen und ungeeignete State-Resets legen zugleich spezifische Schwächen offen. Daher keine Aussage, dass DD bei jeder Störung, Recovery-Eigenschaft oder Hardwarekennzahl am besten abschneidet. Nominalfehler, lokale Störreaktionen, Recovery und State-Verwaltung müssen gemeinsam bewertet werden. Quellen: Dissertation, Abschnitte 6.5–6.6 und 8.1, S. 117–122 und 153–154.</ns2:t>
            </ns2:r>
          </ns2:p>
          <ns3:p xmlns:ns3="http://schemas.openxmlformats.org/drawingml/2006/main">
            <ns3:r>
              <ns3:t>Embedded AI: Kapitel 7 belegt die kontinuierliche Ausführung neuronaler SOC- und SOH-Modelle auf dem STM32. Structured Pruning reduziert die rekurrente Dimension und kann dadurch Speicher- und Rechenbedarf senken. Weight-only Quantization reduziert die Gewichtsspeicherung; eine Beschleunigung folgt daraus nicht automatisch, wie der verwendete Mixed-Precision-Kernel zeigt. Die Genauigkeit bleibt beim SOC nahe an Base beziehungsweise verbessert sich beim Pruning im untersuchten Fall; bei SOH erhöhen die komprimierten Varianten den Fehler. Die belastbare übergreifende Aussage ist daher die Möglichkeit der Anpassung an Ressourcenbudgets bei anwendungsspezifischem Accuracy-Trade-off. Kompression, Ausführungsmodus und Firmware müssen gemeinsam auf der Zielhardware bewertet werden. Energie wurde nur als zeitbasierter Proxy unter konstanter Leistungsannahme untersucht; keine unabhängige Energiemessung. Quellen: Dissertation, Abschnitte 7.12–7.13 und 8.1, S. 148–154.</ns3:t>
            </ns3:r>
          </ns3:p>
          <ns4:p xmlns:ns4="http://schemas.openxmlformats.org/drawingml/2006/main">
            <ns4:r>
              <ns4:t>Der BMS-Requirement-Rahmen ordnet die Aussagen in Performance, Hardware und Deployment ein. Quelle der unveränderten Abbildung: bestehende Präsentation und Dissertation, BMS-Requirement-Framework.</ns4:t>
            </ns4:r>
          </ns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Vielen Dank für Ihre Aufmerksamkeit!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Die Pearson-Matrix vergleicht SOH, Spannung, Temperatur sowie getrennte kumulative Lade- und Entladeströme auf resampelten, ausgerichteten Daten. Temperatur und kumulative Strommerkmale zeigen die klareren linearen Beziehungen zur SOH. Eine schwache lineare Korrelation schließt nichtlinearen Informationsgehalt nicht aus. Das Vorzeichen steht in den gedruckten Koeffizienten, während die Farbe den Betrag hervorhebt. Die Korrelation dient der begründeten Merkmalswahl und trennt keine kausal unabhängigen Alterungsmechanismen.</ns0:t>
            </ns0:r>
          </ns0:p>
          <ns1:p xmlns:ns1="http://schemas.openxmlformats.org/drawingml/2006/main">
            <ns1:r>
              <ns1:t/>
            </ns1:r>
          </ns1:p>
          <ns2:p xmlns:ns2="http://schemas.openxmlformats.org/drawingml/2006/main">
            <ns2:r>
              <ns2:t>Quelle: Florian Rzepka, bereitgestellte Dissertation main(1).pdf, Abschn. 5.2.1–5.2.2, Abb. 5.1, S. 67–69.</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Die Heatmap fasst 18 Messstörungs- und Signalverfügbarkeitszeilen zusammen. Initialisierungs-Recovery wird separat ausgewertet. Strom-Offset ±50 mA erzeugt für alle Repräsentanten die größte globale Degradation. Gain und Offset verwenden je Zelle die ungünstigere Richtung. Andere Zeilen behalten ihre vorgegebene Störung. ΔMAE ist gegenüber der jeweiligen gepaarten Baseline definiert. Kleine negative Werte zeigen mögliche Kompensation eines schon vorhandenen Fehlers im begrenzten Fenster, keine bessere Fehlertoleranz durch eine Störung.</ns0:t>
            </ns0:r>
          </ns0:p>
          <ns1:p xmlns:ns1="http://schemas.openxmlformats.org/drawingml/2006/main">
            <ns1:r>
              <ns1:t/>
            </ns1:r>
          </ns1:p>
          <ns2:p xmlns:ns2="http://schemas.openxmlformats.org/drawingml/2006/main">
            <ns2:r>
              <ns2:t>Quelle: Florian Rzepka, bereitgestellte Dissertation main(1).pdf, Abschn. 6.4.3 und 6.4.11, Abb. 6.15, S. 100–101 und 110–111.</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Für unabhängige mittelwertfreie Fehler mit Varianz σ² hat ihre Summe die Standardabweichung σ√N. Dies ist eine Aussage über die Summe der Rauschanteile, nicht über einen universellen SOC-Fehlerverlauf. Coulomb Counting glättet hochfrequente zufällige Anteile, obwohl jedes Sample eingeht. DD erhält Rohstrom und dI/dt, wodurch kurzfristige Schwankungen sichtbar werden. Bei der getesteten Stromrauschstufe bleibt der globale DD-ΔMAE nahe null. Lokale Transmission und globaler MAE beantworten unterschiedliche Fragen.</ns0:t>
            </ns0:r>
          </ns0:p>
          <ns1:p xmlns:ns1="http://schemas.openxmlformats.org/drawingml/2006/main">
            <ns1:r>
              <ns1:t/>
            </ns1:r>
          </ns1:p>
          <ns2:p xmlns:ns2="http://schemas.openxmlformats.org/drawingml/2006/main">
            <ns2:r>
              <ns2:t>Quelle: Florian Rzepka, bereitgestellte Dissertation main(1).pdf, Abschn. 6.4.4, Abb. 6.7–6.8, S. 101–103.</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In der GRU-Konvention dieser Darstellung multipliziert z den neuen Kandidaten. Ein komplementär definiertes Update-Gate kann dieselbe Dynamik mit vertauschten Faktoren ausdrücken. LSTM hat Hidden State h und Cell State c. GRU führt einen gemeinsamen Hidden State h. σ ist Sigmoid, tanh die hyperbolische Tangente und ⊙ das elementweise Produkt.</ns0:t>
            </ns0:r>
          </ns0:p>
          <ns1:p xmlns:ns1="http://schemas.openxmlformats.org/drawingml/2006/main">
            <ns1:r>
              <ns1:t/>
            </ns1:r>
          </ns1:p>
          <ns2:p xmlns:ns2="http://schemas.openxmlformats.org/drawingml/2006/main">
            <ns2:r>
              <ns2:t>Quelle: Florian Rzepka, bereitgestellte Dissertation main(1).pdf, Abschn. 3.4.3, Abb. 3.3–3.4.</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Die feste LFP-Aufteilung enthält sechs Trainings-, drei Validierungs- und sechs unabhängige Testzellen. Modelle, Vorverarbeitung, Scaler, Pruning und HECM-Kennfelder werden vor der Holdout-Auswertung festgelegt. 16 verfügbare Zell-/SOH-Fenster und mehrere Seeds werden innerhalb der Zellen zusammengefasst. Die unabhängige statistische Einheit bleibt die Zelle, nicht das einzelne Sample oder Fenster. 10 000 hierarchische Bootstrap-Wiederholungen liefern 95-%-Konfidenzintervalle. Die Kompressionsauswertung nutzt daraus eine repräsentative vollständige Zelltrajektorie und ist nicht mit dem gesamten Sechs-Zell-Benchmark gleichzusetzen.</ns0:t>
            </ns0:r>
          </ns0:p>
          <ns1:p xmlns:ns1="http://schemas.openxmlformats.org/drawingml/2006/main">
            <ns1:r>
              <ns1:t/>
            </ns1:r>
          </ns1:p>
          <ns2:p xmlns:ns2="http://schemas.openxmlformats.org/drawingml/2006/main">
            <ns2:r>
              <ns2:t>Quelle: Florian Rzepka, bereitgestellte Dissertation main(1).pdf, Abschn. 4.1.2, 6.2.4, 6.2.6 und 6.3, Tab. 4.3, S. 55–57 und 89–97.</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Flash stammt aus dem gelinkten Firmwareimage. RAM umfasst statische Daten plus maximal beobachteten Stack. DWT misst den Modellkernel über 10 000 Updates, UART, Sensorik und hostseitige Feature-Konstruktion sind ausgeschlossen. Die Projekte verwenden die Cortex-M7-FPU ohne Compileroptimierung. Bei SOH liegt die Skalierung für Base/Pruned vor dem Messintervall und bei Quantized im Forward-Aufruf. Dies begrenzt die exakte Vergleichbarkeit des kleinen Skalierungsanteils. E_est=0,5 W × t_kernel ist ein Proxy mit angenommener konstanter Gesamtboardleistung. Es liegt keine gesonderte modellabhängige Leistungsmessung vor.</ns0:t>
            </ns0:r>
          </ns0:p>
          <ns1:p xmlns:ns1="http://schemas.openxmlformats.org/drawingml/2006/main">
            <ns1:r>
              <ns1:t/>
            </ns1:r>
          </ns1:p>
          <ns2:p xmlns:ns2="http://schemas.openxmlformats.org/drawingml/2006/main">
            <ns2:r>
              <ns2:t>Quelle: Florian Rzepka, bereitgestellte Dissertation main(1).pdf, Abschn. 7.6.2, Tab. 7.1–7.2, Gl. 7.21, S. 136–137.</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Die Originalgrafik enthält abweichende Zahlen. Für die beschriebene Architektur mit zwei LSTM-Biasvektoren ergeben sich 22 657 SOC- und 86 273 SOH-Parameter, während die Grafik 22 785 und 85 761 zeigt. Die Herleitung auf Folie 34 nennt ihre Zählkonvention ausdrücklich. Die Weight-only-Grenze erlaubt keine pauschale Vier-zu-eins-Reduktion aller Konstanten. Für die gemessenen Speicher-KPIs sind Tabellen 7.1 und 7.2 maßgeblich. Der SOC-RAM-Wert von Quantized beträgt dort 3,96 KB gegenüber ca. 3,5 KB in der Grafik.</ns0:t>
            </ns0:r>
          </ns0:p>
          <ns1:p xmlns:ns1="http://schemas.openxmlformats.org/drawingml/2006/main">
            <ns1:r>
              <ns1:t/>
            </ns1:r>
          </ns1:p>
          <ns2:p xmlns:ns2="http://schemas.openxmlformats.org/drawingml/2006/main">
            <ns2:r>
              <ns2:t>Quelle: Florian Rzepka, bereitgestellte Dissertation main(1).pdf, Abschn. 3.4.3, 7.3 und 7.11, Abb. 7.12, Tab. 7.1–7.2.</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DM verwendet ausschließlich feste Kapazität und kausales Coulomb Counting. Aus I und Δt wird Qc berechnet. Die SOC-Abbildung lautet clip(1 + Qc / Cnom, 0, 1). Nach einem ausreichend langen CV-Volladeereignis wird Qc auf null gesetzt und der SOC bei Vollladung verankert. DM benötigt kein LSTM. Die einfache, transparente Integration dient als Referenz mit geringem Ressourcenbedarf. Zwischen Vollade-Ankern besitzt dieser Vertreter keine Spannungsresiduen-Korrektur.</ns0:t>
            </ns0:r>
          </ns0:p>
          <ns1:p xmlns:ns1="http://schemas.openxmlformats.org/drawingml/2006/main">
            <ns1:r>
              <ns1:t>Quelle: Dissertation main(1).pdf, Tabelle 6.1 und Abschnitt 6.2.2, Gleichungen 6.1–6.2, S. 85–87.</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HDM übernimmt Stromintegration und Vollade-Anker unverändert vom DM. Ausschließlich die Kapazität wird angepasst: Ceff = Cnom × geschätzter SOH. So lässt sich der Beitrag einer gelernten Kapazitätsanpassung isolieren, ohne bereits eine Spannungsrückführung einzuführen. Die gemeinsame SOH-Schätzung entsteht stündlich in einem LSTM. Sein Cell State transportiert zeitlichen Kontext. Forget-, Input- und Output-Gate steuern das Beibehalten, Ergänzen und Ausgeben von Information. Dieses LSTM liefert auch den SOH-Kontext für HECM und DD. Im Hardwarebenchmark wird die gemeinsame SOH-Spur extern bereitgestellt, das SOH-LSTM gehört nicht zum isoliert gemessenen SOC-Kern.</ns0:t>
            </ns0:r>
          </ns0:p>
          <ns1:p xmlns:ns1="http://schemas.openxmlformats.org/drawingml/2006/main">
            <ns1:r>
              <ns1:t>Quelle: Dissertation main(1).pdf, Abschnitt 3.4.3, S. 17–19, Abschnitte 6.2.2–6.2.4, Gleichungen 6.3–6.4, S. 87–90.</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HECM kombiniert ein Ersatzschaltbild zweiter Ordnung mit einem Extended Kalman Filter. Der Zustand enthält SOC und zwei Polarisationsspannungen. Die Prädiktion verwendet den vorherigen Strom, die Korrektur die aktuell gemessene Spannung. Das Spannungsresiduum zwischen vorhergesagter und gemessener Klemmenspannung korrigiert den Zustand. Der gemeinsame LSTM-SOH-Kontext skaliert die Kapazität und steuert SOC-/SOH-abhängige Kennfelder für Ri, R1, R2, Zeitkonstanten, OCV und OCV-Ableitung mit getrennten Lade-/Entladeparametrisierungen. HECM ergänzt damit die Stromintegration um physikalische Dynamik und einen Messfeedback-Pfad.</ns0:t>
            </ns0:r>
          </ns0:p>
          <ns1:p xmlns:ns1="http://schemas.openxmlformats.org/drawingml/2006/main">
            <ns1:r>
              <ns1:t>Quelle: Dissertation main(1).pdf, Abschnitt 6.2.2, Gleichungen 6.5–6.8, S. 87–88, und Abschnitt 6.2.3, S. 89.</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DD ist der datengetriebene SOC-Vertreter. Seine acht Eingänge sind U, I, T, SOH, Qc, dU/dt, dI/dt und Δt. Die GRU nutzt Signalhistorie, weil SOC-Schätzung und Störungserholung von vorangegangenen Messungen abhängen. Ihre zwei Gates und ein einzelner Hidden State bilden eine kompakte rekurrente Struktur. Das Update-Gate gewichtet vorherigen Zustand und neuen Kandidaten. Das Reset-Gate beeinflusst die historische Information bei der Bildung des Kandidaten. Structured Pruning reduziert 96 auf 67 Einheiten, gefolgt von einem MLP-Head mit einer Hidden-Layer-Breite von 96 und Sigmoid-Ausgabe. Im primären Benchmark wird jede Schätzung aus dem letzten kausalen Fenster von 2024 Samples neu berechnet. Die gemeinsame LSTM-SOH-Schätzung ist ein separater Eingang und wird im MCU-Benchmark extern bereitgestellt. Die später untersuchte Embedded-AI-Kompression verwendet andere LSTM-Modelle für SOC und SOH.</ns0:t>
            </ns0:r>
          </ns0:p>
          <ns1:p xmlns:ns1="http://schemas.openxmlformats.org/drawingml/2006/main">
            <ns1:r>
              <ns1:t>Quelle: Dissertation main(1).pdf, Abschnitt 3.4.3, S. 19–20, Abschnitt 6.2, S. 86, Abschnitt 6.2.2, Gleichungen 6.9–6.11, S. 88–89, und Abschnitt 6.2.4, S. 90.</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Input Disturbances modellieren reale Grenzen und Störungen der Messkette. Gain- und Offsetfehler stehen für Sensorempfindlichkeit, Skalierungs- und Kalibrierabweichungen sowie Drift. Rauschen und Spannungsspitzen stehen unter anderem für Front-End-Rauschen, EMI und Schaltstörungen. Die ADC-Quantisierung bildet endliche Auflösung und Rundung ab. Stromfehler wirken über die Ladungsintegration und die davon abhängigen Features. Verfälschte Spannung beeinflusst das Messfeedback des HECM und die Merkmale des DD. Die Relevanz liegt daher im Verhalten der vollständigen Schätzpfade unter begrenzter Messqualität. Hier werden mögliche Wirkpfade erläutert, noch keine Ergebnisrangfolge.</ns0:t>
            </ns0:r>
          </ns0:p>
          <ns1:p xmlns:ns1="http://schemas.openxmlformats.org/drawingml/2006/main">
            <ns1:r>
              <ns1:t>Quelle: Dissertation main(1).pdf, Abschnitt 6.2.5 und Tabelle 6.2, S. 90–93; Abschnitt 6.3, S. 95–97.</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Signal-Integrity Faults verändern die Verfügbarkeit oder den Zeitbezug von Messungen. Missing Samples stehen für Paketverlust, blockierte Updates und Logger-Aussetzer. Burst Dropout bildet eine Kommunikationsunterbrechung, eine eingefrorene Task oder einen festhängenden Datenstrom ab. Irregular Sampling entspricht Scheduling Jitter, Bus-Latenz und asynchroner Erfassung. Der Zellbetrieb setzt sich auch bei unterbrochener oder verzögerter Übertragung fort. Die Schätzung muss daher mit unvollständiger beziehungsweise zeitlich veränderter Information umgehen. Im Benchmark werden fehlende Werte eingefroren; die daraus abhängigen Features werden kausal rekonstruiert. Timing Jitter und Sample Loss sind getrennte Mechanismen, deren Wirkung erst in den Ergebnissen bewertet wird.</ns0:t>
            </ns0:r>
          </ns0:p>
          <ns1:p xmlns:ns1="http://schemas.openxmlformats.org/drawingml/2006/main">
            <ns1:r>
              <ns1:t>Quelle: Dissertation main(1).pdf, Abschnitt 6.2.5 und Tabelle 6.2, S. 91–93; Abschnitt 6.3, S. 95–97.</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Alle von Messwerten abhängigen Hilfsgrößen werden online und kausal aus dem jeweiligen sauberen oder gestörten Signalstrom neu berechnet. Dazu gehören kumulierte Ladung Qc, EFC, Strom- und Spannungsableitungen sowie stündliche SOH-Aggregate. Damit gelangen Störungen auch in die Features und es stehen dem gestörten Lauf keine ungestörten Hilfsgrößen zur Verfügung. Der gepaarte Störungszuschlag lautet ΔMAE = MAE_disturbed − MAE_baseline. Verglichen werden passende Läufe bei gleicher Zelle, gleichem Fenster, Modell, SOH-Kontext und Seed. Fenster und Seeds werden zunächst innerhalb der Zelle zusammengefasst; anschließend erhält jede der sechs unabhängigen Testzellen das gleiche Gewicht. Initialization Recovery verwendet separat die absolute Abweichung zum passend korrekt initialisierten Lauf. Dauerhafte Recovery bedeutet Verbleib innerhalb eines Bandes von 0,02 SOC bis zum Ende des 24-h-Beobachtungshorizonts; ein erster qualifizierender Eintritt setzt zuvor mindestens 300 s im Band voraus. Die SOC-Referenz bleibt das Genauigkeitsmaß. Die Kampagne umfasst 20 Szenariodefinitionen und 7040 Modell-Fenster-Auswertungen; diese sind keine 7040 unabhängigen Zellen.</ns0:t>
            </ns0:r>
          </ns0:p>
          <ns1:p xmlns:ns1="http://schemas.openxmlformats.org/drawingml/2006/main">
            <ns1:r>
              <ns1:t>Quelle: Dissertation main(1).pdf, Abschnitt 6.2.6, Gleichung 6.12, S. 93–94; Abschnitt 6.3, S. 95–97.</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Bezug: Kapitel 7 der Dissertation, eigenständige SOC- und SOH-Modelle für Embedded AI. Beide Modelle verwenden eine einzelne LSTM-Schicht und einen MLP-Head mit einem ReLU-Hidden-Layer und skalarem Ausgang. Dies sind andere Modelle als die SOC-GRU und der stündliche SOH-Kontext im Benchmark aus Kapitel 6. Beide Modelle verarbeiten jeweils D = 6 Eingänge auf dem 1-Hz-Strom.</ns0:t>
            </ns0:r>
          </ns0:p>
          <ns1:p xmlns:ns1="http://schemas.openxmlformats.org/drawingml/2006/main">
            <ns1:r>
              <ns1:t>Parameterzählung gemäß der in Abschnitt 3.4.3 beschriebenen PyTorch-Konvention mit zwei LSTM-Biasvektoren pro Transformation. Gezählt werden gespeicherte trainierbare Gewichte und Biaswerte. hₜ und cₜ sind Laufzeitzustände, keine trainierbaren Parameter. Keine zusätzlichen Parameter für ReLU, Sigmoid oder Tanh.</ns1:t>
            </ns1:r>
          </ns1:p>
          <ns2:p xmlns:ns2="http://schemas.openxmlformats.org/drawingml/2006/main">
            <ns2:r>
              <ns2:t>Die Zahlen sind aus der angegebenen Architektur hergeleitet, keine Messung der Binärgröße. Quelle: main(1).pdf, Abschnitt 3.4.3, S. 18–19; Abschnitt 7.3, S. 127–129, Abbildungen 7.1–7.2.</ns2:t>
            </ns2:r>
          </ns2:p>
          <ns3:p xmlns:ns3="http://schemas.openxmlformats.org/drawingml/2006/main">
            <ns3:r>
              <ns3:t>Der MLP-Head besteht aus zwei affinen Abbildungen: H LSTM-Ausgänge auf M Hidden-Neuronen, danach M Hidden-Aktivierungen auf einen skalaren Ausgang. Im ersten Layer HM Gewichte und M Biaswerte, im zweiten M Gewichte und ein Bias. Zusammen HM + 2M + 1.</ns3:t>
            </ns3:r>
          </ns3:p>
          <ns4:p xmlns:ns4="http://schemas.openxmlformats.org/drawingml/2006/main">
            <ns4:r>
              <ns4:t>SOC: 4225 Parameter im Head. SOH: 16641 Parameter im Head. Die Aktivierungsfunktionen enthalten keine zusätzlichen trainierbaren Parameter. Die rote Kontur umfasst ausschließlich den MLP-Head.</ns4:t>
            </ns4:r>
          </ns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Bezug: Kapitel 7 der Dissertation, eigenständige SOC- und SOH-Modelle für Embedded AI. Beide Modelle verwenden eine einzelne LSTM-Schicht und einen MLP-Head mit einem ReLU-Hidden-Layer und skalarem Ausgang. Dies sind andere Modelle als die SOC-GRU und der stündliche SOH-Kontext im Benchmark aus Kapitel 6. Beide Modelle verarbeiten jeweils D = 6 Eingänge auf dem 1-Hz-Strom.</ns0:t>
            </ns0:r>
          </ns0:p>
          <ns1:p xmlns:ns1="http://schemas.openxmlformats.org/drawingml/2006/main">
            <ns1:r>
              <ns1:t>Parameterzählung gemäß der in Abschnitt 3.4.3 beschriebenen PyTorch-Konvention mit zwei LSTM-Biasvektoren pro Transformation. Gezählt werden gespeicherte trainierbare Gewichte und Biaswerte. hₜ und cₜ sind Laufzeitzustände, keine trainierbaren Parameter. Keine zusätzlichen Parameter für ReLU, Sigmoid oder Tanh.</ns1:t>
            </ns1:r>
          </ns1:p>
          <ns2:p xmlns:ns2="http://schemas.openxmlformats.org/drawingml/2006/main">
            <ns2:r>
              <ns2:t>Die Zahlen sind aus der angegebenen Architektur hergeleitet, keine Messung der Binärgröße. Quelle: main(1).pdf, Abschnitt 3.4.3, S. 18–19; Abschnitt 7.3, S. 127–129, Abbildungen 7.1–7.2.</ns2:t>
            </ns2:r>
          </ns2:p>
          <ns3:p xmlns:ns3="http://schemas.openxmlformats.org/drawingml/2006/main">
            <ns3:r>
              <ns3:t>Summe aus LSTM-Kern und MLP-Head: N = 4H(D + H + 2) + HM + 2M + 1.</ns3:t>
            </ns3:r>
          </ns3:p>
          <ns4:p xmlns:ns4="http://schemas.openxmlformats.org/drawingml/2006/main">
            <ns4:r>
              <ns4:t>SOC: 18432 + 4225 = 22657. SOH: 69632 + 16641 = 86273. Der LSTM-Anteil beträgt 81.35234143973165 % für SOC und 80.71123062835417 % für SOH. Rund 81 % ist eine gerundete Zusammenfassung beider Base-Modelle.</ns4:t>
            </ns4:r>
          </ns4:p>
          <ns5:p xmlns:ns5="http://schemas.openxmlformats.org/drawingml/2006/main">
            <ns5:r>
              <ns5:t>Der H²-Anteil der rekurrenten Gewichtsmatrizen motiviert das anschließende Structured Pruning von Hidden Units. Die MLP-Breite bleibt im beschriebenen Pruning-Versuch konstant; dessen Eingangsdimension folgt der reduzierten LSTM-Breite. Eine Quantisierung ändert die Bitbreite, nicht automatisch die Zahl der Parameter.</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Bezug: Kapitel 7 der Dissertation, eigenständige SOC- und SOH-Modelle für Embedded AI. Beide Modelle verwenden eine einzelne LSTM-Schicht und einen MLP-Head mit einem ReLU-Hidden-Layer und skalarem Ausgang. Dies sind andere Modelle als die SOC-GRU und der stündliche SOH-Kontext im Benchmark aus Kapitel 6. Beide Modelle verarbeiten jeweils D = 6 Eingänge auf dem 1-Hz-Strom.</ns0:t>
            </ns0:r>
          </ns0:p>
          <ns1:p xmlns:ns1="http://schemas.openxmlformats.org/drawingml/2006/main">
            <ns1:r>
              <ns1:t>Parameterzählung gemäß der in Abschnitt 3.4.3 beschriebenen PyTorch-Konvention mit zwei LSTM-Biasvektoren pro Transformation. Gezählt werden gespeicherte trainierbare Gewichte und Biaswerte. hₜ und cₜ sind Laufzeitzustände, keine trainierbaren Parameter. Keine zusätzlichen Parameter für ReLU, Sigmoid oder Tanh.</ns1:t>
            </ns1:r>
          </ns1:p>
          <ns2:p xmlns:ns2="http://schemas.openxmlformats.org/drawingml/2006/main">
            <ns2:r>
              <ns2:t>Die Zahlen sind aus der angegebenen Architektur hergeleitet, keine Messung der Binärgröße. Quelle: main(1).pdf, Abschnitt 3.4.3, S. 18–19; Abschnitt 7.3, S. 127–129, Abbildungen 7.1–7.2.</ns2:t>
            </ns2:r>
          </ns2:p>
          <ns3:p xmlns:ns3="http://schemas.openxmlformats.org/drawingml/2006/main">
            <ns3:r>
              <ns3:t>MAC steht für Multiply–Accumulate. Eine Multiplikation mit anschließendem Addieren zum Akkumulator zählt als ein MAC. Die gewichtsbasierten Matrixprodukte pro Streaming-Update ergeben sich aus 4H(D + H) für die LSTM-Matrizen plus HM für die erste und M für die zweite MLP-Matrix.</ns3:t>
            </ns3:r>
          </ns3:p>
          <ns4:p xmlns:ns4="http://schemas.openxmlformats.org/drawingml/2006/main">
            <ns4:r>
              <ns4:t>MACs zählen Rechenoperationen pro Update; Parameter zählen gespeicherte Modellkoeffizienten. Biasadditionen, Aktivierungsfunktionen, elementweise Zustandsoperationen, Indexierung und Speichertransfers sind im hier verwendeten MAC-Maß nicht enthalten. Der Aufwand für einen ganzen Datenstrom entspricht der Zahl der Updates mal dem Aufwand pro Update. Die Zahl pro Update ersetzt keine gemessene Laufzeit. Kernel, Datentypen, Speicherzugriffe und zusätzliche Skalierungsoperationen beeinflussen die gemessene MCU-Zeit.</ns4:t>
            </ns4:r>
          </ns4:p>
          <ns5:p xmlns:ns5="http://schemas.openxmlformats.org/drawingml/2006/main">
            <ns5:r>
              <ns5:t>SOC: 22080 MACs je Update, SOH: 85120. Rechenbeispiel für einen einzelnen Dense Layer mit 6 Eingängen und 64 Ausgängen: 6×64=384 Gewichte, 64 Biaswerte, also 448 Parameter und 384 gewichtete MACs.</ns5:t>
            </ns5:r>
          </ns5:p>
          <ns6:p xmlns:ns6="http://schemas.openxmlformats.org/drawingml/2006/main">
            <ns6:r>
              <ns6:t>Quelle für MACs: Dissertation, Abschnitt 7.3, Gleichung 7.9, S. 128; zur Grenze gegenüber tatsächlicher Laufzeit Abschnitt 7.6, S. 144–145.</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Die Folie knüpft ausdrücklich an den rechten Teil (c) der unveränderten Abbildung auf Folie 36 an. Es wird derselbe Bildausschnitt wiederverwendet, kein zusätzliches Zahlenbeispiel. Die generische Abbildung zeigt das gemeinsame Kürzen der Ausgangszeilen einer Schicht und der passenden Eingangsspalten der Folgeschicht. I_out und I_in sind die jeweils beibehaltenen Indexmengen, nicht die entfernten Indizes.</ns0:t>
            </ns0:r>
          </ns0:p>
          <ns1:p xmlns:ns1="http://schemas.openxmlformats.org/drawingml/2006/main">
            <ns1:r>
              <ns1:t>Der Score s_h summiert für jede Hidden Unit h die L2-Zeilennormen ihrer Eingangsgewichte W_ih und rekurrenten Gewichte W_hh über die vier Gate-/Kandidatenblöcke. W_ih verknüpft die aktuellen Features mit den Gate-Aktivierungen; W_hh verknüpft den vorherigen Hidden State mit diesen Aktivierungen. Hohe Scores sind das verwendete gewichtsbasierte Auswahlkriterium, kein Nachweis einer kausalen Bedeutung einzelner Units.</ns1:t>
            </ns1:r>
          </ns1:p>
          <ns2:p xmlns:ns2="http://schemas.openxmlformats.org/drawingml/2006/main">
            <ns2:r>
              <ns2:t>Beibehalten werden die Hidden Units mit den höchsten Scores. Innerhalb jedes Gate-Blocks entsprechen sie den Ausgangszeilen I_out. Die nicht ausgewählten Zeilen werden tatsächlich entfernt. Die sechs ursprünglichen Feature-Eingänge bleiben erhalten. Der MLP-Head erhält nur die verbleibenden LSTM-Ausgänge; deshalb werden seine Eingangsspalten nach denselben Hidden-Unit-Identitäten I_in gewählt. Seine Hidden-Layer-Breite M bleibt unverändert.</ns2:t>
            </ns2:r>
          </ns2:p>
          <ns3:p xmlns:ns3="http://schemas.openxmlformats.org/drawingml/2006/main">
            <ns3:r>
              <ns3:t>Beim LSTM ist diese Auswahl über alle vier Gate-/Kandidatenblöcke gekoppelt. In jedem W_ih-Block werden die ausgewählten Zeilen behalten, in jedem W_hh-Block dieselben Zeilen und Spalten. Außerdem werden beide Biasvektoren sowie h_t und c_t entsprechend gekürzt. Die Gleichheit der ausgewählten Hidden-Unit-Identitäten ist keine pauschale Gleichheit der gesamten Zeilen- und Spaltenindices der gestapelten 4H×H-Gatematrix.</ns3:t>
            </ns3:r>
          </ns3:p>
          <ns4:p xmlns:ns4="http://schemas.openxmlformats.org/drawingml/2006/main">
            <ns4:r>
              <ns4:t>Das Resultat sind kleinere dichte Matrizen und kürzere Zustandsvektoren. Im untersuchten One-Shot-Pruning sinkt H für SOC von 64 auf 45 und für SOH von 128 auf 90; anschließend folgt kurzes Fine-Tuning zur Anpassung des verkleinerten Netzes. Rund 30 Prozent Pruning sind der untersuchte moderate Betriebspunkt, kein durch umfassende Suche ermitteltes Optimum. L2 wurde als reproduzierbares Kriterium gewählt; alternative Kriterien wurden nicht experimentell gerankt.</ns4:t>
            </ns4:r>
          </ns4:p>
          <ns5:p xmlns:ns5="http://schemas.openxmlformats.org/drawingml/2006/main">
            <ns5:r>
              <ns5:t>Die ausführliche Schreibweise mit R aus der Dissertation und die MAC-Reduktionen stehen in Anhang 11. R bezeichnet dort die gemeinsame Menge der verbleibenden Hidden-Unit-Indizes.</ns5:t>
            </ns5:r>
          </ns5:p>
          <ns6:p xmlns:ns6="http://schemas.openxmlformats.org/drawingml/2006/main">
            <ns6:r>
              <ns6:t>Quelle: Florian Rzepka, bereitgestellte Dissertation main(1).pdf, Abschnitt 3.5.1, Gleichung 3.19 und Abbildung 3.5, S. 24–27; Abschnitt 7.4, Gleichungen 7.11–7.12, S. 130–132.</ns6:t>
            </ns6:r>
          </ns6:p>
          <ns7:p xmlns:ns7="http://schemas.openxmlformats.org/drawingml/2006/main">
            <ns7:r>
              <ns7:t>Anhang 11 ergänzt die exakten Slice-Ausdrücke der Dissertation. R enthält die gewählten H′ Hidden-Unit-Indizes. W_ih^(g)[R,:] behält pro Gate-Block die zugehörigen Ausgangszeilen (R in der Rolle von I_out); sämtliche D Feature-Spalten bleiben erhalten. W_hh^(g)[R,R] behält pro Gate-Block dieselben Hidden-Unit-Indizes in Zeilen und Spalten. W_MLP,1[:,R] übernimmt dieselbe Auswahl in den Eingangsspalten des Heads (R in der Rolle von I_in). Damit schließen die verkleinerten Teilmatrizen dimensionskonsistent aneinander an.</ns7:t>
            </ns7:r>
          </ns7:p>
          <ns8:p xmlns:ns8="http://schemas.openxmlformats.org/drawingml/2006/main">
            <ns8:r>
              <ns8:t>Bei unveränderter MLP-Breite M sinken die gewichteten MACs pro Update für SOC von 22 080 auf 12 124, für SOH von 85 120 auf 46 208. Das entspricht rund 45,1 Prozent beziehungsweise 45,7 Prozent. Dies sind die aus der Architektur berechneten Matrixprodukt-MACs gemäß Gleichung 7.9; Biasadditionen, Aktivierungen und weitere elementweise Operationen sind nicht mitgezählt. MAC-Reduktion ist nicht automatisch identisch mit gemessener Laufzeitreduktion auf dem STM32.</ns8:t>
            </ns8:r>
          </ns8:p>
          <ns9:p xmlns:ns9="http://schemas.openxmlformats.org/drawingml/2006/main">
            <ns9:r>
              <ns9:t>Quelle der Rechenwerte: Dissertation, Abschnitte 7.3–7.4, Gleichungen 7.9–7.12, S. 128–132.</ns9:t>
            </ns9:r>
          </ns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Übersicht der SOH-Modelle und ihrer berichteten Kennzahlen. Alle MAE-Werte sind Prozentpunkte, keine relativen Prozentabweichungen. Kein direkter Architekturvergleich: Kapitel 5 verwendet NMC-Alterungsdaten, die Kapitel 6 und 7 LFP-Daten mit unterschiedlichen Zielen und Auswertungsprotokollen.</ns0:t>
            </ns0:r>
          </ns0:p>
          <ns1:p xmlns:ns1="http://schemas.openxmlformats.org/drawingml/2006/main">
            <ns1:r>
              <ns1:t>Kapitel 5: MLP mit kumulierten Stromgrößen und Lag-Sequenzen. Aggregierter MAE 1,10 pp. Ohne die problematischen Trainingszellen 3 und 4: 1,07 pp. Günstige Einzelzellen erreichen 0,253 bzw. 0,487 pp; die atypische Zelle 9 weist 2,528 pp auf. Diese Einzelzellwerte sind keine weiteren eigenständigen Modelle und stehen deshalb nicht als zusätzliche Zeilen in der Übersicht. Quelle: Abschnitt 5.5, S. 78–80.</ns1:t>
            </ns1:r>
          </ns1:p>
          <ns2:p xmlns:ns2="http://schemas.openxmlformats.org/drawingml/2006/main">
            <ns2:r>
              <ns2:t>Kapitel 6: Gemeinsames SOH-Hilfsmodell für HDM, HECM und DD. Zwei LSTM-Layer mit Hidden Size 112, vorgeschaltetes Feature-Embedding und nachfolgende Residual-MLP-Blöcke. 20 stündlich aggregierte Features. Im Kapitel wird kein eigener zusammengefasster SOH-MAE berichtet. Das SOH-Hilfsmodell läuft im beschriebenen Hardwarevergleich nicht auf dem STM32; die SOC-GRU- und SOC-Verfahrenskennzahlen dürfen ihm nicht zugeordnet werden. Quelle: Abschnitt 6.2.2, S. 89–91.</ns2:t>
            </ns2:r>
          </ns2:p>
          <ns3:p xmlns:ns3="http://schemas.openxmlformats.org/drawingml/2006/main">
            <ns3:r>
              <ns3:t>Kapitel 7: Eigenständiges SOH-LSTM mit MLP-Head. Base H = 128, Pruned H = 90, Quantized H = 128 mit INT8-Gewichten und unveränderter Topologie. MAE 0,85 / 1,46 / 1,41 pp nach der vollständigen kausalen Nachverarbeitung. Hardwarewerte gemäß Tabelle 7.2: Flash 335,00 / 182,41 / 138,00 KB, RAM 8,69 / 6,96 / 6,70 KB, Inferenz 22,73 / 12,72 / 29,21 ms.</ns3:t>
            </ns3:r>
          </ns3:p>
          <ns4:p xmlns:ns4="http://schemas.openxmlformats.org/drawingml/2006/main">
            <ns4:r>
              <ns4:t>Inferenz bezeichnet die auf dem Board mit dem DWT-Cycle-Counter gemessene Kernelzeit, nicht die End-to-End-Host-Latenz. RAM entspricht statischem Speicher plus höchstem beobachtetem Streaming-Stack-Bedarf. Speicherwerte und Einheit KB sind wie in Tabelle 7.2 übernommen. Die SOH-MAE sind gefilterte Gesamtergebnisse. Quelle: Kapitel 7, Abschnitte 7.3, 7.6.2–7.9, S. 127–142, Tabelle 7.2 und Abbildung 7.9.</ns4:t>
            </ns4:r>
          </ns4:p>
          <ns5:p xmlns:ns5="http://schemas.openxmlformats.org/drawingml/2006/main">
            <ns5:r>
              <ns5:t>Ein Strich bedeutet, dass hier kein zugehöriger Hardwarewert ausgewiesen ist; er bedeutet nicht null.</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Die Tabelle trennt Host-Latenz und Kernelzeit für die drei SOC- und SOH-Implementierungen. Werte in Millisekunden gemäß Tabellen 7.1 und 7.2 der Dissertation, Abschnitt 7.6.2, S. 136–137. Die letzte Spalte zeigt ausschließlich die Zeitersparnis durch Pruning relativ zu Base: 100 × (1 − t_Pruned/t_Base).</ns0:t>
            </ns0:r>
          </ns0:p>
          <ns1:p xmlns:ns1="http://schemas.openxmlformats.org/drawingml/2006/main">
            <ns1:r>
              <ns1:t>Kernelzeit: Messintervall um den LSTM- und MLP-Kern auf dem STM32, erfasst mit dem DWT-Cycle-Counter und über 10 000 Streaming-Updates gemittelt. Es umfasst die im Kernel ausgeführten Instruktionen und Speicherzugriffe. UART, Host-Verarbeitung, Sensoraufnahme und hostseitige Feature-Erstellung liegen außerhalb dieses Intervalls.</ns1:t>
            </ns1:r>
          </ns1:p>
          <ns2:p xmlns:ns2="http://schemas.openxmlformats.org/drawingml/2006/main">
            <ns2:r>
              <ns2:t>Host-Latenz: End-to-End-Dauer aus Sicht des Hosts einschließlich Übertragung der Features, Scheduling, Kernel-Ausführung und Rückgabe der Schätzung. </ns2:t>
            </ns2:r>
          </ns2:p>
          <ns3:p xmlns:ns3="http://schemas.openxmlformats.org/drawingml/2006/main">
            <ns3:r>
              <ns3:t>SOC: Base 12,70 ms Host / 1,40 ms Kernel; Pruned 12,20 / 0,80 ms; Quantized 18,48 / 6,99 ms. Pruning senkt die Kernelzeit um 42,9 %, die Host-Latenz aber nur um 3,9 %. Ein großer Anteil der SOC-End-to-End-Dauer liegt außerhalb der Modellberechnung.</ns3:t>
            </ns3:r>
          </ns3:p>
          <ns4:p xmlns:ns4="http://schemas.openxmlformats.org/drawingml/2006/main">
            <ns4:r>
              <ns4:t>SOH: Base 34,88 ms Host / 22,73 ms Kernel; Pruned 24,69 / 12,72 ms; Quantized 41,23 / 29,21 ms. Pruning senkt die Kernelzeit um 44,0 % und die Host-Latenz um 29,2 %. Wegen des größeren SOH-Kerns fällt dessen Beschleunigung stärker in der Gesamtdauer ins Gewicht.</ns4:t>
            </ns4:r>
          </ns4:p>
          <ns5:p xmlns:ns5="http://schemas.openxmlformats.org/drawingml/2006/main">
            <ns5:r>
              <ns5:t>Quantized verwendet Weight-only INT8 mit FP32-Arithmetik und Dequantization im konkreten Referenzkernel. Die höheren gemessenen Zeiten sind implementationsspezifisch und keine allgemeine Aussage über die Geschwindigkeit von Quantisierung. Die Flash-Einsparung bedeutet hier keine Beschleunigung.</ns5:t>
            </ns5:r>
          </ns5:p>
          <ns6:p xmlns:ns6="http://schemas.openxmlformats.org/drawingml/2006/main">
            <ns6:r>
              <ns6:t>Messgrenze: Feature-Skalierung liegt beim SOC im gemessenen Aufruf. Bei SOH liegt sie für Base und Pruned unmittelbar davor, beim Quantized-Forward-Path innerhalb. Dieser kleine affine Anteil wurde nicht separat quantifiziert. Die Projekte verwenden deaktivierte Compileroptimierung. Ergebnisse beziehen sich auf die beschriebenen Referenzkernel und den vollständigen Streaming-Replay.</ns6:t>
            </ns6:r>
          </ns6:p>
          <ns7:p xmlns:ns7="http://schemas.openxmlformats.org/drawingml/2006/main">
            <ns7:r>
              <ns7:t>Die unveränderten Host-Latenzverteilungen mit prozentualen Änderungen und Interpretation stehen auf Folien 41 und 42. Quelle: Dissertation, Abschnitte 7.6.2 und 7.11, Tabellen 7.1 und 7.2, Abbildung 7.13.</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Messbasis: Dissertation, Tabellen 7.1 und 7.2, S. 137; unveränderte Histogramme aus Abbildung 7.13, S. 148. Alle Prozentänderungen relativ zum jeweiligen Base-Modell derselben Aufgabe und desselben Messintervalls, aus den publizierten gerundeten Mittelwerten berechnet. Negative Werte bedeuten kürzere, positive Werte längere Zeiten. Vollständige absolute Werte in Anhang 14.</ns0:t>
            </ns0:r>
          </ns0:p>
          <ns1:p xmlns:ns1="http://schemas.openxmlformats.org/drawingml/2006/main">
            <ns1:r>
              <ns1:t>Kernelzeit: DWT-Cycle-Counter um LSTM und MLP auf dem STM32; Mittelwert über 10 000 Streaming-Updates, einschließlich der im Kernel ausgeführten Instruktionen und Speicherzugriffe. Ohne UART, Host-Verarbeitung, Sensoraufnahme und hostseitige Feature-Erstellung. Host-Latenz: End-to-End-Dauer aus Sicht des Hosts, einschließlich Übertragung, Scheduling, Kernel-Ausführung und Rückgabe.</ns1:t>
            </ns1:r>
          </ns1:p>
          <ns2:p xmlns:ns2="http://schemas.openxmlformats.org/drawingml/2006/main">
            <ns2:r>
              <ns2:t>Messgrenze: SOC-Feature-Skalierung innerhalb des gemessenen Aufrufs. Bei SOH liegt sie für Base und Pruned unmittelbar davor, im Quantized-Forward-Path innerhalb. Dieser kleine affine Anteil wurde nicht separat quantifiziert. Hard-float-Interface und Cortex-M7-FPU, deaktivierte Compileroptimierung. Ergebnisse der beschriebenen Referenzkernel, keine allgemeine Aussage über jede Pruning- oder Quantisierungsimplementierung.</ns2:t>
            </ns2:r>
          </ns2:p>
          <ns3:p xmlns:ns3="http://schemas.openxmlformats.org/drawingml/2006/main">
            <ns3:r>
              <ns3:t>Quantized: SOC-Kernel 1,40 → 6,99 ms, also +399,3 % beziehungsweise rund fünffache Zeit; SOC-Host 12,70 → 18,48 ms, also +45,5 %. SOH-Kernel 22,73 → 29,21 ms, also +28,5 %; SOH-Host 34,88 → 41,23 ms, also +18,2 %. Alle Änderungen relativ zu Base, nicht relativ zu Pruned.</ns3:t>
            </ns3:r>
          </ns3:p>
          <ns4:p xmlns:ns4="http://schemas.openxmlformats.org/drawingml/2006/main">
            <ns4:r>
              <ns4:t>Gesicherte Implementierungseigenschaften: Nur die recurrent matrices W_ih und W_hh sind als INT8 gespeichert. Jedes recurrent weight wird während der Akkumulation nach FP32 konvertiert und mit seiner FP32-Row-Scale multipliziert. Scales, Biases, Hidden/Cell State, Gate Activations, MLP und Akkumulation verbleiben in FP32. Daher zusätzlicher Konvertierungs- und Skalierungsaufwand bei unveränderter Topologie und Modell-MAC-Anzahl. Dies ist Weight-only Mixed Precision und keine vollintegere Inferenz. Die betrachteten handgeschriebenen C-Kernel sind ohne Compileroptimierung gebaut.</ns4:t>
            </ns4:r>
          </ns4:p>
          <ns5:p xmlns:ns5="http://schemas.openxmlformats.org/drawingml/2006/main">
            <ns5:r>
              <ns5:t>Die Dissertation nennt 17 920 zusätzliche skalare Multiplikationen für SOC und 68 608 für SOH. Die vereinfachte statische Operationsquote ist für beide etwa 1,81; die gemessenen Kernelzeitquoten unterscheiden sich dagegen deutlich: 4,99 und 1,29. Daher keine vollständige Erklärung des SOC-Anstiegs allein durch Dequantization.</ns5:t>
            </ns5:r>
          </ns5:p>
          <ns6:p xmlns:ns6="http://schemas.openxmlformats.org/drawingml/2006/main">
            <ns6:r>
              <ns6:t>Weitere mögliche Beiträge gemäß Dissertation: Integer-to-Float-Konvertierung, Indexierung, Schleifen, Loads/Stores, nichtlineare Funktionen, Cache-Verhalten und fehlender optimierter Integer-Dot-Product-Kernel. Kein operation-level oder memory-bandwidth Profiling; quantitative Ursachenanteile sind nicht gemessen. Die Folie trennt belegte Implementierungseigenschaften von möglichen zusätzlichen Einflüssen.</ns6:t>
            </ns6:r>
          </ns6:p>
          <ns7:p xmlns:ns7="http://schemas.openxmlformats.org/drawingml/2006/main">
            <ns7:r>
              <ns7:t>Ausblick: Cycle- und Speicherprofiling, Scale-Hoisting aus der inneren Schleife, zusammengefasste Scale-/Bias-Verarbeitung und DSP-orientierte Dot Products prüfen. Vollinteger-Kernel wären ein weitergehender Ansatz mit quantisierten Aktivierungen und Zuständen und erneuter Genauigkeitsprüfung. Ein höherer Optimierungsgrad muss ebenfalls auf numerische Gleichwertigkeit geprüft werden. Diese Verbesserungen wurden hier nicht gemessen.</ns7:t>
            </ns7:r>
          </ns7:p>
          <ns8:p xmlns:ns8="http://schemas.openxmlformats.org/drawingml/2006/main">
            <ns8:r>
              <ns8:t>Quelle: Dissertation, Abschnitte 7.5, 7.6.2, 7.11 und 7.12.2, S. 133–137 und 144–149. Ergänzender technischer Kontext, kein Nachweis für die hier gemessenen Ursachenanteile: Arm CMSIS-NN beschreibt architekturspezifisch optimierte Cortex-M-Kernel, DSP/SIMD-Implementierungen und den Einfluss von Compileroptionen auf die Laufzeit: https://github.com/ARM-software/CMSIS-NN (abgerufen 11.09.2026).</ns8:t>
            </ns8:r>
          </ns8:p>
          <ns0:p xmlns:ns0="http://schemas.openxmlformats.org/drawingml/2006/main">
            <ns0:r>
              <ns0:t>Messbereich in der Tabelle: Kernelzeit (STM32) bezeichnet die lokale Modellberechnung; Host-Latenz (PC ↔ STM32) bezeichnet den vollständigen Round Trip einschließlich Übertragung vom PC, Scheduling, Modellberechnung auf dem STM32 und Rückgabe an den PC. STM32 to PC allein würde nur die Rückrichtung beschreiben. Bei Quantized sind die individuellen Ursachenanteile nicht separat gemessen; Dequantization ist ein bekannter zusätzlicher Arbeitsschritt, weitere Beiträge bleiben mögliche Erklärungen.</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ea75a298d9446c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b978e030102424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9eba1363a9a47f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ee3bccca0104ac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c5fca76178c4fa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2d4db7cd44d44e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fb4a557e49204c1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c71f23735dd446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345cc75e6ce04288"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6d54d6775e1499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d355dade51d04c68"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45c831aeee364ce2" /></Relationships>
</file>

<file path=ppt/slideLayouts/slideLayout1.xml><?xml version="1.0" encoding="utf-8"?>
<p:sldLayout xmlns:p="http://schemas.openxmlformats.org/presentationml/2006/main" preserve="1" userDrawn="1">
  <p:cSld name="3_Inhalt - Text und Stichpunkte">
    <p:spTree>
      <p:nvGrpSpPr>
        <p:cNvPr id="1" name=""/>
        <p:cNvGrpSpPr/>
        <p:nvPr/>
      </p:nvGrpSpPr>
      <p:grpSpPr>
        <a:xfrm xmlns:a="http://schemas.openxmlformats.org/drawingml/2006/main"/>
      </p:grpSpPr>
      <p:sp>
        <p:nvSpPr>
          <p:cNvPr id="5" name="Textplatzhalter 5">
            <a:extLst xmlns:a="http://schemas.openxmlformats.org/drawingml/2006/main">
              <a:ext uri="{FF2B5EF4-FFF2-40B4-BE49-F238E27FC236}">
                <a16:creationId xmlns:a16="http://schemas.microsoft.com/office/drawing/2014/main" id="{D7BD4116-72F8-7D4E-846E-4E9887F60C02}"/>
              </a:ext>
            </a:extLst>
          </p:cNvPr>
          <p:cNvSpPr>
            <a:spLocks xmlns:a="http://schemas.openxmlformats.org/drawingml/2006/main" noGrp="1"/>
          </p:cNvSpPr>
          <p:nvPr>
            <p:ph type="body" idx="18" hasCustomPrompt="1"/>
          </p:nvPr>
        </p:nvSpPr>
        <p:spPr>
          <a:xfrm xmlns:a="http://schemas.openxmlformats.org/drawingml/2006/main">
            <a:off x="550800" y="3175200"/>
            <a:ext cx="9721850" cy="2124075"/>
          </a:xfrm>
          <a:prstGeom xmlns:a="http://schemas.openxmlformats.org/drawingml/2006/main" prst="rect">
            <a:avLst/>
          </a:prstGeom>
        </p:spPr>
        <p:txBody>
          <a:bodyPr xmlns:a="http://schemas.openxmlformats.org/drawingml/2006/main" lIns="0" tIns="0"/>
          <a:lstStyle xmlns:a="http://schemas.openxmlformats.org/drawingml/2006/main">
            <a:lvl1pPr marL="228600" indent="-228600">
              <a:lnSpc>
                <a:spcPts val="2400"/>
              </a:lnSpc>
              <a:buFont typeface="Symbol"/>
              <a:buChar char="-"/>
              <a:defRPr sz="1800">
                <a:solidFill>
                  <a:srgbClr val="434343"/>
                </a:solidFill>
                <a:latin typeface="Arial"/>
                <a:ea typeface="Arial"/>
                <a:cs typeface="Arial"/>
              </a:defRPr>
            </a:lvl1pPr>
            <a:lvl2pPr marL="685800" indent="-228600">
              <a:lnSpc>
                <a:spcPts val="2400"/>
              </a:lnSpc>
              <a:buFont typeface="Symbol"/>
              <a:buChar char="-"/>
              <a:defRPr sz="1800">
                <a:solidFill>
                  <a:srgbClr val="434343"/>
                </a:solidFill>
                <a:latin typeface="Arial"/>
                <a:ea typeface="Arial"/>
                <a:cs typeface="Arial"/>
              </a:defRPr>
            </a:lvl2pPr>
            <a:lvl3pPr marL="1143000" indent="-228600">
              <a:lnSpc>
                <a:spcPts val="2400"/>
              </a:lnSpc>
              <a:buFont typeface="Symbol"/>
              <a:buChar char="-"/>
              <a:defRPr sz="1800">
                <a:solidFill>
                  <a:srgbClr val="434343"/>
                </a:solidFill>
                <a:latin typeface="Arial"/>
                <a:ea typeface="Arial"/>
                <a:cs typeface="Arial"/>
              </a:defRPr>
            </a:lvl3pPr>
            <a:lvl4pPr marL="1600200" indent="-228600">
              <a:lnSpc>
                <a:spcPts val="2400"/>
              </a:lnSpc>
              <a:buFont typeface="Symbol"/>
              <a:buChar char="-"/>
              <a:defRPr sz="1800">
                <a:solidFill>
                  <a:srgbClr val="434343"/>
                </a:solidFill>
                <a:latin typeface="Arial"/>
                <a:ea typeface="Arial"/>
                <a:cs typeface="Arial"/>
              </a:defRPr>
            </a:lvl4pPr>
            <a:lvl5pPr marL="2057400" indent="-228600">
              <a:lnSpc>
                <a:spcPts val="2400"/>
              </a:lnSpc>
              <a:buFont typeface="Symbol"/>
              <a:buChar char="-"/>
              <a:defRPr sz="1800">
                <a:solidFill>
                  <a:srgbClr val="434343"/>
                </a:solidFill>
                <a:latin typeface="Arial"/>
                <a:ea typeface="Arial"/>
                <a:cs typeface="Arial"/>
              </a:defRPr>
            </a:lvl5pPr>
          </a:lstStyle>
          <a:p xmlns:a="http://schemas.openxmlformats.org/drawingml/2006/main">
            <a:pPr lvl="0">
              <a:buNone/>
              <a:defRPr>
                <a:latin typeface="Calibri"/>
                <a:ea typeface="Calibri"/>
                <a:cs typeface="Calibri"/>
              </a:defRPr>
            </a:pPr>
            <a:r>
              <a:rPr>
                <a:latin typeface="Calibri"/>
                <a:ea typeface="Calibri"/>
                <a:cs typeface="Calibri"/>
              </a:rPr>
              <a:t>Aufzählung 1. Ebene Arial Regular 18 </a:t>
            </a:r>
            <a:r>
              <a:rPr>
                <a:latin typeface="Calibri"/>
                <a:ea typeface="Calibri"/>
                <a:cs typeface="Calibri"/>
              </a:rPr>
              <a:t>pt</a:t>
            </a:r>
            <a:r>
              <a:rPr>
                <a:latin typeface="Calibri"/>
                <a:ea typeface="Calibri"/>
                <a:cs typeface="Calibri"/>
              </a:rPr>
              <a:t>, ZA: 24 </a:t>
            </a:r>
            <a:r>
              <a:rPr>
                <a:latin typeface="Calibri"/>
                <a:ea typeface="Calibri"/>
                <a:cs typeface="Calibri"/>
              </a:rPr>
              <a:t>pt</a:t>
            </a:r>
            <a:endParaRPr/>
          </a:p>
          <a:p xmlns:a="http://schemas.openxmlformats.org/drawingml/2006/main">
            <a:pPr lvl="1">
              <a:buNone/>
              <a:defRPr>
                <a:latin typeface="Calibri"/>
                <a:ea typeface="Calibri"/>
                <a:cs typeface="Calibri"/>
              </a:defRPr>
            </a:pPr>
            <a:r>
              <a:rPr>
                <a:latin typeface="Calibri"/>
                <a:ea typeface="Calibri"/>
                <a:cs typeface="Calibri"/>
              </a:rPr>
              <a:t>2. Ebene</a:t>
            </a:r>
          </a:p>
          <a:p xmlns:a="http://schemas.openxmlformats.org/drawingml/2006/main">
            <a:pPr lvl="2">
              <a:buNone/>
              <a:defRPr>
                <a:latin typeface="Calibri"/>
                <a:ea typeface="Calibri"/>
                <a:cs typeface="Calibri"/>
              </a:defRPr>
            </a:pPr>
            <a:r>
              <a:rPr>
                <a:latin typeface="Calibri"/>
                <a:ea typeface="Calibri"/>
                <a:cs typeface="Calibri"/>
              </a:rPr>
              <a:t>3. Ebene</a:t>
            </a:r>
          </a:p>
          <a:p xmlns:a="http://schemas.openxmlformats.org/drawingml/2006/main">
            <a:pPr lvl="3">
              <a:buNone/>
              <a:defRPr>
                <a:latin typeface="Calibri"/>
                <a:ea typeface="Calibri"/>
                <a:cs typeface="Calibri"/>
              </a:defRPr>
            </a:pPr>
            <a:r>
              <a:rPr>
                <a:latin typeface="Calibri"/>
                <a:ea typeface="Calibri"/>
                <a:cs typeface="Calibri"/>
              </a:rPr>
              <a:t>4. Ebene</a:t>
            </a:r>
          </a:p>
          <a:p xmlns:a="http://schemas.openxmlformats.org/drawingml/2006/main">
            <a:pPr lvl="4">
              <a:buNone/>
              <a:defRPr>
                <a:latin typeface="Calibri"/>
                <a:ea typeface="Calibri"/>
                <a:cs typeface="Calibri"/>
              </a:defRPr>
            </a:pPr>
            <a:r>
              <a:rPr>
                <a:latin typeface="Calibri"/>
                <a:ea typeface="Calibri"/>
                <a:cs typeface="Calibri"/>
              </a:rPr>
              <a:t>5. Ebene</a:t>
            </a:r>
          </a:p>
        </p:txBody>
      </p:sp>
      <p:sp>
        <p:nvSpPr>
          <p:cNvPr id="6" name="Textplatzhalter 2">
            <a:extLst xmlns:a="http://schemas.openxmlformats.org/drawingml/2006/main">
              <a:ext uri="{FF2B5EF4-FFF2-40B4-BE49-F238E27FC236}">
                <a16:creationId xmlns:a16="http://schemas.microsoft.com/office/drawing/2014/main" id="{9DAAF3EE-A5B2-F647-838D-0DFAACB4D556}"/>
              </a:ext>
            </a:extLst>
          </p:cNvPr>
          <p:cNvSpPr>
            <a:spLocks xmlns:a="http://schemas.openxmlformats.org/drawingml/2006/main" noGrp="1"/>
          </p:cNvSpPr>
          <p:nvPr>
            <p:ph type="body" idx="17" hasCustomPrompt="1"/>
          </p:nvPr>
        </p:nvSpPr>
        <p:spPr>
          <a:xfrm xmlns:a="http://schemas.openxmlformats.org/drawingml/2006/main">
            <a:off x="550800" y="1371600"/>
            <a:ext cx="9721850" cy="1526370"/>
          </a:xfrm>
          <a:prstGeom xmlns:a="http://schemas.openxmlformats.org/drawingml/2006/main" prst="rect">
            <a:avLst/>
          </a:prstGeom>
        </p:spPr>
        <p:txBody>
          <a:bodyPr xmlns:a="http://schemas.openxmlformats.org/drawingml/2006/main" lIns="0" tIns="0" rIns="0" bIns="0"/>
          <a:lstStyle xmlns:a="http://schemas.openxmlformats.org/drawingml/2006/main">
            <a:lvl1pPr marL="0" indent="0">
              <a:lnSpc>
                <a:spcPts val="2400"/>
              </a:lnSpc>
              <a:spcBef>
                <a:spcPts val="0"/>
              </a:spcBef>
              <a:buNone/>
              <a:defRPr sz="1800">
                <a:solidFill>
                  <a:srgbClr val="434343"/>
                </a:solidFill>
                <a:latin typeface="Arial"/>
                <a:ea typeface="Arial"/>
                <a:cs typeface="Arial"/>
              </a:defRPr>
            </a:lvl1pPr>
          </a:lstStyle>
          <a:p xmlns:a="http://schemas.openxmlformats.org/drawingml/2006/main">
            <a:pPr lvl="0">
              <a:buNone/>
              <a:defRPr>
                <a:latin typeface="Calibri"/>
                <a:ea typeface="Calibri"/>
                <a:cs typeface="Calibri"/>
              </a:defRPr>
            </a:pPr>
            <a:r>
              <a:rPr>
                <a:latin typeface="Calibri"/>
                <a:ea typeface="Calibri"/>
                <a:cs typeface="Calibri"/>
              </a:rPr>
              <a:t>Arial Regular 18pt, ZA: 24pt </a:t>
            </a:r>
            <a:r>
              <a:rPr>
                <a:latin typeface="Calibri"/>
                <a:ea typeface="Calibri"/>
                <a:cs typeface="Calibri"/>
              </a:rPr>
              <a:t>Lorem</a:t>
            </a:r>
            <a:r>
              <a:rPr>
                <a:latin typeface="Calibri"/>
                <a:ea typeface="Calibri"/>
                <a:cs typeface="Calibri"/>
              </a:rPr>
              <a:t> </a:t>
            </a:r>
            <a:r>
              <a:rPr>
                <a:latin typeface="Calibri"/>
                <a:ea typeface="Calibri"/>
                <a:cs typeface="Calibri"/>
              </a:rPr>
              <a:t>ipsum</a:t>
            </a:r>
            <a:r>
              <a:rPr>
                <a:latin typeface="Calibri"/>
                <a:ea typeface="Calibri"/>
                <a:cs typeface="Calibri"/>
              </a:rPr>
              <a:t> </a:t>
            </a:r>
            <a:r>
              <a:rPr>
                <a:latin typeface="Calibri"/>
                <a:ea typeface="Calibri"/>
                <a:cs typeface="Calibri"/>
              </a:rPr>
              <a:t>dolor</a:t>
            </a:r>
            <a:r>
              <a:rPr>
                <a:latin typeface="Calibri"/>
                <a:ea typeface="Calibri"/>
                <a:cs typeface="Calibri"/>
              </a:rPr>
              <a:t> </a:t>
            </a:r>
            <a:r>
              <a:rPr>
                <a:latin typeface="Calibri"/>
                <a:ea typeface="Calibri"/>
                <a:cs typeface="Calibri"/>
              </a:rPr>
              <a:t>sit</a:t>
            </a:r>
            <a:r>
              <a:rPr>
                <a:latin typeface="Calibri"/>
                <a:ea typeface="Calibri"/>
                <a:cs typeface="Calibri"/>
              </a:rPr>
              <a:t> </a:t>
            </a:r>
            <a:r>
              <a:rPr>
                <a:latin typeface="Calibri"/>
                <a:ea typeface="Calibri"/>
                <a:cs typeface="Calibri"/>
              </a:rPr>
              <a:t>amet</a:t>
            </a:r>
            <a:r>
              <a:rPr>
                <a:latin typeface="Calibri"/>
                <a:ea typeface="Calibri"/>
                <a:cs typeface="Calibri"/>
              </a:rPr>
              <a:t>, </a:t>
            </a:r>
            <a:r>
              <a:rPr>
                <a:latin typeface="Calibri"/>
                <a:ea typeface="Calibri"/>
                <a:cs typeface="Calibri"/>
              </a:rPr>
              <a:t>consetetur</a:t>
            </a:r>
            <a:r>
              <a:rPr>
                <a:latin typeface="Calibri"/>
                <a:ea typeface="Calibri"/>
                <a:cs typeface="Calibri"/>
              </a:rPr>
              <a:t> </a:t>
            </a:r>
            <a:r>
              <a:rPr>
                <a:latin typeface="Calibri"/>
                <a:ea typeface="Calibri"/>
                <a:cs typeface="Calibri"/>
              </a:rPr>
              <a:t>sadipscing</a:t>
            </a:r>
            <a:r>
              <a:rPr>
                <a:latin typeface="Calibri"/>
                <a:ea typeface="Calibri"/>
                <a:cs typeface="Calibri"/>
              </a:rPr>
              <a:t> </a:t>
            </a:r>
            <a:r>
              <a:rPr>
                <a:latin typeface="Calibri"/>
                <a:ea typeface="Calibri"/>
                <a:cs typeface="Calibri"/>
              </a:rPr>
              <a:t>elitr</a:t>
            </a:r>
            <a:r>
              <a:rPr>
                <a:latin typeface="Calibri"/>
                <a:ea typeface="Calibri"/>
                <a:cs typeface="Calibri"/>
              </a:rPr>
              <a:t>, sed </a:t>
            </a:r>
            <a:r>
              <a:rPr>
                <a:latin typeface="Calibri"/>
                <a:ea typeface="Calibri"/>
                <a:cs typeface="Calibri"/>
              </a:rPr>
              <a:t>diam</a:t>
            </a:r>
            <a:r>
              <a:rPr>
                <a:latin typeface="Calibri"/>
                <a:ea typeface="Calibri"/>
                <a:cs typeface="Calibri"/>
              </a:rPr>
              <a:t> </a:t>
            </a:r>
            <a:r>
              <a:rPr>
                <a:latin typeface="Calibri"/>
                <a:ea typeface="Calibri"/>
                <a:cs typeface="Calibri"/>
              </a:rPr>
              <a:t>nonumy</a:t>
            </a:r>
            <a:r>
              <a:rPr>
                <a:latin typeface="Calibri"/>
                <a:ea typeface="Calibri"/>
                <a:cs typeface="Calibri"/>
              </a:rPr>
              <a:t> </a:t>
            </a:r>
            <a:r>
              <a:rPr>
                <a:latin typeface="Calibri"/>
                <a:ea typeface="Calibri"/>
                <a:cs typeface="Calibri"/>
              </a:rPr>
              <a:t>eirmod</a:t>
            </a:r>
            <a:r>
              <a:rPr>
                <a:latin typeface="Calibri"/>
                <a:ea typeface="Calibri"/>
                <a:cs typeface="Calibri"/>
              </a:rPr>
              <a:t> </a:t>
            </a:r>
            <a:r>
              <a:rPr>
                <a:latin typeface="Calibri"/>
                <a:ea typeface="Calibri"/>
                <a:cs typeface="Calibri"/>
              </a:rPr>
              <a:t>tempor</a:t>
            </a:r>
            <a:r>
              <a:rPr>
                <a:latin typeface="Calibri"/>
                <a:ea typeface="Calibri"/>
                <a:cs typeface="Calibri"/>
              </a:rPr>
              <a:t> </a:t>
            </a:r>
            <a:r>
              <a:rPr>
                <a:latin typeface="Calibri"/>
                <a:ea typeface="Calibri"/>
                <a:cs typeface="Calibri"/>
              </a:rPr>
              <a:t>invidunt</a:t>
            </a:r>
            <a:r>
              <a:rPr>
                <a:latin typeface="Calibri"/>
                <a:ea typeface="Calibri"/>
                <a:cs typeface="Calibri"/>
              </a:rPr>
              <a:t> </a:t>
            </a:r>
            <a:r>
              <a:rPr>
                <a:latin typeface="Calibri"/>
                <a:ea typeface="Calibri"/>
                <a:cs typeface="Calibri"/>
              </a:rPr>
              <a:t>ut</a:t>
            </a:r>
            <a:r>
              <a:rPr>
                <a:latin typeface="Calibri"/>
                <a:ea typeface="Calibri"/>
                <a:cs typeface="Calibri"/>
              </a:rPr>
              <a:t> </a:t>
            </a:r>
            <a:r>
              <a:rPr>
                <a:latin typeface="Calibri"/>
                <a:ea typeface="Calibri"/>
                <a:cs typeface="Calibri"/>
              </a:rPr>
              <a:t>labore</a:t>
            </a:r>
            <a:r>
              <a:rPr>
                <a:latin typeface="Calibri"/>
                <a:ea typeface="Calibri"/>
                <a:cs typeface="Calibri"/>
              </a:rPr>
              <a:t> et </a:t>
            </a:r>
            <a:r>
              <a:rPr>
                <a:latin typeface="Calibri"/>
                <a:ea typeface="Calibri"/>
                <a:cs typeface="Calibri"/>
              </a:rPr>
              <a:t>dolore</a:t>
            </a:r>
            <a:r>
              <a:rPr>
                <a:latin typeface="Calibri"/>
                <a:ea typeface="Calibri"/>
                <a:cs typeface="Calibri"/>
              </a:rPr>
              <a:t> magna </a:t>
            </a:r>
            <a:r>
              <a:rPr>
                <a:latin typeface="Calibri"/>
                <a:ea typeface="Calibri"/>
                <a:cs typeface="Calibri"/>
              </a:rPr>
              <a:t>aliquyam</a:t>
            </a:r>
            <a:r>
              <a:rPr>
                <a:latin typeface="Calibri"/>
                <a:ea typeface="Calibri"/>
                <a:cs typeface="Calibri"/>
              </a:rPr>
              <a:t> erat, sed </a:t>
            </a:r>
            <a:r>
              <a:rPr>
                <a:latin typeface="Calibri"/>
                <a:ea typeface="Calibri"/>
                <a:cs typeface="Calibri"/>
              </a:rPr>
              <a:t>diam</a:t>
            </a:r>
            <a:r>
              <a:rPr>
                <a:latin typeface="Calibri"/>
                <a:ea typeface="Calibri"/>
                <a:cs typeface="Calibri"/>
              </a:rPr>
              <a:t> </a:t>
            </a:r>
            <a:r>
              <a:rPr>
                <a:latin typeface="Calibri"/>
                <a:ea typeface="Calibri"/>
                <a:cs typeface="Calibri"/>
              </a:rPr>
              <a:t>voluptua</a:t>
            </a:r>
            <a:r>
              <a:rPr>
                <a:latin typeface="Calibri"/>
                <a:ea typeface="Calibri"/>
                <a:cs typeface="Calibri"/>
              </a:rPr>
              <a:t>. At </a:t>
            </a:r>
            <a:r>
              <a:rPr>
                <a:latin typeface="Calibri"/>
                <a:ea typeface="Calibri"/>
                <a:cs typeface="Calibri"/>
              </a:rPr>
              <a:t>vero</a:t>
            </a:r>
            <a:r>
              <a:rPr>
                <a:latin typeface="Calibri"/>
                <a:ea typeface="Calibri"/>
                <a:cs typeface="Calibri"/>
              </a:rPr>
              <a:t> </a:t>
            </a:r>
            <a:r>
              <a:rPr>
                <a:latin typeface="Calibri"/>
                <a:ea typeface="Calibri"/>
                <a:cs typeface="Calibri"/>
              </a:rPr>
              <a:t>eos</a:t>
            </a:r>
            <a:r>
              <a:rPr>
                <a:latin typeface="Calibri"/>
                <a:ea typeface="Calibri"/>
                <a:cs typeface="Calibri"/>
              </a:rPr>
              <a:t> </a:t>
            </a:r>
            <a:r>
              <a:rPr>
                <a:latin typeface="Calibri"/>
                <a:ea typeface="Calibri"/>
                <a:cs typeface="Calibri"/>
              </a:rPr>
              <a:t>eirmod</a:t>
            </a:r>
            <a:r>
              <a:rPr>
                <a:latin typeface="Calibri"/>
                <a:ea typeface="Calibri"/>
                <a:cs typeface="Calibri"/>
              </a:rPr>
              <a:t> </a:t>
            </a:r>
            <a:r>
              <a:rPr>
                <a:latin typeface="Calibri"/>
                <a:ea typeface="Calibri"/>
                <a:cs typeface="Calibri"/>
              </a:rPr>
              <a:t>tempor</a:t>
            </a:r>
            <a:r>
              <a:rPr>
                <a:latin typeface="Calibri"/>
                <a:ea typeface="Calibri"/>
                <a:cs typeface="Calibri"/>
              </a:rPr>
              <a:t> </a:t>
            </a:r>
            <a:r>
              <a:rPr>
                <a:latin typeface="Calibri"/>
                <a:ea typeface="Calibri"/>
                <a:cs typeface="Calibri"/>
              </a:rPr>
              <a:t>invidunt</a:t>
            </a:r>
            <a:r>
              <a:rPr>
                <a:latin typeface="Calibri"/>
                <a:ea typeface="Calibri"/>
                <a:cs typeface="Calibri"/>
              </a:rPr>
              <a:t> </a:t>
            </a:r>
            <a:r>
              <a:rPr>
                <a:latin typeface="Calibri"/>
                <a:ea typeface="Calibri"/>
                <a:cs typeface="Calibri"/>
              </a:rPr>
              <a:t>ut</a:t>
            </a:r>
            <a:r>
              <a:rPr>
                <a:latin typeface="Calibri"/>
                <a:ea typeface="Calibri"/>
                <a:cs typeface="Calibri"/>
              </a:rPr>
              <a:t> </a:t>
            </a:r>
            <a:r>
              <a:rPr>
                <a:latin typeface="Calibri"/>
                <a:ea typeface="Calibri"/>
                <a:cs typeface="Calibri"/>
              </a:rPr>
              <a:t>labore</a:t>
            </a:r>
            <a:r>
              <a:rPr>
                <a:latin typeface="Calibri"/>
                <a:ea typeface="Calibri"/>
                <a:cs typeface="Calibri"/>
              </a:rPr>
              <a:t> et </a:t>
            </a:r>
            <a:r>
              <a:rPr>
                <a:latin typeface="Calibri"/>
                <a:ea typeface="Calibri"/>
                <a:cs typeface="Calibri"/>
              </a:rPr>
              <a:t>dolore</a:t>
            </a:r>
            <a:r>
              <a:rPr>
                <a:latin typeface="Calibri"/>
                <a:ea typeface="Calibri"/>
                <a:cs typeface="Calibri"/>
              </a:rPr>
              <a:t> magna </a:t>
            </a:r>
            <a:r>
              <a:rPr>
                <a:latin typeface="Calibri"/>
                <a:ea typeface="Calibri"/>
                <a:cs typeface="Calibri"/>
              </a:rPr>
              <a:t>aliquyam</a:t>
            </a:r>
            <a:r>
              <a:rPr>
                <a:latin typeface="Calibri"/>
                <a:ea typeface="Calibri"/>
                <a:cs typeface="Calibri"/>
              </a:rPr>
              <a:t> </a:t>
            </a:r>
            <a:r>
              <a:rPr>
                <a:latin typeface="Calibri"/>
                <a:ea typeface="Calibri"/>
                <a:cs typeface="Calibri"/>
              </a:rPr>
              <a:t>erat</a:t>
            </a:r>
            <a:r>
              <a:rPr>
                <a:latin typeface="Calibri"/>
                <a:ea typeface="Calibri"/>
                <a:cs typeface="Calibri"/>
              </a:rPr>
              <a:t>, </a:t>
            </a:r>
            <a:r>
              <a:rPr>
                <a:latin typeface="Calibri"/>
                <a:ea typeface="Calibri"/>
                <a:cs typeface="Calibri"/>
              </a:rPr>
              <a:t>sed</a:t>
            </a:r>
            <a:r>
              <a:rPr>
                <a:latin typeface="Calibri"/>
                <a:ea typeface="Calibri"/>
                <a:cs typeface="Calibri"/>
              </a:rPr>
              <a:t> </a:t>
            </a:r>
            <a:r>
              <a:rPr>
                <a:latin typeface="Calibri"/>
                <a:ea typeface="Calibri"/>
                <a:cs typeface="Calibri"/>
              </a:rPr>
              <a:t>diam</a:t>
            </a:r>
            <a:r>
              <a:rPr>
                <a:latin typeface="Calibri"/>
                <a:ea typeface="Calibri"/>
                <a:cs typeface="Calibri"/>
              </a:rPr>
              <a:t> </a:t>
            </a:r>
            <a:r>
              <a:rPr>
                <a:latin typeface="Calibri"/>
                <a:ea typeface="Calibri"/>
                <a:cs typeface="Calibri"/>
              </a:rPr>
              <a:t>voluptua</a:t>
            </a:r>
            <a:r>
              <a:rPr>
                <a:latin typeface="Calibri"/>
                <a:ea typeface="Calibri"/>
                <a:cs typeface="Calibri"/>
              </a:rPr>
              <a:t>. At </a:t>
            </a:r>
            <a:r>
              <a:rPr>
                <a:latin typeface="Calibri"/>
                <a:ea typeface="Calibri"/>
                <a:cs typeface="Calibri"/>
              </a:rPr>
              <a:t>vero</a:t>
            </a:r>
            <a:r>
              <a:rPr>
                <a:latin typeface="Calibri"/>
                <a:ea typeface="Calibri"/>
                <a:cs typeface="Calibri"/>
              </a:rPr>
              <a:t> </a:t>
            </a:r>
            <a:r>
              <a:rPr>
                <a:latin typeface="Calibri"/>
                <a:ea typeface="Calibri"/>
                <a:cs typeface="Calibri"/>
              </a:rPr>
              <a:t>eos</a:t>
            </a:r>
            <a:r>
              <a:rPr>
                <a:latin typeface="Calibri"/>
                <a:ea typeface="Calibri"/>
                <a:cs typeface="Calibri"/>
              </a:rPr>
              <a:t> et </a:t>
            </a:r>
            <a:r>
              <a:rPr>
                <a:latin typeface="Calibri"/>
                <a:ea typeface="Calibri"/>
                <a:cs typeface="Calibri"/>
              </a:rPr>
              <a:t>accusam</a:t>
            </a:r>
            <a:r>
              <a:rPr>
                <a:latin typeface="Calibri"/>
                <a:ea typeface="Calibri"/>
                <a:cs typeface="Calibri"/>
              </a:rPr>
              <a:t> et </a:t>
            </a:r>
            <a:r>
              <a:rPr>
                <a:latin typeface="Calibri"/>
                <a:ea typeface="Calibri"/>
                <a:cs typeface="Calibri"/>
              </a:rPr>
              <a:t>justo</a:t>
            </a:r>
            <a:r>
              <a:rPr>
                <a:latin typeface="Calibri"/>
                <a:ea typeface="Calibri"/>
                <a:cs typeface="Calibri"/>
              </a:rPr>
              <a:t> </a:t>
            </a:r>
            <a:r>
              <a:rPr>
                <a:latin typeface="Calibri"/>
                <a:ea typeface="Calibri"/>
                <a:cs typeface="Calibri"/>
              </a:rPr>
              <a:t>duo</a:t>
            </a:r>
            <a:r>
              <a:rPr>
                <a:latin typeface="Calibri"/>
                <a:ea typeface="Calibri"/>
                <a:cs typeface="Calibri"/>
              </a:rPr>
              <a:t> </a:t>
            </a:r>
            <a:r>
              <a:rPr>
                <a:latin typeface="Calibri"/>
                <a:ea typeface="Calibri"/>
                <a:cs typeface="Calibri"/>
              </a:rPr>
              <a:t>dolores</a:t>
            </a:r>
            <a:r>
              <a:rPr>
                <a:latin typeface="Calibri"/>
                <a:ea typeface="Calibri"/>
                <a:cs typeface="Calibri"/>
              </a:rPr>
              <a:t> et </a:t>
            </a:r>
            <a:r>
              <a:rPr>
                <a:latin typeface="Calibri"/>
                <a:ea typeface="Calibri"/>
                <a:cs typeface="Calibri"/>
              </a:rPr>
              <a:t>ea</a:t>
            </a:r>
            <a:r>
              <a:rPr>
                <a:latin typeface="Calibri"/>
                <a:ea typeface="Calibri"/>
                <a:cs typeface="Calibri"/>
              </a:rPr>
              <a:t> </a:t>
            </a:r>
            <a:r>
              <a:rPr>
                <a:latin typeface="Calibri"/>
                <a:ea typeface="Calibri"/>
                <a:cs typeface="Calibri"/>
              </a:rPr>
              <a:t>rebum</a:t>
            </a:r>
            <a:r>
              <a:rPr>
                <a:latin typeface="Calibri"/>
                <a:ea typeface="Calibri"/>
                <a:cs typeface="Calibri"/>
              </a:rPr>
              <a:t>. Stet </a:t>
            </a:r>
            <a:r>
              <a:rPr>
                <a:latin typeface="Calibri"/>
                <a:ea typeface="Calibri"/>
                <a:cs typeface="Calibri"/>
              </a:rPr>
              <a:t>clita</a:t>
            </a:r>
            <a:r>
              <a:rPr>
                <a:latin typeface="Calibri"/>
                <a:ea typeface="Calibri"/>
                <a:cs typeface="Calibri"/>
              </a:rPr>
              <a:t> </a:t>
            </a:r>
            <a:r>
              <a:rPr>
                <a:latin typeface="Calibri"/>
                <a:ea typeface="Calibri"/>
                <a:cs typeface="Calibri"/>
              </a:rPr>
              <a:t>kasd</a:t>
            </a:r>
            <a:r>
              <a:rPr>
                <a:latin typeface="Calibri"/>
                <a:ea typeface="Calibri"/>
                <a:cs typeface="Calibri"/>
              </a:rPr>
              <a:t> </a:t>
            </a:r>
            <a:r>
              <a:rPr>
                <a:latin typeface="Calibri"/>
                <a:ea typeface="Calibri"/>
                <a:cs typeface="Calibri"/>
              </a:rPr>
              <a:t>gubergren</a:t>
            </a:r>
            <a:r>
              <a:rPr>
                <a:latin typeface="Calibri"/>
                <a:ea typeface="Calibri"/>
                <a:cs typeface="Calibri"/>
              </a:rPr>
              <a:t>, </a:t>
            </a:r>
            <a:r>
              <a:rPr>
                <a:latin typeface="Calibri"/>
                <a:ea typeface="Calibri"/>
                <a:cs typeface="Calibri"/>
              </a:rPr>
              <a:t>no</a:t>
            </a:r>
            <a:r>
              <a:rPr>
                <a:latin typeface="Calibri"/>
                <a:ea typeface="Calibri"/>
                <a:cs typeface="Calibri"/>
              </a:rPr>
              <a:t> </a:t>
            </a:r>
            <a:r>
              <a:rPr>
                <a:latin typeface="Calibri"/>
                <a:ea typeface="Calibri"/>
                <a:cs typeface="Calibri"/>
              </a:rPr>
              <a:t>sea</a:t>
            </a:r>
            <a:r>
              <a:rPr>
                <a:latin typeface="Calibri"/>
                <a:ea typeface="Calibri"/>
                <a:cs typeface="Calibri"/>
              </a:rPr>
              <a:t> </a:t>
            </a:r>
            <a:r>
              <a:rPr>
                <a:latin typeface="Calibri"/>
                <a:ea typeface="Calibri"/>
                <a:cs typeface="Calibri"/>
              </a:rPr>
              <a:t>takimata</a:t>
            </a:r>
            <a:br/>
            <a:r>
              <a:rPr>
                <a:latin typeface="Calibri"/>
                <a:ea typeface="Calibri"/>
                <a:cs typeface="Calibri"/>
              </a:rPr>
              <a:t>sanctus </a:t>
            </a:r>
            <a:r>
              <a:rPr>
                <a:latin typeface="Calibri"/>
                <a:ea typeface="Calibri"/>
                <a:cs typeface="Calibri"/>
              </a:rPr>
              <a:t>est</a:t>
            </a:r>
            <a:r>
              <a:rPr>
                <a:latin typeface="Calibri"/>
                <a:ea typeface="Calibri"/>
                <a:cs typeface="Calibri"/>
              </a:rPr>
              <a:t> </a:t>
            </a:r>
            <a:r>
              <a:rPr>
                <a:latin typeface="Calibri"/>
                <a:ea typeface="Calibri"/>
                <a:cs typeface="Calibri"/>
              </a:rPr>
              <a:t>Lorem</a:t>
            </a:r>
            <a:r>
              <a:rPr>
                <a:latin typeface="Calibri"/>
                <a:ea typeface="Calibri"/>
                <a:cs typeface="Calibri"/>
              </a:rPr>
              <a:t> </a:t>
            </a:r>
            <a:r>
              <a:rPr>
                <a:latin typeface="Calibri"/>
                <a:ea typeface="Calibri"/>
                <a:cs typeface="Calibri"/>
              </a:rPr>
              <a:t>ipsum</a:t>
            </a:r>
            <a:r>
              <a:rPr>
                <a:latin typeface="Calibri"/>
                <a:ea typeface="Calibri"/>
                <a:cs typeface="Calibri"/>
              </a:rPr>
              <a:t> </a:t>
            </a:r>
            <a:r>
              <a:rPr>
                <a:latin typeface="Calibri"/>
                <a:ea typeface="Calibri"/>
                <a:cs typeface="Calibri"/>
              </a:rPr>
              <a:t>dolor</a:t>
            </a:r>
            <a:r>
              <a:rPr>
                <a:latin typeface="Calibri"/>
                <a:ea typeface="Calibri"/>
                <a:cs typeface="Calibri"/>
              </a:rPr>
              <a:t> </a:t>
            </a:r>
            <a:r>
              <a:rPr>
                <a:latin typeface="Calibri"/>
                <a:ea typeface="Calibri"/>
                <a:cs typeface="Calibri"/>
              </a:rPr>
              <a:t>sit</a:t>
            </a:r>
            <a:r>
              <a:rPr>
                <a:latin typeface="Calibri"/>
                <a:ea typeface="Calibri"/>
                <a:cs typeface="Calibri"/>
              </a:rPr>
              <a:t> </a:t>
            </a:r>
            <a:r>
              <a:rPr>
                <a:latin typeface="Calibri"/>
                <a:ea typeface="Calibri"/>
                <a:cs typeface="Calibri"/>
              </a:rPr>
              <a:t>amet</a:t>
            </a:r>
            <a:r>
              <a:rPr>
                <a:latin typeface="Calibri"/>
                <a:ea typeface="Calibri"/>
                <a:cs typeface="Calibri"/>
              </a:rPr>
              <a:t>. </a:t>
            </a:r>
            <a:r>
              <a:rPr>
                <a:latin typeface="Calibri"/>
                <a:ea typeface="Calibri"/>
                <a:cs typeface="Calibri"/>
              </a:rPr>
              <a:t>Lorem</a:t>
            </a:r>
            <a:r>
              <a:rPr>
                <a:latin typeface="Calibri"/>
                <a:ea typeface="Calibri"/>
                <a:cs typeface="Calibri"/>
              </a:rPr>
              <a:t> </a:t>
            </a:r>
            <a:r>
              <a:rPr>
                <a:latin typeface="Calibri"/>
                <a:ea typeface="Calibri"/>
                <a:cs typeface="Calibri"/>
              </a:rPr>
              <a:t>ipsum</a:t>
            </a:r>
            <a:endParaRPr/>
          </a:p>
        </p:txBody>
      </p:sp>
      <p:sp>
        <p:nvSpPr>
          <p:cNvPr id="7" name="Textplatzhalter 17">
            <a:extLst xmlns:a="http://schemas.openxmlformats.org/drawingml/2006/main">
              <a:ext uri="{FF2B5EF4-FFF2-40B4-BE49-F238E27FC236}">
                <a16:creationId xmlns:a16="http://schemas.microsoft.com/office/drawing/2014/main" id="{5B12DAD6-93EF-5042-858F-4BB3334F107E}"/>
              </a:ext>
            </a:extLst>
          </p:cNvPr>
          <p:cNvSpPr>
            <a:spLocks xmlns:a="http://schemas.openxmlformats.org/drawingml/2006/main" noGrp="1"/>
          </p:cNvSpPr>
          <p:nvPr>
            <p:ph type="body" idx="14" hasCustomPrompt="1"/>
          </p:nvPr>
        </p:nvSpPr>
        <p:spPr>
          <a:xfrm xmlns:a="http://schemas.openxmlformats.org/drawingml/2006/main">
            <a:off x="555867" y="396545"/>
            <a:ext cx="8311908" cy="717437"/>
          </a:xfrm>
          <a:prstGeom xmlns:a="http://schemas.openxmlformats.org/drawingml/2006/main" prst="rect">
            <a:avLst/>
          </a:prstGeom>
        </p:spPr>
        <p:txBody>
          <a:bodyPr xmlns:a="http://schemas.openxmlformats.org/drawingml/2006/main" lIns="0" tIns="0" rIns="0" bIns="0" anchor="b"/>
          <a:lstStyle xmlns:a="http://schemas.openxmlformats.org/drawingml/2006/main">
            <a:lvl1pPr marL="0" indent="0">
              <a:lnSpc>
                <a:spcPts val="2800"/>
              </a:lnSpc>
              <a:spcBef>
                <a:spcPts val="0"/>
              </a:spcBef>
              <a:buNone/>
              <a:defRPr sz="2400">
                <a:solidFill>
                  <a:srgbClr val="C40D1E"/>
                </a:solidFill>
                <a:latin typeface="Arial"/>
                <a:ea typeface="Arial"/>
                <a:cs typeface="Arial"/>
              </a:defRPr>
            </a:lvl1pPr>
          </a:lstStyle>
          <a:p xmlns:a="http://schemas.openxmlformats.org/drawingml/2006/main">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spTree>
  </p:cSld>
</p:sldLayout>
</file>

<file path=ppt/slideLayouts/slideLayout2.xml><?xml version="1.0" encoding="utf-8"?>
<p:sldLayout xmlns:p="http://schemas.openxmlformats.org/presentationml/2006/main" preserve="1" userDrawn="1">
  <p:cSld name="4_Inhalt - Bild und Text">
    <p:spTree>
      <p:nvGrpSpPr>
        <p:cNvPr id="1" name=""/>
        <p:cNvGrpSpPr/>
        <p:nvPr/>
      </p:nvGrpSpPr>
      <p:grpSpPr>
        <a:xfrm xmlns:a="http://schemas.openxmlformats.org/drawingml/2006/main"/>
      </p:grpSpPr>
      <p:sp>
        <p:nvSpPr>
          <p:cNvPr id="5" name="Textplatzhalter 2">
            <a:extLst xmlns:a="http://schemas.openxmlformats.org/drawingml/2006/main">
              <a:ext uri="{FF2B5EF4-FFF2-40B4-BE49-F238E27FC236}">
                <a16:creationId xmlns:a16="http://schemas.microsoft.com/office/drawing/2014/main" id="{55FA8C39-046E-E34F-8E80-7B9D099D728B}"/>
              </a:ext>
            </a:extLst>
          </p:cNvPr>
          <p:cNvSpPr>
            <a:spLocks xmlns:a="http://schemas.openxmlformats.org/drawingml/2006/main" noGrp="1"/>
          </p:cNvSpPr>
          <p:nvPr>
            <p:ph type="body" idx="18" hasCustomPrompt="1"/>
          </p:nvPr>
        </p:nvSpPr>
        <p:spPr>
          <a:xfrm xmlns:a="http://schemas.openxmlformats.org/drawingml/2006/main">
            <a:off x="6519600" y="1382400"/>
            <a:ext cx="3982945" cy="4093588"/>
          </a:xfrm>
          <a:prstGeom xmlns:a="http://schemas.openxmlformats.org/drawingml/2006/main" prst="rect">
            <a:avLst/>
          </a:prstGeom>
        </p:spPr>
        <p:txBody>
          <a:bodyPr xmlns:a="http://schemas.openxmlformats.org/drawingml/2006/main" lIns="0" tIns="0" rIns="0" bIns="0"/>
          <a:lstStyle xmlns:a="http://schemas.openxmlformats.org/drawingml/2006/main">
            <a:lvl1pPr marL="0" indent="0">
              <a:lnSpc>
                <a:spcPts val="2400"/>
              </a:lnSpc>
              <a:spcBef>
                <a:spcPts val="0"/>
              </a:spcBef>
              <a:buNone/>
              <a:defRPr sz="1800">
                <a:solidFill>
                  <a:srgbClr val="434343"/>
                </a:solidFill>
                <a:latin typeface="Arial"/>
                <a:ea typeface="Arial"/>
                <a:cs typeface="Arial"/>
              </a:defRPr>
            </a:lvl1pPr>
          </a:lstStyle>
          <a:p xmlns:a="http://schemas.openxmlformats.org/drawingml/2006/main">
            <a:pPr lvl="0">
              <a:buNone/>
              <a:defRPr>
                <a:latin typeface="Calibri"/>
                <a:ea typeface="Calibri"/>
                <a:cs typeface="Calibri"/>
              </a:defRPr>
            </a:pPr>
            <a:r>
              <a:rPr>
                <a:latin typeface="Calibri"/>
                <a:ea typeface="Calibri"/>
                <a:cs typeface="Calibri"/>
              </a:rPr>
              <a:t>Arial Regular 18pt, ZA: 24pt </a:t>
            </a:r>
            <a:br/>
            <a:r>
              <a:rPr>
                <a:latin typeface="Calibri"/>
                <a:ea typeface="Calibri"/>
                <a:cs typeface="Calibri"/>
              </a:rPr>
              <a:t>Lorem</a:t>
            </a:r>
            <a:r>
              <a:rPr>
                <a:latin typeface="Calibri"/>
                <a:ea typeface="Calibri"/>
                <a:cs typeface="Calibri"/>
              </a:rPr>
              <a:t> </a:t>
            </a:r>
            <a:r>
              <a:rPr>
                <a:latin typeface="Calibri"/>
                <a:ea typeface="Calibri"/>
                <a:cs typeface="Calibri"/>
              </a:rPr>
              <a:t>ipsum</a:t>
            </a:r>
            <a:r>
              <a:rPr>
                <a:latin typeface="Calibri"/>
                <a:ea typeface="Calibri"/>
                <a:cs typeface="Calibri"/>
              </a:rPr>
              <a:t> </a:t>
            </a:r>
            <a:r>
              <a:rPr>
                <a:latin typeface="Calibri"/>
                <a:ea typeface="Calibri"/>
                <a:cs typeface="Calibri"/>
              </a:rPr>
              <a:t>dolor</a:t>
            </a:r>
            <a:r>
              <a:rPr>
                <a:latin typeface="Calibri"/>
                <a:ea typeface="Calibri"/>
                <a:cs typeface="Calibri"/>
              </a:rPr>
              <a:t> </a:t>
            </a:r>
            <a:r>
              <a:rPr>
                <a:latin typeface="Calibri"/>
                <a:ea typeface="Calibri"/>
                <a:cs typeface="Calibri"/>
              </a:rPr>
              <a:t>sit</a:t>
            </a:r>
            <a:r>
              <a:rPr>
                <a:latin typeface="Calibri"/>
                <a:ea typeface="Calibri"/>
                <a:cs typeface="Calibri"/>
              </a:rPr>
              <a:t> </a:t>
            </a:r>
            <a:r>
              <a:rPr>
                <a:latin typeface="Calibri"/>
                <a:ea typeface="Calibri"/>
                <a:cs typeface="Calibri"/>
              </a:rPr>
              <a:t>amet</a:t>
            </a:r>
            <a:r>
              <a:rPr>
                <a:latin typeface="Calibri"/>
                <a:ea typeface="Calibri"/>
                <a:cs typeface="Calibri"/>
              </a:rPr>
              <a:t>, </a:t>
            </a:r>
            <a:r>
              <a:rPr>
                <a:latin typeface="Calibri"/>
                <a:ea typeface="Calibri"/>
                <a:cs typeface="Calibri"/>
              </a:rPr>
              <a:t>consetetur</a:t>
            </a:r>
            <a:r>
              <a:rPr>
                <a:latin typeface="Calibri"/>
                <a:ea typeface="Calibri"/>
                <a:cs typeface="Calibri"/>
              </a:rPr>
              <a:t> </a:t>
            </a:r>
            <a:r>
              <a:rPr>
                <a:latin typeface="Calibri"/>
                <a:ea typeface="Calibri"/>
                <a:cs typeface="Calibri"/>
              </a:rPr>
              <a:t>sadipscing</a:t>
            </a:r>
            <a:r>
              <a:rPr>
                <a:latin typeface="Calibri"/>
                <a:ea typeface="Calibri"/>
                <a:cs typeface="Calibri"/>
              </a:rPr>
              <a:t> </a:t>
            </a:r>
            <a:r>
              <a:rPr>
                <a:latin typeface="Calibri"/>
                <a:ea typeface="Calibri"/>
                <a:cs typeface="Calibri"/>
              </a:rPr>
              <a:t>elitr</a:t>
            </a:r>
            <a:r>
              <a:rPr>
                <a:latin typeface="Calibri"/>
                <a:ea typeface="Calibri"/>
                <a:cs typeface="Calibri"/>
              </a:rPr>
              <a:t>, sed </a:t>
            </a:r>
            <a:r>
              <a:rPr>
                <a:latin typeface="Calibri"/>
                <a:ea typeface="Calibri"/>
                <a:cs typeface="Calibri"/>
              </a:rPr>
              <a:t>diam</a:t>
            </a:r>
            <a:r>
              <a:rPr>
                <a:latin typeface="Calibri"/>
                <a:ea typeface="Calibri"/>
                <a:cs typeface="Calibri"/>
              </a:rPr>
              <a:t> </a:t>
            </a:r>
            <a:r>
              <a:rPr>
                <a:latin typeface="Calibri"/>
                <a:ea typeface="Calibri"/>
                <a:cs typeface="Calibri"/>
              </a:rPr>
              <a:t>nonumy</a:t>
            </a:r>
            <a:r>
              <a:rPr>
                <a:latin typeface="Calibri"/>
                <a:ea typeface="Calibri"/>
                <a:cs typeface="Calibri"/>
              </a:rPr>
              <a:t> </a:t>
            </a:r>
            <a:r>
              <a:rPr>
                <a:latin typeface="Calibri"/>
                <a:ea typeface="Calibri"/>
                <a:cs typeface="Calibri"/>
              </a:rPr>
              <a:t>eirmod</a:t>
            </a:r>
            <a:r>
              <a:rPr>
                <a:latin typeface="Calibri"/>
                <a:ea typeface="Calibri"/>
                <a:cs typeface="Calibri"/>
              </a:rPr>
              <a:t> </a:t>
            </a:r>
            <a:r>
              <a:rPr>
                <a:latin typeface="Calibri"/>
                <a:ea typeface="Calibri"/>
                <a:cs typeface="Calibri"/>
              </a:rPr>
              <a:t>tempor</a:t>
            </a:r>
            <a:r>
              <a:rPr>
                <a:latin typeface="Calibri"/>
                <a:ea typeface="Calibri"/>
                <a:cs typeface="Calibri"/>
              </a:rPr>
              <a:t> </a:t>
            </a:r>
            <a:r>
              <a:rPr>
                <a:latin typeface="Calibri"/>
                <a:ea typeface="Calibri"/>
                <a:cs typeface="Calibri"/>
              </a:rPr>
              <a:t>invidunt</a:t>
            </a:r>
            <a:r>
              <a:rPr>
                <a:latin typeface="Calibri"/>
                <a:ea typeface="Calibri"/>
                <a:cs typeface="Calibri"/>
              </a:rPr>
              <a:t> </a:t>
            </a:r>
            <a:r>
              <a:rPr>
                <a:latin typeface="Calibri"/>
                <a:ea typeface="Calibri"/>
                <a:cs typeface="Calibri"/>
              </a:rPr>
              <a:t>ut</a:t>
            </a:r>
            <a:r>
              <a:rPr>
                <a:latin typeface="Calibri"/>
                <a:ea typeface="Calibri"/>
                <a:cs typeface="Calibri"/>
              </a:rPr>
              <a:t> </a:t>
            </a:r>
            <a:r>
              <a:rPr>
                <a:latin typeface="Calibri"/>
                <a:ea typeface="Calibri"/>
                <a:cs typeface="Calibri"/>
              </a:rPr>
              <a:t>labore</a:t>
            </a:r>
            <a:r>
              <a:rPr>
                <a:latin typeface="Calibri"/>
                <a:ea typeface="Calibri"/>
                <a:cs typeface="Calibri"/>
              </a:rPr>
              <a:t> et </a:t>
            </a:r>
            <a:r>
              <a:rPr>
                <a:latin typeface="Calibri"/>
                <a:ea typeface="Calibri"/>
                <a:cs typeface="Calibri"/>
              </a:rPr>
              <a:t>dolore</a:t>
            </a:r>
            <a:r>
              <a:rPr>
                <a:latin typeface="Calibri"/>
                <a:ea typeface="Calibri"/>
                <a:cs typeface="Calibri"/>
              </a:rPr>
              <a:t> magna </a:t>
            </a:r>
            <a:r>
              <a:rPr>
                <a:latin typeface="Calibri"/>
                <a:ea typeface="Calibri"/>
                <a:cs typeface="Calibri"/>
              </a:rPr>
              <a:t>aliquyam</a:t>
            </a:r>
            <a:r>
              <a:rPr>
                <a:latin typeface="Calibri"/>
                <a:ea typeface="Calibri"/>
                <a:cs typeface="Calibri"/>
              </a:rPr>
              <a:t> erat, sed </a:t>
            </a:r>
            <a:r>
              <a:rPr>
                <a:latin typeface="Calibri"/>
                <a:ea typeface="Calibri"/>
                <a:cs typeface="Calibri"/>
              </a:rPr>
              <a:t>diam</a:t>
            </a:r>
            <a:r>
              <a:rPr>
                <a:latin typeface="Calibri"/>
                <a:ea typeface="Calibri"/>
                <a:cs typeface="Calibri"/>
              </a:rPr>
              <a:t> </a:t>
            </a:r>
            <a:r>
              <a:rPr>
                <a:latin typeface="Calibri"/>
                <a:ea typeface="Calibri"/>
                <a:cs typeface="Calibri"/>
              </a:rPr>
              <a:t>voluptua</a:t>
            </a:r>
            <a:r>
              <a:rPr>
                <a:latin typeface="Calibri"/>
                <a:ea typeface="Calibri"/>
                <a:cs typeface="Calibri"/>
              </a:rPr>
              <a:t>. At </a:t>
            </a:r>
            <a:r>
              <a:rPr>
                <a:latin typeface="Calibri"/>
                <a:ea typeface="Calibri"/>
                <a:cs typeface="Calibri"/>
              </a:rPr>
              <a:t>vero</a:t>
            </a:r>
            <a:r>
              <a:rPr>
                <a:latin typeface="Calibri"/>
                <a:ea typeface="Calibri"/>
                <a:cs typeface="Calibri"/>
              </a:rPr>
              <a:t> </a:t>
            </a:r>
            <a:r>
              <a:rPr>
                <a:latin typeface="Calibri"/>
                <a:ea typeface="Calibri"/>
                <a:cs typeface="Calibri"/>
              </a:rPr>
              <a:t>eos</a:t>
            </a:r>
            <a:r>
              <a:rPr>
                <a:latin typeface="Calibri"/>
                <a:ea typeface="Calibri"/>
                <a:cs typeface="Calibri"/>
              </a:rPr>
              <a:t> </a:t>
            </a:r>
            <a:r>
              <a:rPr>
                <a:latin typeface="Calibri"/>
                <a:ea typeface="Calibri"/>
                <a:cs typeface="Calibri"/>
              </a:rPr>
              <a:t>eirmod</a:t>
            </a:r>
            <a:r>
              <a:rPr>
                <a:latin typeface="Calibri"/>
                <a:ea typeface="Calibri"/>
                <a:cs typeface="Calibri"/>
              </a:rPr>
              <a:t> </a:t>
            </a:r>
            <a:r>
              <a:rPr>
                <a:latin typeface="Calibri"/>
                <a:ea typeface="Calibri"/>
                <a:cs typeface="Calibri"/>
              </a:rPr>
              <a:t>tempor</a:t>
            </a:r>
            <a:r>
              <a:rPr>
                <a:latin typeface="Calibri"/>
                <a:ea typeface="Calibri"/>
                <a:cs typeface="Calibri"/>
              </a:rPr>
              <a:t> </a:t>
            </a:r>
            <a:r>
              <a:rPr>
                <a:latin typeface="Calibri"/>
                <a:ea typeface="Calibri"/>
                <a:cs typeface="Calibri"/>
              </a:rPr>
              <a:t>invidunt</a:t>
            </a:r>
            <a:r>
              <a:rPr>
                <a:latin typeface="Calibri"/>
                <a:ea typeface="Calibri"/>
                <a:cs typeface="Calibri"/>
              </a:rPr>
              <a:t> </a:t>
            </a:r>
            <a:r>
              <a:rPr>
                <a:latin typeface="Calibri"/>
                <a:ea typeface="Calibri"/>
                <a:cs typeface="Calibri"/>
              </a:rPr>
              <a:t>ut</a:t>
            </a:r>
            <a:r>
              <a:rPr>
                <a:latin typeface="Calibri"/>
                <a:ea typeface="Calibri"/>
                <a:cs typeface="Calibri"/>
              </a:rPr>
              <a:t> </a:t>
            </a:r>
            <a:r>
              <a:rPr>
                <a:latin typeface="Calibri"/>
                <a:ea typeface="Calibri"/>
                <a:cs typeface="Calibri"/>
              </a:rPr>
              <a:t>labore</a:t>
            </a:r>
            <a:r>
              <a:rPr>
                <a:latin typeface="Calibri"/>
                <a:ea typeface="Calibri"/>
                <a:cs typeface="Calibri"/>
              </a:rPr>
              <a:t> et </a:t>
            </a:r>
            <a:r>
              <a:rPr>
                <a:latin typeface="Calibri"/>
                <a:ea typeface="Calibri"/>
                <a:cs typeface="Calibri"/>
              </a:rPr>
              <a:t>dolore</a:t>
            </a:r>
            <a:r>
              <a:rPr>
                <a:latin typeface="Calibri"/>
                <a:ea typeface="Calibri"/>
                <a:cs typeface="Calibri"/>
              </a:rPr>
              <a:t> magna </a:t>
            </a:r>
            <a:r>
              <a:rPr>
                <a:latin typeface="Calibri"/>
                <a:ea typeface="Calibri"/>
                <a:cs typeface="Calibri"/>
              </a:rPr>
              <a:t>aliquyam</a:t>
            </a:r>
            <a:r>
              <a:rPr>
                <a:latin typeface="Calibri"/>
                <a:ea typeface="Calibri"/>
                <a:cs typeface="Calibri"/>
              </a:rPr>
              <a:t> </a:t>
            </a:r>
            <a:r>
              <a:rPr>
                <a:latin typeface="Calibri"/>
                <a:ea typeface="Calibri"/>
                <a:cs typeface="Calibri"/>
              </a:rPr>
              <a:t>erat</a:t>
            </a:r>
            <a:r>
              <a:rPr>
                <a:latin typeface="Calibri"/>
                <a:ea typeface="Calibri"/>
                <a:cs typeface="Calibri"/>
              </a:rPr>
              <a:t>, </a:t>
            </a:r>
            <a:r>
              <a:rPr>
                <a:latin typeface="Calibri"/>
                <a:ea typeface="Calibri"/>
                <a:cs typeface="Calibri"/>
              </a:rPr>
              <a:t>sed</a:t>
            </a:r>
            <a:r>
              <a:rPr>
                <a:latin typeface="Calibri"/>
                <a:ea typeface="Calibri"/>
                <a:cs typeface="Calibri"/>
              </a:rPr>
              <a:t> </a:t>
            </a:r>
            <a:r>
              <a:rPr>
                <a:latin typeface="Calibri"/>
                <a:ea typeface="Calibri"/>
                <a:cs typeface="Calibri"/>
              </a:rPr>
              <a:t>diam</a:t>
            </a:r>
            <a:r>
              <a:rPr>
                <a:latin typeface="Calibri"/>
                <a:ea typeface="Calibri"/>
                <a:cs typeface="Calibri"/>
              </a:rPr>
              <a:t> </a:t>
            </a:r>
            <a:r>
              <a:rPr>
                <a:latin typeface="Calibri"/>
                <a:ea typeface="Calibri"/>
                <a:cs typeface="Calibri"/>
              </a:rPr>
              <a:t>voluptua</a:t>
            </a:r>
            <a:r>
              <a:rPr>
                <a:latin typeface="Calibri"/>
                <a:ea typeface="Calibri"/>
                <a:cs typeface="Calibri"/>
              </a:rPr>
              <a:t>. At </a:t>
            </a:r>
            <a:r>
              <a:rPr>
                <a:latin typeface="Calibri"/>
                <a:ea typeface="Calibri"/>
                <a:cs typeface="Calibri"/>
              </a:rPr>
              <a:t>vero</a:t>
            </a:r>
            <a:r>
              <a:rPr>
                <a:latin typeface="Calibri"/>
                <a:ea typeface="Calibri"/>
                <a:cs typeface="Calibri"/>
              </a:rPr>
              <a:t> </a:t>
            </a:r>
            <a:r>
              <a:rPr>
                <a:latin typeface="Calibri"/>
                <a:ea typeface="Calibri"/>
                <a:cs typeface="Calibri"/>
              </a:rPr>
              <a:t>eos</a:t>
            </a:r>
            <a:r>
              <a:rPr>
                <a:latin typeface="Calibri"/>
                <a:ea typeface="Calibri"/>
                <a:cs typeface="Calibri"/>
              </a:rPr>
              <a:t> et </a:t>
            </a:r>
            <a:r>
              <a:rPr>
                <a:latin typeface="Calibri"/>
                <a:ea typeface="Calibri"/>
                <a:cs typeface="Calibri"/>
              </a:rPr>
              <a:t>accusam</a:t>
            </a:r>
            <a:r>
              <a:rPr>
                <a:latin typeface="Calibri"/>
                <a:ea typeface="Calibri"/>
                <a:cs typeface="Calibri"/>
              </a:rPr>
              <a:t> et </a:t>
            </a:r>
            <a:r>
              <a:rPr>
                <a:latin typeface="Calibri"/>
                <a:ea typeface="Calibri"/>
                <a:cs typeface="Calibri"/>
              </a:rPr>
              <a:t>justo</a:t>
            </a:r>
            <a:r>
              <a:rPr>
                <a:latin typeface="Calibri"/>
                <a:ea typeface="Calibri"/>
                <a:cs typeface="Calibri"/>
              </a:rPr>
              <a:t> </a:t>
            </a:r>
            <a:r>
              <a:rPr>
                <a:latin typeface="Calibri"/>
                <a:ea typeface="Calibri"/>
                <a:cs typeface="Calibri"/>
              </a:rPr>
              <a:t>duo</a:t>
            </a:r>
            <a:r>
              <a:rPr>
                <a:latin typeface="Calibri"/>
                <a:ea typeface="Calibri"/>
                <a:cs typeface="Calibri"/>
              </a:rPr>
              <a:t> </a:t>
            </a:r>
            <a:r>
              <a:rPr>
                <a:latin typeface="Calibri"/>
                <a:ea typeface="Calibri"/>
                <a:cs typeface="Calibri"/>
              </a:rPr>
              <a:t>dolores</a:t>
            </a:r>
            <a:r>
              <a:rPr>
                <a:latin typeface="Calibri"/>
                <a:ea typeface="Calibri"/>
                <a:cs typeface="Calibri"/>
              </a:rPr>
              <a:t> et </a:t>
            </a:r>
            <a:r>
              <a:rPr>
                <a:latin typeface="Calibri"/>
                <a:ea typeface="Calibri"/>
                <a:cs typeface="Calibri"/>
              </a:rPr>
              <a:t>ea</a:t>
            </a:r>
            <a:r>
              <a:rPr>
                <a:latin typeface="Calibri"/>
                <a:ea typeface="Calibri"/>
                <a:cs typeface="Calibri"/>
              </a:rPr>
              <a:t> </a:t>
            </a:r>
            <a:r>
              <a:rPr>
                <a:latin typeface="Calibri"/>
                <a:ea typeface="Calibri"/>
                <a:cs typeface="Calibri"/>
              </a:rPr>
              <a:t>rebum</a:t>
            </a:r>
            <a:r>
              <a:rPr>
                <a:latin typeface="Calibri"/>
                <a:ea typeface="Calibri"/>
                <a:cs typeface="Calibri"/>
              </a:rPr>
              <a:t>. Stet </a:t>
            </a:r>
            <a:r>
              <a:rPr>
                <a:latin typeface="Calibri"/>
                <a:ea typeface="Calibri"/>
                <a:cs typeface="Calibri"/>
              </a:rPr>
              <a:t>clita</a:t>
            </a:r>
            <a:r>
              <a:rPr>
                <a:latin typeface="Calibri"/>
                <a:ea typeface="Calibri"/>
                <a:cs typeface="Calibri"/>
              </a:rPr>
              <a:t> </a:t>
            </a:r>
            <a:r>
              <a:rPr>
                <a:latin typeface="Calibri"/>
                <a:ea typeface="Calibri"/>
                <a:cs typeface="Calibri"/>
              </a:rPr>
              <a:t>kasd</a:t>
            </a:r>
            <a:r>
              <a:rPr>
                <a:latin typeface="Calibri"/>
                <a:ea typeface="Calibri"/>
                <a:cs typeface="Calibri"/>
              </a:rPr>
              <a:t> </a:t>
            </a:r>
            <a:r>
              <a:rPr>
                <a:latin typeface="Calibri"/>
                <a:ea typeface="Calibri"/>
                <a:cs typeface="Calibri"/>
              </a:rPr>
              <a:t>gubergren</a:t>
            </a:r>
            <a:r>
              <a:rPr>
                <a:latin typeface="Calibri"/>
                <a:ea typeface="Calibri"/>
                <a:cs typeface="Calibri"/>
              </a:rPr>
              <a:t>, </a:t>
            </a:r>
            <a:r>
              <a:rPr>
                <a:latin typeface="Calibri"/>
                <a:ea typeface="Calibri"/>
                <a:cs typeface="Calibri"/>
              </a:rPr>
              <a:t>no</a:t>
            </a:r>
            <a:r>
              <a:rPr>
                <a:latin typeface="Calibri"/>
                <a:ea typeface="Calibri"/>
                <a:cs typeface="Calibri"/>
              </a:rPr>
              <a:t> </a:t>
            </a:r>
            <a:r>
              <a:rPr>
                <a:latin typeface="Calibri"/>
                <a:ea typeface="Calibri"/>
                <a:cs typeface="Calibri"/>
              </a:rPr>
              <a:t>sea</a:t>
            </a:r>
            <a:r>
              <a:rPr>
                <a:latin typeface="Calibri"/>
                <a:ea typeface="Calibri"/>
                <a:cs typeface="Calibri"/>
              </a:rPr>
              <a:t> </a:t>
            </a:r>
            <a:r>
              <a:rPr>
                <a:latin typeface="Calibri"/>
                <a:ea typeface="Calibri"/>
                <a:cs typeface="Calibri"/>
              </a:rPr>
              <a:t>takimata</a:t>
            </a:r>
            <a:br/>
            <a:r>
              <a:rPr>
                <a:latin typeface="Calibri"/>
                <a:ea typeface="Calibri"/>
                <a:cs typeface="Calibri"/>
              </a:rPr>
              <a:t>sanctus </a:t>
            </a:r>
            <a:r>
              <a:rPr>
                <a:latin typeface="Calibri"/>
                <a:ea typeface="Calibri"/>
                <a:cs typeface="Calibri"/>
              </a:rPr>
              <a:t>est</a:t>
            </a:r>
            <a:r>
              <a:rPr>
                <a:latin typeface="Calibri"/>
                <a:ea typeface="Calibri"/>
                <a:cs typeface="Calibri"/>
              </a:rPr>
              <a:t> </a:t>
            </a:r>
            <a:r>
              <a:rPr>
                <a:latin typeface="Calibri"/>
                <a:ea typeface="Calibri"/>
                <a:cs typeface="Calibri"/>
              </a:rPr>
              <a:t>Lorem</a:t>
            </a:r>
            <a:r>
              <a:rPr>
                <a:latin typeface="Calibri"/>
                <a:ea typeface="Calibri"/>
                <a:cs typeface="Calibri"/>
              </a:rPr>
              <a:t> </a:t>
            </a:r>
            <a:r>
              <a:rPr>
                <a:latin typeface="Calibri"/>
                <a:ea typeface="Calibri"/>
                <a:cs typeface="Calibri"/>
              </a:rPr>
              <a:t>ipsum</a:t>
            </a:r>
            <a:r>
              <a:rPr>
                <a:latin typeface="Calibri"/>
                <a:ea typeface="Calibri"/>
                <a:cs typeface="Calibri"/>
              </a:rPr>
              <a:t> </a:t>
            </a:r>
            <a:r>
              <a:rPr>
                <a:latin typeface="Calibri"/>
                <a:ea typeface="Calibri"/>
                <a:cs typeface="Calibri"/>
              </a:rPr>
              <a:t>dolor</a:t>
            </a:r>
            <a:r>
              <a:rPr>
                <a:latin typeface="Calibri"/>
                <a:ea typeface="Calibri"/>
                <a:cs typeface="Calibri"/>
              </a:rPr>
              <a:t> </a:t>
            </a:r>
            <a:r>
              <a:rPr>
                <a:latin typeface="Calibri"/>
                <a:ea typeface="Calibri"/>
                <a:cs typeface="Calibri"/>
              </a:rPr>
              <a:t>sit</a:t>
            </a:r>
            <a:r>
              <a:rPr>
                <a:latin typeface="Calibri"/>
                <a:ea typeface="Calibri"/>
                <a:cs typeface="Calibri"/>
              </a:rPr>
              <a:t> </a:t>
            </a:r>
            <a:r>
              <a:rPr>
                <a:latin typeface="Calibri"/>
                <a:ea typeface="Calibri"/>
                <a:cs typeface="Calibri"/>
              </a:rPr>
              <a:t>amet</a:t>
            </a:r>
            <a:r>
              <a:rPr>
                <a:latin typeface="Calibri"/>
                <a:ea typeface="Calibri"/>
                <a:cs typeface="Calibri"/>
              </a:rPr>
              <a:t>. </a:t>
            </a:r>
            <a:r>
              <a:rPr>
                <a:latin typeface="Calibri"/>
                <a:ea typeface="Calibri"/>
                <a:cs typeface="Calibri"/>
              </a:rPr>
              <a:t>Lorem</a:t>
            </a:r>
            <a:r>
              <a:rPr>
                <a:latin typeface="Calibri"/>
                <a:ea typeface="Calibri"/>
                <a:cs typeface="Calibri"/>
              </a:rPr>
              <a:t> </a:t>
            </a:r>
            <a:r>
              <a:rPr>
                <a:latin typeface="Calibri"/>
                <a:ea typeface="Calibri"/>
                <a:cs typeface="Calibri"/>
              </a:rPr>
              <a:t>ipsum</a:t>
            </a:r>
            <a:endParaRPr/>
          </a:p>
        </p:txBody>
      </p:sp>
      <p:sp>
        <p:nvSpPr>
          <p:cNvPr id="6" name="Bildplatzhalter 2">
            <a:extLst xmlns:a="http://schemas.openxmlformats.org/drawingml/2006/main">
              <a:ext uri="{FF2B5EF4-FFF2-40B4-BE49-F238E27FC236}">
                <a16:creationId xmlns:a16="http://schemas.microsoft.com/office/drawing/2014/main" id="{8BAC5633-896E-0F44-8840-CC87B5BE7045}"/>
              </a:ext>
            </a:extLst>
          </p:cNvPr>
          <p:cNvSpPr>
            <a:spLocks xmlns:a="http://schemas.openxmlformats.org/drawingml/2006/main" noGrp="1"/>
          </p:cNvSpPr>
          <p:nvPr>
            <p:ph type="pic" idx="17" hasCustomPrompt="1"/>
          </p:nvPr>
        </p:nvSpPr>
        <p:spPr>
          <a:xfrm xmlns:a="http://schemas.openxmlformats.org/drawingml/2006/main">
            <a:off x="550066" y="1382204"/>
            <a:ext cx="5329739" cy="4093589"/>
          </a:xfrm>
          <a:prstGeom xmlns:a="http://schemas.openxmlformats.org/drawingml/2006/main" prst="rect">
            <a:avLst/>
          </a:prstGeom>
          <a:solidFill xmlns:a="http://schemas.openxmlformats.org/drawingml/2006/main">
            <a:srgbClr val="434343"/>
          </a:solidFill>
        </p:spPr>
        <p:txBody>
          <a:bodyPr xmlns:a="http://schemas.openxmlformats.org/drawingml/2006/main" anchor="ctr"/>
          <a:lstStyle xmlns:a="http://schemas.openxmlformats.org/drawingml/2006/main">
            <a:lvl1pPr marL="0" indent="0" algn="ctr">
              <a:buFontTx/>
              <a:buNone/>
              <a:defRPr>
                <a:solidFill>
                  <a:schemeClr val="bg1"/>
                </a:solidFill>
              </a:defRPr>
            </a:lvl1pPr>
          </a:lstStyle>
          <a:p xmlns:a="http://schemas.openxmlformats.org/drawingml/2006/main">
            <a:pPr>
              <a:buNone/>
              <a:defRPr>
                <a:latin typeface="Calibri"/>
                <a:ea typeface="Calibri"/>
                <a:cs typeface="Calibri"/>
              </a:defRPr>
            </a:pPr>
            <a:r>
              <a:rPr>
                <a:latin typeface="Calibri"/>
                <a:ea typeface="Calibri"/>
                <a:cs typeface="Calibri"/>
              </a:rPr>
              <a:t>Platzhalter: Bild</a:t>
            </a:r>
          </a:p>
        </p:txBody>
      </p:sp>
      <p:sp>
        <p:nvSpPr>
          <p:cNvPr id="7" name="Textplatzhalter 17">
            <a:extLst xmlns:a="http://schemas.openxmlformats.org/drawingml/2006/main">
              <a:ext uri="{FF2B5EF4-FFF2-40B4-BE49-F238E27FC236}">
                <a16:creationId xmlns:a16="http://schemas.microsoft.com/office/drawing/2014/main" id="{8B97D328-84F0-2C4A-BBAB-1E79CDFE9BBF}"/>
              </a:ext>
            </a:extLst>
          </p:cNvPr>
          <p:cNvSpPr>
            <a:spLocks xmlns:a="http://schemas.openxmlformats.org/drawingml/2006/main" noGrp="1"/>
          </p:cNvSpPr>
          <p:nvPr>
            <p:ph type="body" idx="14" hasCustomPrompt="1"/>
          </p:nvPr>
        </p:nvSpPr>
        <p:spPr>
          <a:xfrm xmlns:a="http://schemas.openxmlformats.org/drawingml/2006/main">
            <a:off x="555867" y="396545"/>
            <a:ext cx="8311908" cy="717437"/>
          </a:xfrm>
          <a:prstGeom xmlns:a="http://schemas.openxmlformats.org/drawingml/2006/main" prst="rect">
            <a:avLst/>
          </a:prstGeom>
        </p:spPr>
        <p:txBody>
          <a:bodyPr xmlns:a="http://schemas.openxmlformats.org/drawingml/2006/main" lIns="0" tIns="0" rIns="0" bIns="0" anchor="b"/>
          <a:lstStyle xmlns:a="http://schemas.openxmlformats.org/drawingml/2006/main">
            <a:lvl1pPr marL="0" indent="0">
              <a:lnSpc>
                <a:spcPts val="2800"/>
              </a:lnSpc>
              <a:spcBef>
                <a:spcPts val="0"/>
              </a:spcBef>
              <a:buNone/>
              <a:defRPr sz="2400">
                <a:solidFill>
                  <a:srgbClr val="C40D1E"/>
                </a:solidFill>
                <a:latin typeface="Arial"/>
                <a:ea typeface="Arial"/>
                <a:cs typeface="Arial"/>
              </a:defRPr>
            </a:lvl1pPr>
          </a:lstStyle>
          <a:p xmlns:a="http://schemas.openxmlformats.org/drawingml/2006/main">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spTree>
  </p:cSld>
</p:sldLayout>
</file>

<file path=ppt/slideLayouts/slideLayout3.xml><?xml version="1.0" encoding="utf-8"?>
<p:sldLayout xmlns:p="http://schemas.openxmlformats.org/presentationml/2006/main" preserve="1" userDrawn="1">
  <p:cSld name="5_Inhalt - Bild und Text">
    <p:spTree>
      <p:nvGrpSpPr>
        <p:cNvPr id="1" name=""/>
        <p:cNvGrpSpPr/>
        <p:nvPr/>
      </p:nvGrpSpPr>
      <p:grpSpPr>
        <a:xfrm xmlns:a="http://schemas.openxmlformats.org/drawingml/2006/main"/>
      </p:grpSpPr>
      <p:sp>
        <p:nvSpPr>
          <p:cNvPr id="5" name="Textplatzhalter 2">
            <a:extLst xmlns:a="http://schemas.openxmlformats.org/drawingml/2006/main">
              <a:ext uri="{FF2B5EF4-FFF2-40B4-BE49-F238E27FC236}">
                <a16:creationId xmlns:a16="http://schemas.microsoft.com/office/drawing/2014/main" id="{55FA8C39-046E-E34F-8E80-7B9D099D728B}"/>
              </a:ext>
            </a:extLst>
          </p:cNvPr>
          <p:cNvSpPr>
            <a:spLocks xmlns:a="http://schemas.openxmlformats.org/drawingml/2006/main" noGrp="1"/>
          </p:cNvSpPr>
          <p:nvPr>
            <p:ph type="body" idx="18" hasCustomPrompt="1"/>
          </p:nvPr>
        </p:nvSpPr>
        <p:spPr>
          <a:xfrm xmlns:a="http://schemas.openxmlformats.org/drawingml/2006/main">
            <a:off x="728876" y="1382206"/>
            <a:ext cx="3982945" cy="4093588"/>
          </a:xfrm>
          <a:prstGeom xmlns:a="http://schemas.openxmlformats.org/drawingml/2006/main" prst="rect">
            <a:avLst/>
          </a:prstGeom>
        </p:spPr>
        <p:txBody>
          <a:bodyPr xmlns:a="http://schemas.openxmlformats.org/drawingml/2006/main" lIns="0" tIns="0" rIns="0" bIns="0"/>
          <a:lstStyle xmlns:a="http://schemas.openxmlformats.org/drawingml/2006/main">
            <a:lvl1pPr marL="0" indent="0">
              <a:lnSpc>
                <a:spcPts val="2400"/>
              </a:lnSpc>
              <a:spcBef>
                <a:spcPts val="0"/>
              </a:spcBef>
              <a:buNone/>
              <a:defRPr sz="1800">
                <a:solidFill>
                  <a:srgbClr val="434343"/>
                </a:solidFill>
                <a:latin typeface="Arial"/>
                <a:ea typeface="Arial"/>
                <a:cs typeface="Arial"/>
              </a:defRPr>
            </a:lvl1pPr>
          </a:lstStyle>
          <a:p xmlns:a="http://schemas.openxmlformats.org/drawingml/2006/main">
            <a:pPr lvl="0">
              <a:buNone/>
              <a:defRPr>
                <a:latin typeface="Calibri"/>
                <a:ea typeface="Calibri"/>
                <a:cs typeface="Calibri"/>
              </a:defRPr>
            </a:pPr>
            <a:r>
              <a:rPr>
                <a:latin typeface="Calibri"/>
                <a:ea typeface="Calibri"/>
                <a:cs typeface="Calibri"/>
              </a:rPr>
              <a:t>Arial Regular 18pt, ZA: 24pt </a:t>
            </a:r>
            <a:br/>
            <a:r>
              <a:rPr>
                <a:latin typeface="Calibri"/>
                <a:ea typeface="Calibri"/>
                <a:cs typeface="Calibri"/>
              </a:rPr>
              <a:t>Lorem</a:t>
            </a:r>
            <a:r>
              <a:rPr>
                <a:latin typeface="Calibri"/>
                <a:ea typeface="Calibri"/>
                <a:cs typeface="Calibri"/>
              </a:rPr>
              <a:t> </a:t>
            </a:r>
            <a:r>
              <a:rPr>
                <a:latin typeface="Calibri"/>
                <a:ea typeface="Calibri"/>
                <a:cs typeface="Calibri"/>
              </a:rPr>
              <a:t>ipsum</a:t>
            </a:r>
            <a:r>
              <a:rPr>
                <a:latin typeface="Calibri"/>
                <a:ea typeface="Calibri"/>
                <a:cs typeface="Calibri"/>
              </a:rPr>
              <a:t> </a:t>
            </a:r>
            <a:r>
              <a:rPr>
                <a:latin typeface="Calibri"/>
                <a:ea typeface="Calibri"/>
                <a:cs typeface="Calibri"/>
              </a:rPr>
              <a:t>dolor</a:t>
            </a:r>
            <a:r>
              <a:rPr>
                <a:latin typeface="Calibri"/>
                <a:ea typeface="Calibri"/>
                <a:cs typeface="Calibri"/>
              </a:rPr>
              <a:t> </a:t>
            </a:r>
            <a:r>
              <a:rPr>
                <a:latin typeface="Calibri"/>
                <a:ea typeface="Calibri"/>
                <a:cs typeface="Calibri"/>
              </a:rPr>
              <a:t>sit</a:t>
            </a:r>
            <a:r>
              <a:rPr>
                <a:latin typeface="Calibri"/>
                <a:ea typeface="Calibri"/>
                <a:cs typeface="Calibri"/>
              </a:rPr>
              <a:t> </a:t>
            </a:r>
            <a:r>
              <a:rPr>
                <a:latin typeface="Calibri"/>
                <a:ea typeface="Calibri"/>
                <a:cs typeface="Calibri"/>
              </a:rPr>
              <a:t>amet</a:t>
            </a:r>
            <a:r>
              <a:rPr>
                <a:latin typeface="Calibri"/>
                <a:ea typeface="Calibri"/>
                <a:cs typeface="Calibri"/>
              </a:rPr>
              <a:t>, </a:t>
            </a:r>
            <a:r>
              <a:rPr>
                <a:latin typeface="Calibri"/>
                <a:ea typeface="Calibri"/>
                <a:cs typeface="Calibri"/>
              </a:rPr>
              <a:t>consetetur</a:t>
            </a:r>
            <a:r>
              <a:rPr>
                <a:latin typeface="Calibri"/>
                <a:ea typeface="Calibri"/>
                <a:cs typeface="Calibri"/>
              </a:rPr>
              <a:t> </a:t>
            </a:r>
            <a:r>
              <a:rPr>
                <a:latin typeface="Calibri"/>
                <a:ea typeface="Calibri"/>
                <a:cs typeface="Calibri"/>
              </a:rPr>
              <a:t>sadipscing</a:t>
            </a:r>
            <a:r>
              <a:rPr>
                <a:latin typeface="Calibri"/>
                <a:ea typeface="Calibri"/>
                <a:cs typeface="Calibri"/>
              </a:rPr>
              <a:t> </a:t>
            </a:r>
            <a:r>
              <a:rPr>
                <a:latin typeface="Calibri"/>
                <a:ea typeface="Calibri"/>
                <a:cs typeface="Calibri"/>
              </a:rPr>
              <a:t>elitr</a:t>
            </a:r>
            <a:r>
              <a:rPr>
                <a:latin typeface="Calibri"/>
                <a:ea typeface="Calibri"/>
                <a:cs typeface="Calibri"/>
              </a:rPr>
              <a:t>, sed </a:t>
            </a:r>
            <a:r>
              <a:rPr>
                <a:latin typeface="Calibri"/>
                <a:ea typeface="Calibri"/>
                <a:cs typeface="Calibri"/>
              </a:rPr>
              <a:t>diam</a:t>
            </a:r>
            <a:r>
              <a:rPr>
                <a:latin typeface="Calibri"/>
                <a:ea typeface="Calibri"/>
                <a:cs typeface="Calibri"/>
              </a:rPr>
              <a:t> </a:t>
            </a:r>
            <a:r>
              <a:rPr>
                <a:latin typeface="Calibri"/>
                <a:ea typeface="Calibri"/>
                <a:cs typeface="Calibri"/>
              </a:rPr>
              <a:t>nonumy</a:t>
            </a:r>
            <a:r>
              <a:rPr>
                <a:latin typeface="Calibri"/>
                <a:ea typeface="Calibri"/>
                <a:cs typeface="Calibri"/>
              </a:rPr>
              <a:t> </a:t>
            </a:r>
            <a:r>
              <a:rPr>
                <a:latin typeface="Calibri"/>
                <a:ea typeface="Calibri"/>
                <a:cs typeface="Calibri"/>
              </a:rPr>
              <a:t>eirmod</a:t>
            </a:r>
            <a:r>
              <a:rPr>
                <a:latin typeface="Calibri"/>
                <a:ea typeface="Calibri"/>
                <a:cs typeface="Calibri"/>
              </a:rPr>
              <a:t> </a:t>
            </a:r>
            <a:r>
              <a:rPr>
                <a:latin typeface="Calibri"/>
                <a:ea typeface="Calibri"/>
                <a:cs typeface="Calibri"/>
              </a:rPr>
              <a:t>tempor</a:t>
            </a:r>
            <a:r>
              <a:rPr>
                <a:latin typeface="Calibri"/>
                <a:ea typeface="Calibri"/>
                <a:cs typeface="Calibri"/>
              </a:rPr>
              <a:t> </a:t>
            </a:r>
            <a:r>
              <a:rPr>
                <a:latin typeface="Calibri"/>
                <a:ea typeface="Calibri"/>
                <a:cs typeface="Calibri"/>
              </a:rPr>
              <a:t>invidunt</a:t>
            </a:r>
            <a:r>
              <a:rPr>
                <a:latin typeface="Calibri"/>
                <a:ea typeface="Calibri"/>
                <a:cs typeface="Calibri"/>
              </a:rPr>
              <a:t> </a:t>
            </a:r>
            <a:r>
              <a:rPr>
                <a:latin typeface="Calibri"/>
                <a:ea typeface="Calibri"/>
                <a:cs typeface="Calibri"/>
              </a:rPr>
              <a:t>ut</a:t>
            </a:r>
            <a:r>
              <a:rPr>
                <a:latin typeface="Calibri"/>
                <a:ea typeface="Calibri"/>
                <a:cs typeface="Calibri"/>
              </a:rPr>
              <a:t> </a:t>
            </a:r>
            <a:r>
              <a:rPr>
                <a:latin typeface="Calibri"/>
                <a:ea typeface="Calibri"/>
                <a:cs typeface="Calibri"/>
              </a:rPr>
              <a:t>labore</a:t>
            </a:r>
            <a:r>
              <a:rPr>
                <a:latin typeface="Calibri"/>
                <a:ea typeface="Calibri"/>
                <a:cs typeface="Calibri"/>
              </a:rPr>
              <a:t> et </a:t>
            </a:r>
            <a:r>
              <a:rPr>
                <a:latin typeface="Calibri"/>
                <a:ea typeface="Calibri"/>
                <a:cs typeface="Calibri"/>
              </a:rPr>
              <a:t>dolore</a:t>
            </a:r>
            <a:r>
              <a:rPr>
                <a:latin typeface="Calibri"/>
                <a:ea typeface="Calibri"/>
                <a:cs typeface="Calibri"/>
              </a:rPr>
              <a:t> magna </a:t>
            </a:r>
            <a:r>
              <a:rPr>
                <a:latin typeface="Calibri"/>
                <a:ea typeface="Calibri"/>
                <a:cs typeface="Calibri"/>
              </a:rPr>
              <a:t>aliquyam</a:t>
            </a:r>
            <a:r>
              <a:rPr>
                <a:latin typeface="Calibri"/>
                <a:ea typeface="Calibri"/>
                <a:cs typeface="Calibri"/>
              </a:rPr>
              <a:t> erat, sed </a:t>
            </a:r>
            <a:r>
              <a:rPr>
                <a:latin typeface="Calibri"/>
                <a:ea typeface="Calibri"/>
                <a:cs typeface="Calibri"/>
              </a:rPr>
              <a:t>diam</a:t>
            </a:r>
            <a:r>
              <a:rPr>
                <a:latin typeface="Calibri"/>
                <a:ea typeface="Calibri"/>
                <a:cs typeface="Calibri"/>
              </a:rPr>
              <a:t> </a:t>
            </a:r>
            <a:r>
              <a:rPr>
                <a:latin typeface="Calibri"/>
                <a:ea typeface="Calibri"/>
                <a:cs typeface="Calibri"/>
              </a:rPr>
              <a:t>voluptua</a:t>
            </a:r>
            <a:r>
              <a:rPr>
                <a:latin typeface="Calibri"/>
                <a:ea typeface="Calibri"/>
                <a:cs typeface="Calibri"/>
              </a:rPr>
              <a:t>. At </a:t>
            </a:r>
            <a:r>
              <a:rPr>
                <a:latin typeface="Calibri"/>
                <a:ea typeface="Calibri"/>
                <a:cs typeface="Calibri"/>
              </a:rPr>
              <a:t>vero</a:t>
            </a:r>
            <a:r>
              <a:rPr>
                <a:latin typeface="Calibri"/>
                <a:ea typeface="Calibri"/>
                <a:cs typeface="Calibri"/>
              </a:rPr>
              <a:t> </a:t>
            </a:r>
            <a:r>
              <a:rPr>
                <a:latin typeface="Calibri"/>
                <a:ea typeface="Calibri"/>
                <a:cs typeface="Calibri"/>
              </a:rPr>
              <a:t>eos</a:t>
            </a:r>
            <a:r>
              <a:rPr>
                <a:latin typeface="Calibri"/>
                <a:ea typeface="Calibri"/>
                <a:cs typeface="Calibri"/>
              </a:rPr>
              <a:t> </a:t>
            </a:r>
            <a:r>
              <a:rPr>
                <a:latin typeface="Calibri"/>
                <a:ea typeface="Calibri"/>
                <a:cs typeface="Calibri"/>
              </a:rPr>
              <a:t>eirmod</a:t>
            </a:r>
            <a:r>
              <a:rPr>
                <a:latin typeface="Calibri"/>
                <a:ea typeface="Calibri"/>
                <a:cs typeface="Calibri"/>
              </a:rPr>
              <a:t> </a:t>
            </a:r>
            <a:r>
              <a:rPr>
                <a:latin typeface="Calibri"/>
                <a:ea typeface="Calibri"/>
                <a:cs typeface="Calibri"/>
              </a:rPr>
              <a:t>tempor</a:t>
            </a:r>
            <a:r>
              <a:rPr>
                <a:latin typeface="Calibri"/>
                <a:ea typeface="Calibri"/>
                <a:cs typeface="Calibri"/>
              </a:rPr>
              <a:t> </a:t>
            </a:r>
            <a:r>
              <a:rPr>
                <a:latin typeface="Calibri"/>
                <a:ea typeface="Calibri"/>
                <a:cs typeface="Calibri"/>
              </a:rPr>
              <a:t>invidunt</a:t>
            </a:r>
            <a:r>
              <a:rPr>
                <a:latin typeface="Calibri"/>
                <a:ea typeface="Calibri"/>
                <a:cs typeface="Calibri"/>
              </a:rPr>
              <a:t> </a:t>
            </a:r>
            <a:r>
              <a:rPr>
                <a:latin typeface="Calibri"/>
                <a:ea typeface="Calibri"/>
                <a:cs typeface="Calibri"/>
              </a:rPr>
              <a:t>ut</a:t>
            </a:r>
            <a:r>
              <a:rPr>
                <a:latin typeface="Calibri"/>
                <a:ea typeface="Calibri"/>
                <a:cs typeface="Calibri"/>
              </a:rPr>
              <a:t> </a:t>
            </a:r>
            <a:r>
              <a:rPr>
                <a:latin typeface="Calibri"/>
                <a:ea typeface="Calibri"/>
                <a:cs typeface="Calibri"/>
              </a:rPr>
              <a:t>labore</a:t>
            </a:r>
            <a:r>
              <a:rPr>
                <a:latin typeface="Calibri"/>
                <a:ea typeface="Calibri"/>
                <a:cs typeface="Calibri"/>
              </a:rPr>
              <a:t> et </a:t>
            </a:r>
            <a:r>
              <a:rPr>
                <a:latin typeface="Calibri"/>
                <a:ea typeface="Calibri"/>
                <a:cs typeface="Calibri"/>
              </a:rPr>
              <a:t>dolore</a:t>
            </a:r>
            <a:r>
              <a:rPr>
                <a:latin typeface="Calibri"/>
                <a:ea typeface="Calibri"/>
                <a:cs typeface="Calibri"/>
              </a:rPr>
              <a:t> magna </a:t>
            </a:r>
            <a:r>
              <a:rPr>
                <a:latin typeface="Calibri"/>
                <a:ea typeface="Calibri"/>
                <a:cs typeface="Calibri"/>
              </a:rPr>
              <a:t>aliquyam</a:t>
            </a:r>
            <a:r>
              <a:rPr>
                <a:latin typeface="Calibri"/>
                <a:ea typeface="Calibri"/>
                <a:cs typeface="Calibri"/>
              </a:rPr>
              <a:t> </a:t>
            </a:r>
            <a:r>
              <a:rPr>
                <a:latin typeface="Calibri"/>
                <a:ea typeface="Calibri"/>
                <a:cs typeface="Calibri"/>
              </a:rPr>
              <a:t>erat</a:t>
            </a:r>
            <a:r>
              <a:rPr>
                <a:latin typeface="Calibri"/>
                <a:ea typeface="Calibri"/>
                <a:cs typeface="Calibri"/>
              </a:rPr>
              <a:t>, </a:t>
            </a:r>
            <a:r>
              <a:rPr>
                <a:latin typeface="Calibri"/>
                <a:ea typeface="Calibri"/>
                <a:cs typeface="Calibri"/>
              </a:rPr>
              <a:t>sed</a:t>
            </a:r>
            <a:r>
              <a:rPr>
                <a:latin typeface="Calibri"/>
                <a:ea typeface="Calibri"/>
                <a:cs typeface="Calibri"/>
              </a:rPr>
              <a:t> </a:t>
            </a:r>
            <a:r>
              <a:rPr>
                <a:latin typeface="Calibri"/>
                <a:ea typeface="Calibri"/>
                <a:cs typeface="Calibri"/>
              </a:rPr>
              <a:t>diam</a:t>
            </a:r>
            <a:r>
              <a:rPr>
                <a:latin typeface="Calibri"/>
                <a:ea typeface="Calibri"/>
                <a:cs typeface="Calibri"/>
              </a:rPr>
              <a:t> </a:t>
            </a:r>
            <a:r>
              <a:rPr>
                <a:latin typeface="Calibri"/>
                <a:ea typeface="Calibri"/>
                <a:cs typeface="Calibri"/>
              </a:rPr>
              <a:t>voluptua</a:t>
            </a:r>
            <a:r>
              <a:rPr>
                <a:latin typeface="Calibri"/>
                <a:ea typeface="Calibri"/>
                <a:cs typeface="Calibri"/>
              </a:rPr>
              <a:t>. At </a:t>
            </a:r>
            <a:r>
              <a:rPr>
                <a:latin typeface="Calibri"/>
                <a:ea typeface="Calibri"/>
                <a:cs typeface="Calibri"/>
              </a:rPr>
              <a:t>vero</a:t>
            </a:r>
            <a:r>
              <a:rPr>
                <a:latin typeface="Calibri"/>
                <a:ea typeface="Calibri"/>
                <a:cs typeface="Calibri"/>
              </a:rPr>
              <a:t> </a:t>
            </a:r>
            <a:r>
              <a:rPr>
                <a:latin typeface="Calibri"/>
                <a:ea typeface="Calibri"/>
                <a:cs typeface="Calibri"/>
              </a:rPr>
              <a:t>eos</a:t>
            </a:r>
            <a:r>
              <a:rPr>
                <a:latin typeface="Calibri"/>
                <a:ea typeface="Calibri"/>
                <a:cs typeface="Calibri"/>
              </a:rPr>
              <a:t> et </a:t>
            </a:r>
            <a:r>
              <a:rPr>
                <a:latin typeface="Calibri"/>
                <a:ea typeface="Calibri"/>
                <a:cs typeface="Calibri"/>
              </a:rPr>
              <a:t>accusam</a:t>
            </a:r>
            <a:r>
              <a:rPr>
                <a:latin typeface="Calibri"/>
                <a:ea typeface="Calibri"/>
                <a:cs typeface="Calibri"/>
              </a:rPr>
              <a:t> et </a:t>
            </a:r>
            <a:r>
              <a:rPr>
                <a:latin typeface="Calibri"/>
                <a:ea typeface="Calibri"/>
                <a:cs typeface="Calibri"/>
              </a:rPr>
              <a:t>justo</a:t>
            </a:r>
            <a:r>
              <a:rPr>
                <a:latin typeface="Calibri"/>
                <a:ea typeface="Calibri"/>
                <a:cs typeface="Calibri"/>
              </a:rPr>
              <a:t> </a:t>
            </a:r>
            <a:r>
              <a:rPr>
                <a:latin typeface="Calibri"/>
                <a:ea typeface="Calibri"/>
                <a:cs typeface="Calibri"/>
              </a:rPr>
              <a:t>duo</a:t>
            </a:r>
            <a:r>
              <a:rPr>
                <a:latin typeface="Calibri"/>
                <a:ea typeface="Calibri"/>
                <a:cs typeface="Calibri"/>
              </a:rPr>
              <a:t> </a:t>
            </a:r>
            <a:r>
              <a:rPr>
                <a:latin typeface="Calibri"/>
                <a:ea typeface="Calibri"/>
                <a:cs typeface="Calibri"/>
              </a:rPr>
              <a:t>dolores</a:t>
            </a:r>
            <a:r>
              <a:rPr>
                <a:latin typeface="Calibri"/>
                <a:ea typeface="Calibri"/>
                <a:cs typeface="Calibri"/>
              </a:rPr>
              <a:t> et </a:t>
            </a:r>
            <a:r>
              <a:rPr>
                <a:latin typeface="Calibri"/>
                <a:ea typeface="Calibri"/>
                <a:cs typeface="Calibri"/>
              </a:rPr>
              <a:t>ea</a:t>
            </a:r>
            <a:r>
              <a:rPr>
                <a:latin typeface="Calibri"/>
                <a:ea typeface="Calibri"/>
                <a:cs typeface="Calibri"/>
              </a:rPr>
              <a:t> </a:t>
            </a:r>
            <a:r>
              <a:rPr>
                <a:latin typeface="Calibri"/>
                <a:ea typeface="Calibri"/>
                <a:cs typeface="Calibri"/>
              </a:rPr>
              <a:t>rebum</a:t>
            </a:r>
            <a:r>
              <a:rPr>
                <a:latin typeface="Calibri"/>
                <a:ea typeface="Calibri"/>
                <a:cs typeface="Calibri"/>
              </a:rPr>
              <a:t>. Stet </a:t>
            </a:r>
            <a:r>
              <a:rPr>
                <a:latin typeface="Calibri"/>
                <a:ea typeface="Calibri"/>
                <a:cs typeface="Calibri"/>
              </a:rPr>
              <a:t>clita</a:t>
            </a:r>
            <a:r>
              <a:rPr>
                <a:latin typeface="Calibri"/>
                <a:ea typeface="Calibri"/>
                <a:cs typeface="Calibri"/>
              </a:rPr>
              <a:t> </a:t>
            </a:r>
            <a:r>
              <a:rPr>
                <a:latin typeface="Calibri"/>
                <a:ea typeface="Calibri"/>
                <a:cs typeface="Calibri"/>
              </a:rPr>
              <a:t>kasd</a:t>
            </a:r>
            <a:r>
              <a:rPr>
                <a:latin typeface="Calibri"/>
                <a:ea typeface="Calibri"/>
                <a:cs typeface="Calibri"/>
              </a:rPr>
              <a:t> </a:t>
            </a:r>
            <a:r>
              <a:rPr>
                <a:latin typeface="Calibri"/>
                <a:ea typeface="Calibri"/>
                <a:cs typeface="Calibri"/>
              </a:rPr>
              <a:t>gubergren</a:t>
            </a:r>
            <a:r>
              <a:rPr>
                <a:latin typeface="Calibri"/>
                <a:ea typeface="Calibri"/>
                <a:cs typeface="Calibri"/>
              </a:rPr>
              <a:t>, </a:t>
            </a:r>
            <a:r>
              <a:rPr>
                <a:latin typeface="Calibri"/>
                <a:ea typeface="Calibri"/>
                <a:cs typeface="Calibri"/>
              </a:rPr>
              <a:t>no</a:t>
            </a:r>
            <a:r>
              <a:rPr>
                <a:latin typeface="Calibri"/>
                <a:ea typeface="Calibri"/>
                <a:cs typeface="Calibri"/>
              </a:rPr>
              <a:t> </a:t>
            </a:r>
            <a:r>
              <a:rPr>
                <a:latin typeface="Calibri"/>
                <a:ea typeface="Calibri"/>
                <a:cs typeface="Calibri"/>
              </a:rPr>
              <a:t>sea</a:t>
            </a:r>
            <a:r>
              <a:rPr>
                <a:latin typeface="Calibri"/>
                <a:ea typeface="Calibri"/>
                <a:cs typeface="Calibri"/>
              </a:rPr>
              <a:t> </a:t>
            </a:r>
            <a:r>
              <a:rPr>
                <a:latin typeface="Calibri"/>
                <a:ea typeface="Calibri"/>
                <a:cs typeface="Calibri"/>
              </a:rPr>
              <a:t>takimata</a:t>
            </a:r>
            <a:br/>
            <a:r>
              <a:rPr>
                <a:latin typeface="Calibri"/>
                <a:ea typeface="Calibri"/>
                <a:cs typeface="Calibri"/>
              </a:rPr>
              <a:t>sanctus </a:t>
            </a:r>
            <a:r>
              <a:rPr>
                <a:latin typeface="Calibri"/>
                <a:ea typeface="Calibri"/>
                <a:cs typeface="Calibri"/>
              </a:rPr>
              <a:t>est</a:t>
            </a:r>
            <a:r>
              <a:rPr>
                <a:latin typeface="Calibri"/>
                <a:ea typeface="Calibri"/>
                <a:cs typeface="Calibri"/>
              </a:rPr>
              <a:t> </a:t>
            </a:r>
            <a:r>
              <a:rPr>
                <a:latin typeface="Calibri"/>
                <a:ea typeface="Calibri"/>
                <a:cs typeface="Calibri"/>
              </a:rPr>
              <a:t>Lorem</a:t>
            </a:r>
            <a:r>
              <a:rPr>
                <a:latin typeface="Calibri"/>
                <a:ea typeface="Calibri"/>
                <a:cs typeface="Calibri"/>
              </a:rPr>
              <a:t> </a:t>
            </a:r>
            <a:r>
              <a:rPr>
                <a:latin typeface="Calibri"/>
                <a:ea typeface="Calibri"/>
                <a:cs typeface="Calibri"/>
              </a:rPr>
              <a:t>ipsum</a:t>
            </a:r>
            <a:r>
              <a:rPr>
                <a:latin typeface="Calibri"/>
                <a:ea typeface="Calibri"/>
                <a:cs typeface="Calibri"/>
              </a:rPr>
              <a:t> </a:t>
            </a:r>
            <a:r>
              <a:rPr>
                <a:latin typeface="Calibri"/>
                <a:ea typeface="Calibri"/>
                <a:cs typeface="Calibri"/>
              </a:rPr>
              <a:t>dolor</a:t>
            </a:r>
            <a:r>
              <a:rPr>
                <a:latin typeface="Calibri"/>
                <a:ea typeface="Calibri"/>
                <a:cs typeface="Calibri"/>
              </a:rPr>
              <a:t> </a:t>
            </a:r>
            <a:r>
              <a:rPr>
                <a:latin typeface="Calibri"/>
                <a:ea typeface="Calibri"/>
                <a:cs typeface="Calibri"/>
              </a:rPr>
              <a:t>sit</a:t>
            </a:r>
            <a:r>
              <a:rPr>
                <a:latin typeface="Calibri"/>
                <a:ea typeface="Calibri"/>
                <a:cs typeface="Calibri"/>
              </a:rPr>
              <a:t> </a:t>
            </a:r>
            <a:r>
              <a:rPr>
                <a:latin typeface="Calibri"/>
                <a:ea typeface="Calibri"/>
                <a:cs typeface="Calibri"/>
              </a:rPr>
              <a:t>amet</a:t>
            </a:r>
            <a:r>
              <a:rPr>
                <a:latin typeface="Calibri"/>
                <a:ea typeface="Calibri"/>
                <a:cs typeface="Calibri"/>
              </a:rPr>
              <a:t>. </a:t>
            </a:r>
            <a:r>
              <a:rPr>
                <a:latin typeface="Calibri"/>
                <a:ea typeface="Calibri"/>
                <a:cs typeface="Calibri"/>
              </a:rPr>
              <a:t>Lorem</a:t>
            </a:r>
            <a:r>
              <a:rPr>
                <a:latin typeface="Calibri"/>
                <a:ea typeface="Calibri"/>
                <a:cs typeface="Calibri"/>
              </a:rPr>
              <a:t> </a:t>
            </a:r>
            <a:r>
              <a:rPr>
                <a:latin typeface="Calibri"/>
                <a:ea typeface="Calibri"/>
                <a:cs typeface="Calibri"/>
              </a:rPr>
              <a:t>ipsum</a:t>
            </a:r>
            <a:endParaRPr/>
          </a:p>
        </p:txBody>
      </p:sp>
      <p:sp>
        <p:nvSpPr>
          <p:cNvPr id="6" name="Bildplatzhalter 2">
            <a:extLst xmlns:a="http://schemas.openxmlformats.org/drawingml/2006/main">
              <a:ext uri="{FF2B5EF4-FFF2-40B4-BE49-F238E27FC236}">
                <a16:creationId xmlns:a16="http://schemas.microsoft.com/office/drawing/2014/main" id="{8BAC5633-896E-0F44-8840-CC87B5BE7045}"/>
              </a:ext>
            </a:extLst>
          </p:cNvPr>
          <p:cNvSpPr>
            <a:spLocks xmlns:a="http://schemas.openxmlformats.org/drawingml/2006/main" noGrp="1"/>
          </p:cNvSpPr>
          <p:nvPr>
            <p:ph type="pic" idx="17" hasCustomPrompt="1"/>
          </p:nvPr>
        </p:nvSpPr>
        <p:spPr>
          <a:xfrm xmlns:a="http://schemas.openxmlformats.org/drawingml/2006/main">
            <a:off x="6202905" y="1382204"/>
            <a:ext cx="5329739" cy="4093589"/>
          </a:xfrm>
          <a:prstGeom xmlns:a="http://schemas.openxmlformats.org/drawingml/2006/main" prst="rect">
            <a:avLst/>
          </a:prstGeom>
          <a:solidFill xmlns:a="http://schemas.openxmlformats.org/drawingml/2006/main">
            <a:srgbClr val="434343"/>
          </a:solidFill>
        </p:spPr>
        <p:txBody>
          <a:bodyPr xmlns:a="http://schemas.openxmlformats.org/drawingml/2006/main" anchor="ctr"/>
          <a:lstStyle xmlns:a="http://schemas.openxmlformats.org/drawingml/2006/main">
            <a:lvl1pPr marL="0" indent="0" algn="ctr">
              <a:buFontTx/>
              <a:buNone/>
              <a:defRPr>
                <a:solidFill>
                  <a:schemeClr val="bg1"/>
                </a:solidFill>
              </a:defRPr>
            </a:lvl1pPr>
          </a:lstStyle>
          <a:p xmlns:a="http://schemas.openxmlformats.org/drawingml/2006/main">
            <a:pPr>
              <a:buNone/>
              <a:defRPr>
                <a:latin typeface="Calibri"/>
                <a:ea typeface="Calibri"/>
                <a:cs typeface="Calibri"/>
              </a:defRPr>
            </a:pPr>
            <a:r>
              <a:rPr>
                <a:latin typeface="Calibri"/>
                <a:ea typeface="Calibri"/>
                <a:cs typeface="Calibri"/>
              </a:rPr>
              <a:t>Platzhalter: Bild</a:t>
            </a:r>
          </a:p>
        </p:txBody>
      </p:sp>
      <p:sp>
        <p:nvSpPr>
          <p:cNvPr id="7" name="Textplatzhalter 17">
            <a:extLst xmlns:a="http://schemas.openxmlformats.org/drawingml/2006/main">
              <a:ext uri="{FF2B5EF4-FFF2-40B4-BE49-F238E27FC236}">
                <a16:creationId xmlns:a16="http://schemas.microsoft.com/office/drawing/2014/main" id="{8B97D328-84F0-2C4A-BBAB-1E79CDFE9BBF}"/>
              </a:ext>
            </a:extLst>
          </p:cNvPr>
          <p:cNvSpPr>
            <a:spLocks xmlns:a="http://schemas.openxmlformats.org/drawingml/2006/main" noGrp="1"/>
          </p:cNvSpPr>
          <p:nvPr>
            <p:ph type="body" idx="14" hasCustomPrompt="1"/>
          </p:nvPr>
        </p:nvSpPr>
        <p:spPr>
          <a:xfrm xmlns:a="http://schemas.openxmlformats.org/drawingml/2006/main">
            <a:off x="555867" y="396545"/>
            <a:ext cx="8311908" cy="717437"/>
          </a:xfrm>
          <a:prstGeom xmlns:a="http://schemas.openxmlformats.org/drawingml/2006/main" prst="rect">
            <a:avLst/>
          </a:prstGeom>
        </p:spPr>
        <p:txBody>
          <a:bodyPr xmlns:a="http://schemas.openxmlformats.org/drawingml/2006/main" lIns="0" tIns="0" rIns="0" bIns="0" anchor="b"/>
          <a:lstStyle xmlns:a="http://schemas.openxmlformats.org/drawingml/2006/main">
            <a:lvl1pPr marL="0" indent="0">
              <a:lnSpc>
                <a:spcPts val="2800"/>
              </a:lnSpc>
              <a:spcBef>
                <a:spcPts val="0"/>
              </a:spcBef>
              <a:buNone/>
              <a:defRPr sz="2400">
                <a:solidFill>
                  <a:srgbClr val="C40D1E"/>
                </a:solidFill>
                <a:latin typeface="Arial"/>
                <a:ea typeface="Arial"/>
                <a:cs typeface="Arial"/>
              </a:defRPr>
            </a:lvl1pPr>
          </a:lstStyle>
          <a:p xmlns:a="http://schemas.openxmlformats.org/drawingml/2006/main">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spTree>
  </p:cSld>
</p:sldLayout>
</file>

<file path=ppt/slideLayouts/slideLayout4.xml><?xml version="1.0" encoding="utf-8"?>
<p:sldLayout xmlns:p="http://schemas.openxmlformats.org/presentationml/2006/main" preserve="1" userDrawn="1">
  <p:cSld name="5_Inhalt - Bild und Stichpunkte">
    <p:spTree>
      <p:nvGrpSpPr>
        <p:cNvPr id="1" name=""/>
        <p:cNvGrpSpPr/>
        <p:nvPr/>
      </p:nvGrpSpPr>
      <p:grpSpPr>
        <a:xfrm xmlns:a="http://schemas.openxmlformats.org/drawingml/2006/main"/>
      </p:grpSpPr>
      <p:sp>
        <p:nvSpPr>
          <p:cNvPr id="5" name="Textplatzhalter 5">
            <a:extLst xmlns:a="http://schemas.openxmlformats.org/drawingml/2006/main">
              <a:ext uri="{FF2B5EF4-FFF2-40B4-BE49-F238E27FC236}">
                <a16:creationId xmlns:a16="http://schemas.microsoft.com/office/drawing/2014/main" id="{9278302A-602E-374F-9D64-8FCFB4DC60C0}"/>
              </a:ext>
            </a:extLst>
          </p:cNvPr>
          <p:cNvSpPr>
            <a:spLocks xmlns:a="http://schemas.openxmlformats.org/drawingml/2006/main" noGrp="1"/>
          </p:cNvSpPr>
          <p:nvPr>
            <p:ph type="body" idx="18" hasCustomPrompt="1"/>
          </p:nvPr>
        </p:nvSpPr>
        <p:spPr>
          <a:xfrm xmlns:a="http://schemas.openxmlformats.org/drawingml/2006/main">
            <a:off x="6519600" y="1364399"/>
            <a:ext cx="3981600" cy="4111200"/>
          </a:xfrm>
          <a:prstGeom xmlns:a="http://schemas.openxmlformats.org/drawingml/2006/main" prst="rect">
            <a:avLst/>
          </a:prstGeom>
        </p:spPr>
        <p:txBody>
          <a:bodyPr xmlns:a="http://schemas.openxmlformats.org/drawingml/2006/main" lIns="0" tIns="0" rIns="0" bIns="0"/>
          <a:lstStyle xmlns:a="http://schemas.openxmlformats.org/drawingml/2006/main">
            <a:lvl1pPr marL="228600" indent="-228600">
              <a:lnSpc>
                <a:spcPts val="2400"/>
              </a:lnSpc>
              <a:buFont typeface="Symbol"/>
              <a:buChar char="-"/>
              <a:defRPr sz="1800">
                <a:solidFill>
                  <a:srgbClr val="434343"/>
                </a:solidFill>
                <a:latin typeface="Arial"/>
                <a:ea typeface="Arial"/>
                <a:cs typeface="Arial"/>
              </a:defRPr>
            </a:lvl1pPr>
            <a:lvl2pPr marL="685800" indent="-228600">
              <a:lnSpc>
                <a:spcPts val="2400"/>
              </a:lnSpc>
              <a:buFont typeface="Symbol"/>
              <a:buChar char="-"/>
              <a:defRPr sz="1800">
                <a:solidFill>
                  <a:srgbClr val="434343"/>
                </a:solidFill>
                <a:latin typeface="Arial"/>
                <a:ea typeface="Arial"/>
                <a:cs typeface="Arial"/>
              </a:defRPr>
            </a:lvl2pPr>
            <a:lvl3pPr marL="1143000" indent="-228600">
              <a:lnSpc>
                <a:spcPts val="2400"/>
              </a:lnSpc>
              <a:buFont typeface="Symbol"/>
              <a:buChar char="-"/>
              <a:defRPr sz="1800">
                <a:solidFill>
                  <a:srgbClr val="434343"/>
                </a:solidFill>
                <a:latin typeface="Arial"/>
                <a:ea typeface="Arial"/>
                <a:cs typeface="Arial"/>
              </a:defRPr>
            </a:lvl3pPr>
            <a:lvl4pPr marL="1600200" indent="-228600">
              <a:lnSpc>
                <a:spcPts val="2400"/>
              </a:lnSpc>
              <a:buFont typeface="Symbol"/>
              <a:buChar char="-"/>
              <a:defRPr sz="1800">
                <a:solidFill>
                  <a:srgbClr val="434343"/>
                </a:solidFill>
                <a:latin typeface="Arial"/>
                <a:ea typeface="Arial"/>
                <a:cs typeface="Arial"/>
              </a:defRPr>
            </a:lvl4pPr>
            <a:lvl5pPr marL="2057400" indent="-228600">
              <a:lnSpc>
                <a:spcPts val="2400"/>
              </a:lnSpc>
              <a:buFont typeface="Symbol"/>
              <a:buChar char="-"/>
              <a:defRPr sz="1800">
                <a:solidFill>
                  <a:srgbClr val="434343"/>
                </a:solidFill>
                <a:latin typeface="Arial"/>
                <a:ea typeface="Arial"/>
                <a:cs typeface="Arial"/>
              </a:defRPr>
            </a:lvl5pPr>
          </a:lstStyle>
          <a:p xmlns:a="http://schemas.openxmlformats.org/drawingml/2006/main">
            <a:pPr lvl="0">
              <a:buNone/>
              <a:defRPr>
                <a:latin typeface="Calibri"/>
                <a:ea typeface="Calibri"/>
                <a:cs typeface="Calibri"/>
              </a:defRPr>
            </a:pPr>
            <a:r>
              <a:rPr>
                <a:latin typeface="Calibri"/>
                <a:ea typeface="Calibri"/>
                <a:cs typeface="Calibri"/>
              </a:rPr>
              <a:t>Aufzählung 1. Ebene Arial Regular 18 </a:t>
            </a:r>
            <a:r>
              <a:rPr>
                <a:latin typeface="Calibri"/>
                <a:ea typeface="Calibri"/>
                <a:cs typeface="Calibri"/>
              </a:rPr>
              <a:t>pt</a:t>
            </a:r>
            <a:r>
              <a:rPr>
                <a:latin typeface="Calibri"/>
                <a:ea typeface="Calibri"/>
                <a:cs typeface="Calibri"/>
              </a:rPr>
              <a:t>, ZA: 24 </a:t>
            </a:r>
            <a:r>
              <a:rPr>
                <a:latin typeface="Calibri"/>
                <a:ea typeface="Calibri"/>
                <a:cs typeface="Calibri"/>
              </a:rPr>
              <a:t>pt</a:t>
            </a:r>
            <a:endParaRPr/>
          </a:p>
          <a:p xmlns:a="http://schemas.openxmlformats.org/drawingml/2006/main">
            <a:pPr lvl="1">
              <a:buNone/>
              <a:defRPr>
                <a:latin typeface="Calibri"/>
                <a:ea typeface="Calibri"/>
                <a:cs typeface="Calibri"/>
              </a:defRPr>
            </a:pPr>
            <a:r>
              <a:rPr>
                <a:latin typeface="Calibri"/>
                <a:ea typeface="Calibri"/>
                <a:cs typeface="Calibri"/>
              </a:rPr>
              <a:t>2. Ebene</a:t>
            </a:r>
          </a:p>
          <a:p xmlns:a="http://schemas.openxmlformats.org/drawingml/2006/main">
            <a:pPr lvl="2">
              <a:buNone/>
              <a:defRPr>
                <a:latin typeface="Calibri"/>
                <a:ea typeface="Calibri"/>
                <a:cs typeface="Calibri"/>
              </a:defRPr>
            </a:pPr>
            <a:r>
              <a:rPr>
                <a:latin typeface="Calibri"/>
                <a:ea typeface="Calibri"/>
                <a:cs typeface="Calibri"/>
              </a:rPr>
              <a:t>3. Ebene</a:t>
            </a:r>
          </a:p>
          <a:p xmlns:a="http://schemas.openxmlformats.org/drawingml/2006/main">
            <a:pPr lvl="3">
              <a:buNone/>
              <a:defRPr>
                <a:latin typeface="Calibri"/>
                <a:ea typeface="Calibri"/>
                <a:cs typeface="Calibri"/>
              </a:defRPr>
            </a:pPr>
            <a:r>
              <a:rPr>
                <a:latin typeface="Calibri"/>
                <a:ea typeface="Calibri"/>
                <a:cs typeface="Calibri"/>
              </a:rPr>
              <a:t>4. Ebene</a:t>
            </a:r>
          </a:p>
          <a:p xmlns:a="http://schemas.openxmlformats.org/drawingml/2006/main">
            <a:pPr lvl="4">
              <a:buNone/>
              <a:defRPr>
                <a:latin typeface="Calibri"/>
                <a:ea typeface="Calibri"/>
                <a:cs typeface="Calibri"/>
              </a:defRPr>
            </a:pPr>
            <a:r>
              <a:rPr>
                <a:latin typeface="Calibri"/>
                <a:ea typeface="Calibri"/>
                <a:cs typeface="Calibri"/>
              </a:rPr>
              <a:t>5. Ebene</a:t>
            </a:r>
          </a:p>
        </p:txBody>
      </p:sp>
      <p:sp>
        <p:nvSpPr>
          <p:cNvPr id="6" name="Bildplatzhalter 2">
            <a:extLst xmlns:a="http://schemas.openxmlformats.org/drawingml/2006/main">
              <a:ext uri="{FF2B5EF4-FFF2-40B4-BE49-F238E27FC236}">
                <a16:creationId xmlns:a16="http://schemas.microsoft.com/office/drawing/2014/main" id="{07DD2921-214D-B547-93DD-EB9D2A99CCEE}"/>
              </a:ext>
            </a:extLst>
          </p:cNvPr>
          <p:cNvSpPr>
            <a:spLocks xmlns:a="http://schemas.openxmlformats.org/drawingml/2006/main" noGrp="1"/>
          </p:cNvSpPr>
          <p:nvPr>
            <p:ph type="pic" idx="17" hasCustomPrompt="1"/>
          </p:nvPr>
        </p:nvSpPr>
        <p:spPr>
          <a:xfrm xmlns:a="http://schemas.openxmlformats.org/drawingml/2006/main">
            <a:off x="550066" y="1382204"/>
            <a:ext cx="5329739" cy="4093589"/>
          </a:xfrm>
          <a:prstGeom xmlns:a="http://schemas.openxmlformats.org/drawingml/2006/main" prst="rect">
            <a:avLst/>
          </a:prstGeom>
          <a:solidFill xmlns:a="http://schemas.openxmlformats.org/drawingml/2006/main">
            <a:srgbClr val="434343"/>
          </a:solidFill>
        </p:spPr>
        <p:txBody>
          <a:bodyPr xmlns:a="http://schemas.openxmlformats.org/drawingml/2006/main" anchor="ctr"/>
          <a:lstStyle xmlns:a="http://schemas.openxmlformats.org/drawingml/2006/main">
            <a:lvl1pPr marL="0" indent="0" algn="ctr">
              <a:buFontTx/>
              <a:buNone/>
              <a:defRPr>
                <a:solidFill>
                  <a:schemeClr val="bg1"/>
                </a:solidFill>
              </a:defRPr>
            </a:lvl1pPr>
          </a:lstStyle>
          <a:p xmlns:a="http://schemas.openxmlformats.org/drawingml/2006/main">
            <a:pPr>
              <a:buNone/>
              <a:defRPr>
                <a:latin typeface="Calibri"/>
                <a:ea typeface="Calibri"/>
                <a:cs typeface="Calibri"/>
              </a:defRPr>
            </a:pPr>
            <a:r>
              <a:rPr>
                <a:latin typeface="Calibri"/>
                <a:ea typeface="Calibri"/>
                <a:cs typeface="Calibri"/>
              </a:rPr>
              <a:t>Platzhalter: Bild</a:t>
            </a:r>
          </a:p>
        </p:txBody>
      </p:sp>
      <p:sp>
        <p:nvSpPr>
          <p:cNvPr id="7" name="Textplatzhalter 17">
            <a:extLst xmlns:a="http://schemas.openxmlformats.org/drawingml/2006/main">
              <a:ext uri="{FF2B5EF4-FFF2-40B4-BE49-F238E27FC236}">
                <a16:creationId xmlns:a16="http://schemas.microsoft.com/office/drawing/2014/main" id="{86E90AC2-BC99-614A-AF4F-584EF9915C55}"/>
              </a:ext>
            </a:extLst>
          </p:cNvPr>
          <p:cNvSpPr>
            <a:spLocks xmlns:a="http://schemas.openxmlformats.org/drawingml/2006/main" noGrp="1"/>
          </p:cNvSpPr>
          <p:nvPr>
            <p:ph type="body" idx="14" hasCustomPrompt="1"/>
          </p:nvPr>
        </p:nvSpPr>
        <p:spPr>
          <a:xfrm xmlns:a="http://schemas.openxmlformats.org/drawingml/2006/main">
            <a:off x="555867" y="396545"/>
            <a:ext cx="8311908" cy="717437"/>
          </a:xfrm>
          <a:prstGeom xmlns:a="http://schemas.openxmlformats.org/drawingml/2006/main" prst="rect">
            <a:avLst/>
          </a:prstGeom>
        </p:spPr>
        <p:txBody>
          <a:bodyPr xmlns:a="http://schemas.openxmlformats.org/drawingml/2006/main" lIns="0" tIns="0" rIns="0" bIns="0" anchor="b"/>
          <a:lstStyle xmlns:a="http://schemas.openxmlformats.org/drawingml/2006/main">
            <a:lvl1pPr marL="0" indent="0">
              <a:lnSpc>
                <a:spcPts val="2800"/>
              </a:lnSpc>
              <a:spcBef>
                <a:spcPts val="0"/>
              </a:spcBef>
              <a:buNone/>
              <a:defRPr sz="2400">
                <a:solidFill>
                  <a:srgbClr val="C40D1E"/>
                </a:solidFill>
                <a:latin typeface="Arial"/>
                <a:ea typeface="Arial"/>
                <a:cs typeface="Arial"/>
              </a:defRPr>
            </a:lvl1pPr>
          </a:lstStyle>
          <a:p xmlns:a="http://schemas.openxmlformats.org/drawingml/2006/main">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spTree>
  </p:cSld>
</p:sldLayout>
</file>

<file path=ppt/slideLayouts/slideLayout5.xml><?xml version="1.0" encoding="utf-8"?>
<p:sldLayout xmlns:p="http://schemas.openxmlformats.org/presentationml/2006/main" preserve="1" userDrawn="1">
  <p:cSld name="10_Inhalt - Bild und Stichpunkte">
    <p:spTree>
      <p:nvGrpSpPr>
        <p:cNvPr id="1" name=""/>
        <p:cNvGrpSpPr/>
        <p:nvPr/>
      </p:nvGrpSpPr>
      <p:grpSpPr>
        <a:xfrm xmlns:a="http://schemas.openxmlformats.org/drawingml/2006/main"/>
      </p:grpSpPr>
      <p:sp>
        <p:nvSpPr>
          <p:cNvPr id="5" name="Textplatzhalter 5">
            <a:extLst xmlns:a="http://schemas.openxmlformats.org/drawingml/2006/main">
              <a:ext uri="{FF2B5EF4-FFF2-40B4-BE49-F238E27FC236}">
                <a16:creationId xmlns:a16="http://schemas.microsoft.com/office/drawing/2014/main" id="{9278302A-602E-374F-9D64-8FCFB4DC60C0}"/>
              </a:ext>
            </a:extLst>
          </p:cNvPr>
          <p:cNvSpPr>
            <a:spLocks xmlns:a="http://schemas.openxmlformats.org/drawingml/2006/main" noGrp="1"/>
          </p:cNvSpPr>
          <p:nvPr>
            <p:ph type="body" idx="18" hasCustomPrompt="1"/>
          </p:nvPr>
        </p:nvSpPr>
        <p:spPr>
          <a:xfrm xmlns:a="http://schemas.openxmlformats.org/drawingml/2006/main">
            <a:off x="730221" y="1373399"/>
            <a:ext cx="3981600" cy="4111200"/>
          </a:xfrm>
          <a:prstGeom xmlns:a="http://schemas.openxmlformats.org/drawingml/2006/main" prst="rect">
            <a:avLst/>
          </a:prstGeom>
        </p:spPr>
        <p:txBody>
          <a:bodyPr xmlns:a="http://schemas.openxmlformats.org/drawingml/2006/main" lIns="0" tIns="0" rIns="0" bIns="0"/>
          <a:lstStyle xmlns:a="http://schemas.openxmlformats.org/drawingml/2006/main">
            <a:lvl1pPr marL="228600" indent="-228600">
              <a:lnSpc>
                <a:spcPts val="2400"/>
              </a:lnSpc>
              <a:buFont typeface="Symbol"/>
              <a:buChar char="-"/>
              <a:defRPr sz="1800">
                <a:solidFill>
                  <a:srgbClr val="434343"/>
                </a:solidFill>
                <a:latin typeface="Arial"/>
                <a:ea typeface="Arial"/>
                <a:cs typeface="Arial"/>
              </a:defRPr>
            </a:lvl1pPr>
            <a:lvl2pPr marL="685800" indent="-228600">
              <a:lnSpc>
                <a:spcPts val="2400"/>
              </a:lnSpc>
              <a:buFont typeface="Symbol"/>
              <a:buChar char="-"/>
              <a:defRPr sz="1800">
                <a:solidFill>
                  <a:srgbClr val="434343"/>
                </a:solidFill>
                <a:latin typeface="Arial"/>
                <a:ea typeface="Arial"/>
                <a:cs typeface="Arial"/>
              </a:defRPr>
            </a:lvl2pPr>
            <a:lvl3pPr marL="1143000" indent="-228600">
              <a:lnSpc>
                <a:spcPts val="2400"/>
              </a:lnSpc>
              <a:buFont typeface="Symbol"/>
              <a:buChar char="-"/>
              <a:defRPr sz="1800">
                <a:solidFill>
                  <a:srgbClr val="434343"/>
                </a:solidFill>
                <a:latin typeface="Arial"/>
                <a:ea typeface="Arial"/>
                <a:cs typeface="Arial"/>
              </a:defRPr>
            </a:lvl3pPr>
            <a:lvl4pPr marL="1600200" indent="-228600">
              <a:lnSpc>
                <a:spcPts val="2400"/>
              </a:lnSpc>
              <a:buFont typeface="Symbol"/>
              <a:buChar char="-"/>
              <a:defRPr sz="1800">
                <a:solidFill>
                  <a:srgbClr val="434343"/>
                </a:solidFill>
                <a:latin typeface="Arial"/>
                <a:ea typeface="Arial"/>
                <a:cs typeface="Arial"/>
              </a:defRPr>
            </a:lvl4pPr>
            <a:lvl5pPr marL="2057400" indent="-228600">
              <a:lnSpc>
                <a:spcPts val="2400"/>
              </a:lnSpc>
              <a:buFont typeface="Symbol"/>
              <a:buChar char="-"/>
              <a:defRPr sz="1800">
                <a:solidFill>
                  <a:srgbClr val="434343"/>
                </a:solidFill>
                <a:latin typeface="Arial"/>
                <a:ea typeface="Arial"/>
                <a:cs typeface="Arial"/>
              </a:defRPr>
            </a:lvl5pPr>
          </a:lstStyle>
          <a:p xmlns:a="http://schemas.openxmlformats.org/drawingml/2006/main">
            <a:pPr lvl="0">
              <a:buNone/>
              <a:defRPr>
                <a:latin typeface="Calibri"/>
                <a:ea typeface="Calibri"/>
                <a:cs typeface="Calibri"/>
              </a:defRPr>
            </a:pPr>
            <a:r>
              <a:rPr>
                <a:latin typeface="Calibri"/>
                <a:ea typeface="Calibri"/>
                <a:cs typeface="Calibri"/>
              </a:rPr>
              <a:t>Aufzählung 1. Ebene Arial Regular 18 </a:t>
            </a:r>
            <a:r>
              <a:rPr>
                <a:latin typeface="Calibri"/>
                <a:ea typeface="Calibri"/>
                <a:cs typeface="Calibri"/>
              </a:rPr>
              <a:t>pt</a:t>
            </a:r>
            <a:r>
              <a:rPr>
                <a:latin typeface="Calibri"/>
                <a:ea typeface="Calibri"/>
                <a:cs typeface="Calibri"/>
              </a:rPr>
              <a:t>, ZA: 24 </a:t>
            </a:r>
            <a:r>
              <a:rPr>
                <a:latin typeface="Calibri"/>
                <a:ea typeface="Calibri"/>
                <a:cs typeface="Calibri"/>
              </a:rPr>
              <a:t>pt</a:t>
            </a:r>
            <a:endParaRPr/>
          </a:p>
          <a:p xmlns:a="http://schemas.openxmlformats.org/drawingml/2006/main">
            <a:pPr lvl="1">
              <a:buNone/>
              <a:defRPr>
                <a:latin typeface="Calibri"/>
                <a:ea typeface="Calibri"/>
                <a:cs typeface="Calibri"/>
              </a:defRPr>
            </a:pPr>
            <a:r>
              <a:rPr>
                <a:latin typeface="Calibri"/>
                <a:ea typeface="Calibri"/>
                <a:cs typeface="Calibri"/>
              </a:rPr>
              <a:t>2. Ebene</a:t>
            </a:r>
          </a:p>
          <a:p xmlns:a="http://schemas.openxmlformats.org/drawingml/2006/main">
            <a:pPr lvl="2">
              <a:buNone/>
              <a:defRPr>
                <a:latin typeface="Calibri"/>
                <a:ea typeface="Calibri"/>
                <a:cs typeface="Calibri"/>
              </a:defRPr>
            </a:pPr>
            <a:r>
              <a:rPr>
                <a:latin typeface="Calibri"/>
                <a:ea typeface="Calibri"/>
                <a:cs typeface="Calibri"/>
              </a:rPr>
              <a:t>3. Ebene</a:t>
            </a:r>
          </a:p>
          <a:p xmlns:a="http://schemas.openxmlformats.org/drawingml/2006/main">
            <a:pPr lvl="3">
              <a:buNone/>
              <a:defRPr>
                <a:latin typeface="Calibri"/>
                <a:ea typeface="Calibri"/>
                <a:cs typeface="Calibri"/>
              </a:defRPr>
            </a:pPr>
            <a:r>
              <a:rPr>
                <a:latin typeface="Calibri"/>
                <a:ea typeface="Calibri"/>
                <a:cs typeface="Calibri"/>
              </a:rPr>
              <a:t>4. Ebene</a:t>
            </a:r>
          </a:p>
          <a:p xmlns:a="http://schemas.openxmlformats.org/drawingml/2006/main">
            <a:pPr lvl="4">
              <a:buNone/>
              <a:defRPr>
                <a:latin typeface="Calibri"/>
                <a:ea typeface="Calibri"/>
                <a:cs typeface="Calibri"/>
              </a:defRPr>
            </a:pPr>
            <a:r>
              <a:rPr>
                <a:latin typeface="Calibri"/>
                <a:ea typeface="Calibri"/>
                <a:cs typeface="Calibri"/>
              </a:rPr>
              <a:t>5. Ebene</a:t>
            </a:r>
          </a:p>
        </p:txBody>
      </p:sp>
      <p:sp>
        <p:nvSpPr>
          <p:cNvPr id="7" name="Textplatzhalter 17">
            <a:extLst xmlns:a="http://schemas.openxmlformats.org/drawingml/2006/main">
              <a:ext uri="{FF2B5EF4-FFF2-40B4-BE49-F238E27FC236}">
                <a16:creationId xmlns:a16="http://schemas.microsoft.com/office/drawing/2014/main" id="{86E90AC2-BC99-614A-AF4F-584EF9915C55}"/>
              </a:ext>
            </a:extLst>
          </p:cNvPr>
          <p:cNvSpPr>
            <a:spLocks xmlns:a="http://schemas.openxmlformats.org/drawingml/2006/main" noGrp="1"/>
          </p:cNvSpPr>
          <p:nvPr>
            <p:ph type="body" idx="14" hasCustomPrompt="1"/>
          </p:nvPr>
        </p:nvSpPr>
        <p:spPr>
          <a:xfrm xmlns:a="http://schemas.openxmlformats.org/drawingml/2006/main">
            <a:off x="555867" y="396545"/>
            <a:ext cx="8311908" cy="717437"/>
          </a:xfrm>
          <a:prstGeom xmlns:a="http://schemas.openxmlformats.org/drawingml/2006/main" prst="rect">
            <a:avLst/>
          </a:prstGeom>
        </p:spPr>
        <p:txBody>
          <a:bodyPr xmlns:a="http://schemas.openxmlformats.org/drawingml/2006/main" lIns="0" tIns="0" rIns="0" bIns="0" anchor="b"/>
          <a:lstStyle xmlns:a="http://schemas.openxmlformats.org/drawingml/2006/main">
            <a:lvl1pPr marL="0" indent="0">
              <a:lnSpc>
                <a:spcPts val="2800"/>
              </a:lnSpc>
              <a:spcBef>
                <a:spcPts val="0"/>
              </a:spcBef>
              <a:buNone/>
              <a:defRPr sz="2400">
                <a:solidFill>
                  <a:srgbClr val="C40D1E"/>
                </a:solidFill>
                <a:latin typeface="Arial"/>
                <a:ea typeface="Arial"/>
                <a:cs typeface="Arial"/>
              </a:defRPr>
            </a:lvl1pPr>
          </a:lstStyle>
          <a:p xmlns:a="http://schemas.openxmlformats.org/drawingml/2006/main">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sp>
        <p:nvSpPr>
          <p:cNvPr id="2" name="Bildplatzhalter 2">
            <a:extLst xmlns:a="http://schemas.openxmlformats.org/drawingml/2006/main">
              <a:ext uri="{FF2B5EF4-FFF2-40B4-BE49-F238E27FC236}">
                <a16:creationId xmlns:a16="http://schemas.microsoft.com/office/drawing/2014/main" id="{4F835FC2-209C-B623-B2FE-93104346F508}"/>
              </a:ext>
            </a:extLst>
          </p:cNvPr>
          <p:cNvSpPr>
            <a:spLocks xmlns:a="http://schemas.openxmlformats.org/drawingml/2006/main" noGrp="1"/>
          </p:cNvSpPr>
          <p:nvPr>
            <p:ph type="pic" idx="17" hasCustomPrompt="1"/>
          </p:nvPr>
        </p:nvSpPr>
        <p:spPr>
          <a:xfrm xmlns:a="http://schemas.openxmlformats.org/drawingml/2006/main">
            <a:off x="6202905" y="1382204"/>
            <a:ext cx="5329739" cy="4093589"/>
          </a:xfrm>
          <a:prstGeom xmlns:a="http://schemas.openxmlformats.org/drawingml/2006/main" prst="rect">
            <a:avLst/>
          </a:prstGeom>
          <a:solidFill xmlns:a="http://schemas.openxmlformats.org/drawingml/2006/main">
            <a:srgbClr val="434343"/>
          </a:solidFill>
        </p:spPr>
        <p:txBody>
          <a:bodyPr xmlns:a="http://schemas.openxmlformats.org/drawingml/2006/main" anchor="ctr"/>
          <a:lstStyle xmlns:a="http://schemas.openxmlformats.org/drawingml/2006/main">
            <a:lvl1pPr marL="0" indent="0" algn="ctr">
              <a:buFontTx/>
              <a:buNone/>
              <a:defRPr>
                <a:solidFill>
                  <a:schemeClr val="bg1"/>
                </a:solidFill>
              </a:defRPr>
            </a:lvl1pPr>
          </a:lstStyle>
          <a:p xmlns:a="http://schemas.openxmlformats.org/drawingml/2006/main">
            <a:pPr>
              <a:buNone/>
              <a:defRPr>
                <a:latin typeface="Calibri"/>
                <a:ea typeface="Calibri"/>
                <a:cs typeface="Calibri"/>
              </a:defRPr>
            </a:pPr>
            <a:r>
              <a:rPr>
                <a:latin typeface="Calibri"/>
                <a:ea typeface="Calibri"/>
                <a:cs typeface="Calibri"/>
              </a:rPr>
              <a:t>Platzhalter: Bild</a:t>
            </a:r>
          </a:p>
        </p:txBody>
      </p:sp>
    </p:spTree>
  </p:cSld>
</p:sldLayout>
</file>

<file path=ppt/slideLayouts/slideLayout6.xml><?xml version="1.0" encoding="utf-8"?>
<p:sldLayout xmlns:p="http://schemas.openxmlformats.org/presentationml/2006/main" preserve="1" userDrawn="1">
  <p:cSld name="6_Inhalt - Bild und Stichpunkte">
    <p:spTree>
      <p:nvGrpSpPr>
        <p:cNvPr id="1" name=""/>
        <p:cNvGrpSpPr/>
        <p:nvPr/>
      </p:nvGrpSpPr>
      <p:grpSpPr>
        <a:xfrm xmlns:a="http://schemas.openxmlformats.org/drawingml/2006/main"/>
      </p:grpSpPr>
      <p:sp>
        <p:nvSpPr>
          <p:cNvPr id="6" name="Bildplatzhalter 2">
            <a:extLst xmlns:a="http://schemas.openxmlformats.org/drawingml/2006/main">
              <a:ext uri="{FF2B5EF4-FFF2-40B4-BE49-F238E27FC236}">
                <a16:creationId xmlns:a16="http://schemas.microsoft.com/office/drawing/2014/main" id="{07DD2921-214D-B547-93DD-EB9D2A99CCEE}"/>
              </a:ext>
            </a:extLst>
          </p:cNvPr>
          <p:cNvSpPr>
            <a:spLocks xmlns:a="http://schemas.openxmlformats.org/drawingml/2006/main" noGrp="1"/>
          </p:cNvSpPr>
          <p:nvPr>
            <p:ph type="pic" idx="17" hasCustomPrompt="1"/>
          </p:nvPr>
        </p:nvSpPr>
        <p:spPr>
          <a:xfrm xmlns:a="http://schemas.openxmlformats.org/drawingml/2006/main">
            <a:off x="550066" y="1382204"/>
            <a:ext cx="5329739" cy="4093589"/>
          </a:xfrm>
          <a:prstGeom xmlns:a="http://schemas.openxmlformats.org/drawingml/2006/main" prst="rect">
            <a:avLst/>
          </a:prstGeom>
          <a:solidFill xmlns:a="http://schemas.openxmlformats.org/drawingml/2006/main">
            <a:srgbClr val="434343"/>
          </a:solidFill>
        </p:spPr>
        <p:txBody>
          <a:bodyPr xmlns:a="http://schemas.openxmlformats.org/drawingml/2006/main" anchor="ctr"/>
          <a:lstStyle xmlns:a="http://schemas.openxmlformats.org/drawingml/2006/main">
            <a:lvl1pPr marL="0" indent="0" algn="ctr">
              <a:buFontTx/>
              <a:buNone/>
              <a:defRPr>
                <a:solidFill>
                  <a:schemeClr val="bg1"/>
                </a:solidFill>
              </a:defRPr>
            </a:lvl1pPr>
          </a:lstStyle>
          <a:p xmlns:a="http://schemas.openxmlformats.org/drawingml/2006/main">
            <a:pPr>
              <a:buNone/>
              <a:defRPr>
                <a:latin typeface="Calibri"/>
                <a:ea typeface="Calibri"/>
                <a:cs typeface="Calibri"/>
              </a:defRPr>
            </a:pPr>
            <a:r>
              <a:rPr>
                <a:latin typeface="Calibri"/>
                <a:ea typeface="Calibri"/>
                <a:cs typeface="Calibri"/>
              </a:rPr>
              <a:t>Platzhalter: Bild</a:t>
            </a:r>
          </a:p>
        </p:txBody>
      </p:sp>
      <p:sp>
        <p:nvSpPr>
          <p:cNvPr id="7" name="Textplatzhalter 17">
            <a:extLst xmlns:a="http://schemas.openxmlformats.org/drawingml/2006/main">
              <a:ext uri="{FF2B5EF4-FFF2-40B4-BE49-F238E27FC236}">
                <a16:creationId xmlns:a16="http://schemas.microsoft.com/office/drawing/2014/main" id="{86E90AC2-BC99-614A-AF4F-584EF9915C55}"/>
              </a:ext>
            </a:extLst>
          </p:cNvPr>
          <p:cNvSpPr>
            <a:spLocks xmlns:a="http://schemas.openxmlformats.org/drawingml/2006/main" noGrp="1"/>
          </p:cNvSpPr>
          <p:nvPr>
            <p:ph type="body" idx="14" hasCustomPrompt="1"/>
          </p:nvPr>
        </p:nvSpPr>
        <p:spPr>
          <a:xfrm xmlns:a="http://schemas.openxmlformats.org/drawingml/2006/main">
            <a:off x="555867" y="396545"/>
            <a:ext cx="8311908" cy="717437"/>
          </a:xfrm>
          <a:prstGeom xmlns:a="http://schemas.openxmlformats.org/drawingml/2006/main" prst="rect">
            <a:avLst/>
          </a:prstGeom>
        </p:spPr>
        <p:txBody>
          <a:bodyPr xmlns:a="http://schemas.openxmlformats.org/drawingml/2006/main" lIns="0" tIns="0" rIns="0" bIns="0" anchor="b"/>
          <a:lstStyle xmlns:a="http://schemas.openxmlformats.org/drawingml/2006/main">
            <a:lvl1pPr marL="0" indent="0">
              <a:lnSpc>
                <a:spcPts val="2800"/>
              </a:lnSpc>
              <a:spcBef>
                <a:spcPts val="0"/>
              </a:spcBef>
              <a:buNone/>
              <a:defRPr sz="2400">
                <a:solidFill>
                  <a:srgbClr val="C40D1E"/>
                </a:solidFill>
                <a:latin typeface="Arial"/>
                <a:ea typeface="Arial"/>
                <a:cs typeface="Arial"/>
              </a:defRPr>
            </a:lvl1pPr>
          </a:lstStyle>
          <a:p xmlns:a="http://schemas.openxmlformats.org/drawingml/2006/main">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sp>
        <p:nvSpPr>
          <p:cNvPr id="4" name="Bildplatzhalter 2">
            <a:extLst xmlns:a="http://schemas.openxmlformats.org/drawingml/2006/main">
              <a:ext uri="{FF2B5EF4-FFF2-40B4-BE49-F238E27FC236}">
                <a16:creationId xmlns:a16="http://schemas.microsoft.com/office/drawing/2014/main" id="{6531CAD3-CD14-C701-E880-CF6FFC010DF5}"/>
              </a:ext>
            </a:extLst>
          </p:cNvPr>
          <p:cNvSpPr>
            <a:spLocks xmlns:a="http://schemas.openxmlformats.org/drawingml/2006/main" noGrp="1"/>
          </p:cNvSpPr>
          <p:nvPr>
            <p:ph type="pic" idx="18" hasCustomPrompt="1"/>
          </p:nvPr>
        </p:nvSpPr>
        <p:spPr>
          <a:xfrm xmlns:a="http://schemas.openxmlformats.org/drawingml/2006/main">
            <a:off x="6202905" y="1382204"/>
            <a:ext cx="5329739" cy="4093589"/>
          </a:xfrm>
          <a:prstGeom xmlns:a="http://schemas.openxmlformats.org/drawingml/2006/main" prst="rect">
            <a:avLst/>
          </a:prstGeom>
          <a:solidFill xmlns:a="http://schemas.openxmlformats.org/drawingml/2006/main">
            <a:srgbClr val="434343"/>
          </a:solidFill>
        </p:spPr>
        <p:txBody>
          <a:bodyPr xmlns:a="http://schemas.openxmlformats.org/drawingml/2006/main" anchor="ctr"/>
          <a:lstStyle xmlns:a="http://schemas.openxmlformats.org/drawingml/2006/main">
            <a:lvl1pPr marL="0" indent="0" algn="ctr">
              <a:buFontTx/>
              <a:buNone/>
              <a:defRPr>
                <a:solidFill>
                  <a:schemeClr val="bg1"/>
                </a:solidFill>
              </a:defRPr>
            </a:lvl1pPr>
          </a:lstStyle>
          <a:p xmlns:a="http://schemas.openxmlformats.org/drawingml/2006/main">
            <a:pPr>
              <a:buNone/>
              <a:defRPr>
                <a:latin typeface="Calibri"/>
                <a:ea typeface="Calibri"/>
                <a:cs typeface="Calibri"/>
              </a:defRPr>
            </a:pPr>
            <a:r>
              <a:rPr>
                <a:latin typeface="Calibri"/>
                <a:ea typeface="Calibri"/>
                <a:cs typeface="Calibri"/>
              </a:rPr>
              <a:t>Platzhalter: Bild</a:t>
            </a:r>
          </a:p>
        </p:txBody>
      </p:sp>
    </p:spTree>
  </p:cSld>
</p:sldLayout>
</file>

<file path=ppt/slideLayouts/slideLayout7.xml><?xml version="1.0" encoding="utf-8"?>
<p:sldLayout xmlns:p="http://schemas.openxmlformats.org/presentationml/2006/main" preserve="1" userDrawn="1">
  <p:cSld name="7_Inhalt - Bild und Stichpunkte">
    <p:spTree>
      <p:nvGrpSpPr>
        <p:cNvPr id="1" name=""/>
        <p:cNvGrpSpPr/>
        <p:nvPr/>
      </p:nvGrpSpPr>
      <p:grpSpPr>
        <a:xfrm xmlns:a="http://schemas.openxmlformats.org/drawingml/2006/main"/>
      </p:grpSpPr>
      <p:sp>
        <p:nvSpPr>
          <p:cNvPr id="7" name="Textplatzhalter 17">
            <a:extLst xmlns:a="http://schemas.openxmlformats.org/drawingml/2006/main">
              <a:ext uri="{FF2B5EF4-FFF2-40B4-BE49-F238E27FC236}">
                <a16:creationId xmlns:a16="http://schemas.microsoft.com/office/drawing/2014/main" id="{86E90AC2-BC99-614A-AF4F-584EF9915C55}"/>
              </a:ext>
            </a:extLst>
          </p:cNvPr>
          <p:cNvSpPr>
            <a:spLocks xmlns:a="http://schemas.openxmlformats.org/drawingml/2006/main" noGrp="1"/>
          </p:cNvSpPr>
          <p:nvPr>
            <p:ph type="body" idx="14" hasCustomPrompt="1"/>
          </p:nvPr>
        </p:nvSpPr>
        <p:spPr>
          <a:xfrm xmlns:a="http://schemas.openxmlformats.org/drawingml/2006/main">
            <a:off x="555867" y="396545"/>
            <a:ext cx="8311908" cy="717437"/>
          </a:xfrm>
          <a:prstGeom xmlns:a="http://schemas.openxmlformats.org/drawingml/2006/main" prst="rect">
            <a:avLst/>
          </a:prstGeom>
        </p:spPr>
        <p:txBody>
          <a:bodyPr xmlns:a="http://schemas.openxmlformats.org/drawingml/2006/main" lIns="0" tIns="0" rIns="0" bIns="0" anchor="b"/>
          <a:lstStyle xmlns:a="http://schemas.openxmlformats.org/drawingml/2006/main">
            <a:lvl1pPr marL="0" indent="0">
              <a:lnSpc>
                <a:spcPts val="2800"/>
              </a:lnSpc>
              <a:spcBef>
                <a:spcPts val="0"/>
              </a:spcBef>
              <a:buNone/>
              <a:defRPr sz="2400">
                <a:solidFill>
                  <a:srgbClr val="C40D1E"/>
                </a:solidFill>
                <a:latin typeface="Arial"/>
                <a:ea typeface="Arial"/>
                <a:cs typeface="Arial"/>
              </a:defRPr>
            </a:lvl1pPr>
          </a:lstStyle>
          <a:p xmlns:a="http://schemas.openxmlformats.org/drawingml/2006/main">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graphicFrame>
        <p:nvGraphicFramePr>
          <p:cNvPr id="10" name="Tabelle 3"/>
          <p:cNvGraphicFramePr/>
          <p:nvPr/>
        </p:nvGraphicFramePr>
        <p:xfrm>
          <a:off xmlns:a="http://schemas.openxmlformats.org/drawingml/2006/main" x="555867" y="1619296"/>
          <a:ext xmlns:a="http://schemas.openxmlformats.org/drawingml/2006/main" cx="10515600" cy="2808000"/>
        </p:xfrm>
        <a:graphic xmlns:a="http://schemas.openxmlformats.org/drawingml/2006/main">
          <a:graphicData uri="http://schemas.openxmlformats.org/drawingml/2006/table">
            <a:tbl>
              <a:tblPr firstCol="1" bandRow="1">
                <a:tableStyleId>{5C22544A-7EE6-4342-B048-85BDC9FD1C3A}</a:tableStyleId>
              </a:tblPr>
              <a:tblGrid>
                <a:gridCol w="2628900"/>
                <a:gridCol w="2628900"/>
                <a:gridCol w="2628900"/>
                <a:gridCol w="2628900"/>
              </a:tblGrid>
              <a:tr h="468000">
                <a:tc>
                  <a:txBody>
                    <a:bodyPr/>
                    <a:lstStyle/>
                    <a:p>
                      <a:pPr marL="0" marR="0" lvl="0" indent="0" algn="ctr" defTabSz="914400">
                        <a:lnSpc>
                          <a:spcPct val="100000"/>
                        </a:lnSpc>
                        <a:spcBef>
                          <a:spcPts val="0"/>
                        </a:spcBef>
                        <a:spcAft>
                          <a:spcPts val="0"/>
                        </a:spcAft>
                        <a:buClrTx/>
                        <a:buSzTx/>
                        <a:buFontTx/>
                        <a:buNone/>
                      </a:pPr>
                      <a:r>
                        <a:rPr sz="1800" b="1">
                          <a:solidFill>
                            <a:schemeClr val="bg1"/>
                          </a:solidFill>
                          <a:latin typeface="Arial"/>
                          <a:ea typeface="Arial"/>
                          <a:cs typeface="Arial"/>
                        </a:rPr>
                        <a:t>Arial Regular</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algn="ctr">
                        <a:buNone/>
                      </a:pPr>
                      <a:r>
                        <a:rPr sz="1800" b="1">
                          <a:solidFill>
                            <a:schemeClr val="bg1"/>
                          </a:solidFill>
                          <a:latin typeface="Arial"/>
                          <a:ea typeface="Arial"/>
                          <a:cs typeface="Arial"/>
                        </a:rPr>
                        <a:t>18pt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algn="ctr">
                        <a:buNone/>
                      </a:pPr>
                      <a:r>
                        <a:rPr sz="1800" b="1">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marR="0" lvl="0" indent="0" algn="ctr" defTabSz="914400">
                        <a:lnSpc>
                          <a:spcPct val="100000"/>
                        </a:lnSpc>
                        <a:spcBef>
                          <a:spcPts val="0"/>
                        </a:spcBef>
                        <a:spcAft>
                          <a:spcPts val="0"/>
                        </a:spcAft>
                        <a:buClrTx/>
                        <a:buSzTx/>
                        <a:buFontTx/>
                        <a:buNone/>
                      </a:pPr>
                      <a:r>
                        <a:rPr sz="1800" b="1" i="0" u="none" cap="none" spc="0">
                          <a:ln>
                            <a:noFill/>
                          </a:ln>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r>
            </a:tbl>
          </a:graphicData>
        </a:graphic>
      </p:graphicFrame>
    </p:spTree>
  </p:cSld>
</p:sldLayout>
</file>

<file path=ppt/slideLayouts/slideLayout8.xml><?xml version="1.0" encoding="utf-8"?>
<p:sldLayout xmlns:p="http://schemas.openxmlformats.org/presentationml/2006/main" preserve="1" userDrawn="1">
  <p:cSld name="11_Inhalt - Bild und Stichpunkte">
    <p:spTree>
      <p:nvGrpSpPr>
        <p:cNvPr id="1" name=""/>
        <p:cNvGrpSpPr/>
        <p:nvPr/>
      </p:nvGrpSpPr>
      <p:grpSpPr>
        <a:xfrm xmlns:a="http://schemas.openxmlformats.org/drawingml/2006/main"/>
      </p:grpSpPr>
      <p:sp>
        <p:nvSpPr>
          <p:cNvPr id="7" name="Textplatzhalter 17">
            <a:extLst xmlns:a="http://schemas.openxmlformats.org/drawingml/2006/main">
              <a:ext uri="{FF2B5EF4-FFF2-40B4-BE49-F238E27FC236}">
                <a16:creationId xmlns:a16="http://schemas.microsoft.com/office/drawing/2014/main" id="{86E90AC2-BC99-614A-AF4F-584EF9915C55}"/>
              </a:ext>
            </a:extLst>
          </p:cNvPr>
          <p:cNvSpPr>
            <a:spLocks xmlns:a="http://schemas.openxmlformats.org/drawingml/2006/main" noGrp="1"/>
          </p:cNvSpPr>
          <p:nvPr>
            <p:ph type="body" idx="14" hasCustomPrompt="1"/>
          </p:nvPr>
        </p:nvSpPr>
        <p:spPr>
          <a:xfrm xmlns:a="http://schemas.openxmlformats.org/drawingml/2006/main">
            <a:off x="555867" y="396545"/>
            <a:ext cx="8311908" cy="717437"/>
          </a:xfrm>
          <a:prstGeom xmlns:a="http://schemas.openxmlformats.org/drawingml/2006/main" prst="rect">
            <a:avLst/>
          </a:prstGeom>
        </p:spPr>
        <p:txBody>
          <a:bodyPr xmlns:a="http://schemas.openxmlformats.org/drawingml/2006/main" lIns="0" tIns="0" rIns="0" bIns="0" anchor="b"/>
          <a:lstStyle xmlns:a="http://schemas.openxmlformats.org/drawingml/2006/main">
            <a:lvl1pPr marL="0" indent="0">
              <a:lnSpc>
                <a:spcPts val="2800"/>
              </a:lnSpc>
              <a:spcBef>
                <a:spcPts val="0"/>
              </a:spcBef>
              <a:buNone/>
              <a:defRPr sz="2400">
                <a:solidFill>
                  <a:srgbClr val="C40D1E"/>
                </a:solidFill>
                <a:latin typeface="Arial"/>
                <a:ea typeface="Arial"/>
                <a:cs typeface="Arial"/>
              </a:defRPr>
            </a:lvl1pPr>
          </a:lstStyle>
          <a:p xmlns:a="http://schemas.openxmlformats.org/drawingml/2006/main">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graphicFrame>
        <p:nvGraphicFramePr>
          <p:cNvPr id="10" name="Tabelle 3"/>
          <p:cNvGraphicFramePr/>
          <p:nvPr/>
        </p:nvGraphicFramePr>
        <p:xfrm>
          <a:off xmlns:a="http://schemas.openxmlformats.org/drawingml/2006/main" x="555867" y="1619296"/>
          <a:ext xmlns:a="http://schemas.openxmlformats.org/drawingml/2006/main" cx="10512000" cy="2808000"/>
        </p:xfrm>
        <a:graphic xmlns:a="http://schemas.openxmlformats.org/drawingml/2006/main">
          <a:graphicData uri="http://schemas.openxmlformats.org/drawingml/2006/table">
            <a:tbl>
              <a:tblPr firstRow="1" bandRow="1">
                <a:tableStyleId>{5C22544A-7EE6-4342-B048-85BDC9FD1C3A}</a:tableStyleId>
              </a:tblPr>
              <a:tblGrid>
                <a:gridCol w="2628000"/>
                <a:gridCol w="2628000"/>
                <a:gridCol w="2628000"/>
                <a:gridCol w="2628000"/>
              </a:tblGrid>
              <a:tr h="468000">
                <a:tc>
                  <a:txBody>
                    <a:bodyPr/>
                    <a:lstStyle/>
                    <a:p>
                      <a:pPr algn="l">
                        <a:buNone/>
                      </a:pPr>
                      <a:endParaRPr sz="1800" b="1">
                        <a:solidFill>
                          <a:schemeClr val="bg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lvl="1" indent="0" algn="ctr" defTabSz="914400">
                        <a:buClr>
                          <a:schemeClr val="accent1">
                            <a:lumMod val="100000"/>
                          </a:schemeClr>
                        </a:buClr>
                        <a:buSzPct val="100000"/>
                        <a:buFont typeface="Wingdings"/>
                        <a:buNone/>
                      </a:pPr>
                      <a:r>
                        <a:rPr sz="1800" b="1">
                          <a:solidFill>
                            <a:schemeClr val="bg1"/>
                          </a:solidFill>
                          <a:latin typeface="Arial"/>
                          <a:ea typeface="Arial"/>
                          <a:cs typeface="Arial"/>
                        </a:rPr>
                        <a:t>Arial</a:t>
                      </a:r>
                      <a:endParaRPr sz="1800" b="1" kern="1200">
                        <a:solidFill>
                          <a:schemeClr val="bg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chemeClr val="accent1"/>
                    </a:solidFill>
                  </a:tcPr>
                </a:tc>
                <a:tc>
                  <a:txBody>
                    <a:bodyPr/>
                    <a:lstStyle/>
                    <a:p>
                      <a:pPr marL="0" lvl="1" indent="0" algn="ctr" defTabSz="914400">
                        <a:buClr>
                          <a:schemeClr val="accent1">
                            <a:lumMod val="100000"/>
                          </a:schemeClr>
                        </a:buClr>
                        <a:buSzPct val="100000"/>
                        <a:buFont typeface="Wingdings"/>
                        <a:buNone/>
                      </a:pPr>
                      <a:r>
                        <a:rPr sz="1800" b="1">
                          <a:solidFill>
                            <a:schemeClr val="bg1"/>
                          </a:solidFill>
                          <a:latin typeface="Arial"/>
                          <a:ea typeface="Arial"/>
                          <a:cs typeface="Arial"/>
                        </a:rPr>
                        <a:t>Regular</a:t>
                      </a:r>
                      <a:endParaRPr sz="1800" b="1" kern="1200">
                        <a:solidFill>
                          <a:schemeClr val="bg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chemeClr val="accent1"/>
                    </a:solidFill>
                  </a:tcPr>
                </a:tc>
                <a:tc>
                  <a:txBody>
                    <a:bodyPr/>
                    <a:lstStyle/>
                    <a:p>
                      <a:pPr marL="0" lvl="1" indent="0" algn="ctr" defTabSz="914400">
                        <a:buClr>
                          <a:schemeClr val="accent1">
                            <a:lumMod val="100000"/>
                          </a:schemeClr>
                        </a:buClr>
                        <a:buSzPct val="100000"/>
                        <a:buFont typeface="Wingdings"/>
                        <a:buNone/>
                      </a:pPr>
                      <a:r>
                        <a:rPr sz="1800" b="1">
                          <a:solidFill>
                            <a:schemeClr val="bg1"/>
                          </a:solidFill>
                          <a:latin typeface="Arial"/>
                          <a:ea typeface="Arial"/>
                          <a:cs typeface="Arial"/>
                        </a:rPr>
                        <a:t>18pt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chemeClr val="accent1"/>
                    </a:solidFill>
                  </a:tcPr>
                </a:tc>
              </a:tr>
              <a:tr h="468000">
                <a:tc>
                  <a:txBody>
                    <a:bodyPr/>
                    <a:lstStyle/>
                    <a:p>
                      <a:pPr marL="0" marR="0" indent="0" algn="l" defTabSz="914400">
                        <a:lnSpc>
                          <a:spcPct val="100000"/>
                        </a:lnSpc>
                        <a:spcBef>
                          <a:spcPts val="0"/>
                        </a:spcBef>
                        <a:spcAft>
                          <a:spcPts val="0"/>
                        </a:spcAft>
                        <a:buClrTx/>
                        <a:buSzTx/>
                        <a:buFontTx/>
                        <a:buNone/>
                      </a:pPr>
                      <a:r>
                        <a:rPr sz="1800" b="1">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r>
              <a:tr h="468000">
                <a:tc>
                  <a:txBody>
                    <a:bodyPr/>
                    <a:lstStyle/>
                    <a:p>
                      <a:pPr marL="0" marR="0" indent="0" algn="l" defTabSz="914400">
                        <a:lnSpc>
                          <a:spcPct val="100000"/>
                        </a:lnSpc>
                        <a:spcBef>
                          <a:spcPts val="0"/>
                        </a:spcBef>
                        <a:spcAft>
                          <a:spcPts val="0"/>
                        </a:spcAft>
                        <a:buClrTx/>
                        <a:buSzTx/>
                        <a:buFontTx/>
                        <a:buNone/>
                      </a:pPr>
                      <a:r>
                        <a:rPr sz="1800" b="1">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r>
              <a:tr h="468000">
                <a:tc>
                  <a:txBody>
                    <a:bodyPr/>
                    <a:lstStyle/>
                    <a:p>
                      <a:pPr marL="0" marR="0" indent="0" algn="l" defTabSz="914400">
                        <a:lnSpc>
                          <a:spcPct val="100000"/>
                        </a:lnSpc>
                        <a:spcBef>
                          <a:spcPts val="0"/>
                        </a:spcBef>
                        <a:spcAft>
                          <a:spcPts val="0"/>
                        </a:spcAft>
                        <a:buClrTx/>
                        <a:buSzTx/>
                        <a:buFontTx/>
                        <a:buNone/>
                      </a:pPr>
                      <a:r>
                        <a:rPr sz="1800" b="1">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r>
              <a:tr h="468000">
                <a:tc>
                  <a:txBody>
                    <a:bodyPr/>
                    <a:lstStyle/>
                    <a:p>
                      <a:pPr algn="l">
                        <a:buNone/>
                      </a:pPr>
                      <a:r>
                        <a:rPr sz="1800" b="1">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r>
              <a:tr h="468000">
                <a:tc>
                  <a:txBody>
                    <a:bodyPr/>
                    <a:lstStyle/>
                    <a:p>
                      <a:pPr algn="l">
                        <a:buNone/>
                      </a:pPr>
                      <a:r>
                        <a:rPr sz="1800" b="1">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r>
            </a:tbl>
          </a:graphicData>
        </a:graphic>
      </p:graphicFrame>
    </p:spTree>
  </p:cSld>
</p:sldLayout>
</file>

<file path=ppt/slideLayouts/slideLayout9.xml><?xml version="1.0" encoding="utf-8"?>
<p:sldLayout xmlns:p="http://schemas.openxmlformats.org/presentationml/2006/main" preserve="1" userDrawn="1">
  <p:cSld name="8_Inhalt - Bild und Stichpunkte">
    <p:spTree>
      <p:nvGrpSpPr>
        <p:cNvPr id="1" name=""/>
        <p:cNvGrpSpPr/>
        <p:nvPr/>
      </p:nvGrpSpPr>
      <p:grpSpPr>
        <a:xfrm xmlns:a="http://schemas.openxmlformats.org/drawingml/2006/main"/>
      </p:grpSpPr>
      <p:sp>
        <p:nvSpPr>
          <p:cNvPr id="7" name="Textplatzhalter 17">
            <a:extLst xmlns:a="http://schemas.openxmlformats.org/drawingml/2006/main">
              <a:ext uri="{FF2B5EF4-FFF2-40B4-BE49-F238E27FC236}">
                <a16:creationId xmlns:a16="http://schemas.microsoft.com/office/drawing/2014/main" id="{86E90AC2-BC99-614A-AF4F-584EF9915C55}"/>
              </a:ext>
            </a:extLst>
          </p:cNvPr>
          <p:cNvSpPr>
            <a:spLocks xmlns:a="http://schemas.openxmlformats.org/drawingml/2006/main" noGrp="1"/>
          </p:cNvSpPr>
          <p:nvPr>
            <p:ph type="body" idx="14" hasCustomPrompt="1"/>
          </p:nvPr>
        </p:nvSpPr>
        <p:spPr>
          <a:xfrm xmlns:a="http://schemas.openxmlformats.org/drawingml/2006/main">
            <a:off x="555867" y="396545"/>
            <a:ext cx="8311908" cy="717437"/>
          </a:xfrm>
          <a:prstGeom xmlns:a="http://schemas.openxmlformats.org/drawingml/2006/main" prst="rect">
            <a:avLst/>
          </a:prstGeom>
        </p:spPr>
        <p:txBody>
          <a:bodyPr xmlns:a="http://schemas.openxmlformats.org/drawingml/2006/main" lIns="0" tIns="0" rIns="0" bIns="0" anchor="b"/>
          <a:lstStyle xmlns:a="http://schemas.openxmlformats.org/drawingml/2006/main">
            <a:lvl1pPr marL="0" indent="0">
              <a:lnSpc>
                <a:spcPts val="2800"/>
              </a:lnSpc>
              <a:spcBef>
                <a:spcPts val="0"/>
              </a:spcBef>
              <a:buNone/>
              <a:defRPr sz="2400">
                <a:solidFill>
                  <a:srgbClr val="C40D1E"/>
                </a:solidFill>
                <a:latin typeface="Arial"/>
                <a:ea typeface="Arial"/>
                <a:cs typeface="Arial"/>
              </a:defRPr>
            </a:lvl1pPr>
          </a:lstStyle>
          <a:p xmlns:a="http://schemas.openxmlformats.org/drawingml/2006/main">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graphicFrame>
        <p:nvGraphicFramePr>
          <p:cNvPr id="10" name="Tabelle 3"/>
          <p:cNvGraphicFramePr/>
          <p:nvPr/>
        </p:nvGraphicFramePr>
        <p:xfrm>
          <a:off xmlns:a="http://schemas.openxmlformats.org/drawingml/2006/main" x="6096000" y="1382400"/>
          <a:ext xmlns:a="http://schemas.openxmlformats.org/drawingml/2006/main" cx="4320000" cy="3744000"/>
        </p:xfrm>
        <a:graphic xmlns:a="http://schemas.openxmlformats.org/drawingml/2006/main">
          <a:graphicData uri="http://schemas.openxmlformats.org/drawingml/2006/table">
            <a:tbl>
              <a:tblPr firstRow="1" bandRow="1">
                <a:tableStyleId>{5C22544A-7EE6-4342-B048-85BDC9FD1C3A}</a:tableStyleId>
              </a:tblPr>
              <a:tblGrid>
                <a:gridCol w="1440000"/>
                <a:gridCol w="1440000"/>
                <a:gridCol w="1440000"/>
              </a:tblGrid>
              <a:tr h="468000">
                <a:tc>
                  <a:txBody>
                    <a:bodyPr/>
                    <a:lstStyle/>
                    <a:p>
                      <a:pPr marL="0" marR="0" lvl="0" indent="0" algn="ctr" defTabSz="914400">
                        <a:lnSpc>
                          <a:spcPct val="100000"/>
                        </a:lnSpc>
                        <a:spcBef>
                          <a:spcPts val="0"/>
                        </a:spcBef>
                        <a:spcAft>
                          <a:spcPts val="0"/>
                        </a:spcAft>
                        <a:buClrTx/>
                        <a:buSzTx/>
                        <a:buFontTx/>
                        <a:buNone/>
                      </a:pPr>
                      <a:r>
                        <a:rPr sz="1800" b="1">
                          <a:solidFill>
                            <a:schemeClr val="bg1"/>
                          </a:solidFill>
                          <a:latin typeface="Arial"/>
                          <a:ea typeface="Arial"/>
                          <a:cs typeface="Arial"/>
                        </a:rPr>
                        <a:t>Arial</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algn="ctr">
                        <a:buNone/>
                      </a:pPr>
                      <a:r>
                        <a:rPr sz="1800" b="1">
                          <a:solidFill>
                            <a:schemeClr val="bg1"/>
                          </a:solidFill>
                          <a:latin typeface="Arial"/>
                          <a:ea typeface="Arial"/>
                          <a:cs typeface="Arial"/>
                        </a:rPr>
                        <a:t>Regular</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marR="0" lvl="0" indent="0" algn="ctr" defTabSz="914400">
                        <a:lnSpc>
                          <a:spcPct val="100000"/>
                        </a:lnSpc>
                        <a:spcBef>
                          <a:spcPts val="0"/>
                        </a:spcBef>
                        <a:spcAft>
                          <a:spcPts val="0"/>
                        </a:spcAft>
                        <a:buClrTx/>
                        <a:buSzTx/>
                        <a:buFontTx/>
                        <a:buNone/>
                      </a:pPr>
                      <a:r>
                        <a:rPr sz="1800" b="1" i="0" u="none" cap="none" spc="0">
                          <a:ln>
                            <a:noFill/>
                          </a:ln>
                          <a:solidFill>
                            <a:schemeClr val="bg1"/>
                          </a:solidFill>
                          <a:latin typeface="Arial"/>
                          <a:ea typeface="Arial"/>
                          <a:cs typeface="Arial"/>
                        </a:rPr>
                        <a:t>18pt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r>
            </a:tbl>
          </a:graphicData>
        </a:graphic>
      </p:graphicFrame>
      <p:sp>
        <p:nvSpPr>
          <p:cNvPr id="5" name="Textplatzhalter 2">
            <a:extLst xmlns:a="http://schemas.openxmlformats.org/drawingml/2006/main">
              <a:ext uri="{FF2B5EF4-FFF2-40B4-BE49-F238E27FC236}">
                <a16:creationId xmlns:a16="http://schemas.microsoft.com/office/drawing/2014/main" id="{91015A61-BBF3-58D4-B646-D7F07D397D47}"/>
              </a:ext>
            </a:extLst>
          </p:cNvPr>
          <p:cNvSpPr>
            <a:spLocks xmlns:a="http://schemas.openxmlformats.org/drawingml/2006/main" noGrp="1"/>
          </p:cNvSpPr>
          <p:nvPr>
            <p:ph type="body" idx="18" hasCustomPrompt="1"/>
          </p:nvPr>
        </p:nvSpPr>
        <p:spPr>
          <a:xfrm xmlns:a="http://schemas.openxmlformats.org/drawingml/2006/main">
            <a:off x="728876" y="1382206"/>
            <a:ext cx="3982945" cy="4093588"/>
          </a:xfrm>
          <a:prstGeom xmlns:a="http://schemas.openxmlformats.org/drawingml/2006/main" prst="rect">
            <a:avLst/>
          </a:prstGeom>
        </p:spPr>
        <p:txBody>
          <a:bodyPr xmlns:a="http://schemas.openxmlformats.org/drawingml/2006/main" lIns="0" tIns="0" rIns="0" bIns="0"/>
          <a:lstStyle xmlns:a="http://schemas.openxmlformats.org/drawingml/2006/main">
            <a:lvl1pPr marL="0" indent="0">
              <a:lnSpc>
                <a:spcPts val="2400"/>
              </a:lnSpc>
              <a:spcBef>
                <a:spcPts val="0"/>
              </a:spcBef>
              <a:buNone/>
              <a:defRPr sz="1800">
                <a:solidFill>
                  <a:srgbClr val="434343"/>
                </a:solidFill>
                <a:latin typeface="Arial"/>
                <a:ea typeface="Arial"/>
                <a:cs typeface="Arial"/>
              </a:defRPr>
            </a:lvl1pPr>
          </a:lstStyle>
          <a:p xmlns:a="http://schemas.openxmlformats.org/drawingml/2006/main">
            <a:pPr lvl="0">
              <a:buNone/>
              <a:defRPr>
                <a:latin typeface="Calibri"/>
                <a:ea typeface="Calibri"/>
                <a:cs typeface="Calibri"/>
              </a:defRPr>
            </a:pPr>
            <a:r>
              <a:rPr>
                <a:latin typeface="Calibri"/>
                <a:ea typeface="Calibri"/>
                <a:cs typeface="Calibri"/>
              </a:rPr>
              <a:t>Arial Regular 18pt, ZA: 24pt </a:t>
            </a:r>
            <a:br/>
            <a:r>
              <a:rPr>
                <a:latin typeface="Calibri"/>
                <a:ea typeface="Calibri"/>
                <a:cs typeface="Calibri"/>
              </a:rPr>
              <a:t>Lorem</a:t>
            </a:r>
            <a:r>
              <a:rPr>
                <a:latin typeface="Calibri"/>
                <a:ea typeface="Calibri"/>
                <a:cs typeface="Calibri"/>
              </a:rPr>
              <a:t> </a:t>
            </a:r>
            <a:r>
              <a:rPr>
                <a:latin typeface="Calibri"/>
                <a:ea typeface="Calibri"/>
                <a:cs typeface="Calibri"/>
              </a:rPr>
              <a:t>ipsum</a:t>
            </a:r>
            <a:r>
              <a:rPr>
                <a:latin typeface="Calibri"/>
                <a:ea typeface="Calibri"/>
                <a:cs typeface="Calibri"/>
              </a:rPr>
              <a:t> </a:t>
            </a:r>
            <a:r>
              <a:rPr>
                <a:latin typeface="Calibri"/>
                <a:ea typeface="Calibri"/>
                <a:cs typeface="Calibri"/>
              </a:rPr>
              <a:t>dolor</a:t>
            </a:r>
            <a:r>
              <a:rPr>
                <a:latin typeface="Calibri"/>
                <a:ea typeface="Calibri"/>
                <a:cs typeface="Calibri"/>
              </a:rPr>
              <a:t> </a:t>
            </a:r>
            <a:r>
              <a:rPr>
                <a:latin typeface="Calibri"/>
                <a:ea typeface="Calibri"/>
                <a:cs typeface="Calibri"/>
              </a:rPr>
              <a:t>sit</a:t>
            </a:r>
            <a:r>
              <a:rPr>
                <a:latin typeface="Calibri"/>
                <a:ea typeface="Calibri"/>
                <a:cs typeface="Calibri"/>
              </a:rPr>
              <a:t> </a:t>
            </a:r>
            <a:r>
              <a:rPr>
                <a:latin typeface="Calibri"/>
                <a:ea typeface="Calibri"/>
                <a:cs typeface="Calibri"/>
              </a:rPr>
              <a:t>amet</a:t>
            </a:r>
            <a:r>
              <a:rPr>
                <a:latin typeface="Calibri"/>
                <a:ea typeface="Calibri"/>
                <a:cs typeface="Calibri"/>
              </a:rPr>
              <a:t>, </a:t>
            </a:r>
            <a:r>
              <a:rPr>
                <a:latin typeface="Calibri"/>
                <a:ea typeface="Calibri"/>
                <a:cs typeface="Calibri"/>
              </a:rPr>
              <a:t>consetetur</a:t>
            </a:r>
            <a:r>
              <a:rPr>
                <a:latin typeface="Calibri"/>
                <a:ea typeface="Calibri"/>
                <a:cs typeface="Calibri"/>
              </a:rPr>
              <a:t> </a:t>
            </a:r>
            <a:r>
              <a:rPr>
                <a:latin typeface="Calibri"/>
                <a:ea typeface="Calibri"/>
                <a:cs typeface="Calibri"/>
              </a:rPr>
              <a:t>sadipscing</a:t>
            </a:r>
            <a:r>
              <a:rPr>
                <a:latin typeface="Calibri"/>
                <a:ea typeface="Calibri"/>
                <a:cs typeface="Calibri"/>
              </a:rPr>
              <a:t> </a:t>
            </a:r>
            <a:r>
              <a:rPr>
                <a:latin typeface="Calibri"/>
                <a:ea typeface="Calibri"/>
                <a:cs typeface="Calibri"/>
              </a:rPr>
              <a:t>elitr</a:t>
            </a:r>
            <a:r>
              <a:rPr>
                <a:latin typeface="Calibri"/>
                <a:ea typeface="Calibri"/>
                <a:cs typeface="Calibri"/>
              </a:rPr>
              <a:t>, sed </a:t>
            </a:r>
            <a:r>
              <a:rPr>
                <a:latin typeface="Calibri"/>
                <a:ea typeface="Calibri"/>
                <a:cs typeface="Calibri"/>
              </a:rPr>
              <a:t>diam</a:t>
            </a:r>
            <a:r>
              <a:rPr>
                <a:latin typeface="Calibri"/>
                <a:ea typeface="Calibri"/>
                <a:cs typeface="Calibri"/>
              </a:rPr>
              <a:t> </a:t>
            </a:r>
            <a:r>
              <a:rPr>
                <a:latin typeface="Calibri"/>
                <a:ea typeface="Calibri"/>
                <a:cs typeface="Calibri"/>
              </a:rPr>
              <a:t>nonumy</a:t>
            </a:r>
            <a:r>
              <a:rPr>
                <a:latin typeface="Calibri"/>
                <a:ea typeface="Calibri"/>
                <a:cs typeface="Calibri"/>
              </a:rPr>
              <a:t> </a:t>
            </a:r>
            <a:r>
              <a:rPr>
                <a:latin typeface="Calibri"/>
                <a:ea typeface="Calibri"/>
                <a:cs typeface="Calibri"/>
              </a:rPr>
              <a:t>eirmod</a:t>
            </a:r>
            <a:r>
              <a:rPr>
                <a:latin typeface="Calibri"/>
                <a:ea typeface="Calibri"/>
                <a:cs typeface="Calibri"/>
              </a:rPr>
              <a:t> </a:t>
            </a:r>
            <a:r>
              <a:rPr>
                <a:latin typeface="Calibri"/>
                <a:ea typeface="Calibri"/>
                <a:cs typeface="Calibri"/>
              </a:rPr>
              <a:t>tempor</a:t>
            </a:r>
            <a:r>
              <a:rPr>
                <a:latin typeface="Calibri"/>
                <a:ea typeface="Calibri"/>
                <a:cs typeface="Calibri"/>
              </a:rPr>
              <a:t> </a:t>
            </a:r>
            <a:r>
              <a:rPr>
                <a:latin typeface="Calibri"/>
                <a:ea typeface="Calibri"/>
                <a:cs typeface="Calibri"/>
              </a:rPr>
              <a:t>invidunt</a:t>
            </a:r>
            <a:r>
              <a:rPr>
                <a:latin typeface="Calibri"/>
                <a:ea typeface="Calibri"/>
                <a:cs typeface="Calibri"/>
              </a:rPr>
              <a:t> </a:t>
            </a:r>
            <a:r>
              <a:rPr>
                <a:latin typeface="Calibri"/>
                <a:ea typeface="Calibri"/>
                <a:cs typeface="Calibri"/>
              </a:rPr>
              <a:t>ut</a:t>
            </a:r>
            <a:r>
              <a:rPr>
                <a:latin typeface="Calibri"/>
                <a:ea typeface="Calibri"/>
                <a:cs typeface="Calibri"/>
              </a:rPr>
              <a:t> </a:t>
            </a:r>
            <a:r>
              <a:rPr>
                <a:latin typeface="Calibri"/>
                <a:ea typeface="Calibri"/>
                <a:cs typeface="Calibri"/>
              </a:rPr>
              <a:t>labore</a:t>
            </a:r>
            <a:r>
              <a:rPr>
                <a:latin typeface="Calibri"/>
                <a:ea typeface="Calibri"/>
                <a:cs typeface="Calibri"/>
              </a:rPr>
              <a:t> et </a:t>
            </a:r>
            <a:r>
              <a:rPr>
                <a:latin typeface="Calibri"/>
                <a:ea typeface="Calibri"/>
                <a:cs typeface="Calibri"/>
              </a:rPr>
              <a:t>dolore</a:t>
            </a:r>
            <a:r>
              <a:rPr>
                <a:latin typeface="Calibri"/>
                <a:ea typeface="Calibri"/>
                <a:cs typeface="Calibri"/>
              </a:rPr>
              <a:t> magna </a:t>
            </a:r>
            <a:r>
              <a:rPr>
                <a:latin typeface="Calibri"/>
                <a:ea typeface="Calibri"/>
                <a:cs typeface="Calibri"/>
              </a:rPr>
              <a:t>aliquyam</a:t>
            </a:r>
            <a:r>
              <a:rPr>
                <a:latin typeface="Calibri"/>
                <a:ea typeface="Calibri"/>
                <a:cs typeface="Calibri"/>
              </a:rPr>
              <a:t> erat, sed </a:t>
            </a:r>
            <a:r>
              <a:rPr>
                <a:latin typeface="Calibri"/>
                <a:ea typeface="Calibri"/>
                <a:cs typeface="Calibri"/>
              </a:rPr>
              <a:t>diam</a:t>
            </a:r>
            <a:r>
              <a:rPr>
                <a:latin typeface="Calibri"/>
                <a:ea typeface="Calibri"/>
                <a:cs typeface="Calibri"/>
              </a:rPr>
              <a:t> </a:t>
            </a:r>
            <a:r>
              <a:rPr>
                <a:latin typeface="Calibri"/>
                <a:ea typeface="Calibri"/>
                <a:cs typeface="Calibri"/>
              </a:rPr>
              <a:t>voluptua</a:t>
            </a:r>
            <a:r>
              <a:rPr>
                <a:latin typeface="Calibri"/>
                <a:ea typeface="Calibri"/>
                <a:cs typeface="Calibri"/>
              </a:rPr>
              <a:t>. At </a:t>
            </a:r>
            <a:r>
              <a:rPr>
                <a:latin typeface="Calibri"/>
                <a:ea typeface="Calibri"/>
                <a:cs typeface="Calibri"/>
              </a:rPr>
              <a:t>vero</a:t>
            </a:r>
            <a:r>
              <a:rPr>
                <a:latin typeface="Calibri"/>
                <a:ea typeface="Calibri"/>
                <a:cs typeface="Calibri"/>
              </a:rPr>
              <a:t> </a:t>
            </a:r>
            <a:r>
              <a:rPr>
                <a:latin typeface="Calibri"/>
                <a:ea typeface="Calibri"/>
                <a:cs typeface="Calibri"/>
              </a:rPr>
              <a:t>eos</a:t>
            </a:r>
            <a:r>
              <a:rPr>
                <a:latin typeface="Calibri"/>
                <a:ea typeface="Calibri"/>
                <a:cs typeface="Calibri"/>
              </a:rPr>
              <a:t> </a:t>
            </a:r>
            <a:r>
              <a:rPr>
                <a:latin typeface="Calibri"/>
                <a:ea typeface="Calibri"/>
                <a:cs typeface="Calibri"/>
              </a:rPr>
              <a:t>eirmod</a:t>
            </a:r>
            <a:r>
              <a:rPr>
                <a:latin typeface="Calibri"/>
                <a:ea typeface="Calibri"/>
                <a:cs typeface="Calibri"/>
              </a:rPr>
              <a:t> </a:t>
            </a:r>
            <a:r>
              <a:rPr>
                <a:latin typeface="Calibri"/>
                <a:ea typeface="Calibri"/>
                <a:cs typeface="Calibri"/>
              </a:rPr>
              <a:t>tempor</a:t>
            </a:r>
            <a:r>
              <a:rPr>
                <a:latin typeface="Calibri"/>
                <a:ea typeface="Calibri"/>
                <a:cs typeface="Calibri"/>
              </a:rPr>
              <a:t> </a:t>
            </a:r>
            <a:r>
              <a:rPr>
                <a:latin typeface="Calibri"/>
                <a:ea typeface="Calibri"/>
                <a:cs typeface="Calibri"/>
              </a:rPr>
              <a:t>invidunt</a:t>
            </a:r>
            <a:r>
              <a:rPr>
                <a:latin typeface="Calibri"/>
                <a:ea typeface="Calibri"/>
                <a:cs typeface="Calibri"/>
              </a:rPr>
              <a:t> </a:t>
            </a:r>
            <a:r>
              <a:rPr>
                <a:latin typeface="Calibri"/>
                <a:ea typeface="Calibri"/>
                <a:cs typeface="Calibri"/>
              </a:rPr>
              <a:t>ut</a:t>
            </a:r>
            <a:r>
              <a:rPr>
                <a:latin typeface="Calibri"/>
                <a:ea typeface="Calibri"/>
                <a:cs typeface="Calibri"/>
              </a:rPr>
              <a:t> </a:t>
            </a:r>
            <a:r>
              <a:rPr>
                <a:latin typeface="Calibri"/>
                <a:ea typeface="Calibri"/>
                <a:cs typeface="Calibri"/>
              </a:rPr>
              <a:t>labore</a:t>
            </a:r>
            <a:r>
              <a:rPr>
                <a:latin typeface="Calibri"/>
                <a:ea typeface="Calibri"/>
                <a:cs typeface="Calibri"/>
              </a:rPr>
              <a:t> et </a:t>
            </a:r>
            <a:r>
              <a:rPr>
                <a:latin typeface="Calibri"/>
                <a:ea typeface="Calibri"/>
                <a:cs typeface="Calibri"/>
              </a:rPr>
              <a:t>dolore</a:t>
            </a:r>
            <a:r>
              <a:rPr>
                <a:latin typeface="Calibri"/>
                <a:ea typeface="Calibri"/>
                <a:cs typeface="Calibri"/>
              </a:rPr>
              <a:t> magna </a:t>
            </a:r>
            <a:r>
              <a:rPr>
                <a:latin typeface="Calibri"/>
                <a:ea typeface="Calibri"/>
                <a:cs typeface="Calibri"/>
              </a:rPr>
              <a:t>aliquyam</a:t>
            </a:r>
            <a:r>
              <a:rPr>
                <a:latin typeface="Calibri"/>
                <a:ea typeface="Calibri"/>
                <a:cs typeface="Calibri"/>
              </a:rPr>
              <a:t> </a:t>
            </a:r>
            <a:r>
              <a:rPr>
                <a:latin typeface="Calibri"/>
                <a:ea typeface="Calibri"/>
                <a:cs typeface="Calibri"/>
              </a:rPr>
              <a:t>erat</a:t>
            </a:r>
            <a:r>
              <a:rPr>
                <a:latin typeface="Calibri"/>
                <a:ea typeface="Calibri"/>
                <a:cs typeface="Calibri"/>
              </a:rPr>
              <a:t>, </a:t>
            </a:r>
            <a:r>
              <a:rPr>
                <a:latin typeface="Calibri"/>
                <a:ea typeface="Calibri"/>
                <a:cs typeface="Calibri"/>
              </a:rPr>
              <a:t>sed</a:t>
            </a:r>
            <a:r>
              <a:rPr>
                <a:latin typeface="Calibri"/>
                <a:ea typeface="Calibri"/>
                <a:cs typeface="Calibri"/>
              </a:rPr>
              <a:t> </a:t>
            </a:r>
            <a:r>
              <a:rPr>
                <a:latin typeface="Calibri"/>
                <a:ea typeface="Calibri"/>
                <a:cs typeface="Calibri"/>
              </a:rPr>
              <a:t>diam</a:t>
            </a:r>
            <a:r>
              <a:rPr>
                <a:latin typeface="Calibri"/>
                <a:ea typeface="Calibri"/>
                <a:cs typeface="Calibri"/>
              </a:rPr>
              <a:t> </a:t>
            </a:r>
            <a:r>
              <a:rPr>
                <a:latin typeface="Calibri"/>
                <a:ea typeface="Calibri"/>
                <a:cs typeface="Calibri"/>
              </a:rPr>
              <a:t>voluptua</a:t>
            </a:r>
            <a:r>
              <a:rPr>
                <a:latin typeface="Calibri"/>
                <a:ea typeface="Calibri"/>
                <a:cs typeface="Calibri"/>
              </a:rPr>
              <a:t>. At </a:t>
            </a:r>
            <a:r>
              <a:rPr>
                <a:latin typeface="Calibri"/>
                <a:ea typeface="Calibri"/>
                <a:cs typeface="Calibri"/>
              </a:rPr>
              <a:t>vero</a:t>
            </a:r>
            <a:r>
              <a:rPr>
                <a:latin typeface="Calibri"/>
                <a:ea typeface="Calibri"/>
                <a:cs typeface="Calibri"/>
              </a:rPr>
              <a:t> </a:t>
            </a:r>
            <a:r>
              <a:rPr>
                <a:latin typeface="Calibri"/>
                <a:ea typeface="Calibri"/>
                <a:cs typeface="Calibri"/>
              </a:rPr>
              <a:t>eos</a:t>
            </a:r>
            <a:r>
              <a:rPr>
                <a:latin typeface="Calibri"/>
                <a:ea typeface="Calibri"/>
                <a:cs typeface="Calibri"/>
              </a:rPr>
              <a:t> et </a:t>
            </a:r>
            <a:r>
              <a:rPr>
                <a:latin typeface="Calibri"/>
                <a:ea typeface="Calibri"/>
                <a:cs typeface="Calibri"/>
              </a:rPr>
              <a:t>accusam</a:t>
            </a:r>
            <a:r>
              <a:rPr>
                <a:latin typeface="Calibri"/>
                <a:ea typeface="Calibri"/>
                <a:cs typeface="Calibri"/>
              </a:rPr>
              <a:t> et </a:t>
            </a:r>
            <a:r>
              <a:rPr>
                <a:latin typeface="Calibri"/>
                <a:ea typeface="Calibri"/>
                <a:cs typeface="Calibri"/>
              </a:rPr>
              <a:t>justo</a:t>
            </a:r>
            <a:r>
              <a:rPr>
                <a:latin typeface="Calibri"/>
                <a:ea typeface="Calibri"/>
                <a:cs typeface="Calibri"/>
              </a:rPr>
              <a:t> </a:t>
            </a:r>
            <a:r>
              <a:rPr>
                <a:latin typeface="Calibri"/>
                <a:ea typeface="Calibri"/>
                <a:cs typeface="Calibri"/>
              </a:rPr>
              <a:t>duo</a:t>
            </a:r>
            <a:r>
              <a:rPr>
                <a:latin typeface="Calibri"/>
                <a:ea typeface="Calibri"/>
                <a:cs typeface="Calibri"/>
              </a:rPr>
              <a:t> </a:t>
            </a:r>
            <a:r>
              <a:rPr>
                <a:latin typeface="Calibri"/>
                <a:ea typeface="Calibri"/>
                <a:cs typeface="Calibri"/>
              </a:rPr>
              <a:t>dolores</a:t>
            </a:r>
            <a:r>
              <a:rPr>
                <a:latin typeface="Calibri"/>
                <a:ea typeface="Calibri"/>
                <a:cs typeface="Calibri"/>
              </a:rPr>
              <a:t> et </a:t>
            </a:r>
            <a:r>
              <a:rPr>
                <a:latin typeface="Calibri"/>
                <a:ea typeface="Calibri"/>
                <a:cs typeface="Calibri"/>
              </a:rPr>
              <a:t>ea</a:t>
            </a:r>
            <a:r>
              <a:rPr>
                <a:latin typeface="Calibri"/>
                <a:ea typeface="Calibri"/>
                <a:cs typeface="Calibri"/>
              </a:rPr>
              <a:t> </a:t>
            </a:r>
            <a:r>
              <a:rPr>
                <a:latin typeface="Calibri"/>
                <a:ea typeface="Calibri"/>
                <a:cs typeface="Calibri"/>
              </a:rPr>
              <a:t>rebum</a:t>
            </a:r>
            <a:r>
              <a:rPr>
                <a:latin typeface="Calibri"/>
                <a:ea typeface="Calibri"/>
                <a:cs typeface="Calibri"/>
              </a:rPr>
              <a:t>. Stet </a:t>
            </a:r>
            <a:r>
              <a:rPr>
                <a:latin typeface="Calibri"/>
                <a:ea typeface="Calibri"/>
                <a:cs typeface="Calibri"/>
              </a:rPr>
              <a:t>clita</a:t>
            </a:r>
            <a:r>
              <a:rPr>
                <a:latin typeface="Calibri"/>
                <a:ea typeface="Calibri"/>
                <a:cs typeface="Calibri"/>
              </a:rPr>
              <a:t> </a:t>
            </a:r>
            <a:r>
              <a:rPr>
                <a:latin typeface="Calibri"/>
                <a:ea typeface="Calibri"/>
                <a:cs typeface="Calibri"/>
              </a:rPr>
              <a:t>kasd</a:t>
            </a:r>
            <a:r>
              <a:rPr>
                <a:latin typeface="Calibri"/>
                <a:ea typeface="Calibri"/>
                <a:cs typeface="Calibri"/>
              </a:rPr>
              <a:t> </a:t>
            </a:r>
            <a:r>
              <a:rPr>
                <a:latin typeface="Calibri"/>
                <a:ea typeface="Calibri"/>
                <a:cs typeface="Calibri"/>
              </a:rPr>
              <a:t>gubergren</a:t>
            </a:r>
            <a:r>
              <a:rPr>
                <a:latin typeface="Calibri"/>
                <a:ea typeface="Calibri"/>
                <a:cs typeface="Calibri"/>
              </a:rPr>
              <a:t>, </a:t>
            </a:r>
            <a:r>
              <a:rPr>
                <a:latin typeface="Calibri"/>
                <a:ea typeface="Calibri"/>
                <a:cs typeface="Calibri"/>
              </a:rPr>
              <a:t>no</a:t>
            </a:r>
            <a:r>
              <a:rPr>
                <a:latin typeface="Calibri"/>
                <a:ea typeface="Calibri"/>
                <a:cs typeface="Calibri"/>
              </a:rPr>
              <a:t> </a:t>
            </a:r>
            <a:r>
              <a:rPr>
                <a:latin typeface="Calibri"/>
                <a:ea typeface="Calibri"/>
                <a:cs typeface="Calibri"/>
              </a:rPr>
              <a:t>sea</a:t>
            </a:r>
            <a:r>
              <a:rPr>
                <a:latin typeface="Calibri"/>
                <a:ea typeface="Calibri"/>
                <a:cs typeface="Calibri"/>
              </a:rPr>
              <a:t> </a:t>
            </a:r>
            <a:r>
              <a:rPr>
                <a:latin typeface="Calibri"/>
                <a:ea typeface="Calibri"/>
                <a:cs typeface="Calibri"/>
              </a:rPr>
              <a:t>takimata</a:t>
            </a:r>
            <a:br/>
            <a:r>
              <a:rPr>
                <a:latin typeface="Calibri"/>
                <a:ea typeface="Calibri"/>
                <a:cs typeface="Calibri"/>
              </a:rPr>
              <a:t>sanctus </a:t>
            </a:r>
            <a:r>
              <a:rPr>
                <a:latin typeface="Calibri"/>
                <a:ea typeface="Calibri"/>
                <a:cs typeface="Calibri"/>
              </a:rPr>
              <a:t>est</a:t>
            </a:r>
            <a:r>
              <a:rPr>
                <a:latin typeface="Calibri"/>
                <a:ea typeface="Calibri"/>
                <a:cs typeface="Calibri"/>
              </a:rPr>
              <a:t> </a:t>
            </a:r>
            <a:r>
              <a:rPr>
                <a:latin typeface="Calibri"/>
                <a:ea typeface="Calibri"/>
                <a:cs typeface="Calibri"/>
              </a:rPr>
              <a:t>Lorem</a:t>
            </a:r>
            <a:r>
              <a:rPr>
                <a:latin typeface="Calibri"/>
                <a:ea typeface="Calibri"/>
                <a:cs typeface="Calibri"/>
              </a:rPr>
              <a:t> </a:t>
            </a:r>
            <a:r>
              <a:rPr>
                <a:latin typeface="Calibri"/>
                <a:ea typeface="Calibri"/>
                <a:cs typeface="Calibri"/>
              </a:rPr>
              <a:t>ipsum</a:t>
            </a:r>
            <a:r>
              <a:rPr>
                <a:latin typeface="Calibri"/>
                <a:ea typeface="Calibri"/>
                <a:cs typeface="Calibri"/>
              </a:rPr>
              <a:t> </a:t>
            </a:r>
            <a:r>
              <a:rPr>
                <a:latin typeface="Calibri"/>
                <a:ea typeface="Calibri"/>
                <a:cs typeface="Calibri"/>
              </a:rPr>
              <a:t>dolor</a:t>
            </a:r>
            <a:r>
              <a:rPr>
                <a:latin typeface="Calibri"/>
                <a:ea typeface="Calibri"/>
                <a:cs typeface="Calibri"/>
              </a:rPr>
              <a:t> </a:t>
            </a:r>
            <a:r>
              <a:rPr>
                <a:latin typeface="Calibri"/>
                <a:ea typeface="Calibri"/>
                <a:cs typeface="Calibri"/>
              </a:rPr>
              <a:t>sit</a:t>
            </a:r>
            <a:r>
              <a:rPr>
                <a:latin typeface="Calibri"/>
                <a:ea typeface="Calibri"/>
                <a:cs typeface="Calibri"/>
              </a:rPr>
              <a:t> </a:t>
            </a:r>
            <a:r>
              <a:rPr>
                <a:latin typeface="Calibri"/>
                <a:ea typeface="Calibri"/>
                <a:cs typeface="Calibri"/>
              </a:rPr>
              <a:t>amet</a:t>
            </a:r>
            <a:r>
              <a:rPr>
                <a:latin typeface="Calibri"/>
                <a:ea typeface="Calibri"/>
                <a:cs typeface="Calibri"/>
              </a:rPr>
              <a:t>. </a:t>
            </a:r>
            <a:r>
              <a:rPr>
                <a:latin typeface="Calibri"/>
                <a:ea typeface="Calibri"/>
                <a:cs typeface="Calibri"/>
              </a:rPr>
              <a:t>Lorem</a:t>
            </a:r>
            <a:r>
              <a:rPr>
                <a:latin typeface="Calibri"/>
                <a:ea typeface="Calibri"/>
                <a:cs typeface="Calibri"/>
              </a:rPr>
              <a:t> </a:t>
            </a:r>
            <a:r>
              <a:rPr>
                <a:latin typeface="Calibri"/>
                <a:ea typeface="Calibri"/>
                <a:cs typeface="Calibri"/>
              </a:rPr>
              <a:t>ipsum</a:t>
            </a:r>
            <a:endParaRPr/>
          </a:p>
        </p:txBody>
      </p:sp>
    </p:spTree>
  </p:cSld>
</p:sldLayout>
</file>

<file path=ppt/slideLayouts/slideLayout10.xml><?xml version="1.0" encoding="utf-8"?>
<p:sldLayout xmlns:p="http://schemas.openxmlformats.org/presentationml/2006/main" preserve="1" userDrawn="1">
  <p:cSld name="9_Inhalt - Bild und Stichpunkte">
    <p:spTree>
      <p:nvGrpSpPr>
        <p:cNvPr id="1" name=""/>
        <p:cNvGrpSpPr/>
        <p:nvPr/>
      </p:nvGrpSpPr>
      <p:grpSpPr>
        <a:xfrm xmlns:a="http://schemas.openxmlformats.org/drawingml/2006/main"/>
      </p:grpSpPr>
      <p:sp>
        <p:nvSpPr>
          <p:cNvPr id="7" name="Textplatzhalter 17">
            <a:extLst xmlns:a="http://schemas.openxmlformats.org/drawingml/2006/main">
              <a:ext uri="{FF2B5EF4-FFF2-40B4-BE49-F238E27FC236}">
                <a16:creationId xmlns:a16="http://schemas.microsoft.com/office/drawing/2014/main" id="{86E90AC2-BC99-614A-AF4F-584EF9915C55}"/>
              </a:ext>
            </a:extLst>
          </p:cNvPr>
          <p:cNvSpPr>
            <a:spLocks xmlns:a="http://schemas.openxmlformats.org/drawingml/2006/main" noGrp="1"/>
          </p:cNvSpPr>
          <p:nvPr>
            <p:ph type="body" idx="14" hasCustomPrompt="1"/>
          </p:nvPr>
        </p:nvSpPr>
        <p:spPr>
          <a:xfrm xmlns:a="http://schemas.openxmlformats.org/drawingml/2006/main">
            <a:off x="555867" y="396545"/>
            <a:ext cx="8311908" cy="717437"/>
          </a:xfrm>
          <a:prstGeom xmlns:a="http://schemas.openxmlformats.org/drawingml/2006/main" prst="rect">
            <a:avLst/>
          </a:prstGeom>
        </p:spPr>
        <p:txBody>
          <a:bodyPr xmlns:a="http://schemas.openxmlformats.org/drawingml/2006/main" lIns="0" tIns="0" rIns="0" bIns="0" anchor="b"/>
          <a:lstStyle xmlns:a="http://schemas.openxmlformats.org/drawingml/2006/main">
            <a:lvl1pPr marL="0" indent="0">
              <a:lnSpc>
                <a:spcPts val="2800"/>
              </a:lnSpc>
              <a:spcBef>
                <a:spcPts val="0"/>
              </a:spcBef>
              <a:buNone/>
              <a:defRPr sz="2400">
                <a:solidFill>
                  <a:srgbClr val="C40D1E"/>
                </a:solidFill>
                <a:latin typeface="Arial"/>
                <a:ea typeface="Arial"/>
                <a:cs typeface="Arial"/>
              </a:defRPr>
            </a:lvl1pPr>
          </a:lstStyle>
          <a:p xmlns:a="http://schemas.openxmlformats.org/drawingml/2006/main">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graphicFrame>
        <p:nvGraphicFramePr>
          <p:cNvPr id="11" name="Tabelle 3"/>
          <p:cNvGraphicFramePr/>
          <p:nvPr/>
        </p:nvGraphicFramePr>
        <p:xfrm>
          <a:off xmlns:a="http://schemas.openxmlformats.org/drawingml/2006/main" x="555867" y="1382400"/>
          <a:ext xmlns:a="http://schemas.openxmlformats.org/drawingml/2006/main" cx="4320000" cy="3744000"/>
        </p:xfrm>
        <a:graphic xmlns:a="http://schemas.openxmlformats.org/drawingml/2006/main">
          <a:graphicData uri="http://schemas.openxmlformats.org/drawingml/2006/table">
            <a:tbl>
              <a:tblPr firstRow="1" bandRow="1">
                <a:tableStyleId>{5C22544A-7EE6-4342-B048-85BDC9FD1C3A}</a:tableStyleId>
              </a:tblPr>
              <a:tblGrid>
                <a:gridCol w="1440000"/>
                <a:gridCol w="1440000"/>
                <a:gridCol w="1440000"/>
              </a:tblGrid>
              <a:tr h="468000">
                <a:tc>
                  <a:txBody>
                    <a:bodyPr/>
                    <a:lstStyle/>
                    <a:p>
                      <a:pPr marL="0" marR="0" lvl="0" indent="0" algn="ctr" defTabSz="914400">
                        <a:lnSpc>
                          <a:spcPct val="100000"/>
                        </a:lnSpc>
                        <a:spcBef>
                          <a:spcPts val="0"/>
                        </a:spcBef>
                        <a:spcAft>
                          <a:spcPts val="0"/>
                        </a:spcAft>
                        <a:buClrTx/>
                        <a:buSzTx/>
                        <a:buFontTx/>
                        <a:buNone/>
                      </a:pPr>
                      <a:r>
                        <a:rPr sz="1800" b="1">
                          <a:solidFill>
                            <a:schemeClr val="bg1"/>
                          </a:solidFill>
                          <a:latin typeface="Arial"/>
                          <a:ea typeface="Arial"/>
                          <a:cs typeface="Arial"/>
                        </a:rPr>
                        <a:t>Arial</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algn="ctr">
                        <a:buNone/>
                      </a:pPr>
                      <a:r>
                        <a:rPr sz="1800" b="1">
                          <a:solidFill>
                            <a:schemeClr val="bg1"/>
                          </a:solidFill>
                          <a:latin typeface="Arial"/>
                          <a:ea typeface="Arial"/>
                          <a:cs typeface="Arial"/>
                        </a:rPr>
                        <a:t>Regular</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marR="0" lvl="0" indent="0" algn="ctr" defTabSz="914400">
                        <a:lnSpc>
                          <a:spcPct val="100000"/>
                        </a:lnSpc>
                        <a:spcBef>
                          <a:spcPts val="0"/>
                        </a:spcBef>
                        <a:spcAft>
                          <a:spcPts val="0"/>
                        </a:spcAft>
                        <a:buClrTx/>
                        <a:buSzTx/>
                        <a:buFontTx/>
                        <a:buNone/>
                      </a:pPr>
                      <a:r>
                        <a:rPr sz="1800" b="1" i="0" u="none" cap="none" spc="0">
                          <a:ln>
                            <a:noFill/>
                          </a:ln>
                          <a:solidFill>
                            <a:schemeClr val="bg1"/>
                          </a:solidFill>
                          <a:latin typeface="Arial"/>
                          <a:ea typeface="Arial"/>
                          <a:cs typeface="Arial"/>
                        </a:rPr>
                        <a:t>18pt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r>
            </a:tbl>
          </a:graphicData>
        </a:graphic>
      </p:graphicFrame>
      <p:sp>
        <p:nvSpPr>
          <p:cNvPr id="8" name="Textplatzhalter 2">
            <a:extLst xmlns:a="http://schemas.openxmlformats.org/drawingml/2006/main">
              <a:ext uri="{FF2B5EF4-FFF2-40B4-BE49-F238E27FC236}">
                <a16:creationId xmlns:a16="http://schemas.microsoft.com/office/drawing/2014/main" id="{BA52B688-20A1-8CFE-428A-BC897BDC4948}"/>
              </a:ext>
            </a:extLst>
          </p:cNvPr>
          <p:cNvSpPr>
            <a:spLocks xmlns:a="http://schemas.openxmlformats.org/drawingml/2006/main" noGrp="1"/>
          </p:cNvSpPr>
          <p:nvPr>
            <p:ph type="body" idx="18" hasCustomPrompt="1"/>
          </p:nvPr>
        </p:nvSpPr>
        <p:spPr>
          <a:xfrm xmlns:a="http://schemas.openxmlformats.org/drawingml/2006/main">
            <a:off x="6096000" y="1409939"/>
            <a:ext cx="3982945" cy="4093588"/>
          </a:xfrm>
          <a:prstGeom xmlns:a="http://schemas.openxmlformats.org/drawingml/2006/main" prst="rect">
            <a:avLst/>
          </a:prstGeom>
        </p:spPr>
        <p:txBody>
          <a:bodyPr xmlns:a="http://schemas.openxmlformats.org/drawingml/2006/main" lIns="0" tIns="0" rIns="0" bIns="0"/>
          <a:lstStyle xmlns:a="http://schemas.openxmlformats.org/drawingml/2006/main">
            <a:lvl1pPr marL="0" indent="0">
              <a:lnSpc>
                <a:spcPts val="2400"/>
              </a:lnSpc>
              <a:spcBef>
                <a:spcPts val="0"/>
              </a:spcBef>
              <a:buNone/>
              <a:defRPr sz="1800">
                <a:solidFill>
                  <a:srgbClr val="434343"/>
                </a:solidFill>
                <a:latin typeface="Arial"/>
                <a:ea typeface="Arial"/>
                <a:cs typeface="Arial"/>
              </a:defRPr>
            </a:lvl1pPr>
          </a:lstStyle>
          <a:p xmlns:a="http://schemas.openxmlformats.org/drawingml/2006/main">
            <a:pPr lvl="0">
              <a:buNone/>
              <a:defRPr>
                <a:latin typeface="Calibri"/>
                <a:ea typeface="Calibri"/>
                <a:cs typeface="Calibri"/>
              </a:defRPr>
            </a:pPr>
            <a:r>
              <a:rPr>
                <a:latin typeface="Calibri"/>
                <a:ea typeface="Calibri"/>
                <a:cs typeface="Calibri"/>
              </a:rPr>
              <a:t>Arial Regular 18pt, ZA: 24pt </a:t>
            </a:r>
            <a:br/>
            <a:r>
              <a:rPr>
                <a:latin typeface="Calibri"/>
                <a:ea typeface="Calibri"/>
                <a:cs typeface="Calibri"/>
              </a:rPr>
              <a:t>Lorem</a:t>
            </a:r>
            <a:r>
              <a:rPr>
                <a:latin typeface="Calibri"/>
                <a:ea typeface="Calibri"/>
                <a:cs typeface="Calibri"/>
              </a:rPr>
              <a:t> </a:t>
            </a:r>
            <a:r>
              <a:rPr>
                <a:latin typeface="Calibri"/>
                <a:ea typeface="Calibri"/>
                <a:cs typeface="Calibri"/>
              </a:rPr>
              <a:t>ipsum</a:t>
            </a:r>
            <a:r>
              <a:rPr>
                <a:latin typeface="Calibri"/>
                <a:ea typeface="Calibri"/>
                <a:cs typeface="Calibri"/>
              </a:rPr>
              <a:t> </a:t>
            </a:r>
            <a:r>
              <a:rPr>
                <a:latin typeface="Calibri"/>
                <a:ea typeface="Calibri"/>
                <a:cs typeface="Calibri"/>
              </a:rPr>
              <a:t>dolor</a:t>
            </a:r>
            <a:r>
              <a:rPr>
                <a:latin typeface="Calibri"/>
                <a:ea typeface="Calibri"/>
                <a:cs typeface="Calibri"/>
              </a:rPr>
              <a:t> </a:t>
            </a:r>
            <a:r>
              <a:rPr>
                <a:latin typeface="Calibri"/>
                <a:ea typeface="Calibri"/>
                <a:cs typeface="Calibri"/>
              </a:rPr>
              <a:t>sit</a:t>
            </a:r>
            <a:r>
              <a:rPr>
                <a:latin typeface="Calibri"/>
                <a:ea typeface="Calibri"/>
                <a:cs typeface="Calibri"/>
              </a:rPr>
              <a:t> </a:t>
            </a:r>
            <a:r>
              <a:rPr>
                <a:latin typeface="Calibri"/>
                <a:ea typeface="Calibri"/>
                <a:cs typeface="Calibri"/>
              </a:rPr>
              <a:t>amet</a:t>
            </a:r>
            <a:r>
              <a:rPr>
                <a:latin typeface="Calibri"/>
                <a:ea typeface="Calibri"/>
                <a:cs typeface="Calibri"/>
              </a:rPr>
              <a:t>, </a:t>
            </a:r>
            <a:r>
              <a:rPr>
                <a:latin typeface="Calibri"/>
                <a:ea typeface="Calibri"/>
                <a:cs typeface="Calibri"/>
              </a:rPr>
              <a:t>consetetur</a:t>
            </a:r>
            <a:r>
              <a:rPr>
                <a:latin typeface="Calibri"/>
                <a:ea typeface="Calibri"/>
                <a:cs typeface="Calibri"/>
              </a:rPr>
              <a:t> </a:t>
            </a:r>
            <a:r>
              <a:rPr>
                <a:latin typeface="Calibri"/>
                <a:ea typeface="Calibri"/>
                <a:cs typeface="Calibri"/>
              </a:rPr>
              <a:t>sadipscing</a:t>
            </a:r>
            <a:r>
              <a:rPr>
                <a:latin typeface="Calibri"/>
                <a:ea typeface="Calibri"/>
                <a:cs typeface="Calibri"/>
              </a:rPr>
              <a:t> </a:t>
            </a:r>
            <a:r>
              <a:rPr>
                <a:latin typeface="Calibri"/>
                <a:ea typeface="Calibri"/>
                <a:cs typeface="Calibri"/>
              </a:rPr>
              <a:t>elitr</a:t>
            </a:r>
            <a:r>
              <a:rPr>
                <a:latin typeface="Calibri"/>
                <a:ea typeface="Calibri"/>
                <a:cs typeface="Calibri"/>
              </a:rPr>
              <a:t>, sed </a:t>
            </a:r>
            <a:r>
              <a:rPr>
                <a:latin typeface="Calibri"/>
                <a:ea typeface="Calibri"/>
                <a:cs typeface="Calibri"/>
              </a:rPr>
              <a:t>diam</a:t>
            </a:r>
            <a:r>
              <a:rPr>
                <a:latin typeface="Calibri"/>
                <a:ea typeface="Calibri"/>
                <a:cs typeface="Calibri"/>
              </a:rPr>
              <a:t> </a:t>
            </a:r>
            <a:r>
              <a:rPr>
                <a:latin typeface="Calibri"/>
                <a:ea typeface="Calibri"/>
                <a:cs typeface="Calibri"/>
              </a:rPr>
              <a:t>nonumy</a:t>
            </a:r>
            <a:r>
              <a:rPr>
                <a:latin typeface="Calibri"/>
                <a:ea typeface="Calibri"/>
                <a:cs typeface="Calibri"/>
              </a:rPr>
              <a:t> </a:t>
            </a:r>
            <a:r>
              <a:rPr>
                <a:latin typeface="Calibri"/>
                <a:ea typeface="Calibri"/>
                <a:cs typeface="Calibri"/>
              </a:rPr>
              <a:t>eirmod</a:t>
            </a:r>
            <a:r>
              <a:rPr>
                <a:latin typeface="Calibri"/>
                <a:ea typeface="Calibri"/>
                <a:cs typeface="Calibri"/>
              </a:rPr>
              <a:t> </a:t>
            </a:r>
            <a:r>
              <a:rPr>
                <a:latin typeface="Calibri"/>
                <a:ea typeface="Calibri"/>
                <a:cs typeface="Calibri"/>
              </a:rPr>
              <a:t>tempor</a:t>
            </a:r>
            <a:r>
              <a:rPr>
                <a:latin typeface="Calibri"/>
                <a:ea typeface="Calibri"/>
                <a:cs typeface="Calibri"/>
              </a:rPr>
              <a:t> </a:t>
            </a:r>
            <a:r>
              <a:rPr>
                <a:latin typeface="Calibri"/>
                <a:ea typeface="Calibri"/>
                <a:cs typeface="Calibri"/>
              </a:rPr>
              <a:t>invidunt</a:t>
            </a:r>
            <a:r>
              <a:rPr>
                <a:latin typeface="Calibri"/>
                <a:ea typeface="Calibri"/>
                <a:cs typeface="Calibri"/>
              </a:rPr>
              <a:t> </a:t>
            </a:r>
            <a:r>
              <a:rPr>
                <a:latin typeface="Calibri"/>
                <a:ea typeface="Calibri"/>
                <a:cs typeface="Calibri"/>
              </a:rPr>
              <a:t>ut</a:t>
            </a:r>
            <a:r>
              <a:rPr>
                <a:latin typeface="Calibri"/>
                <a:ea typeface="Calibri"/>
                <a:cs typeface="Calibri"/>
              </a:rPr>
              <a:t> </a:t>
            </a:r>
            <a:r>
              <a:rPr>
                <a:latin typeface="Calibri"/>
                <a:ea typeface="Calibri"/>
                <a:cs typeface="Calibri"/>
              </a:rPr>
              <a:t>labore</a:t>
            </a:r>
            <a:r>
              <a:rPr>
                <a:latin typeface="Calibri"/>
                <a:ea typeface="Calibri"/>
                <a:cs typeface="Calibri"/>
              </a:rPr>
              <a:t> et </a:t>
            </a:r>
            <a:r>
              <a:rPr>
                <a:latin typeface="Calibri"/>
                <a:ea typeface="Calibri"/>
                <a:cs typeface="Calibri"/>
              </a:rPr>
              <a:t>dolore</a:t>
            </a:r>
            <a:r>
              <a:rPr>
                <a:latin typeface="Calibri"/>
                <a:ea typeface="Calibri"/>
                <a:cs typeface="Calibri"/>
              </a:rPr>
              <a:t> magna </a:t>
            </a:r>
            <a:r>
              <a:rPr>
                <a:latin typeface="Calibri"/>
                <a:ea typeface="Calibri"/>
                <a:cs typeface="Calibri"/>
              </a:rPr>
              <a:t>aliquyam</a:t>
            </a:r>
            <a:r>
              <a:rPr>
                <a:latin typeface="Calibri"/>
                <a:ea typeface="Calibri"/>
                <a:cs typeface="Calibri"/>
              </a:rPr>
              <a:t> erat, sed </a:t>
            </a:r>
            <a:r>
              <a:rPr>
                <a:latin typeface="Calibri"/>
                <a:ea typeface="Calibri"/>
                <a:cs typeface="Calibri"/>
              </a:rPr>
              <a:t>diam</a:t>
            </a:r>
            <a:r>
              <a:rPr>
                <a:latin typeface="Calibri"/>
                <a:ea typeface="Calibri"/>
                <a:cs typeface="Calibri"/>
              </a:rPr>
              <a:t> </a:t>
            </a:r>
            <a:r>
              <a:rPr>
                <a:latin typeface="Calibri"/>
                <a:ea typeface="Calibri"/>
                <a:cs typeface="Calibri"/>
              </a:rPr>
              <a:t>voluptua</a:t>
            </a:r>
            <a:r>
              <a:rPr>
                <a:latin typeface="Calibri"/>
                <a:ea typeface="Calibri"/>
                <a:cs typeface="Calibri"/>
              </a:rPr>
              <a:t>. At </a:t>
            </a:r>
            <a:r>
              <a:rPr>
                <a:latin typeface="Calibri"/>
                <a:ea typeface="Calibri"/>
                <a:cs typeface="Calibri"/>
              </a:rPr>
              <a:t>vero</a:t>
            </a:r>
            <a:r>
              <a:rPr>
                <a:latin typeface="Calibri"/>
                <a:ea typeface="Calibri"/>
                <a:cs typeface="Calibri"/>
              </a:rPr>
              <a:t> </a:t>
            </a:r>
            <a:r>
              <a:rPr>
                <a:latin typeface="Calibri"/>
                <a:ea typeface="Calibri"/>
                <a:cs typeface="Calibri"/>
              </a:rPr>
              <a:t>eos</a:t>
            </a:r>
            <a:r>
              <a:rPr>
                <a:latin typeface="Calibri"/>
                <a:ea typeface="Calibri"/>
                <a:cs typeface="Calibri"/>
              </a:rPr>
              <a:t> </a:t>
            </a:r>
            <a:r>
              <a:rPr>
                <a:latin typeface="Calibri"/>
                <a:ea typeface="Calibri"/>
                <a:cs typeface="Calibri"/>
              </a:rPr>
              <a:t>eirmod</a:t>
            </a:r>
            <a:r>
              <a:rPr>
                <a:latin typeface="Calibri"/>
                <a:ea typeface="Calibri"/>
                <a:cs typeface="Calibri"/>
              </a:rPr>
              <a:t> </a:t>
            </a:r>
            <a:r>
              <a:rPr>
                <a:latin typeface="Calibri"/>
                <a:ea typeface="Calibri"/>
                <a:cs typeface="Calibri"/>
              </a:rPr>
              <a:t>tempor</a:t>
            </a:r>
            <a:r>
              <a:rPr>
                <a:latin typeface="Calibri"/>
                <a:ea typeface="Calibri"/>
                <a:cs typeface="Calibri"/>
              </a:rPr>
              <a:t> </a:t>
            </a:r>
            <a:r>
              <a:rPr>
                <a:latin typeface="Calibri"/>
                <a:ea typeface="Calibri"/>
                <a:cs typeface="Calibri"/>
              </a:rPr>
              <a:t>invidunt</a:t>
            </a:r>
            <a:r>
              <a:rPr>
                <a:latin typeface="Calibri"/>
                <a:ea typeface="Calibri"/>
                <a:cs typeface="Calibri"/>
              </a:rPr>
              <a:t> </a:t>
            </a:r>
            <a:r>
              <a:rPr>
                <a:latin typeface="Calibri"/>
                <a:ea typeface="Calibri"/>
                <a:cs typeface="Calibri"/>
              </a:rPr>
              <a:t>ut</a:t>
            </a:r>
            <a:r>
              <a:rPr>
                <a:latin typeface="Calibri"/>
                <a:ea typeface="Calibri"/>
                <a:cs typeface="Calibri"/>
              </a:rPr>
              <a:t> </a:t>
            </a:r>
            <a:r>
              <a:rPr>
                <a:latin typeface="Calibri"/>
                <a:ea typeface="Calibri"/>
                <a:cs typeface="Calibri"/>
              </a:rPr>
              <a:t>labore</a:t>
            </a:r>
            <a:r>
              <a:rPr>
                <a:latin typeface="Calibri"/>
                <a:ea typeface="Calibri"/>
                <a:cs typeface="Calibri"/>
              </a:rPr>
              <a:t> et </a:t>
            </a:r>
            <a:r>
              <a:rPr>
                <a:latin typeface="Calibri"/>
                <a:ea typeface="Calibri"/>
                <a:cs typeface="Calibri"/>
              </a:rPr>
              <a:t>dolore</a:t>
            </a:r>
            <a:r>
              <a:rPr>
                <a:latin typeface="Calibri"/>
                <a:ea typeface="Calibri"/>
                <a:cs typeface="Calibri"/>
              </a:rPr>
              <a:t> magna </a:t>
            </a:r>
            <a:r>
              <a:rPr>
                <a:latin typeface="Calibri"/>
                <a:ea typeface="Calibri"/>
                <a:cs typeface="Calibri"/>
              </a:rPr>
              <a:t>aliquyam</a:t>
            </a:r>
            <a:r>
              <a:rPr>
                <a:latin typeface="Calibri"/>
                <a:ea typeface="Calibri"/>
                <a:cs typeface="Calibri"/>
              </a:rPr>
              <a:t> </a:t>
            </a:r>
            <a:r>
              <a:rPr>
                <a:latin typeface="Calibri"/>
                <a:ea typeface="Calibri"/>
                <a:cs typeface="Calibri"/>
              </a:rPr>
              <a:t>erat</a:t>
            </a:r>
            <a:r>
              <a:rPr>
                <a:latin typeface="Calibri"/>
                <a:ea typeface="Calibri"/>
                <a:cs typeface="Calibri"/>
              </a:rPr>
              <a:t>, </a:t>
            </a:r>
            <a:r>
              <a:rPr>
                <a:latin typeface="Calibri"/>
                <a:ea typeface="Calibri"/>
                <a:cs typeface="Calibri"/>
              </a:rPr>
              <a:t>sed</a:t>
            </a:r>
            <a:r>
              <a:rPr>
                <a:latin typeface="Calibri"/>
                <a:ea typeface="Calibri"/>
                <a:cs typeface="Calibri"/>
              </a:rPr>
              <a:t> </a:t>
            </a:r>
            <a:r>
              <a:rPr>
                <a:latin typeface="Calibri"/>
                <a:ea typeface="Calibri"/>
                <a:cs typeface="Calibri"/>
              </a:rPr>
              <a:t>diam</a:t>
            </a:r>
            <a:r>
              <a:rPr>
                <a:latin typeface="Calibri"/>
                <a:ea typeface="Calibri"/>
                <a:cs typeface="Calibri"/>
              </a:rPr>
              <a:t> </a:t>
            </a:r>
            <a:r>
              <a:rPr>
                <a:latin typeface="Calibri"/>
                <a:ea typeface="Calibri"/>
                <a:cs typeface="Calibri"/>
              </a:rPr>
              <a:t>voluptua</a:t>
            </a:r>
            <a:r>
              <a:rPr>
                <a:latin typeface="Calibri"/>
                <a:ea typeface="Calibri"/>
                <a:cs typeface="Calibri"/>
              </a:rPr>
              <a:t>. At </a:t>
            </a:r>
            <a:r>
              <a:rPr>
                <a:latin typeface="Calibri"/>
                <a:ea typeface="Calibri"/>
                <a:cs typeface="Calibri"/>
              </a:rPr>
              <a:t>vero</a:t>
            </a:r>
            <a:r>
              <a:rPr>
                <a:latin typeface="Calibri"/>
                <a:ea typeface="Calibri"/>
                <a:cs typeface="Calibri"/>
              </a:rPr>
              <a:t> </a:t>
            </a:r>
            <a:r>
              <a:rPr>
                <a:latin typeface="Calibri"/>
                <a:ea typeface="Calibri"/>
                <a:cs typeface="Calibri"/>
              </a:rPr>
              <a:t>eos</a:t>
            </a:r>
            <a:r>
              <a:rPr>
                <a:latin typeface="Calibri"/>
                <a:ea typeface="Calibri"/>
                <a:cs typeface="Calibri"/>
              </a:rPr>
              <a:t> et </a:t>
            </a:r>
            <a:r>
              <a:rPr>
                <a:latin typeface="Calibri"/>
                <a:ea typeface="Calibri"/>
                <a:cs typeface="Calibri"/>
              </a:rPr>
              <a:t>accusam</a:t>
            </a:r>
            <a:r>
              <a:rPr>
                <a:latin typeface="Calibri"/>
                <a:ea typeface="Calibri"/>
                <a:cs typeface="Calibri"/>
              </a:rPr>
              <a:t> et </a:t>
            </a:r>
            <a:r>
              <a:rPr>
                <a:latin typeface="Calibri"/>
                <a:ea typeface="Calibri"/>
                <a:cs typeface="Calibri"/>
              </a:rPr>
              <a:t>justo</a:t>
            </a:r>
            <a:r>
              <a:rPr>
                <a:latin typeface="Calibri"/>
                <a:ea typeface="Calibri"/>
                <a:cs typeface="Calibri"/>
              </a:rPr>
              <a:t> </a:t>
            </a:r>
            <a:r>
              <a:rPr>
                <a:latin typeface="Calibri"/>
                <a:ea typeface="Calibri"/>
                <a:cs typeface="Calibri"/>
              </a:rPr>
              <a:t>duo</a:t>
            </a:r>
            <a:r>
              <a:rPr>
                <a:latin typeface="Calibri"/>
                <a:ea typeface="Calibri"/>
                <a:cs typeface="Calibri"/>
              </a:rPr>
              <a:t> </a:t>
            </a:r>
            <a:r>
              <a:rPr>
                <a:latin typeface="Calibri"/>
                <a:ea typeface="Calibri"/>
                <a:cs typeface="Calibri"/>
              </a:rPr>
              <a:t>dolores</a:t>
            </a:r>
            <a:r>
              <a:rPr>
                <a:latin typeface="Calibri"/>
                <a:ea typeface="Calibri"/>
                <a:cs typeface="Calibri"/>
              </a:rPr>
              <a:t> et </a:t>
            </a:r>
            <a:r>
              <a:rPr>
                <a:latin typeface="Calibri"/>
                <a:ea typeface="Calibri"/>
                <a:cs typeface="Calibri"/>
              </a:rPr>
              <a:t>ea</a:t>
            </a:r>
            <a:r>
              <a:rPr>
                <a:latin typeface="Calibri"/>
                <a:ea typeface="Calibri"/>
                <a:cs typeface="Calibri"/>
              </a:rPr>
              <a:t> </a:t>
            </a:r>
            <a:r>
              <a:rPr>
                <a:latin typeface="Calibri"/>
                <a:ea typeface="Calibri"/>
                <a:cs typeface="Calibri"/>
              </a:rPr>
              <a:t>rebum</a:t>
            </a:r>
            <a:r>
              <a:rPr>
                <a:latin typeface="Calibri"/>
                <a:ea typeface="Calibri"/>
                <a:cs typeface="Calibri"/>
              </a:rPr>
              <a:t>. Stet </a:t>
            </a:r>
            <a:r>
              <a:rPr>
                <a:latin typeface="Calibri"/>
                <a:ea typeface="Calibri"/>
                <a:cs typeface="Calibri"/>
              </a:rPr>
              <a:t>clita</a:t>
            </a:r>
            <a:r>
              <a:rPr>
                <a:latin typeface="Calibri"/>
                <a:ea typeface="Calibri"/>
                <a:cs typeface="Calibri"/>
              </a:rPr>
              <a:t> </a:t>
            </a:r>
            <a:r>
              <a:rPr>
                <a:latin typeface="Calibri"/>
                <a:ea typeface="Calibri"/>
                <a:cs typeface="Calibri"/>
              </a:rPr>
              <a:t>kasd</a:t>
            </a:r>
            <a:r>
              <a:rPr>
                <a:latin typeface="Calibri"/>
                <a:ea typeface="Calibri"/>
                <a:cs typeface="Calibri"/>
              </a:rPr>
              <a:t> </a:t>
            </a:r>
            <a:r>
              <a:rPr>
                <a:latin typeface="Calibri"/>
                <a:ea typeface="Calibri"/>
                <a:cs typeface="Calibri"/>
              </a:rPr>
              <a:t>gubergren</a:t>
            </a:r>
            <a:r>
              <a:rPr>
                <a:latin typeface="Calibri"/>
                <a:ea typeface="Calibri"/>
                <a:cs typeface="Calibri"/>
              </a:rPr>
              <a:t>, </a:t>
            </a:r>
            <a:r>
              <a:rPr>
                <a:latin typeface="Calibri"/>
                <a:ea typeface="Calibri"/>
                <a:cs typeface="Calibri"/>
              </a:rPr>
              <a:t>no</a:t>
            </a:r>
            <a:r>
              <a:rPr>
                <a:latin typeface="Calibri"/>
                <a:ea typeface="Calibri"/>
                <a:cs typeface="Calibri"/>
              </a:rPr>
              <a:t> </a:t>
            </a:r>
            <a:r>
              <a:rPr>
                <a:latin typeface="Calibri"/>
                <a:ea typeface="Calibri"/>
                <a:cs typeface="Calibri"/>
              </a:rPr>
              <a:t>sea</a:t>
            </a:r>
            <a:r>
              <a:rPr>
                <a:latin typeface="Calibri"/>
                <a:ea typeface="Calibri"/>
                <a:cs typeface="Calibri"/>
              </a:rPr>
              <a:t> </a:t>
            </a:r>
            <a:r>
              <a:rPr>
                <a:latin typeface="Calibri"/>
                <a:ea typeface="Calibri"/>
                <a:cs typeface="Calibri"/>
              </a:rPr>
              <a:t>takimata</a:t>
            </a:r>
            <a:br/>
            <a:r>
              <a:rPr>
                <a:latin typeface="Calibri"/>
                <a:ea typeface="Calibri"/>
                <a:cs typeface="Calibri"/>
              </a:rPr>
              <a:t>sanctus </a:t>
            </a:r>
            <a:r>
              <a:rPr>
                <a:latin typeface="Calibri"/>
                <a:ea typeface="Calibri"/>
                <a:cs typeface="Calibri"/>
              </a:rPr>
              <a:t>est</a:t>
            </a:r>
            <a:r>
              <a:rPr>
                <a:latin typeface="Calibri"/>
                <a:ea typeface="Calibri"/>
                <a:cs typeface="Calibri"/>
              </a:rPr>
              <a:t> </a:t>
            </a:r>
            <a:r>
              <a:rPr>
                <a:latin typeface="Calibri"/>
                <a:ea typeface="Calibri"/>
                <a:cs typeface="Calibri"/>
              </a:rPr>
              <a:t>Lorem</a:t>
            </a:r>
            <a:r>
              <a:rPr>
                <a:latin typeface="Calibri"/>
                <a:ea typeface="Calibri"/>
                <a:cs typeface="Calibri"/>
              </a:rPr>
              <a:t> </a:t>
            </a:r>
            <a:r>
              <a:rPr>
                <a:latin typeface="Calibri"/>
                <a:ea typeface="Calibri"/>
                <a:cs typeface="Calibri"/>
              </a:rPr>
              <a:t>ipsum</a:t>
            </a:r>
            <a:r>
              <a:rPr>
                <a:latin typeface="Calibri"/>
                <a:ea typeface="Calibri"/>
                <a:cs typeface="Calibri"/>
              </a:rPr>
              <a:t> </a:t>
            </a:r>
            <a:r>
              <a:rPr>
                <a:latin typeface="Calibri"/>
                <a:ea typeface="Calibri"/>
                <a:cs typeface="Calibri"/>
              </a:rPr>
              <a:t>dolor</a:t>
            </a:r>
            <a:r>
              <a:rPr>
                <a:latin typeface="Calibri"/>
                <a:ea typeface="Calibri"/>
                <a:cs typeface="Calibri"/>
              </a:rPr>
              <a:t> </a:t>
            </a:r>
            <a:r>
              <a:rPr>
                <a:latin typeface="Calibri"/>
                <a:ea typeface="Calibri"/>
                <a:cs typeface="Calibri"/>
              </a:rPr>
              <a:t>sit</a:t>
            </a:r>
            <a:r>
              <a:rPr>
                <a:latin typeface="Calibri"/>
                <a:ea typeface="Calibri"/>
                <a:cs typeface="Calibri"/>
              </a:rPr>
              <a:t> </a:t>
            </a:r>
            <a:r>
              <a:rPr>
                <a:latin typeface="Calibri"/>
                <a:ea typeface="Calibri"/>
                <a:cs typeface="Calibri"/>
              </a:rPr>
              <a:t>amet</a:t>
            </a:r>
            <a:r>
              <a:rPr>
                <a:latin typeface="Calibri"/>
                <a:ea typeface="Calibri"/>
                <a:cs typeface="Calibri"/>
              </a:rPr>
              <a:t>. </a:t>
            </a:r>
            <a:r>
              <a:rPr>
                <a:latin typeface="Calibri"/>
                <a:ea typeface="Calibri"/>
                <a:cs typeface="Calibri"/>
              </a:rPr>
              <a:t>Lorem</a:t>
            </a:r>
            <a:r>
              <a:rPr>
                <a:latin typeface="Calibri"/>
                <a:ea typeface="Calibri"/>
                <a:cs typeface="Calibri"/>
              </a:rPr>
              <a:t> </a:t>
            </a:r>
            <a:r>
              <a:rPr>
                <a:latin typeface="Calibri"/>
                <a:ea typeface="Calibri"/>
                <a:cs typeface="Calibri"/>
              </a:rPr>
              <a:t>ipsum</a:t>
            </a:r>
            <a:endParaRPr/>
          </a:p>
        </p:txBody>
      </p:sp>
    </p:spTree>
  </p:cSld>
</p:sldLayout>
</file>

<file path=ppt/slideLayouts/slideLayout11.xml><?xml version="1.0" encoding="utf-8"?>
<p:sldLayout xmlns:p="http://schemas.openxmlformats.org/presentationml/2006/main" userDrawn="1">
  <p:cSld name="1_Titel - Text und Bild">
    <p:spTree>
      <p:nvGrpSpPr>
        <p:cNvPr id="1" name=""/>
        <p:cNvGrpSpPr/>
        <p:nvPr/>
      </p:nvGrpSpPr>
      <p:grpSpPr>
        <a:xfrm xmlns:a="http://schemas.openxmlformats.org/drawingml/2006/main"/>
      </p:grpSpPr>
      <p:sp>
        <p:nvSpPr>
          <p:cNvPr id="3" name="Bildplatzhalter 23">
            <a:extLst xmlns:a="http://schemas.openxmlformats.org/drawingml/2006/main">
              <a:ext uri="{FF2B5EF4-FFF2-40B4-BE49-F238E27FC236}">
                <a16:creationId xmlns:a16="http://schemas.microsoft.com/office/drawing/2014/main" id="{9A036687-F2BF-7B4C-A352-6E1D355D125D}"/>
              </a:ext>
            </a:extLst>
          </p:cNvPr>
          <p:cNvSpPr>
            <a:spLocks xmlns:a="http://schemas.openxmlformats.org/drawingml/2006/main" noGrp="1"/>
          </p:cNvSpPr>
          <p:nvPr>
            <p:ph type="pic" idx="17" hasCustomPrompt="1"/>
          </p:nvPr>
        </p:nvSpPr>
        <p:spPr>
          <a:xfrm xmlns:a="http://schemas.openxmlformats.org/drawingml/2006/main">
            <a:off x="-14400" y="1260572"/>
            <a:ext cx="8885359" cy="3273604"/>
          </a:xfrm>
          <a:custGeom xmlns:a="http://schemas.openxmlformats.org/drawingml/2006/main">
            <a:gdLst>
              <a:gd name="connsiteX0" fmla="*/ 0 w 8328660"/>
              <a:gd name="connsiteY0" fmla="*/ 0 h 3143274"/>
              <a:gd name="connsiteX1" fmla="*/ 8328660 w 8328660"/>
              <a:gd name="connsiteY1" fmla="*/ 0 h 3143274"/>
              <a:gd name="connsiteX2" fmla="*/ 8328660 w 8328660"/>
              <a:gd name="connsiteY2" fmla="*/ 3143274 h 3143274"/>
              <a:gd name="connsiteX3" fmla="*/ 0 w 8328660"/>
              <a:gd name="connsiteY3" fmla="*/ 3143274 h 3143274"/>
              <a:gd name="connsiteX4" fmla="*/ 0 w 8328660"/>
              <a:gd name="connsiteY4" fmla="*/ 0 h 3143274"/>
              <a:gd name="connsiteX0" fmla="*/ 0 w 8336280"/>
              <a:gd name="connsiteY0" fmla="*/ 601980 h 3745254"/>
              <a:gd name="connsiteX1" fmla="*/ 8336280 w 8336280"/>
              <a:gd name="connsiteY1" fmla="*/ 0 h 3745254"/>
              <a:gd name="connsiteX2" fmla="*/ 8328660 w 8336280"/>
              <a:gd name="connsiteY2" fmla="*/ 3745254 h 3745254"/>
              <a:gd name="connsiteX3" fmla="*/ 0 w 8336280"/>
              <a:gd name="connsiteY3" fmla="*/ 3745254 h 3745254"/>
              <a:gd name="connsiteX4" fmla="*/ 0 w 8336280"/>
              <a:gd name="connsiteY4" fmla="*/ 601980 h 3745254"/>
              <a:gd name="connsiteX0" fmla="*/ 0 w 8336280"/>
              <a:gd name="connsiteY0" fmla="*/ 601980 h 3745254"/>
              <a:gd name="connsiteX1" fmla="*/ 8336280 w 8336280"/>
              <a:gd name="connsiteY1" fmla="*/ 0 h 3745254"/>
              <a:gd name="connsiteX2" fmla="*/ 8321040 w 8336280"/>
              <a:gd name="connsiteY2" fmla="*/ 3242334 h 3745254"/>
              <a:gd name="connsiteX3" fmla="*/ 0 w 8336280"/>
              <a:gd name="connsiteY3" fmla="*/ 3745254 h 3745254"/>
              <a:gd name="connsiteX4" fmla="*/ 0 w 8336280"/>
              <a:gd name="connsiteY4" fmla="*/ 601980 h 3745254"/>
              <a:gd name="connsiteX0" fmla="*/ 0 w 8336280"/>
              <a:gd name="connsiteY0" fmla="*/ 286029 h 3429303"/>
              <a:gd name="connsiteX1" fmla="*/ 8336280 w 8336280"/>
              <a:gd name="connsiteY1" fmla="*/ 0 h 3429303"/>
              <a:gd name="connsiteX2" fmla="*/ 8321040 w 8336280"/>
              <a:gd name="connsiteY2" fmla="*/ 2926383 h 3429303"/>
              <a:gd name="connsiteX3" fmla="*/ 0 w 8336280"/>
              <a:gd name="connsiteY3" fmla="*/ 3429303 h 3429303"/>
              <a:gd name="connsiteX4" fmla="*/ 0 w 8336280"/>
              <a:gd name="connsiteY4" fmla="*/ 286029 h 3429303"/>
              <a:gd name="connsiteX0" fmla="*/ 0 w 8339997"/>
              <a:gd name="connsiteY0" fmla="*/ 312049 h 3429303"/>
              <a:gd name="connsiteX1" fmla="*/ 8339997 w 8339997"/>
              <a:gd name="connsiteY1" fmla="*/ 0 h 3429303"/>
              <a:gd name="connsiteX2" fmla="*/ 8324757 w 8339997"/>
              <a:gd name="connsiteY2" fmla="*/ 2926383 h 3429303"/>
              <a:gd name="connsiteX3" fmla="*/ 3717 w 8339997"/>
              <a:gd name="connsiteY3" fmla="*/ 3429303 h 3429303"/>
              <a:gd name="connsiteX4" fmla="*/ 0 w 8339997"/>
              <a:gd name="connsiteY4" fmla="*/ 312049 h 3429303"/>
              <a:gd name="connsiteX0" fmla="*/ 0 w 8343172"/>
              <a:gd name="connsiteY0" fmla="*/ 305699 h 3429303"/>
              <a:gd name="connsiteX1" fmla="*/ 8343172 w 8343172"/>
              <a:gd name="connsiteY1" fmla="*/ 0 h 3429303"/>
              <a:gd name="connsiteX2" fmla="*/ 8327932 w 8343172"/>
              <a:gd name="connsiteY2" fmla="*/ 2926383 h 3429303"/>
              <a:gd name="connsiteX3" fmla="*/ 6892 w 8343172"/>
              <a:gd name="connsiteY3" fmla="*/ 3429303 h 3429303"/>
              <a:gd name="connsiteX4" fmla="*/ 0 w 8343172"/>
              <a:gd name="connsiteY4" fmla="*/ 305699 h 3429303"/>
              <a:gd name="connsiteX0" fmla="*/ 0 w 8349522"/>
              <a:gd name="connsiteY0" fmla="*/ 30887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8874 h 3429303"/>
              <a:gd name="connsiteX0" fmla="*/ 0 w 8352697"/>
              <a:gd name="connsiteY0" fmla="*/ 312049 h 3429303"/>
              <a:gd name="connsiteX1" fmla="*/ 8352697 w 8352697"/>
              <a:gd name="connsiteY1" fmla="*/ 0 h 3429303"/>
              <a:gd name="connsiteX2" fmla="*/ 8337457 w 8352697"/>
              <a:gd name="connsiteY2" fmla="*/ 2926383 h 3429303"/>
              <a:gd name="connsiteX3" fmla="*/ 16417 w 8352697"/>
              <a:gd name="connsiteY3" fmla="*/ 3429303 h 3429303"/>
              <a:gd name="connsiteX4" fmla="*/ 0 w 8352697"/>
              <a:gd name="connsiteY4" fmla="*/ 312049 h 3429303"/>
              <a:gd name="connsiteX0" fmla="*/ 0 w 8349522"/>
              <a:gd name="connsiteY0" fmla="*/ 30252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2524 h 3429303"/>
              <a:gd name="connsiteX0" fmla="*/ 0 w 8349522"/>
              <a:gd name="connsiteY0" fmla="*/ 302524 h 3226103"/>
              <a:gd name="connsiteX1" fmla="*/ 8349522 w 8349522"/>
              <a:gd name="connsiteY1" fmla="*/ 0 h 3226103"/>
              <a:gd name="connsiteX2" fmla="*/ 8334282 w 8349522"/>
              <a:gd name="connsiteY2" fmla="*/ 2926383 h 3226103"/>
              <a:gd name="connsiteX3" fmla="*/ 13242 w 8349522"/>
              <a:gd name="connsiteY3" fmla="*/ 3226103 h 3226103"/>
              <a:gd name="connsiteX4" fmla="*/ 0 w 8349522"/>
              <a:gd name="connsiteY4" fmla="*/ 302524 h 3226103"/>
              <a:gd name="connsiteX0" fmla="*/ 0 w 8883911"/>
              <a:gd name="connsiteY0" fmla="*/ 326274 h 3226103"/>
              <a:gd name="connsiteX1" fmla="*/ 8883911 w 8883911"/>
              <a:gd name="connsiteY1" fmla="*/ 0 h 3226103"/>
              <a:gd name="connsiteX2" fmla="*/ 8868671 w 8883911"/>
              <a:gd name="connsiteY2" fmla="*/ 2926383 h 3226103"/>
              <a:gd name="connsiteX3" fmla="*/ 547631 w 8883911"/>
              <a:gd name="connsiteY3" fmla="*/ 3226103 h 3226103"/>
              <a:gd name="connsiteX4" fmla="*/ 0 w 8883911"/>
              <a:gd name="connsiteY4" fmla="*/ 326274 h 3226103"/>
              <a:gd name="connsiteX0" fmla="*/ 0 w 8872036"/>
              <a:gd name="connsiteY0" fmla="*/ 326274 h 3226103"/>
              <a:gd name="connsiteX1" fmla="*/ 8872036 w 8872036"/>
              <a:gd name="connsiteY1" fmla="*/ 0 h 3226103"/>
              <a:gd name="connsiteX2" fmla="*/ 8856796 w 8872036"/>
              <a:gd name="connsiteY2" fmla="*/ 2926383 h 3226103"/>
              <a:gd name="connsiteX3" fmla="*/ 535756 w 8872036"/>
              <a:gd name="connsiteY3" fmla="*/ 3226103 h 3226103"/>
              <a:gd name="connsiteX4" fmla="*/ 0 w 8872036"/>
              <a:gd name="connsiteY4" fmla="*/ 326274 h 3226103"/>
              <a:gd name="connsiteX0" fmla="*/ 34357 w 8906393"/>
              <a:gd name="connsiteY0" fmla="*/ 326274 h 3273604"/>
              <a:gd name="connsiteX1" fmla="*/ 8906393 w 8906393"/>
              <a:gd name="connsiteY1" fmla="*/ 0 h 3273604"/>
              <a:gd name="connsiteX2" fmla="*/ 8891153 w 8906393"/>
              <a:gd name="connsiteY2" fmla="*/ 2926383 h 3273604"/>
              <a:gd name="connsiteX3" fmla="*/ 98 w 8906393"/>
              <a:gd name="connsiteY3" fmla="*/ 3273604 h 3273604"/>
              <a:gd name="connsiteX4" fmla="*/ 34357 w 8906393"/>
              <a:gd name="connsiteY4" fmla="*/ 326274 h 3273604"/>
              <a:gd name="connsiteX0" fmla="*/ 0 w 8907662"/>
              <a:gd name="connsiteY0" fmla="*/ 338149 h 3273604"/>
              <a:gd name="connsiteX1" fmla="*/ 8907662 w 8907662"/>
              <a:gd name="connsiteY1" fmla="*/ 0 h 3273604"/>
              <a:gd name="connsiteX2" fmla="*/ 8892422 w 8907662"/>
              <a:gd name="connsiteY2" fmla="*/ 2926383 h 3273604"/>
              <a:gd name="connsiteX3" fmla="*/ 1367 w 8907662"/>
              <a:gd name="connsiteY3" fmla="*/ 3273604 h 3273604"/>
              <a:gd name="connsiteX4" fmla="*/ 0 w 8907662"/>
              <a:gd name="connsiteY4" fmla="*/ 338149 h 3273604"/>
              <a:gd name="connsiteX0" fmla="*/ 0 w 8907662"/>
              <a:gd name="connsiteY0" fmla="*/ 338149 h 3273604"/>
              <a:gd name="connsiteX1" fmla="*/ 8907662 w 8907662"/>
              <a:gd name="connsiteY1" fmla="*/ 0 h 3273604"/>
              <a:gd name="connsiteX2" fmla="*/ 8892422 w 8907662"/>
              <a:gd name="connsiteY2" fmla="*/ 2926383 h 3273604"/>
              <a:gd name="connsiteX3" fmla="*/ 32591 w 8907662"/>
              <a:gd name="connsiteY3" fmla="*/ 3273604 h 3273604"/>
              <a:gd name="connsiteX4" fmla="*/ 0 w 8907662"/>
              <a:gd name="connsiteY4" fmla="*/ 338149 h 3273604"/>
              <a:gd name="connsiteX0" fmla="*/ 0 w 8885359"/>
              <a:gd name="connsiteY0" fmla="*/ 338149 h 3273604"/>
              <a:gd name="connsiteX1" fmla="*/ 8885359 w 8885359"/>
              <a:gd name="connsiteY1" fmla="*/ 0 h 3273604"/>
              <a:gd name="connsiteX2" fmla="*/ 8870119 w 8885359"/>
              <a:gd name="connsiteY2" fmla="*/ 2926383 h 3273604"/>
              <a:gd name="connsiteX3" fmla="*/ 10288 w 8885359"/>
              <a:gd name="connsiteY3" fmla="*/ 3273604 h 3273604"/>
              <a:gd name="connsiteX4" fmla="*/ 0 w 8885359"/>
              <a:gd name="connsiteY4" fmla="*/ 338149 h 3273604"/>
            </a:gdLst>
            <a:rect l="l" t="t" r="r" b="b"/>
            <a:pathLst>
              <a:path w="8885359" h="3273604">
                <a:moveTo>
                  <a:pt x="0" y="338149"/>
                </a:moveTo>
                <a:lnTo>
                  <a:pt x="8885359" y="0"/>
                </a:lnTo>
                <a:lnTo>
                  <a:pt x="8870119" y="2926383"/>
                </a:lnTo>
                <a:lnTo>
                  <a:pt x="10288" y="3273604"/>
                </a:lnTo>
                <a:cubicBezTo>
                  <a:pt x="7991" y="2232403"/>
                  <a:pt x="2297" y="1379350"/>
                  <a:pt x="0" y="338149"/>
                </a:cubicBezTo>
                <a:close/>
              </a:path>
            </a:pathLst>
          </a:custGeom>
          <a:solidFill xmlns:a="http://schemas.openxmlformats.org/drawingml/2006/main">
            <a:srgbClr val="434343"/>
          </a:solidFill>
        </p:spPr>
        <p:txBody>
          <a:bodyPr xmlns:a="http://schemas.openxmlformats.org/drawingml/2006/main" lIns="576000" anchor="ctr"/>
          <a:lstStyle xmlns:a="http://schemas.openxmlformats.org/drawingml/2006/main">
            <a:lvl1pPr marL="0" indent="0" algn="ctr">
              <a:buNone/>
              <a:defRPr>
                <a:solidFill>
                  <a:schemeClr val="bg1"/>
                </a:solidFill>
                <a:latin typeface="Arial"/>
                <a:ea typeface="Arial"/>
                <a:cs typeface="Arial"/>
              </a:defRPr>
            </a:lvl1pPr>
          </a:lstStyle>
          <a:p xmlns:a="http://schemas.openxmlformats.org/drawingml/2006/main">
            <a:pPr>
              <a:buNone/>
              <a:defRPr>
                <a:latin typeface="Calibri"/>
                <a:ea typeface="Calibri"/>
                <a:cs typeface="Calibri"/>
              </a:defRPr>
            </a:pPr>
            <a:r>
              <a:rPr>
                <a:latin typeface="Calibri"/>
                <a:ea typeface="Calibri"/>
                <a:cs typeface="Calibri"/>
              </a:rPr>
              <a:t>Platzhalter: Bild Titelfolie</a:t>
            </a:r>
          </a:p>
        </p:txBody>
      </p:sp>
    </p:spTree>
  </p:cSld>
</p:sldLayout>
</file>

<file path=ppt/slideLayouts/slideLayout12.xml><?xml version="1.0" encoding="utf-8"?>
<p:sldLayout xmlns:p="http://schemas.openxmlformats.org/presentationml/2006/main" type="blank" preserve="1">
  <p:cSld name="Leer">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d9301e06175648ea" /><Relationship Type="http://schemas.openxmlformats.org/officeDocument/2006/relationships/image" Target="/ppt/media/image2.png" Id="R37892822c5a24caa" /><Relationship Type="http://schemas.openxmlformats.org/officeDocument/2006/relationships/theme" Target="/ppt/slideMasters/theme/theme2.xml" Id="Rd18e709db75641c2" /><Relationship Type="http://schemas.openxmlformats.org/officeDocument/2006/relationships/slideLayout" Target="/ppt/slideLayouts/slideLayout1.xml" Id="Rd7ec32865196445f" /><Relationship Type="http://schemas.openxmlformats.org/officeDocument/2006/relationships/slideLayout" Target="/ppt/slideLayouts/slideLayout2.xml" Id="Rbc0ca1d84eff44a0" /><Relationship Type="http://schemas.openxmlformats.org/officeDocument/2006/relationships/slideLayout" Target="/ppt/slideLayouts/slideLayout3.xml" Id="Rf5e780eaf733491c" /><Relationship Type="http://schemas.openxmlformats.org/officeDocument/2006/relationships/slideLayout" Target="/ppt/slideLayouts/slideLayout4.xml" Id="R7def3af16c004340" /><Relationship Type="http://schemas.openxmlformats.org/officeDocument/2006/relationships/slideLayout" Target="/ppt/slideLayouts/slideLayout5.xml" Id="R9be8eece316d4474" /><Relationship Type="http://schemas.openxmlformats.org/officeDocument/2006/relationships/slideLayout" Target="/ppt/slideLayouts/slideLayout6.xml" Id="R793a014f531c49dd" /><Relationship Type="http://schemas.openxmlformats.org/officeDocument/2006/relationships/slideLayout" Target="/ppt/slideLayouts/slideLayout7.xml" Id="Rbc4872a537c1435b" /><Relationship Type="http://schemas.openxmlformats.org/officeDocument/2006/relationships/slideLayout" Target="/ppt/slideLayouts/slideLayout8.xml" Id="R6ccf9d6e1168407b" /><Relationship Type="http://schemas.openxmlformats.org/officeDocument/2006/relationships/slideLayout" Target="/ppt/slideLayouts/slideLayout9.xml" Id="Rcd790b4e0447462c" /><Relationship Type="http://schemas.openxmlformats.org/officeDocument/2006/relationships/slideLayout" Target="/ppt/slideLayouts/slideLayout10.xml" Id="R66d586c0140b48f9" /><Relationship Type="http://schemas.openxmlformats.org/officeDocument/2006/relationships/slideLayout" Target="/ppt/slideLayouts/slideLayout11.xml" Id="R7ccd6de02f614e60" /><Relationship Type="http://schemas.openxmlformats.org/officeDocument/2006/relationships/slideLayout" Target="/ppt/slideLayouts/slideLayout12.xml" Id="Ra36655b9ba8441d7"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7" name="Rechteck 1">
            <a:extLst xmlns:a="http://schemas.openxmlformats.org/drawingml/2006/main">
              <a:ext uri="{FF2B5EF4-FFF2-40B4-BE49-F238E27FC236}">
                <a16:creationId xmlns:a16="http://schemas.microsoft.com/office/drawing/2014/main" id="{48266648-C51B-EA45-AE41-AF74B0A4657C}"/>
              </a:ext>
            </a:extLst>
          </p:cNvPr>
          <p:cNvSpPr>
            <a:spLocks xmlns:a="http://schemas.openxmlformats.org/drawingml/2006/main" noGrp="1"/>
          </p:cNvSpPr>
          <p:nvPr/>
        </p:nvSpPr>
        <p:spPr>
          <a:xfrm xmlns:a="http://schemas.openxmlformats.org/drawingml/2006/main">
            <a:off x="0" y="5842000"/>
            <a:ext cx="12195175" cy="1015999"/>
          </a:xfrm>
          <a:custGeom xmlns:a="http://schemas.openxmlformats.org/drawingml/2006/main">
            <a:gdLst>
              <a:gd name="connsiteX0" fmla="*/ 0 w 12192000"/>
              <a:gd name="connsiteY0" fmla="*/ 0 h 687600"/>
              <a:gd name="connsiteX1" fmla="*/ 12192000 w 12192000"/>
              <a:gd name="connsiteY1" fmla="*/ 0 h 687600"/>
              <a:gd name="connsiteX2" fmla="*/ 12192000 w 12192000"/>
              <a:gd name="connsiteY2" fmla="*/ 687600 h 687600"/>
              <a:gd name="connsiteX3" fmla="*/ 0 w 12192000"/>
              <a:gd name="connsiteY3" fmla="*/ 687600 h 687600"/>
              <a:gd name="connsiteX4" fmla="*/ 0 w 12192000"/>
              <a:gd name="connsiteY4" fmla="*/ 0 h 687600"/>
              <a:gd name="connsiteX0" fmla="*/ 0 w 12195175"/>
              <a:gd name="connsiteY0" fmla="*/ 422275 h 1109875"/>
              <a:gd name="connsiteX1" fmla="*/ 12195175 w 12195175"/>
              <a:gd name="connsiteY1" fmla="*/ 0 h 1109875"/>
              <a:gd name="connsiteX2" fmla="*/ 12192000 w 12195175"/>
              <a:gd name="connsiteY2" fmla="*/ 1109875 h 1109875"/>
              <a:gd name="connsiteX3" fmla="*/ 0 w 12195175"/>
              <a:gd name="connsiteY3" fmla="*/ 1109875 h 1109875"/>
              <a:gd name="connsiteX4" fmla="*/ 0 w 12195175"/>
              <a:gd name="connsiteY4" fmla="*/ 422275 h 1109875"/>
            </a:gdLst>
            <a:rect l="l" t="t" r="r" b="b"/>
            <a:pathLst>
              <a:path w="12195175" h="1109875">
                <a:moveTo>
                  <a:pt x="0" y="422275"/>
                </a:moveTo>
                <a:lnTo>
                  <a:pt x="12195175" y="0"/>
                </a:lnTo>
                <a:cubicBezTo>
                  <a:pt x="12194117" y="369958"/>
                  <a:pt x="12193058" y="739917"/>
                  <a:pt x="12192000" y="1109875"/>
                </a:cubicBezTo>
                <a:lnTo>
                  <a:pt x="0" y="1109875"/>
                </a:lnTo>
                <a:lnTo>
                  <a:pt x="0" y="422275"/>
                </a:lnTo>
                <a:close/>
              </a:path>
            </a:pathLst>
          </a:custGeom>
          <a:solidFill xmlns:a="http://schemas.openxmlformats.org/drawingml/2006/main">
            <a:srgbClr val="C40D1E"/>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1" name="Grafik 8"/>
          <p:cNvPicPr>
            <a:picLocks xmlns:a="http://schemas.openxmlformats.org/drawingml/2006/main" noChangeAspect="1"/>
          </p:cNvPicPr>
          <p:nvPr/>
        </p:nvPicPr>
        <p:blipFill>
          <a:blip xmlns:r="http://schemas.openxmlformats.org/officeDocument/2006/relationships" xmlns:a="http://schemas.openxmlformats.org/drawingml/2006/main" r:embed="Rd9301e06175648ea"/>
          <a:stretch xmlns:a="http://schemas.openxmlformats.org/drawingml/2006/main">
            <a:fillRect l="0" t="0" r="0" b="0"/>
          </a:stretch>
        </p:blipFill>
        <p:spPr>
          <a:xfrm xmlns:a="http://schemas.openxmlformats.org/drawingml/2006/main">
            <a:off x="10617548" y="5980251"/>
            <a:ext cx="1001450" cy="617762"/>
          </a:xfrm>
          <a:prstGeom xmlns:a="http://schemas.openxmlformats.org/drawingml/2006/main" prst="rect">
            <a:avLst/>
          </a:prstGeom>
        </p:spPr>
      </p:pic>
      <p:pic>
        <p:nvPicPr>
          <p:cNvPr id="12" name="V5_TU_Logo"/>
          <p:cNvPicPr>
            <a:picLocks xmlns:a="http://schemas.openxmlformats.org/drawingml/2006/main" noChangeAspect="1"/>
          </p:cNvPicPr>
          <p:nvPr/>
        </p:nvPicPr>
        <p:blipFill>
          <a:blip xmlns:r="http://schemas.openxmlformats.org/officeDocument/2006/relationships" xmlns:a="http://schemas.openxmlformats.org/drawingml/2006/main" r:embed="R37892822c5a24caa"/>
          <a:stretch xmlns:a="http://schemas.openxmlformats.org/drawingml/2006/main">
            <a:fillRect l="0" t="0" r="0" b="0"/>
          </a:stretch>
        </p:blipFill>
        <p:spPr>
          <a:xfrm xmlns:a="http://schemas.openxmlformats.org/drawingml/2006/main">
            <a:off x="10614598" y="378000"/>
            <a:ext cx="1004400" cy="766068"/>
          </a:xfrm>
          <a:prstGeom xmlns:a="http://schemas.openxmlformats.org/drawingml/2006/main" prst="rect">
            <a:avLst/>
          </a:prstGeom>
        </p:spPr>
      </p:pic>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7ec32865196445f"/>
    <p:sldLayoutId xmlns:r="http://schemas.openxmlformats.org/officeDocument/2006/relationships" id="2147483650" r:id="Rbc0ca1d84eff44a0"/>
    <p:sldLayoutId xmlns:r="http://schemas.openxmlformats.org/officeDocument/2006/relationships" id="2147483651" r:id="Rf5e780eaf733491c"/>
    <p:sldLayoutId xmlns:r="http://schemas.openxmlformats.org/officeDocument/2006/relationships" id="2147483652" r:id="R7def3af16c004340"/>
    <p:sldLayoutId xmlns:r="http://schemas.openxmlformats.org/officeDocument/2006/relationships" id="2147483653" r:id="R9be8eece316d4474"/>
    <p:sldLayoutId xmlns:r="http://schemas.openxmlformats.org/officeDocument/2006/relationships" id="2147483654" r:id="R793a014f531c49dd"/>
    <p:sldLayoutId xmlns:r="http://schemas.openxmlformats.org/officeDocument/2006/relationships" id="2147483655" r:id="Rbc4872a537c1435b"/>
    <p:sldLayoutId xmlns:r="http://schemas.openxmlformats.org/officeDocument/2006/relationships" id="2147483656" r:id="R6ccf9d6e1168407b"/>
    <p:sldLayoutId xmlns:r="http://schemas.openxmlformats.org/officeDocument/2006/relationships" id="2147483657" r:id="Rcd790b4e0447462c"/>
    <p:sldLayoutId xmlns:r="http://schemas.openxmlformats.org/officeDocument/2006/relationships" id="2147483658" r:id="R66d586c0140b48f9"/>
    <p:sldLayoutId xmlns:r="http://schemas.openxmlformats.org/officeDocument/2006/relationships" id="2147483659" r:id="R7ccd6de02f614e60"/>
    <p:sldLayoutId xmlns:r="http://schemas.openxmlformats.org/officeDocument/2006/relationships" id="2147483660" r:id="Ra36655b9ba8441d7"/>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Master für Folgeseiten">
  <a:themeElements>
    <a:clrScheme name="TU Berlin ">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U Berlin ">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1.xml" Id="R5feced8a122e4802" /><Relationship Type="http://schemas.openxmlformats.org/officeDocument/2006/relationships/image" Target="/ppt/media/image3.png" Id="R60b3ed9766864966" /><Relationship Type="http://schemas.openxmlformats.org/officeDocument/2006/relationships/notesSlide" Target="/ppt/notesSlides/notesSlide1.xml" Id="R1df46a7056464dd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eeb0b3254dc41d0" /><Relationship Type="http://schemas.openxmlformats.org/officeDocument/2006/relationships/image" Target="/ppt/media/image2.png" Id="R8fd66e2a215d4782" /><Relationship Type="http://schemas.openxmlformats.org/officeDocument/2006/relationships/image" Target="/ppt/media/image4.png" Id="R4403433f8207457d" /><Relationship Type="http://schemas.openxmlformats.org/officeDocument/2006/relationships/notesSlide" Target="/ppt/notesSlides/notesSlide2.xml" Id="Re7d6891b80844e5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a8a945eb7ca4c89" /><Relationship Type="http://schemas.openxmlformats.org/officeDocument/2006/relationships/image" Target="/ppt/media/image5.png" Id="R70c81249bf324cdc" /><Relationship Type="http://schemas.openxmlformats.org/officeDocument/2006/relationships/image" Target="/ppt/media/image2.png" Id="R8506ecdc0c914bc0" /><Relationship Type="http://schemas.openxmlformats.org/officeDocument/2006/relationships/notesSlide" Target="/ppt/notesSlides/notesSlide3.xml" Id="R29096390c8c5499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7ed564d2f754532" /><Relationship Type="http://schemas.openxmlformats.org/officeDocument/2006/relationships/image" Target="/ppt/media/image6.png" Id="Re4fbe1f7c3904904" /><Relationship Type="http://schemas.openxmlformats.org/officeDocument/2006/relationships/notesSlide" Target="/ppt/notesSlides/notesSlide4.xml" Id="Rc88d151cc6614b0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5ada1530bf04cbd" /><Relationship Type="http://schemas.openxmlformats.org/officeDocument/2006/relationships/image" Target="/ppt/media/image7.png" Id="R8e78729a58db46d8" /><Relationship Type="http://schemas.openxmlformats.org/officeDocument/2006/relationships/notesSlide" Target="/ppt/notesSlides/notesSlide5.xml" Id="R7aee6e3a3877459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a945a50f79a4ecf" /><Relationship Type="http://schemas.openxmlformats.org/officeDocument/2006/relationships/image" Target="/ppt/media/image8.png" Id="Rdd075d120829441f" /><Relationship Type="http://schemas.openxmlformats.org/officeDocument/2006/relationships/notesSlide" Target="/ppt/notesSlides/notesSlide6.xml" Id="Rac9c2e0ce83942d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b46eac20ca94817" /><Relationship Type="http://schemas.openxmlformats.org/officeDocument/2006/relationships/image" Target="/ppt/media/image9.png" Id="R52c0d9efdaad4afd" /><Relationship Type="http://schemas.openxmlformats.org/officeDocument/2006/relationships/image" Target="/ppt/media/image2.png" Id="Ra310d266306746a9" /><Relationship Type="http://schemas.openxmlformats.org/officeDocument/2006/relationships/notesSlide" Target="/ppt/notesSlides/notesSlide7.xml" Id="Rcbe2fc24d1bb420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86cbefaa7054318" /><Relationship Type="http://schemas.openxmlformats.org/officeDocument/2006/relationships/image" Target="/ppt/media/image10.png" Id="R4715103e67524ad7" /><Relationship Type="http://schemas.openxmlformats.org/officeDocument/2006/relationships/image" Target="/ppt/media/image2.png" Id="R21ef08124e924c68" /><Relationship Type="http://schemas.openxmlformats.org/officeDocument/2006/relationships/notesSlide" Target="/ppt/notesSlides/notesSlide8.xml" Id="Rbd1542f1122447a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2ef4a8956fc4132" /><Relationship Type="http://schemas.openxmlformats.org/officeDocument/2006/relationships/image" Target="/ppt/media/image11.png" Id="R29a5a57ce9c5420c" /><Relationship Type="http://schemas.openxmlformats.org/officeDocument/2006/relationships/notesSlide" Target="/ppt/notesSlides/notesSlide9.xml" Id="R95eea55d50b44d0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a14e84e0db6478f" /><Relationship Type="http://schemas.openxmlformats.org/officeDocument/2006/relationships/image" Target="/ppt/media/image12.png" Id="Ra01c5fb0c7d84578" /><Relationship Type="http://schemas.openxmlformats.org/officeDocument/2006/relationships/notesSlide" Target="/ppt/notesSlides/notesSlide10.xml" Id="R3abc3c6a19e2416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88d480af6584623" /><Relationship Type="http://schemas.openxmlformats.org/officeDocument/2006/relationships/image" Target="/ppt/media/image13.png" Id="R15e3ba4cc17e4850" /><Relationship Type="http://schemas.openxmlformats.org/officeDocument/2006/relationships/notesSlide" Target="/ppt/notesSlides/notesSlide11.xml" Id="R5dc60f3beced406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10140f8c6bd40bf" /><Relationship Type="http://schemas.openxmlformats.org/officeDocument/2006/relationships/image" Target="/ppt/media/image14.png" Id="R697cd1b36d9143db" /><Relationship Type="http://schemas.openxmlformats.org/officeDocument/2006/relationships/notesSlide" Target="/ppt/notesSlides/notesSlide12.xml" Id="R41aff71621d34b7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6eab10d9bab47a2" /><Relationship Type="http://schemas.openxmlformats.org/officeDocument/2006/relationships/image" Target="/ppt/media/image15.png" Id="R3aa138dd8e904757" /><Relationship Type="http://schemas.openxmlformats.org/officeDocument/2006/relationships/image" Target="/ppt/media/image2.png" Id="R7dd8e87a4fe34835" /><Relationship Type="http://schemas.openxmlformats.org/officeDocument/2006/relationships/notesSlide" Target="/ppt/notesSlides/notesSlide13.xml" Id="R79ad32e733914bda" /></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11dd79439df04a61"/><Relationship Type="http://schemas.openxmlformats.org/officeDocument/2006/relationships/image" Target="/ppt/media/image18.png" Id="R64d54ef6c4744a63"/><Relationship Type="http://schemas.openxmlformats.org/officeDocument/2006/relationships/notesSlide" Target="/ppt/notesSlides/notesSlide14.xml" Id="R776dfce2acc449b8"/></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11dd79439df04a61"/><Relationship Type="http://schemas.openxmlformats.org/officeDocument/2006/relationships/image" Target="/ppt/media/image18.png" Id="R64d54ef6c4744a63"/><Relationship Type="http://schemas.openxmlformats.org/officeDocument/2006/relationships/notesSlide" Target="/ppt/notesSlides/notesSlide15.xml" Id="R776dfce2acc449b8"/></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11dd79439df04a61"/><Relationship Type="http://schemas.openxmlformats.org/officeDocument/2006/relationships/image" Target="/ppt/media/image18.png" Id="R64d54ef6c4744a63"/><Relationship Type="http://schemas.openxmlformats.org/officeDocument/2006/relationships/notesSlide" Target="/ppt/notesSlides/notesSlide16.xml" Id="R776dfce2acc449b8"/></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da66d09539bb449c"/><Relationship Type="http://schemas.openxmlformats.org/officeDocument/2006/relationships/image" Target="/ppt/media/image19.png" Id="R679b00789be2486e"/><Relationship Type="http://schemas.openxmlformats.org/officeDocument/2006/relationships/notesSlide" Target="/ppt/notesSlides/notesSlide17.xml" Id="R44ca5832c62746e5"/></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be69f7727674a0c" /><Relationship Type="http://schemas.openxmlformats.org/officeDocument/2006/relationships/image" Target="/ppt/media/image20.png" Id="R13f82d374d2c4014" /><Relationship Type="http://schemas.openxmlformats.org/officeDocument/2006/relationships/notesSlide" Target="/ppt/notesSlides/notesSlide18.xml" Id="Rcfd7b4a9996e46a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07dee6b6fed4e17" /><Relationship Type="http://schemas.openxmlformats.org/officeDocument/2006/relationships/image" Target="/ppt/media/image21.png" Id="Rc1c51ce5a9664552" /><Relationship Type="http://schemas.openxmlformats.org/officeDocument/2006/relationships/notesSlide" Target="/ppt/notesSlides/notesSlide19.xml" Id="R42acb0e096114dd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c8f2c7e0d1946ab" /><Relationship Type="http://schemas.openxmlformats.org/officeDocument/2006/relationships/image" Target="/ppt/media/image22.png" Id="R3e9cc3e503a243e4" /><Relationship Type="http://schemas.openxmlformats.org/officeDocument/2006/relationships/notesSlide" Target="/ppt/notesSlides/notesSlide20.xml" Id="R01044573ba6d4a3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bf486748f1540c2" /><Relationship Type="http://schemas.openxmlformats.org/officeDocument/2006/relationships/image" Target="/ppt/media/image23.png" Id="Rfde14a23e29f479f" /><Relationship Type="http://schemas.openxmlformats.org/officeDocument/2006/relationships/notesSlide" Target="/ppt/notesSlides/notesSlide21.xml" Id="R0e7ac6a61169460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850010f617a4f2e" /><Relationship Type="http://schemas.openxmlformats.org/officeDocument/2006/relationships/image" Target="/ppt/media/image2.png" Id="R96d54b9f897542a8" /><Relationship Type="http://schemas.openxmlformats.org/officeDocument/2006/relationships/image" Target="/ppt/media/image24.png" Id="Rdc520b0132ff4ae1" /><Relationship Type="http://schemas.openxmlformats.org/officeDocument/2006/relationships/notesSlide" Target="/ppt/notesSlides/notesSlide22.xml" Id="R48ae0efc0897447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7807fe1f1b0447c" /><Relationship Type="http://schemas.openxmlformats.org/officeDocument/2006/relationships/image" Target="/ppt/media/image25.png" Id="Rc6a7b713b32946c1" /><Relationship Type="http://schemas.openxmlformats.org/officeDocument/2006/relationships/notesSlide" Target="/ppt/notesSlides/notesSlide23.xml" Id="R8ed5674de8d2444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ab1e4c592214404" /><Relationship Type="http://schemas.openxmlformats.org/officeDocument/2006/relationships/image" Target="/ppt/media/image26.png" Id="R29a6865f4d794fe8" /><Relationship Type="http://schemas.openxmlformats.org/officeDocument/2006/relationships/notesSlide" Target="/ppt/notesSlides/notesSlide24.xml" Id="R12577daabf7f4b4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62b4f04240a42c6" /><Relationship Type="http://schemas.openxmlformats.org/officeDocument/2006/relationships/image" Target="/ppt/media/image27.png" Id="R3de4ae6cabcc4c0f" /><Relationship Type="http://schemas.openxmlformats.org/officeDocument/2006/relationships/image" Target="/ppt/media/image2.png" Id="Rfd72e5cb19a74eb4" /><Relationship Type="http://schemas.openxmlformats.org/officeDocument/2006/relationships/notesSlide" Target="/ppt/notesSlides/notesSlide25.xml" Id="R916688c3cc3445a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b2fe82059a844c9f" /><Relationship Type="http://schemas.openxmlformats.org/officeDocument/2006/relationships/image" Target="/ppt/media/image28.png" Id="R47ec9455b9df425d" /><Relationship Type="http://schemas.openxmlformats.org/officeDocument/2006/relationships/notesSlide" Target="/ppt/notesSlides/notesSlide26.xml" Id="R5c95c51db0e04075" /></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1.xml" Id="Rb2fe82059a844c9f"/><Relationship Type="http://schemas.openxmlformats.org/officeDocument/2006/relationships/image" Target="/ppt/media/image28.png" Id="R47ec9455b9df425d"/><Relationship Type="http://schemas.openxmlformats.org/officeDocument/2006/relationships/notesSlide" Target="/ppt/notesSlides/notesSlide27.xml" Id="R5c95c51db0e04075"/></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f8c0a40e5964e47" /><Relationship Type="http://schemas.openxmlformats.org/officeDocument/2006/relationships/image" Target="/ppt/media/image29.png" Id="R16add289325143c8" /><Relationship Type="http://schemas.openxmlformats.org/officeDocument/2006/relationships/notesSlide" Target="/ppt/notesSlides/notesSlide28.xml" Id="R2003862ff1624b6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39733f1c1cc24b1e" /><Relationship Type="http://schemas.openxmlformats.org/officeDocument/2006/relationships/image" Target="/ppt/media/image30.png" Id="Rc35dd2bf990b4d45" /><Relationship Type="http://schemas.openxmlformats.org/officeDocument/2006/relationships/notesSlide" Target="/ppt/notesSlides/notesSlide29.xml" Id="R197f773ea3aa4d32" /></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1.xml" Id="R9ddc87fbc3e74df7"/><Relationship Type="http://schemas.openxmlformats.org/officeDocument/2006/relationships/notesSlide" Target="/ppt/notesSlides/notesSlide30.xml" Id="R926098e554324e83"/><Relationship Id="rIdPruningDiagram" Type="http://schemas.openxmlformats.org/officeDocument/2006/relationships/image" Target="/ppt/media/image30.png"/></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744d89f4078342f0" /><Relationship Type="http://schemas.openxmlformats.org/officeDocument/2006/relationships/image" Target="/ppt/media/image31.png" Id="R2bfc406543cb42f6" /><Relationship Type="http://schemas.openxmlformats.org/officeDocument/2006/relationships/notesSlide" Target="/ppt/notesSlides/notesSlide31.xml" Id="R36ca3fb0d2a84bfa" /></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1.xml" Id="R7cdfbf17e226438e"/><Relationship Type="http://schemas.openxmlformats.org/officeDocument/2006/relationships/image" Target="/ppt/media/image32.png" Id="R43aa86f23e6b4bbe"/><Relationship Type="http://schemas.openxmlformats.org/officeDocument/2006/relationships/notesSlide" Target="/ppt/notesSlides/notesSlide32.xml" Id="Rfa0c9d8738694bbf"/><Relationship Id="rIdAccuracyImage33" Type="http://schemas.openxmlformats.org/officeDocument/2006/relationships/image" Target="/ppt/media/image33.png"/></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1.xml" Id="R9cedeb465fae4e20"/><Relationship Type="http://schemas.openxmlformats.org/officeDocument/2006/relationships/image" Target="/ppt/media/image33.png" Id="R6fb60f95db6f4fcf"/><Relationship Type="http://schemas.openxmlformats.org/officeDocument/2006/relationships/notesSlide" Target="/ppt/notesSlides/notesSlide33.xml" Id="Rde7a16561c5a4726"/><Relationship Id="rIdAccuracyImage32" Type="http://schemas.openxmlformats.org/officeDocument/2006/relationships/image" Target="/ppt/media/image32.png"/></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12928da20ada44c2" /><Relationship Type="http://schemas.openxmlformats.org/officeDocument/2006/relationships/image" Target="/ppt/media/image34.png" Id="Rf69356580e1949ee" /><Relationship Type="http://schemas.openxmlformats.org/officeDocument/2006/relationships/image" Target="/ppt/media/image2.png" Id="Rbbdb4056630642f8" /><Relationship Type="http://schemas.openxmlformats.org/officeDocument/2006/relationships/notesSlide" Target="/ppt/notesSlides/notesSlide34.xml" Id="R36f69fd5cb794a4e" /></Relationships>
</file>

<file path=ppt/slides/_rels/slide35.xml.rels><?xml version='1.0' encoding='UTF-8' standalone='yes'?>
<Relationships xmlns="http://schemas.openxmlformats.org/package/2006/relationships"><Relationship Type="http://schemas.openxmlformats.org/officeDocument/2006/relationships/slideLayout" Target="/ppt/slideLayouts/slideLayout1.xml" Id="R1ff0c2b5f7da4813"/><Relationship Type="http://schemas.openxmlformats.org/officeDocument/2006/relationships/notesSlide" Target="/ppt/notesSlides/notesSlide35.xml" Id="Re2abf0cc53f640e9"/><Relationship Type="http://schemas.openxmlformats.org/officeDocument/2006/relationships/image" Target="/ppt/media/image35.png" Id="R45bc85ee20e6400b"/></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2f8cf948a3274316" /><Relationship Type="http://schemas.openxmlformats.org/officeDocument/2006/relationships/notesSlide" Target="/ppt/notesSlides/notesSlide36.xml" Id="R1bd4849467584fb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01b494758b214d81" /><Relationship Type="http://schemas.openxmlformats.org/officeDocument/2006/relationships/image" Target="/ppt/media/image36.png" Id="R4906a648abcb4e7a" /><Relationship Type="http://schemas.openxmlformats.org/officeDocument/2006/relationships/notesSlide" Target="/ppt/notesSlides/notesSlide37.xml" Id="R6503ffaea7194a68" /></Relationships>
</file>

<file path=ppt/slides/_rels/slide38.xml.rels><?xml version='1.0' encoding='UTF-8' standalone='yes'?>
<Relationships xmlns="http://schemas.openxmlformats.org/package/2006/relationships"><Relationship Type="http://schemas.openxmlformats.org/officeDocument/2006/relationships/slideLayout" Target="/ppt/slideLayouts/slideLayout1.xml" Id="R01b494758b214d81"/><Relationship Type="http://schemas.openxmlformats.org/officeDocument/2006/relationships/image" Target="/ppt/media/image36.png" Id="R4906a648abcb4e7a"/><Relationship Type="http://schemas.openxmlformats.org/officeDocument/2006/relationships/notesSlide" Target="/ppt/notesSlides/notesSlide38.xml" Id="R6503ffaea7194a68"/></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0119172a63e34327" /><Relationship Type="http://schemas.openxmlformats.org/officeDocument/2006/relationships/image" Target="/ppt/media/image37.png" Id="R86cef44b204b4c54" /><Relationship Type="http://schemas.openxmlformats.org/officeDocument/2006/relationships/image" Target="/ppt/media/image2.png" Id="Rcb9d8ae2730a4766" /><Relationship Type="http://schemas.openxmlformats.org/officeDocument/2006/relationships/notesSlide" Target="/ppt/notesSlides/notesSlide39.xml" Id="R8914428dc0f44a5d"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e8567db6f23f4b1e" /><Relationship Type="http://schemas.openxmlformats.org/officeDocument/2006/relationships/image" Target="/ppt/media/image38.png" Id="Rebcc14976c254a37" /><Relationship Type="http://schemas.openxmlformats.org/officeDocument/2006/relationships/notesSlide" Target="/ppt/notesSlides/notesSlide40.xml" Id="R0927dad9da31477e"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be7999c8a597451b" /><Relationship Type="http://schemas.openxmlformats.org/officeDocument/2006/relationships/image" Target="/ppt/media/image39.png" Id="Refd79ace82d4415c" /><Relationship Type="http://schemas.openxmlformats.org/officeDocument/2006/relationships/notesSlide" Target="/ppt/notesSlides/notesSlide41.xml" Id="R9f14e3e3f3ba4748"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7daf96f27e214a48" /><Relationship Type="http://schemas.openxmlformats.org/officeDocument/2006/relationships/notesSlide" Target="/ppt/notesSlides/notesSlide42.xml" Id="Ra4034f4539734cf3"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7830c8d1148b4e4b" /><Relationship Type="http://schemas.openxmlformats.org/officeDocument/2006/relationships/notesSlide" Target="/ppt/notesSlides/notesSlide43.xml" Id="R19fa2311043e4f3d"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92389fb3fccc422c" /><Relationship Type="http://schemas.openxmlformats.org/officeDocument/2006/relationships/notesSlide" Target="/ppt/notesSlides/notesSlide44.xml" Id="R59eced66df894d37"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7877874c446d450b" /><Relationship Type="http://schemas.openxmlformats.org/officeDocument/2006/relationships/image" Target="/ppt/media/image2.png" Id="Re772d388af3948d2" /><Relationship Type="http://schemas.openxmlformats.org/officeDocument/2006/relationships/image" Target="/ppt/media/image40.png" Id="R688e403dca5b4f75" /><Relationship Type="http://schemas.openxmlformats.org/officeDocument/2006/relationships/notesSlide" Target="/ppt/notesSlides/notesSlide45.xml" Id="R73325e77d0b646fb" /></Relationships>
</file>

<file path=ppt/slides/_rels/slide46.xml.rels><?xml version='1.0' encoding='UTF-8' standalone='yes'?>
<Relationships xmlns="http://schemas.openxmlformats.org/package/2006/relationships"><Relationship Type="http://schemas.openxmlformats.org/officeDocument/2006/relationships/slideLayout" Target="/ppt/slideLayouts/slideLayout1.xml" Id="R11dd79439df04a61"/><Relationship Type="http://schemas.openxmlformats.org/officeDocument/2006/relationships/image" Target="/ppt/media/image18.png" Id="R64d54ef6c4744a63"/><Relationship Type="http://schemas.openxmlformats.org/officeDocument/2006/relationships/notesSlide" Target="/ppt/notesSlides/notesSlide46.xml" Id="R776dfce2acc449b8"/></Relationships>
</file>

<file path=ppt/slides/_rels/slide47.xml.rels><?xml version='1.0' encoding='UTF-8' standalone='yes'?>
<Relationships xmlns="http://schemas.openxmlformats.org/package/2006/relationships"><Relationship Type="http://schemas.openxmlformats.org/officeDocument/2006/relationships/slideLayout" Target="/ppt/slideLayouts/slideLayout1.xml" Id="R11dd79439df04a61"/><Relationship Type="http://schemas.openxmlformats.org/officeDocument/2006/relationships/image" Target="/ppt/media/image18.png" Id="R64d54ef6c4744a63"/><Relationship Type="http://schemas.openxmlformats.org/officeDocument/2006/relationships/notesSlide" Target="/ppt/notesSlides/notesSlide47.xml" Id="R776dfce2acc449b8"/></Relationships>
</file>

<file path=ppt/slides/_rels/slide48.xml.rels><?xml version='1.0' encoding='UTF-8' standalone='yes'?>
<Relationships xmlns="http://schemas.openxmlformats.org/package/2006/relationships"><Relationship Type="http://schemas.openxmlformats.org/officeDocument/2006/relationships/slideLayout" Target="/ppt/slideLayouts/slideLayout1.xml" Id="R11dd79439df04a61"/><Relationship Type="http://schemas.openxmlformats.org/officeDocument/2006/relationships/image" Target="/ppt/media/image18.png" Id="R64d54ef6c4744a63"/><Relationship Type="http://schemas.openxmlformats.org/officeDocument/2006/relationships/notesSlide" Target="/ppt/notesSlides/notesSlide48.xml" Id="R776dfce2acc449b8"/></Relationships>
</file>

<file path=ppt/slides/_rels/slide49.xml.rels><?xml version='1.0' encoding='UTF-8' standalone='yes'?>
<Relationships xmlns="http://schemas.openxmlformats.org/package/2006/relationships"><Relationship Type="http://schemas.openxmlformats.org/officeDocument/2006/relationships/slideLayout" Target="/ppt/slideLayouts/slideLayout1.xml" Id="R11dd79439df04a61"/><Relationship Type="http://schemas.openxmlformats.org/officeDocument/2006/relationships/image" Target="/ppt/media/image18.png" Id="R64d54ef6c4744a63"/><Relationship Type="http://schemas.openxmlformats.org/officeDocument/2006/relationships/notesSlide" Target="/ppt/notesSlides/notesSlide49.xml" Id="R776dfce2acc449b8"/></Relationships>
</file>

<file path=ppt/slides/_rels/slide50.xml.rels><?xml version='1.0' encoding='UTF-8' standalone='yes'?>
<Relationships xmlns="http://schemas.openxmlformats.org/package/2006/relationships"><Relationship Type="http://schemas.openxmlformats.org/officeDocument/2006/relationships/slideLayout" Target="/ppt/slideLayouts/slideLayout1.xml" Id="Rda66d09539bb449c"/><Relationship Type="http://schemas.openxmlformats.org/officeDocument/2006/relationships/image" Target="/ppt/media/image19.png" Id="R679b00789be2486e"/><Relationship Type="http://schemas.openxmlformats.org/officeDocument/2006/relationships/notesSlide" Target="/ppt/notesSlides/notesSlide50.xml" Id="R44ca5832c62746e5"/></Relationships>
</file>

<file path=ppt/slides/_rels/slide51.xml.rels><?xml version='1.0' encoding='UTF-8' standalone='yes'?>
<Relationships xmlns="http://schemas.openxmlformats.org/package/2006/relationships"><Relationship Type="http://schemas.openxmlformats.org/officeDocument/2006/relationships/slideLayout" Target="/ppt/slideLayouts/slideLayout1.xml" Id="Rda66d09539bb449c"/><Relationship Type="http://schemas.openxmlformats.org/officeDocument/2006/relationships/image" Target="/ppt/media/image19.png" Id="R679b00789be2486e"/><Relationship Type="http://schemas.openxmlformats.org/officeDocument/2006/relationships/notesSlide" Target="/ppt/notesSlides/notesSlide51.xml" Id="R44ca5832c62746e5"/></Relationships>
</file>

<file path=ppt/slides/_rels/slide52.xml.rels><?xml version='1.0' encoding='UTF-8' standalone='yes'?>
<Relationships xmlns="http://schemas.openxmlformats.org/package/2006/relationships"><Relationship Type="http://schemas.openxmlformats.org/officeDocument/2006/relationships/slideLayout" Target="/ppt/slideLayouts/slideLayout1.xml" Id="Rda66d09539bb449c"/><Relationship Type="http://schemas.openxmlformats.org/officeDocument/2006/relationships/image" Target="/ppt/media/image19.png" Id="R679b00789be2486e"/><Relationship Type="http://schemas.openxmlformats.org/officeDocument/2006/relationships/notesSlide" Target="/ppt/notesSlides/notesSlide52.xml" Id="R44ca5832c62746e5"/></Relationships>
</file>

<file path=ppt/slides/_rels/slide53.xml.rels><?xml version='1.0' encoding='UTF-8' standalone='yes'?>
<Relationships xmlns="http://schemas.openxmlformats.org/package/2006/relationships"><Relationship Type="http://schemas.openxmlformats.org/officeDocument/2006/relationships/slideLayout" Target="/ppt/slideLayouts/slideLayout1.xml" Id="Rb2fe82059a844c9f"/><Relationship Type="http://schemas.openxmlformats.org/officeDocument/2006/relationships/image" Target="/ppt/media/image28.png" Id="R47ec9455b9df425d"/><Relationship Type="http://schemas.openxmlformats.org/officeDocument/2006/relationships/notesSlide" Target="/ppt/notesSlides/notesSlide53.xml" Id="R5c95c51db0e04075"/></Relationships>
</file>

<file path=ppt/slides/_rels/slide54.xml.rels><?xml version='1.0' encoding='UTF-8' standalone='yes'?>
<Relationships xmlns="http://schemas.openxmlformats.org/package/2006/relationships"><Relationship Type="http://schemas.openxmlformats.org/officeDocument/2006/relationships/slideLayout" Target="/ppt/slideLayouts/slideLayout1.xml" Id="Rb2fe82059a844c9f"/><Relationship Type="http://schemas.openxmlformats.org/officeDocument/2006/relationships/image" Target="/ppt/media/image28.png" Id="R47ec9455b9df425d"/><Relationship Type="http://schemas.openxmlformats.org/officeDocument/2006/relationships/notesSlide" Target="/ppt/notesSlides/notesSlide54.xml" Id="R5c95c51db0e04075"/></Relationships>
</file>

<file path=ppt/slides/_rels/slide55.xml.rels><?xml version='1.0' encoding='UTF-8' standalone='yes'?>
<Relationships xmlns="http://schemas.openxmlformats.org/package/2006/relationships"><Relationship Type="http://schemas.openxmlformats.org/officeDocument/2006/relationships/slideLayout" Target="/ppt/slideLayouts/slideLayout1.xml" Id="Rb2fe82059a844c9f"/><Relationship Type="http://schemas.openxmlformats.org/officeDocument/2006/relationships/notesSlide" Target="/ppt/notesSlides/notesSlide55.xml" Id="R5c95c51db0e04075"/></Relationships>
</file>

<file path=ppt/slides/_rels/slide56.xml.rels><?xml version='1.0' encoding='UTF-8' standalone='yes'?>
<Relationships xmlns="http://schemas.openxmlformats.org/package/2006/relationships"><Relationship Type="http://schemas.openxmlformats.org/officeDocument/2006/relationships/slideLayout" Target="/ppt/slideLayouts/slideLayout1.xml" Id="R9ddc87fbc3e74df7"/><Relationship Type="http://schemas.openxmlformats.org/officeDocument/2006/relationships/notesSlide" Target="/ppt/notesSlides/notesSlide56.xml" Id="R926098e554324e83"/></Relationships>
</file>

<file path=ppt/slides/_rels/slide57.xml.rels><?xml version='1.0' encoding='UTF-8' standalone='yes'?>
<Relationships xmlns="http://schemas.openxmlformats.org/package/2006/relationships"><Relationship Type="http://schemas.openxmlformats.org/officeDocument/2006/relationships/slideLayout" Target="/ppt/slideLayouts/slideLayout1.xml" Id="R12928da20ada44c2"/><Relationship Type="http://schemas.openxmlformats.org/officeDocument/2006/relationships/image" Target="/ppt/media/image2.png" Id="Rbbdb4056630642f8"/><Relationship Type="http://schemas.openxmlformats.org/officeDocument/2006/relationships/notesSlide" Target="/ppt/notesSlides/notesSlide57.xml" Id="R36f69fd5cb794a4e"/></Relationships>
</file>

<file path=ppt/slides/_rels/slide58.xml.rels><?xml version='1.0' encoding='UTF-8' standalone='yes'?>
<Relationships xmlns="http://schemas.openxmlformats.org/package/2006/relationships"><Relationship Type="http://schemas.openxmlformats.org/officeDocument/2006/relationships/slideLayout" Target="/ppt/slideLayouts/slideLayout1.xml" Id="R1ff0c2b5f7da4813"/><Relationship Type="http://schemas.openxmlformats.org/officeDocument/2006/relationships/notesSlide" Target="/ppt/notesSlides/notesSlide58.xml" Id="Re2abf0cc53f640e9"/></Relationships>
</file>

<file path=ppt/slides/_rels/slide59.xml.rels><?xml version='1.0' encoding='UTF-8' standalone='yes'?>
<Relationships xmlns="http://schemas.openxmlformats.org/package/2006/relationships"><Relationship Type="http://schemas.openxmlformats.org/officeDocument/2006/relationships/slideLayout" Target="/ppt/slideLayouts/slideLayout1.xml" Id="R1ff0c2b5f7da4813"/><Relationship Type="http://schemas.openxmlformats.org/officeDocument/2006/relationships/notesSlide" Target="/ppt/notesSlides/notesSlide59.xml" Id="Re2abf0cc53f640e9"/><Relationship Type="http://schemas.openxmlformats.org/officeDocument/2006/relationships/image" Target="/ppt/media/image35.png" Id="R45bc85ee20e6400b"/></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1" name="Bildplatzhalter 3"/>
          <p:cNvPicPr>
            <a:picLocks xmlns:a="http://schemas.openxmlformats.org/drawingml/2006/main" noChangeAspect="1"/>
          </p:cNvPicPr>
          <p:nvPr>
            <p:ph type="pic" idx="17"/>
          </p:nvPr>
        </p:nvPicPr>
        <p:blipFill>
          <a:blip xmlns:r="http://schemas.openxmlformats.org/officeDocument/2006/relationships" xmlns:a="http://schemas.openxmlformats.org/drawingml/2006/main" r:embed="R60b3ed9766864966"/>
          <a:srcRect xmlns:a="http://schemas.openxmlformats.org/drawingml/2006/main" l="0" t="25289" r="0" b="25289"/>
          <a:stretch xmlns:a="http://schemas.openxmlformats.org/drawingml/2006/main">
            <a:fillRect l="0" t="0" r="0" b="0"/>
          </a:stretch>
        </p:blipFill>
        <p:spPr>
          <a:xfrm xmlns:a="http://schemas.openxmlformats.org/drawingml/2006/main">
            <a:off x="-14400" y="1260572"/>
            <a:ext cx="8885359" cy="3273604"/>
          </a:xfrm>
        </p:spPr>
      </p:pic>
      <p:sp>
        <p:nvSpPr>
          <p:cNvPr id="2" name="Freihandform: Form 1">
            <a:extLst xmlns:a="http://schemas.openxmlformats.org/drawingml/2006/main">
              <a:ext uri="{FF2B5EF4-FFF2-40B4-BE49-F238E27FC236}">
                <a16:creationId xmlns:a16="http://schemas.microsoft.com/office/drawing/2014/main" id="{20757325-F007-2AE3-A7D1-47B46DD14080}"/>
              </a:ext>
            </a:extLst>
          </p:cNvPr>
          <p:cNvSpPr>
            <a:spLocks xmlns:a="http://schemas.openxmlformats.org/drawingml/2006/main" noGrp="1"/>
          </p:cNvSpPr>
          <p:nvPr/>
        </p:nvSpPr>
        <p:spPr>
          <a:xfrm xmlns:a="http://schemas.openxmlformats.org/drawingml/2006/main">
            <a:off x="0" y="3619499"/>
            <a:ext cx="12192001" cy="3238500"/>
          </a:xfrm>
          <a:custGeom xmlns:a="http://schemas.openxmlformats.org/drawingml/2006/main">
            <a:rect l="0" t="0" r="0" b="0"/>
            <a:pathLst>
              <a:path w="12192001" h="2413001">
                <a:moveTo>
                  <a:pt x="0" y="355600"/>
                </a:moveTo>
                <a:lnTo>
                  <a:pt x="12192000" y="0"/>
                </a:lnTo>
                <a:lnTo>
                  <a:pt x="12192000" y="2413000"/>
                </a:lnTo>
                <a:lnTo>
                  <a:pt x="0" y="2413000"/>
                </a:lnTo>
              </a:path>
            </a:pathLst>
          </a:custGeom>
          <a:solidFill xmlns:a="http://schemas.openxmlformats.org/drawingml/2006/main">
            <a:srgbClr val="C40D1E"/>
          </a:solidFill>
          <a:ln xmlns:a="http://schemas.openxmlformats.org/drawingml/2006/main" w="6350" cmpd="sng">
            <a:no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7" name="Textfeld 6">
            <a:extLst xmlns:a="http://schemas.openxmlformats.org/drawingml/2006/main">
              <a:ext uri="{FF2B5EF4-FFF2-40B4-BE49-F238E27FC236}">
                <a16:creationId xmlns:a16="http://schemas.microsoft.com/office/drawing/2014/main" id="{B49AB593-9975-34D5-BA11-9F7831182298}"/>
              </a:ext>
            </a:extLst>
          </p:cNvPr>
          <p:cNvSpPr>
            <a:spLocks xmlns:a="http://schemas.openxmlformats.org/drawingml/2006/main" noGrp="1"/>
          </p:cNvSpPr>
          <p:nvPr/>
        </p:nvSpPr>
        <p:spPr>
          <a:xfrm xmlns:a="http://schemas.openxmlformats.org/drawingml/2006/main">
            <a:off x="552450" y="3924300"/>
            <a:ext cx="10953750" cy="16192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3000" b="0">
                <a:solidFill>
                  <a:srgbClr val="FFFFFF"/>
                </a:solidFill>
                <a:latin typeface="Calibri"/>
                <a:ea typeface="Calibri"/>
                <a:cs typeface="Calibri"/>
              </a:defRPr>
            </a:pPr>
            <a:r>
              <a:rPr sz="3000" b="0">
                <a:solidFill>
                  <a:srgbClr val="FFFFFF"/>
                </a:solidFill>
                <a:latin typeface="Calibri"/>
                <a:ea typeface="Calibri"/>
                <a:cs typeface="Calibri"/>
              </a:rPr>
              <a:t>Neuronale Zustandsbestimmung</a:t>
            </a:r>
          </a:p>
          <a:p xmlns:a="http://schemas.openxmlformats.org/drawingml/2006/main">
            <a:pPr algn="l">
              <a:lnSpc>
                <a:spcPct val="106000"/>
              </a:lnSpc>
              <a:buNone/>
              <a:defRPr sz="3000" b="0">
                <a:solidFill>
                  <a:srgbClr val="FFFFFF"/>
                </a:solidFill>
                <a:latin typeface="Calibri"/>
                <a:ea typeface="Calibri"/>
                <a:cs typeface="Calibri"/>
              </a:defRPr>
            </a:pPr>
            <a:r>
              <a:rPr sz="3000" b="0">
                <a:solidFill>
                  <a:srgbClr val="FFFFFF"/>
                </a:solidFill>
                <a:latin typeface="Calibri"/>
                <a:ea typeface="Calibri"/>
                <a:cs typeface="Calibri"/>
              </a:rPr>
              <a:t>für eingebettete</a:t>
            </a:r>
          </a:p>
          <a:p xmlns:a="http://schemas.openxmlformats.org/drawingml/2006/main">
            <a:pPr algn="l">
              <a:lnSpc>
                <a:spcPct val="106000"/>
              </a:lnSpc>
              <a:buNone/>
              <a:defRPr sz="3000" b="0">
                <a:solidFill>
                  <a:srgbClr val="FFFFFF"/>
                </a:solidFill>
                <a:latin typeface="Calibri"/>
                <a:ea typeface="Calibri"/>
                <a:cs typeface="Calibri"/>
              </a:defRPr>
            </a:pPr>
            <a:r>
              <a:rPr sz="3000" b="0">
                <a:solidFill>
                  <a:srgbClr val="FFFFFF"/>
                </a:solidFill>
                <a:latin typeface="Calibri"/>
                <a:ea typeface="Calibri"/>
                <a:cs typeface="Calibri"/>
              </a:rPr>
              <a:t>Batteriemanagementsysteme</a:t>
            </a:r>
            <a:endParaRPr>
              <a:solidFill>
                <a:srgbClr val="FFFFFF"/>
              </a:solidFill>
            </a:endParaRPr>
          </a:p>
        </p:txBody>
      </p:sp>
      <p:sp>
        <p:nvSpPr>
          <p:cNvPr id="9" name="Textfeld 8">
            <a:extLst xmlns:a="http://schemas.openxmlformats.org/drawingml/2006/main">
              <a:ext uri="{FF2B5EF4-FFF2-40B4-BE49-F238E27FC236}">
                <a16:creationId xmlns:a16="http://schemas.microsoft.com/office/drawing/2014/main" id="{810DB6A5-3E47-4A55-F082-4E7B3D6F7A08}"/>
              </a:ext>
            </a:extLst>
          </p:cNvPr>
          <p:cNvSpPr>
            <a:spLocks xmlns:a="http://schemas.openxmlformats.org/drawingml/2006/main" noGrp="1"/>
          </p:cNvSpPr>
          <p:nvPr/>
        </p:nvSpPr>
        <p:spPr>
          <a:xfrm xmlns:a="http://schemas.openxmlformats.org/drawingml/2006/main">
            <a:off x="552450" y="6419850"/>
            <a:ext cx="10477500" cy="2857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marR="0" lvl="0" indent="0" algn="l" defTabSz="914400">
              <a:lnSpc>
                <a:spcPct val="106000"/>
              </a:lnSpc>
              <a:buClrTx/>
              <a:buSzTx/>
              <a:buNone/>
              <a:defRPr sz="1575" b="0">
                <a:solidFill>
                  <a:srgbClr val="FFFFFF"/>
                </a:solidFill>
                <a:latin typeface="Calibri"/>
                <a:ea typeface="Calibri"/>
                <a:cs typeface="Calibri"/>
              </a:defRPr>
            </a:pPr>
            <a:r>
              <a:rPr sz="1575" b="0">
                <a:solidFill>
                  <a:srgbClr val="FFFFFF"/>
                </a:solidFill>
                <a:latin typeface="Calibri"/>
                <a:ea typeface="Calibri"/>
                <a:cs typeface="Calibri"/>
              </a:rPr>
              <a:t>Florian Rzepka | Technische Universität Berlin | Disputation 2026</a:t>
            </a:r>
          </a:p>
        </p:txBody>
      </p:sp>
      <p:sp>
        <p:nvSpPr>
          <p:cNvPr id="3" name="V5_Text_3">
            <a:extLst xmlns:a="http://schemas.openxmlformats.org/drawingml/2006/main">
              <a:ext uri="{FF2B5EF4-FFF2-40B4-BE49-F238E27FC236}">
                <a16:creationId xmlns:a16="http://schemas.microsoft.com/office/drawing/2014/main" id="{357757F1-721E-4FE8-94E8-D4AB53E632E8}"/>
              </a:ext>
            </a:extLst>
          </p:cNvPr>
          <p:cNvSpPr>
            <a:spLocks xmlns:a="http://schemas.openxmlformats.org/drawingml/2006/main" noGrp="1"/>
          </p:cNvSpPr>
          <p:nvPr/>
        </p:nvSpPr>
        <p:spPr>
          <a:xfrm xmlns:a="http://schemas.openxmlformats.org/drawingml/2006/main">
            <a:off x="552450" y="5619750"/>
            <a:ext cx="10668000" cy="60960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800" b="0">
                <a:solidFill>
                  <a:srgbClr val="FFFFFF"/>
                </a:solidFill>
                <a:latin typeface="Calibri"/>
                <a:ea typeface="Calibri"/>
                <a:cs typeface="Calibri"/>
              </a:defRPr>
            </a:pPr>
            <a:r>
              <a:rPr sz="1800" b="0">
                <a:solidFill>
                  <a:srgbClr val="FFFFFF"/>
                </a:solidFill>
                <a:latin typeface="Calibri"/>
                <a:ea typeface="Calibri"/>
                <a:cs typeface="Calibri"/>
              </a:rPr>
              <a:t>Kompakte zeitbasierte Modelle · Robustheit &amp; Hardwareeffizienz</a:t>
            </a:r>
          </a:p>
          <a:p xmlns:a="http://schemas.openxmlformats.org/drawingml/2006/main">
            <a:pPr marL="0" indent="0" algn="l">
              <a:spcBef>
                <a:spcPts val="0"/>
              </a:spcBef>
              <a:spcAft>
                <a:spcPts val="0"/>
              </a:spcAft>
              <a:buNone/>
              <a:defRPr sz="1800" b="0">
                <a:solidFill>
                  <a:srgbClr val="FFFFFF"/>
                </a:solidFill>
                <a:latin typeface="Calibri"/>
                <a:ea typeface="Calibri"/>
                <a:cs typeface="Calibri"/>
              </a:defRPr>
            </a:pPr>
            <a:r>
              <a:rPr sz="1800" b="0">
                <a:solidFill>
                  <a:srgbClr val="FFFFFF"/>
                </a:solidFill>
                <a:latin typeface="Calibri"/>
                <a:ea typeface="Calibri"/>
                <a:cs typeface="Calibri"/>
              </a:rPr>
              <a:t>Embedded-AI-Optimierung</a:t>
            </a:r>
          </a:p>
        </p:txBody>
      </p:sp>
    </p:spTree>
    <p:extLst>
      <p:ext uri="{BB962C8B-B14F-4D97-AF65-F5344CB8AC3E}">
        <p14:creationId xmlns:p14="http://schemas.microsoft.com/office/powerpoint/2010/main" val="156529116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476250"/>
            <a:ext cx="9496425" cy="8382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2400" b="0">
                <a:solidFill>
                  <a:srgbClr val="CC001C"/>
                </a:solidFill>
                <a:latin typeface="Calibri"/>
                <a:ea typeface="Calibri"/>
                <a:cs typeface="Calibri"/>
              </a:defRPr>
            </a:pPr>
            <a:r>
              <a:rPr sz="2400" b="0">
                <a:solidFill>
                  <a:srgbClr val="CC001C"/>
                </a:solidFill>
                <a:latin typeface="Calibri"/>
                <a:ea typeface="Calibri"/>
                <a:cs typeface="Calibri"/>
              </a:rPr>
              <a:t>Motivation: Batteriespeicher für eine dezentrale</a:t>
            </a:r>
          </a:p>
          <a:p xmlns:a="http://schemas.openxmlformats.org/drawingml/2006/main">
            <a:pPr marL="0" indent="0" algn="l">
              <a:spcBef>
                <a:spcPts val="0"/>
              </a:spcBef>
              <a:spcAft>
                <a:spcPts val="0"/>
              </a:spcAft>
              <a:buNone/>
              <a:defRPr sz="2400" b="0">
                <a:solidFill>
                  <a:srgbClr val="CC001C"/>
                </a:solidFill>
                <a:latin typeface="Calibri"/>
                <a:ea typeface="Calibri"/>
                <a:cs typeface="Calibri"/>
              </a:defRPr>
            </a:pPr>
            <a:r>
              <a:rPr sz="2400" b="0">
                <a:solidFill>
                  <a:srgbClr val="CC001C"/>
                </a:solidFill>
                <a:latin typeface="Calibri"/>
                <a:ea typeface="Calibri"/>
                <a:cs typeface="Calibri"/>
              </a:rPr>
              <a:t>und autonome Energieversorgung</a:t>
            </a:r>
          </a: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2 / 44</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sp>
        <p:nvSpPr>
          <p:cNvPr id="12" name="V5_Text_12">
            <a:extLst xmlns:a="http://schemas.openxmlformats.org/drawingml/2006/main">
              <a:ext uri="{FF2B5EF4-FFF2-40B4-BE49-F238E27FC236}">
                <a16:creationId xmlns:a16="http://schemas.microsoft.com/office/drawing/2014/main" id="{3C15EE52-60E3-43E9-A0E5-0BA4629013B2}"/>
              </a:ext>
            </a:extLst>
          </p:cNvPr>
          <p:cNvSpPr>
            <a:spLocks xmlns:a="http://schemas.openxmlformats.org/drawingml/2006/main" noGrp="1"/>
          </p:cNvSpPr>
          <p:nvPr/>
        </p:nvSpPr>
        <p:spPr>
          <a:xfrm xmlns:a="http://schemas.openxmlformats.org/drawingml/2006/main">
            <a:off x="5572125" y="1476375"/>
            <a:ext cx="43815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a:p xmlns:a="http://schemas.openxmlformats.org/drawingml/2006/main">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Dezentrale Energiesysteme:</a:t>
            </a:r>
            <a:r>
              <a:rPr sz="1800" b="0">
                <a:latin typeface="Calibri"/>
                <a:ea typeface="Calibri"/>
                <a:cs typeface="Calibri"/>
              </a:rPr>
              <a:t> Lokale Batteriespeicher in Versorgungsnetzen – Beispiel MG-Farm</a:t>
            </a:r>
          </a:p>
        </p:txBody>
      </p:sp>
      <p:sp>
        <p:nvSpPr>
          <p:cNvPr id="2" name="V6_Text_2">
            <a:extLst xmlns:a="http://schemas.openxmlformats.org/drawingml/2006/main">
              <a:ext uri="{FF2B5EF4-FFF2-40B4-BE49-F238E27FC236}">
                <a16:creationId xmlns:a16="http://schemas.microsoft.com/office/drawing/2014/main" id="{6E2AE00D-6BEA-482D-9E85-303D904E3E43}"/>
              </a:ext>
            </a:extLst>
          </p:cNvPr>
          <p:cNvSpPr>
            <a:spLocks xmlns:a="http://schemas.openxmlformats.org/drawingml/2006/main" noGrp="1"/>
          </p:cNvSpPr>
          <p:nvPr/>
        </p:nvSpPr>
        <p:spPr>
          <a:xfrm xmlns:a="http://schemas.openxmlformats.org/drawingml/2006/main">
            <a:off x="5572125" y="2581275"/>
            <a:ext cx="4381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a:p xmlns:a="http://schemas.openxmlformats.org/drawingml/2006/main">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Mobile Anwendungen:</a:t>
            </a:r>
            <a:r>
              <a:rPr sz="1800" b="0">
                <a:latin typeface="Calibri"/>
                <a:ea typeface="Calibri"/>
                <a:cs typeface="Calibri"/>
              </a:rPr>
              <a:t> Energieversorgung außerhalb fester Infrastruktur; begrenzter Wartungszugang</a:t>
            </a:r>
          </a:p>
        </p:txBody>
      </p:sp>
      <p:pic>
        <p:nvPicPr>
          <p:cNvPr id="39" name="V6_TU_Logo"/>
          <p:cNvPicPr>
            <a:picLocks xmlns:a="http://schemas.openxmlformats.org/drawingml/2006/main" noChangeAspect="1"/>
          </p:cNvPicPr>
          <p:nvPr/>
        </p:nvPicPr>
        <p:blipFill>
          <a:blip xmlns:r="http://schemas.openxmlformats.org/officeDocument/2006/relationships" xmlns:a="http://schemas.openxmlformats.org/drawingml/2006/main" r:embed="R8fd66e2a215d4782"/>
          <a:stretch xmlns:a="http://schemas.openxmlformats.org/drawingml/2006/main">
            <a:fillRect l="0" t="0" r="0" b="0"/>
          </a:stretch>
        </p:blipFill>
        <p:spPr>
          <a:xfrm xmlns:a="http://schemas.openxmlformats.org/drawingml/2006/main">
            <a:off x="10614660" y="378460"/>
            <a:ext cx="1003300" cy="767080"/>
          </a:xfrm>
          <a:prstGeom xmlns:a="http://schemas.openxmlformats.org/drawingml/2006/main" prst="rect">
            <a:avLst/>
          </a:prstGeom>
        </p:spPr>
      </p:pic>
      <p:sp>
        <p:nvSpPr>
          <p:cNvPr id="19" name="Structure separator">
            <a:extLst xmlns:a="http://schemas.openxmlformats.org/drawingml/2006/main">
              <a:ext uri="{FF2B5EF4-FFF2-40B4-BE49-F238E27FC236}">
                <a16:creationId xmlns:a16="http://schemas.microsoft.com/office/drawing/2014/main" id="{54E63CB4-812C-4C12-8452-14638149E8DF}"/>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20" name="Structure label">
            <a:extLst xmlns:a="http://schemas.openxmlformats.org/drawingml/2006/main">
              <a:ext uri="{FF2B5EF4-FFF2-40B4-BE49-F238E27FC236}">
                <a16:creationId xmlns:a16="http://schemas.microsoft.com/office/drawing/2014/main" id="{F1DADF86-8CB0-4317-AFF7-BAA36D108C5F}"/>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xmlns:a="http://schemas.openxmlformats.org/drawingml/2006/main">
              <a:ext uri="{FF2B5EF4-FFF2-40B4-BE49-F238E27FC236}">
                <a16:creationId xmlns:a16="http://schemas.microsoft.com/office/drawing/2014/main" id="{FF71DF24-89D0-405F-9DA8-26B9EF340276}"/>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Ziele</a:t>
            </a:r>
          </a:p>
        </p:txBody>
      </p:sp>
      <p:sp>
        <p:nvSpPr>
          <p:cNvPr id="22" name="Structure 1">
            <a:extLst xmlns:a="http://schemas.openxmlformats.org/drawingml/2006/main">
              <a:ext uri="{FF2B5EF4-FFF2-40B4-BE49-F238E27FC236}">
                <a16:creationId xmlns:a16="http://schemas.microsoft.com/office/drawing/2014/main" id="{6CD3A483-59F5-423D-9CDE-23DA31D6C0D1}"/>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xmlns:a="http://schemas.openxmlformats.org/drawingml/2006/main">
              <a:ext uri="{FF2B5EF4-FFF2-40B4-BE49-F238E27FC236}">
                <a16:creationId xmlns:a16="http://schemas.microsoft.com/office/drawing/2014/main" id="{B39C24D9-62D3-4002-8DB4-3F9A92597BC4}"/>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xmlns:a="http://schemas.openxmlformats.org/drawingml/2006/main">
              <a:ext uri="{FF2B5EF4-FFF2-40B4-BE49-F238E27FC236}">
                <a16:creationId xmlns:a16="http://schemas.microsoft.com/office/drawing/2014/main" id="{ADF04085-DA9D-4AD9-B8FA-39D2C1595C2E}"/>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xmlns:a="http://schemas.openxmlformats.org/drawingml/2006/main">
              <a:ext uri="{FF2B5EF4-FFF2-40B4-BE49-F238E27FC236}">
                <a16:creationId xmlns:a16="http://schemas.microsoft.com/office/drawing/2014/main" id="{415B5AE4-3DAA-4011-BB0D-CAF8C43EBB41}"/>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xmlns:a="http://schemas.openxmlformats.org/drawingml/2006/main">
              <a:ext uri="{FF2B5EF4-FFF2-40B4-BE49-F238E27FC236}">
                <a16:creationId xmlns:a16="http://schemas.microsoft.com/office/drawing/2014/main" id="{D11E931D-6665-431E-BBB4-D8C7F89B7012}"/>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9" name="v11-text-2-2">
            <a:extLst xmlns:a="http://schemas.openxmlformats.org/drawingml/2006/main">
              <a:ext uri="{FF2B5EF4-FFF2-40B4-BE49-F238E27FC236}">
                <a16:creationId xmlns:a16="http://schemas.microsoft.com/office/drawing/2014/main" id="{177E2974-B70A-497F-8131-95FD5F6E4EE4}"/>
              </a:ext>
            </a:extLst>
          </p:cNvPr>
          <p:cNvSpPr>
            <a:spLocks xmlns:a="http://schemas.openxmlformats.org/drawingml/2006/main" noGrp="1"/>
          </p:cNvSpPr>
          <p:nvPr/>
        </p:nvSpPr>
        <p:spPr>
          <a:xfrm xmlns:a="http://schemas.openxmlformats.org/drawingml/2006/main">
            <a:off x="5572125" y="3686175"/>
            <a:ext cx="4381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Ressourcenbeschränkung:</a:t>
            </a:r>
            <a:r>
              <a:rPr sz="1800" b="0">
                <a:latin typeface="Calibri"/>
                <a:ea typeface="Calibri"/>
                <a:cs typeface="Calibri"/>
              </a:rPr>
              <a:t> Wenig Rechenleistung und Speicher; eingeschränkter oder fehlender Internetzugang</a:t>
            </a:r>
          </a:p>
        </p:txBody>
      </p:sp>
      <p:sp>
        <p:nvSpPr>
          <p:cNvPr id="30" name="v11-text-2-3">
            <a:extLst xmlns:a="http://schemas.openxmlformats.org/drawingml/2006/main">
              <a:ext uri="{FF2B5EF4-FFF2-40B4-BE49-F238E27FC236}">
                <a16:creationId xmlns:a16="http://schemas.microsoft.com/office/drawing/2014/main" id="{00874D04-F4FC-4D79-ABEC-39D922797E67}"/>
              </a:ext>
            </a:extLst>
          </p:cNvPr>
          <p:cNvSpPr>
            <a:spLocks xmlns:a="http://schemas.openxmlformats.org/drawingml/2006/main" noGrp="1"/>
          </p:cNvSpPr>
          <p:nvPr/>
        </p:nvSpPr>
        <p:spPr>
          <a:xfrm xmlns:a="http://schemas.openxmlformats.org/drawingml/2006/main">
            <a:off x="5572125" y="5000625"/>
            <a:ext cx="438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Forschungsbedarf:</a:t>
            </a:r>
            <a:r>
              <a:rPr sz="1800" b="0">
                <a:latin typeface="Calibri"/>
                <a:ea typeface="Calibri"/>
                <a:cs typeface="Calibri"/>
              </a:rPr>
              <a:t> Zuverlässige Zustandsbestimmung direkt im BMS bei begrenztem Ressourcenbudget</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4403433f8207457d"/>
          <a:stretch xmlns:a="http://schemas.openxmlformats.org/drawingml/2006/main"/>
        </p:blipFill>
        <p:spPr>
          <a:xfrm xmlns:a="http://schemas.openxmlformats.org/drawingml/2006/main">
            <a:off x="552450" y="2078498"/>
            <a:ext cx="4667250" cy="2767679"/>
          </a:xfrm>
          <a:prstGeom xmlns:a="http://schemas.openxmlformats.org/drawingml/2006/main" prst="rect">
            <a:avLst/>
          </a:prstGeom>
        </p:spPr>
      </p:pic>
    </p:spTree>
    <p:extLst>
      <p:ext uri="{BB962C8B-B14F-4D97-AF65-F5344CB8AC3E}">
        <p14:creationId xmlns:p14="http://schemas.microsoft.com/office/powerpoint/2010/main" val="19509968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Forschungsfragen und Ziele der Dissertation</a:t>
            </a:r>
            <a:endParaRPr/>
          </a: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3 / 44</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pic>
        <p:nvPicPr>
          <p:cNvPr id="36" name="V5_Figure_11"/>
          <p:cNvPicPr>
            <a:picLocks xmlns:a="http://schemas.openxmlformats.org/drawingml/2006/main" noChangeAspect="1"/>
          </p:cNvPicPr>
          <p:nvPr/>
        </p:nvPicPr>
        <p:blipFill>
          <a:blip xmlns:r="http://schemas.openxmlformats.org/officeDocument/2006/relationships" xmlns:a="http://schemas.openxmlformats.org/drawingml/2006/main" r:embed="R70c81249bf324cdc"/>
          <a:stretch xmlns:a="http://schemas.openxmlformats.org/drawingml/2006/main"/>
        </p:blipFill>
        <p:spPr>
          <a:xfrm xmlns:a="http://schemas.openxmlformats.org/drawingml/2006/main">
            <a:off x="552450" y="2352675"/>
            <a:ext cx="3143250" cy="1977356"/>
          </a:xfrm>
          <a:prstGeom xmlns:a="http://schemas.openxmlformats.org/drawingml/2006/main" prst="rect">
            <a:avLst/>
          </a:prstGeom>
        </p:spPr>
      </p:pic>
      <p:sp>
        <p:nvSpPr>
          <p:cNvPr id="12" name="V5_Text_12">
            <a:extLst xmlns:a="http://schemas.openxmlformats.org/drawingml/2006/main">
              <a:ext uri="{FF2B5EF4-FFF2-40B4-BE49-F238E27FC236}">
                <a16:creationId xmlns:a16="http://schemas.microsoft.com/office/drawing/2014/main" id="{3C15EE52-60E3-43E9-A0E5-0BA4629013B2}"/>
              </a:ext>
            </a:extLst>
          </p:cNvPr>
          <p:cNvSpPr>
            <a:spLocks xmlns:a="http://schemas.openxmlformats.org/drawingml/2006/main" noGrp="1"/>
          </p:cNvSpPr>
          <p:nvPr/>
        </p:nvSpPr>
        <p:spPr>
          <a:xfrm xmlns:a="http://schemas.openxmlformats.org/drawingml/2006/main">
            <a:off x="4038600" y="1428750"/>
            <a:ext cx="59055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a:p xmlns:a="http://schemas.openxmlformats.org/drawingml/2006/main">
            <a:pPr marL="0" indent="0" algn="l">
              <a:spcBef>
                <a:spcPts val="0"/>
              </a:spcBef>
              <a:spcAft>
                <a:spcPts val="7"/>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1. Wie lässt sich das komplexe, zeitabhängige Alterungsverhalten von Lithium-Ionen-Batterien mit einfachen, kompakten Modellen abbilden?</a:t>
            </a:r>
          </a:p>
          <a:p xmlns:a="http://schemas.openxmlformats.org/drawingml/2006/main">
            <a:pPr marL="0" indent="0" algn="l">
              <a:spcBef>
                <a:spcPts val="0"/>
              </a:spcBef>
              <a:spcAft>
                <a:spcPts val="7"/>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Ziel:</a:t>
            </a:r>
            <a:r>
              <a:rPr sz="1800" b="0">
                <a:solidFill>
                  <a:srgbClr val="3F3F3F"/>
                </a:solidFill>
                <a:latin typeface="Calibri"/>
                <a:ea typeface="Calibri"/>
                <a:cs typeface="Calibri"/>
              </a:rPr>
              <a:t> Entwicklung kompakter SOH-Modelle</a:t>
            </a:r>
          </a:p>
          <a:p xmlns:a="http://schemas.openxmlformats.org/drawingml/2006/main">
            <a:pPr marL="0" indent="0" algn="l">
              <a:spcBef>
                <a:spcPts val="0"/>
              </a:spcBef>
              <a:spcAft>
                <a:spcPts val="0"/>
              </a:spcAft>
              <a:buNone/>
              <a:defRPr sz="1800" b="0">
                <a:solidFill>
                  <a:srgbClr val="3F3F3F"/>
                </a:solidFill>
                <a:latin typeface="Calibri"/>
                <a:ea typeface="Calibri"/>
                <a:cs typeface="Calibri"/>
              </a:defRPr>
            </a:pPr>
            <a:r>
              <a:rPr sz="1800" b="0">
                <a:solidFill>
                  <a:srgbClr val="3F3F3F"/>
                </a:solidFill>
                <a:latin typeface="Calibri"/>
                <a:ea typeface="Calibri"/>
                <a:cs typeface="Calibri"/>
              </a:rPr>
              <a:t>mit Feature Engineering</a:t>
            </a:r>
          </a:p>
        </p:txBody>
      </p:sp>
      <p:sp>
        <p:nvSpPr>
          <p:cNvPr id="2" name="V6_Text_2">
            <a:extLst xmlns:a="http://schemas.openxmlformats.org/drawingml/2006/main">
              <a:ext uri="{FF2B5EF4-FFF2-40B4-BE49-F238E27FC236}">
                <a16:creationId xmlns:a16="http://schemas.microsoft.com/office/drawing/2014/main" id="{6E2AE00D-6BEA-482D-9E85-303D904E3E43}"/>
              </a:ext>
            </a:extLst>
          </p:cNvPr>
          <p:cNvSpPr>
            <a:spLocks xmlns:a="http://schemas.openxmlformats.org/drawingml/2006/main" noGrp="1"/>
          </p:cNvSpPr>
          <p:nvPr/>
        </p:nvSpPr>
        <p:spPr>
          <a:xfrm xmlns:a="http://schemas.openxmlformats.org/drawingml/2006/main">
            <a:off x="4038600" y="3028950"/>
            <a:ext cx="5905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a:p xmlns:a="http://schemas.openxmlformats.org/drawingml/2006/main">
            <a:pPr marL="0" indent="0" algn="l">
              <a:spcBef>
                <a:spcPts val="0"/>
              </a:spcBef>
              <a:spcAft>
                <a:spcPts val="7"/>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2. Wie verhalten sich Batteriezustandsmodelle unter realistischen Betriebs- und Messbedingungen, und welche Faktoren bestimmen ihre Robustheit?</a:t>
            </a:r>
          </a:p>
          <a:p xmlns:a="http://schemas.openxmlformats.org/drawingml/2006/main">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Ziel:</a:t>
            </a:r>
            <a:r>
              <a:rPr sz="1800" b="0">
                <a:solidFill>
                  <a:srgbClr val="3F3F3F"/>
                </a:solidFill>
                <a:latin typeface="Calibri"/>
                <a:ea typeface="Calibri"/>
                <a:cs typeface="Calibri"/>
              </a:rPr>
              <a:t> Benchmark verschiedener Estimatorklassen</a:t>
            </a:r>
          </a:p>
        </p:txBody>
      </p:sp>
      <p:pic>
        <p:nvPicPr>
          <p:cNvPr id="39" name="V6_TU_Logo"/>
          <p:cNvPicPr>
            <a:picLocks xmlns:a="http://schemas.openxmlformats.org/drawingml/2006/main" noChangeAspect="1"/>
          </p:cNvPicPr>
          <p:nvPr/>
        </p:nvPicPr>
        <p:blipFill>
          <a:blip xmlns:r="http://schemas.openxmlformats.org/officeDocument/2006/relationships" xmlns:a="http://schemas.openxmlformats.org/drawingml/2006/main" r:embed="R8506ecdc0c914bc0"/>
          <a:stretch xmlns:a="http://schemas.openxmlformats.org/drawingml/2006/main">
            <a:fillRect l="0" t="0" r="0" b="0"/>
          </a:stretch>
        </p:blipFill>
        <p:spPr>
          <a:xfrm xmlns:a="http://schemas.openxmlformats.org/drawingml/2006/main">
            <a:off x="10614660" y="378460"/>
            <a:ext cx="1003300" cy="767080"/>
          </a:xfrm>
          <a:prstGeom xmlns:a="http://schemas.openxmlformats.org/drawingml/2006/main" prst="rect">
            <a:avLst/>
          </a:prstGeom>
        </p:spPr>
      </p:pic>
      <p:sp>
        <p:nvSpPr>
          <p:cNvPr id="19" name="Structure separator">
            <a:extLst xmlns:a="http://schemas.openxmlformats.org/drawingml/2006/main">
              <a:ext uri="{FF2B5EF4-FFF2-40B4-BE49-F238E27FC236}">
                <a16:creationId xmlns:a16="http://schemas.microsoft.com/office/drawing/2014/main" id="{54E63CB4-812C-4C12-8452-14638149E8DF}"/>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20" name="Structure label">
            <a:extLst xmlns:a="http://schemas.openxmlformats.org/drawingml/2006/main">
              <a:ext uri="{FF2B5EF4-FFF2-40B4-BE49-F238E27FC236}">
                <a16:creationId xmlns:a16="http://schemas.microsoft.com/office/drawing/2014/main" id="{F1DADF86-8CB0-4317-AFF7-BAA36D108C5F}"/>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xmlns:a="http://schemas.openxmlformats.org/drawingml/2006/main">
              <a:ext uri="{FF2B5EF4-FFF2-40B4-BE49-F238E27FC236}">
                <a16:creationId xmlns:a16="http://schemas.microsoft.com/office/drawing/2014/main" id="{FF71DF24-89D0-405F-9DA8-26B9EF340276}"/>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Ziele</a:t>
            </a:r>
          </a:p>
        </p:txBody>
      </p:sp>
      <p:sp>
        <p:nvSpPr>
          <p:cNvPr id="22" name="Structure 1">
            <a:extLst xmlns:a="http://schemas.openxmlformats.org/drawingml/2006/main">
              <a:ext uri="{FF2B5EF4-FFF2-40B4-BE49-F238E27FC236}">
                <a16:creationId xmlns:a16="http://schemas.microsoft.com/office/drawing/2014/main" id="{6CD3A483-59F5-423D-9CDE-23DA31D6C0D1}"/>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xmlns:a="http://schemas.openxmlformats.org/drawingml/2006/main">
              <a:ext uri="{FF2B5EF4-FFF2-40B4-BE49-F238E27FC236}">
                <a16:creationId xmlns:a16="http://schemas.microsoft.com/office/drawing/2014/main" id="{B39C24D9-62D3-4002-8DB4-3F9A92597BC4}"/>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xmlns:a="http://schemas.openxmlformats.org/drawingml/2006/main">
              <a:ext uri="{FF2B5EF4-FFF2-40B4-BE49-F238E27FC236}">
                <a16:creationId xmlns:a16="http://schemas.microsoft.com/office/drawing/2014/main" id="{ADF04085-DA9D-4AD9-B8FA-39D2C1595C2E}"/>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xmlns:a="http://schemas.openxmlformats.org/drawingml/2006/main">
              <a:ext uri="{FF2B5EF4-FFF2-40B4-BE49-F238E27FC236}">
                <a16:creationId xmlns:a16="http://schemas.microsoft.com/office/drawing/2014/main" id="{415B5AE4-3DAA-4011-BB0D-CAF8C43EBB41}"/>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xmlns:a="http://schemas.openxmlformats.org/drawingml/2006/main">
              <a:ext uri="{FF2B5EF4-FFF2-40B4-BE49-F238E27FC236}">
                <a16:creationId xmlns:a16="http://schemas.microsoft.com/office/drawing/2014/main" id="{D11E931D-6665-431E-BBB4-D8C7F89B7012}"/>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9" name="v11-text-3-3">
            <a:extLst xmlns:a="http://schemas.openxmlformats.org/drawingml/2006/main">
              <a:ext uri="{FF2B5EF4-FFF2-40B4-BE49-F238E27FC236}">
                <a16:creationId xmlns:a16="http://schemas.microsoft.com/office/drawing/2014/main" id="{88295B18-3110-4A8E-9847-DAE2B8976FB1}"/>
              </a:ext>
            </a:extLst>
          </p:cNvPr>
          <p:cNvSpPr>
            <a:spLocks xmlns:a="http://schemas.openxmlformats.org/drawingml/2006/main" noGrp="1"/>
          </p:cNvSpPr>
          <p:nvPr/>
        </p:nvSpPr>
        <p:spPr>
          <a:xfrm xmlns:a="http://schemas.openxmlformats.org/drawingml/2006/main">
            <a:off x="4038600" y="4495800"/>
            <a:ext cx="59055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spcBef>
                <a:spcPts val="0"/>
              </a:spcBef>
              <a:spcAft>
                <a:spcPts val="7"/>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3. Wie lassen sich Batteriezustandsmodelle auf Embedded-Hardware übertragen und hinsichtlich Speicherbedarf, Laufzeit und Energiebedarf optimieren?</a:t>
            </a:r>
          </a:p>
          <a:p xmlns:a="http://schemas.openxmlformats.org/drawingml/2006/main">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Ziel:</a:t>
            </a:r>
            <a:r>
              <a:rPr sz="1800" b="0">
                <a:solidFill>
                  <a:srgbClr val="3F3F3F"/>
                </a:solidFill>
                <a:latin typeface="Calibri"/>
                <a:ea typeface="Calibri"/>
                <a:cs typeface="Calibri"/>
              </a:rPr>
              <a:t> Optimierung durch Pruning und Quantization</a:t>
            </a:r>
          </a:p>
        </p:txBody>
      </p:sp>
    </p:spTree>
    <p:extLst>
      <p:ext uri="{BB962C8B-B14F-4D97-AF65-F5344CB8AC3E}">
        <p14:creationId xmlns:p14="http://schemas.microsoft.com/office/powerpoint/2010/main" val="19509968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Betriebsbedingungen prägen den Alterungsverlauf</a:t>
            </a:r>
          </a: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4 / 44</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sp>
        <p:nvSpPr>
          <p:cNvPr id="10" name="V5_Text_10">
            <a:extLst xmlns:a="http://schemas.openxmlformats.org/drawingml/2006/main">
              <a:ext uri="{FF2B5EF4-FFF2-40B4-BE49-F238E27FC236}">
                <a16:creationId xmlns:a16="http://schemas.microsoft.com/office/drawing/2014/main" id="{6B731D95-6F8F-4540-A014-76C84DF3FCDF}"/>
              </a:ext>
            </a:extLst>
          </p:cNvPr>
          <p:cNvSpPr>
            <a:spLocks xmlns:a="http://schemas.openxmlformats.org/drawingml/2006/main" noGrp="1"/>
          </p:cNvSpPr>
          <p:nvPr/>
        </p:nvSpPr>
        <p:spPr>
          <a:xfrm xmlns:a="http://schemas.openxmlformats.org/drawingml/2006/main">
            <a:off x="552450" y="1381125"/>
            <a:ext cx="93535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800" b="0">
                <a:solidFill>
                  <a:srgbClr val="3F3F3F"/>
                </a:solidFill>
                <a:latin typeface="Calibri"/>
                <a:ea typeface="Calibri"/>
                <a:cs typeface="Calibri"/>
              </a:defRPr>
            </a:pPr>
            <a:r>
              <a:rPr sz="1800" b="1">
                <a:latin typeface="Calibri"/>
                <a:ea typeface="Calibri"/>
                <a:cs typeface="Calibri"/>
              </a:rPr>
              <a:t>NMC: 14 Zellen · 7 Alterungsszenarien</a:t>
            </a:r>
          </a:p>
        </p:txBody>
      </p:sp>
      <p:sp>
        <p:nvSpPr>
          <p:cNvPr id="14" name="V5_Text_14">
            <a:extLst xmlns:a="http://schemas.openxmlformats.org/drawingml/2006/main">
              <a:ext uri="{FF2B5EF4-FFF2-40B4-BE49-F238E27FC236}">
                <a16:creationId xmlns:a16="http://schemas.microsoft.com/office/drawing/2014/main" id="{5898A285-EA2D-4EEB-8F6D-FFBDF728B251}"/>
              </a:ext>
            </a:extLst>
          </p:cNvPr>
          <p:cNvSpPr>
            <a:spLocks xmlns:a="http://schemas.openxmlformats.org/drawingml/2006/main" noGrp="1"/>
          </p:cNvSpPr>
          <p:nvPr/>
        </p:nvSpPr>
        <p:spPr>
          <a:xfrm xmlns:a="http://schemas.openxmlformats.org/drawingml/2006/main">
            <a:off x="7239000" y="1905000"/>
            <a:ext cx="2714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a:p xmlns:a="http://schemas.openxmlformats.org/drawingml/2006/main">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Referenz:</a:t>
            </a:r>
            <a:r>
              <a:rPr sz="1800" b="0">
                <a:latin typeface="Calibri"/>
                <a:ea typeface="Calibri"/>
                <a:cs typeface="Calibri"/>
              </a:rPr>
              <a:t> SOH aus wiederholten Kapazitätsmessungen</a:t>
            </a:r>
          </a:p>
        </p:txBody>
      </p:sp>
      <p:sp>
        <p:nvSpPr>
          <p:cNvPr id="18" name="V5_Text_18">
            <a:extLst xmlns:a="http://schemas.openxmlformats.org/drawingml/2006/main">
              <a:ext uri="{FF2B5EF4-FFF2-40B4-BE49-F238E27FC236}">
                <a16:creationId xmlns:a16="http://schemas.microsoft.com/office/drawing/2014/main" id="{84B05DF7-AB35-47A6-BE0B-BE72F46541A5}"/>
              </a:ext>
            </a:extLst>
          </p:cNvPr>
          <p:cNvSpPr>
            <a:spLocks xmlns:a="http://schemas.openxmlformats.org/drawingml/2006/main" noGrp="1"/>
          </p:cNvSpPr>
          <p:nvPr/>
        </p:nvSpPr>
        <p:spPr>
          <a:xfrm xmlns:a="http://schemas.openxmlformats.org/drawingml/2006/main">
            <a:off x="7239000" y="3067050"/>
            <a:ext cx="271462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ns0:p xmlns:ns0="http://schemas.openxmlformats.org/drawingml/2006/main">
            <ns0:pPr marL="20" indent="-17" algn="l">
              <ns0:spcBef>
                <ns0:spcPts val="0"/>
              </ns0:spcBef>
              <ns0:spcAft>
                <ns0:spcPts val="0"/>
              </ns0:spcAft>
              <ns0:buChar char="•"/>
              <ns0:defRPr sz="1800" b="0">
                <ns0:solidFill>
                  <ns0:srgbClr val="3F3F3F"/>
                </ns0:solidFill>
                <ns0:latin typeface="Calibri"/>
                <ns0:ea typeface="Calibri"/>
                <ns0:cs typeface="Calibri"/>
              </ns0:defRPr>
            </ns0:pPr>
            <ns0:r>
              <ns0:rPr sz="1800" b="1">
                <ns0:solidFill>
                  <ns0:srgbClr val="3F3F3F"/>
                </ns0:solidFill>
                <ns0:latin typeface="Calibri"/>
                <ns0:ea typeface="Calibri"/>
                <ns0:cs typeface="Calibri"/>
              </ns0:rPr>
              <ns0:t>Einflussgrößen:</ns0:t>
            </ns0:r>
            <ns0:r>
              <ns0:rPr sz="1800" b="0">
                <ns0:solidFill>
                  <ns0:srgbClr val="3F3F3F"/>
                </ns0:solidFill>
                <ns0:latin typeface="Calibri"/>
                <ns0:ea typeface="Calibri"/>
                <ns0:cs typeface="Calibri"/>
              </ns0:rPr>
              <ns0:t xml:space="preserve"> Temperatur, mittlerer SOC, Entladetiefe und Entlade-C-Rate</ns0:t>
            </ns0:r>
          </ns0:p>
        </p:txBody>
      </p:sp>
      <p:sp>
        <p:nvSpPr>
          <p:cNvPr id="22" name="Structure separator">
            <a:extLst xmlns:a="http://schemas.openxmlformats.org/drawingml/2006/main">
              <a:ext uri="{FF2B5EF4-FFF2-40B4-BE49-F238E27FC236}">
                <a16:creationId xmlns:a16="http://schemas.microsoft.com/office/drawing/2014/main" id="{9F163A22-59F2-4055-9435-CB06C3239B9B}"/>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23" name="Structure label">
            <a:extLst xmlns:a="http://schemas.openxmlformats.org/drawingml/2006/main">
              <a:ext uri="{FF2B5EF4-FFF2-40B4-BE49-F238E27FC236}">
                <a16:creationId xmlns:a16="http://schemas.microsoft.com/office/drawing/2014/main" id="{89A76005-6941-472C-BA9A-84B6096E5C4F}"/>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4" name="Structure 0">
            <a:extLst xmlns:a="http://schemas.openxmlformats.org/drawingml/2006/main">
              <a:ext uri="{FF2B5EF4-FFF2-40B4-BE49-F238E27FC236}">
                <a16:creationId xmlns:a16="http://schemas.microsoft.com/office/drawing/2014/main" id="{F93AF8CF-9994-46EE-9B86-E5B36815D5B2}"/>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5" name="Structure 1">
            <a:extLst xmlns:a="http://schemas.openxmlformats.org/drawingml/2006/main">
              <a:ext uri="{FF2B5EF4-FFF2-40B4-BE49-F238E27FC236}">
                <a16:creationId xmlns:a16="http://schemas.microsoft.com/office/drawing/2014/main" id="{4C317DB3-2700-4A74-854B-8336AC629552}"/>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Daten &amp; BMS</a:t>
            </a:r>
          </a:p>
        </p:txBody>
      </p:sp>
      <p:sp>
        <p:nvSpPr>
          <p:cNvPr id="26" name="Structure 2">
            <a:extLst xmlns:a="http://schemas.openxmlformats.org/drawingml/2006/main">
              <a:ext uri="{FF2B5EF4-FFF2-40B4-BE49-F238E27FC236}">
                <a16:creationId xmlns:a16="http://schemas.microsoft.com/office/drawing/2014/main" id="{1364A288-23B0-400D-A36A-CA3796C5E36E}"/>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7" name="Structure 3">
            <a:extLst xmlns:a="http://schemas.openxmlformats.org/drawingml/2006/main">
              <a:ext uri="{FF2B5EF4-FFF2-40B4-BE49-F238E27FC236}">
                <a16:creationId xmlns:a16="http://schemas.microsoft.com/office/drawing/2014/main" id="{515BE92F-BA5C-4884-9FAD-E6990C98C74F}"/>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8" name="Structure 4">
            <a:extLst xmlns:a="http://schemas.openxmlformats.org/drawingml/2006/main">
              <a:ext uri="{FF2B5EF4-FFF2-40B4-BE49-F238E27FC236}">
                <a16:creationId xmlns:a16="http://schemas.microsoft.com/office/drawing/2014/main" id="{DFA8661F-3E29-4543-B9D9-21AE39135FAA}"/>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9" name="Structure 5">
            <a:extLst xmlns:a="http://schemas.openxmlformats.org/drawingml/2006/main">
              <a:ext uri="{FF2B5EF4-FFF2-40B4-BE49-F238E27FC236}">
                <a16:creationId xmlns:a16="http://schemas.microsoft.com/office/drawing/2014/main" id="{DD926D6D-0B28-4A6C-821B-E60D848F8410}"/>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e4fbe1f7c3904904"/>
          <a:stretch xmlns:a="http://schemas.openxmlformats.org/drawingml/2006/main"/>
        </p:blipFill>
        <p:spPr>
          <a:xfrm xmlns:a="http://schemas.openxmlformats.org/drawingml/2006/main">
            <a:off x="552450" y="1793286"/>
            <a:ext cx="6381750" cy="3128553"/>
          </a:xfrm>
          <a:prstGeom xmlns:a="http://schemas.openxmlformats.org/drawingml/2006/main" prst="rect">
            <a:avLst/>
          </a:prstGeom>
        </p:spPr>
      </p:pic>
      <p:sp>
        <p:nvSpPr>
          <p:cNvPr id="31" name="v11-text-4-4">
            <a:extLst xmlns:a="http://schemas.openxmlformats.org/drawingml/2006/main">
              <a:ext uri="{FF2B5EF4-FFF2-40B4-BE49-F238E27FC236}">
                <a16:creationId xmlns:a16="http://schemas.microsoft.com/office/drawing/2014/main" id="{62DD65BA-8965-45C3-B3DC-4D93E4FF0611}"/>
              </a:ext>
            </a:extLst>
          </p:cNvPr>
          <p:cNvSpPr>
            <a:spLocks xmlns:a="http://schemas.openxmlformats.org/drawingml/2006/main" noGrp="1"/>
          </p:cNvSpPr>
          <p:nvPr/>
        </p:nvSpPr>
        <p:spPr>
          <a:xfrm xmlns:a="http://schemas.openxmlformats.org/drawingml/2006/main">
            <a:off x="552450" y="5095875"/>
            <a:ext cx="93535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Verwendung der Datensätze in dieser Arbeit:</a:t>
            </a:r>
          </a:p>
          <a:p xmlns:a="http://schemas.openxmlformats.org/drawingml/2006/main">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NMC:</a:t>
            </a:r>
            <a:r>
              <a:rPr sz="1800" b="0">
                <a:solidFill>
                  <a:srgbClr val="3F3F3F"/>
                </a:solidFill>
                <a:latin typeface="Calibri"/>
                <a:ea typeface="Calibri"/>
                <a:cs typeface="Calibri"/>
              </a:rPr>
              <a:t> Modellentwicklung zur SOH-Bestimmung</a:t>
            </a:r>
          </a:p>
          <a:p xmlns:a="http://schemas.openxmlformats.org/drawingml/2006/main">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LFP:</a:t>
            </a:r>
            <a:r>
              <a:rPr sz="1800" b="0">
                <a:solidFill>
                  <a:srgbClr val="3F3F3F"/>
                </a:solidFill>
                <a:latin typeface="Calibri"/>
                <a:ea typeface="Calibri"/>
                <a:cs typeface="Calibri"/>
              </a:rPr>
              <a:t> Robustheitsvergleich und Embedded-AI-Optimierung</a:t>
            </a:r>
          </a:p>
        </p:txBody>
      </p:sp>
    </p:spTree>
    <p:extLst>
      <p:ext uri="{BB962C8B-B14F-4D97-AF65-F5344CB8AC3E}">
        <p14:creationId xmlns:p14="http://schemas.microsoft.com/office/powerpoint/2010/main" val="60366682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Betriebsbedingungen prägen den Alterungsverlauf</a:t>
            </a:r>
          </a: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5 / 44</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sp>
        <p:nvSpPr>
          <p:cNvPr id="18" name="V5_Text_18">
            <a:extLst xmlns:a="http://schemas.openxmlformats.org/drawingml/2006/main">
              <a:ext uri="{FF2B5EF4-FFF2-40B4-BE49-F238E27FC236}">
                <a16:creationId xmlns:a16="http://schemas.microsoft.com/office/drawing/2014/main" id="{84B05DF7-AB35-47A6-BE0B-BE72F46541A5}"/>
              </a:ext>
            </a:extLst>
          </p:cNvPr>
          <p:cNvSpPr>
            <a:spLocks xmlns:a="http://schemas.openxmlformats.org/drawingml/2006/main" noGrp="1"/>
          </p:cNvSpPr>
          <p:nvPr/>
        </p:nvSpPr>
        <p:spPr>
          <a:xfrm xmlns:a="http://schemas.openxmlformats.org/drawingml/2006/main">
            <a:off x="552450" y="1381125"/>
            <a:ext cx="93535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800" b="0">
                <a:solidFill>
                  <a:srgbClr val="3F3F3F"/>
                </a:solidFill>
                <a:latin typeface="Calibri"/>
                <a:ea typeface="Calibri"/>
                <a:cs typeface="Calibri"/>
              </a:defRPr>
            </a:pPr>
            <a:r>
              <a:rPr sz="1800" b="1">
                <a:latin typeface="Calibri"/>
                <a:ea typeface="Calibri"/>
                <a:cs typeface="Calibri"/>
              </a:rPr>
              <a:t>LFP: 15 Zellen · systematische Lastvariation</a:t>
            </a:r>
          </a:p>
        </p:txBody>
      </p:sp>
      <p:sp>
        <p:nvSpPr>
          <p:cNvPr id="22" name="Structure separator">
            <a:extLst xmlns:a="http://schemas.openxmlformats.org/drawingml/2006/main">
              <a:ext uri="{FF2B5EF4-FFF2-40B4-BE49-F238E27FC236}">
                <a16:creationId xmlns:a16="http://schemas.microsoft.com/office/drawing/2014/main" id="{9F163A22-59F2-4055-9435-CB06C3239B9B}"/>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23" name="Structure label">
            <a:extLst xmlns:a="http://schemas.openxmlformats.org/drawingml/2006/main">
              <a:ext uri="{FF2B5EF4-FFF2-40B4-BE49-F238E27FC236}">
                <a16:creationId xmlns:a16="http://schemas.microsoft.com/office/drawing/2014/main" id="{89A76005-6941-472C-BA9A-84B6096E5C4F}"/>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4" name="Structure 0">
            <a:extLst xmlns:a="http://schemas.openxmlformats.org/drawingml/2006/main">
              <a:ext uri="{FF2B5EF4-FFF2-40B4-BE49-F238E27FC236}">
                <a16:creationId xmlns:a16="http://schemas.microsoft.com/office/drawing/2014/main" id="{F93AF8CF-9994-46EE-9B86-E5B36815D5B2}"/>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5" name="Structure 1">
            <a:extLst xmlns:a="http://schemas.openxmlformats.org/drawingml/2006/main">
              <a:ext uri="{FF2B5EF4-FFF2-40B4-BE49-F238E27FC236}">
                <a16:creationId xmlns:a16="http://schemas.microsoft.com/office/drawing/2014/main" id="{4C317DB3-2700-4A74-854B-8336AC629552}"/>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Daten &amp; BMS</a:t>
            </a:r>
          </a:p>
        </p:txBody>
      </p:sp>
      <p:sp>
        <p:nvSpPr>
          <p:cNvPr id="26" name="Structure 2">
            <a:extLst xmlns:a="http://schemas.openxmlformats.org/drawingml/2006/main">
              <a:ext uri="{FF2B5EF4-FFF2-40B4-BE49-F238E27FC236}">
                <a16:creationId xmlns:a16="http://schemas.microsoft.com/office/drawing/2014/main" id="{1364A288-23B0-400D-A36A-CA3796C5E36E}"/>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7" name="Structure 3">
            <a:extLst xmlns:a="http://schemas.openxmlformats.org/drawingml/2006/main">
              <a:ext uri="{FF2B5EF4-FFF2-40B4-BE49-F238E27FC236}">
                <a16:creationId xmlns:a16="http://schemas.microsoft.com/office/drawing/2014/main" id="{515BE92F-BA5C-4884-9FAD-E6990C98C74F}"/>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8" name="Structure 4">
            <a:extLst xmlns:a="http://schemas.openxmlformats.org/drawingml/2006/main">
              <a:ext uri="{FF2B5EF4-FFF2-40B4-BE49-F238E27FC236}">
                <a16:creationId xmlns:a16="http://schemas.microsoft.com/office/drawing/2014/main" id="{DFA8661F-3E29-4543-B9D9-21AE39135FAA}"/>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9" name="Structure 5">
            <a:extLst xmlns:a="http://schemas.openxmlformats.org/drawingml/2006/main">
              <a:ext uri="{FF2B5EF4-FFF2-40B4-BE49-F238E27FC236}">
                <a16:creationId xmlns:a16="http://schemas.microsoft.com/office/drawing/2014/main" id="{DD926D6D-0B28-4A6C-821B-E60D848F8410}"/>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8e78729a58db46d8"/>
          <a:stretch xmlns:a="http://schemas.openxmlformats.org/drawingml/2006/main"/>
        </p:blipFill>
        <p:spPr>
          <a:xfrm xmlns:a="http://schemas.openxmlformats.org/drawingml/2006/main">
            <a:off x="924122" y="1762125"/>
            <a:ext cx="5638406" cy="3190875"/>
          </a:xfrm>
          <a:prstGeom xmlns:a="http://schemas.openxmlformats.org/drawingml/2006/main" prst="rect">
            <a:avLst/>
          </a:prstGeom>
        </p:spPr>
      </p:pic>
      <p:sp>
        <p:nvSpPr>
          <p:cNvPr id="31" name="v11-text-5-2">
            <a:extLst xmlns:a="http://schemas.openxmlformats.org/drawingml/2006/main">
              <a:ext uri="{FF2B5EF4-FFF2-40B4-BE49-F238E27FC236}">
                <a16:creationId xmlns:a16="http://schemas.microsoft.com/office/drawing/2014/main" id="{24DD6FF9-45A5-4F02-BED9-3C3C6B3FD36A}"/>
              </a:ext>
            </a:extLst>
          </p:cNvPr>
          <p:cNvSpPr>
            <a:spLocks xmlns:a="http://schemas.openxmlformats.org/drawingml/2006/main" noGrp="1"/>
          </p:cNvSpPr>
          <p:nvPr/>
        </p:nvSpPr>
        <p:spPr>
          <a:xfrm xmlns:a="http://schemas.openxmlformats.org/drawingml/2006/main">
            <a:off x="7239000" y="1905000"/>
            <a:ext cx="2714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Referenz:</a:t>
            </a:r>
            <a:r>
              <a:rPr sz="1800" b="0">
                <a:latin typeface="Calibri"/>
                <a:ea typeface="Calibri"/>
                <a:cs typeface="Calibri"/>
              </a:rPr>
              <a:t> SOH aus wiederholten Kapazitätsmessungen</a:t>
            </a:r>
          </a:p>
        </p:txBody>
      </p:sp>
      <p:sp>
        <p:nvSpPr>
          <p:cNvPr id="32" name="v11-text-5-3">
            <a:extLst xmlns:a="http://schemas.openxmlformats.org/drawingml/2006/main">
              <a:ext uri="{FF2B5EF4-FFF2-40B4-BE49-F238E27FC236}">
                <a16:creationId xmlns:a16="http://schemas.microsoft.com/office/drawing/2014/main" id="{C334D3CF-0E05-40BA-B00E-CA49B88AD53D}"/>
              </a:ext>
            </a:extLst>
          </p:cNvPr>
          <p:cNvSpPr>
            <a:spLocks xmlns:a="http://schemas.openxmlformats.org/drawingml/2006/main" noGrp="1"/>
          </p:cNvSpPr>
          <p:nvPr/>
        </p:nvSpPr>
        <p:spPr>
          <a:xfrm xmlns:a="http://schemas.openxmlformats.org/drawingml/2006/main">
            <a:off x="7239000" y="3067050"/>
            <a:ext cx="271462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marL="20" indent="-17" algn="l">
              <ns0:spcBef>
                <ns0:spcPts val="0"/>
              </ns0:spcBef>
              <ns0:spcAft>
                <ns0:spcPts val="0"/>
              </ns0:spcAft>
              <ns0:buChar char="•"/>
              <ns0:defRPr sz="1800" b="0">
                <ns0:solidFill>
                  <ns0:srgbClr val="3F3F3F"/>
                </ns0:solidFill>
                <ns0:latin typeface="Calibri"/>
                <ns0:ea typeface="Calibri"/>
                <ns0:cs typeface="Calibri"/>
              </ns0:defRPr>
            </ns0:pPr>
            <ns0:r>
              <ns0:rPr sz="1800" b="1">
                <ns0:solidFill>
                  <ns0:srgbClr val="3F3F3F"/>
                </ns0:solidFill>
                <ns0:latin typeface="Calibri"/>
                <ns0:ea typeface="Calibri"/>
                <ns0:cs typeface="Calibri"/>
              </ns0:rPr>
              <ns0:t>Versuchsbedingungen:</ns0:t>
            </ns0:r>
            <ns0:r>
              <ns0:rPr sz="1800" b="0">
                <ns0:solidFill>
                  <ns0:srgbClr val="3F3F3F"/>
                </ns0:solidFill>
                <ns0:latin typeface="Calibri"/>
                <ns0:ea typeface="Calibri"/>
                <ns0:cs typeface="Calibri"/>
              </ns0:rPr>
              <ns0:t xml:space="preserve"> Variation von Lade-C-Rate, Entlade-C-Rate und Entladetiefe bei 25 °C</ns0:t>
            </ns0:r>
          </ns0:p>
        </p:txBody>
      </p:sp>
      <p:sp>
        <p:nvSpPr>
          <p:cNvPr id="33" name="v11-text-5-4">
            <a:extLst xmlns:a="http://schemas.openxmlformats.org/drawingml/2006/main">
              <a:ext uri="{FF2B5EF4-FFF2-40B4-BE49-F238E27FC236}">
                <a16:creationId xmlns:a16="http://schemas.microsoft.com/office/drawing/2014/main" id="{ECC0E068-AD3D-4CFA-B57D-77FD2F6294D5}"/>
              </a:ext>
            </a:extLst>
          </p:cNvPr>
          <p:cNvSpPr>
            <a:spLocks xmlns:a="http://schemas.openxmlformats.org/drawingml/2006/main" noGrp="1"/>
          </p:cNvSpPr>
          <p:nvPr/>
        </p:nvSpPr>
        <p:spPr>
          <a:xfrm xmlns:a="http://schemas.openxmlformats.org/drawingml/2006/main">
            <a:off x="552450" y="5095875"/>
            <a:ext cx="93535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Verwendung der Datensätze in dieser Arbeit:</a:t>
            </a:r>
          </a:p>
          <a:p xmlns:a="http://schemas.openxmlformats.org/drawingml/2006/main">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NMC:</a:t>
            </a:r>
            <a:r>
              <a:rPr sz="1800" b="0">
                <a:solidFill>
                  <a:srgbClr val="3F3F3F"/>
                </a:solidFill>
                <a:latin typeface="Calibri"/>
                <a:ea typeface="Calibri"/>
                <a:cs typeface="Calibri"/>
              </a:rPr>
              <a:t> Modellentwicklung zur SOH-Bestimmung</a:t>
            </a:r>
          </a:p>
          <a:p xmlns:a="http://schemas.openxmlformats.org/drawingml/2006/main">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LFP:</a:t>
            </a:r>
            <a:r>
              <a:rPr sz="1800" b="0">
                <a:solidFill>
                  <a:srgbClr val="3F3F3F"/>
                </a:solidFill>
                <a:latin typeface="Calibri"/>
                <a:ea typeface="Calibri"/>
                <a:cs typeface="Calibri"/>
              </a:rPr>
              <a:t> Robustheitsvergleich und Embedded-AI-Optimierung</a:t>
            </a:r>
          </a:p>
        </p:txBody>
      </p:sp>
    </p:spTree>
    <p:extLst>
      <p:ext uri="{BB962C8B-B14F-4D97-AF65-F5344CB8AC3E}">
        <p14:creationId xmlns:p14="http://schemas.microsoft.com/office/powerpoint/2010/main" val="60366682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2400" b="0">
                <a:solidFill>
                  <a:srgbClr val="CC001C"/>
                </a:solidFill>
                <a:latin typeface="Calibri"/>
                <a:ea typeface="Calibri"/>
                <a:cs typeface="Calibri"/>
              </a:defRPr>
            </a:pPr>
            <a:r>
              <a:rPr sz="2400" b="0">
                <a:solidFill>
                  <a:srgbClr val="CC001C"/>
                </a:solidFill>
                <a:latin typeface="Calibri"/>
                <a:ea typeface="Calibri"/>
                <a:cs typeface="Calibri"/>
              </a:rPr>
              <a:t>BMS: Messung, Schutz und Zustandsbestimmung</a:t>
            </a:r>
          </a: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6 / 44</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pic>
        <p:nvPicPr>
          <p:cNvPr id="36" name="V5_Figure_11"/>
          <p:cNvPicPr>
            <a:picLocks xmlns:a="http://schemas.openxmlformats.org/drawingml/2006/main" noChangeAspect="1"/>
          </p:cNvPicPr>
          <p:nvPr/>
        </p:nvPicPr>
        <p:blipFill>
          <a:blip xmlns:r="http://schemas.openxmlformats.org/officeDocument/2006/relationships" xmlns:a="http://schemas.openxmlformats.org/drawingml/2006/main" r:embed="Rdd075d120829441f"/>
          <a:stretch xmlns:a="http://schemas.openxmlformats.org/drawingml/2006/main"/>
        </p:blipFill>
        <p:spPr>
          <a:xfrm xmlns:a="http://schemas.openxmlformats.org/drawingml/2006/main">
            <a:off x="552450" y="1581150"/>
            <a:ext cx="4762500" cy="3550227"/>
          </a:xfrm>
          <a:prstGeom xmlns:a="http://schemas.openxmlformats.org/drawingml/2006/main" prst="rect">
            <a:avLst/>
          </a:prstGeom>
        </p:spPr>
      </p:pic>
      <p:sp>
        <p:nvSpPr>
          <p:cNvPr id="12" name="V5_Text_12">
            <a:extLst xmlns:a="http://schemas.openxmlformats.org/drawingml/2006/main">
              <a:ext uri="{FF2B5EF4-FFF2-40B4-BE49-F238E27FC236}">
                <a16:creationId xmlns:a16="http://schemas.microsoft.com/office/drawing/2014/main" id="{4D8F9433-1B66-496D-94D9-7508C3A7BC7D}"/>
              </a:ext>
            </a:extLst>
          </p:cNvPr>
          <p:cNvSpPr>
            <a:spLocks xmlns:a="http://schemas.openxmlformats.org/drawingml/2006/main" noGrp="1"/>
          </p:cNvSpPr>
          <p:nvPr/>
        </p:nvSpPr>
        <p:spPr>
          <a:xfrm xmlns:a="http://schemas.openxmlformats.org/drawingml/2006/main">
            <a:off x="5581650" y="1514475"/>
            <a:ext cx="43815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a:p xmlns:a="http://schemas.openxmlformats.org/drawingml/2006/main">
            <a:pPr marL="0" indent="0" algn="l">
              <a:spcBef>
                <a:spcPts val="0"/>
              </a:spcBef>
              <a:spcAft>
                <a:spcPts val="4"/>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1 · BMS-Chip: TLE9012DQU</a:t>
            </a:r>
          </a:p>
          <a:p xmlns:a="http://schemas.openxmlformats.org/drawingml/2006/main">
            <a:pPr marL="0" indent="0" algn="l">
              <a:spcBef>
                <a:spcPts val="0"/>
              </a:spcBef>
              <a:spcAft>
                <a:spcPts val="4"/>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Messung:</a:t>
            </a:r>
            <a:r>
              <a:rPr sz="1800" b="0">
                <a:solidFill>
                  <a:srgbClr val="3F3F3F"/>
                </a:solidFill>
                <a:latin typeface="Calibri"/>
                <a:ea typeface="Calibri"/>
                <a:cs typeface="Calibri"/>
              </a:rPr>
              <a:t> Zellspannungen und Temperaturen</a:t>
            </a:r>
          </a:p>
          <a:p xmlns:a="http://schemas.openxmlformats.org/drawingml/2006/main">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Balancing:</a:t>
            </a:r>
            <a:r>
              <a:rPr sz="1800" b="0">
                <a:solidFill>
                  <a:srgbClr val="3F3F3F"/>
                </a:solidFill>
                <a:latin typeface="Calibri"/>
                <a:ea typeface="Calibri"/>
                <a:cs typeface="Calibri"/>
              </a:rPr>
              <a:t> Passiver Ladungsausgleich</a:t>
            </a:r>
          </a:p>
        </p:txBody>
      </p:sp>
      <p:sp>
        <p:nvSpPr>
          <p:cNvPr id="13" name="V5_Text_13">
            <a:extLst xmlns:a="http://schemas.openxmlformats.org/drawingml/2006/main">
              <a:ext uri="{FF2B5EF4-FFF2-40B4-BE49-F238E27FC236}">
                <a16:creationId xmlns:a16="http://schemas.microsoft.com/office/drawing/2014/main" id="{5A4F3F28-529D-4C59-9F54-C2139FA8E81E}"/>
              </a:ext>
            </a:extLst>
          </p:cNvPr>
          <p:cNvSpPr>
            <a:spLocks xmlns:a="http://schemas.openxmlformats.org/drawingml/2006/main" noGrp="1"/>
          </p:cNvSpPr>
          <p:nvPr/>
        </p:nvSpPr>
        <p:spPr>
          <a:xfrm xmlns:a="http://schemas.openxmlformats.org/drawingml/2006/main">
            <a:off x="5581650" y="2971800"/>
            <a:ext cx="4381500" cy="181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a:p xmlns:a="http://schemas.openxmlformats.org/drawingml/2006/main">
            <a:pPr marL="0" indent="0" algn="l">
              <a:spcBef>
                <a:spcPts val="0"/>
              </a:spcBef>
              <a:spcAft>
                <a:spcPts val="4"/>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2 · Mikrocontroller: STM32H755</a:t>
            </a:r>
          </a:p>
          <a:p xmlns:a="http://schemas.openxmlformats.org/drawingml/2006/main">
            <a:pPr marL="0" indent="0" algn="l">
              <a:spcBef>
                <a:spcPts val="0"/>
              </a:spcBef>
              <a:spcAft>
                <a:spcPts val="4"/>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Cortex-M4:</a:t>
            </a:r>
            <a:r>
              <a:rPr sz="1800" b="0">
                <a:solidFill>
                  <a:srgbClr val="3F3F3F"/>
                </a:solidFill>
                <a:latin typeface="Calibri"/>
                <a:ea typeface="Calibri"/>
                <a:cs typeface="Calibri"/>
              </a:rPr>
              <a:t> Messwerterfassung, Überwachung, Schutzansteuerung und Kommunikation</a:t>
            </a:r>
          </a:p>
          <a:p xmlns:a="http://schemas.openxmlformats.org/drawingml/2006/main">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Cortex-M7:</a:t>
            </a:r>
            <a:r>
              <a:rPr sz="1800" b="0">
                <a:solidFill>
                  <a:srgbClr val="3F3F3F"/>
                </a:solidFill>
                <a:latin typeface="Calibri"/>
                <a:ea typeface="Calibri"/>
                <a:cs typeface="Calibri"/>
              </a:rPr>
              <a:t> Ausführung der SOC- und SOH-Modelle</a:t>
            </a:r>
          </a:p>
        </p:txBody>
      </p:sp>
      <p:sp>
        <p:nvSpPr>
          <p:cNvPr id="14" name="V5_Text_14">
            <a:extLst xmlns:a="http://schemas.openxmlformats.org/drawingml/2006/main">
              <a:ext uri="{FF2B5EF4-FFF2-40B4-BE49-F238E27FC236}">
                <a16:creationId xmlns:a16="http://schemas.microsoft.com/office/drawing/2014/main" id="{E930538A-F8EE-48C7-A0E4-3E6AFDB4793F}"/>
              </a:ext>
            </a:extLst>
          </p:cNvPr>
          <p:cNvSpPr>
            <a:spLocks xmlns:a="http://schemas.openxmlformats.org/drawingml/2006/main" noGrp="1"/>
          </p:cNvSpPr>
          <p:nvPr/>
        </p:nvSpPr>
        <p:spPr>
          <a:xfrm xmlns:a="http://schemas.openxmlformats.org/drawingml/2006/main">
            <a:off x="5581650" y="4886325"/>
            <a:ext cx="438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Strommessung:</a:t>
            </a:r>
            <a:r>
              <a:rPr sz="1800" b="0">
                <a:solidFill>
                  <a:srgbClr val="3F3F3F"/>
                </a:solidFill>
                <a:latin typeface="Calibri"/>
                <a:ea typeface="Calibri"/>
                <a:cs typeface="Calibri"/>
              </a:rPr>
              <a:t> Zusätzlicher Messpfad</a:t>
            </a:r>
          </a:p>
        </p:txBody>
      </p:sp>
      <p:sp>
        <p:nvSpPr>
          <p:cNvPr id="15" name="V5_Text_15">
            <a:extLst xmlns:a="http://schemas.openxmlformats.org/drawingml/2006/main">
              <a:ext uri="{FF2B5EF4-FFF2-40B4-BE49-F238E27FC236}">
                <a16:creationId xmlns:a16="http://schemas.microsoft.com/office/drawing/2014/main" id="{509CA76A-7359-4973-B6B7-ED9E15DA4747}"/>
              </a:ext>
            </a:extLst>
          </p:cNvPr>
          <p:cNvSpPr>
            <a:spLocks xmlns:a="http://schemas.openxmlformats.org/drawingml/2006/main" noGrp="1"/>
          </p:cNvSpPr>
          <p:nvPr/>
        </p:nvSpPr>
        <p:spPr>
          <a:xfrm xmlns:a="http://schemas.openxmlformats.org/drawingml/2006/main">
            <a:off x="552450" y="5372100"/>
            <a:ext cx="93535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Hardwarebenchmark auf STM32H753ZI:</a:t>
            </a:r>
          </a:p>
          <a:p xmlns:a="http://schemas.openxmlformats.org/drawingml/2006/main">
            <a:pPr marL="0" indent="0" algn="l">
              <a:spcBef>
                <a:spcPts val="0"/>
              </a:spcBef>
              <a:spcAft>
                <a:spcPts val="0"/>
              </a:spcAft>
              <a:buNone/>
              <a:defRPr sz="1800" b="0">
                <a:solidFill>
                  <a:srgbClr val="3F3F3F"/>
                </a:solidFill>
                <a:latin typeface="Calibri"/>
                <a:ea typeface="Calibri"/>
                <a:cs typeface="Calibri"/>
              </a:defRPr>
            </a:pPr>
            <a:r>
              <a:rPr sz="1800" b="0">
                <a:solidFill>
                  <a:srgbClr val="3F3F3F"/>
                </a:solidFill>
                <a:latin typeface="Calibri"/>
                <a:ea typeface="Calibri"/>
                <a:cs typeface="Calibri"/>
              </a:rPr>
              <a:t>Bewertung der Zustandsmodelle hinsichtlich Flash, RAM und Ausführungszeit</a:t>
            </a:r>
          </a:p>
        </p:txBody>
      </p:sp>
      <p:sp>
        <p:nvSpPr>
          <p:cNvPr id="19" name="Structure separator">
            <a:extLst xmlns:a="http://schemas.openxmlformats.org/drawingml/2006/main">
              <a:ext uri="{FF2B5EF4-FFF2-40B4-BE49-F238E27FC236}">
                <a16:creationId xmlns:a16="http://schemas.microsoft.com/office/drawing/2014/main" id="{18EFCDC5-DCE8-41E4-B8ED-49CF7B2832FE}"/>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20" name="Structure label">
            <a:extLst xmlns:a="http://schemas.openxmlformats.org/drawingml/2006/main">
              <a:ext uri="{FF2B5EF4-FFF2-40B4-BE49-F238E27FC236}">
                <a16:creationId xmlns:a16="http://schemas.microsoft.com/office/drawing/2014/main" id="{B9013FDC-A63E-4B77-A6DF-B5331C8AC662}"/>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xmlns:a="http://schemas.openxmlformats.org/drawingml/2006/main">
              <a:ext uri="{FF2B5EF4-FFF2-40B4-BE49-F238E27FC236}">
                <a16:creationId xmlns:a16="http://schemas.microsoft.com/office/drawing/2014/main" id="{A0736BF4-121F-4EBF-96F1-1B8FF0AEE2E1}"/>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xmlns:a="http://schemas.openxmlformats.org/drawingml/2006/main">
              <a:ext uri="{FF2B5EF4-FFF2-40B4-BE49-F238E27FC236}">
                <a16:creationId xmlns:a16="http://schemas.microsoft.com/office/drawing/2014/main" id="{9A02545E-3EA7-44AD-88D0-A28E87B51536}"/>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Daten &amp; BMS</a:t>
            </a:r>
          </a:p>
        </p:txBody>
      </p:sp>
      <p:sp>
        <p:nvSpPr>
          <p:cNvPr id="23" name="Structure 2">
            <a:extLst xmlns:a="http://schemas.openxmlformats.org/drawingml/2006/main">
              <a:ext uri="{FF2B5EF4-FFF2-40B4-BE49-F238E27FC236}">
                <a16:creationId xmlns:a16="http://schemas.microsoft.com/office/drawing/2014/main" id="{661E6C2C-CABE-46A2-8780-DA7068F9762F}"/>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xmlns:a="http://schemas.openxmlformats.org/drawingml/2006/main">
              <a:ext uri="{FF2B5EF4-FFF2-40B4-BE49-F238E27FC236}">
                <a16:creationId xmlns:a16="http://schemas.microsoft.com/office/drawing/2014/main" id="{1483D0BA-1129-43B7-BEE7-60E49D142C39}"/>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xmlns:a="http://schemas.openxmlformats.org/drawingml/2006/main">
              <a:ext uri="{FF2B5EF4-FFF2-40B4-BE49-F238E27FC236}">
                <a16:creationId xmlns:a16="http://schemas.microsoft.com/office/drawing/2014/main" id="{D0F1BB27-577F-4697-92B5-D31E00E4E1F8}"/>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xmlns:a="http://schemas.openxmlformats.org/drawingml/2006/main">
              <a:ext uri="{FF2B5EF4-FFF2-40B4-BE49-F238E27FC236}">
                <a16:creationId xmlns:a16="http://schemas.microsoft.com/office/drawing/2014/main" id="{4A93D98A-BE32-4AA9-B714-3F0DB8BE1929}"/>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8" name="v13-BMS-chip-outline">
            <a:extLst xmlns:a="http://schemas.openxmlformats.org/drawingml/2006/main">
              <a:ext uri="{FF2B5EF4-FFF2-40B4-BE49-F238E27FC236}">
                <a16:creationId xmlns:a16="http://schemas.microsoft.com/office/drawing/2014/main" id="{66457CF3-CF11-4095-951A-AF178676728F}"/>
              </a:ext>
            </a:extLst>
          </p:cNvPr>
          <p:cNvSpPr>
            <a:spLocks xmlns:a="http://schemas.openxmlformats.org/drawingml/2006/main" noGrp="1"/>
          </p:cNvSpPr>
          <p:nvPr/>
        </p:nvSpPr>
        <p:spPr>
          <a:xfrm xmlns:a="http://schemas.openxmlformats.org/drawingml/2006/main">
            <a:off x="2009775" y="2895600"/>
            <a:ext cx="523875" cy="438150"/>
          </a:xfrm>
          <a:prstGeom xmlns:a="http://schemas.openxmlformats.org/drawingml/2006/main" prst="rect">
            <a:avLst/>
          </a:prstGeom>
          <a:noFill xmlns:a="http://schemas.openxmlformats.org/drawingml/2006/main"/>
          <a:ln xmlns:a="http://schemas.openxmlformats.org/drawingml/2006/main" w="23813">
            <a:solidFill>
              <a:srgbClr val="CC001C"/>
            </a:solidFill>
            <a:prstDash val="solid"/>
          </a:ln>
        </p:spPr>
      </p:sp>
      <p:sp>
        <p:nvSpPr>
          <p:cNvPr id="29" name="v13-MCU-outline">
            <a:extLst xmlns:a="http://schemas.openxmlformats.org/drawingml/2006/main">
              <a:ext uri="{FF2B5EF4-FFF2-40B4-BE49-F238E27FC236}">
                <a16:creationId xmlns:a16="http://schemas.microsoft.com/office/drawing/2014/main" id="{CAC6BD24-346E-4973-8DC7-10D152ADD920}"/>
              </a:ext>
            </a:extLst>
          </p:cNvPr>
          <p:cNvSpPr>
            <a:spLocks xmlns:a="http://schemas.openxmlformats.org/drawingml/2006/main" noGrp="1"/>
          </p:cNvSpPr>
          <p:nvPr/>
        </p:nvSpPr>
        <p:spPr>
          <a:xfrm xmlns:a="http://schemas.openxmlformats.org/drawingml/2006/main">
            <a:off x="2647950" y="4352925"/>
            <a:ext cx="876300" cy="628650"/>
          </a:xfrm>
          <a:prstGeom xmlns:a="http://schemas.openxmlformats.org/drawingml/2006/main" prst="ellipse">
            <a:avLst/>
          </a:prstGeom>
          <a:noFill xmlns:a="http://schemas.openxmlformats.org/drawingml/2006/main"/>
          <a:ln xmlns:a="http://schemas.openxmlformats.org/drawingml/2006/main" w="23813">
            <a:solidFill>
              <a:srgbClr val="CC001C"/>
            </a:solidFill>
            <a:prstDash val="solid"/>
          </a:ln>
        </p:spPr>
      </p:sp>
      <p:sp>
        <p:nvSpPr>
          <p:cNvPr id="30" name="v13-BMS-chip-number">
            <a:extLst xmlns:a="http://schemas.openxmlformats.org/drawingml/2006/main">
              <a:ext uri="{FF2B5EF4-FFF2-40B4-BE49-F238E27FC236}">
                <a16:creationId xmlns:a16="http://schemas.microsoft.com/office/drawing/2014/main" id="{C9ADCA3C-D0E6-488F-A818-E5C19DF716AE}"/>
              </a:ext>
            </a:extLst>
          </p:cNvPr>
          <p:cNvSpPr>
            <a:spLocks xmlns:a="http://schemas.openxmlformats.org/drawingml/2006/main" noGrp="1"/>
          </p:cNvSpPr>
          <p:nvPr/>
        </p:nvSpPr>
        <p:spPr>
          <a:xfrm xmlns:a="http://schemas.openxmlformats.org/drawingml/2006/main">
            <a:off x="1790700" y="2847975"/>
            <a:ext cx="2190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800" b="1">
                <a:solidFill>
                  <a:srgbClr val="CC001C"/>
                </a:solidFill>
                <a:latin typeface="Calibri"/>
                <a:ea typeface="Calibri"/>
                <a:cs typeface="Calibri"/>
              </a:defRPr>
            </a:pPr>
            <a:r>
              <a:rPr sz="1800" b="1">
                <a:solidFill>
                  <a:srgbClr val="CC001C"/>
                </a:solidFill>
                <a:latin typeface="Calibri"/>
                <a:ea typeface="Calibri"/>
                <a:cs typeface="Calibri"/>
              </a:rPr>
              <a:t>1</a:t>
            </a:r>
          </a:p>
        </p:txBody>
      </p:sp>
      <p:sp>
        <p:nvSpPr>
          <p:cNvPr id="31" name="v13-MCU-number">
            <a:extLst xmlns:a="http://schemas.openxmlformats.org/drawingml/2006/main">
              <a:ext uri="{FF2B5EF4-FFF2-40B4-BE49-F238E27FC236}">
                <a16:creationId xmlns:a16="http://schemas.microsoft.com/office/drawing/2014/main" id="{C0B51D4E-8D0B-4A9A-8A09-9DE931907698}"/>
              </a:ext>
            </a:extLst>
          </p:cNvPr>
          <p:cNvSpPr>
            <a:spLocks xmlns:a="http://schemas.openxmlformats.org/drawingml/2006/main" noGrp="1"/>
          </p:cNvSpPr>
          <p:nvPr/>
        </p:nvSpPr>
        <p:spPr>
          <a:xfrm xmlns:a="http://schemas.openxmlformats.org/drawingml/2006/main">
            <a:off x="2409825" y="4371975"/>
            <a:ext cx="2190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800" b="1">
                <a:solidFill>
                  <a:srgbClr val="CC001C"/>
                </a:solidFill>
                <a:latin typeface="Calibri"/>
                <a:ea typeface="Calibri"/>
                <a:cs typeface="Calibri"/>
              </a:defRPr>
            </a:pPr>
            <a:r>
              <a:rPr sz="1800" b="1">
                <a:solidFill>
                  <a:srgbClr val="CC001C"/>
                </a:solidFill>
                <a:latin typeface="Calibri"/>
                <a:ea typeface="Calibri"/>
                <a:cs typeface="Calibri"/>
              </a:rPr>
              <a:t>2</a:t>
            </a:r>
          </a:p>
        </p:txBody>
      </p:sp>
    </p:spTree>
    <p:extLst>
      <p:ext uri="{BB962C8B-B14F-4D97-AF65-F5344CB8AC3E}">
        <p14:creationId xmlns:p14="http://schemas.microsoft.com/office/powerpoint/2010/main" val="400305851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2400" b="0">
                <a:solidFill>
                  <a:srgbClr val="CC001C"/>
                </a:solidFill>
                <a:latin typeface="Calibri"/>
                <a:ea typeface="Calibri"/>
                <a:cs typeface="Calibri"/>
              </a:defRPr>
            </a:pPr>
            <a:r>
              <a:rPr sz="2400" b="0">
                <a:solidFill>
                  <a:srgbClr val="CC001C"/>
                </a:solidFill>
                <a:latin typeface="Calibri"/>
                <a:ea typeface="Calibri"/>
                <a:cs typeface="Calibri"/>
              </a:rPr>
              <a:t>Feature Engineering für kompakte SOH-Modelle</a:t>
            </a:r>
          </a: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7 / 44</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pic>
        <p:nvPicPr>
          <p:cNvPr id="48" name="V5_Figure_11"/>
          <p:cNvPicPr>
            <a:picLocks xmlns:a="http://schemas.openxmlformats.org/drawingml/2006/main" noChangeAspect="1"/>
          </p:cNvPicPr>
          <p:nvPr/>
        </p:nvPicPr>
        <p:blipFill>
          <a:blip xmlns:r="http://schemas.openxmlformats.org/officeDocument/2006/relationships" xmlns:a="http://schemas.openxmlformats.org/drawingml/2006/main" r:embed="R52c0d9efdaad4afd"/>
          <a:stretch xmlns:a="http://schemas.openxmlformats.org/drawingml/2006/main"/>
        </p:blipFill>
        <p:spPr>
          <a:xfrm xmlns:a="http://schemas.openxmlformats.org/drawingml/2006/main">
            <a:off x="552450" y="1818088"/>
            <a:ext cx="4667250" cy="2936074"/>
          </a:xfrm>
          <a:prstGeom xmlns:a="http://schemas.openxmlformats.org/drawingml/2006/main" prst="rect">
            <a:avLst/>
          </a:prstGeom>
        </p:spPr>
      </p:pic>
      <p:sp>
        <p:nvSpPr>
          <p:cNvPr id="12" name="V5_Text_12">
            <a:extLst xmlns:a="http://schemas.openxmlformats.org/drawingml/2006/main">
              <a:ext uri="{FF2B5EF4-FFF2-40B4-BE49-F238E27FC236}">
                <a16:creationId xmlns:a16="http://schemas.microsoft.com/office/drawing/2014/main" id="{3C15EE52-60E3-43E9-A0E5-0BA4629013B2}"/>
              </a:ext>
            </a:extLst>
          </p:cNvPr>
          <p:cNvSpPr>
            <a:spLocks xmlns:a="http://schemas.openxmlformats.org/drawingml/2006/main" noGrp="1"/>
          </p:cNvSpPr>
          <p:nvPr/>
        </p:nvSpPr>
        <p:spPr>
          <a:xfrm xmlns:a="http://schemas.openxmlformats.org/drawingml/2006/main">
            <a:off x="5705475" y="1552575"/>
            <a:ext cx="423862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a:p xmlns:a="http://schemas.openxmlformats.org/drawingml/2006/main">
            <a:pPr marL="20" indent="-17" algn="l">
              <a:spcBef>
                <a:spcPts val="0"/>
              </a:spcBef>
              <a:spcAft>
                <a:spcPts val="0"/>
              </a:spcAft>
              <a:buChar char="•"/>
              <a:defRPr sz="1800" b="0">
                <a:solidFill>
                  <a:srgbClr val="3F3F3F"/>
                </a:solidFill>
                <a:latin typeface="Calibri"/>
                <a:ea typeface="Calibri"/>
                <a:cs typeface="Calibri"/>
              </a:defRPr>
            </a:pPr>
            <a:r>
              <a:rPr sz="1800" b="1">
                <a:solidFill>
                  <a:srgbClr val="3F3F3F"/>
                </a:solidFill>
                <a:latin typeface="Calibri"/>
                <a:ea typeface="Calibri"/>
                <a:cs typeface="Calibri"/>
              </a:rPr>
              <a:t>Modellansatz:</a:t>
            </a:r>
            <a:r>
              <a:rPr sz="1800" b="0">
                <a:solidFill>
                  <a:srgbClr val="3F3F3F"/>
                </a:solidFill>
                <a:latin typeface="Calibri"/>
                <a:ea typeface="Calibri"/>
                <a:cs typeface="Calibri"/>
              </a:rPr>
              <a:t> Kompaktes MLP zur SOH-Bestimmung auf Basis zeitlich aufbereiteter Features</a:t>
            </a:r>
          </a:p>
        </p:txBody>
      </p:sp>
      <p:pic>
        <p:nvPicPr>
          <p:cNvPr id="50" name="V6_TU_Logo"/>
          <p:cNvPicPr>
            <a:picLocks xmlns:a="http://schemas.openxmlformats.org/drawingml/2006/main" noChangeAspect="1"/>
          </p:cNvPicPr>
          <p:nvPr/>
        </p:nvPicPr>
        <p:blipFill>
          <a:blip xmlns:r="http://schemas.openxmlformats.org/officeDocument/2006/relationships" xmlns:a="http://schemas.openxmlformats.org/drawingml/2006/main" r:embed="Ra310d266306746a9"/>
          <a:stretch xmlns:a="http://schemas.openxmlformats.org/drawingml/2006/main">
            <a:fillRect l="0" t="0" r="0" b="0"/>
          </a:stretch>
        </p:blipFill>
        <p:spPr>
          <a:xfrm xmlns:a="http://schemas.openxmlformats.org/drawingml/2006/main">
            <a:off x="10614660" y="378460"/>
            <a:ext cx="1003300" cy="767080"/>
          </a:xfrm>
          <a:prstGeom xmlns:a="http://schemas.openxmlformats.org/drawingml/2006/main" prst="rect">
            <a:avLst/>
          </a:prstGeom>
        </p:spPr>
      </p:pic>
      <p:sp>
        <p:nvSpPr>
          <p:cNvPr id="27" name="Structure separator">
            <a:extLst xmlns:a="http://schemas.openxmlformats.org/drawingml/2006/main">
              <a:ext uri="{FF2B5EF4-FFF2-40B4-BE49-F238E27FC236}">
                <a16:creationId xmlns:a16="http://schemas.microsoft.com/office/drawing/2014/main" id="{31A951B4-F982-4BDD-A6F8-992E4D146BB9}"/>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28" name="Structure label">
            <a:extLst xmlns:a="http://schemas.openxmlformats.org/drawingml/2006/main">
              <a:ext uri="{FF2B5EF4-FFF2-40B4-BE49-F238E27FC236}">
                <a16:creationId xmlns:a16="http://schemas.microsoft.com/office/drawing/2014/main" id="{CE33F504-E8A4-4752-BFB1-CA77D6857C6D}"/>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9" name="Structure 0">
            <a:extLst xmlns:a="http://schemas.openxmlformats.org/drawingml/2006/main">
              <a:ext uri="{FF2B5EF4-FFF2-40B4-BE49-F238E27FC236}">
                <a16:creationId xmlns:a16="http://schemas.microsoft.com/office/drawing/2014/main" id="{B28EA5F9-BF6D-4C80-B814-27FAD5449BAD}"/>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30" name="Structure 1">
            <a:extLst xmlns:a="http://schemas.openxmlformats.org/drawingml/2006/main">
              <a:ext uri="{FF2B5EF4-FFF2-40B4-BE49-F238E27FC236}">
                <a16:creationId xmlns:a16="http://schemas.microsoft.com/office/drawing/2014/main" id="{8FACDF47-7807-4141-9228-B519C835A69F}"/>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31" name="Structure 2">
            <a:extLst xmlns:a="http://schemas.openxmlformats.org/drawingml/2006/main">
              <a:ext uri="{FF2B5EF4-FFF2-40B4-BE49-F238E27FC236}">
                <a16:creationId xmlns:a16="http://schemas.microsoft.com/office/drawing/2014/main" id="{AA5E4BAD-B98E-4803-82B0-0133567586B3}"/>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32" name="Structure 3">
            <a:extLst xmlns:a="http://schemas.openxmlformats.org/drawingml/2006/main">
              <a:ext uri="{FF2B5EF4-FFF2-40B4-BE49-F238E27FC236}">
                <a16:creationId xmlns:a16="http://schemas.microsoft.com/office/drawing/2014/main" id="{1234837B-3900-4AB2-9787-2B9907CC2715}"/>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3" name="Structure 4">
            <a:extLst xmlns:a="http://schemas.openxmlformats.org/drawingml/2006/main">
              <a:ext uri="{FF2B5EF4-FFF2-40B4-BE49-F238E27FC236}">
                <a16:creationId xmlns:a16="http://schemas.microsoft.com/office/drawing/2014/main" id="{B1B90BC0-CD8E-4257-BDA5-0A1B62DAD270}"/>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34" name="Structure 5">
            <a:extLst xmlns:a="http://schemas.openxmlformats.org/drawingml/2006/main">
              <a:ext uri="{FF2B5EF4-FFF2-40B4-BE49-F238E27FC236}">
                <a16:creationId xmlns:a16="http://schemas.microsoft.com/office/drawing/2014/main" id="{F503748A-44D8-4EED-9392-A8FA98C002BC}"/>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37" name="v11-text-7-2">
            <a:extLst xmlns:a="http://schemas.openxmlformats.org/drawingml/2006/main">
              <a:ext uri="{FF2B5EF4-FFF2-40B4-BE49-F238E27FC236}">
                <a16:creationId xmlns:a16="http://schemas.microsoft.com/office/drawing/2014/main" id="{E7DE9B33-6F52-422E-8054-DD93047A22F7}"/>
              </a:ext>
            </a:extLst>
          </p:cNvPr>
          <p:cNvSpPr>
            <a:spLocks xmlns:a="http://schemas.openxmlformats.org/drawingml/2006/main" noGrp="1"/>
          </p:cNvSpPr>
          <p:nvPr/>
        </p:nvSpPr>
        <p:spPr>
          <a:xfrm xmlns:a="http://schemas.openxmlformats.org/drawingml/2006/main">
            <a:off x="5705475" y="2752725"/>
            <a:ext cx="423862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 indent="-17" algn="l">
              <a:spcBef>
                <a:spcPts val="0"/>
              </a:spcBef>
              <a:spcAft>
                <a:spcPts val="0"/>
              </a:spcAft>
              <a:buChar char="•"/>
              <a:defRPr sz="1800" b="0">
                <a:solidFill>
                  <a:srgbClr val="3F3F3F"/>
                </a:solidFill>
                <a:latin typeface="Calibri"/>
                <a:ea typeface="Calibri"/>
                <a:cs typeface="Calibri"/>
              </a:defRPr>
            </a:pPr>
            <a:r>
              <a:rPr sz="1800" b="1">
                <a:solidFill>
                  <a:srgbClr val="3F3F3F"/>
                </a:solidFill>
                <a:latin typeface="Calibri"/>
                <a:ea typeface="Calibri"/>
                <a:cs typeface="Calibri"/>
              </a:rPr>
              <a:t>Belastungshistorie:</a:t>
            </a:r>
            <a:r>
              <a:rPr sz="1800" b="0">
                <a:solidFill>
                  <a:srgbClr val="3F3F3F"/>
                </a:solidFill>
                <a:latin typeface="Calibri"/>
                <a:ea typeface="Calibri"/>
                <a:cs typeface="Calibri"/>
              </a:rPr>
              <a:t> Kumulativer Ladungsdurchsatz als Kennwert der bisherigen zyklischen Belastung</a:t>
            </a:r>
          </a:p>
        </p:txBody>
      </p:sp>
      <p:sp>
        <p:nvSpPr>
          <p:cNvPr id="38" name="v11-text-7-3">
            <a:extLst xmlns:a="http://schemas.openxmlformats.org/drawingml/2006/main">
              <a:ext uri="{FF2B5EF4-FFF2-40B4-BE49-F238E27FC236}">
                <a16:creationId xmlns:a16="http://schemas.microsoft.com/office/drawing/2014/main" id="{7518C95E-8CB7-4242-9840-C66EE7489429}"/>
              </a:ext>
            </a:extLst>
          </p:cNvPr>
          <p:cNvSpPr>
            <a:spLocks xmlns:a="http://schemas.openxmlformats.org/drawingml/2006/main" noGrp="1"/>
          </p:cNvSpPr>
          <p:nvPr/>
        </p:nvSpPr>
        <p:spPr>
          <a:xfrm xmlns:a="http://schemas.openxmlformats.org/drawingml/2006/main">
            <a:off x="5705475" y="4010025"/>
            <a:ext cx="4238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marL="20" indent="-17" algn="l">
              <ns0:spcBef>
                <ns0:spcPts val="0"/>
              </ns0:spcBef>
              <ns0:spcAft>
                <ns0:spcPts val="0"/>
              </ns0:spcAft>
              <ns0:buChar char="•"/>
              <ns0:defRPr sz="1800" b="0">
                <ns0:solidFill>
                  <ns0:srgbClr val="3F3F3F"/>
                </ns0:solidFill>
                <ns0:latin typeface="Calibri"/>
                <ns0:ea typeface="Calibri"/>
                <ns0:cs typeface="Calibri"/>
              </ns0:defRPr>
            </ns0:pPr>
            <ns0:r>
              <ns0:rPr sz="1800" b="1">
                <ns0:solidFill>
                  <ns0:srgbClr val="3F3F3F"/>
                </ns0:solidFill>
                <ns0:latin typeface="Calibri"/>
                <ns0:ea typeface="Calibri"/>
                <ns0:cs typeface="Calibri"/>
              </ns0:rPr>
              <ns0:t>Zeitlicher Kontext:</ns0:t>
            </ns0:r>
            <ns0:r>
              <ns0:rPr sz="1800" b="0">
                <ns0:solidFill>
                  <ns0:srgbClr val="3F3F3F"/>
                </ns0:solidFill>
                <ns0:latin typeface="Calibri"/>
                <ns0:ea typeface="Calibri"/>
                <ns0:cs typeface="Calibri"/>
              </ns0:rPr>
              <ns0:t xml:space="preserve"> Lag Sequences zur Berücksichtigung zeitlicher Verläufe von Spannung, Temperatur und Ladungsdurchsatz</ns0:t>
            </ns0:r>
          </ns0:p>
        </p:txBody>
      </p:sp>
      <p:sp>
        <p:nvSpPr>
          <p:cNvPr id="39" name="v11-text-7-4">
            <a:extLst xmlns:a="http://schemas.openxmlformats.org/drawingml/2006/main">
              <a:ext uri="{FF2B5EF4-FFF2-40B4-BE49-F238E27FC236}">
                <a16:creationId xmlns:a16="http://schemas.microsoft.com/office/drawing/2014/main" id="{CF848D58-8BA7-4281-8EEE-808EB9726DE8}"/>
              </a:ext>
            </a:extLst>
          </p:cNvPr>
          <p:cNvSpPr>
            <a:spLocks xmlns:a="http://schemas.openxmlformats.org/drawingml/2006/main" noGrp="1"/>
          </p:cNvSpPr>
          <p:nvPr/>
        </p:nvSpPr>
        <p:spPr>
          <a:xfrm xmlns:a="http://schemas.openxmlformats.org/drawingml/2006/main">
            <a:off x="552450" y="5381625"/>
            <a:ext cx="9353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Ziel:</a:t>
            </a:r>
            <a:r>
              <a:rPr sz="1800" b="0">
                <a:solidFill>
                  <a:srgbClr val="3F3F3F"/>
                </a:solidFill>
                <a:latin typeface="Calibri"/>
                <a:ea typeface="Calibri"/>
                <a:cs typeface="Calibri"/>
              </a:rPr>
              <a:t> Genaue SOH-Bestimmung bei geringer Modellkomplexität</a:t>
            </a:r>
          </a:p>
        </p:txBody>
      </p:sp>
      <p:cxnSp xmlns:a="http://schemas.openxmlformats.org/drawingml/2006/main">
        <p:nvCxnSpPr>
          <p:cNvPr id="51" name="v14-whole-domain-deployment_0"/>
          <p:cNvCxnSpPr/>
          <p:nvPr/>
        </p:nvCxnSpPr>
        <p:spPr>
          <a:xfrm flipH="1" flipV="1">
            <a:off x="1998328" y="2721069"/>
            <a:ext cx="675851" cy="675851"/>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xmlns:a="http://schemas.openxmlformats.org/drawingml/2006/main">
        <p:nvCxnSpPr>
          <p:cNvPr id="52" name="v14-whole-domain-deployment_1"/>
          <p:cNvCxnSpPr/>
          <p:nvPr/>
        </p:nvCxnSpPr>
        <p:spPr>
          <a:xfrm flipV="1">
            <a:off x="1998328" y="1820858"/>
            <a:ext cx="891901" cy="900211"/>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xmlns:a="http://schemas.openxmlformats.org/drawingml/2006/main">
        <p:nvCxnSpPr>
          <p:cNvPr id="53" name="v14-whole-domain-deployment_2"/>
          <p:cNvCxnSpPr/>
          <p:nvPr/>
        </p:nvCxnSpPr>
        <p:spPr>
          <a:xfrm>
            <a:off x="2890230" y="1820858"/>
            <a:ext cx="891902" cy="900211"/>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xmlns:a="http://schemas.openxmlformats.org/drawingml/2006/main">
        <p:nvCxnSpPr>
          <p:cNvPr id="54" name="v14-whole-domain-deployment_3"/>
          <p:cNvCxnSpPr/>
          <p:nvPr/>
        </p:nvCxnSpPr>
        <p:spPr>
          <a:xfrm flipH="1">
            <a:off x="3106280" y="2721069"/>
            <a:ext cx="675851" cy="675851"/>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xmlns:a="http://schemas.openxmlformats.org/drawingml/2006/main">
        <p:nvCxnSpPr>
          <p:cNvPr id="55" name="v14-whole-domain-performance_0"/>
          <p:cNvCxnSpPr/>
          <p:nvPr/>
        </p:nvCxnSpPr>
        <p:spPr>
          <a:xfrm flipV="1">
            <a:off x="3627018" y="2937120"/>
            <a:ext cx="698010" cy="703550"/>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xmlns:a="http://schemas.openxmlformats.org/drawingml/2006/main">
        <p:nvCxnSpPr>
          <p:cNvPr id="56" name="v14-whole-domain-performance_1"/>
          <p:cNvCxnSpPr/>
          <p:nvPr/>
        </p:nvCxnSpPr>
        <p:spPr>
          <a:xfrm>
            <a:off x="4325028" y="2937120"/>
            <a:ext cx="891901" cy="900211"/>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xmlns:a="http://schemas.openxmlformats.org/drawingml/2006/main">
        <p:nvCxnSpPr>
          <p:cNvPr id="57" name="v14-whole-domain-performance_2"/>
          <p:cNvCxnSpPr/>
          <p:nvPr/>
        </p:nvCxnSpPr>
        <p:spPr>
          <a:xfrm flipH="1">
            <a:off x="4325028" y="3837331"/>
            <a:ext cx="891901" cy="900212"/>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xmlns:a="http://schemas.openxmlformats.org/drawingml/2006/main">
        <p:nvCxnSpPr>
          <p:cNvPr id="58" name="v14-whole-domain-performance_3"/>
          <p:cNvCxnSpPr/>
          <p:nvPr/>
        </p:nvCxnSpPr>
        <p:spPr>
          <a:xfrm flipH="1" flipV="1">
            <a:off x="3627018" y="4039532"/>
            <a:ext cx="698010" cy="698011"/>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113876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lIns="0" tIns="0" rIns="0" bIns="0" anchor="t">
            <a:noAutofit/>
          </a:bodyPr>
          <a:lstStyle xmlns:a="http://schemas.openxmlformats.org/drawingml/2006/main"/>
          <a:p xmlns:a="http://schemas.openxmlformats.org/drawingml/2006/main">
            <a:pPr algn="l">
              <a:buNone/>
              <a:defRPr sz="2400">
                <a:solidFill>
                  <a:srgbClr val="D00020"/>
                </a:solidFill>
                <a:latin typeface="Calibri"/>
                <a:ea typeface="Calibri"/>
                <a:cs typeface="Calibri"/>
              </a:defRPr>
            </a:pPr>
            <a:r>
              <a:rPr sz="2400" b="0">
                <a:solidFill>
                  <a:srgbClr val="D00020"/>
                </a:solidFill>
                <a:latin typeface="Calibri"/>
                <a:ea typeface="Calibri"/>
                <a:cs typeface="Calibri"/>
              </a:rPr>
              <a:t>MLP: Hidden Layers und Activation Functions</a:t>
            </a:r>
          </a: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8 / 44</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pic>
        <p:nvPicPr>
          <p:cNvPr id="40" name="V5_Figure_11"/>
          <p:cNvPicPr>
            <a:picLocks xmlns:a="http://schemas.openxmlformats.org/drawingml/2006/main" noChangeAspect="1"/>
          </p:cNvPicPr>
          <p:nvPr/>
        </p:nvPicPr>
        <p:blipFill>
          <a:blip xmlns:r="http://schemas.openxmlformats.org/officeDocument/2006/relationships" xmlns:a="http://schemas.openxmlformats.org/drawingml/2006/main" r:embed="R4715103e67524ad7"/>
          <a:stretch xmlns:a="http://schemas.openxmlformats.org/drawingml/2006/main"/>
        </p:blipFill>
        <p:spPr>
          <a:xfrm xmlns:a="http://schemas.openxmlformats.org/drawingml/2006/main">
            <a:off x="552450" y="1463873"/>
            <a:ext cx="5667375" cy="2692003"/>
          </a:xfrm>
          <a:prstGeom xmlns:a="http://schemas.openxmlformats.org/drawingml/2006/main" prst="rect">
            <a:avLst/>
          </a:prstGeom>
        </p:spPr>
      </p:pic>
      <p:sp>
        <p:nvSpPr>
          <p:cNvPr id="12" name="V5_Text_12">
            <a:extLst xmlns:a="http://schemas.openxmlformats.org/drawingml/2006/main">
              <a:ext uri="{FF2B5EF4-FFF2-40B4-BE49-F238E27FC236}">
                <a16:creationId xmlns:a16="http://schemas.microsoft.com/office/drawing/2014/main" id="{3C15EE52-60E3-43E9-A0E5-0BA4629013B2}"/>
              </a:ext>
            </a:extLst>
          </p:cNvPr>
          <p:cNvSpPr>
            <a:spLocks xmlns:a="http://schemas.openxmlformats.org/drawingml/2006/main" noGrp="1"/>
          </p:cNvSpPr>
          <p:nvPr/>
        </p:nvSpPr>
        <p:spPr>
          <a:xfrm xmlns:a="http://schemas.openxmlformats.org/drawingml/2006/main">
            <a:off x="6648450" y="1514475"/>
            <a:ext cx="33051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a:solidFill>
                  <a:srgbClr val="444444"/>
                </a:solidFill>
                <a:latin typeface="Calibri"/>
                <a:ea typeface="Calibri"/>
                <a:cs typeface="Calibri"/>
              </a:defRPr>
            </a:pPr>
            <a:r>
              <a:rPr sz="1800" b="1">
                <a:solidFill>
                  <a:srgbClr val="444444"/>
                </a:solidFill>
                <a:latin typeface="Calibri"/>
                <a:ea typeface="Calibri"/>
                <a:cs typeface="Calibri"/>
              </a:rPr>
              <a:t>Weighted Sum + Bias:</a:t>
            </a:r>
          </a:p>
          <a:p xmlns:a="http://schemas.openxmlformats.org/drawingml/2006/main">
            <a:pPr algn="l">
              <a:buNone/>
              <a:defRPr sz="1800">
                <a:solidFill>
                  <a:srgbClr val="444444"/>
                </a:solidFill>
                <a:latin typeface="Calibri"/>
                <a:ea typeface="Calibri"/>
                <a:cs typeface="Calibri"/>
              </a:defRPr>
            </a:pPr>
            <a:r>
              <a:rPr sz="1800" b="0">
                <a:solidFill>
                  <a:srgbClr val="444444"/>
                </a:solidFill>
                <a:latin typeface="Calibri"/>
                <a:ea typeface="Calibri"/>
                <a:cs typeface="Calibri"/>
              </a:rPr>
              <a:t>Berechnung von z mit</a:t>
            </a:r>
          </a:p>
          <a:p xmlns:a="http://schemas.openxmlformats.org/drawingml/2006/main">
            <a:pPr algn="l">
              <a:buNone/>
              <a:defRPr sz="1800">
                <a:solidFill>
                  <a:srgbClr val="444444"/>
                </a:solidFill>
                <a:latin typeface="Calibri"/>
                <a:ea typeface="Calibri"/>
                <a:cs typeface="Calibri"/>
              </a:defRPr>
            </a:pPr>
            <a:r>
              <a:rPr sz="1800" b="0">
                <a:solidFill>
                  <a:srgbClr val="444444"/>
                </a:solidFill>
                <a:latin typeface="Calibri"/>
                <a:ea typeface="Calibri"/>
                <a:cs typeface="Calibri"/>
              </a:rPr>
              <a:t>Weights W, Bias b und Inputs a</a:t>
            </a:r>
          </a:p>
          <a:p xmlns:a="http://schemas.openxmlformats.org/drawingml/2006/main">
            <a:pPr algn="l">
              <a:buNone/>
              <a:defRPr sz="1800">
                <a:solidFill>
                  <a:srgbClr val="444444"/>
                </a:solidFill>
                <a:latin typeface="Calibri"/>
                <a:ea typeface="Calibri"/>
                <a:cs typeface="Calibri"/>
              </a:defRPr>
            </a:pPr>
            <a:r>
              <a:rPr sz="1800" b="0">
                <a:solidFill>
                  <a:srgbClr val="444444"/>
                </a:solidFill>
                <a:latin typeface="Calibri"/>
                <a:ea typeface="Calibri"/>
                <a:cs typeface="Calibri"/>
              </a:rPr>
              <a:t>aus dem vorherigen Layer</a:t>
            </a:r>
          </a:p>
        </p:txBody>
      </p:sp>
      <p:sp>
        <p:nvSpPr>
          <p:cNvPr id="2" name="V6_Text_2">
            <a:extLst xmlns:a="http://schemas.openxmlformats.org/drawingml/2006/main">
              <a:ext uri="{FF2B5EF4-FFF2-40B4-BE49-F238E27FC236}">
                <a16:creationId xmlns:a16="http://schemas.microsoft.com/office/drawing/2014/main" id="{6E2AE00D-6BEA-482D-9E85-303D904E3E43}"/>
              </a:ext>
            </a:extLst>
          </p:cNvPr>
          <p:cNvSpPr>
            <a:spLocks xmlns:a="http://schemas.openxmlformats.org/drawingml/2006/main" noGrp="1"/>
          </p:cNvSpPr>
          <p:nvPr/>
        </p:nvSpPr>
        <p:spPr>
          <a:xfrm xmlns:a="http://schemas.openxmlformats.org/drawingml/2006/main">
            <a:off x="6648450" y="2819400"/>
            <a:ext cx="33051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a:solidFill>
                  <a:srgbClr val="444444"/>
                </a:solidFill>
                <a:latin typeface="Calibri"/>
                <a:ea typeface="Calibri"/>
                <a:cs typeface="Calibri"/>
              </a:defRPr>
            </a:pPr>
            <a:r>
              <a:rPr sz="1800" b="1">
                <a:solidFill>
                  <a:srgbClr val="444444"/>
                </a:solidFill>
                <a:latin typeface="Calibri"/>
                <a:ea typeface="Calibri"/>
                <a:cs typeface="Calibri"/>
              </a:rPr>
              <a:t>Activation Function a = f(z):</a:t>
            </a:r>
          </a:p>
          <a:p xmlns:a="http://schemas.openxmlformats.org/drawingml/2006/main">
            <a:pPr algn="l">
              <a:buNone/>
              <a:defRPr sz="1800">
                <a:solidFill>
                  <a:srgbClr val="444444"/>
                </a:solidFill>
                <a:latin typeface="Calibri"/>
                <a:ea typeface="Calibri"/>
                <a:cs typeface="Calibri"/>
              </a:defRPr>
            </a:pPr>
            <a:r>
              <a:rPr sz="1800" b="0">
                <a:solidFill>
                  <a:srgbClr val="444444"/>
                </a:solidFill>
                <a:latin typeface="Calibri"/>
                <a:ea typeface="Calibri"/>
                <a:cs typeface="Calibri"/>
              </a:rPr>
              <a:t>Nonlinear Transformation</a:t>
            </a:r>
          </a:p>
          <a:p xmlns:a="http://schemas.openxmlformats.org/drawingml/2006/main">
            <a:pPr algn="l">
              <a:buNone/>
              <a:defRPr sz="1800">
                <a:solidFill>
                  <a:srgbClr val="444444"/>
                </a:solidFill>
                <a:latin typeface="Calibri"/>
                <a:ea typeface="Calibri"/>
                <a:cs typeface="Calibri"/>
              </a:defRPr>
            </a:pPr>
            <a:r>
              <a:rPr sz="1800" b="0">
                <a:solidFill>
                  <a:srgbClr val="444444"/>
                </a:solidFill>
                <a:latin typeface="Calibri"/>
                <a:ea typeface="Calibri"/>
                <a:cs typeface="Calibri"/>
              </a:rPr>
              <a:t>in den Hidden Layers;</a:t>
            </a:r>
          </a:p>
          <a:p xmlns:a="http://schemas.openxmlformats.org/drawingml/2006/main">
            <a:pPr algn="l">
              <a:buNone/>
              <a:defRPr sz="1800">
                <a:solidFill>
                  <a:srgbClr val="444444"/>
                </a:solidFill>
                <a:latin typeface="Calibri"/>
                <a:ea typeface="Calibri"/>
                <a:cs typeface="Calibri"/>
              </a:defRPr>
            </a:pPr>
            <a:r>
              <a:rPr sz="1800" b="0">
                <a:solidFill>
                  <a:srgbClr val="444444"/>
                </a:solidFill>
                <a:latin typeface="Calibri"/>
                <a:ea typeface="Calibri"/>
                <a:cs typeface="Calibri"/>
              </a:rPr>
              <a:t>Trainable Parameters: W und b</a:t>
            </a:r>
          </a:p>
        </p:txBody>
      </p:sp>
      <p:pic>
        <p:nvPicPr>
          <p:cNvPr id="43" name="V6_TU_Logo"/>
          <p:cNvPicPr>
            <a:picLocks xmlns:a="http://schemas.openxmlformats.org/drawingml/2006/main" noChangeAspect="1"/>
          </p:cNvPicPr>
          <p:nvPr/>
        </p:nvPicPr>
        <p:blipFill>
          <a:blip xmlns:r="http://schemas.openxmlformats.org/officeDocument/2006/relationships" xmlns:a="http://schemas.openxmlformats.org/drawingml/2006/main" r:embed="R21ef08124e924c68"/>
          <a:stretch xmlns:a="http://schemas.openxmlformats.org/drawingml/2006/main">
            <a:fillRect l="0" t="0" r="0" b="0"/>
          </a:stretch>
        </p:blipFill>
        <p:spPr>
          <a:xfrm xmlns:a="http://schemas.openxmlformats.org/drawingml/2006/main">
            <a:off x="10614660" y="378460"/>
            <a:ext cx="1003300" cy="767080"/>
          </a:xfrm>
          <a:prstGeom xmlns:a="http://schemas.openxmlformats.org/drawingml/2006/main" prst="rect">
            <a:avLst/>
          </a:prstGeom>
        </p:spPr>
      </p:pic>
      <p:sp>
        <p:nvSpPr>
          <p:cNvPr id="19" name="Structure separator">
            <a:extLst xmlns:a="http://schemas.openxmlformats.org/drawingml/2006/main">
              <a:ext uri="{FF2B5EF4-FFF2-40B4-BE49-F238E27FC236}">
                <a16:creationId xmlns:a16="http://schemas.microsoft.com/office/drawing/2014/main" id="{B31B0582-2B91-4A4D-AA57-F0D483B527E9}"/>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20" name="Structure label">
            <a:extLst xmlns:a="http://schemas.openxmlformats.org/drawingml/2006/main">
              <a:ext uri="{FF2B5EF4-FFF2-40B4-BE49-F238E27FC236}">
                <a16:creationId xmlns:a16="http://schemas.microsoft.com/office/drawing/2014/main" id="{EB050EF2-14AC-403A-BBAC-2A5E34352563}"/>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xmlns:a="http://schemas.openxmlformats.org/drawingml/2006/main">
              <a:ext uri="{FF2B5EF4-FFF2-40B4-BE49-F238E27FC236}">
                <a16:creationId xmlns:a16="http://schemas.microsoft.com/office/drawing/2014/main" id="{5EA5A00D-8BDD-4341-8F12-DDFAABCA27B7}"/>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xmlns:a="http://schemas.openxmlformats.org/drawingml/2006/main">
              <a:ext uri="{FF2B5EF4-FFF2-40B4-BE49-F238E27FC236}">
                <a16:creationId xmlns:a16="http://schemas.microsoft.com/office/drawing/2014/main" id="{CE7F5C5B-5576-44AE-AB99-2EF70DB77373}"/>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xmlns:a="http://schemas.openxmlformats.org/drawingml/2006/main">
              <a:ext uri="{FF2B5EF4-FFF2-40B4-BE49-F238E27FC236}">
                <a16:creationId xmlns:a16="http://schemas.microsoft.com/office/drawing/2014/main" id="{06DD0971-4D36-42C8-8E50-5EBE204CB199}"/>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24" name="Structure 3">
            <a:extLst xmlns:a="http://schemas.openxmlformats.org/drawingml/2006/main">
              <a:ext uri="{FF2B5EF4-FFF2-40B4-BE49-F238E27FC236}">
                <a16:creationId xmlns:a16="http://schemas.microsoft.com/office/drawing/2014/main" id="{6D2E0B23-A715-4F17-989B-28BDEECA4FEC}"/>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xmlns:a="http://schemas.openxmlformats.org/drawingml/2006/main">
              <a:ext uri="{FF2B5EF4-FFF2-40B4-BE49-F238E27FC236}">
                <a16:creationId xmlns:a16="http://schemas.microsoft.com/office/drawing/2014/main" id="{95E92BD0-1B31-4A81-89E5-C32C47DFD7A4}"/>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xmlns:a="http://schemas.openxmlformats.org/drawingml/2006/main">
              <a:ext uri="{FF2B5EF4-FFF2-40B4-BE49-F238E27FC236}">
                <a16:creationId xmlns:a16="http://schemas.microsoft.com/office/drawing/2014/main" id="{56E32B54-E522-4221-8600-7F7C989898CD}"/>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9" name="v11-math-8-3">
            <a:extLst xmlns:a="http://schemas.openxmlformats.org/drawingml/2006/main">
              <a:ext uri="{FF2B5EF4-FFF2-40B4-BE49-F238E27FC236}">
                <a16:creationId xmlns:a16="http://schemas.microsoft.com/office/drawing/2014/main" id="{D1CA509F-10E6-4161-A909-FA7327EB3733}"/>
              </a:ext>
            </a:extLst>
          </p:cNvPr>
          <p:cNvSpPr>
            <a:spLocks xmlns:a="http://schemas.openxmlformats.org/drawingml/2006/main" noGrp="1"/>
          </p:cNvSpPr>
          <p:nvPr/>
        </p:nvSpPr>
        <p:spPr>
          <a:xfrm xmlns:a="http://schemas.openxmlformats.org/drawingml/2006/main">
            <a:off x="3233738" y="4476750"/>
            <a:ext cx="39909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pPr>
            <a14:m xmlns:a14="http://schemas.microsoft.com/office/drawing/2010/main">
              <m:oMathPara xmlns:m="http://schemas.openxmlformats.org/officeDocument/2006/math">
                <m:oMathParaPr>
                  <m:jc m:val="centerGroup"/>
                </m:oMathParaPr>
                <m:oMath>
                  <m:sSup>
                    <m:e>
                      <m:r>
                        <a:rPr xmlns:a="http://schemas.openxmlformats.org/drawingml/2006/main" sz="1875">
                          <a:latin typeface="Cambria Math"/>
                          <a:ea typeface="Cambria Math"/>
                          <a:cs typeface="Cambria Math"/>
                        </a:rPr>
                        <m:t>z</m:t>
                      </m:r>
                    </m:e>
                    <m:sup>
                      <m:r>
                        <a:rPr xmlns:a="http://schemas.openxmlformats.org/drawingml/2006/main" sz="1313">
                          <a:latin typeface="Cambria Math"/>
                          <a:ea typeface="Cambria Math"/>
                          <a:cs typeface="Cambria Math"/>
                        </a:rPr>
                        <m:t>(</m:t>
                      </m:r>
                      <m:r>
                        <a:rPr xmlns:a="http://schemas.openxmlformats.org/drawingml/2006/main" sz="1313">
                          <a:latin typeface="Cambria Math"/>
                          <a:ea typeface="Cambria Math"/>
                          <a:cs typeface="Cambria Math"/>
                        </a:rPr>
                        <m:t>ℓ</m:t>
                      </m:r>
                      <m:r>
                        <a:rPr xmlns:a="http://schemas.openxmlformats.org/drawingml/2006/main" sz="1313">
                          <a:latin typeface="Cambria Math"/>
                          <a:ea typeface="Cambria Math"/>
                          <a:cs typeface="Cambria Math"/>
                        </a:rPr>
                        <m:t>)</m:t>
                      </m:r>
                    </m:sup>
                  </m:sSup>
                  <m:r>
                    <a:rPr xmlns:a="http://schemas.openxmlformats.org/drawingml/2006/main" sz="1875">
                      <a:latin typeface="Cambria Math"/>
                      <a:ea typeface="Cambria Math"/>
                      <a:cs typeface="Cambria Math"/>
                    </a:rPr>
                    <m:t>=</m:t>
                  </m:r>
                  <m:sSup>
                    <m:e>
                      <m:r>
                        <a:rPr xmlns:a="http://schemas.openxmlformats.org/drawingml/2006/main" sz="1875">
                          <a:latin typeface="Cambria Math"/>
                          <a:ea typeface="Cambria Math"/>
                          <a:cs typeface="Cambria Math"/>
                        </a:rPr>
                        <m:t>W</m:t>
                      </m:r>
                    </m:e>
                    <m:sup>
                      <m:r>
                        <a:rPr xmlns:a="http://schemas.openxmlformats.org/drawingml/2006/main" sz="1313">
                          <a:latin typeface="Cambria Math"/>
                          <a:ea typeface="Cambria Math"/>
                          <a:cs typeface="Cambria Math"/>
                        </a:rPr>
                        <m:t>(</m:t>
                      </m:r>
                      <m:r>
                        <a:rPr xmlns:a="http://schemas.openxmlformats.org/drawingml/2006/main" sz="1313">
                          <a:latin typeface="Cambria Math"/>
                          <a:ea typeface="Cambria Math"/>
                          <a:cs typeface="Cambria Math"/>
                        </a:rPr>
                        <m:t>ℓ</m:t>
                      </m:r>
                      <m:r>
                        <a:rPr xmlns:a="http://schemas.openxmlformats.org/drawingml/2006/main" sz="1313">
                          <a:latin typeface="Cambria Math"/>
                          <a:ea typeface="Cambria Math"/>
                          <a:cs typeface="Cambria Math"/>
                        </a:rPr>
                        <m:t>)</m:t>
                      </m:r>
                    </m:sup>
                  </m:sSup>
                  <m:sSup>
                    <m:e>
                      <m:r>
                        <a:rPr xmlns:a="http://schemas.openxmlformats.org/drawingml/2006/main" sz="1875">
                          <a:latin typeface="Cambria Math"/>
                          <a:ea typeface="Cambria Math"/>
                          <a:cs typeface="Cambria Math"/>
                        </a:rPr>
                        <m:t>a</m:t>
                      </m:r>
                    </m:e>
                    <m:sup>
                      <m:r>
                        <a:rPr xmlns:a="http://schemas.openxmlformats.org/drawingml/2006/main" sz="1313">
                          <a:latin typeface="Cambria Math"/>
                          <a:ea typeface="Cambria Math"/>
                          <a:cs typeface="Cambria Math"/>
                        </a:rPr>
                        <m:t>(</m:t>
                      </m:r>
                      <m:r>
                        <a:rPr xmlns:a="http://schemas.openxmlformats.org/drawingml/2006/main" sz="1313">
                          <a:latin typeface="Cambria Math"/>
                          <a:ea typeface="Cambria Math"/>
                          <a:cs typeface="Cambria Math"/>
                        </a:rPr>
                        <m:t>ℓ</m:t>
                      </m:r>
                      <m:r>
                        <a:rPr xmlns:a="http://schemas.openxmlformats.org/drawingml/2006/main" sz="1313">
                          <a:latin typeface="Cambria Math"/>
                          <a:ea typeface="Cambria Math"/>
                          <a:cs typeface="Cambria Math"/>
                        </a:rPr>
                        <m:t>−</m:t>
                      </m:r>
                      <m:r>
                        <a:rPr xmlns:a="http://schemas.openxmlformats.org/drawingml/2006/main" sz="1313">
                          <a:latin typeface="Cambria Math"/>
                          <a:ea typeface="Cambria Math"/>
                          <a:cs typeface="Cambria Math"/>
                        </a:rPr>
                        <m:t>1</m:t>
                      </m:r>
                      <m:r>
                        <a:rPr xmlns:a="http://schemas.openxmlformats.org/drawingml/2006/main" sz="1313">
                          <a:latin typeface="Cambria Math"/>
                          <a:ea typeface="Cambria Math"/>
                          <a:cs typeface="Cambria Math"/>
                        </a:rPr>
                        <m:t>)</m:t>
                      </m:r>
                    </m:sup>
                  </m:sSup>
                  <m:r>
                    <a:rPr xmlns:a="http://schemas.openxmlformats.org/drawingml/2006/main" sz="1875">
                      <a:latin typeface="Cambria Math"/>
                      <a:ea typeface="Cambria Math"/>
                      <a:cs typeface="Cambria Math"/>
                    </a:rPr>
                    <m:t>+</m:t>
                  </m:r>
                  <m:sSup>
                    <m:e>
                      <m:r>
                        <a:rPr xmlns:a="http://schemas.openxmlformats.org/drawingml/2006/main" sz="1875">
                          <a:latin typeface="Cambria Math"/>
                          <a:ea typeface="Cambria Math"/>
                          <a:cs typeface="Cambria Math"/>
                        </a:rPr>
                        <m:t>b</m:t>
                      </m:r>
                    </m:e>
                    <m:sup>
                      <m:r>
                        <a:rPr xmlns:a="http://schemas.openxmlformats.org/drawingml/2006/main" sz="1313">
                          <a:latin typeface="Cambria Math"/>
                          <a:ea typeface="Cambria Math"/>
                          <a:cs typeface="Cambria Math"/>
                        </a:rPr>
                        <m:t>(</m:t>
                      </m:r>
                      <m:r>
                        <a:rPr xmlns:a="http://schemas.openxmlformats.org/drawingml/2006/main" sz="1313">
                          <a:latin typeface="Cambria Math"/>
                          <a:ea typeface="Cambria Math"/>
                          <a:cs typeface="Cambria Math"/>
                        </a:rPr>
                        <m:t>ℓ</m:t>
                      </m:r>
                      <m:r>
                        <a:rPr xmlns:a="http://schemas.openxmlformats.org/drawingml/2006/main" sz="1313">
                          <a:latin typeface="Cambria Math"/>
                          <a:ea typeface="Cambria Math"/>
                          <a:cs typeface="Cambria Math"/>
                        </a:rPr>
                        <m:t>)</m:t>
                      </m:r>
                    </m:sup>
                  </m:sSup>
                  <m:r>
                    <a:rPr xmlns:a="http://schemas.openxmlformats.org/drawingml/2006/main" sz="1875">
                      <a:latin typeface="Cambria Math"/>
                      <a:ea typeface="Cambria Math"/>
                      <a:cs typeface="Cambria Math"/>
                    </a:rPr>
                    <m:t>,</m:t>
                  </m:r>
                  <m:sSup>
                    <m:e>
                      <m:r>
                        <a:rPr xmlns:a="http://schemas.openxmlformats.org/drawingml/2006/main" sz="1875">
                          <a:latin typeface="Cambria Math"/>
                          <a:ea typeface="Cambria Math"/>
                          <a:cs typeface="Cambria Math"/>
                        </a:rPr>
                        <m:t>a</m:t>
                      </m:r>
                    </m:e>
                    <m:sup>
                      <m:r>
                        <a:rPr xmlns:a="http://schemas.openxmlformats.org/drawingml/2006/main" sz="1313">
                          <a:latin typeface="Cambria Math"/>
                          <a:ea typeface="Cambria Math"/>
                          <a:cs typeface="Cambria Math"/>
                        </a:rPr>
                        <m:t>(</m:t>
                      </m:r>
                      <m:r>
                        <a:rPr xmlns:a="http://schemas.openxmlformats.org/drawingml/2006/main" sz="1313">
                          <a:latin typeface="Cambria Math"/>
                          <a:ea typeface="Cambria Math"/>
                          <a:cs typeface="Cambria Math"/>
                        </a:rPr>
                        <m:t>ℓ</m:t>
                      </m:r>
                      <m:r>
                        <a:rPr xmlns:a="http://schemas.openxmlformats.org/drawingml/2006/main" sz="1313">
                          <a:latin typeface="Cambria Math"/>
                          <a:ea typeface="Cambria Math"/>
                          <a:cs typeface="Cambria Math"/>
                        </a:rPr>
                        <m:t>)</m:t>
                      </m:r>
                    </m:sup>
                  </m:sSup>
                  <m:r>
                    <a:rPr xmlns:a="http://schemas.openxmlformats.org/drawingml/2006/main" sz="1875">
                      <a:latin typeface="Cambria Math"/>
                      <a:ea typeface="Cambria Math"/>
                      <a:cs typeface="Cambria Math"/>
                    </a:rPr>
                    <m:t>=</m:t>
                  </m:r>
                  <m:sSup>
                    <m:e>
                      <m:r>
                        <a:rPr xmlns:a="http://schemas.openxmlformats.org/drawingml/2006/main" sz="1875">
                          <a:latin typeface="Cambria Math"/>
                          <a:ea typeface="Cambria Math"/>
                          <a:cs typeface="Cambria Math"/>
                        </a:rPr>
                        <m:t>f</m:t>
                      </m:r>
                    </m:e>
                    <m:sup>
                      <m:r>
                        <a:rPr xmlns:a="http://schemas.openxmlformats.org/drawingml/2006/main" sz="1313">
                          <a:latin typeface="Cambria Math"/>
                          <a:ea typeface="Cambria Math"/>
                          <a:cs typeface="Cambria Math"/>
                        </a:rPr>
                        <m:t>(</m:t>
                      </m:r>
                      <m:r>
                        <a:rPr xmlns:a="http://schemas.openxmlformats.org/drawingml/2006/main" sz="1313">
                          <a:latin typeface="Cambria Math"/>
                          <a:ea typeface="Cambria Math"/>
                          <a:cs typeface="Cambria Math"/>
                        </a:rPr>
                        <m:t>ℓ</m:t>
                      </m:r>
                      <m:r>
                        <a:rPr xmlns:a="http://schemas.openxmlformats.org/drawingml/2006/main" sz="1313">
                          <a:latin typeface="Cambria Math"/>
                          <a:ea typeface="Cambria Math"/>
                          <a:cs typeface="Cambria Math"/>
                        </a:rPr>
                        <m:t>)</m:t>
                      </m:r>
                    </m:sup>
                  </m:sSup>
                  <m:r>
                    <a:rPr xmlns:a="http://schemas.openxmlformats.org/drawingml/2006/main" sz="1875">
                      <a:latin typeface="Cambria Math"/>
                      <a:ea typeface="Cambria Math"/>
                      <a:cs typeface="Cambria Math"/>
                    </a:rPr>
                    <m:t>(</m:t>
                  </m:r>
                  <m:sSup>
                    <m:e>
                      <m:r>
                        <a:rPr xmlns:a="http://schemas.openxmlformats.org/drawingml/2006/main" sz="1875">
                          <a:latin typeface="Cambria Math"/>
                          <a:ea typeface="Cambria Math"/>
                          <a:cs typeface="Cambria Math"/>
                        </a:rPr>
                        <m:t>z</m:t>
                      </m:r>
                    </m:e>
                    <m:sup>
                      <m:r>
                        <a:rPr xmlns:a="http://schemas.openxmlformats.org/drawingml/2006/main" sz="1313">
                          <a:latin typeface="Cambria Math"/>
                          <a:ea typeface="Cambria Math"/>
                          <a:cs typeface="Cambria Math"/>
                        </a:rPr>
                        <m:t>(</m:t>
                      </m:r>
                      <m:r>
                        <a:rPr xmlns:a="http://schemas.openxmlformats.org/drawingml/2006/main" sz="1313">
                          <a:latin typeface="Cambria Math"/>
                          <a:ea typeface="Cambria Math"/>
                          <a:cs typeface="Cambria Math"/>
                        </a:rPr>
                        <m:t>ℓ</m:t>
                      </m:r>
                      <m:r>
                        <a:rPr xmlns:a="http://schemas.openxmlformats.org/drawingml/2006/main" sz="1313">
                          <a:latin typeface="Cambria Math"/>
                          <a:ea typeface="Cambria Math"/>
                          <a:cs typeface="Cambria Math"/>
                        </a:rPr>
                        <m:t>)</m:t>
                      </m:r>
                    </m:sup>
                  </m:sSup>
                  <m:r>
                    <a:rPr xmlns:a="http://schemas.openxmlformats.org/drawingml/2006/main" sz="1875">
                      <a:latin typeface="Cambria Math"/>
                      <a:ea typeface="Cambria Math"/>
                      <a:cs typeface="Cambria Math"/>
                    </a:rPr>
                    <m:t>)</m:t>
                  </m:r>
                </m:oMath>
              </m:oMathPara>
            </a14:m>
          </a:p>
        </p:txBody>
      </p:sp>
      <p:sp>
        <p:nvSpPr>
          <p:cNvPr id="30" name="v11-math-8-4">
            <a:extLst xmlns:a="http://schemas.openxmlformats.org/drawingml/2006/main">
              <a:ext uri="{FF2B5EF4-FFF2-40B4-BE49-F238E27FC236}">
                <a16:creationId xmlns:a16="http://schemas.microsoft.com/office/drawing/2014/main" id="{ACA53358-2FF9-4428-B4F1-5C8BC725E0D7}"/>
              </a:ext>
            </a:extLst>
          </p:cNvPr>
          <p:cNvSpPr>
            <a:spLocks xmlns:a="http://schemas.openxmlformats.org/drawingml/2006/main" noGrp="1"/>
          </p:cNvSpPr>
          <p:nvPr/>
        </p:nvSpPr>
        <p:spPr>
          <a:xfrm xmlns:a="http://schemas.openxmlformats.org/drawingml/2006/main">
            <a:off x="4110038" y="5395913"/>
            <a:ext cx="2238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pPr>
            <a14:m xmlns:a14="http://schemas.microsoft.com/office/drawing/2010/main">
              <m:oMathPara xmlns:m="http://schemas.openxmlformats.org/officeDocument/2006/math">
                <m:oMathParaPr>
                  <m:jc m:val="centerGroup"/>
                </m:oMathParaPr>
                <m:oMath>
                  <m:sSub>
                    <m:e>
                      <m:r>
                        <a:rPr xmlns:a="http://schemas.openxmlformats.org/drawingml/2006/main" sz="1875">
                          <a:latin typeface="Cambria Math"/>
                          <a:ea typeface="Cambria Math"/>
                          <a:cs typeface="Cambria Math"/>
                        </a:rPr>
                        <m:t>N</m:t>
                      </m:r>
                    </m:e>
                    <m:sub>
                      <m:r>
                        <a:rPr xmlns:a="http://schemas.openxmlformats.org/drawingml/2006/main" sz="1313">
                          <a:latin typeface="Cambria Math"/>
                          <a:ea typeface="Cambria Math"/>
                          <a:cs typeface="Cambria Math"/>
                        </a:rPr>
                        <m:t>L</m:t>
                      </m:r>
                      <m:r>
                        <a:rPr xmlns:a="http://schemas.openxmlformats.org/drawingml/2006/main" sz="1313">
                          <a:latin typeface="Cambria Math"/>
                          <a:ea typeface="Cambria Math"/>
                          <a:cs typeface="Cambria Math"/>
                        </a:rPr>
                        <m:t>a</m:t>
                      </m:r>
                      <m:r>
                        <a:rPr xmlns:a="http://schemas.openxmlformats.org/drawingml/2006/main" sz="1313">
                          <a:latin typeface="Cambria Math"/>
                          <a:ea typeface="Cambria Math"/>
                          <a:cs typeface="Cambria Math"/>
                        </a:rPr>
                        <m:t>y</m:t>
                      </m:r>
                      <m:r>
                        <a:rPr xmlns:a="http://schemas.openxmlformats.org/drawingml/2006/main" sz="1313">
                          <a:latin typeface="Cambria Math"/>
                          <a:ea typeface="Cambria Math"/>
                          <a:cs typeface="Cambria Math"/>
                        </a:rPr>
                        <m:t>e</m:t>
                      </m:r>
                      <m:r>
                        <a:rPr xmlns:a="http://schemas.openxmlformats.org/drawingml/2006/main" sz="1313">
                          <a:latin typeface="Cambria Math"/>
                          <a:ea typeface="Cambria Math"/>
                          <a:cs typeface="Cambria Math"/>
                        </a:rPr>
                        <m:t>r</m:t>
                      </m:r>
                    </m:sub>
                  </m:sSub>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n</m:t>
                      </m:r>
                    </m:e>
                    <m:sub>
                      <m:r>
                        <a:rPr xmlns:a="http://schemas.openxmlformats.org/drawingml/2006/main" sz="1313">
                          <a:latin typeface="Cambria Math"/>
                          <a:ea typeface="Cambria Math"/>
                          <a:cs typeface="Cambria Math"/>
                        </a:rPr>
                        <m:t>i</m:t>
                      </m:r>
                      <m:r>
                        <a:rPr xmlns:a="http://schemas.openxmlformats.org/drawingml/2006/main" sz="1313">
                          <a:latin typeface="Cambria Math"/>
                          <a:ea typeface="Cambria Math"/>
                          <a:cs typeface="Cambria Math"/>
                        </a:rPr>
                        <m:t>n</m:t>
                      </m:r>
                    </m:sub>
                  </m:sSub>
                  <m:sSub>
                    <m:e>
                      <m:r>
                        <a:rPr xmlns:a="http://schemas.openxmlformats.org/drawingml/2006/main" sz="1875">
                          <a:latin typeface="Cambria Math"/>
                          <a:ea typeface="Cambria Math"/>
                          <a:cs typeface="Cambria Math"/>
                        </a:rPr>
                        <m:t>n</m:t>
                      </m:r>
                    </m:e>
                    <m:sub>
                      <m:r>
                        <a:rPr xmlns:a="http://schemas.openxmlformats.org/drawingml/2006/main" sz="1313">
                          <a:latin typeface="Cambria Math"/>
                          <a:ea typeface="Cambria Math"/>
                          <a:cs typeface="Cambria Math"/>
                        </a:rPr>
                        <m:t>o</m:t>
                      </m:r>
                      <m:r>
                        <a:rPr xmlns:a="http://schemas.openxmlformats.org/drawingml/2006/main" sz="1313">
                          <a:latin typeface="Cambria Math"/>
                          <a:ea typeface="Cambria Math"/>
                          <a:cs typeface="Cambria Math"/>
                        </a:rPr>
                        <m:t>u</m:t>
                      </m:r>
                      <m:r>
                        <a:rPr xmlns:a="http://schemas.openxmlformats.org/drawingml/2006/main" sz="1313">
                          <a:latin typeface="Cambria Math"/>
                          <a:ea typeface="Cambria Math"/>
                          <a:cs typeface="Cambria Math"/>
                        </a:rPr>
                        <m:t>t</m:t>
                      </m:r>
                    </m:sub>
                  </m:sSub>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n</m:t>
                      </m:r>
                    </m:e>
                    <m:sub>
                      <m:r>
                        <a:rPr xmlns:a="http://schemas.openxmlformats.org/drawingml/2006/main" sz="1313">
                          <a:latin typeface="Cambria Math"/>
                          <a:ea typeface="Cambria Math"/>
                          <a:cs typeface="Cambria Math"/>
                        </a:rPr>
                        <m:t>o</m:t>
                      </m:r>
                      <m:r>
                        <a:rPr xmlns:a="http://schemas.openxmlformats.org/drawingml/2006/main" sz="1313">
                          <a:latin typeface="Cambria Math"/>
                          <a:ea typeface="Cambria Math"/>
                          <a:cs typeface="Cambria Math"/>
                        </a:rPr>
                        <m:t>u</m:t>
                      </m:r>
                      <m:r>
                        <a:rPr xmlns:a="http://schemas.openxmlformats.org/drawingml/2006/main" sz="1313">
                          <a:latin typeface="Cambria Math"/>
                          <a:ea typeface="Cambria Math"/>
                          <a:cs typeface="Cambria Math"/>
                        </a:rPr>
                        <m:t>t</m:t>
                      </m:r>
                    </m:sub>
                  </m:sSub>
                </m:oMath>
              </m:oMathPara>
            </a14:m>
          </a:p>
        </p:txBody>
      </p:sp>
      <p:sp>
        <p:nvSpPr>
          <p:cNvPr id="33" name="v12-text-8-5">
            <a:extLst xmlns:a="http://schemas.openxmlformats.org/drawingml/2006/main">
              <a:ext uri="{FF2B5EF4-FFF2-40B4-BE49-F238E27FC236}">
                <a16:creationId xmlns:a16="http://schemas.microsoft.com/office/drawing/2014/main" id="{F8F69B9C-345C-474B-B52F-582792A7DF6C}"/>
              </a:ext>
            </a:extLst>
          </p:cNvPr>
          <p:cNvSpPr>
            <a:spLocks xmlns:a="http://schemas.openxmlformats.org/drawingml/2006/main" noGrp="1"/>
          </p:cNvSpPr>
          <p:nvPr/>
        </p:nvSpPr>
        <p:spPr>
          <a:xfrm xmlns:a="http://schemas.openxmlformats.org/drawingml/2006/main">
            <a:off x="552450" y="4914900"/>
            <a:ext cx="9353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a:solidFill>
                  <a:srgbClr val="444444"/>
                </a:solidFill>
                <a:latin typeface="Calibri"/>
                <a:ea typeface="Calibri"/>
                <a:cs typeface="Calibri"/>
              </a:defRPr>
            </a:pPr>
            <a:r>
              <a:rPr sz="1800" b="1">
                <a:solidFill>
                  <a:srgbClr val="444444"/>
                </a:solidFill>
                <a:latin typeface="Calibri"/>
                <a:ea typeface="Calibri"/>
                <a:cs typeface="Calibri"/>
              </a:rPr>
              <a:t>Parameter Count pro Layer: </a:t>
            </a:r>
            <a:r>
              <a:rPr sz="1800" b="0">
                <a:solidFill>
                  <a:srgbClr val="444444"/>
                </a:solidFill>
                <a:latin typeface="Calibri"/>
                <a:ea typeface="Calibri"/>
                <a:cs typeface="Calibri"/>
              </a:rPr>
              <a:t>nᵢₙ Inputs, nₒᵤₜ Outputs; Weights + Bias</a:t>
            </a:r>
          </a:p>
        </p:txBody>
      </p:sp>
    </p:spTree>
    <p:extLst>
      <p:ext uri="{BB962C8B-B14F-4D97-AF65-F5344CB8AC3E}">
        <p14:creationId xmlns:p14="http://schemas.microsoft.com/office/powerpoint/2010/main" val="19509968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wrap="none" lIns="0" tIns="0" rIns="0" bIns="0" anchor="t">
            <a:noAutofit/>
          </a:bodyPr>
          <a:lstStyle xmlns:a="http://schemas.openxmlformats.org/drawingml/2006/main"/>
          <ns0:p xmlns:ns0="http://schemas.openxmlformats.org/drawingml/2006/main">
            <ns0:pPr algn="l">
              <ns0:lnSpc>
                <ns0:spcPct val="106000"/>
              </ns0:lnSpc>
              <ns0:buNone/>
              <ns0:defRPr sz="2400" b="0">
                <ns0:solidFill>
                  <ns0:srgbClr val="CC001C"/>
                </ns0:solidFill>
                <ns0:latin typeface="Calibri"/>
                <ns0:ea typeface="Calibri"/>
                <ns0:cs typeface="Calibri"/>
              </ns0:defRPr>
            </ns0:pPr>
            <ns0:r>
              <ns0:rPr sz="2400" b="0">
                <ns0:solidFill>
                  <ns0:srgbClr val="CC001C"/>
                </ns0:solidFill>
                <ns0:latin typeface="Calibri"/>
                <ns0:ea typeface="Calibri"/>
                <ns0:cs typeface="Calibri"/>
              </ns0:rPr>
              <ns0:t>Feature Engineering mit Lag Sequences</ns0:t>
            </ns0:r>
          </ns0: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9 / 44</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sp>
        <p:nvSpPr>
          <p:cNvPr id="12" name="V5_Text_12">
            <a:extLst xmlns:a="http://schemas.openxmlformats.org/drawingml/2006/main">
              <a:ext uri="{FF2B5EF4-FFF2-40B4-BE49-F238E27FC236}">
                <a16:creationId xmlns:a16="http://schemas.microsoft.com/office/drawing/2014/main" id="{503C1133-6DF6-4F42-9C4D-8814116395D8}"/>
              </a:ext>
            </a:extLst>
          </p:cNvPr>
          <p:cNvSpPr>
            <a:spLocks xmlns:a="http://schemas.openxmlformats.org/drawingml/2006/main" noGrp="1"/>
          </p:cNvSpPr>
          <p:nvPr/>
        </p:nvSpPr>
        <p:spPr>
          <a:xfrm xmlns:a="http://schemas.openxmlformats.org/drawingml/2006/main">
            <a:off x="3171825" y="4257675"/>
            <a:ext cx="411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a:p xmlns:a="http://schemas.openxmlformats.org/drawingml/2006/main">
            <a:pPr algn="ctr">
              <a:buNone/>
            </a:pPr>
            <a14:m xmlns:a14="http://schemas.microsoft.com/office/drawing/2010/main">
              <m:oMathPara xmlns:m="http://schemas.openxmlformats.org/officeDocument/2006/math">
                <m:oMathParaPr>
                  <m:jc m:val="centerGroup"/>
                </m:oMathParaPr>
                <m:oMath>
                  <m:sSub>
                    <m:e>
                      <m:r>
                        <a:rPr xmlns:a="http://schemas.openxmlformats.org/drawingml/2006/main" sz="1875">
                          <a:latin typeface="Cambria Math"/>
                          <a:ea typeface="Cambria Math"/>
                          <a:cs typeface="Cambria Math"/>
                        </a:rPr>
                        <m:t>x</m:t>
                      </m:r>
                    </m:e>
                    <m:sub>
                      <m:r>
                        <a:rPr xmlns:a="http://schemas.openxmlformats.org/drawingml/2006/main" sz="1313">
                          <a:latin typeface="Cambria Math"/>
                          <a:ea typeface="Cambria Math"/>
                          <a:cs typeface="Cambria Math"/>
                        </a:rPr>
                        <m:t>k</m:t>
                      </m:r>
                    </m:sub>
                  </m:sSub>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v</m:t>
                  </m:r>
                  <m:r>
                    <a:rPr xmlns:a="http://schemas.openxmlformats.org/drawingml/2006/main" sz="1875">
                      <a:latin typeface="Cambria Math"/>
                      <a:ea typeface="Cambria Math"/>
                      <a:cs typeface="Cambria Math"/>
                    </a:rPr>
                    <m:t>e</m:t>
                  </m:r>
                  <m:r>
                    <a:rPr xmlns:a="http://schemas.openxmlformats.org/drawingml/2006/main" sz="1875">
                      <a:latin typeface="Cambria Math"/>
                      <a:ea typeface="Cambria Math"/>
                      <a:cs typeface="Cambria Math"/>
                    </a:rPr>
                    <m:t>c</m:t>
                  </m:r>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U</m:t>
                  </m:r>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T</m:t>
                  </m:r>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I</m:t>
                      </m:r>
                    </m:e>
                    <m:sub>
                      <m:r>
                        <a:rPr xmlns:a="http://schemas.openxmlformats.org/drawingml/2006/main" sz="1313">
                          <a:latin typeface="Cambria Math"/>
                          <a:ea typeface="Cambria Math"/>
                          <a:cs typeface="Cambria Math"/>
                        </a:rPr>
                        <m:t>c</m:t>
                      </m:r>
                      <m:r>
                        <a:rPr xmlns:a="http://schemas.openxmlformats.org/drawingml/2006/main" sz="1313">
                          <a:latin typeface="Cambria Math"/>
                          <a:ea typeface="Cambria Math"/>
                          <a:cs typeface="Cambria Math"/>
                        </a:rPr>
                        <m:t>u</m:t>
                      </m:r>
                      <m:r>
                        <a:rPr xmlns:a="http://schemas.openxmlformats.org/drawingml/2006/main" sz="1313">
                          <a:latin typeface="Cambria Math"/>
                          <a:ea typeface="Cambria Math"/>
                          <a:cs typeface="Cambria Math"/>
                        </a:rPr>
                        <m:t>m</m:t>
                      </m:r>
                    </m:sub>
                  </m:sSub>
                  <m:sSub>
                    <m:e>
                      <m:r>
                        <a:rPr xmlns:a="http://schemas.openxmlformats.org/drawingml/2006/main" sz="1875">
                          <a:latin typeface="Cambria Math"/>
                          <a:ea typeface="Cambria Math"/>
                          <a:cs typeface="Cambria Math"/>
                        </a:rPr>
                        <m:t>]</m:t>
                      </m:r>
                    </m:e>
                    <m:sub>
                      <m:r>
                        <a:rPr xmlns:a="http://schemas.openxmlformats.org/drawingml/2006/main" sz="1313">
                          <a:latin typeface="Cambria Math"/>
                          <a:ea typeface="Cambria Math"/>
                          <a:cs typeface="Cambria Math"/>
                        </a:rPr>
                        <m:t>k</m:t>
                      </m:r>
                      <m:r>
                        <a:rPr xmlns:a="http://schemas.openxmlformats.org/drawingml/2006/main" sz="1313">
                          <a:latin typeface="Cambria Math"/>
                          <a:ea typeface="Cambria Math"/>
                          <a:cs typeface="Cambria Math"/>
                        </a:rPr>
                        <m:t>−</m:t>
                      </m:r>
                      <m:r>
                        <a:rPr xmlns:a="http://schemas.openxmlformats.org/drawingml/2006/main" sz="1313">
                          <a:latin typeface="Cambria Math"/>
                          <a:ea typeface="Cambria Math"/>
                          <a:cs typeface="Cambria Math"/>
                        </a:rPr>
                        <m:t>L</m:t>
                      </m:r>
                      <m:r>
                        <a:rPr xmlns:a="http://schemas.openxmlformats.org/drawingml/2006/main" sz="1313">
                          <a:latin typeface="Cambria Math"/>
                          <a:ea typeface="Cambria Math"/>
                          <a:cs typeface="Cambria Math"/>
                        </a:rPr>
                        <m:t>+</m:t>
                      </m:r>
                      <m:r>
                        <a:rPr xmlns:a="http://schemas.openxmlformats.org/drawingml/2006/main" sz="1313">
                          <a:latin typeface="Cambria Math"/>
                          <a:ea typeface="Cambria Math"/>
                          <a:cs typeface="Cambria Math"/>
                        </a:rPr>
                        <m:t>1</m:t>
                      </m:r>
                      <m:r>
                        <a:rPr xmlns:a="http://schemas.openxmlformats.org/drawingml/2006/main" sz="1313">
                          <a:latin typeface="Cambria Math"/>
                          <a:ea typeface="Cambria Math"/>
                          <a:cs typeface="Cambria Math"/>
                        </a:rPr>
                        <m:t>:</m:t>
                      </m:r>
                      <m:r>
                        <a:rPr xmlns:a="http://schemas.openxmlformats.org/drawingml/2006/main" sz="1313">
                          <a:latin typeface="Cambria Math"/>
                          <a:ea typeface="Cambria Math"/>
                          <a:cs typeface="Cambria Math"/>
                        </a:rPr>
                        <m:t>k</m:t>
                      </m:r>
                    </m:sub>
                  </m:sSub>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m:t>
                  </m:r>
                  <m:sSub>
                    <m:e>
                      <m:acc>
                        <m:accPr>
                          <m:chr m:val="^"/>
                        </m:accPr>
                        <m:e>
                          <m:r>
                            <a:rPr xmlns:a="http://schemas.openxmlformats.org/drawingml/2006/main" sz="1875">
                              <a:latin typeface="Cambria Math"/>
                              <a:ea typeface="Cambria Math"/>
                              <a:cs typeface="Cambria Math"/>
                            </a:rPr>
                            <m:t>y</m:t>
                          </m:r>
                        </m:e>
                      </m:acc>
                    </m:e>
                    <m:sub>
                      <m:r>
                        <a:rPr xmlns:a="http://schemas.openxmlformats.org/drawingml/2006/main" sz="1313">
                          <a:latin typeface="Cambria Math"/>
                          <a:ea typeface="Cambria Math"/>
                          <a:cs typeface="Cambria Math"/>
                        </a:rPr>
                        <m:t>k</m:t>
                      </m:r>
                    </m:sub>
                  </m:sSub>
                  <m:r>
                    <a:rPr xmlns:a="http://schemas.openxmlformats.org/drawingml/2006/main" sz="1875">
                      <a:latin typeface="Cambria Math"/>
                      <a:ea typeface="Cambria Math"/>
                      <a:cs typeface="Cambria Math"/>
                    </a:rPr>
                    <m:t>=</m:t>
                  </m:r>
                  <m:sSub>
                    <m:e>
                      <m:acc>
                        <m:accPr>
                          <m:chr m:val="^"/>
                        </m:accPr>
                        <m:e>
                          <m:r>
                            <a:rPr xmlns:a="http://schemas.openxmlformats.org/drawingml/2006/main" sz="1875">
                              <a:latin typeface="Cambria Math"/>
                              <a:ea typeface="Cambria Math"/>
                              <a:cs typeface="Cambria Math"/>
                            </a:rPr>
                            <m:t>SOH</m:t>
                          </m:r>
                        </m:e>
                      </m:acc>
                    </m:e>
                    <m:sub>
                      <m:r>
                        <a:rPr xmlns:a="http://schemas.openxmlformats.org/drawingml/2006/main" sz="1313">
                          <a:latin typeface="Cambria Math"/>
                          <a:ea typeface="Cambria Math"/>
                          <a:cs typeface="Cambria Math"/>
                        </a:rPr>
                        <m:t>k</m:t>
                      </m:r>
                    </m:sub>
                  </m:sSub>
                </m:oMath>
              </m:oMathPara>
            </a14:m>
          </a:p>
        </p:txBody>
      </p:sp>
      <p:pic>
        <p:nvPicPr>
          <p:cNvPr id="32" name="V5_Figure_11"/>
          <p:cNvPicPr>
            <a:picLocks xmlns:a="http://schemas.openxmlformats.org/drawingml/2006/main" noChangeAspect="1"/>
          </p:cNvPicPr>
          <p:nvPr/>
        </p:nvPicPr>
        <p:blipFill>
          <a:blip xmlns:r="http://schemas.openxmlformats.org/officeDocument/2006/relationships" xmlns:a="http://schemas.openxmlformats.org/drawingml/2006/main" r:embed="R29a5a57ce9c5420c"/>
          <a:stretch xmlns:a="http://schemas.openxmlformats.org/drawingml/2006/main"/>
        </p:blipFill>
        <p:spPr>
          <a:xfrm xmlns:a="http://schemas.openxmlformats.org/drawingml/2006/main">
            <a:off x="2225668" y="1390650"/>
            <a:ext cx="6007114" cy="2695575"/>
          </a:xfrm>
          <a:prstGeom xmlns:a="http://schemas.openxmlformats.org/drawingml/2006/main" prst="rect">
            <a:avLst/>
          </a:prstGeom>
        </p:spPr>
      </p:pic>
      <p:sp>
        <p:nvSpPr>
          <p:cNvPr id="15" name="Structure separator">
            <a:extLst xmlns:a="http://schemas.openxmlformats.org/drawingml/2006/main">
              <a:ext uri="{FF2B5EF4-FFF2-40B4-BE49-F238E27FC236}">
                <a16:creationId xmlns:a16="http://schemas.microsoft.com/office/drawing/2014/main" id="{A9EC5E60-715D-47CC-B38E-A9062D2630A9}"/>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16" name="Structure label">
            <a:extLst xmlns:a="http://schemas.openxmlformats.org/drawingml/2006/main">
              <a:ext uri="{FF2B5EF4-FFF2-40B4-BE49-F238E27FC236}">
                <a16:creationId xmlns:a16="http://schemas.microsoft.com/office/drawing/2014/main" id="{119F293E-636C-4735-907B-958280623124}"/>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xmlns:a="http://schemas.openxmlformats.org/drawingml/2006/main">
              <a:ext uri="{FF2B5EF4-FFF2-40B4-BE49-F238E27FC236}">
                <a16:creationId xmlns:a16="http://schemas.microsoft.com/office/drawing/2014/main" id="{A624932D-7ED5-4919-AF1A-FA5DB23397E4}"/>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xmlns:a="http://schemas.openxmlformats.org/drawingml/2006/main">
              <a:ext uri="{FF2B5EF4-FFF2-40B4-BE49-F238E27FC236}">
                <a16:creationId xmlns:a16="http://schemas.microsoft.com/office/drawing/2014/main" id="{2A7DF266-1E1E-4F85-934F-3B29BA87CCFB}"/>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xmlns:a="http://schemas.openxmlformats.org/drawingml/2006/main">
              <a:ext uri="{FF2B5EF4-FFF2-40B4-BE49-F238E27FC236}">
                <a16:creationId xmlns:a16="http://schemas.microsoft.com/office/drawing/2014/main" id="{B493A1FC-B2A9-4004-BFDC-1AA93F008BBA}"/>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20" name="Structure 3">
            <a:extLst xmlns:a="http://schemas.openxmlformats.org/drawingml/2006/main">
              <a:ext uri="{FF2B5EF4-FFF2-40B4-BE49-F238E27FC236}">
                <a16:creationId xmlns:a16="http://schemas.microsoft.com/office/drawing/2014/main" id="{3C8640B0-20CC-4ED8-B6F1-D54F714B31E4}"/>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xmlns:a="http://schemas.openxmlformats.org/drawingml/2006/main">
              <a:ext uri="{FF2B5EF4-FFF2-40B4-BE49-F238E27FC236}">
                <a16:creationId xmlns:a16="http://schemas.microsoft.com/office/drawing/2014/main" id="{953462D0-AD5E-4A7F-91FD-077552600FC4}"/>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xmlns:a="http://schemas.openxmlformats.org/drawingml/2006/main">
              <a:ext uri="{FF2B5EF4-FFF2-40B4-BE49-F238E27FC236}">
                <a16:creationId xmlns:a16="http://schemas.microsoft.com/office/drawing/2014/main" id="{357BFBC5-382E-4DC6-9881-0F00F9318670}"/>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4" name="v11-text-9-2">
            <a:extLst xmlns:a="http://schemas.openxmlformats.org/drawingml/2006/main">
              <a:ext uri="{FF2B5EF4-FFF2-40B4-BE49-F238E27FC236}">
                <a16:creationId xmlns:a16="http://schemas.microsoft.com/office/drawing/2014/main" id="{579FA8C1-BDE0-4670-9FDB-A23995A6A145}"/>
              </a:ext>
            </a:extLst>
          </p:cNvPr>
          <p:cNvSpPr>
            <a:spLocks xmlns:a="http://schemas.openxmlformats.org/drawingml/2006/main" noGrp="1"/>
          </p:cNvSpPr>
          <p:nvPr/>
        </p:nvSpPr>
        <p:spPr>
          <a:xfrm xmlns:a="http://schemas.openxmlformats.org/drawingml/2006/main">
            <a:off x="552450" y="4762500"/>
            <a:ext cx="9353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1:p xmlns:ns1="http://schemas.openxmlformats.org/drawingml/2006/main">
            <ns1:pPr marL="20" indent="-17" algn="l">
              <ns1:spcBef>
                <ns1:spcPts val="0"/>
              </ns1:spcBef>
              <ns1:spcAft>
                <ns1:spcPts val="0"/>
              </ns1:spcAft>
              <ns1:buChar char="•"/>
              <ns1:defRPr sz="1800" b="0">
                <ns1:solidFill>
                  <ns1:srgbClr val="3F3F3F"/>
                </ns1:solidFill>
                <ns1:latin typeface="Calibri"/>
                <ns1:ea typeface="Calibri"/>
                <ns1:cs typeface="Calibri"/>
              </ns1:defRPr>
            </ns1:pPr>
            <ns1:r>
              <ns1:rPr sz="1800" b="1">
                <ns1:latin typeface="Calibri"/>
                <ns1:ea typeface="Calibri"/>
                <ns1:cs typeface="Calibri"/>
              </ns1:rPr>
              <ns1:t>Eingangsvektor xₖ:</ns1:t>
            </ns1:r>
            <ns1:r>
              <ns1:rPr sz="1800" b="0">
                <ns1:latin typeface="Calibri"/>
                <ns1:ea typeface="Calibri"/>
                <ns1:cs typeface="Calibri"/>
              </ns1:rPr>
              <ns1:t xml:space="preserve"> L Messschritte mit U, T und kumulativem Strom (Q im Bild), SOH-Ziel am Fensterende</ns1:t>
            </ns1:r>
          </ns1:p>
        </p:txBody>
      </p:sp>
      <p:sp>
        <p:nvSpPr>
          <p:cNvPr id="25" name="v11-text-9-3">
            <a:extLst xmlns:a="http://schemas.openxmlformats.org/drawingml/2006/main">
              <a:ext uri="{FF2B5EF4-FFF2-40B4-BE49-F238E27FC236}">
                <a16:creationId xmlns:a16="http://schemas.microsoft.com/office/drawing/2014/main" id="{FB8DFB53-46DC-4CD4-B333-6BFF18B5481A}"/>
              </a:ext>
            </a:extLst>
          </p:cNvPr>
          <p:cNvSpPr>
            <a:spLocks xmlns:a="http://schemas.openxmlformats.org/drawingml/2006/main" noGrp="1"/>
          </p:cNvSpPr>
          <p:nvPr/>
        </p:nvSpPr>
        <p:spPr>
          <a:xfrm xmlns:a="http://schemas.openxmlformats.org/drawingml/2006/main">
            <a:off x="552450" y="5476875"/>
            <a:ext cx="93535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Zeitabdeckung L · Δt:</a:t>
            </a:r>
            <a:r>
              <a:rPr sz="1800" b="0">
                <a:latin typeface="Calibri"/>
                <a:ea typeface="Calibri"/>
                <a:cs typeface="Calibri"/>
              </a:rPr>
              <a:t> Gemeinsame Erfassung von Belastungshistorie sowie Lade- und Entladephasen</a:t>
            </a:r>
          </a:p>
        </p:txBody>
      </p:sp>
    </p:spTree>
    <p:extLst>
      <p:ext uri="{BB962C8B-B14F-4D97-AF65-F5344CB8AC3E}">
        <p14:creationId xmlns:p14="http://schemas.microsoft.com/office/powerpoint/2010/main" val="1283791891"/>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Training und Evaluation auf getrennten Batteriezellen</a:t>
            </a:r>
          </a: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10 / 44</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sp>
        <p:nvSpPr>
          <p:cNvPr id="10" name="V5_Text_10">
            <a:extLst xmlns:a="http://schemas.openxmlformats.org/drawingml/2006/main">
              <a:ext uri="{FF2B5EF4-FFF2-40B4-BE49-F238E27FC236}">
                <a16:creationId xmlns:a16="http://schemas.microsoft.com/office/drawing/2014/main" id="{D5F66F0C-C352-466A-9E2A-6C7DBCE2FB70}"/>
              </a:ext>
            </a:extLst>
          </p:cNvPr>
          <p:cNvSpPr>
            <a:spLocks xmlns:a="http://schemas.openxmlformats.org/drawingml/2006/main" noGrp="1"/>
          </p:cNvSpPr>
          <p:nvPr/>
        </p:nvSpPr>
        <p:spPr>
          <a:xfrm xmlns:a="http://schemas.openxmlformats.org/drawingml/2006/main">
            <a:off x="4286250" y="1476375"/>
            <a:ext cx="5667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a:p xmlns:a="http://schemas.openxmlformats.org/drawingml/2006/main">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Datenaufteilung:</a:t>
            </a:r>
            <a:r>
              <a:rPr sz="1800" b="0">
                <a:latin typeface="Calibri"/>
                <a:ea typeface="Calibri"/>
                <a:cs typeface="Calibri"/>
              </a:rPr>
              <a:t> Zehn NMC-Zellen für Training und Validierung, vier separate Testzellen</a:t>
            </a:r>
          </a:p>
        </p:txBody>
      </p:sp>
      <p:sp>
        <p:nvSpPr>
          <p:cNvPr id="11" name="V5_Text_11">
            <a:extLst xmlns:a="http://schemas.openxmlformats.org/drawingml/2006/main">
              <a:ext uri="{FF2B5EF4-FFF2-40B4-BE49-F238E27FC236}">
                <a16:creationId xmlns:a16="http://schemas.microsoft.com/office/drawing/2014/main" id="{8F67BC07-593A-4477-9AE8-CDDF834861F6}"/>
              </a:ext>
            </a:extLst>
          </p:cNvPr>
          <p:cNvSpPr>
            <a:spLocks xmlns:a="http://schemas.openxmlformats.org/drawingml/2006/main" noGrp="1"/>
          </p:cNvSpPr>
          <p:nvPr/>
        </p:nvSpPr>
        <p:spPr>
          <a:xfrm xmlns:a="http://schemas.openxmlformats.org/drawingml/2006/main">
            <a:off x="4286250" y="2314575"/>
            <a:ext cx="5667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a:p xmlns:a="http://schemas.openxmlformats.org/drawingml/2006/main">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Validierung:</a:t>
            </a:r>
            <a:r>
              <a:rPr sz="1800" b="0">
                <a:latin typeface="Calibri"/>
                <a:ea typeface="Calibri"/>
                <a:cs typeface="Calibri"/>
              </a:rPr>
              <a:t> 20 % der Sequenzen dieser zehn Zellen für die Modellwahl und Hyperparameteroptimierung</a:t>
            </a:r>
          </a:p>
        </p:txBody>
      </p:sp>
      <p:sp>
        <p:nvSpPr>
          <p:cNvPr id="12" name="V5_Text_12">
            <a:extLst xmlns:a="http://schemas.openxmlformats.org/drawingml/2006/main">
              <a:ext uri="{FF2B5EF4-FFF2-40B4-BE49-F238E27FC236}">
                <a16:creationId xmlns:a16="http://schemas.microsoft.com/office/drawing/2014/main" id="{DD52D886-C955-41EC-BD9F-F41EB1065CE0}"/>
              </a:ext>
            </a:extLst>
          </p:cNvPr>
          <p:cNvSpPr>
            <a:spLocks xmlns:a="http://schemas.openxmlformats.org/drawingml/2006/main" noGrp="1"/>
          </p:cNvSpPr>
          <p:nvPr/>
        </p:nvSpPr>
        <p:spPr>
          <a:xfrm xmlns:a="http://schemas.openxmlformats.org/drawingml/2006/main">
            <a:off x="4286250" y="3248025"/>
            <a:ext cx="5667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ns0:p xmlns:ns0="http://schemas.openxmlformats.org/drawingml/2006/main">
            <ns0:pPr marL="20" indent="-17" algn="l">
              <ns0:spcBef>
                <ns0:spcPts val="0"/>
              </ns0:spcBef>
              <ns0:spcAft>
                <ns0:spcPts val="0"/>
              </ns0:spcAft>
              <ns0:buChar char="•"/>
              <ns0:defRPr sz="1800" b="0">
                <ns0:solidFill>
                  <ns0:srgbClr val="3F3F3F"/>
                </ns0:solidFill>
                <ns0:latin typeface="Calibri"/>
                <ns0:ea typeface="Calibri"/>
                <ns0:cs typeface="Calibri"/>
              </ns0:defRPr>
            </ns0:pPr>
            <ns0:r>
              <ns0:rPr sz="1800" b="1">
                <ns0:latin typeface="Calibri"/>
                <ns0:ea typeface="Calibri"/>
                <ns0:cs typeface="Calibri"/>
              </ns0:rPr>
              <ns0:t>Skalierung:</ns0:t>
            </ns0:r>
            <ns0:r>
              <ns0:rPr sz="1800" b="0">
                <ns0:latin typeface="Calibri"/>
                <ns0:ea typeface="Calibri"/>
                <ns0:cs typeface="Calibri"/>
              </ns0:rPr>
              <ns0:t xml:space="preserve"> Einheitliche Eingangsskalierung auf [0, 1] für Training, Validierung und Test</ns0:t>
            </ns0:r>
          </ns0:p>
        </p:txBody>
      </p:sp>
      <p:sp>
        <p:nvSpPr>
          <p:cNvPr id="13" name="V5_Text_13">
            <a:extLst xmlns:a="http://schemas.openxmlformats.org/drawingml/2006/main">
              <a:ext uri="{FF2B5EF4-FFF2-40B4-BE49-F238E27FC236}">
                <a16:creationId xmlns:a16="http://schemas.microsoft.com/office/drawing/2014/main" id="{EAB2FD8B-7E52-4F17-A979-2871583FAAA5}"/>
              </a:ext>
            </a:extLst>
          </p:cNvPr>
          <p:cNvSpPr>
            <a:spLocks xmlns:a="http://schemas.openxmlformats.org/drawingml/2006/main" noGrp="1"/>
          </p:cNvSpPr>
          <p:nvPr/>
        </p:nvSpPr>
        <p:spPr>
          <a:xfrm xmlns:a="http://schemas.openxmlformats.org/drawingml/2006/main">
            <a:off x="4371975" y="5219700"/>
            <a:ext cx="2476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a:p xmlns:a="http://schemas.openxmlformats.org/drawingml/2006/main">
            <a:pPr algn="ctr">
              <a:buNone/>
            </a:pPr>
            <a14:m xmlns:a14="http://schemas.microsoft.com/office/drawing/2010/main">
              <m:oMathPara xmlns:m="http://schemas.openxmlformats.org/officeDocument/2006/math">
                <m:oMathParaPr>
                  <m:jc m:val="centerGroup"/>
                </m:oMathParaPr>
                <m:oMath>
                  <m:r>
                    <a:rPr xmlns:a="http://schemas.openxmlformats.org/drawingml/2006/main" sz="1875">
                      <a:latin typeface="Cambria Math"/>
                      <a:ea typeface="Cambria Math"/>
                      <a:cs typeface="Cambria Math"/>
                    </a:rPr>
                    <m:t>M</m:t>
                  </m:r>
                  <m:r>
                    <a:rPr xmlns:a="http://schemas.openxmlformats.org/drawingml/2006/main" sz="1875">
                      <a:latin typeface="Cambria Math"/>
                      <a:ea typeface="Cambria Math"/>
                      <a:cs typeface="Cambria Math"/>
                    </a:rPr>
                    <m:t>S</m:t>
                  </m:r>
                  <m:r>
                    <a:rPr xmlns:a="http://schemas.openxmlformats.org/drawingml/2006/main" sz="1875">
                      <a:latin typeface="Cambria Math"/>
                      <a:ea typeface="Cambria Math"/>
                      <a:cs typeface="Cambria Math"/>
                    </a:rPr>
                    <m:t>E</m:t>
                  </m:r>
                  <m:r>
                    <a:rPr xmlns:a="http://schemas.openxmlformats.org/drawingml/2006/main" sz="1875">
                      <a:latin typeface="Cambria Math"/>
                      <a:ea typeface="Cambria Math"/>
                      <a:cs typeface="Cambria Math"/>
                    </a:rPr>
                    <m:t>=</m:t>
                  </m:r>
                  <m:f>
                    <m:num>
                      <m:r>
                        <a:rPr xmlns:a="http://schemas.openxmlformats.org/drawingml/2006/main" sz="1875">
                          <a:latin typeface="Cambria Math"/>
                          <a:ea typeface="Cambria Math"/>
                          <a:cs typeface="Cambria Math"/>
                        </a:rPr>
                        <m:t>1</m:t>
                      </m:r>
                    </m:num>
                    <m:den>
                      <m:r>
                        <a:rPr xmlns:a="http://schemas.openxmlformats.org/drawingml/2006/main" sz="1875">
                          <a:latin typeface="Cambria Math"/>
                          <a:ea typeface="Cambria Math"/>
                          <a:cs typeface="Cambria Math"/>
                        </a:rPr>
                        <m:t>N</m:t>
                      </m:r>
                    </m:den>
                  </m:f>
                  <m:nary>
                    <m:naryPr>
                      <m:chr m:val="∑"/>
                      <m:limLoc m:val="undOvr"/>
                      <m:subHide m:val="off"/>
                      <m:supHide m:val="off"/>
                    </m:naryPr>
                    <m:sub>
                      <m:r>
                        <a:rPr xmlns:a="http://schemas.openxmlformats.org/drawingml/2006/main" sz="1313">
                          <a:latin typeface="Cambria Math"/>
                          <a:ea typeface="Cambria Math"/>
                          <a:cs typeface="Cambria Math"/>
                        </a:rPr>
                        <m:t>k</m:t>
                      </m:r>
                      <m:r>
                        <a:rPr xmlns:a="http://schemas.openxmlformats.org/drawingml/2006/main" sz="1313">
                          <a:latin typeface="Cambria Math"/>
                          <a:ea typeface="Cambria Math"/>
                          <a:cs typeface="Cambria Math"/>
                        </a:rPr>
                        <m:t>=</m:t>
                      </m:r>
                      <m:r>
                        <a:rPr xmlns:a="http://schemas.openxmlformats.org/drawingml/2006/main" sz="1313">
                          <a:latin typeface="Cambria Math"/>
                          <a:ea typeface="Cambria Math"/>
                          <a:cs typeface="Cambria Math"/>
                        </a:rPr>
                        <m:t>1</m:t>
                      </m:r>
                    </m:sub>
                    <m:sup>
                      <m:r>
                        <a:rPr xmlns:a="http://schemas.openxmlformats.org/drawingml/2006/main" sz="1313">
                          <a:latin typeface="Cambria Math"/>
                          <a:ea typeface="Cambria Math"/>
                          <a:cs typeface="Cambria Math"/>
                        </a:rPr>
                        <m:t>N</m:t>
                      </m:r>
                    </m:sup>
                    <m:e>
                      <m:r>
                        <a:rPr xmlns:a="http://schemas.openxmlformats.org/drawingml/2006/main" sz="1875">
                          <a:latin typeface="Cambria Math"/>
                          <a:ea typeface="Cambria Math"/>
                          <a:cs typeface="Cambria Math"/>
                        </a:rPr>
                        <m:t>(</m:t>
                      </m:r>
                      <m:sSub>
                        <m:e>
                          <m:acc>
                            <m:accPr>
                              <m:chr m:val="^"/>
                            </m:accPr>
                            <m:e>
                              <m:r>
                                <a:rPr xmlns:a="http://schemas.openxmlformats.org/drawingml/2006/main" sz="1875">
                                  <a:latin typeface="Cambria Math"/>
                                  <a:ea typeface="Cambria Math"/>
                                  <a:cs typeface="Cambria Math"/>
                                </a:rPr>
                                <m:t>y</m:t>
                              </m:r>
                            </m:e>
                          </m:acc>
                        </m:e>
                        <m:sub>
                          <m:r>
                            <a:rPr xmlns:a="http://schemas.openxmlformats.org/drawingml/2006/main" sz="1313">
                              <a:latin typeface="Cambria Math"/>
                              <a:ea typeface="Cambria Math"/>
                              <a:cs typeface="Cambria Math"/>
                            </a:rPr>
                            <m:t>k</m:t>
                          </m:r>
                        </m:sub>
                      </m:sSub>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y</m:t>
                          </m:r>
                        </m:e>
                        <m:sub>
                          <m:r>
                            <a:rPr xmlns:a="http://schemas.openxmlformats.org/drawingml/2006/main" sz="1313">
                              <a:latin typeface="Cambria Math"/>
                              <a:ea typeface="Cambria Math"/>
                              <a:cs typeface="Cambria Math"/>
                            </a:rPr>
                            <m:t>k</m:t>
                          </m:r>
                        </m:sub>
                      </m:sSub>
                      <m:sSup>
                        <m:e>
                          <m:r>
                            <a:rPr xmlns:a="http://schemas.openxmlformats.org/drawingml/2006/main" sz="1875">
                              <a:latin typeface="Cambria Math"/>
                              <a:ea typeface="Cambria Math"/>
                              <a:cs typeface="Cambria Math"/>
                            </a:rPr>
                            <m:t>)</m:t>
                          </m:r>
                        </m:e>
                        <m:sup>
                          <m:r>
                            <a:rPr xmlns:a="http://schemas.openxmlformats.org/drawingml/2006/main" sz="1313">
                              <a:latin typeface="Cambria Math"/>
                              <a:ea typeface="Cambria Math"/>
                              <a:cs typeface="Cambria Math"/>
                            </a:rPr>
                            <m:t>2</m:t>
                          </m:r>
                        </m:sup>
                      </m:sSup>
                    </m:e>
                  </m:nary>
                </m:oMath>
              </m:oMathPara>
            </a14:m>
          </a:p>
        </p:txBody>
      </p:sp>
      <p:sp>
        <p:nvSpPr>
          <p:cNvPr id="19" name="Structure separator">
            <a:extLst xmlns:a="http://schemas.openxmlformats.org/drawingml/2006/main">
              <a:ext uri="{FF2B5EF4-FFF2-40B4-BE49-F238E27FC236}">
                <a16:creationId xmlns:a16="http://schemas.microsoft.com/office/drawing/2014/main" id="{A0A0449F-91F8-4311-AFDC-8CC5AE8E98F9}"/>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20" name="Structure label">
            <a:extLst xmlns:a="http://schemas.openxmlformats.org/drawingml/2006/main">
              <a:ext uri="{FF2B5EF4-FFF2-40B4-BE49-F238E27FC236}">
                <a16:creationId xmlns:a16="http://schemas.microsoft.com/office/drawing/2014/main" id="{5CFFD041-CAE6-47BE-9A11-264444228567}"/>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xmlns:a="http://schemas.openxmlformats.org/drawingml/2006/main">
              <a:ext uri="{FF2B5EF4-FFF2-40B4-BE49-F238E27FC236}">
                <a16:creationId xmlns:a16="http://schemas.microsoft.com/office/drawing/2014/main" id="{544415EC-E10D-4081-8C6E-4FC3AACA60DB}"/>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xmlns:a="http://schemas.openxmlformats.org/drawingml/2006/main">
              <a:ext uri="{FF2B5EF4-FFF2-40B4-BE49-F238E27FC236}">
                <a16:creationId xmlns:a16="http://schemas.microsoft.com/office/drawing/2014/main" id="{3EA2CD40-03C2-4007-A639-B53C2DEBDBE2}"/>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xmlns:a="http://schemas.openxmlformats.org/drawingml/2006/main">
              <a:ext uri="{FF2B5EF4-FFF2-40B4-BE49-F238E27FC236}">
                <a16:creationId xmlns:a16="http://schemas.microsoft.com/office/drawing/2014/main" id="{11471C8F-E116-45C0-B687-6E005912E37C}"/>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24" name="Structure 3">
            <a:extLst xmlns:a="http://schemas.openxmlformats.org/drawingml/2006/main">
              <a:ext uri="{FF2B5EF4-FFF2-40B4-BE49-F238E27FC236}">
                <a16:creationId xmlns:a16="http://schemas.microsoft.com/office/drawing/2014/main" id="{9AE65F1D-09A9-4A7B-87FB-5E7E03D3952B}"/>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xmlns:a="http://schemas.openxmlformats.org/drawingml/2006/main">
              <a:ext uri="{FF2B5EF4-FFF2-40B4-BE49-F238E27FC236}">
                <a16:creationId xmlns:a16="http://schemas.microsoft.com/office/drawing/2014/main" id="{0C61B8B8-6081-4661-BB88-1B1E1001CCCE}"/>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xmlns:a="http://schemas.openxmlformats.org/drawingml/2006/main">
              <a:ext uri="{FF2B5EF4-FFF2-40B4-BE49-F238E27FC236}">
                <a16:creationId xmlns:a16="http://schemas.microsoft.com/office/drawing/2014/main" id="{87715BD9-57C2-4688-89DC-A103E60770E0}"/>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a01c5fb0c7d84578"/>
          <a:stretch xmlns:a="http://schemas.openxmlformats.org/drawingml/2006/main"/>
        </p:blipFill>
        <p:spPr>
          <a:xfrm xmlns:a="http://schemas.openxmlformats.org/drawingml/2006/main">
            <a:off x="554294" y="1409700"/>
            <a:ext cx="3187187" cy="4371975"/>
          </a:xfrm>
          <a:prstGeom xmlns:a="http://schemas.openxmlformats.org/drawingml/2006/main" prst="rect">
            <a:avLst/>
          </a:prstGeom>
        </p:spPr>
      </p:pic>
      <p:sp>
        <p:nvSpPr>
          <p:cNvPr id="28" name="v12-text-10-5">
            <a:extLst xmlns:a="http://schemas.openxmlformats.org/drawingml/2006/main">
              <a:ext uri="{FF2B5EF4-FFF2-40B4-BE49-F238E27FC236}">
                <a16:creationId xmlns:a16="http://schemas.microsoft.com/office/drawing/2014/main" id="{391E289E-5193-416D-AA69-142B37B041E4}"/>
              </a:ext>
            </a:extLst>
          </p:cNvPr>
          <p:cNvSpPr>
            <a:spLocks xmlns:a="http://schemas.openxmlformats.org/drawingml/2006/main" noGrp="1"/>
          </p:cNvSpPr>
          <p:nvPr/>
        </p:nvSpPr>
        <p:spPr>
          <a:xfrm xmlns:a="http://schemas.openxmlformats.org/drawingml/2006/main">
            <a:off x="4286250" y="4200525"/>
            <a:ext cx="5667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800" b="0">
                <a:solidFill>
                  <a:srgbClr val="3F3F3F"/>
                </a:solidFill>
                <a:latin typeface="Calibri"/>
                <a:ea typeface="Calibri"/>
                <a:cs typeface="Calibri"/>
              </a:defRPr>
            </a:pPr>
            <a:r>
              <a:rPr sz="1800" b="1">
                <a:latin typeface="Calibri"/>
                <a:ea typeface="Calibri"/>
                <a:cs typeface="Calibri"/>
              </a:rPr>
              <a:t>Training:</a:t>
            </a:r>
            <a:r>
              <a:rPr sz="1800" b="0">
                <a:latin typeface="Calibri"/>
                <a:ea typeface="Calibri"/>
                <a:cs typeface="Calibri"/>
              </a:rPr>
              <a:t> Minimierung der MSE als Verlustfunktion</a:t>
            </a:r>
          </a:p>
        </p:txBody>
      </p:sp>
      <p:sp>
        <p:nvSpPr>
          <p:cNvPr id="47" name="v14-evaluation"/>
          <p:cNvSpPr>
            <a:spLocks xmlns:a="http://schemas.openxmlformats.org/drawingml/2006/main" noGrp="1"/>
          </p:cNvSpPr>
          <p:nvPr/>
        </p:nvSpPr>
        <p:spPr>
          <a:xfrm xmlns:a="http://schemas.openxmlformats.org/drawingml/2006/main">
            <a:off x="4286250" y="4638675"/>
            <a:ext cx="5667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800" b="0">
                <a:solidFill>
                  <a:srgbClr val="3F3F3F"/>
                </a:solidFill>
                <a:latin typeface="Calibri"/>
                <a:ea typeface="Calibri"/>
                <a:cs typeface="Calibri"/>
              </a:defRPr>
            </a:pPr>
            <a:r>
              <a:rPr sz="1800" b="1">
                <a:latin typeface="Calibri"/>
                <a:ea typeface="Calibri"/>
                <a:cs typeface="Calibri"/>
              </a:rPr>
              <a:t>Evaluation:</a:t>
            </a:r>
            <a:r>
              <a:rPr sz="1800" b="0">
                <a:latin typeface="Calibri"/>
                <a:ea typeface="Calibri"/>
                <a:cs typeface="Calibri"/>
              </a:rPr>
              <a:t> MAE und MSE auf den vier separaten Testzellen</a:t>
            </a:r>
          </a:p>
        </p:txBody>
      </p:sp>
      <p:sp>
        <p:nvSpPr>
          <p:cNvPr id="48" name="v14-MAE-formula"/>
          <p:cNvSpPr>
            <a:spLocks xmlns:a="http://schemas.openxmlformats.org/drawingml/2006/main" noGrp="1"/>
          </p:cNvSpPr>
          <p:nvPr/>
        </p:nvSpPr>
        <p:spPr>
          <a:xfrm xmlns:a="http://schemas.openxmlformats.org/drawingml/2006/main">
            <a:off x="7458075" y="5219700"/>
            <a:ext cx="2476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a:p xmlns:a="http://schemas.openxmlformats.org/drawingml/2006/main">
            <a:pPr algn="ctr">
              <a:buNone/>
            </a:pPr>
            <a14:m xmlns:a14="http://schemas.microsoft.com/office/drawing/2010/main">
              <m:oMathPara xmlns:m="http://schemas.openxmlformats.org/officeDocument/2006/math">
                <m:oMathParaPr>
                  <m:jc m:val="centerGroup"/>
                </m:oMathParaPr>
                <m:oMath>
                  <m:r>
                    <a:rPr sz="1875">
                      <a:latin typeface="Cambria Math"/>
                      <a:ea typeface="Cambria Math"/>
                      <a:cs typeface="Cambria Math"/>
                    </a:rPr>
                    <m:t>M</m:t>
                  </m:r>
                  <m:r>
                    <a:rPr sz="1875">
                      <a:latin typeface="Cambria Math"/>
                      <a:ea typeface="Cambria Math"/>
                      <a:cs typeface="Cambria Math"/>
                    </a:rPr>
                    <m:t>A</m:t>
                  </m:r>
                  <m:r>
                    <a:rPr sz="1875">
                      <a:latin typeface="Cambria Math"/>
                      <a:ea typeface="Cambria Math"/>
                      <a:cs typeface="Cambria Math"/>
                    </a:rPr>
                    <m:t>E</m:t>
                  </m:r>
                  <m:r>
                    <a:rPr sz="1875">
                      <a:latin typeface="Cambria Math"/>
                      <a:ea typeface="Cambria Math"/>
                      <a:cs typeface="Cambria Math"/>
                    </a:rPr>
                    <m:t>=</m:t>
                  </m:r>
                  <m:f>
                    <m:num>
                      <m:r>
                        <a:rPr sz="1875">
                          <a:latin typeface="Cambria Math"/>
                          <a:ea typeface="Cambria Math"/>
                          <a:cs typeface="Cambria Math"/>
                        </a:rPr>
                        <m:t>1</m:t>
                      </m:r>
                    </m:num>
                    <m:den>
                      <m:r>
                        <a:rPr sz="1875">
                          <a:latin typeface="Cambria Math"/>
                          <a:ea typeface="Cambria Math"/>
                          <a:cs typeface="Cambria Math"/>
                        </a:rPr>
                        <m:t>N</m:t>
                      </m:r>
                    </m:den>
                  </m:f>
                  <m:nary>
                    <m:naryPr>
                      <m:chr m:val="∑"/>
                      <m:limLoc m:val="undOvr"/>
                      <m:subHide m:val="off"/>
                      <m:supHide m:val="off"/>
                    </m:naryPr>
                    <m:sub>
                      <m:r>
                        <a:rPr sz="1313">
                          <a:latin typeface="Cambria Math"/>
                          <a:ea typeface="Cambria Math"/>
                          <a:cs typeface="Cambria Math"/>
                        </a:rPr>
                        <m:t>k</m:t>
                      </m:r>
                      <m:r>
                        <a:rPr sz="1313">
                          <a:latin typeface="Cambria Math"/>
                          <a:ea typeface="Cambria Math"/>
                          <a:cs typeface="Cambria Math"/>
                        </a:rPr>
                        <m:t>=</m:t>
                      </m:r>
                      <m:r>
                        <a:rPr sz="1313">
                          <a:latin typeface="Cambria Math"/>
                          <a:ea typeface="Cambria Math"/>
                          <a:cs typeface="Cambria Math"/>
                        </a:rPr>
                        <m:t>1</m:t>
                      </m:r>
                    </m:sub>
                    <m:sup>
                      <m:r>
                        <a:rPr sz="1313">
                          <a:latin typeface="Cambria Math"/>
                          <a:ea typeface="Cambria Math"/>
                          <a:cs typeface="Cambria Math"/>
                        </a:rPr>
                        <m:t>N</m:t>
                      </m:r>
                    </m:sup>
                    <m:e>
                      <m:d>
                        <m:dPr>
                          <m:begChr m:val="|"/>
                          <m:endChr m:val="|"/>
                          <m:grow m:val="1"/>
                        </m:dPr>
                        <m:e>
                          <m:sSub>
                            <m:e>
                              <m:acc>
                                <m:accPr>
                                  <m:chr m:val="^"/>
                                </m:accPr>
                                <m:e>
                                  <m:r>
                                    <a:rPr sz="1875">
                                      <a:latin typeface="Cambria Math"/>
                                      <a:ea typeface="Cambria Math"/>
                                      <a:cs typeface="Cambria Math"/>
                                    </a:rPr>
                                    <m:t>y</m:t>
                                  </m:r>
                                </m:e>
                              </m:acc>
                            </m:e>
                            <m:sub>
                              <m:r>
                                <a:rPr sz="1313">
                                  <a:latin typeface="Cambria Math"/>
                                  <a:ea typeface="Cambria Math"/>
                                  <a:cs typeface="Cambria Math"/>
                                </a:rPr>
                                <m:t>k</m:t>
                              </m:r>
                            </m:sub>
                          </m:sSub>
                          <m:r>
                            <a:rPr sz="1875">
                              <a:latin typeface="Cambria Math"/>
                              <a:ea typeface="Cambria Math"/>
                              <a:cs typeface="Cambria Math"/>
                            </a:rPr>
                            <m:t>−</m:t>
                          </m:r>
                          <m:sSub>
                            <m:e>
                              <m:r>
                                <a:rPr sz="1875">
                                  <a:latin typeface="Cambria Math"/>
                                  <a:ea typeface="Cambria Math"/>
                                  <a:cs typeface="Cambria Math"/>
                                </a:rPr>
                                <m:t>y</m:t>
                              </m:r>
                            </m:e>
                            <m:sub>
                              <m:r>
                                <a:rPr sz="1313">
                                  <a:latin typeface="Cambria Math"/>
                                  <a:ea typeface="Cambria Math"/>
                                  <a:cs typeface="Cambria Math"/>
                                </a:rPr>
                                <m:t>k</m:t>
                              </m:r>
                            </m:sub>
                          </m:sSub>
                        </m:e>
                      </m:d>
                    </m:e>
                  </m:nary>
                </m:oMath>
              </m:oMathPara>
            </a14:m>
          </a:p>
        </p:txBody>
      </p:sp>
    </p:spTree>
    <p:extLst>
      <p:ext uri="{BB962C8B-B14F-4D97-AF65-F5344CB8AC3E}">
        <p14:creationId xmlns:p14="http://schemas.microsoft.com/office/powerpoint/2010/main" val="325468243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wrap="none" lIns="0" tIns="0" rIns="0" bIns="0" anchor="t">
            <a:noAutofit/>
          </a:bodyPr>
          <a:lstStyle xmlns:a="http://schemas.openxmlformats.org/drawingml/2006/main"/>
          <ns0:p xmlns:ns0="http://schemas.openxmlformats.org/drawingml/2006/main">
            <ns0:pPr algn="l">
              <ns0:lnSpc>
                <ns0:spcPct val="106000"/>
              </ns0:lnSpc>
              <ns0:buNone/>
              <ns0:defRPr sz="2400" b="0">
                <ns0:solidFill>
                  <ns0:srgbClr val="CC001C"/>
                </ns0:solidFill>
                <ns0:latin typeface="Calibri"/>
                <ns0:ea typeface="Calibri"/>
                <ns0:cs typeface="Calibri"/>
              </ns0:defRPr>
            </ns0:pPr>
            <ns0:r>
              <ns0:rPr sz="2400" b="0">
                <ns0:solidFill>
                  <ns0:srgbClr val="CC001C"/>
                </ns0:solidFill>
                <ns0:latin typeface="Calibri"/>
                <ns0:ea typeface="Calibri"/>
                <ns0:cs typeface="Calibri"/>
              </ns0:rPr>
              <ns0:t>Ergebnisse: Einfluss von Zeitauflösung und Lag-Sequence Length</ns0:t>
            </ns0:r>
          </ns0: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11 / 44</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sp>
        <p:nvSpPr>
          <p:cNvPr id="14" name="V5_Text_14">
            <a:extLst xmlns:a="http://schemas.openxmlformats.org/drawingml/2006/main">
              <a:ext uri="{FF2B5EF4-FFF2-40B4-BE49-F238E27FC236}">
                <a16:creationId xmlns:a16="http://schemas.microsoft.com/office/drawing/2014/main" id="{8447B856-31D7-485E-A5D6-8F04CCB6024A}"/>
              </a:ext>
            </a:extLst>
          </p:cNvPr>
          <p:cNvSpPr>
            <a:spLocks xmlns:a="http://schemas.openxmlformats.org/drawingml/2006/main" noGrp="1"/>
          </p:cNvSpPr>
          <p:nvPr/>
        </p:nvSpPr>
        <p:spPr>
          <a:xfrm xmlns:a="http://schemas.openxmlformats.org/drawingml/2006/main">
            <a:off x="552450" y="4324350"/>
            <a:ext cx="9353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ns1:p xmlns:ns1="http://schemas.openxmlformats.org/drawingml/2006/main">
            <ns1:pPr marL="20" indent="-17" algn="l">
              <ns1:spcBef>
                <ns1:spcPts val="0"/>
              </ns1:spcBef>
              <ns1:spcAft>
                <ns1:spcPts val="0"/>
              </ns1:spcAft>
              <ns1:buChar char="•"/>
              <ns1:defRPr sz="1800" b="0">
                <ns1:solidFill>
                  <ns1:srgbClr val="3F3F3F"/>
                </ns1:solidFill>
                <ns1:latin typeface="Calibri"/>
                <ns1:ea typeface="Calibri"/>
                <ns1:cs typeface="Calibri"/>
              </ns1:defRPr>
            </ns1:pPr>
            <ns1:r>
              <ns1:rPr sz="1800" b="1">
                <ns1:latin typeface="Calibri"/>
                <ns1:ea typeface="Calibri"/>
                <ns1:cs typeface="Calibri"/>
              </ns1:rPr>
              <ns1:t>Grobe Zeitauflösung:</ns1:t>
            </ns1:r>
            <ns1:r>
              <ns1:rPr sz="1800" b="0">
                <ns1:latin typeface="Calibri"/>
                <ns1:ea typeface="Calibri"/>
                <ns1:cs typeface="Calibri"/>
              </ns1:rPr>
              <ns1:t xml:space="preserve"> Glättung relevanter Lade- und Entladedynamik durch Aggregation</ns1:t>
            </ns1:r>
          </ns1:p>
        </p:txBody>
      </p:sp>
      <p:sp>
        <p:nvSpPr>
          <p:cNvPr id="15" name="V5_Text_15">
            <a:extLst xmlns:a="http://schemas.openxmlformats.org/drawingml/2006/main">
              <a:ext uri="{FF2B5EF4-FFF2-40B4-BE49-F238E27FC236}">
                <a16:creationId xmlns:a16="http://schemas.microsoft.com/office/drawing/2014/main" id="{046AD55A-76FE-4B36-9E3F-F223247851B4}"/>
              </a:ext>
            </a:extLst>
          </p:cNvPr>
          <p:cNvSpPr>
            <a:spLocks xmlns:a="http://schemas.openxmlformats.org/drawingml/2006/main" noGrp="1"/>
          </p:cNvSpPr>
          <p:nvPr/>
        </p:nvSpPr>
        <p:spPr>
          <a:xfrm xmlns:a="http://schemas.openxmlformats.org/drawingml/2006/main">
            <a:off x="552450" y="4876800"/>
            <a:ext cx="9353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ns2:p xmlns:ns2="http://schemas.openxmlformats.org/drawingml/2006/main">
            <ns2:pPr marL="20" indent="-17" algn="l">
              <ns2:spcBef>
                <ns2:spcPts val="0"/>
              </ns2:spcBef>
              <ns2:spcAft>
                <ns2:spcPts val="0"/>
              </ns2:spcAft>
              <ns2:buChar char="•"/>
              <ns2:defRPr sz="1800" b="0">
                <ns2:solidFill>
                  <ns2:srgbClr val="3F3F3F"/>
                </ns2:solidFill>
                <ns2:latin typeface="Calibri"/>
                <ns2:ea typeface="Calibri"/>
                <ns2:cs typeface="Calibri"/>
              </ns2:defRPr>
            </ns2:pPr>
            <ns2:r>
              <ns2:rPr sz="1800" b="1">
                <ns2:latin typeface="Calibri"/>
                <ns2:ea typeface="Calibri"/>
                <ns2:cs typeface="Calibri"/>
              </ns2:rPr>
              <ns2:t>Feine Zeitauflösung:</ns2:t>
            </ns2:r>
            <ns2:r>
              <ns2:rPr sz="1800" b="0">
                <ns2:latin typeface="Calibri"/>
                <ns2:ea typeface="Calibri"/>
                <ns2:cs typeface="Calibri"/>
              </ns2:rPr>
              <ns2:t xml:space="preserve"> Kürzere Zeitabdeckung bei gleicher Lag-Sequence Length L, größerer Eingangsvektor bei mehr Zeitschritten</ns2:t>
            </ns2:r>
          </ns2:p>
        </p:txBody>
      </p:sp>
      <p:sp>
        <p:nvSpPr>
          <p:cNvPr id="16" name="V5_Text_16">
            <a:extLst xmlns:a="http://schemas.openxmlformats.org/drawingml/2006/main">
              <a:ext uri="{FF2B5EF4-FFF2-40B4-BE49-F238E27FC236}">
                <a16:creationId xmlns:a16="http://schemas.microsoft.com/office/drawing/2014/main" id="{C3B77270-1B0C-453A-8A99-8694B74C9C21}"/>
              </a:ext>
            </a:extLst>
          </p:cNvPr>
          <p:cNvSpPr>
            <a:spLocks xmlns:a="http://schemas.openxmlformats.org/drawingml/2006/main" noGrp="1"/>
          </p:cNvSpPr>
          <p:nvPr/>
        </p:nvSpPr>
        <p:spPr>
          <a:xfrm xmlns:a="http://schemas.openxmlformats.org/drawingml/2006/main">
            <a:off x="552450" y="5619750"/>
            <a:ext cx="9353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ns3:p xmlns:ns3="http://schemas.openxmlformats.org/drawingml/2006/main">
            <ns3:pPr marL="0" indent="0" algn="l">
              <ns3:spcBef>
                <ns3:spcPts val="0"/>
              </ns3:spcBef>
              <ns3:spcAft>
                <ns3:spcPts val="0"/>
              </ns3:spcAft>
              <ns3:buNone/>
              <ns3:defRPr sz="1800" b="0">
                <ns3:solidFill>
                  <ns3:srgbClr val="3F3F3F"/>
                </ns3:solidFill>
                <ns3:latin typeface="Calibri"/>
                <ns3:ea typeface="Calibri"/>
                <ns3:cs typeface="Calibri"/>
              </ns3:defRPr>
            </ns3:pPr>
            <ns3:r>
              <ns3:rPr sz="1800" b="1">
                <ns3:latin typeface="Calibri"/>
                <ns3:ea typeface="Calibri"/>
                <ns3:cs typeface="Calibri"/>
              </ns3:rPr>
              <ns3:t>Konfiguration:</ns3:t>
            </ns3:r>
            <ns3:r>
              <ns3:rPr sz="1800" b="0">
                <ns3:latin typeface="Calibri"/>
                <ns3:ea typeface="Calibri"/>
                <ns3:cs typeface="Calibri"/>
              </ns3:rPr>
              <ns3:t xml:space="preserve"> L = 16, Δt = 10 min, Historie von 160 min</ns3:t>
            </ns3:r>
          </ns3:p>
        </p:txBody>
      </p:sp>
      <p:sp>
        <p:nvSpPr>
          <p:cNvPr id="20" name="Structure separator">
            <a:extLst xmlns:a="http://schemas.openxmlformats.org/drawingml/2006/main">
              <a:ext uri="{FF2B5EF4-FFF2-40B4-BE49-F238E27FC236}">
                <a16:creationId xmlns:a16="http://schemas.microsoft.com/office/drawing/2014/main" id="{3F74B574-9DDB-41DD-8EB5-E987849481F0}"/>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21" name="Structure label">
            <a:extLst xmlns:a="http://schemas.openxmlformats.org/drawingml/2006/main">
              <a:ext uri="{FF2B5EF4-FFF2-40B4-BE49-F238E27FC236}">
                <a16:creationId xmlns:a16="http://schemas.microsoft.com/office/drawing/2014/main" id="{025ED990-F646-4CFB-896C-3FF0A7CD2F19}"/>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2" name="Structure 0">
            <a:extLst xmlns:a="http://schemas.openxmlformats.org/drawingml/2006/main">
              <a:ext uri="{FF2B5EF4-FFF2-40B4-BE49-F238E27FC236}">
                <a16:creationId xmlns:a16="http://schemas.microsoft.com/office/drawing/2014/main" id="{4FB9A4E9-050D-47AC-B24E-13FC542FE14D}"/>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3" name="Structure 1">
            <a:extLst xmlns:a="http://schemas.openxmlformats.org/drawingml/2006/main">
              <a:ext uri="{FF2B5EF4-FFF2-40B4-BE49-F238E27FC236}">
                <a16:creationId xmlns:a16="http://schemas.microsoft.com/office/drawing/2014/main" id="{85A777C8-8760-4EFC-938B-4D4791F6374E}"/>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4" name="Structure 2">
            <a:extLst xmlns:a="http://schemas.openxmlformats.org/drawingml/2006/main">
              <a:ext uri="{FF2B5EF4-FFF2-40B4-BE49-F238E27FC236}">
                <a16:creationId xmlns:a16="http://schemas.microsoft.com/office/drawing/2014/main" id="{74C06C63-AF54-46B6-8D03-410829E5C9DA}"/>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25" name="Structure 3">
            <a:extLst xmlns:a="http://schemas.openxmlformats.org/drawingml/2006/main">
              <a:ext uri="{FF2B5EF4-FFF2-40B4-BE49-F238E27FC236}">
                <a16:creationId xmlns:a16="http://schemas.microsoft.com/office/drawing/2014/main" id="{E29C5E9C-0937-43B9-A16E-CDE57FB5745B}"/>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6" name="Structure 4">
            <a:extLst xmlns:a="http://schemas.openxmlformats.org/drawingml/2006/main">
              <a:ext uri="{FF2B5EF4-FFF2-40B4-BE49-F238E27FC236}">
                <a16:creationId xmlns:a16="http://schemas.microsoft.com/office/drawing/2014/main" id="{E74FB181-2734-4411-8982-76047EA3378A}"/>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7" name="Structure 5">
            <a:extLst xmlns:a="http://schemas.openxmlformats.org/drawingml/2006/main">
              <a:ext uri="{FF2B5EF4-FFF2-40B4-BE49-F238E27FC236}">
                <a16:creationId xmlns:a16="http://schemas.microsoft.com/office/drawing/2014/main" id="{DE8E4828-00D8-4B28-84DC-26B623D314C0}"/>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15e3ba4cc17e4850"/>
          <a:stretch xmlns:a="http://schemas.openxmlformats.org/drawingml/2006/main"/>
        </p:blipFill>
        <p:spPr>
          <a:xfrm xmlns:a="http://schemas.openxmlformats.org/drawingml/2006/main">
            <a:off x="1253417" y="1428750"/>
            <a:ext cx="7951615" cy="2647950"/>
          </a:xfrm>
          <a:prstGeom xmlns:a="http://schemas.openxmlformats.org/drawingml/2006/main" prst="rect">
            <a:avLst/>
          </a:prstGeom>
        </p:spPr>
      </p:pic>
    </p:spTree>
    <p:extLst>
      <p:ext uri="{BB962C8B-B14F-4D97-AF65-F5344CB8AC3E}">
        <p14:creationId xmlns:p14="http://schemas.microsoft.com/office/powerpoint/2010/main" val="629550318"/>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wrap="none" lIns="0" tIns="0" rIns="0" bIns="0" anchor="t">
            <a:noAutofit/>
          </a:bodyPr>
          <a:lstStyle xmlns:a="http://schemas.openxmlformats.org/drawingml/2006/main"/>
          <ns0:p xmlns:ns0="http://schemas.openxmlformats.org/drawingml/2006/main">
            <ns0:pPr algn="l">
              <ns0:lnSpc>
                <ns0:spcPct val="106000"/>
              </ns0:lnSpc>
              <ns0:buNone/>
              <ns0:defRPr sz="2400" b="0">
                <ns0:solidFill>
                  <ns0:srgbClr val="CC001C"/>
                </ns0:solidFill>
                <ns0:latin typeface="Calibri"/>
                <ns0:ea typeface="Calibri"/>
                <ns0:cs typeface="Calibri"/>
              </ns0:defRPr>
            </ns0:pPr>
            <ns0:r>
              <ns0:rPr sz="2400" b="0">
                <ns0:solidFill>
                  <ns0:srgbClr val="CC001C"/>
                </ns0:solidFill>
                <ns0:latin typeface="Calibri"/>
                <ns0:ea typeface="Calibri"/>
                <ns0:cs typeface="Calibri"/>
              </ns0:rPr>
              <ns0:t>Ergebnisse: Genauigkeit und Grenzen der SOH-Schätzung</ns0:t>
            </ns0:r>
          </ns0: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12 / 44</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pic>
        <p:nvPicPr>
          <p:cNvPr id="33" name="V5_Figure_11"/>
          <p:cNvPicPr>
            <a:picLocks xmlns:a="http://schemas.openxmlformats.org/drawingml/2006/main" noChangeAspect="1"/>
          </p:cNvPicPr>
          <p:nvPr/>
        </p:nvPicPr>
        <p:blipFill>
          <a:blip xmlns:r="http://schemas.openxmlformats.org/officeDocument/2006/relationships" xmlns:a="http://schemas.openxmlformats.org/drawingml/2006/main" r:embed="R697cd1b36d9143db"/>
          <a:stretch xmlns:a="http://schemas.openxmlformats.org/drawingml/2006/main"/>
        </p:blipFill>
        <p:spPr>
          <a:xfrm xmlns:a="http://schemas.openxmlformats.org/drawingml/2006/main">
            <a:off x="1253417" y="1428750"/>
            <a:ext cx="7951615" cy="2647950"/>
          </a:xfrm>
          <a:prstGeom xmlns:a="http://schemas.openxmlformats.org/drawingml/2006/main" prst="rect">
            <a:avLst/>
          </a:prstGeom>
        </p:spPr>
      </p:pic>
      <p:sp>
        <p:nvSpPr>
          <p:cNvPr id="14" name="V5_Text_14">
            <a:extLst xmlns:a="http://schemas.openxmlformats.org/drawingml/2006/main">
              <a:ext uri="{FF2B5EF4-FFF2-40B4-BE49-F238E27FC236}">
                <a16:creationId xmlns:a16="http://schemas.microsoft.com/office/drawing/2014/main" id="{8447B856-31D7-485E-A5D6-8F04CCB6024A}"/>
              </a:ext>
            </a:extLst>
          </p:cNvPr>
          <p:cNvSpPr>
            <a:spLocks xmlns:a="http://schemas.openxmlformats.org/drawingml/2006/main" noGrp="1"/>
          </p:cNvSpPr>
          <p:nvPr/>
        </p:nvSpPr>
        <p:spPr>
          <a:xfrm xmlns:a="http://schemas.openxmlformats.org/drawingml/2006/main">
            <a:off x="552450" y="4324350"/>
            <a:ext cx="9353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ns1:p xmlns:ns1="http://schemas.openxmlformats.org/drawingml/2006/main">
            <ns1:pPr marL="20" indent="-17" algn="l">
              <ns1:spcBef>
                <ns1:spcPts val="0"/>
              </ns1:spcBef>
              <ns1:spcAft>
                <ns1:spcPts val="0"/>
              </ns1:spcAft>
              <ns1:buChar char="•"/>
              <ns1:defRPr sz="1800" b="0">
                <ns1:solidFill>
                  <ns1:srgbClr val="3F3F3F"/>
                </ns1:solidFill>
                <ns1:latin typeface="Calibri"/>
                <ns1:ea typeface="Calibri"/>
                <ns1:cs typeface="Calibri"/>
              </ns1:defRPr>
            </ns1:pPr>
            <ns1:r>
              <ns1:rPr sz="1800" b="1">
                <ns1:latin typeface="Calibri"/>
                <ns1:ea typeface="Calibri"/>
                <ns1:cs typeface="Calibri"/>
              </ns1:rPr>
              <ns1:t>Zellen 1 und 7:</ns1:t>
            </ns1:r>
            <ns1:r>
              <ns1:rPr sz="1800" b="0">
                <ns1:latin typeface="Calibri"/>
                <ns1:ea typeface="Calibri"/>
                <ns1:cs typeface="Calibri"/>
              </ns1:rPr>
              <ns1:t xml:space="preserve"> Gute Übereinstimmung mit der Kapazitätsreferenz, MAE von 0,253 bis 0,487 Prozentpunkten</ns1:t>
            </ns1:r>
          </ns1:p>
        </p:txBody>
      </p:sp>
      <p:sp>
        <p:nvSpPr>
          <p:cNvPr id="15" name="V5_Text_15">
            <a:extLst xmlns:a="http://schemas.openxmlformats.org/drawingml/2006/main">
              <a:ext uri="{FF2B5EF4-FFF2-40B4-BE49-F238E27FC236}">
                <a16:creationId xmlns:a16="http://schemas.microsoft.com/office/drawing/2014/main" id="{046AD55A-76FE-4B36-9E3F-F223247851B4}"/>
              </a:ext>
            </a:extLst>
          </p:cNvPr>
          <p:cNvSpPr>
            <a:spLocks xmlns:a="http://schemas.openxmlformats.org/drawingml/2006/main" noGrp="1"/>
          </p:cNvSpPr>
          <p:nvPr/>
        </p:nvSpPr>
        <p:spPr>
          <a:xfrm xmlns:a="http://schemas.openxmlformats.org/drawingml/2006/main">
            <a:off x="552450" y="5067300"/>
            <a:ext cx="93535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ns2:p xmlns:ns2="http://schemas.openxmlformats.org/drawingml/2006/main">
            <ns2:pPr marL="20" indent="-17" algn="l">
              <ns2:spcBef>
                <ns2:spcPts val="0"/>
              </ns2:spcBef>
              <ns2:spcAft>
                <ns2:spcPts val="0"/>
              </ns2:spcAft>
              <ns2:buChar char="•"/>
              <ns2:defRPr sz="1800" b="0">
                <ns2:solidFill>
                  <ns2:srgbClr val="3F3F3F"/>
                </ns2:solidFill>
                <ns2:latin typeface="Calibri"/>
                <ns2:ea typeface="Calibri"/>
                <ns2:cs typeface="Calibri"/>
              </ns2:defRPr>
            </ns2:pPr>
            <ns2:r>
              <ns2:rPr sz="1800" b="1">
                <ns2:latin typeface="Calibri"/>
                <ns2:ea typeface="Calibri"/>
                <ns2:cs typeface="Calibri"/>
              </ns2:rPr>
              <ns2:t>Zelle 9:</ns2:t>
            </ns2:r>
            <ns2:r>
              <ns2:rPr sz="1800" b="0">
                <ns2:latin typeface="Calibri"/>
                <ns2:ea typeface="Calibri"/>
                <ns2:cs typeface="Calibri"/>
              </ns2:rPr>
              <ns2:t xml:space="preserve"> Größere systematische und lokale Abweichungen, MAE 2,528 Prozentpunkte als Grenze der Übertragbarkeit</ns2:t>
            </ns2:r>
          </ns2:p>
        </p:txBody>
      </p:sp>
      <p:sp>
        <p:nvSpPr>
          <p:cNvPr id="20" name="Structure separator">
            <a:extLst xmlns:a="http://schemas.openxmlformats.org/drawingml/2006/main">
              <a:ext uri="{FF2B5EF4-FFF2-40B4-BE49-F238E27FC236}">
                <a16:creationId xmlns:a16="http://schemas.microsoft.com/office/drawing/2014/main" id="{3F74B574-9DDB-41DD-8EB5-E987849481F0}"/>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21" name="Structure label">
            <a:extLst xmlns:a="http://schemas.openxmlformats.org/drawingml/2006/main">
              <a:ext uri="{FF2B5EF4-FFF2-40B4-BE49-F238E27FC236}">
                <a16:creationId xmlns:a16="http://schemas.microsoft.com/office/drawing/2014/main" id="{025ED990-F646-4CFB-896C-3FF0A7CD2F19}"/>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2" name="Structure 0">
            <a:extLst xmlns:a="http://schemas.openxmlformats.org/drawingml/2006/main">
              <a:ext uri="{FF2B5EF4-FFF2-40B4-BE49-F238E27FC236}">
                <a16:creationId xmlns:a16="http://schemas.microsoft.com/office/drawing/2014/main" id="{4FB9A4E9-050D-47AC-B24E-13FC542FE14D}"/>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3" name="Structure 1">
            <a:extLst xmlns:a="http://schemas.openxmlformats.org/drawingml/2006/main">
              <a:ext uri="{FF2B5EF4-FFF2-40B4-BE49-F238E27FC236}">
                <a16:creationId xmlns:a16="http://schemas.microsoft.com/office/drawing/2014/main" id="{85A777C8-8760-4EFC-938B-4D4791F6374E}"/>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4" name="Structure 2">
            <a:extLst xmlns:a="http://schemas.openxmlformats.org/drawingml/2006/main">
              <a:ext uri="{FF2B5EF4-FFF2-40B4-BE49-F238E27FC236}">
                <a16:creationId xmlns:a16="http://schemas.microsoft.com/office/drawing/2014/main" id="{74C06C63-AF54-46B6-8D03-410829E5C9DA}"/>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25" name="Structure 3">
            <a:extLst xmlns:a="http://schemas.openxmlformats.org/drawingml/2006/main">
              <a:ext uri="{FF2B5EF4-FFF2-40B4-BE49-F238E27FC236}">
                <a16:creationId xmlns:a16="http://schemas.microsoft.com/office/drawing/2014/main" id="{E29C5E9C-0937-43B9-A16E-CDE57FB5745B}"/>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6" name="Structure 4">
            <a:extLst xmlns:a="http://schemas.openxmlformats.org/drawingml/2006/main">
              <a:ext uri="{FF2B5EF4-FFF2-40B4-BE49-F238E27FC236}">
                <a16:creationId xmlns:a16="http://schemas.microsoft.com/office/drawing/2014/main" id="{E74FB181-2734-4411-8982-76047EA3378A}"/>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7" name="Structure 5">
            <a:extLst xmlns:a="http://schemas.openxmlformats.org/drawingml/2006/main">
              <a:ext uri="{FF2B5EF4-FFF2-40B4-BE49-F238E27FC236}">
                <a16:creationId xmlns:a16="http://schemas.microsoft.com/office/drawing/2014/main" id="{DE8E4828-00D8-4B28-84DC-26B623D314C0}"/>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Tree>
    <p:extLst>
      <p:ext uri="{BB962C8B-B14F-4D97-AF65-F5344CB8AC3E}">
        <p14:creationId xmlns:p14="http://schemas.microsoft.com/office/powerpoint/2010/main" val="62955031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wrap="none" lIns="0" tIns="0" rIns="0" bIns="0" anchor="t">
            <a:noAutofit/>
          </a:bodyPr>
          <a:lstStyle xmlns:a="http://schemas.openxmlformats.org/drawingml/2006/main"/>
          <ns0:p xmlns:ns0="http://schemas.openxmlformats.org/drawingml/2006/main">
            <ns0:pPr algn="l">
              <ns0:lnSpc>
                <ns0:spcPct val="106000"/>
              </ns0:lnSpc>
              <ns0:buNone/>
              <ns0:defRPr sz="2400" b="0">
                <ns0:solidFill>
                  <ns0:srgbClr val="CC001C"/>
                </ns0:solidFill>
                <ns0:latin typeface="Calibri"/>
                <ns0:ea typeface="Calibri"/>
                <ns0:cs typeface="Calibri"/>
              </ns0:defRPr>
            </ns0:pPr>
            <ns0:r>
              <ns0:rPr sz="2400" b="0">
                <ns0:solidFill>
                  <ns0:srgbClr val="CC001C"/>
                </ns0:solidFill>
                <ns0:latin typeface="Calibri"/>
                <ns0:ea typeface="Calibri"/>
                <ns0:cs typeface="Calibri"/>
              </ns0:rPr>
              <ns0:t>Benchmark: Genauigkeit, Robustheit und Recovery</ns0:t>
            </ns0:r>
            <ns0:endParaRPr/>
          </ns0: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13 / 44</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sp>
        <p:nvSpPr>
          <p:cNvPr id="1000" name="BM_Hardware_highlight">
            <a:extLst xmlns:a="http://schemas.openxmlformats.org/drawingml/2006/main">
              <a:ext uri="{FF2B5EF4-FFF2-40B4-BE49-F238E27FC236}">
                <a16:creationId xmlns:a16="http://schemas.microsoft.com/office/drawing/2014/main" id="{94F878CC-F4B9-457E-BA55-8F521681AC2F}"/>
              </a:ext>
            </a:extLst>
          </p:cNvPr>
          <p:cNvSpPr>
            <a:spLocks xmlns:a="http://schemas.openxmlformats.org/drawingml/2006/main" noGrp="1"/>
          </p:cNvSpPr>
          <p:nvPr/>
        </p:nvSpPr>
        <p:spPr>
          <a:xfrm xmlns:a="http://schemas.openxmlformats.org/drawingml/2006/main">
            <a:off x="638316" y="2957725"/>
            <a:ext cx="1783804" cy="1800423"/>
          </a:xfrm>
          <a:custGeom xmlns:a="http://schemas.openxmlformats.org/drawingml/2006/main">
            <a:pathLst>
              <a:path w="1783804" h="1800423">
                <a:moveTo>
                  <a:pt x="0" y="900211"/>
                </a:moveTo>
                <a:lnTo>
                  <a:pt x="894672" y="0"/>
                </a:lnTo>
                <a:lnTo>
                  <a:pt x="1783804" y="900211"/>
                </a:lnTo>
                <a:lnTo>
                  <a:pt x="894672" y="1800423"/>
                </a:lnTo>
                <a:close/>
              </a:path>
            </a:pathLst>
          </a:custGeom>
          <a:noFill xmlns:a="http://schemas.openxmlformats.org/drawingml/2006/main"/>
          <a:ln xmlns:a="http://schemas.openxmlformats.org/drawingml/2006/main" w="45720">
            <a:solidFill>
              <a:srgbClr val="D00020"/>
            </a:solidFill>
          </a:ln>
        </p:spPr>
      </p:sp>
      <p:sp>
        <p:nvSpPr>
          <p:cNvPr id="1001" name="BM_Performance_highlight">
            <a:extLst xmlns:a="http://schemas.openxmlformats.org/drawingml/2006/main">
              <a:ext uri="{FF2B5EF4-FFF2-40B4-BE49-F238E27FC236}">
                <a16:creationId xmlns:a16="http://schemas.microsoft.com/office/drawing/2014/main" id="{CDF43DDD-3E03-4BF1-9A5D-C24B1DE54FAA}"/>
              </a:ext>
            </a:extLst>
          </p:cNvPr>
          <p:cNvSpPr>
            <a:spLocks xmlns:a="http://schemas.openxmlformats.org/drawingml/2006/main" noGrp="1"/>
          </p:cNvSpPr>
          <p:nvPr/>
        </p:nvSpPr>
        <p:spPr>
          <a:xfrm xmlns:a="http://schemas.openxmlformats.org/drawingml/2006/main">
            <a:off x="3433127" y="2946645"/>
            <a:ext cx="1781034" cy="1794883"/>
          </a:xfrm>
          <a:custGeom xmlns:a="http://schemas.openxmlformats.org/drawingml/2006/main">
            <a:pathLst>
              <a:path w="1781034" h="1794883">
                <a:moveTo>
                  <a:pt x="0" y="900211"/>
                </a:moveTo>
                <a:lnTo>
                  <a:pt x="891902" y="0"/>
                </a:lnTo>
                <a:lnTo>
                  <a:pt x="1781034" y="900211"/>
                </a:lnTo>
                <a:lnTo>
                  <a:pt x="891902" y="1794883"/>
                </a:lnTo>
                <a:close/>
              </a:path>
            </a:pathLst>
          </a:custGeom>
          <a:noFill xmlns:a="http://schemas.openxmlformats.org/drawingml/2006/main"/>
          <a:ln xmlns:a="http://schemas.openxmlformats.org/drawingml/2006/main" w="45720">
            <a:solidFill>
              <a:srgbClr val="D00020"/>
            </a:solidFill>
          </a:ln>
        </p:spPr>
      </p:sp>
      <p:pic>
        <p:nvPicPr>
          <p:cNvPr id="46" name="V5_Figure_11"/>
          <p:cNvPicPr>
            <a:picLocks xmlns:a="http://schemas.openxmlformats.org/drawingml/2006/main" noChangeAspect="1"/>
          </p:cNvPicPr>
          <p:nvPr/>
        </p:nvPicPr>
        <p:blipFill>
          <a:blip xmlns:r="http://schemas.openxmlformats.org/officeDocument/2006/relationships" xmlns:a="http://schemas.openxmlformats.org/drawingml/2006/main" r:embed="R3aa138dd8e904757"/>
          <a:stretch xmlns:a="http://schemas.openxmlformats.org/drawingml/2006/main"/>
        </p:blipFill>
        <p:spPr>
          <a:xfrm xmlns:a="http://schemas.openxmlformats.org/drawingml/2006/main">
            <a:off x="552450" y="1827613"/>
            <a:ext cx="4667250" cy="2936074"/>
          </a:xfrm>
          <a:prstGeom xmlns:a="http://schemas.openxmlformats.org/drawingml/2006/main" prst="rect">
            <a:avLst/>
          </a:prstGeom>
        </p:spPr>
      </p:pic>
      <p:sp>
        <p:nvSpPr>
          <p:cNvPr id="12" name="V5_Text_12">
            <a:extLst xmlns:a="http://schemas.openxmlformats.org/drawingml/2006/main">
              <a:ext uri="{FF2B5EF4-FFF2-40B4-BE49-F238E27FC236}">
                <a16:creationId xmlns:a16="http://schemas.microsoft.com/office/drawing/2014/main" id="{3C15EE52-60E3-43E9-A0E5-0BA4629013B2}"/>
              </a:ext>
            </a:extLst>
          </p:cNvPr>
          <p:cNvSpPr>
            <a:spLocks xmlns:a="http://schemas.openxmlformats.org/drawingml/2006/main" noGrp="1"/>
          </p:cNvSpPr>
          <p:nvPr/>
        </p:nvSpPr>
        <p:spPr>
          <a:xfrm xmlns:a="http://schemas.openxmlformats.org/drawingml/2006/main">
            <a:off x="5715000" y="1495425"/>
            <a:ext cx="4238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ns1:p xmlns:ns1="http://schemas.openxmlformats.org/drawingml/2006/main">
            <ns1:pPr marL="20" indent="-17" algn="l">
              <ns1:spcBef>
                <ns1:spcPts val="0"/>
              </ns1:spcBef>
              <ns1:spcAft>
                <ns1:spcPts val="0"/>
              </ns1:spcAft>
              <ns1:buChar char="•"/>
              <ns1:defRPr sz="1800" b="0">
                <ns1:solidFill>
                  <ns1:srgbClr val="3F3F3F"/>
                </ns1:solidFill>
                <ns1:latin typeface="Calibri"/>
                <ns1:ea typeface="Calibri"/>
                <ns1:cs typeface="Calibri"/>
              </ns1:defRPr>
            </ns1:pPr>
            <ns1:r>
              <ns1:rPr sz="1800" b="1">
                <ns1:latin typeface="Calibri"/>
                <ns1:ea typeface="Calibri"/>
                <ns1:cs typeface="Calibri"/>
              </ns1:rPr>
              <ns1:t>Genauigkeit:</ns1:t>
            </ns1:r>
            <ns1:r>
              <ns1:rPr sz="1800" b="0">
                <ns1:latin typeface="Calibri"/>
                <ns1:ea typeface="Calibri"/>
                <ns1:cs typeface="Calibri"/>
              </ns1:rPr>
              <ns1:t xml:space="preserve"> MAE und RMSE zur SOC-Referenz unter unveränderten Messsignalen</ns1:t>
            </ns1:r>
          </ns1:p>
        </p:txBody>
      </p:sp>
      <p:pic>
        <p:nvPicPr>
          <p:cNvPr id="48" name="V6_TU_Logo"/>
          <p:cNvPicPr>
            <a:picLocks xmlns:a="http://schemas.openxmlformats.org/drawingml/2006/main" noChangeAspect="1"/>
          </p:cNvPicPr>
          <p:nvPr/>
        </p:nvPicPr>
        <p:blipFill>
          <a:blip xmlns:r="http://schemas.openxmlformats.org/officeDocument/2006/relationships" xmlns:a="http://schemas.openxmlformats.org/drawingml/2006/main" r:embed="R7dd8e87a4fe34835"/>
          <a:stretch xmlns:a="http://schemas.openxmlformats.org/drawingml/2006/main">
            <a:fillRect l="0" t="0" r="0" b="0"/>
          </a:stretch>
        </p:blipFill>
        <p:spPr>
          <a:xfrm xmlns:a="http://schemas.openxmlformats.org/drawingml/2006/main">
            <a:off x="10614660" y="378460"/>
            <a:ext cx="1003300" cy="767080"/>
          </a:xfrm>
          <a:prstGeom xmlns:a="http://schemas.openxmlformats.org/drawingml/2006/main" prst="rect">
            <a:avLst/>
          </a:prstGeom>
        </p:spPr>
      </p:pic>
      <p:sp>
        <p:nvSpPr>
          <p:cNvPr id="27" name="Structure separator">
            <a:extLst xmlns:a="http://schemas.openxmlformats.org/drawingml/2006/main">
              <a:ext uri="{FF2B5EF4-FFF2-40B4-BE49-F238E27FC236}">
                <a16:creationId xmlns:a16="http://schemas.microsoft.com/office/drawing/2014/main" id="{F986BC85-8215-4516-835B-0B1E6B659BC4}"/>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28" name="Structure label">
            <a:extLst xmlns:a="http://schemas.openxmlformats.org/drawingml/2006/main">
              <a:ext uri="{FF2B5EF4-FFF2-40B4-BE49-F238E27FC236}">
                <a16:creationId xmlns:a16="http://schemas.microsoft.com/office/drawing/2014/main" id="{7EC0A97F-B555-4035-B581-A63067A85DAC}"/>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9" name="Structure 0">
            <a:extLst xmlns:a="http://schemas.openxmlformats.org/drawingml/2006/main">
              <a:ext uri="{FF2B5EF4-FFF2-40B4-BE49-F238E27FC236}">
                <a16:creationId xmlns:a16="http://schemas.microsoft.com/office/drawing/2014/main" id="{2D87AB16-3FAF-484C-BC38-8830B9AE83F9}"/>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30" name="Structure 1">
            <a:extLst xmlns:a="http://schemas.openxmlformats.org/drawingml/2006/main">
              <a:ext uri="{FF2B5EF4-FFF2-40B4-BE49-F238E27FC236}">
                <a16:creationId xmlns:a16="http://schemas.microsoft.com/office/drawing/2014/main" id="{70D37578-7ACC-4115-9987-CB09AA908269}"/>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31" name="Structure 2">
            <a:extLst xmlns:a="http://schemas.openxmlformats.org/drawingml/2006/main">
              <a:ext uri="{FF2B5EF4-FFF2-40B4-BE49-F238E27FC236}">
                <a16:creationId xmlns:a16="http://schemas.microsoft.com/office/drawing/2014/main" id="{6B036FC8-9BC6-444D-A807-2ADA3E2CCD56}"/>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2" name="Structure 3">
            <a:extLst xmlns:a="http://schemas.openxmlformats.org/drawingml/2006/main">
              <a:ext uri="{FF2B5EF4-FFF2-40B4-BE49-F238E27FC236}">
                <a16:creationId xmlns:a16="http://schemas.microsoft.com/office/drawing/2014/main" id="{DB3F4A94-B35C-4978-B5FE-881B155E86DA}"/>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33" name="Structure 4">
            <a:extLst xmlns:a="http://schemas.openxmlformats.org/drawingml/2006/main">
              <a:ext uri="{FF2B5EF4-FFF2-40B4-BE49-F238E27FC236}">
                <a16:creationId xmlns:a16="http://schemas.microsoft.com/office/drawing/2014/main" id="{1CE0D6D1-CD23-40F8-AB07-1507FF87C5FD}"/>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34" name="Structure 5">
            <a:extLst xmlns:a="http://schemas.openxmlformats.org/drawingml/2006/main">
              <a:ext uri="{FF2B5EF4-FFF2-40B4-BE49-F238E27FC236}">
                <a16:creationId xmlns:a16="http://schemas.microsoft.com/office/drawing/2014/main" id="{899F46D2-F5EA-4F24-AAE9-ACE51D349273}"/>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37" name="v11-text-13-2">
            <a:extLst xmlns:a="http://schemas.openxmlformats.org/drawingml/2006/main">
              <a:ext uri="{FF2B5EF4-FFF2-40B4-BE49-F238E27FC236}">
                <a16:creationId xmlns:a16="http://schemas.microsoft.com/office/drawing/2014/main" id="{B27AF3F7-D8A1-48FA-9884-B114684972A4}"/>
              </a:ext>
            </a:extLst>
          </p:cNvPr>
          <p:cNvSpPr>
            <a:spLocks xmlns:a="http://schemas.openxmlformats.org/drawingml/2006/main" noGrp="1"/>
          </p:cNvSpPr>
          <p:nvPr/>
        </p:nvSpPr>
        <p:spPr>
          <a:xfrm xmlns:a="http://schemas.openxmlformats.org/drawingml/2006/main">
            <a:off x="5715000" y="2667000"/>
            <a:ext cx="4238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2:p xmlns:ns2="http://schemas.openxmlformats.org/drawingml/2006/main">
            <ns2:pPr marL="20" indent="-17" algn="l">
              <ns2:spcBef>
                <ns2:spcPts val="0"/>
              </ns2:spcBef>
              <ns2:spcAft>
                <ns2:spcPts val="0"/>
              </ns2:spcAft>
              <ns2:buChar char="•"/>
              <ns2:defRPr sz="1800" b="0">
                <ns2:solidFill>
                  <ns2:srgbClr val="3F3F3F"/>
                </ns2:solidFill>
                <ns2:latin typeface="Calibri"/>
                <ns2:ea typeface="Calibri"/>
                <ns2:cs typeface="Calibri"/>
              </ns2:defRPr>
            </ns2:pPr>
            <ns2:r>
              <ns2:rPr sz="1800" b="1">
                <ns2:latin typeface="Calibri"/>
                <ns2:ea typeface="Calibri"/>
                <ns2:cs typeface="Calibri"/>
              </ns2:rPr>
              <ns2:t>Robustheit:</ns2:t>
            </ns2:r>
            <ns2:r>
              <ns2:rPr sz="1800" b="0">
                <ns2:latin typeface="Calibri"/>
                <ns2:ea typeface="Calibri"/>
                <ns2:cs typeface="Calibri"/>
              </ns2:rPr>
              <ns2:t xml:space="preserve"> Zusätzlicher Fehler gegenüber der Baseline bei gestörten oder fehlenden Messungen</ns2:t>
            </ns2:r>
          </ns2:p>
        </p:txBody>
      </p:sp>
      <p:sp>
        <p:nvSpPr>
          <p:cNvPr id="38" name="v11-text-13-3">
            <a:extLst xmlns:a="http://schemas.openxmlformats.org/drawingml/2006/main">
              <a:ext uri="{FF2B5EF4-FFF2-40B4-BE49-F238E27FC236}">
                <a16:creationId xmlns:a16="http://schemas.microsoft.com/office/drawing/2014/main" id="{43B2270C-78D4-41B1-B141-C429425E8B5A}"/>
              </a:ext>
            </a:extLst>
          </p:cNvPr>
          <p:cNvSpPr>
            <a:spLocks xmlns:a="http://schemas.openxmlformats.org/drawingml/2006/main" noGrp="1"/>
          </p:cNvSpPr>
          <p:nvPr/>
        </p:nvSpPr>
        <p:spPr>
          <a:xfrm xmlns:a="http://schemas.openxmlformats.org/drawingml/2006/main">
            <a:off x="5715000" y="3829050"/>
            <a:ext cx="4238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3:p xmlns:ns3="http://schemas.openxmlformats.org/drawingml/2006/main">
            <ns3:pPr marL="20" indent="-17" algn="l">
              <ns3:spcBef>
                <ns3:spcPts val="0"/>
              </ns3:spcBef>
              <ns3:spcAft>
                <ns3:spcPts val="0"/>
              </ns3:spcAft>
              <ns3:buChar char="•"/>
              <ns3:defRPr sz="1800" b="0">
                <ns3:solidFill>
                  <ns3:srgbClr val="3F3F3F"/>
                </ns3:solidFill>
                <ns3:latin typeface="Calibri"/>
                <ns3:ea typeface="Calibri"/>
                <ns3:cs typeface="Calibri"/>
              </ns3:defRPr>
            </ns3:pPr>
            <ns3:r>
              <ns3:rPr sz="1800" b="1">
                <ns3:latin typeface="Calibri"/>
                <ns3:ea typeface="Calibri"/>
                <ns3:cs typeface="Calibri"/>
              </ns3:rPr>
              <ns3:t>Recovery:</ns3:t>
            </ns3:r>
            <ns3:r>
              <ns3:rPr sz="1800" b="0">
                <ns3:latin typeface="Calibri"/>
                <ns3:ea typeface="Calibri"/>
                <ns3:cs typeface="Calibri"/>
              </ns3:rPr>
              <ns3:t xml:space="preserve"> Dauerhafte Annäherung an den korrekt initialisierten Lauf nach einem Startfehler</ns3:t>
            </ns3:r>
          </ns3:p>
        </p:txBody>
      </p:sp>
      <p:sp>
        <p:nvSpPr>
          <p:cNvPr id="39" name="v11-text-13-4">
            <a:extLst xmlns:a="http://schemas.openxmlformats.org/drawingml/2006/main">
              <a:ext uri="{FF2B5EF4-FFF2-40B4-BE49-F238E27FC236}">
                <a16:creationId xmlns:a16="http://schemas.microsoft.com/office/drawing/2014/main" id="{6F2548AC-72A1-4D73-989D-2D4D0199588A}"/>
              </a:ext>
            </a:extLst>
          </p:cNvPr>
          <p:cNvSpPr>
            <a:spLocks xmlns:a="http://schemas.openxmlformats.org/drawingml/2006/main" noGrp="1"/>
          </p:cNvSpPr>
          <p:nvPr/>
        </p:nvSpPr>
        <p:spPr>
          <a:xfrm xmlns:a="http://schemas.openxmlformats.org/drawingml/2006/main">
            <a:off x="552450" y="5391150"/>
            <a:ext cx="9353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4:p xmlns:ns4="http://schemas.openxmlformats.org/drawingml/2006/main">
            <ns4:pPr marL="0" indent="0" algn="l">
              <ns4:spcBef>
                <ns4:spcPts val="0"/>
              </ns4:spcBef>
              <ns4:spcAft>
                <ns4:spcPts val="0"/>
              </ns4:spcAft>
              <ns4:buNone/>
              <ns4:defRPr sz="1800" b="0">
                <ns4:solidFill>
                  <ns4:srgbClr val="3F3F3F"/>
                </ns4:solidFill>
                <ns4:latin typeface="Calibri"/>
                <ns4:ea typeface="Calibri"/>
                <ns4:cs typeface="Calibri"/>
              </ns4:defRPr>
            </ns4:pPr>
            <ns4:r>
              <ns4:rPr sz="1800" b="1">
                <ns4:latin typeface="Calibri"/>
                <ns4:ea typeface="Calibri"/>
                <ns4:cs typeface="Calibri"/>
              </ns4:rPr>
              <ns4:t>Vergleichsbasis:</ns4:t>
            </ns4:r>
            <ns4:r>
              <ns4:rPr sz="1800" b="0">
                <ns4:latin typeface="Calibri"/>
                <ns4:ea typeface="Calibri"/>
                <ns4:cs typeface="Calibri"/>
              </ns4:rPr>
              <ns4:t xml:space="preserve"> Vier feste SOC-Verfahren auf sechs unabhängigen LFP-Testzellen</ns4:t>
            </ns4:r>
          </ns4:p>
        </p:txBody>
      </p:sp>
    </p:spTree>
    <p:extLst>
      <p:ext uri="{BB962C8B-B14F-4D97-AF65-F5344CB8AC3E}">
        <p14:creationId xmlns:p14="http://schemas.microsoft.com/office/powerpoint/2010/main" val="1159226113"/>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wrap="none" lIns="0" tIns="0" rIns="0" bIns="0" anchor="t">
            <a:noAutofit/>
          </a:bodyPr>
          <a:lstStyle xmlns:a="http://schemas.openxmlformats.org/drawingml/2006/main"/>
          <ns0:p xmlns:ns0="http://schemas.openxmlformats.org/drawingml/2006/main">
            <ns0:pPr algn="l">
              <ns0:lnSpc>
                <ns0:spcPct val="106000"/>
              </ns0:lnSpc>
              <ns0:buNone/>
              <ns0:defRPr sz="2400" b="0">
                <ns0:solidFill>
                  <ns0:srgbClr val="CC001C"/>
                </ns0:solidFill>
                <ns0:latin typeface="Calibri"/>
                <ns0:ea typeface="Calibri"/>
                <ns0:cs typeface="Calibri"/>
              </ns0:defRPr>
            </ns0:pPr>
            <ns0:r>
              <ns0:rPr sz="2400" b="0">
                <ns0:solidFill>
                  <ns0:srgbClr val="CC001C"/>
                </ns0:solidFill>
                <ns0:latin typeface="Calibri"/>
                <ns0:ea typeface="Calibri"/>
                <ns0:cs typeface="Calibri"/>
              </ns0:rPr>
              <ns0:t>Benchmark: Vorgehen</ns0:t>
            </ns0:r>
          </ns0: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ns1:p xmlns:ns1="http://schemas.openxmlformats.org/drawingml/2006/main">
            <ns1:pPr algn="l">
              <ns1:lnSpc>
                <ns1:spcPct val="106000"/>
              </ns1:lnSpc>
              <ns1:buNone/>
              <ns1:defRPr sz="1350" b="0">
                <ns1:solidFill>
                  <ns1:srgbClr val="FFFFFF"/>
                </ns1:solidFill>
                <ns1:latin typeface="Calibri"/>
                <ns1:ea typeface="Calibri"/>
                <ns1:cs typeface="Calibri"/>
              </ns1:defRPr>
            </ns1:pPr>
            <ns1:r>
              <ns1:rPr sz="1350" b="0">
                <ns1:solidFill>
                  <ns1:srgbClr val="FFFFFF"/>
                </ns1:solidFill>
                <ns1:latin typeface="Calibri"/>
                <ns1:ea typeface="Calibri"/>
                <ns1:cs typeface="Calibri"/>
              </ns1:rPr>
              <ns1:t>14 / 44</ns1:t>
            </ns1:r>
          </ns1: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sp>
        <p:nvSpPr>
          <p:cNvPr id="17" name="Structure separator">
            <a:extLst xmlns:a="http://schemas.openxmlformats.org/drawingml/2006/main">
              <a:ext uri="{FF2B5EF4-FFF2-40B4-BE49-F238E27FC236}">
                <a16:creationId xmlns:a16="http://schemas.microsoft.com/office/drawing/2014/main" id="{3234B77F-CF7F-4AAF-85D2-CD5F42ABDE74}"/>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18" name="Structure label">
            <a:extLst xmlns:a="http://schemas.openxmlformats.org/drawingml/2006/main">
              <a:ext uri="{FF2B5EF4-FFF2-40B4-BE49-F238E27FC236}">
                <a16:creationId xmlns:a16="http://schemas.microsoft.com/office/drawing/2014/main" id="{93767A57-046D-4E03-9DB7-C2DE644254C5}"/>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xmlns:a="http://schemas.openxmlformats.org/drawingml/2006/main">
              <a:ext uri="{FF2B5EF4-FFF2-40B4-BE49-F238E27FC236}">
                <a16:creationId xmlns:a16="http://schemas.microsoft.com/office/drawing/2014/main" id="{463E2E83-9E2B-40E5-B14E-E0025CA64298}"/>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xmlns:a="http://schemas.openxmlformats.org/drawingml/2006/main">
              <a:ext uri="{FF2B5EF4-FFF2-40B4-BE49-F238E27FC236}">
                <a16:creationId xmlns:a16="http://schemas.microsoft.com/office/drawing/2014/main" id="{140E3643-1C82-49BA-A14C-C8ECC31F07C0}"/>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xmlns:a="http://schemas.openxmlformats.org/drawingml/2006/main">
              <a:ext uri="{FF2B5EF4-FFF2-40B4-BE49-F238E27FC236}">
                <a16:creationId xmlns:a16="http://schemas.microsoft.com/office/drawing/2014/main" id="{A5637DB6-2587-4D2C-B2D5-5DB5F9DDAFDA}"/>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xmlns:a="http://schemas.openxmlformats.org/drawingml/2006/main">
              <a:ext uri="{FF2B5EF4-FFF2-40B4-BE49-F238E27FC236}">
                <a16:creationId xmlns:a16="http://schemas.microsoft.com/office/drawing/2014/main" id="{FFAFBC42-ABF6-498C-A7A0-0A3B65F2B163}"/>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xmlns:a="http://schemas.openxmlformats.org/drawingml/2006/main">
              <a:ext uri="{FF2B5EF4-FFF2-40B4-BE49-F238E27FC236}">
                <a16:creationId xmlns:a16="http://schemas.microsoft.com/office/drawing/2014/main" id="{7196F72B-F323-4AD8-A320-9F6FC3A1C228}"/>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xmlns:a="http://schemas.openxmlformats.org/drawingml/2006/main">
              <a:ext uri="{FF2B5EF4-FFF2-40B4-BE49-F238E27FC236}">
                <a16:creationId xmlns:a16="http://schemas.microsoft.com/office/drawing/2014/main" id="{3C1D7EE0-5401-489D-9328-37AF523F9E03}"/>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64d54ef6c4744a63"/>
          <a:stretch xmlns:a="http://schemas.openxmlformats.org/drawingml/2006/main"/>
        </p:blipFill>
        <p:spPr>
          <a:xfrm xmlns:a="http://schemas.openxmlformats.org/drawingml/2006/main">
            <a:off x="552450" y="1685925"/>
            <a:ext cx="9391650" cy="2588574"/>
          </a:xfrm>
          <a:prstGeom xmlns:a="http://schemas.openxmlformats.org/drawingml/2006/main" prst="rect">
            <a:avLst/>
          </a:prstGeom>
        </p:spPr>
      </p:pic>
      <p:sp>
        <p:nvSpPr>
          <p:cNvPr id="1000" name="BM_process_highlight_1">
            <a:extLst xmlns:a="http://schemas.openxmlformats.org/drawingml/2006/main">
              <a:ext uri="{FF2B5EF4-FFF2-40B4-BE49-F238E27FC236}">
                <a16:creationId xmlns:a16="http://schemas.microsoft.com/office/drawing/2014/main" id="{34A59329-3310-44ED-A659-FCC1A30BB920}"/>
              </a:ext>
            </a:extLst>
          </p:cNvPr>
          <p:cNvSpPr>
            <a:spLocks xmlns:a="http://schemas.openxmlformats.org/drawingml/2006/main" noGrp="1"/>
          </p:cNvSpPr>
          <p:nvPr/>
        </p:nvSpPr>
        <p:spPr>
          <a:xfrm xmlns:a="http://schemas.openxmlformats.org/drawingml/2006/main">
            <a:off x="495300" y="1619250"/>
            <a:ext cx="4705350" cy="2724150"/>
          </a:xfrm>
          <a:prstGeom xmlns:a="http://schemas.openxmlformats.org/drawingml/2006/main" prst="rect">
            <a:avLst/>
          </a:prstGeom>
          <a:noFill xmlns:a="http://schemas.openxmlformats.org/drawingml/2006/main"/>
          <a:ln xmlns:a="http://schemas.openxmlformats.org/drawingml/2006/main" w="28575">
            <a:solidFill>
              <a:srgbClr val="D00020"/>
            </a:solidFill>
          </a:ln>
        </p:spPr>
      </p:sp>
      <p:sp>
        <p:nvSpPr>
          <p:cNvPr id="1001" name="BM_process_step_2">
            <a:extLst xmlns:a="http://schemas.openxmlformats.org/drawingml/2006/main">
              <a:ext uri="{FF2B5EF4-FFF2-40B4-BE49-F238E27FC236}">
                <a16:creationId xmlns:a16="http://schemas.microsoft.com/office/drawing/2014/main" id="{7C3148B1-2A03-43C1-A99F-BC5451793150}"/>
              </a:ext>
            </a:extLst>
          </p:cNvPr>
          <p:cNvSpPr>
            <a:spLocks xmlns:a="http://schemas.openxmlformats.org/drawingml/2006/main" noGrp="1"/>
          </p:cNvSpPr>
          <p:nvPr/>
        </p:nvSpPr>
        <p:spPr>
          <a:xfrm xmlns:a="http://schemas.openxmlformats.org/drawingml/2006/main">
            <a:off x="552450" y="4562475"/>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D00020"/>
                </a:solidFill>
                <a:latin typeface="Calibri"/>
                <a:ea typeface="Calibri"/>
                <a:cs typeface="Calibri"/>
              </a:defRPr>
            </a:pPr>
            <a:r>
              <a:rPr sz="1800" b="1">
                <a:solidFill>
                  <a:srgbClr val="D00020"/>
                </a:solidFill>
                <a:latin typeface="Calibri"/>
                <a:ea typeface="Calibri"/>
                <a:cs typeface="Calibri"/>
              </a:rPr>
              <a:t>1. Datenauswahl und Feature Engineering</a:t>
            </a:r>
          </a:p>
        </p:txBody>
      </p:sp>
      <p:sp>
        <p:nvSpPr>
          <p:cNvPr id="1002" name="BM_process_explanation_0_3">
            <a:extLst xmlns:a="http://schemas.openxmlformats.org/drawingml/2006/main">
              <a:ext uri="{FF2B5EF4-FFF2-40B4-BE49-F238E27FC236}">
                <a16:creationId xmlns:a16="http://schemas.microsoft.com/office/drawing/2014/main" id="{A4C6D6D3-81D7-489C-80A9-557D22029CED}"/>
              </a:ext>
            </a:extLst>
          </p:cNvPr>
          <p:cNvSpPr>
            <a:spLocks xmlns:a="http://schemas.openxmlformats.org/drawingml/2006/main" noGrp="1"/>
          </p:cNvSpPr>
          <p:nvPr/>
        </p:nvSpPr>
        <p:spPr>
          <a:xfrm xmlns:a="http://schemas.openxmlformats.org/drawingml/2006/main">
            <a:off x="552450" y="4972050"/>
            <a:ext cx="9391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444444"/>
                </a:solidFill>
                <a:latin typeface="Calibri"/>
                <a:ea typeface="Calibri"/>
                <a:cs typeface="Calibri"/>
              </a:defRPr>
            </a:pPr>
            <a:r>
              <a:rPr b="1"/>
              <a:t>Daten: </a:t>
            </a:r>
            <a:r>
              <a:t>Sechs unabhängige LFP-Testzellen mit 16 repräsentativen Zell-/SOH-Fenstern</a:t>
            </a:r>
          </a:p>
        </p:txBody>
      </p:sp>
      <p:sp>
        <p:nvSpPr>
          <p:cNvPr id="1003" name="BM_process_explanation_1_4">
            <a:extLst xmlns:a="http://schemas.openxmlformats.org/drawingml/2006/main">
              <a:ext uri="{FF2B5EF4-FFF2-40B4-BE49-F238E27FC236}">
                <a16:creationId xmlns:a16="http://schemas.microsoft.com/office/drawing/2014/main" id="{FDF3C44F-2791-4598-BAA9-26AB54D9E9FA}"/>
              </a:ext>
            </a:extLst>
          </p:cNvPr>
          <p:cNvSpPr>
            <a:spLocks xmlns:a="http://schemas.openxmlformats.org/drawingml/2006/main" noGrp="1"/>
          </p:cNvSpPr>
          <p:nvPr/>
        </p:nvSpPr>
        <p:spPr>
          <a:xfrm xmlns:a="http://schemas.openxmlformats.org/drawingml/2006/main">
            <a:off x="552450" y="5381625"/>
            <a:ext cx="9391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444444"/>
                </a:solidFill>
                <a:latin typeface="Calibri"/>
                <a:ea typeface="Calibri"/>
                <a:cs typeface="Calibri"/>
              </a:defRPr>
            </a:pPr>
            <a:r>
              <a:rPr b="1"/>
              <a:t>Features: </a:t>
            </a:r>
            <a:r>
              <a:t>Ergänzung von U, I und T um kausal berechnete Größen wie Qc, EFC und Ableitungen</a:t>
            </a:r>
          </a:p>
        </p:txBody>
      </p:sp>
    </p:spTree>
    <p:extLst>
      <p:ext uri="{BB962C8B-B14F-4D97-AF65-F5344CB8AC3E}">
        <p14:creationId xmlns:p14="http://schemas.microsoft.com/office/powerpoint/2010/main" val="2606044684"/>
      </p:ext>
    </p:extLst>
  </p:cSld>
  <p:transition spd="fast" advClick="1">
    <p:fade/>
  </p:transition>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wrap="none" lIns="0" tIns="0" rIns="0" bIns="0" anchor="t">
            <a:noAutofit/>
          </a:bodyPr>
          <a:lstStyle xmlns:a="http://schemas.openxmlformats.org/drawingml/2006/main"/>
          <ns0:p xmlns:ns0="http://schemas.openxmlformats.org/drawingml/2006/main">
            <ns0:pPr algn="l">
              <ns0:lnSpc>
                <ns0:spcPct val="106000"/>
              </ns0:lnSpc>
              <ns0:buNone/>
              <ns0:defRPr sz="2400" b="0">
                <ns0:solidFill>
                  <ns0:srgbClr val="CC001C"/>
                </ns0:solidFill>
                <ns0:latin typeface="Calibri"/>
                <ns0:ea typeface="Calibri"/>
                <ns0:cs typeface="Calibri"/>
              </ns0:defRPr>
            </ns0:pPr>
            <ns0:r>
              <ns0:rPr sz="2400" b="0">
                <ns0:solidFill>
                  <ns0:srgbClr val="CC001C"/>
                </ns0:solidFill>
                <ns0:latin typeface="Calibri"/>
                <ns0:ea typeface="Calibri"/>
                <ns0:cs typeface="Calibri"/>
              </ns0:rPr>
              <ns0:t>Benchmark: Vorgehen</ns0:t>
            </ns0:r>
          </ns0: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ns1:p xmlns:ns1="http://schemas.openxmlformats.org/drawingml/2006/main">
            <ns1:pPr algn="l">
              <ns1:lnSpc>
                <ns1:spcPct val="106000"/>
              </ns1:lnSpc>
              <ns1:buNone/>
              <ns1:defRPr sz="1350" b="0">
                <ns1:solidFill>
                  <ns1:srgbClr val="FFFFFF"/>
                </ns1:solidFill>
                <ns1:latin typeface="Calibri"/>
                <ns1:ea typeface="Calibri"/>
                <ns1:cs typeface="Calibri"/>
              </ns1:defRPr>
            </ns1:pPr>
            <ns1:r>
              <ns1:rPr sz="1350" b="0">
                <ns1:solidFill>
                  <ns1:srgbClr val="FFFFFF"/>
                </ns1:solidFill>
                <ns1:latin typeface="Calibri"/>
                <ns1:ea typeface="Calibri"/>
                <ns1:cs typeface="Calibri"/>
              </ns1:rPr>
              <ns1:t>15 / 44</ns1:t>
            </ns1:r>
          </ns1: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sp>
        <p:nvSpPr>
          <p:cNvPr id="17" name="Structure separator">
            <a:extLst xmlns:a="http://schemas.openxmlformats.org/drawingml/2006/main">
              <a:ext uri="{FF2B5EF4-FFF2-40B4-BE49-F238E27FC236}">
                <a16:creationId xmlns:a16="http://schemas.microsoft.com/office/drawing/2014/main" id="{3234B77F-CF7F-4AAF-85D2-CD5F42ABDE74}"/>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18" name="Structure label">
            <a:extLst xmlns:a="http://schemas.openxmlformats.org/drawingml/2006/main">
              <a:ext uri="{FF2B5EF4-FFF2-40B4-BE49-F238E27FC236}">
                <a16:creationId xmlns:a16="http://schemas.microsoft.com/office/drawing/2014/main" id="{93767A57-046D-4E03-9DB7-C2DE644254C5}"/>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xmlns:a="http://schemas.openxmlformats.org/drawingml/2006/main">
              <a:ext uri="{FF2B5EF4-FFF2-40B4-BE49-F238E27FC236}">
                <a16:creationId xmlns:a16="http://schemas.microsoft.com/office/drawing/2014/main" id="{463E2E83-9E2B-40E5-B14E-E0025CA64298}"/>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xmlns:a="http://schemas.openxmlformats.org/drawingml/2006/main">
              <a:ext uri="{FF2B5EF4-FFF2-40B4-BE49-F238E27FC236}">
                <a16:creationId xmlns:a16="http://schemas.microsoft.com/office/drawing/2014/main" id="{140E3643-1C82-49BA-A14C-C8ECC31F07C0}"/>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xmlns:a="http://schemas.openxmlformats.org/drawingml/2006/main">
              <a:ext uri="{FF2B5EF4-FFF2-40B4-BE49-F238E27FC236}">
                <a16:creationId xmlns:a16="http://schemas.microsoft.com/office/drawing/2014/main" id="{A5637DB6-2587-4D2C-B2D5-5DB5F9DDAFDA}"/>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xmlns:a="http://schemas.openxmlformats.org/drawingml/2006/main">
              <a:ext uri="{FF2B5EF4-FFF2-40B4-BE49-F238E27FC236}">
                <a16:creationId xmlns:a16="http://schemas.microsoft.com/office/drawing/2014/main" id="{FFAFBC42-ABF6-498C-A7A0-0A3B65F2B163}"/>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xmlns:a="http://schemas.openxmlformats.org/drawingml/2006/main">
              <a:ext uri="{FF2B5EF4-FFF2-40B4-BE49-F238E27FC236}">
                <a16:creationId xmlns:a16="http://schemas.microsoft.com/office/drawing/2014/main" id="{7196F72B-F323-4AD8-A320-9F6FC3A1C228}"/>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xmlns:a="http://schemas.openxmlformats.org/drawingml/2006/main">
              <a:ext uri="{FF2B5EF4-FFF2-40B4-BE49-F238E27FC236}">
                <a16:creationId xmlns:a16="http://schemas.microsoft.com/office/drawing/2014/main" id="{3C1D7EE0-5401-489D-9328-37AF523F9E03}"/>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64d54ef6c4744a63"/>
          <a:stretch xmlns:a="http://schemas.openxmlformats.org/drawingml/2006/main"/>
        </p:blipFill>
        <p:spPr>
          <a:xfrm xmlns:a="http://schemas.openxmlformats.org/drawingml/2006/main">
            <a:off x="552450" y="1685925"/>
            <a:ext cx="9391650" cy="2588574"/>
          </a:xfrm>
          <a:prstGeom xmlns:a="http://schemas.openxmlformats.org/drawingml/2006/main" prst="rect">
            <a:avLst/>
          </a:prstGeom>
        </p:spPr>
      </p:pic>
      <p:sp>
        <p:nvSpPr>
          <p:cNvPr id="1000" name="BM_process_highlight_5">
            <a:extLst xmlns:a="http://schemas.openxmlformats.org/drawingml/2006/main">
              <a:ext uri="{FF2B5EF4-FFF2-40B4-BE49-F238E27FC236}">
                <a16:creationId xmlns:a16="http://schemas.microsoft.com/office/drawing/2014/main" id="{DDF05013-C3C1-44BF-8ABB-C1891B8D370E}"/>
              </a:ext>
            </a:extLst>
          </p:cNvPr>
          <p:cNvSpPr>
            <a:spLocks xmlns:a="http://schemas.openxmlformats.org/drawingml/2006/main" noGrp="1"/>
          </p:cNvSpPr>
          <p:nvPr/>
        </p:nvSpPr>
        <p:spPr>
          <a:xfrm xmlns:a="http://schemas.openxmlformats.org/drawingml/2006/main">
            <a:off x="5429250" y="1619250"/>
            <a:ext cx="2171700" cy="2724150"/>
          </a:xfrm>
          <a:prstGeom xmlns:a="http://schemas.openxmlformats.org/drawingml/2006/main" prst="rect">
            <a:avLst/>
          </a:prstGeom>
          <a:noFill xmlns:a="http://schemas.openxmlformats.org/drawingml/2006/main"/>
          <a:ln xmlns:a="http://schemas.openxmlformats.org/drawingml/2006/main" w="28575">
            <a:solidFill>
              <a:srgbClr val="D00020"/>
            </a:solidFill>
          </a:ln>
        </p:spPr>
      </p:sp>
      <p:sp>
        <p:nvSpPr>
          <p:cNvPr id="1001" name="BM_process_step_6">
            <a:extLst xmlns:a="http://schemas.openxmlformats.org/drawingml/2006/main">
              <a:ext uri="{FF2B5EF4-FFF2-40B4-BE49-F238E27FC236}">
                <a16:creationId xmlns:a16="http://schemas.microsoft.com/office/drawing/2014/main" id="{2B8FCF67-0A1F-4A6E-BF11-265447E9E72C}"/>
              </a:ext>
            </a:extLst>
          </p:cNvPr>
          <p:cNvSpPr>
            <a:spLocks xmlns:a="http://schemas.openxmlformats.org/drawingml/2006/main" noGrp="1"/>
          </p:cNvSpPr>
          <p:nvPr/>
        </p:nvSpPr>
        <p:spPr>
          <a:xfrm xmlns:a="http://schemas.openxmlformats.org/drawingml/2006/main">
            <a:off x="552450" y="4562475"/>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D00020"/>
                </a:solidFill>
                <a:latin typeface="Calibri"/>
                <a:ea typeface="Calibri"/>
                <a:cs typeface="Calibri"/>
              </a:defRPr>
            </a:pPr>
            <a:r>
              <a:rPr sz="1800" b="1">
                <a:solidFill>
                  <a:srgbClr val="D00020"/>
                </a:solidFill>
                <a:latin typeface="Calibri"/>
                <a:ea typeface="Calibri"/>
                <a:cs typeface="Calibri"/>
              </a:rPr>
              <a:t>2. Vier Modelle aus drei Grundfamilien</a:t>
            </a:r>
          </a:p>
        </p:txBody>
      </p:sp>
      <p:sp>
        <p:nvSpPr>
          <p:cNvPr id="1002" name="BM_process_explanation_0_7">
            <a:extLst xmlns:a="http://schemas.openxmlformats.org/drawingml/2006/main">
              <a:ext uri="{FF2B5EF4-FFF2-40B4-BE49-F238E27FC236}">
                <a16:creationId xmlns:a16="http://schemas.microsoft.com/office/drawing/2014/main" id="{E31A1FDC-138F-4013-A552-09E35E4A5465}"/>
              </a:ext>
            </a:extLst>
          </p:cNvPr>
          <p:cNvSpPr>
            <a:spLocks xmlns:a="http://schemas.openxmlformats.org/drawingml/2006/main" noGrp="1"/>
          </p:cNvSpPr>
          <p:nvPr/>
        </p:nvSpPr>
        <p:spPr>
          <a:xfrm xmlns:a="http://schemas.openxmlformats.org/drawingml/2006/main">
            <a:off x="552450" y="4972050"/>
            <a:ext cx="9391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444444"/>
                </a:solidFill>
                <a:latin typeface="Calibri"/>
                <a:ea typeface="Calibri"/>
                <a:cs typeface="Calibri"/>
              </a:defRPr>
            </a:pPr>
            <a:r>
              <a:rPr b="1"/>
              <a:t>Familien: </a:t>
            </a:r>
            <a:r>
              <a:t>Direct Measurement (DM, HDM), Model-Based (HECM) und Data-Driven (DD)</a:t>
            </a:r>
          </a:p>
        </p:txBody>
      </p:sp>
      <p:sp>
        <p:nvSpPr>
          <p:cNvPr id="1003" name="BM_process_explanation_1_8">
            <a:extLst xmlns:a="http://schemas.openxmlformats.org/drawingml/2006/main">
              <a:ext uri="{FF2B5EF4-FFF2-40B4-BE49-F238E27FC236}">
                <a16:creationId xmlns:a16="http://schemas.microsoft.com/office/drawing/2014/main" id="{996D7BC2-384A-4E30-AA4D-F0A3385767E9}"/>
              </a:ext>
            </a:extLst>
          </p:cNvPr>
          <p:cNvSpPr>
            <a:spLocks xmlns:a="http://schemas.openxmlformats.org/drawingml/2006/main" noGrp="1"/>
          </p:cNvSpPr>
          <p:nvPr/>
        </p:nvSpPr>
        <p:spPr>
          <a:xfrm xmlns:a="http://schemas.openxmlformats.org/drawingml/2006/main">
            <a:off x="552450" y="5381625"/>
            <a:ext cx="9391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444444"/>
                </a:solidFill>
                <a:latin typeface="Calibri"/>
                <a:ea typeface="Calibri"/>
                <a:cs typeface="Calibri"/>
              </a:defRPr>
            </a:pPr>
            <a:r>
              <a:rPr b="1"/>
              <a:t>Hybride Ansätze: </a:t>
            </a:r>
            <a:r>
              <a:t>Ergänzung der SOC-Kerne von HDM und HECM um einen datengetriebenen SOH-Kontext</a:t>
            </a:r>
          </a:p>
        </p:txBody>
      </p:sp>
    </p:spTree>
    <p:extLst>
      <p:ext uri="{BB962C8B-B14F-4D97-AF65-F5344CB8AC3E}">
        <p14:creationId xmlns:p14="http://schemas.microsoft.com/office/powerpoint/2010/main" val="2606044684"/>
      </p:ext>
    </p:extLst>
  </p:cSld>
  <p:transition spd="fast" advClick="1">
    <p:fade/>
  </p:transition>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wrap="none" lIns="0" tIns="0" rIns="0" bIns="0" anchor="t">
            <a:noAutofit/>
          </a:bodyPr>
          <a:lstStyle xmlns:a="http://schemas.openxmlformats.org/drawingml/2006/main"/>
          <ns0:p xmlns:ns0="http://schemas.openxmlformats.org/drawingml/2006/main">
            <ns0:pPr algn="l">
              <ns0:lnSpc>
                <ns0:spcPct val="106000"/>
              </ns0:lnSpc>
              <ns0:buNone/>
              <ns0:defRPr sz="2400" b="0">
                <ns0:solidFill>
                  <ns0:srgbClr val="CC001C"/>
                </ns0:solidFill>
                <ns0:latin typeface="Calibri"/>
                <ns0:ea typeface="Calibri"/>
                <ns0:cs typeface="Calibri"/>
              </ns0:defRPr>
            </ns0:pPr>
            <ns0:r>
              <ns0:rPr sz="2400" b="0">
                <ns0:solidFill>
                  <ns0:srgbClr val="CC001C"/>
                </ns0:solidFill>
                <ns0:latin typeface="Calibri"/>
                <ns0:ea typeface="Calibri"/>
                <ns0:cs typeface="Calibri"/>
              </ns0:rPr>
              <ns0:t>Benchmark: Vorgehen</ns0:t>
            </ns0:r>
          </ns0: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ns1:p xmlns:ns1="http://schemas.openxmlformats.org/drawingml/2006/main">
            <ns1:pPr algn="l">
              <ns1:lnSpc>
                <ns1:spcPct val="106000"/>
              </ns1:lnSpc>
              <ns1:buNone/>
              <ns1:defRPr sz="1350" b="0">
                <ns1:solidFill>
                  <ns1:srgbClr val="FFFFFF"/>
                </ns1:solidFill>
                <ns1:latin typeface="Calibri"/>
                <ns1:ea typeface="Calibri"/>
                <ns1:cs typeface="Calibri"/>
              </ns1:defRPr>
            </ns1:pPr>
            <ns1:r>
              <ns1:rPr sz="1350" b="0">
                <ns1:solidFill>
                  <ns1:srgbClr val="FFFFFF"/>
                </ns1:solidFill>
                <ns1:latin typeface="Calibri"/>
                <ns1:ea typeface="Calibri"/>
                <ns1:cs typeface="Calibri"/>
              </ns1:rPr>
              <ns1:t>16 / 44</ns1:t>
            </ns1:r>
          </ns1: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sp>
        <p:nvSpPr>
          <p:cNvPr id="17" name="Structure separator">
            <a:extLst xmlns:a="http://schemas.openxmlformats.org/drawingml/2006/main">
              <a:ext uri="{FF2B5EF4-FFF2-40B4-BE49-F238E27FC236}">
                <a16:creationId xmlns:a16="http://schemas.microsoft.com/office/drawing/2014/main" id="{3234B77F-CF7F-4AAF-85D2-CD5F42ABDE74}"/>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18" name="Structure label">
            <a:extLst xmlns:a="http://schemas.openxmlformats.org/drawingml/2006/main">
              <a:ext uri="{FF2B5EF4-FFF2-40B4-BE49-F238E27FC236}">
                <a16:creationId xmlns:a16="http://schemas.microsoft.com/office/drawing/2014/main" id="{93767A57-046D-4E03-9DB7-C2DE644254C5}"/>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xmlns:a="http://schemas.openxmlformats.org/drawingml/2006/main">
              <a:ext uri="{FF2B5EF4-FFF2-40B4-BE49-F238E27FC236}">
                <a16:creationId xmlns:a16="http://schemas.microsoft.com/office/drawing/2014/main" id="{463E2E83-9E2B-40E5-B14E-E0025CA64298}"/>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xmlns:a="http://schemas.openxmlformats.org/drawingml/2006/main">
              <a:ext uri="{FF2B5EF4-FFF2-40B4-BE49-F238E27FC236}">
                <a16:creationId xmlns:a16="http://schemas.microsoft.com/office/drawing/2014/main" id="{140E3643-1C82-49BA-A14C-C8ECC31F07C0}"/>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xmlns:a="http://schemas.openxmlformats.org/drawingml/2006/main">
              <a:ext uri="{FF2B5EF4-FFF2-40B4-BE49-F238E27FC236}">
                <a16:creationId xmlns:a16="http://schemas.microsoft.com/office/drawing/2014/main" id="{A5637DB6-2587-4D2C-B2D5-5DB5F9DDAFDA}"/>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xmlns:a="http://schemas.openxmlformats.org/drawingml/2006/main">
              <a:ext uri="{FF2B5EF4-FFF2-40B4-BE49-F238E27FC236}">
                <a16:creationId xmlns:a16="http://schemas.microsoft.com/office/drawing/2014/main" id="{FFAFBC42-ABF6-498C-A7A0-0A3B65F2B163}"/>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xmlns:a="http://schemas.openxmlformats.org/drawingml/2006/main">
              <a:ext uri="{FF2B5EF4-FFF2-40B4-BE49-F238E27FC236}">
                <a16:creationId xmlns:a16="http://schemas.microsoft.com/office/drawing/2014/main" id="{7196F72B-F323-4AD8-A320-9F6FC3A1C228}"/>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xmlns:a="http://schemas.openxmlformats.org/drawingml/2006/main">
              <a:ext uri="{FF2B5EF4-FFF2-40B4-BE49-F238E27FC236}">
                <a16:creationId xmlns:a16="http://schemas.microsoft.com/office/drawing/2014/main" id="{3C1D7EE0-5401-489D-9328-37AF523F9E03}"/>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64d54ef6c4744a63"/>
          <a:stretch xmlns:a="http://schemas.openxmlformats.org/drawingml/2006/main"/>
        </p:blipFill>
        <p:spPr>
          <a:xfrm xmlns:a="http://schemas.openxmlformats.org/drawingml/2006/main">
            <a:off x="552450" y="1685925"/>
            <a:ext cx="9391650" cy="2588574"/>
          </a:xfrm>
          <a:prstGeom xmlns:a="http://schemas.openxmlformats.org/drawingml/2006/main" prst="rect">
            <a:avLst/>
          </a:prstGeom>
        </p:spPr>
      </p:pic>
      <p:sp>
        <p:nvSpPr>
          <p:cNvPr id="1000" name="BM_process_highlight_9">
            <a:extLst xmlns:a="http://schemas.openxmlformats.org/drawingml/2006/main">
              <a:ext uri="{FF2B5EF4-FFF2-40B4-BE49-F238E27FC236}">
                <a16:creationId xmlns:a16="http://schemas.microsoft.com/office/drawing/2014/main" id="{CE69BB44-5618-4DF6-9F5B-D8D9B4292DE2}"/>
              </a:ext>
            </a:extLst>
          </p:cNvPr>
          <p:cNvSpPr>
            <a:spLocks xmlns:a="http://schemas.openxmlformats.org/drawingml/2006/main" noGrp="1"/>
          </p:cNvSpPr>
          <p:nvPr/>
        </p:nvSpPr>
        <p:spPr>
          <a:xfrm xmlns:a="http://schemas.openxmlformats.org/drawingml/2006/main">
            <a:off x="7839075" y="1619250"/>
            <a:ext cx="2162175" cy="2724150"/>
          </a:xfrm>
          <a:prstGeom xmlns:a="http://schemas.openxmlformats.org/drawingml/2006/main" prst="rect">
            <a:avLst/>
          </a:prstGeom>
          <a:noFill xmlns:a="http://schemas.openxmlformats.org/drawingml/2006/main"/>
          <a:ln xmlns:a="http://schemas.openxmlformats.org/drawingml/2006/main" w="28575">
            <a:solidFill>
              <a:srgbClr val="D00020"/>
            </a:solidFill>
          </a:ln>
        </p:spPr>
      </p:sp>
      <p:sp>
        <p:nvSpPr>
          <p:cNvPr id="1001" name="BM_process_step_10">
            <a:extLst xmlns:a="http://schemas.openxmlformats.org/drawingml/2006/main">
              <a:ext uri="{FF2B5EF4-FFF2-40B4-BE49-F238E27FC236}">
                <a16:creationId xmlns:a16="http://schemas.microsoft.com/office/drawing/2014/main" id="{6059E4EF-06CB-4AA2-84F1-2FCCD46537E9}"/>
              </a:ext>
            </a:extLst>
          </p:cNvPr>
          <p:cNvSpPr>
            <a:spLocks xmlns:a="http://schemas.openxmlformats.org/drawingml/2006/main" noGrp="1"/>
          </p:cNvSpPr>
          <p:nvPr/>
        </p:nvSpPr>
        <p:spPr>
          <a:xfrm xmlns:a="http://schemas.openxmlformats.org/drawingml/2006/main">
            <a:off x="552450" y="4562475"/>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D00020"/>
                </a:solidFill>
                <a:latin typeface="Calibri"/>
                <a:ea typeface="Calibri"/>
                <a:cs typeface="Calibri"/>
              </a:defRPr>
            </a:pPr>
            <a:r>
              <a:rPr sz="1800" b="1">
                <a:solidFill>
                  <a:srgbClr val="D00020"/>
                </a:solidFill>
                <a:latin typeface="Calibri"/>
                <a:ea typeface="Calibri"/>
                <a:cs typeface="Calibri"/>
              </a:rPr>
              <a:t>3. Drei Gruppen von Disturbance Scenarios</a:t>
            </a:r>
          </a:p>
        </p:txBody>
      </p:sp>
      <p:sp>
        <p:nvSpPr>
          <p:cNvPr id="1002" name="BM_process_explanation_0_11">
            <a:extLst xmlns:a="http://schemas.openxmlformats.org/drawingml/2006/main">
              <a:ext uri="{FF2B5EF4-FFF2-40B4-BE49-F238E27FC236}">
                <a16:creationId xmlns:a16="http://schemas.microsoft.com/office/drawing/2014/main" id="{2C4F520D-DD71-4700-BE1B-C5B20166CDDA}"/>
              </a:ext>
            </a:extLst>
          </p:cNvPr>
          <p:cNvSpPr>
            <a:spLocks xmlns:a="http://schemas.openxmlformats.org/drawingml/2006/main" noGrp="1"/>
          </p:cNvSpPr>
          <p:nvPr/>
        </p:nvSpPr>
        <p:spPr>
          <a:xfrm xmlns:a="http://schemas.openxmlformats.org/drawingml/2006/main">
            <a:off x="552450" y="4972050"/>
            <a:ext cx="93916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444444"/>
                </a:solidFill>
                <a:latin typeface="Calibri"/>
                <a:ea typeface="Calibri"/>
                <a:cs typeface="Calibri"/>
              </a:defRPr>
            </a:pPr>
            <a:r>
              <a:rPr b="1"/>
              <a:t>Input Disturbances: </a:t>
            </a:r>
            <a:r>
              <a:t>Gain, Offset, Noise, Spikes und ADC-Quantisierung</a:t>
            </a:r>
          </a:p>
        </p:txBody>
      </p:sp>
      <p:sp>
        <p:nvSpPr>
          <p:cNvPr id="1003" name="BM_process_explanation_1_12">
            <a:extLst xmlns:a="http://schemas.openxmlformats.org/drawingml/2006/main">
              <a:ext uri="{FF2B5EF4-FFF2-40B4-BE49-F238E27FC236}">
                <a16:creationId xmlns:a16="http://schemas.microsoft.com/office/drawing/2014/main" id="{4B58263B-123A-42B6-A01F-B9D33E838E99}"/>
              </a:ext>
            </a:extLst>
          </p:cNvPr>
          <p:cNvSpPr>
            <a:spLocks xmlns:a="http://schemas.openxmlformats.org/drawingml/2006/main" noGrp="1"/>
          </p:cNvSpPr>
          <p:nvPr/>
        </p:nvSpPr>
        <p:spPr>
          <a:xfrm xmlns:a="http://schemas.openxmlformats.org/drawingml/2006/main">
            <a:off x="552450" y="5257800"/>
            <a:ext cx="93916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444444"/>
                </a:solidFill>
                <a:latin typeface="Calibri"/>
                <a:ea typeface="Calibri"/>
                <a:cs typeface="Calibri"/>
              </a:defRPr>
            </a:pPr>
            <a:r>
              <a:rPr b="1"/>
              <a:t>Initialization Errors: </a:t>
            </a:r>
            <a:r>
              <a:t>Fehler im SOC-Startzustand</a:t>
            </a:r>
          </a:p>
        </p:txBody>
      </p:sp>
      <p:sp>
        <p:nvSpPr>
          <p:cNvPr id="1004" name="BM_process_explanation_2_13">
            <a:extLst xmlns:a="http://schemas.openxmlformats.org/drawingml/2006/main">
              <a:ext uri="{FF2B5EF4-FFF2-40B4-BE49-F238E27FC236}">
                <a16:creationId xmlns:a16="http://schemas.microsoft.com/office/drawing/2014/main" id="{52F9856A-6D3B-4544-BCB5-D1A3F7D96E8D}"/>
              </a:ext>
            </a:extLst>
          </p:cNvPr>
          <p:cNvSpPr>
            <a:spLocks xmlns:a="http://schemas.openxmlformats.org/drawingml/2006/main" noGrp="1"/>
          </p:cNvSpPr>
          <p:nvPr/>
        </p:nvSpPr>
        <p:spPr>
          <a:xfrm xmlns:a="http://schemas.openxmlformats.org/drawingml/2006/main">
            <a:off x="552450" y="5543550"/>
            <a:ext cx="93916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444444"/>
                </a:solidFill>
                <a:latin typeface="Calibri"/>
                <a:ea typeface="Calibri"/>
                <a:cs typeface="Calibri"/>
              </a:defRPr>
            </a:pPr>
            <a:r>
              <a:rPr b="1"/>
              <a:t>Signal-Integrity Faults: </a:t>
            </a:r>
            <a:r>
              <a:t>Sample Loss, Dropout und Timing Jitter</a:t>
            </a:r>
          </a:p>
        </p:txBody>
      </p:sp>
    </p:spTree>
    <p:extLst>
      <p:ext uri="{BB962C8B-B14F-4D97-AF65-F5344CB8AC3E}">
        <p14:creationId xmlns:p14="http://schemas.microsoft.com/office/powerpoint/2010/main" val="2606044684"/>
      </p:ext>
    </p:extLst>
  </p:cSld>
  <p:transition spd="fast" advClick="1">
    <p:fade/>
  </p:transition>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wrap="none" lIns="0" tIns="0" rIns="0" bIns="0" anchor="t">
            <a:noAutofit/>
          </a:bodyPr>
          <a:lstStyle xmlns:a="http://schemas.openxmlformats.org/drawingml/2006/main"/>
          <ns0:p xmlns:ns0="http://schemas.openxmlformats.org/drawingml/2006/main">
            <ns0:pPr algn="l">
              <ns0:lnSpc>
                <ns0:spcPct val="106000"/>
              </ns0:lnSpc>
              <ns0:buNone/>
              <ns0:defRPr sz="2400" b="0">
                <ns0:solidFill>
                  <ns0:srgbClr val="CC001C"/>
                </ns0:solidFill>
                <ns0:latin typeface="Calibri"/>
                <ns0:ea typeface="Calibri"/>
                <ns0:cs typeface="Calibri"/>
              </ns0:defRPr>
            </ns0:pPr>
            <ns0:r>
              <ns0:rPr sz="2400" b="0">
                <ns0:solidFill>
                  <ns0:srgbClr val="CC001C"/>
                </ns0:solidFill>
                <ns0:latin typeface="Calibri"/>
                <ns0:ea typeface="Calibri"/>
                <ns0:cs typeface="Calibri"/>
              </ns0:rPr>
              <ns0:t>Benchmark: Störungen und kausale Auswertung</ns0:t>
            </ns0:r>
          </ns0: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21 / 44</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pic>
        <p:nvPicPr>
          <p:cNvPr id="31" name="V5_Figure_11"/>
          <p:cNvPicPr>
            <a:picLocks xmlns:a="http://schemas.openxmlformats.org/drawingml/2006/main" noChangeAspect="1"/>
          </p:cNvPicPr>
          <p:nvPr/>
        </p:nvPicPr>
        <p:blipFill>
          <a:blip xmlns:r="http://schemas.openxmlformats.org/officeDocument/2006/relationships" xmlns:a="http://schemas.openxmlformats.org/drawingml/2006/main" r:embed="R679b00789be2486e"/>
          <a:srcRect xmlns:a="http://schemas.openxmlformats.org/drawingml/2006/main" l="0" t="0" r="20925" b="0"/>
          <a:stretch xmlns:a="http://schemas.openxmlformats.org/drawingml/2006/main"/>
        </p:blipFill>
        <p:spPr>
          <a:xfrm xmlns:a="http://schemas.openxmlformats.org/drawingml/2006/main">
            <a:off x="4591050" y="2152650"/>
            <a:ext cx="5353050" cy="2958264"/>
          </a:xfrm>
          <a:prstGeom xmlns:a="http://schemas.openxmlformats.org/drawingml/2006/main" prst="rect">
            <a:avLst/>
          </a:prstGeom>
        </p:spPr>
      </p:pic>
      <p:sp>
        <p:nvSpPr>
          <p:cNvPr id="15" name="Structure separator">
            <a:extLst xmlns:a="http://schemas.openxmlformats.org/drawingml/2006/main">
              <a:ext uri="{FF2B5EF4-FFF2-40B4-BE49-F238E27FC236}">
                <a16:creationId xmlns:a16="http://schemas.microsoft.com/office/drawing/2014/main" id="{9F039303-D9A4-4A29-8BD2-60713A06A59D}"/>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16" name="Structure label">
            <a:extLst xmlns:a="http://schemas.openxmlformats.org/drawingml/2006/main">
              <a:ext uri="{FF2B5EF4-FFF2-40B4-BE49-F238E27FC236}">
                <a16:creationId xmlns:a16="http://schemas.microsoft.com/office/drawing/2014/main" id="{87269D4D-6607-4D0B-89DE-EA317B92891D}"/>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xmlns:a="http://schemas.openxmlformats.org/drawingml/2006/main">
              <a:ext uri="{FF2B5EF4-FFF2-40B4-BE49-F238E27FC236}">
                <a16:creationId xmlns:a16="http://schemas.microsoft.com/office/drawing/2014/main" id="{701BD1E0-7D79-4158-964F-CEC23984B66D}"/>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xmlns:a="http://schemas.openxmlformats.org/drawingml/2006/main">
              <a:ext uri="{FF2B5EF4-FFF2-40B4-BE49-F238E27FC236}">
                <a16:creationId xmlns:a16="http://schemas.microsoft.com/office/drawing/2014/main" id="{C58858FC-86F8-4190-A586-7B67E262F5DD}"/>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xmlns:a="http://schemas.openxmlformats.org/drawingml/2006/main">
              <a:ext uri="{FF2B5EF4-FFF2-40B4-BE49-F238E27FC236}">
                <a16:creationId xmlns:a16="http://schemas.microsoft.com/office/drawing/2014/main" id="{D77FF9DF-385F-475A-87A2-8CED162D1442}"/>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xmlns:a="http://schemas.openxmlformats.org/drawingml/2006/main">
              <a:ext uri="{FF2B5EF4-FFF2-40B4-BE49-F238E27FC236}">
                <a16:creationId xmlns:a16="http://schemas.microsoft.com/office/drawing/2014/main" id="{A799AEF3-46D7-4F85-AF68-2783C6A5B457}"/>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xmlns:a="http://schemas.openxmlformats.org/drawingml/2006/main">
              <a:ext uri="{FF2B5EF4-FFF2-40B4-BE49-F238E27FC236}">
                <a16:creationId xmlns:a16="http://schemas.microsoft.com/office/drawing/2014/main" id="{3DB614A4-6069-4730-8FED-5C5AF5DF316C}"/>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xmlns:a="http://schemas.openxmlformats.org/drawingml/2006/main">
              <a:ext uri="{FF2B5EF4-FFF2-40B4-BE49-F238E27FC236}">
                <a16:creationId xmlns:a16="http://schemas.microsoft.com/office/drawing/2014/main" id="{E9D17CEE-2143-4626-A04B-711C207AA06E}"/>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DS_column_divider_0">
            <a:extLst xmlns:a="http://schemas.openxmlformats.org/drawingml/2006/main">
              <a:ext uri="{FF2B5EF4-FFF2-40B4-BE49-F238E27FC236}">
                <a16:creationId xmlns:a16="http://schemas.microsoft.com/office/drawing/2014/main" id="{C4713D94-D986-45B1-876A-75A62E3C3E5F}"/>
              </a:ext>
            </a:extLst>
          </p:cNvPr>
          <p:cNvSpPr>
            <a:spLocks xmlns:a="http://schemas.openxmlformats.org/drawingml/2006/main" noGrp="1"/>
          </p:cNvSpPr>
          <p:nvPr/>
        </p:nvSpPr>
        <p:spPr>
          <a:xfrm xmlns:a="http://schemas.openxmlformats.org/drawingml/2006/main">
            <a:off x="4171950" y="1543050"/>
            <a:ext cx="11430" cy="4248150"/>
          </a:xfrm>
          <a:prstGeom xmlns:a="http://schemas.openxmlformats.org/drawingml/2006/main" prst="rect">
            <a:avLst/>
          </a:prstGeom>
          <a:solidFill xmlns:a="http://schemas.openxmlformats.org/drawingml/2006/main">
            <a:srgbClr val="DDE2E6"/>
          </a:solidFill>
          <a:ln xmlns:a="http://schemas.openxmlformats.org/drawingml/2006/main" w="0">
            <a:noFill/>
          </a:ln>
        </p:spPr>
      </p:sp>
      <p:sp>
        <p:nvSpPr>
          <p:cNvPr id="2001" name="DS_topic_accent_0">
            <a:extLst xmlns:a="http://schemas.openxmlformats.org/drawingml/2006/main">
              <a:ext uri="{FF2B5EF4-FFF2-40B4-BE49-F238E27FC236}">
                <a16:creationId xmlns:a16="http://schemas.microsoft.com/office/drawing/2014/main" id="{660EED15-1F99-46E0-9E98-8B5EB2AB78E7}"/>
              </a:ext>
            </a:extLst>
          </p:cNvPr>
          <p:cNvSpPr>
            <a:spLocks xmlns:a="http://schemas.openxmlformats.org/drawingml/2006/main" noGrp="1"/>
          </p:cNvSpPr>
          <p:nvPr/>
        </p:nvSpPr>
        <p:spPr>
          <a:xfrm xmlns:a="http://schemas.openxmlformats.org/drawingml/2006/main">
            <a:off x="552450" y="1657350"/>
            <a:ext cx="28575" cy="381000"/>
          </a:xfrm>
          <a:prstGeom xmlns:a="http://schemas.openxmlformats.org/drawingml/2006/main" prst="rect">
            <a:avLst/>
          </a:prstGeom>
          <a:solidFill xmlns:a="http://schemas.openxmlformats.org/drawingml/2006/main">
            <a:srgbClr val="D00020"/>
          </a:solidFill>
          <a:ln xmlns:a="http://schemas.openxmlformats.org/drawingml/2006/main" w="0">
            <a:noFill/>
          </a:ln>
        </p:spPr>
      </p:sp>
      <p:sp>
        <p:nvSpPr>
          <p:cNvPr id="2002" name="DS_topic_0">
            <a:extLst xmlns:a="http://schemas.openxmlformats.org/drawingml/2006/main">
              <a:ext uri="{FF2B5EF4-FFF2-40B4-BE49-F238E27FC236}">
                <a16:creationId xmlns:a16="http://schemas.microsoft.com/office/drawing/2014/main" id="{6A8157B7-6D49-4F33-BD19-BE17D34735A9}"/>
              </a:ext>
            </a:extLst>
          </p:cNvPr>
          <p:cNvSpPr>
            <a:spLocks xmlns:a="http://schemas.openxmlformats.org/drawingml/2006/main" noGrp="1"/>
          </p:cNvSpPr>
          <p:nvPr/>
        </p:nvSpPr>
        <p:spPr>
          <a:xfrm xmlns:a="http://schemas.openxmlformats.org/drawingml/2006/main">
            <a:off x="762000" y="1628775"/>
            <a:ext cx="32194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D00020"/>
                </a:solidFill>
                <a:latin typeface="Calibri"/>
                <a:ea typeface="Calibri"/>
                <a:cs typeface="Calibri"/>
              </a:defRPr>
            </a:pPr>
            <a:r>
              <a:rPr sz="1800" b="1">
                <a:solidFill>
                  <a:srgbClr val="D00020"/>
                </a:solidFill>
                <a:latin typeface="Calibri"/>
                <a:ea typeface="Calibri"/>
                <a:cs typeface="Calibri"/>
              </a:rPr>
              <a:t>Initialization Errors</a:t>
            </a:r>
          </a:p>
        </p:txBody>
      </p:sp>
      <p:sp>
        <p:nvSpPr>
          <p:cNvPr id="2003" name="DS_section_title_0_0">
            <a:extLst xmlns:a="http://schemas.openxmlformats.org/drawingml/2006/main">
              <a:ext uri="{FF2B5EF4-FFF2-40B4-BE49-F238E27FC236}">
                <a16:creationId xmlns:a16="http://schemas.microsoft.com/office/drawing/2014/main" id="{CA2BC267-8D94-4802-B1B1-7467C97BB33C}"/>
              </a:ext>
            </a:extLst>
          </p:cNvPr>
          <p:cNvSpPr>
            <a:spLocks xmlns:a="http://schemas.openxmlformats.org/drawingml/2006/main" noGrp="1"/>
          </p:cNvSpPr>
          <p:nvPr/>
        </p:nvSpPr>
        <p:spPr>
          <a:xfrm xmlns:a="http://schemas.openxmlformats.org/drawingml/2006/main">
            <a:off x="762000" y="2333625"/>
            <a:ext cx="32194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444444"/>
                </a:solidFill>
                <a:latin typeface="Calibri"/>
                <a:ea typeface="Calibri"/>
                <a:cs typeface="Calibri"/>
              </a:defRPr>
            </a:pPr>
            <a:r>
              <a:rPr sz="1800" b="1">
                <a:solidFill>
                  <a:srgbClr val="444444"/>
                </a:solidFill>
                <a:latin typeface="Calibri"/>
                <a:ea typeface="Calibri"/>
                <a:cs typeface="Calibri"/>
              </a:rPr>
              <a:t>Betriebssituation</a:t>
            </a:r>
          </a:p>
        </p:txBody>
      </p:sp>
      <p:sp>
        <p:nvSpPr>
          <p:cNvPr id="2004" name="DS_section_body_0_0">
            <a:extLst xmlns:a="http://schemas.openxmlformats.org/drawingml/2006/main">
              <a:ext uri="{FF2B5EF4-FFF2-40B4-BE49-F238E27FC236}">
                <a16:creationId xmlns:a16="http://schemas.microsoft.com/office/drawing/2014/main" id="{C8FB9A3D-CA81-444B-8133-B61EAA45FAF2}"/>
              </a:ext>
            </a:extLst>
          </p:cNvPr>
          <p:cNvSpPr>
            <a:spLocks xmlns:a="http://schemas.openxmlformats.org/drawingml/2006/main" noGrp="1"/>
          </p:cNvSpPr>
          <p:nvPr/>
        </p:nvSpPr>
        <p:spPr>
          <a:xfrm xmlns:a="http://schemas.openxmlformats.org/drawingml/2006/main">
            <a:off x="762000" y="2667000"/>
            <a:ext cx="32194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444444"/>
                </a:solidFill>
                <a:latin typeface="Calibri"/>
                <a:ea typeface="Calibri"/>
                <a:cs typeface="Calibri"/>
              </a:defRPr>
            </a:pPr>
            <a:r>
              <a:rPr sz="1800" b="0">
                <a:solidFill>
                  <a:srgbClr val="444444"/>
                </a:solidFill>
                <a:latin typeface="Calibri"/>
                <a:ea typeface="Calibri"/>
                <a:cs typeface="Calibri"/>
              </a:rPr>
              <a:t>BMS-Neustart oder längere Lagerung ohne aktuelle SOC-Historie</a:t>
            </a:r>
          </a:p>
        </p:txBody>
      </p:sp>
      <p:sp>
        <p:nvSpPr>
          <p:cNvPr id="2005" name="DS_section_title_0_1">
            <a:extLst xmlns:a="http://schemas.openxmlformats.org/drawingml/2006/main">
              <a:ext uri="{FF2B5EF4-FFF2-40B4-BE49-F238E27FC236}">
                <a16:creationId xmlns:a16="http://schemas.microsoft.com/office/drawing/2014/main" id="{11596507-80AF-451A-8E5D-62E81193F68B}"/>
              </a:ext>
            </a:extLst>
          </p:cNvPr>
          <p:cNvSpPr>
            <a:spLocks xmlns:a="http://schemas.openxmlformats.org/drawingml/2006/main" noGrp="1"/>
          </p:cNvSpPr>
          <p:nvPr/>
        </p:nvSpPr>
        <p:spPr>
          <a:xfrm xmlns:a="http://schemas.openxmlformats.org/drawingml/2006/main">
            <a:off x="762000" y="3981450"/>
            <a:ext cx="32194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444444"/>
                </a:solidFill>
                <a:latin typeface="Calibri"/>
                <a:ea typeface="Calibri"/>
                <a:cs typeface="Calibri"/>
              </a:defRPr>
            </a:pPr>
            <a:r>
              <a:rPr sz="1800" b="1">
                <a:solidFill>
                  <a:srgbClr val="444444"/>
                </a:solidFill>
                <a:latin typeface="Calibri"/>
                <a:ea typeface="Calibri"/>
                <a:cs typeface="Calibri"/>
              </a:rPr>
              <a:t>Mögliche Auswirkungen</a:t>
            </a:r>
          </a:p>
        </p:txBody>
      </p:sp>
      <p:sp>
        <p:nvSpPr>
          <p:cNvPr id="2006" name="DS_section_body_0_1">
            <a:extLst xmlns:a="http://schemas.openxmlformats.org/drawingml/2006/main">
              <a:ext uri="{FF2B5EF4-FFF2-40B4-BE49-F238E27FC236}">
                <a16:creationId xmlns:a16="http://schemas.microsoft.com/office/drawing/2014/main" id="{3C494AB1-B3AA-4085-8B27-BB3A274544E0}"/>
              </a:ext>
            </a:extLst>
          </p:cNvPr>
          <p:cNvSpPr>
            <a:spLocks xmlns:a="http://schemas.openxmlformats.org/drawingml/2006/main" noGrp="1"/>
          </p:cNvSpPr>
          <p:nvPr/>
        </p:nvSpPr>
        <p:spPr>
          <a:xfrm xmlns:a="http://schemas.openxmlformats.org/drawingml/2006/main">
            <a:off x="762000" y="4314825"/>
            <a:ext cx="32194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444444"/>
                </a:solidFill>
                <a:latin typeface="Calibri"/>
                <a:ea typeface="Calibri"/>
                <a:cs typeface="Calibri"/>
              </a:defRPr>
            </a:pPr>
            <a:r>
              <a:rPr sz="1800" b="0">
                <a:solidFill>
                  <a:srgbClr val="444444"/>
                </a:solidFill>
                <a:latin typeface="Calibri"/>
                <a:ea typeface="Calibri"/>
                <a:cs typeface="Calibri"/>
              </a:rPr>
              <a:t>Anhaltende SOC-Abweichung oder verzögerte Recovery bei flacher LFP-OCV-Kennlinie</a:t>
            </a:r>
          </a:p>
        </p:txBody>
      </p:sp>
      <p:sp>
        <p:nvSpPr>
          <p:cNvPr id="2007" name="DS_current_family_0">
            <a:extLst xmlns:a="http://schemas.openxmlformats.org/drawingml/2006/main">
              <a:ext uri="{FF2B5EF4-FFF2-40B4-BE49-F238E27FC236}">
                <a16:creationId xmlns:a16="http://schemas.microsoft.com/office/drawing/2014/main" id="{CA3F9C03-AA7C-4081-80D1-28345CCDB67B}"/>
              </a:ext>
            </a:extLst>
          </p:cNvPr>
          <p:cNvSpPr>
            <a:spLocks xmlns:a="http://schemas.openxmlformats.org/drawingml/2006/main" noGrp="1"/>
          </p:cNvSpPr>
          <p:nvPr/>
        </p:nvSpPr>
        <p:spPr>
          <a:xfrm xmlns:a="http://schemas.openxmlformats.org/drawingml/2006/main">
            <a:off x="8628647" y="3059809"/>
            <a:ext cx="1347425" cy="240033"/>
          </a:xfrm>
          <a:prstGeom xmlns:a="http://schemas.openxmlformats.org/drawingml/2006/main" prst="rect">
            <a:avLst/>
          </a:prstGeom>
          <a:noFill xmlns:a="http://schemas.openxmlformats.org/drawingml/2006/main"/>
          <a:ln xmlns:a="http://schemas.openxmlformats.org/drawingml/2006/main" w="17145">
            <a:solidFill>
              <a:srgbClr val="D00020"/>
            </a:solidFill>
          </a:ln>
        </p:spPr>
      </p:sp>
    </p:spTree>
    <p:extLst>
      <p:ext uri="{BB962C8B-B14F-4D97-AF65-F5344CB8AC3E}">
        <p14:creationId xmlns:p14="http://schemas.microsoft.com/office/powerpoint/2010/main" val="2876319687"/>
      </p:ext>
    </p:extLst>
  </p:cSld>
  <p:transition spd="fast" advClick="1">
    <p:fade/>
  </p:transition>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wrap="none" lIns="0" tIns="0" rIns="0" bIns="0" anchor="t">
            <a:noAutofit/>
          </a:bodyPr>
          <a:lstStyle xmlns:a="http://schemas.openxmlformats.org/drawingml/2006/main"/>
          <ns0:p xmlns:ns0="http://schemas.openxmlformats.org/drawingml/2006/main">
            <ns0:pPr algn="l">
              <ns0:lnSpc>
                <ns0:spcPct val="106000"/>
              </ns0:lnSpc>
              <ns0:buNone/>
              <ns0:defRPr sz="2400" b="0">
                <ns0:solidFill>
                  <ns0:srgbClr val="CC001C"/>
                </ns0:solidFill>
                <ns0:latin typeface="Calibri"/>
                <ns0:ea typeface="Calibri"/>
                <ns0:cs typeface="Calibri"/>
              </ns0:defRPr>
            </ns0:pPr>
            <ns0:r>
              <ns0:rPr sz="2400" b="0">
                <ns0:solidFill>
                  <ns0:srgbClr val="CC001C"/>
                </ns0:solidFill>
                <ns0:latin typeface="Calibri"/>
                <ns0:ea typeface="Calibri"/>
                <ns0:cs typeface="Calibri"/>
              </ns0:rPr>
              <ns0:t>Ergebnisse: Nominale SOC-Genauigkeit im Benchmark</ns0:t>
            </ns0:r>
          </ns0: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25 / 44</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pic>
        <p:nvPicPr>
          <p:cNvPr id="33" name="V5_Figure_11"/>
          <p:cNvPicPr>
            <a:picLocks xmlns:a="http://schemas.openxmlformats.org/drawingml/2006/main" noChangeAspect="1"/>
          </p:cNvPicPr>
          <p:nvPr/>
        </p:nvPicPr>
        <p:blipFill>
          <a:blip xmlns:r="http://schemas.openxmlformats.org/officeDocument/2006/relationships" xmlns:a="http://schemas.openxmlformats.org/drawingml/2006/main" r:embed="R13f82d374d2c4014"/>
          <a:stretch xmlns:a="http://schemas.openxmlformats.org/drawingml/2006/main"/>
        </p:blipFill>
        <p:spPr>
          <a:xfrm xmlns:a="http://schemas.openxmlformats.org/drawingml/2006/main">
            <a:off x="552450" y="1666875"/>
            <a:ext cx="6858000" cy="2538264"/>
          </a:xfrm>
          <a:prstGeom xmlns:a="http://schemas.openxmlformats.org/drawingml/2006/main" prst="rect">
            <a:avLst/>
          </a:prstGeom>
        </p:spPr>
      </p:pic>
      <p:sp>
        <p:nvSpPr>
          <p:cNvPr id="15" name="Structure separator">
            <a:extLst xmlns:a="http://schemas.openxmlformats.org/drawingml/2006/main">
              <a:ext uri="{FF2B5EF4-FFF2-40B4-BE49-F238E27FC236}">
                <a16:creationId xmlns:a16="http://schemas.microsoft.com/office/drawing/2014/main" id="{2278B69B-2ACA-4239-9F3E-334E1EEE365A}"/>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16" name="Structure label">
            <a:extLst xmlns:a="http://schemas.openxmlformats.org/drawingml/2006/main">
              <a:ext uri="{FF2B5EF4-FFF2-40B4-BE49-F238E27FC236}">
                <a16:creationId xmlns:a16="http://schemas.microsoft.com/office/drawing/2014/main" id="{5E57187B-4143-436C-9983-05366E255AFC}"/>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xmlns:a="http://schemas.openxmlformats.org/drawingml/2006/main">
              <a:ext uri="{FF2B5EF4-FFF2-40B4-BE49-F238E27FC236}">
                <a16:creationId xmlns:a16="http://schemas.microsoft.com/office/drawing/2014/main" id="{4CBE117C-C3BF-4C12-8836-F650C9FB9A87}"/>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xmlns:a="http://schemas.openxmlformats.org/drawingml/2006/main">
              <a:ext uri="{FF2B5EF4-FFF2-40B4-BE49-F238E27FC236}">
                <a16:creationId xmlns:a16="http://schemas.microsoft.com/office/drawing/2014/main" id="{BB57D778-70C2-445A-A83A-E007C641C26E}"/>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xmlns:a="http://schemas.openxmlformats.org/drawingml/2006/main">
              <a:ext uri="{FF2B5EF4-FFF2-40B4-BE49-F238E27FC236}">
                <a16:creationId xmlns:a16="http://schemas.microsoft.com/office/drawing/2014/main" id="{CA5EF388-0968-4F76-BCE9-3C5B2D358271}"/>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xmlns:a="http://schemas.openxmlformats.org/drawingml/2006/main">
              <a:ext uri="{FF2B5EF4-FFF2-40B4-BE49-F238E27FC236}">
                <a16:creationId xmlns:a16="http://schemas.microsoft.com/office/drawing/2014/main" id="{6FBC9C8E-75F5-4013-8D88-30FD970DC91F}"/>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xmlns:a="http://schemas.openxmlformats.org/drawingml/2006/main">
              <a:ext uri="{FF2B5EF4-FFF2-40B4-BE49-F238E27FC236}">
                <a16:creationId xmlns:a16="http://schemas.microsoft.com/office/drawing/2014/main" id="{344E6B2F-767C-4630-98F4-D916351758BE}"/>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xmlns:a="http://schemas.openxmlformats.org/drawingml/2006/main">
              <a:ext uri="{FF2B5EF4-FFF2-40B4-BE49-F238E27FC236}">
                <a16:creationId xmlns:a16="http://schemas.microsoft.com/office/drawing/2014/main" id="{886A3413-2979-4488-959F-8946DB0D095E}"/>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NR_testbasis_title">
            <a:extLst xmlns:a="http://schemas.openxmlformats.org/drawingml/2006/main">
              <a:ext uri="{FF2B5EF4-FFF2-40B4-BE49-F238E27FC236}">
                <a16:creationId xmlns:a16="http://schemas.microsoft.com/office/drawing/2014/main" id="{E657BFBB-B8A9-4404-84AB-6D9F409FF4BE}"/>
              </a:ext>
            </a:extLst>
          </p:cNvPr>
          <p:cNvSpPr>
            <a:spLocks xmlns:a="http://schemas.openxmlformats.org/drawingml/2006/main" noGrp="1"/>
          </p:cNvSpPr>
          <p:nvPr/>
        </p:nvSpPr>
        <p:spPr>
          <a:xfrm xmlns:a="http://schemas.openxmlformats.org/drawingml/2006/main">
            <a:off x="7620000" y="14573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444444"/>
                </a:solidFill>
                <a:latin typeface="Calibri"/>
                <a:ea typeface="Calibri"/>
                <a:cs typeface="Calibri"/>
              </a:defRPr>
            </a:pPr>
            <a:r>
              <a:rPr sz="1800" b="1">
                <a:solidFill>
                  <a:srgbClr val="444444"/>
                </a:solidFill>
                <a:latin typeface="Calibri"/>
                <a:ea typeface="Calibri"/>
                <a:cs typeface="Calibri"/>
              </a:rPr>
              <a:t>Testbasis</a:t>
            </a:r>
          </a:p>
        </p:txBody>
      </p:sp>
      <p:sp>
        <p:nvSpPr>
          <p:cNvPr id="2001" name="NR_testbasis_body">
            <a:extLst xmlns:a="http://schemas.openxmlformats.org/drawingml/2006/main">
              <a:ext uri="{FF2B5EF4-FFF2-40B4-BE49-F238E27FC236}">
                <a16:creationId xmlns:a16="http://schemas.microsoft.com/office/drawing/2014/main" id="{26EB5CD8-8B19-45A7-93B1-2AFC44303EF5}"/>
              </a:ext>
            </a:extLst>
          </p:cNvPr>
          <p:cNvSpPr>
            <a:spLocks xmlns:a="http://schemas.openxmlformats.org/drawingml/2006/main" noGrp="1"/>
          </p:cNvSpPr>
          <p:nvPr/>
        </p:nvSpPr>
        <p:spPr>
          <a:xfrm xmlns:a="http://schemas.openxmlformats.org/drawingml/2006/main">
            <a:off x="7620000" y="1781175"/>
            <a:ext cx="2476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444444"/>
                </a:solidFill>
                <a:latin typeface="Calibri"/>
                <a:ea typeface="Calibri"/>
                <a:cs typeface="Calibri"/>
              </a:defRPr>
            </a:pPr>
            <a:r>
              <a:rPr sz="1800" b="0">
                <a:solidFill>
                  <a:srgbClr val="444444"/>
                </a:solidFill>
                <a:latin typeface="Calibri"/>
                <a:ea typeface="Calibri"/>
                <a:cs typeface="Calibri"/>
              </a:rPr>
              <a:t>6 unabhängige</a:t>
            </a:r>
          </a:p>
          <a:p xmlns:a="http://schemas.openxmlformats.org/drawingml/2006/main">
            <a:pPr algn="l">
              <a:defRPr sz="1800" b="0">
                <a:solidFill>
                  <a:srgbClr val="444444"/>
                </a:solidFill>
                <a:latin typeface="Calibri"/>
                <a:ea typeface="Calibri"/>
                <a:cs typeface="Calibri"/>
              </a:defRPr>
            </a:pPr>
            <a:r>
              <a:rPr sz="1800" b="0">
                <a:solidFill>
                  <a:srgbClr val="444444"/>
                </a:solidFill>
                <a:latin typeface="Calibri"/>
                <a:ea typeface="Calibri"/>
                <a:cs typeface="Calibri"/>
              </a:rPr>
              <a:t>LFP-Testzellen</a:t>
            </a:r>
          </a:p>
          <a:p xmlns:a="http://schemas.openxmlformats.org/drawingml/2006/main">
            <a:pPr algn="l">
              <a:defRPr sz="1800" b="0">
                <a:solidFill>
                  <a:srgbClr val="444444"/>
                </a:solidFill>
                <a:latin typeface="Calibri"/>
                <a:ea typeface="Calibri"/>
                <a:cs typeface="Calibri"/>
              </a:defRPr>
            </a:pPr>
            <a:r>
              <a:rPr sz="1800" b="0">
                <a:solidFill>
                  <a:srgbClr val="444444"/>
                </a:solidFill>
                <a:latin typeface="Calibri"/>
                <a:ea typeface="Calibri"/>
                <a:cs typeface="Calibri"/>
              </a:rPr>
              <a:t>16 repräsentative</a:t>
            </a:r>
          </a:p>
          <a:p xmlns:a="http://schemas.openxmlformats.org/drawingml/2006/main">
            <a:pPr algn="l">
              <a:defRPr sz="1800" b="0">
                <a:solidFill>
                  <a:srgbClr val="444444"/>
                </a:solidFill>
                <a:latin typeface="Calibri"/>
                <a:ea typeface="Calibri"/>
                <a:cs typeface="Calibri"/>
              </a:defRPr>
            </a:pPr>
            <a:r>
              <a:rPr sz="1800" b="0">
                <a:solidFill>
                  <a:srgbClr val="444444"/>
                </a:solidFill>
                <a:latin typeface="Calibri"/>
                <a:ea typeface="Calibri"/>
                <a:cs typeface="Calibri"/>
              </a:rPr>
              <a:t>24-h-Fenster</a:t>
            </a:r>
          </a:p>
        </p:txBody>
      </p:sp>
      <p:sp>
        <p:nvSpPr>
          <p:cNvPr id="2002" name="NR_evaluation_title">
            <a:extLst xmlns:a="http://schemas.openxmlformats.org/drawingml/2006/main">
              <a:ext uri="{FF2B5EF4-FFF2-40B4-BE49-F238E27FC236}">
                <a16:creationId xmlns:a16="http://schemas.microsoft.com/office/drawing/2014/main" id="{9D007BA0-FDD6-45B7-A5E3-90AE0FE0DE05}"/>
              </a:ext>
            </a:extLst>
          </p:cNvPr>
          <p:cNvSpPr>
            <a:spLocks xmlns:a="http://schemas.openxmlformats.org/drawingml/2006/main" noGrp="1"/>
          </p:cNvSpPr>
          <p:nvPr/>
        </p:nvSpPr>
        <p:spPr>
          <a:xfrm xmlns:a="http://schemas.openxmlformats.org/drawingml/2006/main">
            <a:off x="7620000" y="296227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444444"/>
                </a:solidFill>
                <a:latin typeface="Calibri"/>
                <a:ea typeface="Calibri"/>
                <a:cs typeface="Calibri"/>
              </a:defRPr>
            </a:pPr>
            <a:r>
              <a:rPr sz="1800" b="1">
                <a:solidFill>
                  <a:srgbClr val="444444"/>
                </a:solidFill>
                <a:latin typeface="Calibri"/>
                <a:ea typeface="Calibri"/>
                <a:cs typeface="Calibri"/>
              </a:rPr>
              <a:t>Auswertung</a:t>
            </a:r>
          </a:p>
        </p:txBody>
      </p:sp>
      <p:sp>
        <p:nvSpPr>
          <p:cNvPr id="2003" name="NR_evaluation_body">
            <a:extLst xmlns:a="http://schemas.openxmlformats.org/drawingml/2006/main">
              <a:ext uri="{FF2B5EF4-FFF2-40B4-BE49-F238E27FC236}">
                <a16:creationId xmlns:a16="http://schemas.microsoft.com/office/drawing/2014/main" id="{37982B58-4B16-470B-BA0B-A6C263A509B7}"/>
              </a:ext>
            </a:extLst>
          </p:cNvPr>
          <p:cNvSpPr>
            <a:spLocks xmlns:a="http://schemas.openxmlformats.org/drawingml/2006/main" noGrp="1"/>
          </p:cNvSpPr>
          <p:nvPr/>
        </p:nvSpPr>
        <p:spPr>
          <a:xfrm xmlns:a="http://schemas.openxmlformats.org/drawingml/2006/main">
            <a:off x="7620000" y="3286125"/>
            <a:ext cx="2476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444444"/>
                </a:solidFill>
                <a:latin typeface="Calibri"/>
                <a:ea typeface="Calibri"/>
                <a:cs typeface="Calibri"/>
              </a:defRPr>
            </a:pPr>
            <a:r>
              <a:rPr sz="1800" b="0">
                <a:solidFill>
                  <a:srgbClr val="444444"/>
                </a:solidFill>
                <a:latin typeface="Calibri"/>
                <a:ea typeface="Calibri"/>
                <a:cs typeface="Calibri"/>
              </a:rPr>
              <a:t>Gleiches Zellgewicht</a:t>
            </a:r>
          </a:p>
          <a:p xmlns:a="http://schemas.openxmlformats.org/drawingml/2006/main">
            <a:pPr algn="l">
              <a:defRPr sz="1800" b="0">
                <a:solidFill>
                  <a:srgbClr val="444444"/>
                </a:solidFill>
                <a:latin typeface="Calibri"/>
                <a:ea typeface="Calibri"/>
                <a:cs typeface="Calibri"/>
              </a:defRPr>
            </a:pPr>
            <a:r>
              <a:rPr sz="1800" b="0">
                <a:solidFill>
                  <a:srgbClr val="444444"/>
                </a:solidFill>
                <a:latin typeface="Calibri"/>
                <a:ea typeface="Calibri"/>
                <a:cs typeface="Calibri"/>
              </a:rPr>
              <a:t>Balken: Makromittel</a:t>
            </a:r>
          </a:p>
          <a:p xmlns:a="http://schemas.openxmlformats.org/drawingml/2006/main">
            <a:pPr algn="l">
              <a:defRPr sz="1800" b="0">
                <a:solidFill>
                  <a:srgbClr val="444444"/>
                </a:solidFill>
                <a:latin typeface="Calibri"/>
                <a:ea typeface="Calibri"/>
                <a:cs typeface="Calibri"/>
              </a:defRPr>
            </a:pPr>
            <a:r>
              <a:rPr sz="1800" b="0">
                <a:solidFill>
                  <a:srgbClr val="444444"/>
                </a:solidFill>
                <a:latin typeface="Calibri"/>
                <a:ea typeface="Calibri"/>
                <a:cs typeface="Calibri"/>
              </a:rPr>
              <a:t>Punkte: Fensterwerte</a:t>
            </a:r>
          </a:p>
          <a:p xmlns:a="http://schemas.openxmlformats.org/drawingml/2006/main">
            <a:pPr algn="l">
              <a:defRPr sz="1800" b="0">
                <a:solidFill>
                  <a:srgbClr val="444444"/>
                </a:solidFill>
                <a:latin typeface="Calibri"/>
                <a:ea typeface="Calibri"/>
                <a:cs typeface="Calibri"/>
              </a:defRPr>
            </a:pPr>
            <a:r>
              <a:rPr sz="1800" b="0">
                <a:solidFill>
                  <a:srgbClr val="444444"/>
                </a:solidFill>
                <a:latin typeface="Calibri"/>
                <a:ea typeface="Calibri"/>
                <a:cs typeface="Calibri"/>
              </a:rPr>
              <a:t>Fehlerbalken: 95-%-KI</a:t>
            </a:r>
          </a:p>
        </p:txBody>
      </p:sp>
      <p:sp>
        <p:nvSpPr>
          <p:cNvPr id="2004" name="NR_dispersion">
            <a:extLst xmlns:a="http://schemas.openxmlformats.org/drawingml/2006/main">
              <a:ext uri="{FF2B5EF4-FFF2-40B4-BE49-F238E27FC236}">
                <a16:creationId xmlns:a16="http://schemas.microsoft.com/office/drawing/2014/main" id="{B38C110A-4D79-4E62-8C2D-BB63BB5C6E01}"/>
              </a:ext>
            </a:extLst>
          </p:cNvPr>
          <p:cNvSpPr>
            <a:spLocks xmlns:a="http://schemas.openxmlformats.org/drawingml/2006/main" noGrp="1"/>
          </p:cNvSpPr>
          <p:nvPr/>
        </p:nvSpPr>
        <p:spPr>
          <a:xfrm xmlns:a="http://schemas.openxmlformats.org/drawingml/2006/main">
            <a:off x="552450" y="4505325"/>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444444"/>
                </a:solidFill>
                <a:latin typeface="Calibri"/>
                <a:ea typeface="Calibri"/>
                <a:cs typeface="Calibri"/>
              </a:defRPr>
            </a:pPr>
            <a:r>
              <a:rPr b="1"/>
              <a:t>Streuung: </a:t>
            </a:r>
            <a:r>
              <a:t>Breite Fehlerspanne bei DM, HDM und HECM, engere Verteilung bei DD</a:t>
            </a:r>
          </a:p>
        </p:txBody>
      </p:sp>
      <p:sp>
        <p:nvSpPr>
          <p:cNvPr id="2005" name="NR_dm_mechanism">
            <a:extLst xmlns:a="http://schemas.openxmlformats.org/drawingml/2006/main">
              <a:ext uri="{FF2B5EF4-FFF2-40B4-BE49-F238E27FC236}">
                <a16:creationId xmlns:a16="http://schemas.microsoft.com/office/drawing/2014/main" id="{1CF581A2-B4F0-47DA-A05A-E95B757C5297}"/>
              </a:ext>
            </a:extLst>
          </p:cNvPr>
          <p:cNvSpPr>
            <a:spLocks xmlns:a="http://schemas.openxmlformats.org/drawingml/2006/main" noGrp="1"/>
          </p:cNvSpPr>
          <p:nvPr/>
        </p:nvSpPr>
        <p:spPr>
          <a:xfrm xmlns:a="http://schemas.openxmlformats.org/drawingml/2006/main">
            <a:off x="552450" y="4857750"/>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444444"/>
                </a:solidFill>
                <a:latin typeface="Calibri"/>
                <a:ea typeface="Calibri"/>
                <a:cs typeface="Calibri"/>
              </a:defRPr>
            </a:pPr>
            <a:r>
              <a:rPr b="1"/>
              <a:t>DM: </a:t>
            </a:r>
            <a:r>
              <a:t>Feste Kapazität trotz Alterung, keine kontinuierliche Korrektur</a:t>
            </a:r>
          </a:p>
        </p:txBody>
      </p:sp>
      <p:sp>
        <p:nvSpPr>
          <p:cNvPr id="2006" name="NR_hybrid_mechanism">
            <a:extLst xmlns:a="http://schemas.openxmlformats.org/drawingml/2006/main">
              <a:ext uri="{FF2B5EF4-FFF2-40B4-BE49-F238E27FC236}">
                <a16:creationId xmlns:a16="http://schemas.microsoft.com/office/drawing/2014/main" id="{8B3D7159-03F9-4744-A747-BC5F1BF9DDD4}"/>
              </a:ext>
            </a:extLst>
          </p:cNvPr>
          <p:cNvSpPr>
            <a:spLocks xmlns:a="http://schemas.openxmlformats.org/drawingml/2006/main" noGrp="1"/>
          </p:cNvSpPr>
          <p:nvPr/>
        </p:nvSpPr>
        <p:spPr>
          <a:xfrm xmlns:a="http://schemas.openxmlformats.org/drawingml/2006/main">
            <a:off x="552450" y="5210175"/>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444444"/>
                </a:solidFill>
                <a:latin typeface="Calibri"/>
                <a:ea typeface="Calibri"/>
                <a:cs typeface="Calibri"/>
              </a:defRPr>
            </a:pPr>
            <a:r>
              <a:rPr b="1"/>
              <a:t>HDM/HECM: </a:t>
            </a:r>
            <a:r>
              <a:t>Zusätzlicher Fehlerbeitrag aus der SOH-Schätzung</a:t>
            </a:r>
          </a:p>
        </p:txBody>
      </p:sp>
      <p:sp>
        <p:nvSpPr>
          <p:cNvPr id="2007" name="NR_takeaway">
            <a:extLst xmlns:a="http://schemas.openxmlformats.org/drawingml/2006/main">
              <a:ext uri="{FF2B5EF4-FFF2-40B4-BE49-F238E27FC236}">
                <a16:creationId xmlns:a16="http://schemas.microsoft.com/office/drawing/2014/main" id="{C1C44E27-76D2-482F-B5D5-1D4FCB3E5770}"/>
              </a:ext>
            </a:extLst>
          </p:cNvPr>
          <p:cNvSpPr>
            <a:spLocks xmlns:a="http://schemas.openxmlformats.org/drawingml/2006/main" noGrp="1"/>
          </p:cNvSpPr>
          <p:nvPr/>
        </p:nvSpPr>
        <p:spPr>
          <a:xfrm xmlns:a="http://schemas.openxmlformats.org/drawingml/2006/main">
            <a:off x="552450" y="5629275"/>
            <a:ext cx="9391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D00020"/>
                </a:solidFill>
                <a:latin typeface="Calibri"/>
                <a:ea typeface="Calibri"/>
                <a:cs typeface="Calibri"/>
              </a:defRPr>
            </a:pPr>
            <a:r>
              <a:rPr sz="1800" b="1">
                <a:solidFill>
                  <a:srgbClr val="D00020"/>
                </a:solidFill>
                <a:latin typeface="Calibri"/>
                <a:ea typeface="Calibri"/>
                <a:cs typeface="Calibri"/>
              </a:rPr>
              <a:t>DD mit niedrigstem mittlerem MAE im nominalen Benchmark</a:t>
            </a:r>
          </a:p>
        </p:txBody>
      </p:sp>
    </p:spTree>
    <p:extLst>
      <p:ext uri="{BB962C8B-B14F-4D97-AF65-F5344CB8AC3E}">
        <p14:creationId xmlns:p14="http://schemas.microsoft.com/office/powerpoint/2010/main" val="1283791891"/>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wrap="none" lIns="0" tIns="0" rIns="0" bIns="0" anchor="t">
            <a:noAutofit/>
          </a:bodyPr>
          <a:lstStyle xmlns:a="http://schemas.openxmlformats.org/drawingml/2006/main"/>
          <ns0:p xmlns:ns0="http://schemas.openxmlformats.org/drawingml/2006/main">
            <ns0:pPr algn="l">
              <ns0:lnSpc>
                <ns0:spcPct val="106000"/>
              </ns0:lnSpc>
              <ns0:buNone/>
              <ns0:defRPr sz="2400" b="0">
                <ns0:solidFill>
                  <ns0:srgbClr val="CC001C"/>
                </ns0:solidFill>
                <ns0:latin typeface="Calibri"/>
                <ns0:ea typeface="Calibri"/>
                <ns0:cs typeface="Calibri"/>
              </ns0:defRPr>
            </ns0:pPr>
            <ns0:r>
              <ns0:rPr sz="2400" b="0">
                <ns0:solidFill>
                  <ns0:srgbClr val="CC001C"/>
                </ns0:solidFill>
                <ns0:latin typeface="Calibri"/>
                <ns0:ea typeface="Calibri"/>
                <ns0:cs typeface="Calibri"/>
              </ns0:rPr>
              <ns0:t>Ergebnisse: Sensitivität gegenüber Strom-Gain-Fehlern</ns0:t>
            </ns0:r>
          </ns0: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26 / 44</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sp>
        <p:nvSpPr>
          <p:cNvPr id="12" name="V5_Text_12">
            <a:extLst xmlns:a="http://schemas.openxmlformats.org/drawingml/2006/main">
              <a:ext uri="{FF2B5EF4-FFF2-40B4-BE49-F238E27FC236}">
                <a16:creationId xmlns:a16="http://schemas.microsoft.com/office/drawing/2014/main" id="{503C1133-6DF6-4F42-9C4D-8814116395D8}"/>
              </a:ext>
            </a:extLst>
          </p:cNvPr>
          <p:cNvSpPr>
            <a:spLocks xmlns:a="http://schemas.openxmlformats.org/drawingml/2006/main" noGrp="1"/>
          </p:cNvSpPr>
          <p:nvPr/>
        </p:nvSpPr>
        <p:spPr>
          <a:xfrm xmlns:a="http://schemas.openxmlformats.org/drawingml/2006/main">
            <a:off x="6867525" y="1495425"/>
            <a:ext cx="309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DM/HDM: </a:t>
            </a:r>
            <a:r>
              <a:rPr sz="1800" b="0">
                <a:solidFill>
                  <a:srgbClr val="444444"/>
                </a:solidFill>
                <a:latin typeface="Calibri"/>
                <a:ea typeface="Calibri"/>
                <a:cs typeface="Calibri"/>
              </a:rPr>
              <a:t>Stärkster Fehleranstieg durch Integration des skalierten Stroms</a:t>
            </a:r>
          </a:p>
        </p:txBody>
      </p:sp>
      <p:sp>
        <p:nvSpPr>
          <p:cNvPr id="15" name="Structure separator">
            <a:extLst xmlns:a="http://schemas.openxmlformats.org/drawingml/2006/main">
              <a:ext uri="{FF2B5EF4-FFF2-40B4-BE49-F238E27FC236}">
                <a16:creationId xmlns:a16="http://schemas.microsoft.com/office/drawing/2014/main" id="{D9835177-69A9-4BD8-BF77-A67A17A1998A}"/>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16" name="Structure label">
            <a:extLst xmlns:a="http://schemas.openxmlformats.org/drawingml/2006/main">
              <a:ext uri="{FF2B5EF4-FFF2-40B4-BE49-F238E27FC236}">
                <a16:creationId xmlns:a16="http://schemas.microsoft.com/office/drawing/2014/main" id="{6CEFBA8B-BE63-44AE-83F4-FB83489E5AEF}"/>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xmlns:a="http://schemas.openxmlformats.org/drawingml/2006/main">
              <a:ext uri="{FF2B5EF4-FFF2-40B4-BE49-F238E27FC236}">
                <a16:creationId xmlns:a16="http://schemas.microsoft.com/office/drawing/2014/main" id="{36F043BA-409F-4D23-8101-F284566FDC7F}"/>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xmlns:a="http://schemas.openxmlformats.org/drawingml/2006/main">
              <a:ext uri="{FF2B5EF4-FFF2-40B4-BE49-F238E27FC236}">
                <a16:creationId xmlns:a16="http://schemas.microsoft.com/office/drawing/2014/main" id="{E1803453-2C5C-4884-B218-ECCBA534CA3C}"/>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xmlns:a="http://schemas.openxmlformats.org/drawingml/2006/main">
              <a:ext uri="{FF2B5EF4-FFF2-40B4-BE49-F238E27FC236}">
                <a16:creationId xmlns:a16="http://schemas.microsoft.com/office/drawing/2014/main" id="{D6DA0643-2FF1-4276-87A6-362DE6B0C0C3}"/>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xmlns:a="http://schemas.openxmlformats.org/drawingml/2006/main">
              <a:ext uri="{FF2B5EF4-FFF2-40B4-BE49-F238E27FC236}">
                <a16:creationId xmlns:a16="http://schemas.microsoft.com/office/drawing/2014/main" id="{C7494741-4618-4E06-B09B-FB38D11ABDAF}"/>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xmlns:a="http://schemas.openxmlformats.org/drawingml/2006/main">
              <a:ext uri="{FF2B5EF4-FFF2-40B4-BE49-F238E27FC236}">
                <a16:creationId xmlns:a16="http://schemas.microsoft.com/office/drawing/2014/main" id="{51AC6ED9-82AD-4339-B6F5-E04BF1179FB4}"/>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xmlns:a="http://schemas.openxmlformats.org/drawingml/2006/main">
              <a:ext uri="{FF2B5EF4-FFF2-40B4-BE49-F238E27FC236}">
                <a16:creationId xmlns:a16="http://schemas.microsoft.com/office/drawing/2014/main" id="{892353C1-0898-40D0-9944-3E911D7F63E5}"/>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c1c51ce5a9664552"/>
          <a:stretch xmlns:a="http://schemas.openxmlformats.org/drawingml/2006/main"/>
        </p:blipFill>
        <p:spPr>
          <a:xfrm xmlns:a="http://schemas.openxmlformats.org/drawingml/2006/main">
            <a:off x="552450" y="1509378"/>
            <a:ext cx="5943600" cy="3572545"/>
          </a:xfrm>
          <a:prstGeom xmlns:a="http://schemas.openxmlformats.org/drawingml/2006/main" prst="rect">
            <a:avLst/>
          </a:prstGeom>
        </p:spPr>
      </p:pic>
      <p:sp>
        <p:nvSpPr>
          <p:cNvPr id="24" name="v11-text-19-2">
            <a:extLst xmlns:a="http://schemas.openxmlformats.org/drawingml/2006/main">
              <a:ext uri="{FF2B5EF4-FFF2-40B4-BE49-F238E27FC236}">
                <a16:creationId xmlns:a16="http://schemas.microsoft.com/office/drawing/2014/main" id="{B3235DAA-76C3-4AEF-802D-9339BF1D8C5C}"/>
              </a:ext>
            </a:extLst>
          </p:cNvPr>
          <p:cNvSpPr>
            <a:spLocks xmlns:a="http://schemas.openxmlformats.org/drawingml/2006/main" noGrp="1"/>
          </p:cNvSpPr>
          <p:nvPr/>
        </p:nvSpPr>
        <p:spPr>
          <a:xfrm xmlns:a="http://schemas.openxmlformats.org/drawingml/2006/main">
            <a:off x="6867525" y="2724150"/>
            <a:ext cx="309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HECM: </a:t>
            </a:r>
            <a:r>
              <a:rPr sz="1800" b="0">
                <a:solidFill>
                  <a:srgbClr val="444444"/>
                </a:solidFill>
                <a:latin typeface="Calibri"/>
                <a:ea typeface="Calibri"/>
                <a:cs typeface="Calibri"/>
              </a:rPr>
              <a:t>Teilkorrektur des SOC über das Spannungsfeedback</a:t>
            </a:r>
          </a:p>
        </p:txBody>
      </p:sp>
      <p:sp>
        <p:nvSpPr>
          <p:cNvPr id="25" name="v11-text-19-3">
            <a:extLst xmlns:a="http://schemas.openxmlformats.org/drawingml/2006/main">
              <a:ext uri="{FF2B5EF4-FFF2-40B4-BE49-F238E27FC236}">
                <a16:creationId xmlns:a16="http://schemas.microsoft.com/office/drawing/2014/main" id="{14AEFD0E-7131-4A0C-857B-75F39D383A9D}"/>
              </a:ext>
            </a:extLst>
          </p:cNvPr>
          <p:cNvSpPr>
            <a:spLocks xmlns:a="http://schemas.openxmlformats.org/drawingml/2006/main" noGrp="1"/>
          </p:cNvSpPr>
          <p:nvPr/>
        </p:nvSpPr>
        <p:spPr>
          <a:xfrm xmlns:a="http://schemas.openxmlformats.org/drawingml/2006/main">
            <a:off x="6867525" y="3962400"/>
            <a:ext cx="309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DD: </a:t>
            </a:r>
            <a:r>
              <a:rPr sz="1800" b="0">
                <a:solidFill>
                  <a:srgbClr val="444444"/>
                </a:solidFill>
                <a:latin typeface="Calibri"/>
                <a:ea typeface="Calibri"/>
                <a:cs typeface="Calibri"/>
              </a:rPr>
              <a:t>Mehrkanalhistorie als plausible Erklärung der geringeren Sensitivität</a:t>
            </a:r>
          </a:p>
        </p:txBody>
      </p:sp>
      <p:sp>
        <p:nvSpPr>
          <p:cNvPr id="26" name="v11-math-19-4">
            <a:extLst xmlns:a="http://schemas.openxmlformats.org/drawingml/2006/main">
              <a:ext uri="{FF2B5EF4-FFF2-40B4-BE49-F238E27FC236}">
                <a16:creationId xmlns:a16="http://schemas.microsoft.com/office/drawing/2014/main" id="{095CEAF4-74BD-4F17-BC97-B6E61E3CE011}"/>
              </a:ext>
            </a:extLst>
          </p:cNvPr>
          <p:cNvSpPr>
            <a:spLocks xmlns:a="http://schemas.openxmlformats.org/drawingml/2006/main" noGrp="1"/>
          </p:cNvSpPr>
          <p:nvPr/>
        </p:nvSpPr>
        <p:spPr>
          <a:xfrm xmlns:a="http://schemas.openxmlformats.org/drawingml/2006/main">
            <a:off x="1947863" y="5581650"/>
            <a:ext cx="3209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pPr>
            <a14:m xmlns:a14="http://schemas.microsoft.com/office/drawing/2010/main">
              <m:oMathPara xmlns:m="http://schemas.openxmlformats.org/officeDocument/2006/math">
                <m:oMathParaPr>
                  <m:jc m:val="centerGroup"/>
                </m:oMathParaPr>
                <m:oMath>
                  <m:sSub>
                    <m:e>
                      <m:r>
                        <a:rPr xmlns:a="http://schemas.openxmlformats.org/drawingml/2006/main" sz="1875">
                          <a:latin typeface="Cambria Math"/>
                          <a:ea typeface="Cambria Math"/>
                          <a:cs typeface="Cambria Math"/>
                        </a:rPr>
                        <m:t>I</m:t>
                      </m:r>
                    </m:e>
                    <m:sub>
                      <m:r>
                        <a:rPr xmlns:a="http://schemas.openxmlformats.org/drawingml/2006/main" sz="1313">
                          <a:latin typeface="Cambria Math"/>
                          <a:ea typeface="Cambria Math"/>
                          <a:cs typeface="Cambria Math"/>
                        </a:rPr>
                        <m:t>m</m:t>
                      </m:r>
                    </m:sub>
                  </m:sSub>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1</m:t>
                  </m:r>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g</m:t>
                  </m:r>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I</m:t>
                  </m:r>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Δ</m:t>
                  </m:r>
                  <m:r>
                    <a:rPr xmlns:a="http://schemas.openxmlformats.org/drawingml/2006/main" sz="1875">
                      <a:latin typeface="Cambria Math"/>
                      <a:ea typeface="Cambria Math"/>
                      <a:cs typeface="Cambria Math"/>
                    </a:rPr>
                    <m:t>S</m:t>
                  </m:r>
                  <m:r>
                    <a:rPr xmlns:a="http://schemas.openxmlformats.org/drawingml/2006/main" sz="1875">
                      <a:latin typeface="Cambria Math"/>
                      <a:ea typeface="Cambria Math"/>
                      <a:cs typeface="Cambria Math"/>
                    </a:rPr>
                    <m:t>O</m:t>
                  </m:r>
                  <m:r>
                    <a:rPr xmlns:a="http://schemas.openxmlformats.org/drawingml/2006/main" sz="1875">
                      <a:latin typeface="Cambria Math"/>
                      <a:ea typeface="Cambria Math"/>
                      <a:cs typeface="Cambria Math"/>
                    </a:rPr>
                    <m:t>C</m:t>
                  </m:r>
                  <m:r>
                    <a:rPr xmlns:a="http://schemas.openxmlformats.org/drawingml/2006/main" sz="1875">
                      <a:latin typeface="Cambria Math"/>
                      <a:ea typeface="Cambria Math"/>
                      <a:cs typeface="Cambria Math"/>
                    </a:rPr>
                    <m:t>≈</m:t>
                  </m:r>
                  <m:f>
                    <m:num>
                      <m:r>
                        <a:rPr xmlns:a="http://schemas.openxmlformats.org/drawingml/2006/main" sz="1875">
                          <a:latin typeface="Cambria Math"/>
                          <a:ea typeface="Cambria Math"/>
                          <a:cs typeface="Cambria Math"/>
                        </a:rPr>
                        <m:t>g</m:t>
                      </m:r>
                    </m:num>
                    <m:den>
                      <m:r>
                        <a:rPr xmlns:a="http://schemas.openxmlformats.org/drawingml/2006/main" sz="1875">
                          <a:latin typeface="Cambria Math"/>
                          <a:ea typeface="Cambria Math"/>
                          <a:cs typeface="Cambria Math"/>
                        </a:rPr>
                        <m:t>C</m:t>
                      </m:r>
                    </m:den>
                  </m:f>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I</m:t>
                  </m:r>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t</m:t>
                  </m:r>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d</m:t>
                  </m:r>
                  <m:r>
                    <a:rPr xmlns:a="http://schemas.openxmlformats.org/drawingml/2006/main" sz="1875">
                      <a:latin typeface="Cambria Math"/>
                      <a:ea typeface="Cambria Math"/>
                      <a:cs typeface="Cambria Math"/>
                    </a:rPr>
                    <m:t>t</m:t>
                  </m:r>
                </m:oMath>
              </m:oMathPara>
            </a14:m>
          </a:p>
        </p:txBody>
      </p:sp>
      <p:sp>
        <p:nvSpPr>
          <p:cNvPr id="28" name="v12-text-19-5">
            <a:extLst xmlns:a="http://schemas.openxmlformats.org/drawingml/2006/main">
              <a:ext uri="{FF2B5EF4-FFF2-40B4-BE49-F238E27FC236}">
                <a16:creationId xmlns:a16="http://schemas.microsoft.com/office/drawing/2014/main" id="{D59571FE-9A09-4F97-B0A2-82E53ABDDC71}"/>
              </a:ext>
            </a:extLst>
          </p:cNvPr>
          <p:cNvSpPr>
            <a:spLocks xmlns:a="http://schemas.openxmlformats.org/drawingml/2006/main" noGrp="1"/>
          </p:cNvSpPr>
          <p:nvPr/>
        </p:nvSpPr>
        <p:spPr>
          <a:xfrm xmlns:a="http://schemas.openxmlformats.org/drawingml/2006/main">
            <a:off x="552450" y="5238750"/>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1">
                <a:solidFill>
                  <a:srgbClr val="D00020"/>
                </a:solidFill>
                <a:latin typeface="Calibri"/>
                <a:ea typeface="Calibri"/>
                <a:cs typeface="Calibri"/>
              </a:rPr>
              <a:t>DD mit geringstem MAE-Anstieg im Sechs-Zell-Vergleich</a:t>
            </a:r>
          </a:p>
        </p:txBody>
      </p:sp>
    </p:spTree>
    <p:extLst>
      <p:ext uri="{BB962C8B-B14F-4D97-AF65-F5344CB8AC3E}">
        <p14:creationId xmlns:p14="http://schemas.microsoft.com/office/powerpoint/2010/main" val="1283791891"/>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wrap="none" lIns="0" tIns="0" rIns="0" bIns="0" anchor="t">
            <a:noAutofit/>
          </a:bodyPr>
          <a:lstStyle xmlns:a="http://schemas.openxmlformats.org/drawingml/2006/main"/>
          <ns0:p xmlns:ns0="http://schemas.openxmlformats.org/drawingml/2006/main">
            <ns0:pPr algn="l">
              <ns0:lnSpc>
                <ns0:spcPct val="106000"/>
              </ns0:lnSpc>
              <ns0:buNone/>
              <ns0:defRPr sz="2400" b="0">
                <ns0:solidFill>
                  <ns0:srgbClr val="CC001C"/>
                </ns0:solidFill>
                <ns0:latin typeface="Calibri"/>
                <ns0:ea typeface="Calibri"/>
                <ns0:cs typeface="Calibri"/>
              </ns0:defRPr>
            </ns0:pPr>
            <ns0:r>
              <ns0:rPr sz="2400" b="0">
                <ns0:solidFill>
                  <ns0:srgbClr val="CC001C"/>
                </ns0:solidFill>
                <ns0:latin typeface="Calibri"/>
                <ns0:ea typeface="Calibri"/>
                <ns0:cs typeface="Calibri"/>
              </ns0:rPr>
              <ns0:t>Ergebnisse: Recovery nach SOC-Initialisierungsfehlern</ns0:t>
            </ns0:r>
          </ns0: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27 / 44</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sp>
        <p:nvSpPr>
          <p:cNvPr id="12" name="V5_Text_12">
            <a:extLst xmlns:a="http://schemas.openxmlformats.org/drawingml/2006/main">
              <a:ext uri="{FF2B5EF4-FFF2-40B4-BE49-F238E27FC236}">
                <a16:creationId xmlns:a16="http://schemas.microsoft.com/office/drawing/2014/main" id="{389DDC72-81AD-417A-A231-9CA62A6041A9}"/>
              </a:ext>
            </a:extLst>
          </p:cNvPr>
          <p:cNvSpPr>
            <a:spLocks xmlns:a="http://schemas.openxmlformats.org/drawingml/2006/main" noGrp="1"/>
          </p:cNvSpPr>
          <p:nvPr/>
        </p:nvSpPr>
        <p:spPr>
          <a:xfrm xmlns:a="http://schemas.openxmlformats.org/drawingml/2006/main">
            <a:off x="6867525" y="1495425"/>
            <a:ext cx="309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DM/HDM: </a:t>
            </a:r>
            <a:r>
              <a:rPr sz="1800" b="0">
                <a:solidFill>
                  <a:srgbClr val="444444"/>
                </a:solidFill>
                <a:latin typeface="Calibri"/>
                <a:ea typeface="Calibri"/>
                <a:cs typeface="Calibri"/>
              </a:rPr>
              <a:t>Meist keine Recovery in 24 h, fehlende kontinuierliche Korrektur</a:t>
            </a:r>
          </a:p>
        </p:txBody>
      </p:sp>
      <p:sp>
        <p:nvSpPr>
          <p:cNvPr id="13" name="V5_Text_13">
            <a:extLst xmlns:a="http://schemas.openxmlformats.org/drawingml/2006/main">
              <a:ext uri="{FF2B5EF4-FFF2-40B4-BE49-F238E27FC236}">
                <a16:creationId xmlns:a16="http://schemas.microsoft.com/office/drawing/2014/main" id="{6DA17992-232B-42D1-8AC8-A3C90FEE316D}"/>
              </a:ext>
            </a:extLst>
          </p:cNvPr>
          <p:cNvSpPr>
            <a:spLocks xmlns:a="http://schemas.openxmlformats.org/drawingml/2006/main" noGrp="1"/>
          </p:cNvSpPr>
          <p:nvPr/>
        </p:nvSpPr>
        <p:spPr>
          <a:xfrm xmlns:a="http://schemas.openxmlformats.org/drawingml/2006/main">
            <a:off x="6867525" y="2724150"/>
            <a:ext cx="309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HECM: </a:t>
            </a:r>
            <a:r>
              <a:rPr sz="1800" b="0">
                <a:solidFill>
                  <a:srgbClr val="444444"/>
                </a:solidFill>
                <a:latin typeface="Calibri"/>
                <a:ea typeface="Calibri"/>
                <a:cs typeface="Calibri"/>
              </a:rPr>
              <a:t>Persistente Re-Ankerung des SOC durch Spannungsfeedback</a:t>
            </a:r>
          </a:p>
        </p:txBody>
      </p:sp>
      <p:sp>
        <p:nvSpPr>
          <p:cNvPr id="17" name="Structure separator">
            <a:extLst xmlns:a="http://schemas.openxmlformats.org/drawingml/2006/main">
              <a:ext uri="{FF2B5EF4-FFF2-40B4-BE49-F238E27FC236}">
                <a16:creationId xmlns:a16="http://schemas.microsoft.com/office/drawing/2014/main" id="{A36302A7-A169-4235-A16D-7A2B1EB3CEC9}"/>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18" name="Structure label">
            <a:extLst xmlns:a="http://schemas.openxmlformats.org/drawingml/2006/main">
              <a:ext uri="{FF2B5EF4-FFF2-40B4-BE49-F238E27FC236}">
                <a16:creationId xmlns:a16="http://schemas.microsoft.com/office/drawing/2014/main" id="{62E1006D-616E-46AE-847F-8ABEA570558A}"/>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xmlns:a="http://schemas.openxmlformats.org/drawingml/2006/main">
              <a:ext uri="{FF2B5EF4-FFF2-40B4-BE49-F238E27FC236}">
                <a16:creationId xmlns:a16="http://schemas.microsoft.com/office/drawing/2014/main" id="{AD504DFF-2DA5-4F3C-A3FF-EF79158E89B1}"/>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xmlns:a="http://schemas.openxmlformats.org/drawingml/2006/main">
              <a:ext uri="{FF2B5EF4-FFF2-40B4-BE49-F238E27FC236}">
                <a16:creationId xmlns:a16="http://schemas.microsoft.com/office/drawing/2014/main" id="{B5E3A8F8-9FFB-44CE-9335-10E0EF5C80BA}"/>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xmlns:a="http://schemas.openxmlformats.org/drawingml/2006/main">
              <a:ext uri="{FF2B5EF4-FFF2-40B4-BE49-F238E27FC236}">
                <a16:creationId xmlns:a16="http://schemas.microsoft.com/office/drawing/2014/main" id="{9A7BD3F5-FC5E-44D4-9595-8267A8AE84AC}"/>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xmlns:a="http://schemas.openxmlformats.org/drawingml/2006/main">
              <a:ext uri="{FF2B5EF4-FFF2-40B4-BE49-F238E27FC236}">
                <a16:creationId xmlns:a16="http://schemas.microsoft.com/office/drawing/2014/main" id="{7D15DB05-B310-4C61-967C-2D3CF858A527}"/>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xmlns:a="http://schemas.openxmlformats.org/drawingml/2006/main">
              <a:ext uri="{FF2B5EF4-FFF2-40B4-BE49-F238E27FC236}">
                <a16:creationId xmlns:a16="http://schemas.microsoft.com/office/drawing/2014/main" id="{CB17D824-50EF-4DF9-89AB-2192EE86BC2F}"/>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xmlns:a="http://schemas.openxmlformats.org/drawingml/2006/main">
              <a:ext uri="{FF2B5EF4-FFF2-40B4-BE49-F238E27FC236}">
                <a16:creationId xmlns:a16="http://schemas.microsoft.com/office/drawing/2014/main" id="{CDC66E98-C0F2-45E1-8A5B-6D57401A23BC}"/>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3e9cc3e503a243e4"/>
          <a:stretch xmlns:a="http://schemas.openxmlformats.org/drawingml/2006/main"/>
        </p:blipFill>
        <p:spPr>
          <a:xfrm xmlns:a="http://schemas.openxmlformats.org/drawingml/2006/main">
            <a:off x="623685" y="1428750"/>
            <a:ext cx="5810655" cy="3733800"/>
          </a:xfrm>
          <a:prstGeom xmlns:a="http://schemas.openxmlformats.org/drawingml/2006/main" prst="rect">
            <a:avLst/>
          </a:prstGeom>
        </p:spPr>
      </p:pic>
      <p:sp>
        <p:nvSpPr>
          <p:cNvPr id="26" name="v11-text-20-3">
            <a:extLst xmlns:a="http://schemas.openxmlformats.org/drawingml/2006/main">
              <a:ext uri="{FF2B5EF4-FFF2-40B4-BE49-F238E27FC236}">
                <a16:creationId xmlns:a16="http://schemas.microsoft.com/office/drawing/2014/main" id="{9EA3E412-2BC3-40BD-9FD6-FA212B79D8D3}"/>
              </a:ext>
            </a:extLst>
          </p:cNvPr>
          <p:cNvSpPr>
            <a:spLocks xmlns:a="http://schemas.openxmlformats.org/drawingml/2006/main" noGrp="1"/>
          </p:cNvSpPr>
          <p:nvPr/>
        </p:nvSpPr>
        <p:spPr>
          <a:xfrm xmlns:a="http://schemas.openxmlformats.org/drawingml/2006/main">
            <a:off x="6867525" y="3962400"/>
            <a:ext cx="309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DD: </a:t>
            </a:r>
            <a:r>
              <a:rPr sz="1800" b="0">
                <a:solidFill>
                  <a:srgbClr val="444444"/>
                </a:solidFill>
                <a:latin typeface="Calibri"/>
                <a:ea typeface="Calibri"/>
                <a:cs typeface="Calibri"/>
              </a:rPr>
              <a:t>Rückfälle durch das Zusammenspiel von Qc-Offset und rekurrentem Kontext</a:t>
            </a:r>
          </a:p>
        </p:txBody>
      </p:sp>
      <p:sp>
        <p:nvSpPr>
          <p:cNvPr id="27" name="v11-math-20-4">
            <a:extLst xmlns:a="http://schemas.openxmlformats.org/drawingml/2006/main">
              <a:ext uri="{FF2B5EF4-FFF2-40B4-BE49-F238E27FC236}">
                <a16:creationId xmlns:a16="http://schemas.microsoft.com/office/drawing/2014/main" id="{DC9AB9F1-D89E-4892-BD51-408561D2C68D}"/>
              </a:ext>
            </a:extLst>
          </p:cNvPr>
          <p:cNvSpPr>
            <a:spLocks xmlns:a="http://schemas.openxmlformats.org/drawingml/2006/main" noGrp="1"/>
          </p:cNvSpPr>
          <p:nvPr/>
        </p:nvSpPr>
        <p:spPr>
          <a:xfrm xmlns:a="http://schemas.openxmlformats.org/drawingml/2006/main">
            <a:off x="2200275" y="5619750"/>
            <a:ext cx="26574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pPr>
            <a14:m xmlns:a14="http://schemas.microsoft.com/office/drawing/2010/main">
              <m:oMathPara xmlns:m="http://schemas.openxmlformats.org/officeDocument/2006/math">
                <m:oMathParaPr>
                  <m:jc m:val="centerGroup"/>
                </m:oMathParaPr>
                <m:oMath>
                  <m:r>
                    <a:rPr xmlns:a="http://schemas.openxmlformats.org/drawingml/2006/main" sz="1875">
                      <a:latin typeface="Cambria Math"/>
                      <a:ea typeface="Cambria Math"/>
                      <a:cs typeface="Cambria Math"/>
                    </a:rPr>
                    <m:t>d</m:t>
                  </m:r>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t</m:t>
                  </m:r>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m:t>
                  </m:r>
                  <m:sSub>
                    <m:e>
                      <m:acc>
                        <m:accPr>
                          <m:chr m:val="^"/>
                        </m:accPr>
                        <m:e>
                          <m:r>
                            <a:rPr xmlns:a="http://schemas.openxmlformats.org/drawingml/2006/main" sz="1875">
                              <a:latin typeface="Cambria Math"/>
                              <a:ea typeface="Cambria Math"/>
                              <a:cs typeface="Cambria Math"/>
                            </a:rPr>
                            <m:t>s</m:t>
                          </m:r>
                        </m:e>
                      </m:acc>
                    </m:e>
                    <m:sub>
                      <m:r>
                        <a:rPr xmlns:a="http://schemas.openxmlformats.org/drawingml/2006/main" sz="1313">
                          <a:latin typeface="Cambria Math"/>
                          <a:ea typeface="Cambria Math"/>
                          <a:cs typeface="Cambria Math"/>
                        </a:rPr>
                        <m:t>g</m:t>
                      </m:r>
                      <m:r>
                        <a:rPr xmlns:a="http://schemas.openxmlformats.org/drawingml/2006/main" sz="1313">
                          <a:latin typeface="Cambria Math"/>
                          <a:ea typeface="Cambria Math"/>
                          <a:cs typeface="Cambria Math"/>
                        </a:rPr>
                        <m:t>e</m:t>
                      </m:r>
                      <m:r>
                        <a:rPr xmlns:a="http://schemas.openxmlformats.org/drawingml/2006/main" sz="1313">
                          <a:latin typeface="Cambria Math"/>
                          <a:ea typeface="Cambria Math"/>
                          <a:cs typeface="Cambria Math"/>
                        </a:rPr>
                        <m:t>s</m:t>
                      </m:r>
                      <m:r>
                        <a:rPr xmlns:a="http://schemas.openxmlformats.org/drawingml/2006/main" sz="1313">
                          <a:latin typeface="Cambria Math"/>
                          <a:ea typeface="Cambria Math"/>
                          <a:cs typeface="Cambria Math"/>
                        </a:rPr>
                        <m:t>t</m:t>
                      </m:r>
                      <m:r>
                        <a:rPr xmlns:a="http://schemas.openxmlformats.org/drawingml/2006/main" sz="1313">
                          <a:latin typeface="Cambria Math"/>
                          <a:ea typeface="Cambria Math"/>
                          <a:cs typeface="Cambria Math"/>
                        </a:rPr>
                        <m:t>ö</m:t>
                      </m:r>
                      <m:r>
                        <a:rPr xmlns:a="http://schemas.openxmlformats.org/drawingml/2006/main" sz="1313">
                          <a:latin typeface="Cambria Math"/>
                          <a:ea typeface="Cambria Math"/>
                          <a:cs typeface="Cambria Math"/>
                        </a:rPr>
                        <m:t>r</m:t>
                      </m:r>
                      <m:r>
                        <a:rPr xmlns:a="http://schemas.openxmlformats.org/drawingml/2006/main" sz="1313">
                          <a:latin typeface="Cambria Math"/>
                          <a:ea typeface="Cambria Math"/>
                          <a:cs typeface="Cambria Math"/>
                        </a:rPr>
                        <m:t>t</m:t>
                      </m:r>
                    </m:sub>
                  </m:sSub>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t</m:t>
                  </m:r>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m:t>
                  </m:r>
                  <m:sSub>
                    <m:e>
                      <m:acc>
                        <m:accPr>
                          <m:chr m:val="^"/>
                        </m:accPr>
                        <m:e>
                          <m:r>
                            <a:rPr xmlns:a="http://schemas.openxmlformats.org/drawingml/2006/main" sz="1875">
                              <a:latin typeface="Cambria Math"/>
                              <a:ea typeface="Cambria Math"/>
                              <a:cs typeface="Cambria Math"/>
                            </a:rPr>
                            <m:t>s</m:t>
                          </m:r>
                        </m:e>
                      </m:acc>
                    </m:e>
                    <m:sub>
                      <m:r>
                        <a:rPr xmlns:a="http://schemas.openxmlformats.org/drawingml/2006/main" sz="1313">
                          <a:latin typeface="Cambria Math"/>
                          <a:ea typeface="Cambria Math"/>
                          <a:cs typeface="Cambria Math"/>
                        </a:rPr>
                        <m:t>k</m:t>
                      </m:r>
                      <m:r>
                        <a:rPr xmlns:a="http://schemas.openxmlformats.org/drawingml/2006/main" sz="1313">
                          <a:latin typeface="Cambria Math"/>
                          <a:ea typeface="Cambria Math"/>
                          <a:cs typeface="Cambria Math"/>
                        </a:rPr>
                        <m:t>o</m:t>
                      </m:r>
                      <m:r>
                        <a:rPr xmlns:a="http://schemas.openxmlformats.org/drawingml/2006/main" sz="1313">
                          <a:latin typeface="Cambria Math"/>
                          <a:ea typeface="Cambria Math"/>
                          <a:cs typeface="Cambria Math"/>
                        </a:rPr>
                        <m:t>r</m:t>
                      </m:r>
                      <m:r>
                        <a:rPr xmlns:a="http://schemas.openxmlformats.org/drawingml/2006/main" sz="1313">
                          <a:latin typeface="Cambria Math"/>
                          <a:ea typeface="Cambria Math"/>
                          <a:cs typeface="Cambria Math"/>
                        </a:rPr>
                        <m:t>r</m:t>
                      </m:r>
                      <m:r>
                        <a:rPr xmlns:a="http://schemas.openxmlformats.org/drawingml/2006/main" sz="1313">
                          <a:latin typeface="Cambria Math"/>
                          <a:ea typeface="Cambria Math"/>
                          <a:cs typeface="Cambria Math"/>
                        </a:rPr>
                        <m:t>e</m:t>
                      </m:r>
                      <m:r>
                        <a:rPr xmlns:a="http://schemas.openxmlformats.org/drawingml/2006/main" sz="1313">
                          <a:latin typeface="Cambria Math"/>
                          <a:ea typeface="Cambria Math"/>
                          <a:cs typeface="Cambria Math"/>
                        </a:rPr>
                        <m:t>k</m:t>
                      </m:r>
                      <m:r>
                        <a:rPr xmlns:a="http://schemas.openxmlformats.org/drawingml/2006/main" sz="1313">
                          <a:latin typeface="Cambria Math"/>
                          <a:ea typeface="Cambria Math"/>
                          <a:cs typeface="Cambria Math"/>
                        </a:rPr>
                        <m:t>t</m:t>
                      </m:r>
                    </m:sub>
                  </m:sSub>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t</m:t>
                  </m:r>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m:t>
                  </m:r>
                </m:oMath>
              </m:oMathPara>
            </a14:m>
          </a:p>
        </p:txBody>
      </p:sp>
      <p:sp>
        <p:nvSpPr>
          <p:cNvPr id="29" name="v12-text-20-5">
            <a:extLst xmlns:a="http://schemas.openxmlformats.org/drawingml/2006/main">
              <a:ext uri="{FF2B5EF4-FFF2-40B4-BE49-F238E27FC236}">
                <a16:creationId xmlns:a16="http://schemas.microsoft.com/office/drawing/2014/main" id="{A2222EE8-BBCA-4AA6-837B-7007A9CB1D80}"/>
              </a:ext>
            </a:extLst>
          </p:cNvPr>
          <p:cNvSpPr>
            <a:spLocks xmlns:a="http://schemas.openxmlformats.org/drawingml/2006/main" noGrp="1"/>
          </p:cNvSpPr>
          <p:nvPr/>
        </p:nvSpPr>
        <p:spPr>
          <a:xfrm xmlns:a="http://schemas.openxmlformats.org/drawingml/2006/main">
            <a:off x="552450" y="5238750"/>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1">
                <a:solidFill>
                  <a:srgbClr val="D00020"/>
                </a:solidFill>
                <a:latin typeface="Calibri"/>
                <a:ea typeface="Calibri"/>
                <a:cs typeface="Calibri"/>
              </a:rPr>
              <a:t>HECM mit schnellster persistenter Recovery im untersuchten Protokoll</a:t>
            </a:r>
          </a:p>
        </p:txBody>
      </p:sp>
    </p:spTree>
    <p:extLst>
      <p:ext uri="{BB962C8B-B14F-4D97-AF65-F5344CB8AC3E}">
        <p14:creationId xmlns:p14="http://schemas.microsoft.com/office/powerpoint/2010/main" val="3404311784"/>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wrap="none" lIns="0" tIns="0" rIns="0" bIns="0" anchor="t">
            <a:noAutofit/>
          </a:bodyPr>
          <a:lstStyle xmlns:a="http://schemas.openxmlformats.org/drawingml/2006/main"/>
          <ns0:p xmlns:ns0="http://schemas.openxmlformats.org/drawingml/2006/main">
            <ns0:pPr algn="l">
              <ns0:lnSpc>
                <ns0:spcPct val="106000"/>
              </ns0:lnSpc>
              <ns0:buNone/>
              <ns0:defRPr sz="2400" b="0">
                <ns0:solidFill>
                  <ns0:srgbClr val="CC001C"/>
                </ns0:solidFill>
                <ns0:latin typeface="Calibri"/>
                <ns0:ea typeface="Calibri"/>
                <ns0:cs typeface="Calibri"/>
              </ns0:defRPr>
            </ns0:pPr>
            <ns0:r>
              <ns0:rPr sz="2400" b="0">
                <ns0:solidFill>
                  <ns0:srgbClr val="CC001C"/>
                </ns0:solidFill>
                <ns0:latin typeface="Calibri"/>
                <ns0:ea typeface="Calibri"/>
                <ns0:cs typeface="Calibri"/>
              </ns0:rPr>
              <ns0:t>Ergebnisse: Lokale SOC-Reaktion auf Spannungsspitzen</ns0:t>
            </ns0:r>
          </ns0: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28 / 44</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sp>
        <p:nvSpPr>
          <p:cNvPr id="12" name="V5_Text_12">
            <a:extLst xmlns:a="http://schemas.openxmlformats.org/drawingml/2006/main">
              <a:ext uri="{FF2B5EF4-FFF2-40B4-BE49-F238E27FC236}">
                <a16:creationId xmlns:a16="http://schemas.microsoft.com/office/drawing/2014/main" id="{EE05F44A-9D62-489C-A137-48E088E81C5D}"/>
              </a:ext>
            </a:extLst>
          </p:cNvPr>
          <p:cNvSpPr>
            <a:spLocks xmlns:a="http://schemas.openxmlformats.org/drawingml/2006/main" noGrp="1"/>
          </p:cNvSpPr>
          <p:nvPr/>
        </p:nvSpPr>
        <p:spPr>
          <a:xfrm xmlns:a="http://schemas.openxmlformats.org/drawingml/2006/main">
            <a:off x="6867525" y="1495425"/>
            <a:ext cx="309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DD: </a:t>
            </a:r>
            <a:r>
              <a:rPr sz="1800" b="0">
                <a:solidFill>
                  <a:srgbClr val="444444"/>
                </a:solidFill>
                <a:latin typeface="Calibri"/>
                <a:ea typeface="Calibri"/>
                <a:cs typeface="Calibri"/>
              </a:rPr>
              <a:t>Deutlicher SOC-Ausschlag am Spike mit raschem Abklingen</a:t>
            </a:r>
          </a:p>
        </p:txBody>
      </p:sp>
      <p:sp>
        <p:nvSpPr>
          <p:cNvPr id="15" name="Structure separator">
            <a:extLst xmlns:a="http://schemas.openxmlformats.org/drawingml/2006/main">
              <a:ext uri="{FF2B5EF4-FFF2-40B4-BE49-F238E27FC236}">
                <a16:creationId xmlns:a16="http://schemas.microsoft.com/office/drawing/2014/main" id="{FFF18D9D-CE58-4550-97EA-730CDC29B45C}"/>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16" name="Structure label">
            <a:extLst xmlns:a="http://schemas.openxmlformats.org/drawingml/2006/main">
              <a:ext uri="{FF2B5EF4-FFF2-40B4-BE49-F238E27FC236}">
                <a16:creationId xmlns:a16="http://schemas.microsoft.com/office/drawing/2014/main" id="{431B35A4-9ED9-486D-BED4-E9F68DD73B5D}"/>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xmlns:a="http://schemas.openxmlformats.org/drawingml/2006/main">
              <a:ext uri="{FF2B5EF4-FFF2-40B4-BE49-F238E27FC236}">
                <a16:creationId xmlns:a16="http://schemas.microsoft.com/office/drawing/2014/main" id="{3123BDD3-2ACF-444F-B1FB-6AFD29D08B8C}"/>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xmlns:a="http://schemas.openxmlformats.org/drawingml/2006/main">
              <a:ext uri="{FF2B5EF4-FFF2-40B4-BE49-F238E27FC236}">
                <a16:creationId xmlns:a16="http://schemas.microsoft.com/office/drawing/2014/main" id="{2CEAD52B-DB79-48E7-9FD5-7D73EB042CF4}"/>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xmlns:a="http://schemas.openxmlformats.org/drawingml/2006/main">
              <a:ext uri="{FF2B5EF4-FFF2-40B4-BE49-F238E27FC236}">
                <a16:creationId xmlns:a16="http://schemas.microsoft.com/office/drawing/2014/main" id="{2477918D-F64B-44F2-8C7A-8DB07B5F0DAB}"/>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xmlns:a="http://schemas.openxmlformats.org/drawingml/2006/main">
              <a:ext uri="{FF2B5EF4-FFF2-40B4-BE49-F238E27FC236}">
                <a16:creationId xmlns:a16="http://schemas.microsoft.com/office/drawing/2014/main" id="{D1409E9F-2175-4A6A-A5D3-9D195B113798}"/>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xmlns:a="http://schemas.openxmlformats.org/drawingml/2006/main">
              <a:ext uri="{FF2B5EF4-FFF2-40B4-BE49-F238E27FC236}">
                <a16:creationId xmlns:a16="http://schemas.microsoft.com/office/drawing/2014/main" id="{FE0598B8-D619-46C3-A93E-7C21A4DC13FA}"/>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xmlns:a="http://schemas.openxmlformats.org/drawingml/2006/main">
              <a:ext uri="{FF2B5EF4-FFF2-40B4-BE49-F238E27FC236}">
                <a16:creationId xmlns:a16="http://schemas.microsoft.com/office/drawing/2014/main" id="{B464D01D-2EDF-4AFB-B87F-B515FDC83587}"/>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fde14a23e29f479f"/>
          <a:stretch xmlns:a="http://schemas.openxmlformats.org/drawingml/2006/main"/>
        </p:blipFill>
        <p:spPr>
          <a:xfrm xmlns:a="http://schemas.openxmlformats.org/drawingml/2006/main">
            <a:off x="552450" y="1660203"/>
            <a:ext cx="5953125" cy="3851919"/>
          </a:xfrm>
          <a:prstGeom xmlns:a="http://schemas.openxmlformats.org/drawingml/2006/main" prst="rect">
            <a:avLst/>
          </a:prstGeom>
        </p:spPr>
      </p:pic>
      <p:sp>
        <p:nvSpPr>
          <p:cNvPr id="24" name="v11-text-21-2">
            <a:extLst xmlns:a="http://schemas.openxmlformats.org/drawingml/2006/main">
              <a:ext uri="{FF2B5EF4-FFF2-40B4-BE49-F238E27FC236}">
                <a16:creationId xmlns:a16="http://schemas.microsoft.com/office/drawing/2014/main" id="{B3EE29CC-320D-43A6-A910-DAFC9EC6EE34}"/>
              </a:ext>
            </a:extLst>
          </p:cNvPr>
          <p:cNvSpPr>
            <a:spLocks xmlns:a="http://schemas.openxmlformats.org/drawingml/2006/main" noGrp="1"/>
          </p:cNvSpPr>
          <p:nvPr/>
        </p:nvSpPr>
        <p:spPr>
          <a:xfrm xmlns:a="http://schemas.openxmlformats.org/drawingml/2006/main">
            <a:off x="6867525" y="2686050"/>
            <a:ext cx="3095625"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Spannungsfeatures: </a:t>
            </a:r>
            <a:r>
              <a:rPr sz="1800" b="0">
                <a:solidFill>
                  <a:srgbClr val="444444"/>
                </a:solidFill>
                <a:latin typeface="Calibri"/>
                <a:ea typeface="Calibri"/>
                <a:cs typeface="Calibri"/>
              </a:rPr>
              <a:t>Störung von U und dU/dt als mögliche Ursache der DD-Reaktion</a:t>
            </a:r>
          </a:p>
        </p:txBody>
      </p:sp>
      <p:sp>
        <p:nvSpPr>
          <p:cNvPr id="25" name="v11-text-21-3">
            <a:extLst xmlns:a="http://schemas.openxmlformats.org/drawingml/2006/main">
              <a:ext uri="{FF2B5EF4-FFF2-40B4-BE49-F238E27FC236}">
                <a16:creationId xmlns:a16="http://schemas.microsoft.com/office/drawing/2014/main" id="{22A339E4-E526-403C-B8F5-918B4BB24222}"/>
              </a:ext>
            </a:extLst>
          </p:cNvPr>
          <p:cNvSpPr>
            <a:spLocks xmlns:a="http://schemas.openxmlformats.org/drawingml/2006/main" noGrp="1"/>
          </p:cNvSpPr>
          <p:nvPr/>
        </p:nvSpPr>
        <p:spPr>
          <a:xfrm xmlns:a="http://schemas.openxmlformats.org/drawingml/2006/main">
            <a:off x="6867525" y="4219575"/>
            <a:ext cx="309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24-h-MAE: </a:t>
            </a:r>
            <a:r>
              <a:rPr sz="1800" b="0">
                <a:solidFill>
                  <a:srgbClr val="444444"/>
                </a:solidFill>
                <a:latin typeface="Calibri"/>
                <a:ea typeface="Calibri"/>
                <a:cs typeface="Calibri"/>
              </a:rPr>
              <a:t>Kaum Änderung durch die kurze Dauer der Fehlerpeaks</a:t>
            </a:r>
          </a:p>
        </p:txBody>
      </p:sp>
      <p:sp>
        <p:nvSpPr>
          <p:cNvPr id="3003" name="IR_spike_takeaway">
            <a:extLst xmlns:a="http://schemas.openxmlformats.org/drawingml/2006/main">
              <a:ext uri="{FF2B5EF4-FFF2-40B4-BE49-F238E27FC236}">
                <a16:creationId xmlns:a16="http://schemas.microsoft.com/office/drawing/2014/main" id="{DB090666-DCB8-49A9-A8B5-3DA42A99F458}"/>
              </a:ext>
            </a:extLst>
          </p:cNvPr>
          <p:cNvSpPr>
            <a:spLocks xmlns:a="http://schemas.openxmlformats.org/drawingml/2006/main" noGrp="1"/>
          </p:cNvSpPr>
          <p:nvPr/>
        </p:nvSpPr>
        <p:spPr>
          <a:xfrm xmlns:a="http://schemas.openxmlformats.org/drawingml/2006/main">
            <a:off x="552450" y="5629275"/>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1">
                <a:solidFill>
                  <a:srgbClr val="D00020"/>
                </a:solidFill>
                <a:latin typeface="Calibri"/>
                <a:ea typeface="Calibri"/>
                <a:cs typeface="Calibri"/>
              </a:rPr>
              <a:t>DD besonders empfindlich gegenüber lokalen Spannungsspitzen</a:t>
            </a:r>
          </a:p>
        </p:txBody>
      </p:sp>
    </p:spTree>
    <p:extLst>
      <p:ext uri="{BB962C8B-B14F-4D97-AF65-F5344CB8AC3E}">
        <p14:creationId xmlns:p14="http://schemas.microsoft.com/office/powerpoint/2010/main" val="3205167104"/>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wrap="none" lIns="0" tIns="0" rIns="0" bIns="0" anchor="t">
            <a:noAutofit/>
          </a:bodyPr>
          <a:lstStyle xmlns:a="http://schemas.openxmlformats.org/drawingml/2006/main"/>
          <ns0:p xmlns:ns0="http://schemas.openxmlformats.org/drawingml/2006/main">
            <ns0:pPr algn="l">
              <ns0:lnSpc>
                <ns0:spcPct val="106000"/>
              </ns0:lnSpc>
              <ns0:buNone/>
              <ns0:defRPr sz="2400" b="0">
                <ns0:solidFill>
                  <ns0:srgbClr val="CC001C"/>
                </ns0:solidFill>
                <ns0:latin typeface="Calibri"/>
                <ns0:ea typeface="Calibri"/>
                <ns0:cs typeface="Calibri"/>
              </ns0:defRPr>
            </ns0:pPr>
            <ns0:r>
              <ns0:rPr sz="2400" b="0">
                <ns0:solidFill>
                  <ns0:srgbClr val="CC001C"/>
                </ns0:solidFill>
                <ns0:latin typeface="Calibri"/>
                <ns0:ea typeface="Calibri"/>
                <ns0:cs typeface="Calibri"/>
              </ns0:rPr>
              <ns0:t>Ergebnisse: Genauigkeit, Robustheit und Recovery</ns0:t>
            </ns0:r>
            <ns0:endParaRPr/>
          </ns0: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29 / 44</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sp>
        <p:nvSpPr>
          <p:cNvPr id="2" name="V6_Text_2">
            <a:extLst xmlns:a="http://schemas.openxmlformats.org/drawingml/2006/main">
              <a:ext uri="{FF2B5EF4-FFF2-40B4-BE49-F238E27FC236}">
                <a16:creationId xmlns:a16="http://schemas.microsoft.com/office/drawing/2014/main" id="{6E2AE00D-6BEA-482D-9E85-303D904E3E43}"/>
              </a:ext>
            </a:extLst>
          </p:cNvPr>
          <p:cNvSpPr>
            <a:spLocks xmlns:a="http://schemas.openxmlformats.org/drawingml/2006/main" noGrp="1"/>
          </p:cNvSpPr>
          <p:nvPr/>
        </p:nvSpPr>
        <p:spPr>
          <a:xfrm xmlns:a="http://schemas.openxmlformats.org/drawingml/2006/main">
            <a:off x="552450" y="4505325"/>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DD: </a:t>
            </a:r>
            <a:r>
              <a:rPr sz="1800" b="0">
                <a:solidFill>
                  <a:srgbClr val="444444"/>
                </a:solidFill>
                <a:latin typeface="Calibri"/>
                <a:ea typeface="Calibri"/>
                <a:cs typeface="Calibri"/>
              </a:rPr>
              <a:t>Höchster Gesamtscore in allen drei Prioritätsprofilen</a:t>
            </a:r>
          </a:p>
        </p:txBody>
      </p:sp>
      <p:pic>
        <p:nvPicPr>
          <p:cNvPr id="38" name="V6_TU_Logo"/>
          <p:cNvPicPr>
            <a:picLocks xmlns:a="http://schemas.openxmlformats.org/drawingml/2006/main" noChangeAspect="1"/>
          </p:cNvPicPr>
          <p:nvPr/>
        </p:nvPicPr>
        <p:blipFill>
          <a:blip xmlns:r="http://schemas.openxmlformats.org/officeDocument/2006/relationships" xmlns:a="http://schemas.openxmlformats.org/drawingml/2006/main" r:embed="R96d54b9f897542a8"/>
          <a:stretch xmlns:a="http://schemas.openxmlformats.org/drawingml/2006/main">
            <a:fillRect l="0" t="0" r="0" b="0"/>
          </a:stretch>
        </p:blipFill>
        <p:spPr>
          <a:xfrm xmlns:a="http://schemas.openxmlformats.org/drawingml/2006/main">
            <a:off x="10614660" y="378460"/>
            <a:ext cx="1003300" cy="767080"/>
          </a:xfrm>
          <a:prstGeom xmlns:a="http://schemas.openxmlformats.org/drawingml/2006/main" prst="rect">
            <a:avLst/>
          </a:prstGeom>
        </p:spPr>
      </p:pic>
      <p:sp>
        <p:nvSpPr>
          <p:cNvPr id="19" name="Structure separator">
            <a:extLst xmlns:a="http://schemas.openxmlformats.org/drawingml/2006/main">
              <a:ext uri="{FF2B5EF4-FFF2-40B4-BE49-F238E27FC236}">
                <a16:creationId xmlns:a16="http://schemas.microsoft.com/office/drawing/2014/main" id="{6F67363A-E1A4-4BCE-9787-752AE1329B7F}"/>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20" name="Structure label">
            <a:extLst xmlns:a="http://schemas.openxmlformats.org/drawingml/2006/main">
              <a:ext uri="{FF2B5EF4-FFF2-40B4-BE49-F238E27FC236}">
                <a16:creationId xmlns:a16="http://schemas.microsoft.com/office/drawing/2014/main" id="{8916EB9C-E413-41E6-B467-0C60D9865D80}"/>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xmlns:a="http://schemas.openxmlformats.org/drawingml/2006/main">
              <a:ext uri="{FF2B5EF4-FFF2-40B4-BE49-F238E27FC236}">
                <a16:creationId xmlns:a16="http://schemas.microsoft.com/office/drawing/2014/main" id="{EDC22D91-1FCE-4B6E-B1AC-229228DDC4A1}"/>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xmlns:a="http://schemas.openxmlformats.org/drawingml/2006/main">
              <a:ext uri="{FF2B5EF4-FFF2-40B4-BE49-F238E27FC236}">
                <a16:creationId xmlns:a16="http://schemas.microsoft.com/office/drawing/2014/main" id="{582A21B0-81B6-4D77-BC97-9CEC24D6F5D8}"/>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xmlns:a="http://schemas.openxmlformats.org/drawingml/2006/main">
              <a:ext uri="{FF2B5EF4-FFF2-40B4-BE49-F238E27FC236}">
                <a16:creationId xmlns:a16="http://schemas.microsoft.com/office/drawing/2014/main" id="{BEF1EEB5-3178-4FBA-89D5-CCE9F12A450E}"/>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xmlns:a="http://schemas.openxmlformats.org/drawingml/2006/main">
              <a:ext uri="{FF2B5EF4-FFF2-40B4-BE49-F238E27FC236}">
                <a16:creationId xmlns:a16="http://schemas.microsoft.com/office/drawing/2014/main" id="{D0C03E69-3CE9-4ADD-A283-096D9D2D1606}"/>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5" name="Structure 4">
            <a:extLst xmlns:a="http://schemas.openxmlformats.org/drawingml/2006/main">
              <a:ext uri="{FF2B5EF4-FFF2-40B4-BE49-F238E27FC236}">
                <a16:creationId xmlns:a16="http://schemas.microsoft.com/office/drawing/2014/main" id="{D2D538B2-D6C9-405B-9017-C2D7233CC7ED}"/>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xmlns:a="http://schemas.openxmlformats.org/drawingml/2006/main">
              <a:ext uri="{FF2B5EF4-FFF2-40B4-BE49-F238E27FC236}">
                <a16:creationId xmlns:a16="http://schemas.microsoft.com/office/drawing/2014/main" id="{169E10A3-5B0B-45F3-9B7A-3CFF1D348C26}"/>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dc520b0132ff4ae1"/>
          <a:stretch xmlns:a="http://schemas.openxmlformats.org/drawingml/2006/main"/>
        </p:blipFill>
        <p:spPr>
          <a:xfrm xmlns:a="http://schemas.openxmlformats.org/drawingml/2006/main">
            <a:off x="2030295" y="1419225"/>
            <a:ext cx="6397860" cy="2914650"/>
          </a:xfrm>
          <a:prstGeom xmlns:a="http://schemas.openxmlformats.org/drawingml/2006/main" prst="rect">
            <a:avLst/>
          </a:prstGeom>
        </p:spPr>
      </p:pic>
      <p:sp>
        <p:nvSpPr>
          <p:cNvPr id="29" name="v11-text-22-2">
            <a:extLst xmlns:a="http://schemas.openxmlformats.org/drawingml/2006/main">
              <a:ext uri="{FF2B5EF4-FFF2-40B4-BE49-F238E27FC236}">
                <a16:creationId xmlns:a16="http://schemas.microsoft.com/office/drawing/2014/main" id="{2A89BC82-9B1A-4748-BC69-727498982D7A}"/>
              </a:ext>
            </a:extLst>
          </p:cNvPr>
          <p:cNvSpPr>
            <a:spLocks xmlns:a="http://schemas.openxmlformats.org/drawingml/2006/main" noGrp="1"/>
          </p:cNvSpPr>
          <p:nvPr/>
        </p:nvSpPr>
        <p:spPr>
          <a:xfrm xmlns:a="http://schemas.openxmlformats.org/drawingml/2006/main">
            <a:off x="552450" y="4886325"/>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HECM: </a:t>
            </a:r>
            <a:r>
              <a:rPr sz="1800" b="0">
                <a:solidFill>
                  <a:srgbClr val="444444"/>
                </a:solidFill>
                <a:latin typeface="Calibri"/>
                <a:ea typeface="Calibri"/>
                <a:cs typeface="Calibri"/>
              </a:rPr>
              <a:t>Stärkste persistente Recovery durch kontinuierliches Spannungsfeedback</a:t>
            </a:r>
          </a:p>
        </p:txBody>
      </p:sp>
      <p:sp>
        <p:nvSpPr>
          <p:cNvPr id="30" name="v11-text-22-3">
            <a:extLst xmlns:a="http://schemas.openxmlformats.org/drawingml/2006/main">
              <a:ext uri="{FF2B5EF4-FFF2-40B4-BE49-F238E27FC236}">
                <a16:creationId xmlns:a16="http://schemas.microsoft.com/office/drawing/2014/main" id="{79673DA8-DC9D-4FF2-B6D1-F0D3CCCEA4A6}"/>
              </a:ext>
            </a:extLst>
          </p:cNvPr>
          <p:cNvSpPr>
            <a:spLocks xmlns:a="http://schemas.openxmlformats.org/drawingml/2006/main" noGrp="1"/>
          </p:cNvSpPr>
          <p:nvPr/>
        </p:nvSpPr>
        <p:spPr>
          <a:xfrm xmlns:a="http://schemas.openxmlformats.org/drawingml/2006/main">
            <a:off x="552450" y="5286375"/>
            <a:ext cx="9391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1">
                <a:solidFill>
                  <a:srgbClr val="D00020"/>
                </a:solidFill>
                <a:latin typeface="Calibri"/>
                <a:ea typeface="Calibri"/>
                <a:cs typeface="Calibri"/>
              </a:rPr>
              <a:t>MAE allein unzureichend: Praxisnahe Störtests und lokale Analysen zur Erfassung modellspezifischer Reaktionen und kurzzeitiger Fehlerpeaks</a:t>
            </a:r>
          </a:p>
        </p:txBody>
      </p:sp>
    </p:spTree>
    <p:extLst>
      <p:ext uri="{BB962C8B-B14F-4D97-AF65-F5344CB8AC3E}">
        <p14:creationId xmlns:p14="http://schemas.microsoft.com/office/powerpoint/2010/main" val="195099688"/>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wrap="none" lIns="0" tIns="0" rIns="0" bIns="0" anchor="t">
            <a:noAutofit/>
          </a:bodyPr>
          <a:lstStyle xmlns:a="http://schemas.openxmlformats.org/drawingml/2006/main"/>
          <ns0:p xmlns:ns0="http://schemas.openxmlformats.org/drawingml/2006/main">
            <ns0:pPr algn="l">
              <ns0:lnSpc>
                <ns0:spcPct val="106000"/>
              </ns0:lnSpc>
              <ns0:buNone/>
              <ns0:defRPr sz="2400" b="0">
                <ns0:solidFill>
                  <ns0:srgbClr val="CC001C"/>
                </ns0:solidFill>
                <ns0:latin typeface="Calibri"/>
                <ns0:ea typeface="Calibri"/>
                <ns0:cs typeface="Calibri"/>
              </ns0:defRPr>
            </ns0:pPr>
            <ns0:r>
              <ns0:rPr sz="2400" b="0">
                <ns0:solidFill>
                  <ns0:srgbClr val="CC001C"/>
                </ns0:solidFill>
                <ns0:latin typeface="Calibri"/>
                <ns0:ea typeface="Calibri"/>
                <ns0:cs typeface="Calibri"/>
              </ns0:rPr>
              <ns0:t>Ergebnisse: Flash- und RAM-Bedarf der SOC-Verfahren</ns0:t>
            </ns0:r>
          </ns0: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30 / 44</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sp>
        <p:nvSpPr>
          <p:cNvPr id="12" name="V5_Text_12">
            <a:extLst xmlns:a="http://schemas.openxmlformats.org/drawingml/2006/main">
              <a:ext uri="{FF2B5EF4-FFF2-40B4-BE49-F238E27FC236}">
                <a16:creationId xmlns:a16="http://schemas.microsoft.com/office/drawing/2014/main" id="{4FFBDB5B-EF21-44E3-9122-6033D1CE83DE}"/>
              </a:ext>
            </a:extLst>
          </p:cNvPr>
          <p:cNvSpPr>
            <a:spLocks xmlns:a="http://schemas.openxmlformats.org/drawingml/2006/main" noGrp="1"/>
          </p:cNvSpPr>
          <p:nvPr/>
        </p:nvSpPr>
        <p:spPr>
          <a:xfrm xmlns:a="http://schemas.openxmlformats.org/drawingml/2006/main">
            <a:off x="552450" y="4933950"/>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HECM: </a:t>
            </a:r>
            <a:r>
              <a:rPr sz="1800" b="0">
                <a:solidFill>
                  <a:srgbClr val="444444"/>
                </a:solidFill>
                <a:latin typeface="Calibri"/>
                <a:ea typeface="Calibri"/>
                <a:cs typeface="Calibri"/>
              </a:rPr>
              <a:t>Hoher Flash-Bedarf durch Parameter- und OCV-Kennfelder</a:t>
            </a:r>
          </a:p>
        </p:txBody>
      </p:sp>
      <p:sp>
        <p:nvSpPr>
          <p:cNvPr id="13" name="V5_Text_13">
            <a:extLst xmlns:a="http://schemas.openxmlformats.org/drawingml/2006/main">
              <a:ext uri="{FF2B5EF4-FFF2-40B4-BE49-F238E27FC236}">
                <a16:creationId xmlns:a16="http://schemas.microsoft.com/office/drawing/2014/main" id="{739728C6-1D87-4F11-A222-91728605352C}"/>
              </a:ext>
            </a:extLst>
          </p:cNvPr>
          <p:cNvSpPr>
            <a:spLocks xmlns:a="http://schemas.openxmlformats.org/drawingml/2006/main" noGrp="1"/>
          </p:cNvSpPr>
          <p:nvPr/>
        </p:nvSpPr>
        <p:spPr>
          <a:xfrm xmlns:a="http://schemas.openxmlformats.org/drawingml/2006/main">
            <a:off x="552450" y="5286375"/>
            <a:ext cx="9391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lIns="0" tIns="0" rIns="0" bIns="0" anchor="t">
            <a:noAutofit/>
          </a:bodyPr>
          <a:lstStyle xmlns:a="http://schemas.openxmlformats.org/drawingml/2006/main"/>
          <a:p xmlns:a="http://schemas.openxmlformats.org/drawingml/2006/main">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DD mit Continuous State: Rund 1 700× schneller</a:t>
            </a:r>
          </a:p>
          <a:p xmlns:a="http://schemas.openxmlformats.org/drawingml/2006/main">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und 94 % weniger RAM als Rolling Window</a:t>
            </a:r>
          </a:p>
        </p:txBody>
      </p:sp>
      <p:pic>
        <p:nvPicPr>
          <p:cNvPr id="31" name="V5_Figure_11"/>
          <p:cNvPicPr>
            <a:picLocks xmlns:a="http://schemas.openxmlformats.org/drawingml/2006/main" noChangeAspect="1"/>
          </p:cNvPicPr>
          <p:nvPr/>
        </p:nvPicPr>
        <p:blipFill>
          <a:blip xmlns:r="http://schemas.openxmlformats.org/officeDocument/2006/relationships" xmlns:a="http://schemas.openxmlformats.org/drawingml/2006/main" r:embed="Rc6a7b713b32946c1"/>
          <a:stretch xmlns:a="http://schemas.openxmlformats.org/drawingml/2006/main"/>
        </p:blipFill>
        <p:spPr>
          <a:xfrm xmlns:a="http://schemas.openxmlformats.org/drawingml/2006/main">
            <a:off x="1605808" y="1419225"/>
            <a:ext cx="7246834" cy="3028950"/>
          </a:xfrm>
          <a:prstGeom xmlns:a="http://schemas.openxmlformats.org/drawingml/2006/main" prst="rect">
            <a:avLst/>
          </a:prstGeom>
        </p:spPr>
      </p:pic>
      <p:sp>
        <p:nvSpPr>
          <p:cNvPr id="16" name="Structure separator">
            <a:extLst xmlns:a="http://schemas.openxmlformats.org/drawingml/2006/main">
              <a:ext uri="{FF2B5EF4-FFF2-40B4-BE49-F238E27FC236}">
                <a16:creationId xmlns:a16="http://schemas.microsoft.com/office/drawing/2014/main" id="{2BB459C4-0A3A-41A8-847F-2C34FBF077AC}"/>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17" name="Structure label">
            <a:extLst xmlns:a="http://schemas.openxmlformats.org/drawingml/2006/main">
              <a:ext uri="{FF2B5EF4-FFF2-40B4-BE49-F238E27FC236}">
                <a16:creationId xmlns:a16="http://schemas.microsoft.com/office/drawing/2014/main" id="{81627503-561B-4DD3-83F9-D4DC40884BCA}"/>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8" name="Structure 0">
            <a:extLst xmlns:a="http://schemas.openxmlformats.org/drawingml/2006/main">
              <a:ext uri="{FF2B5EF4-FFF2-40B4-BE49-F238E27FC236}">
                <a16:creationId xmlns:a16="http://schemas.microsoft.com/office/drawing/2014/main" id="{6FC14A9D-96CA-4287-9854-865D452796B7}"/>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9" name="Structure 1">
            <a:extLst xmlns:a="http://schemas.openxmlformats.org/drawingml/2006/main">
              <a:ext uri="{FF2B5EF4-FFF2-40B4-BE49-F238E27FC236}">
                <a16:creationId xmlns:a16="http://schemas.microsoft.com/office/drawing/2014/main" id="{F0E50906-092B-40E6-8298-198BE183BFCE}"/>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0" name="Structure 2">
            <a:extLst xmlns:a="http://schemas.openxmlformats.org/drawingml/2006/main">
              <a:ext uri="{FF2B5EF4-FFF2-40B4-BE49-F238E27FC236}">
                <a16:creationId xmlns:a16="http://schemas.microsoft.com/office/drawing/2014/main" id="{E1272A1C-E903-44B1-A0C0-EA9A4E08BE3C}"/>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1" name="Structure 3">
            <a:extLst xmlns:a="http://schemas.openxmlformats.org/drawingml/2006/main">
              <a:ext uri="{FF2B5EF4-FFF2-40B4-BE49-F238E27FC236}">
                <a16:creationId xmlns:a16="http://schemas.microsoft.com/office/drawing/2014/main" id="{BC85B164-AD0D-4CC4-AE93-E9ED9AE4A8D6}"/>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2" name="Structure 4">
            <a:extLst xmlns:a="http://schemas.openxmlformats.org/drawingml/2006/main">
              <a:ext uri="{FF2B5EF4-FFF2-40B4-BE49-F238E27FC236}">
                <a16:creationId xmlns:a16="http://schemas.microsoft.com/office/drawing/2014/main" id="{2BEB0F9B-A834-4AC0-91ED-5224B759C6F8}"/>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3" name="Structure 5">
            <a:extLst xmlns:a="http://schemas.openxmlformats.org/drawingml/2006/main">
              <a:ext uri="{FF2B5EF4-FFF2-40B4-BE49-F238E27FC236}">
                <a16:creationId xmlns:a16="http://schemas.microsoft.com/office/drawing/2014/main" id="{D795E694-5C8F-4116-A220-39902717152E}"/>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3000" name="IR_scalar_memory">
            <a:extLst xmlns:a="http://schemas.openxmlformats.org/drawingml/2006/main">
              <a:ext uri="{FF2B5EF4-FFF2-40B4-BE49-F238E27FC236}">
                <a16:creationId xmlns:a16="http://schemas.microsoft.com/office/drawing/2014/main" id="{EC3F42B2-6123-4F9D-A400-27D12D67E053}"/>
              </a:ext>
            </a:extLst>
          </p:cNvPr>
          <p:cNvSpPr>
            <a:spLocks xmlns:a="http://schemas.openxmlformats.org/drawingml/2006/main" noGrp="1"/>
          </p:cNvSpPr>
          <p:nvPr/>
        </p:nvSpPr>
        <p:spPr>
          <a:xfrm xmlns:a="http://schemas.openxmlformats.org/drawingml/2006/main">
            <a:off x="552450" y="4581525"/>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DM/HDM: </a:t>
            </a:r>
            <a:r>
              <a:rPr sz="1800" b="0">
                <a:solidFill>
                  <a:srgbClr val="444444"/>
                </a:solidFill>
                <a:latin typeface="Calibri"/>
                <a:ea typeface="Calibri"/>
                <a:cs typeface="Calibri"/>
              </a:rPr>
              <a:t>Geringer Speicherbedarf durch wenige skalare Zustandsgrößen</a:t>
            </a:r>
          </a:p>
        </p:txBody>
      </p:sp>
    </p:spTree>
    <p:extLst>
      <p:ext uri="{BB962C8B-B14F-4D97-AF65-F5344CB8AC3E}">
        <p14:creationId xmlns:p14="http://schemas.microsoft.com/office/powerpoint/2010/main" val="2234065581"/>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lIns="0" tIns="0" rIns="0" bIns="0" anchor="t">
            <a:noAutofit/>
          </a:bodyPr>
          <a:lstStyle xmlns:a="http://schemas.openxmlformats.org/drawingml/2006/main"/>
          <a:p xmlns:a="http://schemas.openxmlformats.org/drawingml/2006/main">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Anhang: DD-Ausführung und Zustandsführung</a:t>
            </a:r>
          </a: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Anhang 8</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sp>
        <p:nvSpPr>
          <p:cNvPr id="12" name="V5_Text_12">
            <a:extLst xmlns:a="http://schemas.openxmlformats.org/drawingml/2006/main">
              <a:ext uri="{FF2B5EF4-FFF2-40B4-BE49-F238E27FC236}">
                <a16:creationId xmlns:a16="http://schemas.microsoft.com/office/drawing/2014/main" id="{B65EFC6B-0E80-471D-92AE-C9A8AC1F4139}"/>
              </a:ext>
            </a:extLst>
          </p:cNvPr>
          <p:cNvSpPr>
            <a:spLocks xmlns:a="http://schemas.openxmlformats.org/drawingml/2006/main" noGrp="1"/>
          </p:cNvSpPr>
          <p:nvPr/>
        </p:nvSpPr>
        <p:spPr>
          <a:xfrm xmlns:a="http://schemas.openxmlformats.org/drawingml/2006/main">
            <a:off x="552450" y="4572000"/>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Rolling Window: </a:t>
            </a:r>
            <a:r>
              <a:rPr sz="1800" b="0">
                <a:solidFill>
                  <a:srgbClr val="444444"/>
                </a:solidFill>
                <a:latin typeface="Calibri"/>
                <a:ea typeface="Calibri"/>
                <a:cs typeface="Calibri"/>
              </a:rPr>
              <a:t>Hoher Aufwand durch erneute Auswertung aller 2024 Schritte</a:t>
            </a:r>
          </a:p>
        </p:txBody>
      </p:sp>
      <p:pic>
        <p:nvPicPr>
          <p:cNvPr id="32" name="V5_Figure_11"/>
          <p:cNvPicPr>
            <a:picLocks xmlns:a="http://schemas.openxmlformats.org/drawingml/2006/main" noChangeAspect="1"/>
          </p:cNvPicPr>
          <p:nvPr/>
        </p:nvPicPr>
        <p:blipFill>
          <a:blip xmlns:r="http://schemas.openxmlformats.org/officeDocument/2006/relationships" xmlns:a="http://schemas.openxmlformats.org/drawingml/2006/main" r:embed="R29a6865f4d794fe8"/>
          <a:stretch xmlns:a="http://schemas.openxmlformats.org/drawingml/2006/main"/>
        </p:blipFill>
        <p:spPr>
          <a:xfrm xmlns:a="http://schemas.openxmlformats.org/drawingml/2006/main">
            <a:off x="943570" y="1409700"/>
            <a:ext cx="8571309" cy="2981325"/>
          </a:xfrm>
          <a:prstGeom xmlns:a="http://schemas.openxmlformats.org/drawingml/2006/main" prst="rect">
            <a:avLst/>
          </a:prstGeom>
        </p:spPr>
      </p:pic>
      <p:sp>
        <p:nvSpPr>
          <p:cNvPr id="15" name="Structure separator">
            <a:extLst xmlns:a="http://schemas.openxmlformats.org/drawingml/2006/main">
              <a:ext uri="{FF2B5EF4-FFF2-40B4-BE49-F238E27FC236}">
                <a16:creationId xmlns:a16="http://schemas.microsoft.com/office/drawing/2014/main" id="{4C5264AE-1BFD-43F0-A48B-6A9C34FA7CEE}"/>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16" name="Structure label">
            <a:extLst xmlns:a="http://schemas.openxmlformats.org/drawingml/2006/main">
              <a:ext uri="{FF2B5EF4-FFF2-40B4-BE49-F238E27FC236}">
                <a16:creationId xmlns:a16="http://schemas.microsoft.com/office/drawing/2014/main" id="{E57E6A2D-D2EF-4AD4-B611-11B528B39546}"/>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xmlns:a="http://schemas.openxmlformats.org/drawingml/2006/main">
              <a:ext uri="{FF2B5EF4-FFF2-40B4-BE49-F238E27FC236}">
                <a16:creationId xmlns:a16="http://schemas.microsoft.com/office/drawing/2014/main" id="{2A9B45DB-A1C3-4A53-8C1A-E787E5445C49}"/>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xmlns:a="http://schemas.openxmlformats.org/drawingml/2006/main">
              <a:ext uri="{FF2B5EF4-FFF2-40B4-BE49-F238E27FC236}">
                <a16:creationId xmlns:a16="http://schemas.microsoft.com/office/drawing/2014/main" id="{17FC0192-B2C3-4B71-8A7E-A5A269E7D4CD}"/>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xmlns:a="http://schemas.openxmlformats.org/drawingml/2006/main">
              <a:ext uri="{FF2B5EF4-FFF2-40B4-BE49-F238E27FC236}">
                <a16:creationId xmlns:a16="http://schemas.microsoft.com/office/drawing/2014/main" id="{0413E838-54FB-43E5-BC24-6010481C76D7}"/>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xmlns:a="http://schemas.openxmlformats.org/drawingml/2006/main">
              <a:ext uri="{FF2B5EF4-FFF2-40B4-BE49-F238E27FC236}">
                <a16:creationId xmlns:a16="http://schemas.microsoft.com/office/drawing/2014/main" id="{BF4DF7C7-0937-45C0-AD17-C3B8F470DC57}"/>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xmlns:a="http://schemas.openxmlformats.org/drawingml/2006/main">
              <a:ext uri="{FF2B5EF4-FFF2-40B4-BE49-F238E27FC236}">
                <a16:creationId xmlns:a16="http://schemas.microsoft.com/office/drawing/2014/main" id="{E0278D5C-BC59-412A-9B64-764DC5965C37}"/>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xmlns:a="http://schemas.openxmlformats.org/drawingml/2006/main">
              <a:ext uri="{FF2B5EF4-FFF2-40B4-BE49-F238E27FC236}">
                <a16:creationId xmlns:a16="http://schemas.microsoft.com/office/drawing/2014/main" id="{883B45E2-F240-4123-96D3-89FAC74F5FCA}"/>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4" name="v11-text-24-2">
            <a:extLst xmlns:a="http://schemas.openxmlformats.org/drawingml/2006/main">
              <a:ext uri="{FF2B5EF4-FFF2-40B4-BE49-F238E27FC236}">
                <a16:creationId xmlns:a16="http://schemas.microsoft.com/office/drawing/2014/main" id="{9C573195-611C-4BE7-B885-E357EF2AB80A}"/>
              </a:ext>
            </a:extLst>
          </p:cNvPr>
          <p:cNvSpPr>
            <a:spLocks xmlns:a="http://schemas.openxmlformats.org/drawingml/2006/main" noGrp="1"/>
          </p:cNvSpPr>
          <p:nvPr/>
        </p:nvSpPr>
        <p:spPr>
          <a:xfrm xmlns:a="http://schemas.openxmlformats.org/drawingml/2006/main">
            <a:off x="552450" y="4924425"/>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Continuous State: </a:t>
            </a:r>
            <a:r>
              <a:rPr sz="1800" b="0">
                <a:solidFill>
                  <a:srgbClr val="444444"/>
                </a:solidFill>
                <a:latin typeface="Calibri"/>
                <a:ea typeface="Calibri"/>
                <a:cs typeface="Calibri"/>
              </a:rPr>
              <a:t>Ein Update bei erhaltener Historie und ähnlichem Nominalfehler</a:t>
            </a:r>
          </a:p>
        </p:txBody>
      </p:sp>
      <p:sp>
        <p:nvSpPr>
          <p:cNvPr id="25" name="v11-text-24-3">
            <a:extLst xmlns:a="http://schemas.openxmlformats.org/drawingml/2006/main">
              <a:ext uri="{FF2B5EF4-FFF2-40B4-BE49-F238E27FC236}">
                <a16:creationId xmlns:a16="http://schemas.microsoft.com/office/drawing/2014/main" id="{534E11BF-2780-4A85-B131-1B0E17C17ADD}"/>
              </a:ext>
            </a:extLst>
          </p:cNvPr>
          <p:cNvSpPr>
            <a:spLocks xmlns:a="http://schemas.openxmlformats.org/drawingml/2006/main" noGrp="1"/>
          </p:cNvSpPr>
          <p:nvPr/>
        </p:nvSpPr>
        <p:spPr>
          <a:xfrm xmlns:a="http://schemas.openxmlformats.org/drawingml/2006/main">
            <a:off x="552450" y="5276850"/>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Periodic Reset: </a:t>
            </a:r>
            <a:r>
              <a:rPr sz="1800" b="0">
                <a:solidFill>
                  <a:srgbClr val="444444"/>
                </a:solidFill>
                <a:latin typeface="Calibri"/>
                <a:ea typeface="Calibri"/>
                <a:cs typeface="Calibri"/>
              </a:rPr>
              <a:t>Große Fehlerpeaks durch wiederholten Verlust der Historie</a:t>
            </a:r>
          </a:p>
        </p:txBody>
      </p:sp>
      <p:sp>
        <p:nvSpPr>
          <p:cNvPr id="3003" name="IR_state_takeaway">
            <a:extLst xmlns:a="http://schemas.openxmlformats.org/drawingml/2006/main">
              <a:ext uri="{FF2B5EF4-FFF2-40B4-BE49-F238E27FC236}">
                <a16:creationId xmlns:a16="http://schemas.microsoft.com/office/drawing/2014/main" id="{0BC37AF6-F3CC-4671-919E-11C6A186FBC1}"/>
              </a:ext>
            </a:extLst>
          </p:cNvPr>
          <p:cNvSpPr>
            <a:spLocks xmlns:a="http://schemas.openxmlformats.org/drawingml/2006/main" noGrp="1"/>
          </p:cNvSpPr>
          <p:nvPr/>
        </p:nvSpPr>
        <p:spPr>
          <a:xfrm xmlns:a="http://schemas.openxmlformats.org/drawingml/2006/main">
            <a:off x="552450" y="5629275"/>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1">
                <a:solidFill>
                  <a:srgbClr val="D00020"/>
                </a:solidFill>
                <a:latin typeface="Calibri"/>
                <a:ea typeface="Calibri"/>
                <a:cs typeface="Calibri"/>
              </a:rPr>
              <a:t>Continuous State als effiziente Betriebsart mit eigenem Validierungsbedarf</a:t>
            </a:r>
          </a:p>
        </p:txBody>
      </p:sp>
    </p:spTree>
    <p:extLst>
      <p:ext uri="{BB962C8B-B14F-4D97-AF65-F5344CB8AC3E}">
        <p14:creationId xmlns:p14="http://schemas.microsoft.com/office/powerpoint/2010/main" val="2654796788"/>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wrap="none" lIns="0" tIns="0" rIns="0" bIns="0" anchor="t">
            <a:noAutofit/>
          </a:bodyPr>
          <a:lstStyle xmlns:a="http://schemas.openxmlformats.org/drawingml/2006/main"/>
          <ns0:p xmlns:ns0="http://schemas.openxmlformats.org/drawingml/2006/main">
            <ns0:pPr algn="l">
              <ns0:lnSpc>
                <ns0:spcPct val="106000"/>
              </ns0:lnSpc>
              <ns0:buNone/>
              <ns0:defRPr sz="2400" b="0">
                <ns0:solidFill>
                  <ns0:srgbClr val="CC001C"/>
                </ns0:solidFill>
                <ns0:latin typeface="Calibri"/>
                <ns0:ea typeface="Calibri"/>
                <ns0:cs typeface="Calibri"/>
              </ns0:defRPr>
            </ns0:pPr>
            <ns0:r>
              <ns0:rPr sz="2400" b="0">
                <ns0:solidFill>
                  <ns0:srgbClr val="CC001C"/>
                </ns0:solidFill>
                <ns0:latin typeface="Calibri"/>
                <ns0:ea typeface="Calibri"/>
                <ns0:cs typeface="Calibri"/>
              </ns0:rPr>
              <ns0:t>Embedded AI: Pruning und Quantization</ns0:t>
            </ns0:r>
            <ns0:endParaRPr/>
          </ns0: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31 / 44</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sp>
        <p:nvSpPr>
          <p:cNvPr id="49" name="EI_Hardware_highlight">
            <a:extLst xmlns:a="http://schemas.openxmlformats.org/drawingml/2006/main">
              <a:ext uri="{FF2B5EF4-FFF2-40B4-BE49-F238E27FC236}">
                <a16:creationId xmlns:a16="http://schemas.microsoft.com/office/drawing/2014/main" id="{1456BA31-BDDC-4BBF-BE71-E10C79F20A43}"/>
              </a:ext>
            </a:extLst>
          </p:cNvPr>
          <p:cNvSpPr>
            <a:spLocks xmlns:a="http://schemas.openxmlformats.org/drawingml/2006/main" noGrp="1"/>
          </p:cNvSpPr>
          <p:nvPr/>
        </p:nvSpPr>
        <p:spPr>
          <a:xfrm xmlns:a="http://schemas.openxmlformats.org/drawingml/2006/main">
            <a:off x="638316" y="2995825"/>
            <a:ext cx="1783804" cy="1800423"/>
          </a:xfrm>
          <a:custGeom xmlns:a="http://schemas.openxmlformats.org/drawingml/2006/main">
            <a:pathLst>
              <a:path w="1783804" h="1800423">
                <a:moveTo>
                  <a:pt x="0" y="900211"/>
                </a:moveTo>
                <a:lnTo>
                  <a:pt x="894672" y="0"/>
                </a:lnTo>
                <a:lnTo>
                  <a:pt x="1783804" y="900211"/>
                </a:lnTo>
                <a:lnTo>
                  <a:pt x="894672" y="1800423"/>
                </a:lnTo>
                <a:close/>
              </a:path>
            </a:pathLst>
          </a:custGeom>
          <a:noFill xmlns:a="http://schemas.openxmlformats.org/drawingml/2006/main"/>
          <a:ln xmlns:a="http://schemas.openxmlformats.org/drawingml/2006/main" w="45720">
            <a:solidFill>
              <a:srgbClr val="D00020"/>
            </a:solidFill>
          </a:ln>
        </p:spPr>
      </p:sp>
      <p:sp>
        <p:nvSpPr>
          <p:cNvPr id="50" name="EI_Deployment_highlight">
            <a:extLst xmlns:a="http://schemas.openxmlformats.org/drawingml/2006/main">
              <a:ext uri="{FF2B5EF4-FFF2-40B4-BE49-F238E27FC236}">
                <a16:creationId xmlns:a16="http://schemas.microsoft.com/office/drawing/2014/main" id="{B08220FA-9BDD-4E57-AFE5-D91C95959AD1}"/>
              </a:ext>
            </a:extLst>
          </p:cNvPr>
          <p:cNvSpPr>
            <a:spLocks xmlns:a="http://schemas.openxmlformats.org/drawingml/2006/main" noGrp="1"/>
          </p:cNvSpPr>
          <p:nvPr/>
        </p:nvSpPr>
        <p:spPr>
          <a:xfrm xmlns:a="http://schemas.openxmlformats.org/drawingml/2006/main">
            <a:off x="1998328" y="1868483"/>
            <a:ext cx="1783804" cy="1800423"/>
          </a:xfrm>
          <a:custGeom xmlns:a="http://schemas.openxmlformats.org/drawingml/2006/main">
            <a:pathLst>
              <a:path w="1783804" h="1800423">
                <a:moveTo>
                  <a:pt x="0" y="900211"/>
                </a:moveTo>
                <a:lnTo>
                  <a:pt x="891902" y="0"/>
                </a:lnTo>
                <a:lnTo>
                  <a:pt x="1783804" y="900211"/>
                </a:lnTo>
                <a:lnTo>
                  <a:pt x="891902" y="1800423"/>
                </a:lnTo>
                <a:close/>
              </a:path>
            </a:pathLst>
          </a:custGeom>
          <a:noFill xmlns:a="http://schemas.openxmlformats.org/drawingml/2006/main"/>
          <a:ln xmlns:a="http://schemas.openxmlformats.org/drawingml/2006/main" w="45720">
            <a:solidFill>
              <a:srgbClr val="D00020"/>
            </a:solidFill>
          </a:ln>
        </p:spPr>
      </p:sp>
      <p:pic>
        <p:nvPicPr>
          <p:cNvPr id="46" name="V5_Figure_11"/>
          <p:cNvPicPr>
            <a:picLocks xmlns:a="http://schemas.openxmlformats.org/drawingml/2006/main" noChangeAspect="1"/>
          </p:cNvPicPr>
          <p:nvPr/>
        </p:nvPicPr>
        <p:blipFill>
          <a:blip xmlns:r="http://schemas.openxmlformats.org/officeDocument/2006/relationships" xmlns:a="http://schemas.openxmlformats.org/drawingml/2006/main" r:embed="R3de4ae6cabcc4c0f"/>
          <a:stretch xmlns:a="http://schemas.openxmlformats.org/drawingml/2006/main"/>
        </p:blipFill>
        <p:spPr>
          <a:xfrm xmlns:a="http://schemas.openxmlformats.org/drawingml/2006/main">
            <a:off x="552450" y="1865713"/>
            <a:ext cx="4667250" cy="2936074"/>
          </a:xfrm>
          <a:prstGeom xmlns:a="http://schemas.openxmlformats.org/drawingml/2006/main" prst="rect">
            <a:avLst/>
          </a:prstGeom>
        </p:spPr>
      </p:pic>
      <p:sp>
        <p:nvSpPr>
          <p:cNvPr id="12" name="V5_Text_12">
            <a:extLst xmlns:a="http://schemas.openxmlformats.org/drawingml/2006/main">
              <a:ext uri="{FF2B5EF4-FFF2-40B4-BE49-F238E27FC236}">
                <a16:creationId xmlns:a16="http://schemas.microsoft.com/office/drawing/2014/main" id="{3C15EE52-60E3-43E9-A0E5-0BA4629013B2}"/>
              </a:ext>
            </a:extLst>
          </p:cNvPr>
          <p:cNvSpPr>
            <a:spLocks xmlns:a="http://schemas.openxmlformats.org/drawingml/2006/main" noGrp="1"/>
          </p:cNvSpPr>
          <p:nvPr/>
        </p:nvSpPr>
        <p:spPr>
          <a:xfrm xmlns:a="http://schemas.openxmlformats.org/drawingml/2006/main">
            <a:off x="5715000" y="1543050"/>
            <a:ext cx="42386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Motivation: </a:t>
            </a:r>
            <a:r>
              <a:rPr sz="1800" b="0">
                <a:solidFill>
                  <a:srgbClr val="444444"/>
                </a:solidFill>
                <a:latin typeface="Calibri"/>
                <a:ea typeface="Calibri"/>
                <a:cs typeface="Calibri"/>
              </a:rPr>
              <a:t>Hoher Speicher- und Rechenbedarf komplexer Modelle bei begrenzten BMS-Ressourcen</a:t>
            </a:r>
          </a:p>
        </p:txBody>
      </p:sp>
      <p:pic>
        <p:nvPicPr>
          <p:cNvPr id="48" name="V6_TU_Logo"/>
          <p:cNvPicPr>
            <a:picLocks xmlns:a="http://schemas.openxmlformats.org/drawingml/2006/main" noChangeAspect="1"/>
          </p:cNvPicPr>
          <p:nvPr/>
        </p:nvPicPr>
        <p:blipFill>
          <a:blip xmlns:r="http://schemas.openxmlformats.org/officeDocument/2006/relationships" xmlns:a="http://schemas.openxmlformats.org/drawingml/2006/main" r:embed="Rfd72e5cb19a74eb4"/>
          <a:stretch xmlns:a="http://schemas.openxmlformats.org/drawingml/2006/main">
            <a:fillRect l="0" t="0" r="0" b="0"/>
          </a:stretch>
        </p:blipFill>
        <p:spPr>
          <a:xfrm xmlns:a="http://schemas.openxmlformats.org/drawingml/2006/main">
            <a:off x="10614660" y="378460"/>
            <a:ext cx="1003300" cy="767080"/>
          </a:xfrm>
          <a:prstGeom xmlns:a="http://schemas.openxmlformats.org/drawingml/2006/main" prst="rect">
            <a:avLst/>
          </a:prstGeom>
        </p:spPr>
      </p:pic>
      <p:sp>
        <p:nvSpPr>
          <p:cNvPr id="27" name="Structure separator">
            <a:extLst xmlns:a="http://schemas.openxmlformats.org/drawingml/2006/main">
              <a:ext uri="{FF2B5EF4-FFF2-40B4-BE49-F238E27FC236}">
                <a16:creationId xmlns:a16="http://schemas.microsoft.com/office/drawing/2014/main" id="{6EB18FBF-920A-409D-A972-B99A630EB7F7}"/>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28" name="Structure label">
            <a:extLst xmlns:a="http://schemas.openxmlformats.org/drawingml/2006/main">
              <a:ext uri="{FF2B5EF4-FFF2-40B4-BE49-F238E27FC236}">
                <a16:creationId xmlns:a16="http://schemas.microsoft.com/office/drawing/2014/main" id="{73CCD5FD-0A44-451A-8D61-25D02447FA05}"/>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9" name="Structure 0">
            <a:extLst xmlns:a="http://schemas.openxmlformats.org/drawingml/2006/main">
              <a:ext uri="{FF2B5EF4-FFF2-40B4-BE49-F238E27FC236}">
                <a16:creationId xmlns:a16="http://schemas.microsoft.com/office/drawing/2014/main" id="{2E21A99D-1BC9-4E0D-A5F9-6FAED6C844CA}"/>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30" name="Structure 1">
            <a:extLst xmlns:a="http://schemas.openxmlformats.org/drawingml/2006/main">
              <a:ext uri="{FF2B5EF4-FFF2-40B4-BE49-F238E27FC236}">
                <a16:creationId xmlns:a16="http://schemas.microsoft.com/office/drawing/2014/main" id="{8C352F98-9EBE-4BF9-AB8E-92C6D12F7943}"/>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31" name="Structure 2">
            <a:extLst xmlns:a="http://schemas.openxmlformats.org/drawingml/2006/main">
              <a:ext uri="{FF2B5EF4-FFF2-40B4-BE49-F238E27FC236}">
                <a16:creationId xmlns:a16="http://schemas.microsoft.com/office/drawing/2014/main" id="{DB081BA1-3A05-4068-8681-CF5350D744D3}"/>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2" name="Structure 3">
            <a:extLst xmlns:a="http://schemas.openxmlformats.org/drawingml/2006/main">
              <a:ext uri="{FF2B5EF4-FFF2-40B4-BE49-F238E27FC236}">
                <a16:creationId xmlns:a16="http://schemas.microsoft.com/office/drawing/2014/main" id="{522298AF-28B6-4258-97CB-9B3B31FD9F5C}"/>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3" name="Structure 4">
            <a:extLst xmlns:a="http://schemas.openxmlformats.org/drawingml/2006/main">
              <a:ext uri="{FF2B5EF4-FFF2-40B4-BE49-F238E27FC236}">
                <a16:creationId xmlns:a16="http://schemas.microsoft.com/office/drawing/2014/main" id="{2D05EB1C-3CDC-40C5-8CF4-92B09EB83378}"/>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34" name="Structure 5">
            <a:extLst xmlns:a="http://schemas.openxmlformats.org/drawingml/2006/main">
              <a:ext uri="{FF2B5EF4-FFF2-40B4-BE49-F238E27FC236}">
                <a16:creationId xmlns:a16="http://schemas.microsoft.com/office/drawing/2014/main" id="{3E771B45-BA52-4025-86AD-E76404F39EA0}"/>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37" name="v11-text-25-2">
            <a:extLst xmlns:a="http://schemas.openxmlformats.org/drawingml/2006/main">
              <a:ext uri="{FF2B5EF4-FFF2-40B4-BE49-F238E27FC236}">
                <a16:creationId xmlns:a16="http://schemas.microsoft.com/office/drawing/2014/main" id="{B122793C-F323-4925-89F9-2F2B7E3C9FA5}"/>
              </a:ext>
            </a:extLst>
          </p:cNvPr>
          <p:cNvSpPr>
            <a:spLocks xmlns:a="http://schemas.openxmlformats.org/drawingml/2006/main" noGrp="1"/>
          </p:cNvSpPr>
          <p:nvPr/>
        </p:nvSpPr>
        <p:spPr>
          <a:xfrm xmlns:a="http://schemas.openxmlformats.org/drawingml/2006/main">
            <a:off x="5715000" y="2924175"/>
            <a:ext cx="423862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Methodik: </a:t>
            </a:r>
            <a:r>
              <a:rPr sz="1800" b="0">
                <a:solidFill>
                  <a:srgbClr val="444444"/>
                </a:solidFill>
                <a:latin typeface="Calibri"/>
                <a:ea typeface="Calibri"/>
                <a:cs typeface="Calibri"/>
              </a:rPr>
              <a:t>Structured Pruning und INT8-Quantization als getrennte Pfade, Vergleich von Base, Pruned und Quantized auf dem STM32H753</a:t>
            </a:r>
          </a:p>
        </p:txBody>
      </p:sp>
      <p:sp>
        <p:nvSpPr>
          <p:cNvPr id="38" name="v11-text-25-3">
            <a:extLst xmlns:a="http://schemas.openxmlformats.org/drawingml/2006/main">
              <a:ext uri="{FF2B5EF4-FFF2-40B4-BE49-F238E27FC236}">
                <a16:creationId xmlns:a16="http://schemas.microsoft.com/office/drawing/2014/main" id="{0394E0BA-080F-4EC7-805C-509A39B0E2C7}"/>
              </a:ext>
            </a:extLst>
          </p:cNvPr>
          <p:cNvSpPr>
            <a:spLocks xmlns:a="http://schemas.openxmlformats.org/drawingml/2006/main" noGrp="1"/>
          </p:cNvSpPr>
          <p:nvPr/>
        </p:nvSpPr>
        <p:spPr>
          <a:xfrm xmlns:a="http://schemas.openxmlformats.org/drawingml/2006/main">
            <a:off x="5715000" y="4591050"/>
            <a:ext cx="4238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Ziel: </a:t>
            </a:r>
            <a:r>
              <a:rPr sz="1800" b="0">
                <a:solidFill>
                  <a:srgbClr val="444444"/>
                </a:solidFill>
                <a:latin typeface="Calibri"/>
                <a:ea typeface="Calibri"/>
                <a:cs typeface="Calibri"/>
              </a:rPr>
              <a:t>Kleinere SOC-/SOH-Modelle mit geringerem Hardwarebedarf bei möglichst erhaltener Accuracy</a:t>
            </a:r>
          </a:p>
        </p:txBody>
      </p:sp>
    </p:spTree>
    <p:extLst>
      <p:ext uri="{BB962C8B-B14F-4D97-AF65-F5344CB8AC3E}">
        <p14:creationId xmlns:p14="http://schemas.microsoft.com/office/powerpoint/2010/main" val="2350693695"/>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lIns="0" tIns="0" rIns="0" bIns="0" anchor="t">
            <a:noAutofit/>
          </a:bodyPr>
          <a:lstStyle xmlns:a="http://schemas.openxmlformats.org/drawingml/2006/main"/>
          <a:p xmlns:a="http://schemas.openxmlformats.org/drawingml/2006/main">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Anhang: Stateful LSTM und MLP-Head</a:t>
            </a:r>
          </a: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Anhang 9</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sp>
        <p:nvSpPr>
          <p:cNvPr id="21" name="V5_Text_21">
            <a:extLst xmlns:a="http://schemas.openxmlformats.org/drawingml/2006/main">
              <a:ext uri="{FF2B5EF4-FFF2-40B4-BE49-F238E27FC236}">
                <a16:creationId xmlns:a16="http://schemas.microsoft.com/office/drawing/2014/main" id="{490E02B1-60AF-49F2-A9E0-046A3C478EAD}"/>
              </a:ext>
            </a:extLst>
          </p:cNvPr>
          <p:cNvSpPr>
            <a:spLocks xmlns:a="http://schemas.openxmlformats.org/drawingml/2006/main" noGrp="1"/>
          </p:cNvSpPr>
          <p:nvPr/>
        </p:nvSpPr>
        <p:spPr>
          <a:xfrm xmlns:a="http://schemas.openxmlformats.org/drawingml/2006/main">
            <a:off x="552450" y="4057650"/>
            <a:ext cx="93535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ns1:p xmlns:ns1="http://schemas.openxmlformats.org/drawingml/2006/main">
            <ns1:pPr marL="20" indent="-17" algn="l">
              <ns1:spcBef>
                <ns1:spcPts val="0"/>
              </ns1:spcBef>
              <ns1:spcAft>
                <ns1:spcPts val="0"/>
              </ns1:spcAft>
              <ns1:buChar char="•"/>
              <ns1:defRPr sz="1800" b="0">
                <ns1:solidFill>
                  <ns1:srgbClr val="3F3F3F"/>
                </ns1:solidFill>
                <ns1:latin typeface="Calibri"/>
                <ns1:ea typeface="Calibri"/>
                <ns1:cs typeface="Calibri"/>
              </ns1:defRPr>
            </ns1:pPr>
            <ns1:r>
              <ns1:rPr sz="1800" b="1">
                <ns1:latin typeface="Calibri"/>
                <ns1:ea typeface="Calibri"/>
                <ns1:cs typeface="Calibri"/>
              </ns1:rPr>
              <ns1:t>Stateful LSTM:</ns1:t>
            </ns1:r>
            <ns1:r>
              <ns1:rPr sz="1800" b="0">
                <ns1:latin typeface="Calibri"/>
                <ns1:ea typeface="Calibri"/>
                <ns1:cs typeface="Calibri"/>
              </ns1:rPr>
              <ns1:t xml:space="preserve"> hₜ und cₜ über den gesamten 1-Hz-Datenstrom weitergeben</ns1:t>
            </ns1:r>
          </ns1:p>
        </p:txBody>
      </p:sp>
      <p:sp>
        <p:nvSpPr>
          <p:cNvPr id="22" name="V5_Text_22">
            <a:extLst xmlns:a="http://schemas.openxmlformats.org/drawingml/2006/main">
              <a:ext uri="{FF2B5EF4-FFF2-40B4-BE49-F238E27FC236}">
                <a16:creationId xmlns:a16="http://schemas.microsoft.com/office/drawing/2014/main" id="{0DA398DD-61BC-4ABF-AB97-D071C9222883}"/>
              </a:ext>
            </a:extLst>
          </p:cNvPr>
          <p:cNvSpPr>
            <a:spLocks xmlns:a="http://schemas.openxmlformats.org/drawingml/2006/main" noGrp="1"/>
          </p:cNvSpPr>
          <p:nvPr/>
        </p:nvSpPr>
        <p:spPr>
          <a:xfrm xmlns:a="http://schemas.openxmlformats.org/drawingml/2006/main">
            <a:off x="552450" y="4543425"/>
            <a:ext cx="9353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ns2:p xmlns:ns2="http://schemas.openxmlformats.org/drawingml/2006/main">
            <ns2:pPr marL="20" indent="-17" algn="l">
              <ns2:spcBef>
                <ns2:spcPts val="0"/>
              </ns2:spcBef>
              <ns2:spcAft>
                <ns2:spcPts val="0"/>
              </ns2:spcAft>
              <ns2:buChar char="•"/>
              <ns2:defRPr sz="1800" b="0">
                <ns2:solidFill>
                  <ns2:srgbClr val="3F3F3F"/>
                </ns2:solidFill>
                <ns2:latin typeface="Calibri"/>
                <ns2:ea typeface="Calibri"/>
                <ns2:cs typeface="Calibri"/>
              </ns2:defRPr>
            </ns2:pPr>
            <ns2:r>
              <ns2:rPr sz="1800" b="1">
                <ns2:latin typeface="Calibri"/>
                <ns2:ea typeface="Calibri"/>
                <ns2:cs typeface="Calibri"/>
              </ns2:rPr>
              <ns2:t>Eingänge:</ns2:t>
            </ns2:r>
            <ns2:r>
              <ns2:rPr sz="1800" b="0">
                <ns2:latin typeface="Calibri"/>
                <ns2:ea typeface="Calibri"/>
                <ns2:cs typeface="Calibri"/>
              </ns2:rPr>
              <ns2:t xml:space="preserve"> SOC mit U, I, T, Qc, dU/dt, dI/dt. SOH mit t, U, I, T, EFC, Qc</ns2:t>
            </ns2:r>
          </ns2:p>
        </p:txBody>
      </p:sp>
      <p:sp>
        <p:nvSpPr>
          <p:cNvPr id="23" name="V5_Text_23">
            <a:extLst xmlns:a="http://schemas.openxmlformats.org/drawingml/2006/main">
              <a:ext uri="{FF2B5EF4-FFF2-40B4-BE49-F238E27FC236}">
                <a16:creationId xmlns:a16="http://schemas.microsoft.com/office/drawing/2014/main" id="{28E8EBC4-65D0-4557-8247-3DBA25628172}"/>
              </a:ext>
            </a:extLst>
          </p:cNvPr>
          <p:cNvSpPr>
            <a:spLocks xmlns:a="http://schemas.openxmlformats.org/drawingml/2006/main" noGrp="1"/>
          </p:cNvSpPr>
          <p:nvPr/>
        </p:nvSpPr>
        <p:spPr>
          <a:xfrm xmlns:a="http://schemas.openxmlformats.org/drawingml/2006/main">
            <a:off x="552450" y="5238750"/>
            <a:ext cx="9353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ns3:p xmlns:ns3="http://schemas.openxmlformats.org/drawingml/2006/main">
            <ns3:pPr marL="0" indent="0" algn="l">
              <ns3:spcBef>
                <ns3:spcPts val="0"/>
              </ns3:spcBef>
              <ns3:spcAft>
                <ns3:spcPts val="0"/>
              </ns3:spcAft>
              <ns3:buNone/>
              <ns3:defRPr sz="1800" b="0">
                <ns3:solidFill>
                  <ns3:srgbClr val="3F3F3F"/>
                </ns3:solidFill>
                <ns3:latin typeface="Calibri"/>
                <ns3:ea typeface="Calibri"/>
                <ns3:cs typeface="Calibri"/>
              </ns3:defRPr>
            </ns3:pPr>
            <ns3:r>
              <ns3:rPr sz="1800" b="1">
                <ns3:latin typeface="Calibri"/>
                <ns3:ea typeface="Calibri"/>
                <ns3:cs typeface="Calibri"/>
              </ns3:rPr>
              <ns3:t>SOC:</ns3:t>
            </ns3:r>
            <ns3:r>
              <ns3:rPr sz="1800" b="0">
                <ns3:latin typeface="Calibri"/>
                <ns3:ea typeface="Calibri"/>
                <ns3:cs typeface="Calibri"/>
              </ns3:rPr>
              <ns3:t xml:space="preserve"> H = M = 64, Sigmoid. SOH: H = M = 128, linearer Ausgang</ns3:t>
            </ns3:r>
          </ns3:p>
        </p:txBody>
      </p:sp>
      <p:sp>
        <p:nvSpPr>
          <p:cNvPr id="25" name="Structure separator">
            <a:extLst xmlns:a="http://schemas.openxmlformats.org/drawingml/2006/main">
              <a:ext uri="{FF2B5EF4-FFF2-40B4-BE49-F238E27FC236}">
                <a16:creationId xmlns:a16="http://schemas.microsoft.com/office/drawing/2014/main" id="{F1172810-A9AC-4C7B-B4FD-F8FA917498AF}"/>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26" name="Structure label">
            <a:extLst xmlns:a="http://schemas.openxmlformats.org/drawingml/2006/main">
              <a:ext uri="{FF2B5EF4-FFF2-40B4-BE49-F238E27FC236}">
                <a16:creationId xmlns:a16="http://schemas.microsoft.com/office/drawing/2014/main" id="{0F32C96F-1D12-48DC-9E3B-F6956131A458}"/>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7" name="Structure 0">
            <a:extLst xmlns:a="http://schemas.openxmlformats.org/drawingml/2006/main">
              <a:ext uri="{FF2B5EF4-FFF2-40B4-BE49-F238E27FC236}">
                <a16:creationId xmlns:a16="http://schemas.microsoft.com/office/drawing/2014/main" id="{B7228852-721B-431E-B6EA-9FDE2B77FF62}"/>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8" name="Structure 1">
            <a:extLst xmlns:a="http://schemas.openxmlformats.org/drawingml/2006/main">
              <a:ext uri="{FF2B5EF4-FFF2-40B4-BE49-F238E27FC236}">
                <a16:creationId xmlns:a16="http://schemas.microsoft.com/office/drawing/2014/main" id="{98A99518-00F7-4BCE-9A01-0AB72A4049ED}"/>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9" name="Structure 2">
            <a:extLst xmlns:a="http://schemas.openxmlformats.org/drawingml/2006/main">
              <a:ext uri="{FF2B5EF4-FFF2-40B4-BE49-F238E27FC236}">
                <a16:creationId xmlns:a16="http://schemas.microsoft.com/office/drawing/2014/main" id="{286DBC0D-83E9-4BF3-8D62-8A8E95590C15}"/>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0" name="Structure 3">
            <a:extLst xmlns:a="http://schemas.openxmlformats.org/drawingml/2006/main">
              <a:ext uri="{FF2B5EF4-FFF2-40B4-BE49-F238E27FC236}">
                <a16:creationId xmlns:a16="http://schemas.microsoft.com/office/drawing/2014/main" id="{0F7F0D20-E692-4C66-9E22-A165D4334539}"/>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1" name="Structure 4">
            <a:extLst xmlns:a="http://schemas.openxmlformats.org/drawingml/2006/main">
              <a:ext uri="{FF2B5EF4-FFF2-40B4-BE49-F238E27FC236}">
                <a16:creationId xmlns:a16="http://schemas.microsoft.com/office/drawing/2014/main" id="{57D36B00-32B8-4D70-87A5-C7ACBC0D2384}"/>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32" name="Structure 5">
            <a:extLst xmlns:a="http://schemas.openxmlformats.org/drawingml/2006/main">
              <a:ext uri="{FF2B5EF4-FFF2-40B4-BE49-F238E27FC236}">
                <a16:creationId xmlns:a16="http://schemas.microsoft.com/office/drawing/2014/main" id="{C225A9AE-5AB8-480E-AC8F-CCFA60F32DE5}"/>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47ec9455b9df425d"/>
          <a:stretch xmlns:a="http://schemas.openxmlformats.org/drawingml/2006/main"/>
        </p:blipFill>
        <p:spPr>
          <a:xfrm xmlns:a="http://schemas.openxmlformats.org/drawingml/2006/main">
            <a:off x="1389574" y="1419225"/>
            <a:ext cx="7679301" cy="2447925"/>
          </a:xfrm>
          <a:prstGeom xmlns:a="http://schemas.openxmlformats.org/drawingml/2006/main" prst="rect">
            <a:avLst/>
          </a:prstGeom>
        </p:spPr>
      </p:pic>
      <p:sp>
        <p:nvSpPr>
          <p:cNvPr id="34" name="v11-math-26-4">
            <a:extLst xmlns:a="http://schemas.openxmlformats.org/drawingml/2006/main">
              <a:ext uri="{FF2B5EF4-FFF2-40B4-BE49-F238E27FC236}">
                <a16:creationId xmlns:a16="http://schemas.microsoft.com/office/drawing/2014/main" id="{C3FBA9BA-7352-450D-9E21-3334D972602B}"/>
              </a:ext>
            </a:extLst>
          </p:cNvPr>
          <p:cNvSpPr>
            <a:spLocks xmlns:a="http://schemas.openxmlformats.org/drawingml/2006/main" noGrp="1"/>
          </p:cNvSpPr>
          <p:nvPr/>
        </p:nvSpPr>
        <p:spPr>
          <a:xfrm xmlns:a="http://schemas.openxmlformats.org/drawingml/2006/main">
            <a:off x="3519488" y="5648325"/>
            <a:ext cx="34194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pPr>
            <a14:m xmlns:a14="http://schemas.microsoft.com/office/drawing/2010/main">
              <m:oMathPara xmlns:m="http://schemas.openxmlformats.org/officeDocument/2006/math">
                <m:oMathParaPr>
                  <m:jc m:val="centerGroup"/>
                </m:oMathParaPr>
                <m:oMath>
                  <m:sSub>
                    <m:e>
                      <m:acc>
                        <m:accPr>
                          <m:chr m:val="^"/>
                        </m:accPr>
                        <m:e>
                          <m:r>
                            <a:rPr xmlns:a="http://schemas.openxmlformats.org/drawingml/2006/main" sz="1875">
                              <a:latin typeface="Cambria Math"/>
                              <a:ea typeface="Cambria Math"/>
                              <a:cs typeface="Cambria Math"/>
                            </a:rPr>
                            <m:t>y</m:t>
                          </m:r>
                        </m:e>
                      </m:acc>
                    </m:e>
                    <m:sub>
                      <m:r>
                        <a:rPr xmlns:a="http://schemas.openxmlformats.org/drawingml/2006/main" sz="1313">
                          <a:latin typeface="Cambria Math"/>
                          <a:ea typeface="Cambria Math"/>
                          <a:cs typeface="Cambria Math"/>
                        </a:rPr>
                        <m:t>t</m:t>
                      </m:r>
                    </m:sub>
                  </m:sSub>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f</m:t>
                      </m:r>
                    </m:e>
                    <m:sub>
                      <m:r>
                        <a:rPr xmlns:a="http://schemas.openxmlformats.org/drawingml/2006/main" sz="1313">
                          <a:latin typeface="Cambria Math"/>
                          <a:ea typeface="Cambria Math"/>
                          <a:cs typeface="Cambria Math"/>
                        </a:rPr>
                        <m:t>o</m:t>
                      </m:r>
                      <m:r>
                        <a:rPr xmlns:a="http://schemas.openxmlformats.org/drawingml/2006/main" sz="1313">
                          <a:latin typeface="Cambria Math"/>
                          <a:ea typeface="Cambria Math"/>
                          <a:cs typeface="Cambria Math"/>
                        </a:rPr>
                        <m:t>u</m:t>
                      </m:r>
                      <m:r>
                        <a:rPr xmlns:a="http://schemas.openxmlformats.org/drawingml/2006/main" sz="1313">
                          <a:latin typeface="Cambria Math"/>
                          <a:ea typeface="Cambria Math"/>
                          <a:cs typeface="Cambria Math"/>
                        </a:rPr>
                        <m:t>t</m:t>
                      </m:r>
                    </m:sub>
                  </m:sSub>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W</m:t>
                      </m:r>
                    </m:e>
                    <m:sub>
                      <m:r>
                        <a:rPr xmlns:a="http://schemas.openxmlformats.org/drawingml/2006/main" sz="1313">
                          <a:latin typeface="Cambria Math"/>
                          <a:ea typeface="Cambria Math"/>
                          <a:cs typeface="Cambria Math"/>
                        </a:rPr>
                        <m:t>2</m:t>
                      </m:r>
                    </m:sub>
                  </m:sSub>
                  <m:r>
                    <a:rPr xmlns:a="http://schemas.openxmlformats.org/drawingml/2006/main" sz="1875">
                      <a:latin typeface="Cambria Math"/>
                      <a:ea typeface="Cambria Math"/>
                      <a:cs typeface="Cambria Math"/>
                    </a:rPr>
                    <m:t>R</m:t>
                  </m:r>
                  <m:r>
                    <a:rPr xmlns:a="http://schemas.openxmlformats.org/drawingml/2006/main" sz="1875">
                      <a:latin typeface="Cambria Math"/>
                      <a:ea typeface="Cambria Math"/>
                      <a:cs typeface="Cambria Math"/>
                    </a:rPr>
                    <m:t>e</m:t>
                  </m:r>
                  <m:r>
                    <a:rPr xmlns:a="http://schemas.openxmlformats.org/drawingml/2006/main" sz="1875">
                      <a:latin typeface="Cambria Math"/>
                      <a:ea typeface="Cambria Math"/>
                      <a:cs typeface="Cambria Math"/>
                    </a:rPr>
                    <m:t>L</m:t>
                  </m:r>
                  <m:r>
                    <a:rPr xmlns:a="http://schemas.openxmlformats.org/drawingml/2006/main" sz="1875">
                      <a:latin typeface="Cambria Math"/>
                      <a:ea typeface="Cambria Math"/>
                      <a:cs typeface="Cambria Math"/>
                    </a:rPr>
                    <m:t>U</m:t>
                  </m:r>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W</m:t>
                      </m:r>
                    </m:e>
                    <m:sub>
                      <m:r>
                        <a:rPr xmlns:a="http://schemas.openxmlformats.org/drawingml/2006/main" sz="1313">
                          <a:latin typeface="Cambria Math"/>
                          <a:ea typeface="Cambria Math"/>
                          <a:cs typeface="Cambria Math"/>
                        </a:rPr>
                        <m:t>1</m:t>
                      </m:r>
                    </m:sub>
                  </m:sSub>
                  <m:sSub>
                    <m:e>
                      <m:r>
                        <a:rPr xmlns:a="http://schemas.openxmlformats.org/drawingml/2006/main" sz="1875">
                          <a:latin typeface="Cambria Math"/>
                          <a:ea typeface="Cambria Math"/>
                          <a:cs typeface="Cambria Math"/>
                        </a:rPr>
                        <m:t>h</m:t>
                      </m:r>
                    </m:e>
                    <m:sub>
                      <m:r>
                        <a:rPr xmlns:a="http://schemas.openxmlformats.org/drawingml/2006/main" sz="1313">
                          <a:latin typeface="Cambria Math"/>
                          <a:ea typeface="Cambria Math"/>
                          <a:cs typeface="Cambria Math"/>
                        </a:rPr>
                        <m:t>t</m:t>
                      </m:r>
                    </m:sub>
                  </m:sSub>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b</m:t>
                      </m:r>
                    </m:e>
                    <m:sub>
                      <m:r>
                        <a:rPr xmlns:a="http://schemas.openxmlformats.org/drawingml/2006/main" sz="1313">
                          <a:latin typeface="Cambria Math"/>
                          <a:ea typeface="Cambria Math"/>
                          <a:cs typeface="Cambria Math"/>
                        </a:rPr>
                        <m:t>1</m:t>
                      </m:r>
                    </m:sub>
                  </m:sSub>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b</m:t>
                      </m:r>
                    </m:e>
                    <m:sub>
                      <m:r>
                        <a:rPr xmlns:a="http://schemas.openxmlformats.org/drawingml/2006/main" sz="1313">
                          <a:latin typeface="Cambria Math"/>
                          <a:ea typeface="Cambria Math"/>
                          <a:cs typeface="Cambria Math"/>
                        </a:rPr>
                        <m:t>2</m:t>
                      </m:r>
                    </m:sub>
                  </m:sSub>
                  <m:r>
                    <a:rPr xmlns:a="http://schemas.openxmlformats.org/drawingml/2006/main" sz="1875">
                      <a:latin typeface="Cambria Math"/>
                      <a:ea typeface="Cambria Math"/>
                      <a:cs typeface="Cambria Math"/>
                    </a:rPr>
                    <m:t>)</m:t>
                  </m:r>
                </m:oMath>
              </m:oMathPara>
            </a14:m>
          </a:p>
        </p:txBody>
      </p:sp>
    </p:spTree>
    <p:extLst>
      <p:ext uri="{BB962C8B-B14F-4D97-AF65-F5344CB8AC3E}">
        <p14:creationId xmlns:p14="http://schemas.microsoft.com/office/powerpoint/2010/main" val="2834351105"/>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D00020"/>
                </a:solidFill>
                <a:latin typeface="Calibri"/>
                <a:ea typeface="Calibri"/>
                <a:cs typeface="Calibri"/>
              </a:defRPr>
            </a:pPr>
            <a:r>
              <a:rPr sz="2400" b="0">
                <a:solidFill>
                  <a:srgbClr val="D00020"/>
                </a:solidFill>
                <a:latin typeface="Calibri"/>
                <a:ea typeface="Calibri"/>
                <a:cs typeface="Calibri"/>
              </a:rPr>
              <a:t>Modellkomplexität: Anzahl der Parameter</a:t>
            </a:r>
          </a: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32 / 44</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sp>
        <p:nvSpPr>
          <p:cNvPr id="25" name="Structure separator">
            <a:extLst xmlns:a="http://schemas.openxmlformats.org/drawingml/2006/main">
              <a:ext uri="{FF2B5EF4-FFF2-40B4-BE49-F238E27FC236}">
                <a16:creationId xmlns:a16="http://schemas.microsoft.com/office/drawing/2014/main" id="{F1172810-A9AC-4C7B-B4FD-F8FA917498AF}"/>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26" name="Structure label">
            <a:extLst xmlns:a="http://schemas.openxmlformats.org/drawingml/2006/main">
              <a:ext uri="{FF2B5EF4-FFF2-40B4-BE49-F238E27FC236}">
                <a16:creationId xmlns:a16="http://schemas.microsoft.com/office/drawing/2014/main" id="{0F32C96F-1D12-48DC-9E3B-F6956131A458}"/>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7" name="Structure 0">
            <a:extLst xmlns:a="http://schemas.openxmlformats.org/drawingml/2006/main">
              <a:ext uri="{FF2B5EF4-FFF2-40B4-BE49-F238E27FC236}">
                <a16:creationId xmlns:a16="http://schemas.microsoft.com/office/drawing/2014/main" id="{B7228852-721B-431E-B6EA-9FDE2B77FF62}"/>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8" name="Structure 1">
            <a:extLst xmlns:a="http://schemas.openxmlformats.org/drawingml/2006/main">
              <a:ext uri="{FF2B5EF4-FFF2-40B4-BE49-F238E27FC236}">
                <a16:creationId xmlns:a16="http://schemas.microsoft.com/office/drawing/2014/main" id="{98A99518-00F7-4BCE-9A01-0AB72A4049ED}"/>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9" name="Structure 2">
            <a:extLst xmlns:a="http://schemas.openxmlformats.org/drawingml/2006/main">
              <a:ext uri="{FF2B5EF4-FFF2-40B4-BE49-F238E27FC236}">
                <a16:creationId xmlns:a16="http://schemas.microsoft.com/office/drawing/2014/main" id="{286DBC0D-83E9-4BF3-8D62-8A8E95590C15}"/>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0" name="Structure 3">
            <a:extLst xmlns:a="http://schemas.openxmlformats.org/drawingml/2006/main">
              <a:ext uri="{FF2B5EF4-FFF2-40B4-BE49-F238E27FC236}">
                <a16:creationId xmlns:a16="http://schemas.microsoft.com/office/drawing/2014/main" id="{0F7F0D20-E692-4C66-9E22-A165D4334539}"/>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1" name="Structure 4">
            <a:extLst xmlns:a="http://schemas.openxmlformats.org/drawingml/2006/main">
              <a:ext uri="{FF2B5EF4-FFF2-40B4-BE49-F238E27FC236}">
                <a16:creationId xmlns:a16="http://schemas.microsoft.com/office/drawing/2014/main" id="{57D36B00-32B8-4D70-87A5-C7ACBC0D2384}"/>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32" name="Structure 5">
            <a:extLst xmlns:a="http://schemas.openxmlformats.org/drawingml/2006/main">
              <a:ext uri="{FF2B5EF4-FFF2-40B4-BE49-F238E27FC236}">
                <a16:creationId xmlns:a16="http://schemas.microsoft.com/office/drawing/2014/main" id="{C225A9AE-5AB8-480E-AC8F-CCFA60F32DE5}"/>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47ec9455b9df425d"/>
          <a:stretch xmlns:a="http://schemas.openxmlformats.org/drawingml/2006/main"/>
        </p:blipFill>
        <p:spPr>
          <a:xfrm xmlns:a="http://schemas.openxmlformats.org/drawingml/2006/main">
            <a:off x="1389574" y="1419225"/>
            <a:ext cx="7679301" cy="2447925"/>
          </a:xfrm>
          <a:prstGeom xmlns:a="http://schemas.openxmlformats.org/drawingml/2006/main" prst="rect">
            <a:avLst/>
          </a:prstGeom>
        </p:spPr>
      </p:pic>
      <p:sp>
        <p:nvSpPr>
          <p:cNvPr id="2000" name="PC_highlight_lstm">
            <a:extLst xmlns:a="http://schemas.openxmlformats.org/drawingml/2006/main">
              <a:ext uri="{FF2B5EF4-FFF2-40B4-BE49-F238E27FC236}">
                <a16:creationId xmlns:a16="http://schemas.microsoft.com/office/drawing/2014/main" id="{9D1ACB14-F00C-4614-98C9-B8BC565F9F7B}"/>
              </a:ext>
            </a:extLst>
          </p:cNvPr>
          <p:cNvSpPr>
            <a:spLocks xmlns:a="http://schemas.openxmlformats.org/drawingml/2006/main" noGrp="1"/>
          </p:cNvSpPr>
          <p:nvPr/>
        </p:nvSpPr>
        <p:spPr>
          <a:xfrm xmlns:a="http://schemas.openxmlformats.org/drawingml/2006/main">
            <a:off x="3638550" y="1438275"/>
            <a:ext cx="2505075" cy="1866900"/>
          </a:xfrm>
          <a:prstGeom xmlns:a="http://schemas.openxmlformats.org/drawingml/2006/main" prst="rect">
            <a:avLst/>
          </a:prstGeom>
          <a:noFill xmlns:a="http://schemas.openxmlformats.org/drawingml/2006/main"/>
          <a:ln xmlns:a="http://schemas.openxmlformats.org/drawingml/2006/main" w="23813">
            <a:solidFill>
              <a:srgbClr val="D00020"/>
            </a:solidFill>
          </a:ln>
        </p:spPr>
      </p:sp>
      <p:sp>
        <p:nvSpPr>
          <p:cNvPr id="2001" name="PC_lstm_context">
            <a:extLst xmlns:a="http://schemas.openxmlformats.org/drawingml/2006/main">
              <a:ext uri="{FF2B5EF4-FFF2-40B4-BE49-F238E27FC236}">
                <a16:creationId xmlns:a16="http://schemas.microsoft.com/office/drawing/2014/main" id="{8F6F31F6-DB3D-4962-82EA-FC8F6F6FBBD5}"/>
              </a:ext>
            </a:extLst>
          </p:cNvPr>
          <p:cNvSpPr>
            <a:spLocks xmlns:a="http://schemas.openxmlformats.org/drawingml/2006/main" noGrp="1"/>
          </p:cNvSpPr>
          <p:nvPr/>
        </p:nvSpPr>
        <p:spPr>
          <a:xfrm xmlns:a="http://schemas.openxmlformats.org/drawingml/2006/main">
            <a:off x="552450" y="4019550"/>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LSTM-Kern: D = 6 Eingänge, H Hidden Units und vier Transformationen</a:t>
            </a:r>
          </a:p>
        </p:txBody>
      </p:sp>
      <p:sp>
        <p:nvSpPr>
          <p:cNvPr id="2002" name="PC_lstm_formula">
            <a:extLst xmlns:a="http://schemas.openxmlformats.org/drawingml/2006/main">
              <a:ext uri="{FF2B5EF4-FFF2-40B4-BE49-F238E27FC236}">
                <a16:creationId xmlns:a16="http://schemas.microsoft.com/office/drawing/2014/main" id="{7D64357B-95AF-44E4-B9A0-79C5B4F41DBC}"/>
              </a:ext>
            </a:extLst>
          </p:cNvPr>
          <p:cNvSpPr>
            <a:spLocks xmlns:a="http://schemas.openxmlformats.org/drawingml/2006/main" noGrp="1"/>
          </p:cNvSpPr>
          <p:nvPr/>
        </p:nvSpPr>
        <p:spPr>
          <a:xfrm xmlns:a="http://schemas.openxmlformats.org/drawingml/2006/main">
            <a:off x="552450" y="4400550"/>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pPr>
            <a14:m xmlns:a14="http://schemas.microsoft.com/office/drawing/2010/main">
              <m:oMathPara xmlns:m="http://schemas.openxmlformats.org/officeDocument/2006/math">
                <m:oMathParaPr>
                  <m:jc m:val="left"/>
                </m:oMathParaPr>
                <m:oMath>
                  <m:sSub>
                    <m:e>
                      <m:r>
                        <a:rPr sz="1800">
                          <a:solidFill>
                            <a:srgbClr val="444444"/>
                          </a:solidFill>
                          <a:latin typeface="Cambria Math"/>
                          <a:ea typeface="Cambria Math"/>
                          <a:cs typeface="Cambria Math"/>
                        </a:rPr>
                        <m:t>N</m:t>
                      </m:r>
                    </m:e>
                    <m:sub>
                      <m:r>
                        <m:rPr>
                          <m:sty m:val="p"/>
                        </m:rPr>
                        <a:rPr sz="1260">
                          <a:solidFill>
                            <a:srgbClr val="444444"/>
                          </a:solidFill>
                          <a:latin typeface="Cambria Math"/>
                          <a:ea typeface="Cambria Math"/>
                          <a:cs typeface="Cambria Math"/>
                        </a:rPr>
                        <m:t>LSTM</m:t>
                      </m:r>
                    </m:sub>
                  </m:sSub>
                  <m:r>
                    <a:rPr sz="1800">
                      <a:solidFill>
                        <a:srgbClr val="444444"/>
                      </a:solidFill>
                      <a:latin typeface="Cambria Math"/>
                      <a:ea typeface="Cambria Math"/>
                      <a:cs typeface="Cambria Math"/>
                    </a:rPr>
                    <m:t>=4(HD+</m:t>
                  </m:r>
                  <m:sSup>
                    <m:e>
                      <m:r>
                        <a:rPr sz="1800">
                          <a:solidFill>
                            <a:srgbClr val="444444"/>
                          </a:solidFill>
                          <a:latin typeface="Cambria Math"/>
                          <a:ea typeface="Cambria Math"/>
                          <a:cs typeface="Cambria Math"/>
                        </a:rPr>
                        <m:t>H</m:t>
                      </m:r>
                    </m:e>
                    <m:sup>
                      <m:r>
                        <a:rPr sz="1260">
                          <a:solidFill>
                            <a:srgbClr val="444444"/>
                          </a:solidFill>
                          <a:latin typeface="Cambria Math"/>
                          <a:ea typeface="Cambria Math"/>
                          <a:cs typeface="Cambria Math"/>
                        </a:rPr>
                        <m:t>2</m:t>
                      </m:r>
                    </m:sup>
                  </m:sSup>
                  <m:r>
                    <a:rPr sz="1800">
                      <a:solidFill>
                        <a:srgbClr val="444444"/>
                      </a:solidFill>
                      <a:latin typeface="Cambria Math"/>
                      <a:ea typeface="Cambria Math"/>
                      <a:cs typeface="Cambria Math"/>
                    </a:rPr>
                    <m:t>+2H)=4H(D+H+2)</m:t>
                  </m:r>
                </m:oMath>
              </m:oMathPara>
            </a14:m>
          </a:p>
        </p:txBody>
      </p:sp>
      <p:sp>
        <p:nvSpPr>
          <p:cNvPr id="2003" name="PC_lstm_terms">
            <a:extLst xmlns:a="http://schemas.openxmlformats.org/drawingml/2006/main">
              <a:ext uri="{FF2B5EF4-FFF2-40B4-BE49-F238E27FC236}">
                <a16:creationId xmlns:a16="http://schemas.microsoft.com/office/drawing/2014/main" id="{03FAB854-6EB4-4302-9649-46CA12F9A798}"/>
              </a:ext>
            </a:extLst>
          </p:cNvPr>
          <p:cNvSpPr>
            <a:spLocks xmlns:a="http://schemas.openxmlformats.org/drawingml/2006/main" noGrp="1"/>
          </p:cNvSpPr>
          <p:nvPr/>
        </p:nvSpPr>
        <p:spPr>
          <a:xfrm xmlns:a="http://schemas.openxmlformats.org/drawingml/2006/main">
            <a:off x="552450" y="4781550"/>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Gewichte: H × D (Input) und H² (Rekurrenz), Bias: 2H je Transformation</a:t>
            </a:r>
          </a:p>
        </p:txBody>
      </p:sp>
      <p:sp>
        <p:nvSpPr>
          <p:cNvPr id="2004" name="PC_lstm_soc">
            <a:extLst xmlns:a="http://schemas.openxmlformats.org/drawingml/2006/main">
              <a:ext uri="{FF2B5EF4-FFF2-40B4-BE49-F238E27FC236}">
                <a16:creationId xmlns:a16="http://schemas.microsoft.com/office/drawing/2014/main" id="{EBDEA6A4-C10B-480C-B332-E1C36C39EBE9}"/>
              </a:ext>
            </a:extLst>
          </p:cNvPr>
          <p:cNvSpPr>
            <a:spLocks xmlns:a="http://schemas.openxmlformats.org/drawingml/2006/main" noGrp="1"/>
          </p:cNvSpPr>
          <p:nvPr/>
        </p:nvSpPr>
        <p:spPr>
          <a:xfrm xmlns:a="http://schemas.openxmlformats.org/drawingml/2006/main">
            <a:off x="552450" y="5162550"/>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pPr>
            <a14:m xmlns:a14="http://schemas.microsoft.com/office/drawing/2010/main">
              <m:oMathPara xmlns:m="http://schemas.openxmlformats.org/officeDocument/2006/math">
                <m:oMathParaPr>
                  <m:jc m:val="left"/>
                </m:oMathParaPr>
                <m:oMath>
                  <m:r>
                    <m:rPr>
                      <m:sty m:val="p"/>
                    </m:rPr>
                    <a:rPr sz="1800">
                      <a:solidFill>
                        <a:srgbClr val="D00020"/>
                      </a:solidFill>
                      <a:latin typeface="Cambria Math"/>
                      <a:ea typeface="Cambria Math"/>
                      <a:cs typeface="Cambria Math"/>
                    </a:rPr>
                    <m:t xml:space="preserve">SOC (H = 64): </m:t>
                  </m:r>
                  <m:r>
                    <a:rPr sz="1800">
                      <a:solidFill>
                        <a:srgbClr val="D00020"/>
                      </a:solidFill>
                      <a:latin typeface="Cambria Math"/>
                      <a:ea typeface="Cambria Math"/>
                      <a:cs typeface="Cambria Math"/>
                    </a:rPr>
                    <m:t>4 × 64 × (6 + 64 + 2) = 18 432</m:t>
                  </m:r>
                </m:oMath>
              </m:oMathPara>
            </a14:m>
          </a:p>
        </p:txBody>
      </p:sp>
      <p:sp>
        <p:nvSpPr>
          <p:cNvPr id="2005" name="PC_lstm_soh">
            <a:extLst xmlns:a="http://schemas.openxmlformats.org/drawingml/2006/main">
              <a:ext uri="{FF2B5EF4-FFF2-40B4-BE49-F238E27FC236}">
                <a16:creationId xmlns:a16="http://schemas.microsoft.com/office/drawing/2014/main" id="{617BD58E-E617-4D38-9CD5-DA4BD5DD92E7}"/>
              </a:ext>
            </a:extLst>
          </p:cNvPr>
          <p:cNvSpPr>
            <a:spLocks xmlns:a="http://schemas.openxmlformats.org/drawingml/2006/main" noGrp="1"/>
          </p:cNvSpPr>
          <p:nvPr/>
        </p:nvSpPr>
        <p:spPr>
          <a:xfrm xmlns:a="http://schemas.openxmlformats.org/drawingml/2006/main">
            <a:off x="552450" y="5543550"/>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pPr>
            <a14:m xmlns:a14="http://schemas.microsoft.com/office/drawing/2010/main">
              <m:oMathPara xmlns:m="http://schemas.openxmlformats.org/officeDocument/2006/math">
                <m:oMathParaPr>
                  <m:jc m:val="left"/>
                </m:oMathParaPr>
                <m:oMath>
                  <m:r>
                    <m:rPr>
                      <m:sty m:val="p"/>
                    </m:rPr>
                    <a:rPr sz="1800">
                      <a:solidFill>
                        <a:srgbClr val="D00020"/>
                      </a:solidFill>
                      <a:latin typeface="Cambria Math"/>
                      <a:ea typeface="Cambria Math"/>
                      <a:cs typeface="Cambria Math"/>
                    </a:rPr>
                    <m:t xml:space="preserve">SOH (H = 128): </m:t>
                  </m:r>
                  <m:r>
                    <a:rPr sz="1800">
                      <a:solidFill>
                        <a:srgbClr val="D00020"/>
                      </a:solidFill>
                      <a:latin typeface="Cambria Math"/>
                      <a:ea typeface="Cambria Math"/>
                      <a:cs typeface="Cambria Math"/>
                    </a:rPr>
                    <m:t>4 × 128 × (6 + 128 + 2) = 69 632</m:t>
                  </m:r>
                </m:oMath>
              </m:oMathPara>
            </a14:m>
          </a:p>
        </p:txBody>
      </p:sp>
      <p:sp>
        <p:nvSpPr>
          <p:cNvPr id="2006" name="PE_SOC_features">
            <a:extLst xmlns:a="http://schemas.openxmlformats.org/drawingml/2006/main">
              <a:ext uri="{FF2B5EF4-FFF2-40B4-BE49-F238E27FC236}">
                <a16:creationId xmlns:a16="http://schemas.microsoft.com/office/drawing/2014/main" id="{24A1E4F1-9E71-4E6D-AFBF-D0EC6FC8EA87}"/>
              </a:ext>
            </a:extLst>
          </p:cNvPr>
          <p:cNvSpPr>
            <a:spLocks xmlns:a="http://schemas.openxmlformats.org/drawingml/2006/main" noGrp="1"/>
          </p:cNvSpPr>
          <p:nvPr/>
        </p:nvSpPr>
        <p:spPr>
          <a:xfrm xmlns:a="http://schemas.openxmlformats.org/drawingml/2006/main">
            <a:off x="552450" y="1095375"/>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SOC: </a:t>
            </a:r>
            <a:r>
              <a:rPr sz="1800" b="0">
                <a:solidFill>
                  <a:srgbClr val="444444"/>
                </a:solidFill>
                <a:latin typeface="Calibri"/>
                <a:ea typeface="Calibri"/>
                <a:cs typeface="Calibri"/>
              </a:rPr>
              <a:t>U, I, T, Qc, dU/dt, dI/dt</a:t>
            </a:r>
          </a:p>
        </p:txBody>
      </p:sp>
      <p:sp>
        <p:nvSpPr>
          <p:cNvPr id="2007" name="PE_SOH_features">
            <a:extLst xmlns:a="http://schemas.openxmlformats.org/drawingml/2006/main">
              <a:ext uri="{FF2B5EF4-FFF2-40B4-BE49-F238E27FC236}">
                <a16:creationId xmlns:a16="http://schemas.microsoft.com/office/drawing/2014/main" id="{30D04980-FEEA-40A4-831A-78A218876E70}"/>
              </a:ext>
            </a:extLst>
          </p:cNvPr>
          <p:cNvSpPr>
            <a:spLocks xmlns:a="http://schemas.openxmlformats.org/drawingml/2006/main" noGrp="1"/>
          </p:cNvSpPr>
          <p:nvPr/>
        </p:nvSpPr>
        <p:spPr>
          <a:xfrm xmlns:a="http://schemas.openxmlformats.org/drawingml/2006/main">
            <a:off x="5715000" y="1095375"/>
            <a:ext cx="423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SOH: </a:t>
            </a:r>
            <a:r>
              <a:rPr sz="1800" b="0">
                <a:solidFill>
                  <a:srgbClr val="444444"/>
                </a:solidFill>
                <a:latin typeface="Calibri"/>
                <a:ea typeface="Calibri"/>
                <a:cs typeface="Calibri"/>
              </a:rPr>
              <a:t>t, U, I, T, EFC, Qc</a:t>
            </a:r>
          </a:p>
        </p:txBody>
      </p:sp>
    </p:spTree>
    <p:extLst>
      <p:ext uri="{BB962C8B-B14F-4D97-AF65-F5344CB8AC3E}">
        <p14:creationId xmlns:p14="http://schemas.microsoft.com/office/powerpoint/2010/main" val="2834351105"/>
      </p:ext>
    </p:extLst>
  </p:cSld>
  <p:transition spd="fast" advClick="1">
    <p:fade/>
  </p:transition>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wrap="none" lIns="0" tIns="0" rIns="0" bIns="0" anchor="t">
            <a:noAutofit/>
          </a:bodyPr>
          <a:lstStyle xmlns:a="http://schemas.openxmlformats.org/drawingml/2006/main"/>
          <ns0:p xmlns:ns0="http://schemas.openxmlformats.org/drawingml/2006/main">
            <ns0:pPr algn="l">
              <ns0:lnSpc>
                <ns0:spcPct val="106000"/>
              </ns0:lnSpc>
              <ns0:buNone/>
              <ns0:defRPr sz="2400" b="0">
                <ns0:solidFill>
                  <ns0:srgbClr val="CC001C"/>
                </ns0:solidFill>
                <ns0:latin typeface="Calibri"/>
                <ns0:ea typeface="Calibri"/>
                <ns0:cs typeface="Calibri"/>
              </ns0:defRPr>
            </ns0:pPr>
            <ns0:r>
              <ns0:rPr sz="2400" b="0">
                <ns0:solidFill>
                  <ns0:srgbClr val="CC001C"/>
                </ns0:solidFill>
                <ns0:latin typeface="Calibri"/>
                <ns0:ea typeface="Calibri"/>
                <ns0:cs typeface="Calibri"/>
              </ns0:rPr>
              <ns0:t>Versuchsaufbau: Kompression und STM32-Benchmark</ns0:t>
            </ns0:r>
          </ns0: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35 / 44</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sp>
        <p:nvSpPr>
          <p:cNvPr id="12" name="V5_Text_12">
            <a:extLst xmlns:a="http://schemas.openxmlformats.org/drawingml/2006/main">
              <a:ext uri="{FF2B5EF4-FFF2-40B4-BE49-F238E27FC236}">
                <a16:creationId xmlns:a16="http://schemas.microsoft.com/office/drawing/2014/main" id="{503C1133-6DF6-4F42-9C4D-8814116395D8}"/>
              </a:ext>
            </a:extLst>
          </p:cNvPr>
          <p:cNvSpPr>
            <a:spLocks xmlns:a="http://schemas.openxmlformats.org/drawingml/2006/main" noGrp="1"/>
          </p:cNvSpPr>
          <p:nvPr/>
        </p:nvSpPr>
        <p:spPr>
          <a:xfrm xmlns:a="http://schemas.openxmlformats.org/drawingml/2006/main">
            <a:off x="552450" y="4324350"/>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Kompression: </a:t>
            </a:r>
            <a:r>
              <a:rPr sz="1800" b="0">
                <a:solidFill>
                  <a:srgbClr val="444444"/>
                </a:solidFill>
                <a:latin typeface="Calibri"/>
                <a:ea typeface="Calibri"/>
                <a:cs typeface="Calibri"/>
              </a:rPr>
              <a:t>Pruning oder INT8-Quantization derselben trainierten SOC-/SOH-Modelle</a:t>
            </a:r>
          </a:p>
        </p:txBody>
      </p:sp>
      <p:pic>
        <p:nvPicPr>
          <p:cNvPr id="32" name="V5_Figure_11"/>
          <p:cNvPicPr>
            <a:picLocks xmlns:a="http://schemas.openxmlformats.org/drawingml/2006/main" noChangeAspect="1"/>
          </p:cNvPicPr>
          <p:nvPr/>
        </p:nvPicPr>
        <p:blipFill>
          <a:blip xmlns:r="http://schemas.openxmlformats.org/officeDocument/2006/relationships" xmlns:a="http://schemas.openxmlformats.org/drawingml/2006/main" r:embed="R16add289325143c8"/>
          <a:stretch xmlns:a="http://schemas.openxmlformats.org/drawingml/2006/main"/>
        </p:blipFill>
        <p:spPr>
          <a:xfrm xmlns:a="http://schemas.openxmlformats.org/drawingml/2006/main">
            <a:off x="552450" y="1544271"/>
            <a:ext cx="9353550" cy="2559783"/>
          </a:xfrm>
          <a:prstGeom xmlns:a="http://schemas.openxmlformats.org/drawingml/2006/main" prst="rect">
            <a:avLst/>
          </a:prstGeom>
        </p:spPr>
      </p:pic>
      <p:sp>
        <p:nvSpPr>
          <p:cNvPr id="15" name="Structure separator">
            <a:extLst xmlns:a="http://schemas.openxmlformats.org/drawingml/2006/main">
              <a:ext uri="{FF2B5EF4-FFF2-40B4-BE49-F238E27FC236}">
                <a16:creationId xmlns:a16="http://schemas.microsoft.com/office/drawing/2014/main" id="{01829133-D6FE-4D28-951B-A5D37E551BBF}"/>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16" name="Structure label">
            <a:extLst xmlns:a="http://schemas.openxmlformats.org/drawingml/2006/main">
              <a:ext uri="{FF2B5EF4-FFF2-40B4-BE49-F238E27FC236}">
                <a16:creationId xmlns:a16="http://schemas.microsoft.com/office/drawing/2014/main" id="{B9B498A6-C283-48A2-9DE7-598EAB1DC61B}"/>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xmlns:a="http://schemas.openxmlformats.org/drawingml/2006/main">
              <a:ext uri="{FF2B5EF4-FFF2-40B4-BE49-F238E27FC236}">
                <a16:creationId xmlns:a16="http://schemas.microsoft.com/office/drawing/2014/main" id="{E88A03A2-F1E1-49B6-9CF5-2AEBF0E5DD20}"/>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xmlns:a="http://schemas.openxmlformats.org/drawingml/2006/main">
              <a:ext uri="{FF2B5EF4-FFF2-40B4-BE49-F238E27FC236}">
                <a16:creationId xmlns:a16="http://schemas.microsoft.com/office/drawing/2014/main" id="{8C49075D-1FAF-4A32-9EFC-03D612D51349}"/>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xmlns:a="http://schemas.openxmlformats.org/drawingml/2006/main">
              <a:ext uri="{FF2B5EF4-FFF2-40B4-BE49-F238E27FC236}">
                <a16:creationId xmlns:a16="http://schemas.microsoft.com/office/drawing/2014/main" id="{08E14E1C-2FE6-447E-AA47-A0A248CB791F}"/>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xmlns:a="http://schemas.openxmlformats.org/drawingml/2006/main">
              <a:ext uri="{FF2B5EF4-FFF2-40B4-BE49-F238E27FC236}">
                <a16:creationId xmlns:a16="http://schemas.microsoft.com/office/drawing/2014/main" id="{8AD65587-F191-493E-AA9F-493E1A82E5B3}"/>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xmlns:a="http://schemas.openxmlformats.org/drawingml/2006/main">
              <a:ext uri="{FF2B5EF4-FFF2-40B4-BE49-F238E27FC236}">
                <a16:creationId xmlns:a16="http://schemas.microsoft.com/office/drawing/2014/main" id="{3B2F4D78-1577-40C9-A434-7B37B327AD37}"/>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2" name="Structure 5">
            <a:extLst xmlns:a="http://schemas.openxmlformats.org/drawingml/2006/main">
              <a:ext uri="{FF2B5EF4-FFF2-40B4-BE49-F238E27FC236}">
                <a16:creationId xmlns:a16="http://schemas.microsoft.com/office/drawing/2014/main" id="{758A4926-DDD0-4BBD-BFDE-459EE60C1963}"/>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4" name="v11-text-28-2">
            <a:extLst xmlns:a="http://schemas.openxmlformats.org/drawingml/2006/main">
              <a:ext uri="{FF2B5EF4-FFF2-40B4-BE49-F238E27FC236}">
                <a16:creationId xmlns:a16="http://schemas.microsoft.com/office/drawing/2014/main" id="{39856BE7-3362-4153-8710-ED503E867D10}"/>
              </a:ext>
            </a:extLst>
          </p:cNvPr>
          <p:cNvSpPr>
            <a:spLocks xmlns:a="http://schemas.openxmlformats.org/drawingml/2006/main" noGrp="1"/>
          </p:cNvSpPr>
          <p:nvPr/>
        </p:nvSpPr>
        <p:spPr>
          <a:xfrm xmlns:a="http://schemas.openxmlformats.org/drawingml/2006/main">
            <a:off x="552450" y="4819650"/>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Vergleich: </a:t>
            </a:r>
            <a:r>
              <a:rPr sz="1800" b="0">
                <a:solidFill>
                  <a:srgbClr val="444444"/>
                </a:solidFill>
                <a:latin typeface="Calibri"/>
                <a:ea typeface="Calibri"/>
                <a:cs typeface="Calibri"/>
              </a:rPr>
              <a:t>Base, Pruned und Quantized auf PC und STM32 bei identischem Datenstrom</a:t>
            </a:r>
          </a:p>
        </p:txBody>
      </p:sp>
      <p:sp>
        <p:nvSpPr>
          <p:cNvPr id="25" name="v11-text-28-3">
            <a:extLst xmlns:a="http://schemas.openxmlformats.org/drawingml/2006/main">
              <a:ext uri="{FF2B5EF4-FFF2-40B4-BE49-F238E27FC236}">
                <a16:creationId xmlns:a16="http://schemas.microsoft.com/office/drawing/2014/main" id="{68466449-D5C5-4284-BC65-F3B6CFC88ECD}"/>
              </a:ext>
            </a:extLst>
          </p:cNvPr>
          <p:cNvSpPr>
            <a:spLocks xmlns:a="http://schemas.openxmlformats.org/drawingml/2006/main" noGrp="1"/>
          </p:cNvSpPr>
          <p:nvPr/>
        </p:nvSpPr>
        <p:spPr>
          <a:xfrm xmlns:a="http://schemas.openxmlformats.org/drawingml/2006/main">
            <a:off x="552450" y="5314950"/>
            <a:ext cx="9391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Ziel: </a:t>
            </a:r>
            <a:r>
              <a:rPr sz="1800" b="1">
                <a:solidFill>
                  <a:srgbClr val="D00020"/>
                </a:solidFill>
                <a:latin typeface="Calibri"/>
                <a:ea typeface="Calibri"/>
                <a:cs typeface="Calibri"/>
              </a:rPr>
              <a:t>Geringerer Hardwarebedarf bei möglichst unverändertem Schätzfehler und konsistenten PC-/STM32-Ausgaben</a:t>
            </a:r>
          </a:p>
        </p:txBody>
      </p:sp>
    </p:spTree>
    <p:extLst>
      <p:ext uri="{BB962C8B-B14F-4D97-AF65-F5344CB8AC3E}">
        <p14:creationId xmlns:p14="http://schemas.microsoft.com/office/powerpoint/2010/main" val="1283791891"/>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lIns="0" tIns="0" rIns="0" bIns="0" anchor="t">
            <a:noAutofit/>
          </a:bodyPr>
          <a:lstStyle xmlns:a="http://schemas.openxmlformats.org/drawingml/2006/main"/>
          <a:p xmlns:a="http://schemas.openxmlformats.org/drawingml/2006/main">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Unstructured und Structured Pruning</a:t>
            </a:r>
          </a: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36 / 44</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sp>
        <p:nvSpPr>
          <p:cNvPr id="13" name="V5_Text_13">
            <a:extLst xmlns:a="http://schemas.openxmlformats.org/drawingml/2006/main">
              <a:ext uri="{FF2B5EF4-FFF2-40B4-BE49-F238E27FC236}">
                <a16:creationId xmlns:a16="http://schemas.microsoft.com/office/drawing/2014/main" id="{DE96A364-1391-49F0-9295-872CEC7644D0}"/>
              </a:ext>
            </a:extLst>
          </p:cNvPr>
          <p:cNvSpPr>
            <a:spLocks xmlns:a="http://schemas.openxmlformats.org/drawingml/2006/main" noGrp="1"/>
          </p:cNvSpPr>
          <p:nvPr/>
        </p:nvSpPr>
        <p:spPr>
          <a:xfrm xmlns:a="http://schemas.openxmlformats.org/drawingml/2006/main">
            <a:off x="552450" y="4457700"/>
            <a:ext cx="9353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ns1:p xmlns:ns1="http://schemas.openxmlformats.org/drawingml/2006/main">
            <ns1:pPr marL="20" indent="-17" algn="l">
              <ns1:spcBef>
                <ns1:spcPts val="0"/>
              </ns1:spcBef>
              <ns1:spcAft>
                <ns1:spcPts val="0"/>
              </ns1:spcAft>
              <ns1:buChar char="•"/>
              <ns1:defRPr sz="1800" b="0">
                <ns1:solidFill>
                  <ns1:srgbClr val="3F3F3F"/>
                </ns1:solidFill>
                <ns1:latin typeface="Calibri"/>
                <ns1:ea typeface="Calibri"/>
                <ns1:cs typeface="Calibri"/>
              </ns1:defRPr>
            </ns1:pPr>
            <ns1:r>
              <ns1:rPr sz="1800" b="1">
                <ns1:latin typeface="Calibri"/>
                <ns1:ea typeface="Calibri"/>
                <ns1:cs typeface="Calibri"/>
              </ns1:rPr>
              <ns1:t>Unstructured Pruning:</ns1:t>
            </ns1:r>
            <ns1:r>
              <ns1:rPr sz="1800" b="0">
                <ns1:latin typeface="Calibri"/>
                <ns1:ea typeface="Calibri"/>
                <ns1:cs typeface="Calibri"/>
              </ns1:rPr>
              <ns1:t xml:space="preserve"> Einzelne Gewichte nullsetzen. Matrixabmessungen und dichte Schleifen bleiben gleich</ns1:t>
            </ns1:r>
          </ns1:p>
        </p:txBody>
      </p:sp>
      <p:sp>
        <p:nvSpPr>
          <p:cNvPr id="14" name="V5_Text_14">
            <a:extLst xmlns:a="http://schemas.openxmlformats.org/drawingml/2006/main">
              <a:ext uri="{FF2B5EF4-FFF2-40B4-BE49-F238E27FC236}">
                <a16:creationId xmlns:a16="http://schemas.microsoft.com/office/drawing/2014/main" id="{0ABBB7D4-CC41-4BEC-9F64-1BAC6EC19A62}"/>
              </a:ext>
            </a:extLst>
          </p:cNvPr>
          <p:cNvSpPr>
            <a:spLocks xmlns:a="http://schemas.openxmlformats.org/drawingml/2006/main" noGrp="1"/>
          </p:cNvSpPr>
          <p:nvPr/>
        </p:nvSpPr>
        <p:spPr>
          <a:xfrm xmlns:a="http://schemas.openxmlformats.org/drawingml/2006/main">
            <a:off x="552450" y="5181600"/>
            <a:ext cx="93535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ns2:p xmlns:ns2="http://schemas.openxmlformats.org/drawingml/2006/main">
            <ns2:pPr marL="20" indent="-17" algn="l">
              <ns2:spcBef>
                <ns2:spcPts val="0"/>
              </ns2:spcBef>
              <ns2:spcAft>
                <ns2:spcPts val="0"/>
              </ns2:spcAft>
              <ns2:buChar char="•"/>
              <ns2:defRPr sz="1800" b="0">
                <ns2:solidFill>
                  <ns2:srgbClr val="3F3F3F"/>
                </ns2:solidFill>
                <ns2:latin typeface="Calibri"/>
                <ns2:ea typeface="Calibri"/>
                <ns2:cs typeface="Calibri"/>
              </ns2:defRPr>
            </ns2:pPr>
            <ns2:r>
              <ns2:rPr sz="1800" b="1">
                <ns2:latin typeface="Calibri"/>
                <ns2:ea typeface="Calibri"/>
                <ns2:cs typeface="Calibri"/>
              </ns2:rPr>
              <ns2:t>Structured Pruning:</ns2:t>
            </ns2:r>
            <ns2:r>
              <ns2:rPr sz="1800" b="0">
                <ns2:latin typeface="Calibri"/>
                <ns2:ea typeface="Calibri"/>
                <ns2:cs typeface="Calibri"/>
              </ns2:rPr>
              <ns2:t xml:space="preserve"> Ganze Kanäle mit abhängigen Zeilen und Spalten entfernen</ns2:t>
            </ns2:r>
          </ns2:p>
        </p:txBody>
      </p:sp>
      <p:sp>
        <p:nvSpPr>
          <p:cNvPr id="16" name="Structure separator">
            <a:extLst xmlns:a="http://schemas.openxmlformats.org/drawingml/2006/main">
              <a:ext uri="{FF2B5EF4-FFF2-40B4-BE49-F238E27FC236}">
                <a16:creationId xmlns:a16="http://schemas.microsoft.com/office/drawing/2014/main" id="{678B9BB0-4AF9-4831-A7E4-863ABB46725A}"/>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17" name="Structure label">
            <a:extLst xmlns:a="http://schemas.openxmlformats.org/drawingml/2006/main">
              <a:ext uri="{FF2B5EF4-FFF2-40B4-BE49-F238E27FC236}">
                <a16:creationId xmlns:a16="http://schemas.microsoft.com/office/drawing/2014/main" id="{9476DA44-CF95-49EF-8932-E9B36B7D84FB}"/>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8" name="Structure 0">
            <a:extLst xmlns:a="http://schemas.openxmlformats.org/drawingml/2006/main">
              <a:ext uri="{FF2B5EF4-FFF2-40B4-BE49-F238E27FC236}">
                <a16:creationId xmlns:a16="http://schemas.microsoft.com/office/drawing/2014/main" id="{15D0FA13-A5BD-4F5F-AD93-8EA8B052FFB6}"/>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9" name="Structure 1">
            <a:extLst xmlns:a="http://schemas.openxmlformats.org/drawingml/2006/main">
              <a:ext uri="{FF2B5EF4-FFF2-40B4-BE49-F238E27FC236}">
                <a16:creationId xmlns:a16="http://schemas.microsoft.com/office/drawing/2014/main" id="{4D55B116-6121-4EC8-A45E-88B589D77C08}"/>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0" name="Structure 2">
            <a:extLst xmlns:a="http://schemas.openxmlformats.org/drawingml/2006/main">
              <a:ext uri="{FF2B5EF4-FFF2-40B4-BE49-F238E27FC236}">
                <a16:creationId xmlns:a16="http://schemas.microsoft.com/office/drawing/2014/main" id="{FDCDC55C-1E36-4161-97EC-1FAA98DED584}"/>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1" name="Structure 3">
            <a:extLst xmlns:a="http://schemas.openxmlformats.org/drawingml/2006/main">
              <a:ext uri="{FF2B5EF4-FFF2-40B4-BE49-F238E27FC236}">
                <a16:creationId xmlns:a16="http://schemas.microsoft.com/office/drawing/2014/main" id="{A6925EAC-64D4-41A7-9059-B7E3219D60BC}"/>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2" name="Structure 4">
            <a:extLst xmlns:a="http://schemas.openxmlformats.org/drawingml/2006/main">
              <a:ext uri="{FF2B5EF4-FFF2-40B4-BE49-F238E27FC236}">
                <a16:creationId xmlns:a16="http://schemas.microsoft.com/office/drawing/2014/main" id="{8B42BDF7-549B-49F7-B265-F5B81F733518}"/>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3" name="Structure 5">
            <a:extLst xmlns:a="http://schemas.openxmlformats.org/drawingml/2006/main">
              <a:ext uri="{FF2B5EF4-FFF2-40B4-BE49-F238E27FC236}">
                <a16:creationId xmlns:a16="http://schemas.microsoft.com/office/drawing/2014/main" id="{E7A7030F-9F42-41C5-9412-C5D694F77AE8}"/>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c35dd2bf990b4d45"/>
          <a:stretch xmlns:a="http://schemas.openxmlformats.org/drawingml/2006/main"/>
        </p:blipFill>
        <p:spPr>
          <a:xfrm xmlns:a="http://schemas.openxmlformats.org/drawingml/2006/main">
            <a:off x="1740694" y="1438275"/>
            <a:ext cx="6977063" cy="2790825"/>
          </a:xfrm>
          <a:prstGeom xmlns:a="http://schemas.openxmlformats.org/drawingml/2006/main" prst="rect">
            <a:avLst/>
          </a:prstGeom>
        </p:spPr>
      </p:pic>
      <p:sp>
        <p:nvSpPr>
          <p:cNvPr id="25" name="v11-text-29-3">
            <a:extLst xmlns:a="http://schemas.openxmlformats.org/drawingml/2006/main">
              <a:ext uri="{FF2B5EF4-FFF2-40B4-BE49-F238E27FC236}">
                <a16:creationId xmlns:a16="http://schemas.microsoft.com/office/drawing/2014/main" id="{EE574C88-5078-4416-A032-3230D98E9412}"/>
              </a:ext>
            </a:extLst>
          </p:cNvPr>
          <p:cNvSpPr>
            <a:spLocks xmlns:a="http://schemas.openxmlformats.org/drawingml/2006/main" noGrp="1"/>
          </p:cNvSpPr>
          <p:nvPr/>
        </p:nvSpPr>
        <p:spPr>
          <a:xfrm xmlns:a="http://schemas.openxmlformats.org/drawingml/2006/main">
            <a:off x="552450" y="5657850"/>
            <a:ext cx="9353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3:p xmlns:ns3="http://schemas.openxmlformats.org/drawingml/2006/main">
            <ns3:pPr marL="0" indent="0" algn="l">
              <ns3:spcBef>
                <ns3:spcPts val="0"/>
              </ns3:spcBef>
              <ns3:spcAft>
                <ns3:spcPts val="0"/>
              </ns3:spcAft>
              <ns3:buNone/>
              <ns3:defRPr sz="1800" b="0">
                <ns3:solidFill>
                  <ns3:srgbClr val="3F3F3F"/>
                </ns3:solidFill>
                <ns3:latin typeface="Calibri"/>
                <ns3:ea typeface="Calibri"/>
                <ns3:cs typeface="Calibri"/>
              </ns3:defRPr>
            </ns3:pPr>
            <ns3:r>
              <ns3:rPr sz="1800" b="1">
                <ns3:latin typeface="Calibri"/>
                <ns3:ea typeface="Calibri"/>
                <ns3:cs typeface="Calibri"/>
              </ns3:rPr>
              <ns3:t>Export:</ns3:t>
            </ns3:r>
            <ns3:r>
              <ns3:rPr sz="1800" b="0">
                <ns3:latin typeface="Calibri"/>
                <ns3:ea typeface="Calibri"/>
                <ns3:cs typeface="Calibri"/>
              </ns3:rPr>
              <ns3:t xml:space="preserve"> Kleinere dichte Tensoren für den vorhandenen FP32-Kernel</ns3:t>
            </ns3:r>
          </ns3:p>
        </p:txBody>
      </p:sp>
    </p:spTree>
    <p:extLst>
      <p:ext uri="{BB962C8B-B14F-4D97-AF65-F5344CB8AC3E}">
        <p14:creationId xmlns:p14="http://schemas.microsoft.com/office/powerpoint/2010/main" val="536383280"/>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lIns="0" tIns="0" rIns="0" bIns="0" anchor="t">
            <a:noAutofit/>
          </a:bodyPr>
          <a:lstStyle xmlns:a="http://schemas.openxmlformats.org/drawingml/2006/main"/>
          <a:p xmlns:a="http://schemas.openxmlformats.org/drawingml/2006/main">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Structured Pruning: Von der Auswahl zum kleineren Modell</a:t>
            </a:r>
          </a: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37 / 44</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sp>
        <p:nvSpPr>
          <p:cNvPr id="13" name="V5_Text_13">
            <a:extLst xmlns:a="http://schemas.openxmlformats.org/drawingml/2006/main">
              <a:ext uri="{FF2B5EF4-FFF2-40B4-BE49-F238E27FC236}">
                <a16:creationId xmlns:a16="http://schemas.microsoft.com/office/drawing/2014/main" id="{DE96A364-1391-49F0-9295-872CEC7644D0}"/>
              </a:ext>
            </a:extLst>
          </p:cNvPr>
          <p:cNvSpPr>
            <a:spLocks xmlns:a="http://schemas.openxmlformats.org/drawingml/2006/main" noGrp="1"/>
          </p:cNvSpPr>
          <p:nvPr/>
        </p:nvSpPr>
        <p:spPr>
          <a:xfrm xmlns:a="http://schemas.openxmlformats.org/drawingml/2006/main">
            <a:off x="3000375" y="1962150"/>
            <a:ext cx="4457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a:p xmlns:a="http://schemas.openxmlformats.org/drawingml/2006/main">
            <a:pPr algn="ctr"/>
            <a14:m xmlns:a14="http://schemas.microsoft.com/office/drawing/2010/main">
              <m:oMathPara xmlns:m="http://schemas.openxmlformats.org/officeDocument/2006/math">
                <m:oMathParaPr>
                  <m:jc m:val="centerGroup"/>
                </m:oMathParaPr>
                <m:oMath>
                  <m:sSub>
                    <m:e>
                      <m:r>
                        <a:rPr xmlns:a="http://schemas.openxmlformats.org/drawingml/2006/main" sz="1875">
                          <a:latin typeface="Cambria Math"/>
                          <a:ea typeface="Cambria Math"/>
                          <a:cs typeface="Cambria Math"/>
                        </a:rPr>
                        <m:t>s</m:t>
                      </m:r>
                    </m:e>
                    <m:sub>
                      <m:r>
                        <a:rPr xmlns:a="http://schemas.openxmlformats.org/drawingml/2006/main" sz="1313">
                          <a:latin typeface="Cambria Math"/>
                          <a:ea typeface="Cambria Math"/>
                          <a:cs typeface="Cambria Math"/>
                        </a:rPr>
                        <m:t>h</m:t>
                      </m:r>
                    </m:sub>
                  </m:sSub>
                  <m:r>
                    <a:rPr xmlns:a="http://schemas.openxmlformats.org/drawingml/2006/main" sz="1875">
                      <a:latin typeface="Cambria Math"/>
                      <a:ea typeface="Cambria Math"/>
                      <a:cs typeface="Cambria Math"/>
                    </a:rPr>
                    <m:t>=</m:t>
                  </m:r>
                  <m:nary>
                    <m:naryPr>
                      <m:chr m:val="∑"/>
                      <m:limLoc m:val="undOvr"/>
                      <m:supHide m:val="on"/>
                    </m:naryPr>
                    <m:sub>
                      <m:r>
                        <a:rPr xmlns:a="http://schemas.openxmlformats.org/drawingml/2006/main" sz="1313">
                          <a:latin typeface="Cambria Math"/>
                          <a:ea typeface="Cambria Math"/>
                          <a:cs typeface="Cambria Math"/>
                        </a:rPr>
                        <m:t>g</m:t>
                      </m:r>
                      <m:r>
                        <a:rPr xmlns:a="http://schemas.openxmlformats.org/drawingml/2006/main" sz="1313">
                          <a:latin typeface="Cambria Math"/>
                          <a:ea typeface="Cambria Math"/>
                          <a:cs typeface="Cambria Math"/>
                        </a:rPr>
                        <m:t>∈</m:t>
                      </m:r>
                      <m:r>
                        <a:rPr xmlns:a="http://schemas.openxmlformats.org/drawingml/2006/main" sz="1313">
                          <a:latin typeface="Cambria Math"/>
                          <a:ea typeface="Cambria Math"/>
                          <a:cs typeface="Cambria Math"/>
                        </a:rPr>
                        <m:t>{</m:t>
                      </m:r>
                      <m:r>
                        <a:rPr xmlns:a="http://schemas.openxmlformats.org/drawingml/2006/main" sz="1313">
                          <a:latin typeface="Cambria Math"/>
                          <a:ea typeface="Cambria Math"/>
                          <a:cs typeface="Cambria Math"/>
                        </a:rPr>
                        <m:t>i</m:t>
                      </m:r>
                      <m:r>
                        <a:rPr xmlns:a="http://schemas.openxmlformats.org/drawingml/2006/main" sz="1313">
                          <a:latin typeface="Cambria Math"/>
                          <a:ea typeface="Cambria Math"/>
                          <a:cs typeface="Cambria Math"/>
                        </a:rPr>
                        <m:t>,</m:t>
                      </m:r>
                      <m:r>
                        <a:rPr xmlns:a="http://schemas.openxmlformats.org/drawingml/2006/main" sz="1313">
                          <a:latin typeface="Cambria Math"/>
                          <a:ea typeface="Cambria Math"/>
                          <a:cs typeface="Cambria Math"/>
                        </a:rPr>
                        <m:t>f</m:t>
                      </m:r>
                      <m:r>
                        <a:rPr xmlns:a="http://schemas.openxmlformats.org/drawingml/2006/main" sz="1313">
                          <a:latin typeface="Cambria Math"/>
                          <a:ea typeface="Cambria Math"/>
                          <a:cs typeface="Cambria Math"/>
                        </a:rPr>
                        <m:t>,</m:t>
                      </m:r>
                      <m:r>
                        <a:rPr xmlns:a="http://schemas.openxmlformats.org/drawingml/2006/main" sz="1313">
                          <a:latin typeface="Cambria Math"/>
                          <a:ea typeface="Cambria Math"/>
                          <a:cs typeface="Cambria Math"/>
                        </a:rPr>
                        <m:t>o</m:t>
                      </m:r>
                      <m:r>
                        <a:rPr xmlns:a="http://schemas.openxmlformats.org/drawingml/2006/main" sz="1313">
                          <a:latin typeface="Cambria Math"/>
                          <a:ea typeface="Cambria Math"/>
                          <a:cs typeface="Cambria Math"/>
                        </a:rPr>
                        <m:t>,</m:t>
                      </m:r>
                      <m:r>
                        <a:rPr xmlns:a="http://schemas.openxmlformats.org/drawingml/2006/main" sz="1313">
                          <a:latin typeface="Cambria Math"/>
                          <a:ea typeface="Cambria Math"/>
                          <a:cs typeface="Cambria Math"/>
                        </a:rPr>
                        <m:t>g</m:t>
                      </m:r>
                      <m:r>
                        <a:rPr xmlns:a="http://schemas.openxmlformats.org/drawingml/2006/main" sz="1313">
                          <a:latin typeface="Cambria Math"/>
                          <a:ea typeface="Cambria Math"/>
                          <a:cs typeface="Cambria Math"/>
                        </a:rPr>
                        <m:t>}</m:t>
                      </m:r>
                    </m:sub>
                    <m:sup>
                      <m:r>
                        <a:rPr xmlns:a="http://schemas.openxmlformats.org/drawingml/2006/main" sz="1313">
                          <a:latin typeface="Cambria Math"/>
                          <a:ea typeface="Cambria Math"/>
                          <a:cs typeface="Cambria Math"/>
                        </a:rPr>
                        <m:t/>
                      </m:r>
                    </m:sup>
                    <m:e>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m:t>
                      </m:r>
                      <m:sSubSup>
                        <m:e>
                          <m:r>
                            <a:rPr xmlns:a="http://schemas.openxmlformats.org/drawingml/2006/main" sz="1875">
                              <a:latin typeface="Cambria Math"/>
                              <a:ea typeface="Cambria Math"/>
                              <a:cs typeface="Cambria Math"/>
                            </a:rPr>
                            <m:t>W</m:t>
                          </m:r>
                        </m:e>
                        <m:sub>
                          <m:r>
                            <a:rPr xmlns:a="http://schemas.openxmlformats.org/drawingml/2006/main" sz="1313">
                              <a:latin typeface="Cambria Math"/>
                              <a:ea typeface="Cambria Math"/>
                              <a:cs typeface="Cambria Math"/>
                            </a:rPr>
                            <m:t>i</m:t>
                          </m:r>
                          <m:r>
                            <a:rPr xmlns:a="http://schemas.openxmlformats.org/drawingml/2006/main" sz="1313">
                              <a:latin typeface="Cambria Math"/>
                              <a:ea typeface="Cambria Math"/>
                              <a:cs typeface="Cambria Math"/>
                            </a:rPr>
                            <m:t>h</m:t>
                          </m:r>
                        </m:sub>
                        <m:sup>
                          <m:r>
                            <a:rPr xmlns:a="http://schemas.openxmlformats.org/drawingml/2006/main" sz="1313">
                              <a:latin typeface="Cambria Math"/>
                              <a:ea typeface="Cambria Math"/>
                              <a:cs typeface="Cambria Math"/>
                            </a:rPr>
                            <m:t>(</m:t>
                          </m:r>
                          <m:r>
                            <a:rPr xmlns:a="http://schemas.openxmlformats.org/drawingml/2006/main" sz="1313">
                              <a:latin typeface="Cambria Math"/>
                              <a:ea typeface="Cambria Math"/>
                              <a:cs typeface="Cambria Math"/>
                            </a:rPr>
                            <m:t>g</m:t>
                          </m:r>
                          <m:r>
                            <a:rPr xmlns:a="http://schemas.openxmlformats.org/drawingml/2006/main" sz="1313">
                              <a:latin typeface="Cambria Math"/>
                              <a:ea typeface="Cambria Math"/>
                              <a:cs typeface="Cambria Math"/>
                            </a:rPr>
                            <m:t>)</m:t>
                          </m:r>
                        </m:sup>
                      </m:sSubSup>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h</m:t>
                      </m:r>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m:t>
                          </m:r>
                        </m:e>
                        <m:sub>
                          <m:r>
                            <a:rPr xmlns:a="http://schemas.openxmlformats.org/drawingml/2006/main" sz="1313">
                              <a:latin typeface="Cambria Math"/>
                              <a:ea typeface="Cambria Math"/>
                              <a:cs typeface="Cambria Math"/>
                            </a:rPr>
                            <m:t>2</m:t>
                          </m:r>
                        </m:sub>
                      </m:sSub>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m:t>
                      </m:r>
                      <m:sSubSup>
                        <m:e>
                          <m:r>
                            <a:rPr xmlns:a="http://schemas.openxmlformats.org/drawingml/2006/main" sz="1875">
                              <a:latin typeface="Cambria Math"/>
                              <a:ea typeface="Cambria Math"/>
                              <a:cs typeface="Cambria Math"/>
                            </a:rPr>
                            <m:t>W</m:t>
                          </m:r>
                        </m:e>
                        <m:sub>
                          <m:r>
                            <a:rPr xmlns:a="http://schemas.openxmlformats.org/drawingml/2006/main" sz="1313">
                              <a:latin typeface="Cambria Math"/>
                              <a:ea typeface="Cambria Math"/>
                              <a:cs typeface="Cambria Math"/>
                            </a:rPr>
                            <m:t>h</m:t>
                          </m:r>
                          <m:r>
                            <a:rPr xmlns:a="http://schemas.openxmlformats.org/drawingml/2006/main" sz="1313">
                              <a:latin typeface="Cambria Math"/>
                              <a:ea typeface="Cambria Math"/>
                              <a:cs typeface="Cambria Math"/>
                            </a:rPr>
                            <m:t>h</m:t>
                          </m:r>
                        </m:sub>
                        <m:sup>
                          <m:r>
                            <a:rPr xmlns:a="http://schemas.openxmlformats.org/drawingml/2006/main" sz="1313">
                              <a:latin typeface="Cambria Math"/>
                              <a:ea typeface="Cambria Math"/>
                              <a:cs typeface="Cambria Math"/>
                            </a:rPr>
                            <m:t>(</m:t>
                          </m:r>
                          <m:r>
                            <a:rPr xmlns:a="http://schemas.openxmlformats.org/drawingml/2006/main" sz="1313">
                              <a:latin typeface="Cambria Math"/>
                              <a:ea typeface="Cambria Math"/>
                              <a:cs typeface="Cambria Math"/>
                            </a:rPr>
                            <m:t>g</m:t>
                          </m:r>
                          <m:r>
                            <a:rPr xmlns:a="http://schemas.openxmlformats.org/drawingml/2006/main" sz="1313">
                              <a:latin typeface="Cambria Math"/>
                              <a:ea typeface="Cambria Math"/>
                              <a:cs typeface="Cambria Math"/>
                            </a:rPr>
                            <m:t>)</m:t>
                          </m:r>
                        </m:sup>
                      </m:sSubSup>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h</m:t>
                      </m:r>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m:t>
                          </m:r>
                        </m:e>
                        <m:sub>
                          <m:r>
                            <a:rPr xmlns:a="http://schemas.openxmlformats.org/drawingml/2006/main" sz="1313">
                              <a:latin typeface="Cambria Math"/>
                              <a:ea typeface="Cambria Math"/>
                              <a:cs typeface="Cambria Math"/>
                            </a:rPr>
                            <m:t>2</m:t>
                          </m:r>
                        </m:sub>
                      </m:sSub>
                      <m:r>
                        <a:rPr xmlns:a="http://schemas.openxmlformats.org/drawingml/2006/main" sz="1875">
                          <a:latin typeface="Cambria Math"/>
                          <a:ea typeface="Cambria Math"/>
                          <a:cs typeface="Cambria Math"/>
                        </a:rPr>
                        <m:t>)</m:t>
                      </m:r>
                    </m:e>
                  </m:nary>
                </m:oMath>
              </m:oMathPara>
            </a14:m>
          </a:p>
        </p:txBody>
      </p:sp>
      <p:sp>
        <p:nvSpPr>
          <p:cNvPr id="16" name="Structure separator">
            <a:extLst xmlns:a="http://schemas.openxmlformats.org/drawingml/2006/main">
              <a:ext uri="{FF2B5EF4-FFF2-40B4-BE49-F238E27FC236}">
                <a16:creationId xmlns:a16="http://schemas.microsoft.com/office/drawing/2014/main" id="{678B9BB0-4AF9-4831-A7E4-863ABB46725A}"/>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17" name="Structure label">
            <a:extLst xmlns:a="http://schemas.openxmlformats.org/drawingml/2006/main">
              <a:ext uri="{FF2B5EF4-FFF2-40B4-BE49-F238E27FC236}">
                <a16:creationId xmlns:a16="http://schemas.microsoft.com/office/drawing/2014/main" id="{9476DA44-CF95-49EF-8932-E9B36B7D84FB}"/>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8" name="Structure 0">
            <a:extLst xmlns:a="http://schemas.openxmlformats.org/drawingml/2006/main">
              <a:ext uri="{FF2B5EF4-FFF2-40B4-BE49-F238E27FC236}">
                <a16:creationId xmlns:a16="http://schemas.microsoft.com/office/drawing/2014/main" id="{15D0FA13-A5BD-4F5F-AD93-8EA8B052FFB6}"/>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9" name="Structure 1">
            <a:extLst xmlns:a="http://schemas.openxmlformats.org/drawingml/2006/main">
              <a:ext uri="{FF2B5EF4-FFF2-40B4-BE49-F238E27FC236}">
                <a16:creationId xmlns:a16="http://schemas.microsoft.com/office/drawing/2014/main" id="{4D55B116-6121-4EC8-A45E-88B589D77C08}"/>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0" name="Structure 2">
            <a:extLst xmlns:a="http://schemas.openxmlformats.org/drawingml/2006/main">
              <a:ext uri="{FF2B5EF4-FFF2-40B4-BE49-F238E27FC236}">
                <a16:creationId xmlns:a16="http://schemas.microsoft.com/office/drawing/2014/main" id="{FDCDC55C-1E36-4161-97EC-1FAA98DED584}"/>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1" name="Structure 3">
            <a:extLst xmlns:a="http://schemas.openxmlformats.org/drawingml/2006/main">
              <a:ext uri="{FF2B5EF4-FFF2-40B4-BE49-F238E27FC236}">
                <a16:creationId xmlns:a16="http://schemas.microsoft.com/office/drawing/2014/main" id="{A6925EAC-64D4-41A7-9059-B7E3219D60BC}"/>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2" name="Structure 4">
            <a:extLst xmlns:a="http://schemas.openxmlformats.org/drawingml/2006/main">
              <a:ext uri="{FF2B5EF4-FFF2-40B4-BE49-F238E27FC236}">
                <a16:creationId xmlns:a16="http://schemas.microsoft.com/office/drawing/2014/main" id="{8B42BDF7-549B-49F7-B265-F5B81F733518}"/>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3" name="Structure 5">
            <a:extLst xmlns:a="http://schemas.openxmlformats.org/drawingml/2006/main">
              <a:ext uri="{FF2B5EF4-FFF2-40B4-BE49-F238E27FC236}">
                <a16:creationId xmlns:a16="http://schemas.microsoft.com/office/drawing/2014/main" id="{E7A7030F-9F42-41C5-9412-C5D694F77AE8}"/>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PN_score">
            <a:extLst xmlns:a="http://schemas.openxmlformats.org/drawingml/2006/main">
              <a:ext uri="{FF2B5EF4-FFF2-40B4-BE49-F238E27FC236}">
                <a16:creationId xmlns:a16="http://schemas.microsoft.com/office/drawing/2014/main" id="{9BF8D4BD-41C0-482E-A33A-253FC1DB5E0C}"/>
              </a:ext>
            </a:extLst>
          </p:cNvPr>
          <p:cNvSpPr>
            <a:spLocks xmlns:a="http://schemas.openxmlformats.org/drawingml/2006/main" noGrp="1"/>
          </p:cNvSpPr>
          <p:nvPr/>
        </p:nvSpPr>
        <p:spPr>
          <a:xfrm xmlns:a="http://schemas.openxmlformats.org/drawingml/2006/main">
            <a:off x="552450" y="1409700"/>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Score sₕ: </a:t>
            </a:r>
            <a:r>
              <a:rPr sz="1800" b="0">
                <a:solidFill>
                  <a:srgbClr val="444444"/>
                </a:solidFill>
                <a:latin typeface="Calibri"/>
                <a:ea typeface="Calibri"/>
                <a:cs typeface="Calibri"/>
              </a:rPr>
              <a:t>L2-Zeilennormen je Hidden Unit über alle vier Gate-Blöcke</a:t>
            </a:r>
          </a:p>
        </p:txBody>
      </p:sp>
      <p:sp>
        <p:nvSpPr>
          <p:cNvPr id="2001" name="PN_weights">
            <a:extLst xmlns:a="http://schemas.openxmlformats.org/drawingml/2006/main">
              <a:ext uri="{FF2B5EF4-FFF2-40B4-BE49-F238E27FC236}">
                <a16:creationId xmlns:a16="http://schemas.microsoft.com/office/drawing/2014/main" id="{B3EA5170-6918-41A7-B394-F32DABE9A7EA}"/>
              </a:ext>
            </a:extLst>
          </p:cNvPr>
          <p:cNvSpPr>
            <a:spLocks xmlns:a="http://schemas.openxmlformats.org/drawingml/2006/main" noGrp="1"/>
          </p:cNvSpPr>
          <p:nvPr/>
        </p:nvSpPr>
        <p:spPr>
          <a:xfrm xmlns:a="http://schemas.openxmlformats.org/drawingml/2006/main">
            <a:off x="552450" y="2590800"/>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Wᵢₕ: Input weights, Wₕₕ: Recurrent weights</a:t>
            </a:r>
          </a:p>
        </p:txBody>
      </p:sp>
      <p:pic>
        <p:nvPicPr>
          <p:cNvPr id="2002" name="PN_structured_diagram" descr="Structured-Pruning-Ausschnitt aus Folie 36 mit I_out und I_in"/>
          <p:cNvPicPr>
            <a:picLocks xmlns:a="http://schemas.openxmlformats.org/drawingml/2006/main" noChangeAspect="1"/>
          </p:cNvPicPr>
          <p:nvPr/>
        </p:nvPicPr>
        <p:blipFill>
          <a:blip xmlns:r="http://schemas.openxmlformats.org/officeDocument/2006/relationships" xmlns:a="http://schemas.openxmlformats.org/drawingml/2006/main" r:embed="rIdPruningDiagram"/>
          <a:srcRect xmlns:a="http://schemas.openxmlformats.org/drawingml/2006/main" l="66667" t="0" r="0" b="36111"/>
          <a:stretch xmlns:a="http://schemas.openxmlformats.org/drawingml/2006/main">
            <a:fillRect l="0" t="0" r="0" b="0"/>
          </a:stretch>
        </p:blipFill>
        <p:spPr>
          <a:xfrm xmlns:a="http://schemas.openxmlformats.org/drawingml/2006/main">
            <a:off x="552450" y="2924175"/>
            <a:ext cx="3381375" cy="2592388"/>
          </a:xfrm>
          <a:prstGeom xmlns:a="http://schemas.openxmlformats.org/drawingml/2006/main" prst="rect">
            <a:avLst/>
          </a:prstGeom>
        </p:spPr>
      </p:pic>
      <p:sp>
        <p:nvSpPr>
          <p:cNvPr id="2003" name="PN_outputs">
            <a:extLst xmlns:a="http://schemas.openxmlformats.org/drawingml/2006/main">
              <a:ext uri="{FF2B5EF4-FFF2-40B4-BE49-F238E27FC236}">
                <a16:creationId xmlns:a16="http://schemas.microsoft.com/office/drawing/2014/main" id="{4CD844DF-371F-4BC6-AFC6-FA1236D6386E}"/>
              </a:ext>
            </a:extLst>
          </p:cNvPr>
          <p:cNvSpPr>
            <a:spLocks xmlns:a="http://schemas.openxmlformats.org/drawingml/2006/main" noGrp="1"/>
          </p:cNvSpPr>
          <p:nvPr/>
        </p:nvSpPr>
        <p:spPr>
          <a:xfrm xmlns:a="http://schemas.openxmlformats.org/drawingml/2006/main">
            <a:off x="4333875" y="3048000"/>
            <a:ext cx="56102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Auswahl Iₒᵤₜ: </a:t>
            </a:r>
            <a:r>
              <a:rPr sz="1800" b="0">
                <a:solidFill>
                  <a:srgbClr val="444444"/>
                </a:solidFill>
                <a:latin typeface="Calibri"/>
                <a:ea typeface="Calibri"/>
                <a:cs typeface="Calibri"/>
              </a:rPr>
              <a:t>Verbleibende Ausgangszeilen der LSTM-Gates nach Score-Ranking</a:t>
            </a:r>
          </a:p>
        </p:txBody>
      </p:sp>
      <p:sp>
        <p:nvSpPr>
          <p:cNvPr id="2004" name="PN_inputs">
            <a:extLst xmlns:a="http://schemas.openxmlformats.org/drawingml/2006/main">
              <a:ext uri="{FF2B5EF4-FFF2-40B4-BE49-F238E27FC236}">
                <a16:creationId xmlns:a16="http://schemas.microsoft.com/office/drawing/2014/main" id="{6FEE6202-6860-4EB4-92E3-0C3D9DD2E42E}"/>
              </a:ext>
            </a:extLst>
          </p:cNvPr>
          <p:cNvSpPr>
            <a:spLocks xmlns:a="http://schemas.openxmlformats.org/drawingml/2006/main" noGrp="1"/>
          </p:cNvSpPr>
          <p:nvPr/>
        </p:nvSpPr>
        <p:spPr>
          <a:xfrm xmlns:a="http://schemas.openxmlformats.org/drawingml/2006/main">
            <a:off x="4333875" y="3895725"/>
            <a:ext cx="56102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Kopplung Iᵢₙ: </a:t>
            </a:r>
            <a:r>
              <a:rPr sz="1800" b="0">
                <a:solidFill>
                  <a:srgbClr val="444444"/>
                </a:solidFill>
                <a:latin typeface="Calibri"/>
                <a:ea typeface="Calibri"/>
                <a:cs typeface="Calibri"/>
              </a:rPr>
              <a:t>Dieselben Hidden Units als Eingangsspalten des MLP-Heads</a:t>
            </a:r>
          </a:p>
        </p:txBody>
      </p:sp>
      <p:sp>
        <p:nvSpPr>
          <p:cNvPr id="2005" name="PN_lstm">
            <a:extLst xmlns:a="http://schemas.openxmlformats.org/drawingml/2006/main">
              <a:ext uri="{FF2B5EF4-FFF2-40B4-BE49-F238E27FC236}">
                <a16:creationId xmlns:a16="http://schemas.microsoft.com/office/drawing/2014/main" id="{270E4DB0-F1EA-44D2-A14F-83FD7BEDB7C3}"/>
              </a:ext>
            </a:extLst>
          </p:cNvPr>
          <p:cNvSpPr>
            <a:spLocks xmlns:a="http://schemas.openxmlformats.org/drawingml/2006/main" noGrp="1"/>
          </p:cNvSpPr>
          <p:nvPr/>
        </p:nvSpPr>
        <p:spPr>
          <a:xfrm xmlns:a="http://schemas.openxmlformats.org/drawingml/2006/main">
            <a:off x="4333875" y="4676775"/>
            <a:ext cx="56102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LSTM-Konsistenz: </a:t>
            </a:r>
            <a:r>
              <a:rPr sz="1800" b="0">
                <a:solidFill>
                  <a:srgbClr val="444444"/>
                </a:solidFill>
                <a:latin typeface="Calibri"/>
                <a:ea typeface="Calibri"/>
                <a:cs typeface="Calibri"/>
              </a:rPr>
              <a:t>Gleiche Kürzung aller Gates, rekurrenten Zeilen und Spalten sowie Bias und Zustände</a:t>
            </a:r>
          </a:p>
        </p:txBody>
      </p:sp>
      <p:sp>
        <p:nvSpPr>
          <p:cNvPr id="2006" name="PN_takeaway">
            <a:extLst xmlns:a="http://schemas.openxmlformats.org/drawingml/2006/main">
              <a:ext uri="{FF2B5EF4-FFF2-40B4-BE49-F238E27FC236}">
                <a16:creationId xmlns:a16="http://schemas.microsoft.com/office/drawing/2014/main" id="{DDF024F3-36D3-417C-845B-3758B8D440FA}"/>
              </a:ext>
            </a:extLst>
          </p:cNvPr>
          <p:cNvSpPr>
            <a:spLocks xmlns:a="http://schemas.openxmlformats.org/drawingml/2006/main" noGrp="1"/>
          </p:cNvSpPr>
          <p:nvPr/>
        </p:nvSpPr>
        <p:spPr>
          <a:xfrm xmlns:a="http://schemas.openxmlformats.org/drawingml/2006/main">
            <a:off x="552450" y="5657850"/>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Umsetzung: </a:t>
            </a:r>
            <a:r>
              <a:rPr sz="1800" b="1">
                <a:solidFill>
                  <a:srgbClr val="D00020"/>
                </a:solidFill>
                <a:latin typeface="Calibri"/>
                <a:ea typeface="Calibri"/>
                <a:cs typeface="Calibri"/>
              </a:rPr>
              <a:t>SOC 64 auf 45, SOH 128 auf 90 Hidden Units, danach Fine-Tuning</a:t>
            </a:r>
          </a:p>
        </p:txBody>
      </p:sp>
    </p:spTree>
    <p:extLst>
      <p:ext uri="{BB962C8B-B14F-4D97-AF65-F5344CB8AC3E}">
        <p14:creationId xmlns:p14="http://schemas.microsoft.com/office/powerpoint/2010/main" val="536383280"/>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D00020"/>
                </a:solidFill>
                <a:latin typeface="Calibri"/>
                <a:ea typeface="Calibri"/>
                <a:cs typeface="Calibri"/>
              </a:defRPr>
            </a:pPr>
            <a:r>
              <a:rPr sz="2400" b="0">
                <a:solidFill>
                  <a:srgbClr val="D00020"/>
                </a:solidFill>
                <a:latin typeface="Calibri"/>
                <a:ea typeface="Calibri"/>
                <a:cs typeface="Calibri"/>
              </a:rPr>
              <a:t>Quantization: Weight-only INT8</a:t>
            </a:r>
          </a: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38 / 44</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sp>
        <p:nvSpPr>
          <p:cNvPr id="19" name="Structure separator">
            <a:extLst xmlns:a="http://schemas.openxmlformats.org/drawingml/2006/main">
              <a:ext uri="{FF2B5EF4-FFF2-40B4-BE49-F238E27FC236}">
                <a16:creationId xmlns:a16="http://schemas.microsoft.com/office/drawing/2014/main" id="{AC05FEF0-AD91-4950-BD4B-D9327853ECDC}"/>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20" name="Structure label">
            <a:extLst xmlns:a="http://schemas.openxmlformats.org/drawingml/2006/main">
              <a:ext uri="{FF2B5EF4-FFF2-40B4-BE49-F238E27FC236}">
                <a16:creationId xmlns:a16="http://schemas.microsoft.com/office/drawing/2014/main" id="{1E889B11-A1C1-4C7D-815D-1DB8A218F460}"/>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xmlns:a="http://schemas.openxmlformats.org/drawingml/2006/main">
              <a:ext uri="{FF2B5EF4-FFF2-40B4-BE49-F238E27FC236}">
                <a16:creationId xmlns:a16="http://schemas.microsoft.com/office/drawing/2014/main" id="{84957F3F-2697-40B7-B860-C3AFFA1D691A}"/>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xmlns:a="http://schemas.openxmlformats.org/drawingml/2006/main">
              <a:ext uri="{FF2B5EF4-FFF2-40B4-BE49-F238E27FC236}">
                <a16:creationId xmlns:a16="http://schemas.microsoft.com/office/drawing/2014/main" id="{3240DF18-9C50-4A73-811B-57B7FEBAB81B}"/>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xmlns:a="http://schemas.openxmlformats.org/drawingml/2006/main">
              <a:ext uri="{FF2B5EF4-FFF2-40B4-BE49-F238E27FC236}">
                <a16:creationId xmlns:a16="http://schemas.microsoft.com/office/drawing/2014/main" id="{E0042EE4-B0BD-476A-8B1A-825C3C3D17FB}"/>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xmlns:a="http://schemas.openxmlformats.org/drawingml/2006/main">
              <a:ext uri="{FF2B5EF4-FFF2-40B4-BE49-F238E27FC236}">
                <a16:creationId xmlns:a16="http://schemas.microsoft.com/office/drawing/2014/main" id="{8C76ADAE-B66F-4F76-B94B-210C5234D227}"/>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xmlns:a="http://schemas.openxmlformats.org/drawingml/2006/main">
              <a:ext uri="{FF2B5EF4-FFF2-40B4-BE49-F238E27FC236}">
                <a16:creationId xmlns:a16="http://schemas.microsoft.com/office/drawing/2014/main" id="{17E665DD-65E5-43A9-A77E-8260E38303B4}"/>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6" name="Structure 5">
            <a:extLst xmlns:a="http://schemas.openxmlformats.org/drawingml/2006/main">
              <a:ext uri="{FF2B5EF4-FFF2-40B4-BE49-F238E27FC236}">
                <a16:creationId xmlns:a16="http://schemas.microsoft.com/office/drawing/2014/main" id="{484EF86D-8555-4159-A8BF-94AAC5BB4A3B}"/>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8" name="QR_quantization_grids" descr="Vergrößerter Rasterteil aus Abbildung 3.7: signed symmetric INT8, unsigned zero-anchored UINT8 und asymmetric UINT8"/>
          <p:cNvPicPr>
            <a:picLocks xmlns:a="http://schemas.openxmlformats.org/drawingml/2006/main" noChangeAspect="1"/>
          </p:cNvPicPr>
          <p:nvPr/>
        </p:nvPicPr>
        <p:blipFill>
          <a:blip xmlns:r="http://schemas.openxmlformats.org/officeDocument/2006/relationships" xmlns:a="http://schemas.openxmlformats.org/drawingml/2006/main" r:embed="R2bfc406543cb42f6"/>
          <ns0:srcRect xmlns:ns0="http://schemas.openxmlformats.org/drawingml/2006/main" l="51389" t="10000" r="1111" b="9222"/>
          <a:stretch xmlns:a="http://schemas.openxmlformats.org/drawingml/2006/main"/>
        </p:blipFill>
        <p:spPr>
          <a:xfrm xmlns:a="http://schemas.openxmlformats.org/drawingml/2006/main">
            <a:off x="5143500" y="1485900"/>
            <a:ext cx="4800600" cy="4081914"/>
          </a:xfrm>
          <a:prstGeom xmlns:a="http://schemas.openxmlformats.org/drawingml/2006/main" prst="rect">
            <a:avLst/>
          </a:prstGeom>
        </p:spPr>
      </p:pic>
      <p:sp>
        <p:nvSpPr>
          <p:cNvPr id="3000" name="QR_matrix">
            <a:extLst xmlns:a="http://schemas.openxmlformats.org/drawingml/2006/main">
              <a:ext uri="{FF2B5EF4-FFF2-40B4-BE49-F238E27FC236}">
                <a16:creationId xmlns:a16="http://schemas.microsoft.com/office/drawing/2014/main" id="{7CFFA735-2EF2-4433-AF80-9F717383E673}"/>
              </a:ext>
            </a:extLst>
          </p:cNvPr>
          <p:cNvSpPr>
            <a:spLocks xmlns:a="http://schemas.openxmlformats.org/drawingml/2006/main" noGrp="1"/>
          </p:cNvSpPr>
          <p:nvPr/>
        </p:nvSpPr>
        <p:spPr>
          <a:xfrm xmlns:a="http://schemas.openxmlformats.org/drawingml/2006/main">
            <a:off x="552450" y="1428750"/>
            <a:ext cx="423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666666"/>
                </a:solidFill>
                <a:latin typeface="Calibri"/>
                <a:ea typeface="Calibri"/>
                <a:cs typeface="Calibri"/>
              </a:defRPr>
            </a:pPr>
            <a:r>
              <a:rPr sz="1800" b="0">
                <a:solidFill>
                  <a:srgbClr val="666666"/>
                </a:solidFill>
                <a:latin typeface="Calibri"/>
                <a:ea typeface="Calibri"/>
                <a:cs typeface="Calibri"/>
              </a:rPr>
              <a:t>W: Wᵢₕ oder Wₕₕ</a:t>
            </a:r>
          </a:p>
        </p:txBody>
      </p:sp>
      <p:sp>
        <p:nvSpPr>
          <p:cNvPr id="3001" name="QR_indices">
            <a:extLst xmlns:a="http://schemas.openxmlformats.org/drawingml/2006/main">
              <a:ext uri="{FF2B5EF4-FFF2-40B4-BE49-F238E27FC236}">
                <a16:creationId xmlns:a16="http://schemas.microsoft.com/office/drawing/2014/main" id="{08306282-E7FA-41C3-9381-60E18CE31B39}"/>
              </a:ext>
            </a:extLst>
          </p:cNvPr>
          <p:cNvSpPr>
            <a:spLocks xmlns:a="http://schemas.openxmlformats.org/drawingml/2006/main" noGrp="1"/>
          </p:cNvSpPr>
          <p:nvPr/>
        </p:nvSpPr>
        <p:spPr>
          <a:xfrm xmlns:a="http://schemas.openxmlformats.org/drawingml/2006/main">
            <a:off x="552450" y="1714500"/>
            <a:ext cx="423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666666"/>
                </a:solidFill>
                <a:latin typeface="Calibri"/>
                <a:ea typeface="Calibri"/>
                <a:cs typeface="Calibri"/>
              </a:defRPr>
            </a:pPr>
            <a:r>
              <a:rPr sz="1800" b="0">
                <a:solidFill>
                  <a:srgbClr val="666666"/>
                </a:solidFill>
                <a:latin typeface="Calibri"/>
                <a:ea typeface="Calibri"/>
                <a:cs typeface="Calibri"/>
              </a:rPr>
              <a:t>r: row, k: column</a:t>
            </a:r>
          </a:p>
        </p:txBody>
      </p:sp>
      <p:sp>
        <p:nvSpPr>
          <p:cNvPr id="3002" name="QR_scale_label">
            <a:extLst xmlns:a="http://schemas.openxmlformats.org/drawingml/2006/main">
              <a:ext uri="{FF2B5EF4-FFF2-40B4-BE49-F238E27FC236}">
                <a16:creationId xmlns:a16="http://schemas.microsoft.com/office/drawing/2014/main" id="{9B3CA7E8-4945-4C9C-A96B-50C045342B9F}"/>
              </a:ext>
            </a:extLst>
          </p:cNvPr>
          <p:cNvSpPr>
            <a:spLocks xmlns:a="http://schemas.openxmlformats.org/drawingml/2006/main" noGrp="1"/>
          </p:cNvSpPr>
          <p:nvPr/>
        </p:nvSpPr>
        <p:spPr>
          <a:xfrm xmlns:a="http://schemas.openxmlformats.org/drawingml/2006/main">
            <a:off x="552450" y="2181225"/>
            <a:ext cx="4238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Quantization zur Speicherung</a:t>
            </a:r>
          </a:p>
        </p:txBody>
      </p:sp>
      <p:sp>
        <p:nvSpPr>
          <p:cNvPr id="3003" name="QR_scale">
            <a:extLst xmlns:a="http://schemas.openxmlformats.org/drawingml/2006/main">
              <a:ext uri="{FF2B5EF4-FFF2-40B4-BE49-F238E27FC236}">
                <a16:creationId xmlns:a16="http://schemas.microsoft.com/office/drawing/2014/main" id="{4DB1B3E3-B2C2-474D-8FD8-2B73B7319730}"/>
              </a:ext>
            </a:extLst>
          </p:cNvPr>
          <p:cNvSpPr>
            <a:spLocks xmlns:a="http://schemas.openxmlformats.org/drawingml/2006/main" noGrp="1"/>
          </p:cNvSpPr>
          <p:nvPr/>
        </p:nvSpPr>
        <p:spPr>
          <a:xfrm xmlns:a="http://schemas.openxmlformats.org/drawingml/2006/main">
            <a:off x="552450" y="2562225"/>
            <a:ext cx="4238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800" b="0">
                <a:solidFill>
                  <a:srgbClr val="444444"/>
                </a:solidFill>
                <a:latin typeface="Calibri"/>
                <a:ea typeface="Calibri"/>
                <a:cs typeface="Calibri"/>
              </a:defRPr>
            </a:pPr>
            <a14:m xmlns:a14="http://schemas.microsoft.com/office/drawing/2010/main">
              <m:oMathPara xmlns:m="http://schemas.openxmlformats.org/officeDocument/2006/math">
                <m:oMathParaPr>
                  <m:jc m:val="centerGroup"/>
                </m:oMathParaPr>
                <m:oMath>
                  <m:sSub>
                    <m:e>
                      <m:r>
                        <a:rPr sz="1800">
                          <a:latin typeface="Cambria Math"/>
                          <a:ea typeface="Cambria Math"/>
                          <a:cs typeface="Cambria Math"/>
                        </a:rPr>
                        <m:t>s</m:t>
                      </m:r>
                    </m:e>
                    <m:sub>
                      <m:r>
                        <a:rPr sz="1260">
                          <a:latin typeface="Cambria Math"/>
                          <a:ea typeface="Cambria Math"/>
                          <a:cs typeface="Cambria Math"/>
                        </a:rPr>
                        <m:t>r</m:t>
                      </m:r>
                    </m:sub>
                  </m:sSub>
                  <m:r>
                    <a:rPr sz="1800">
                      <a:latin typeface="Cambria Math"/>
                      <a:ea typeface="Cambria Math"/>
                      <a:cs typeface="Cambria Math"/>
                    </a:rPr>
                    <m:t>=</m:t>
                  </m:r>
                  <m:r>
                    <a:rPr sz="1800">
                      <a:latin typeface="Cambria Math"/>
                      <a:ea typeface="Cambria Math"/>
                      <a:cs typeface="Cambria Math"/>
                    </a:rPr>
                    <m:t>m</m:t>
                  </m:r>
                  <m:r>
                    <a:rPr sz="1800">
                      <a:latin typeface="Cambria Math"/>
                      <a:ea typeface="Cambria Math"/>
                      <a:cs typeface="Cambria Math"/>
                    </a:rPr>
                    <m:t>a</m:t>
                  </m:r>
                  <m:r>
                    <a:rPr sz="1800">
                      <a:latin typeface="Cambria Math"/>
                      <a:ea typeface="Cambria Math"/>
                      <a:cs typeface="Cambria Math"/>
                    </a:rPr>
                    <m:t>x</m:t>
                  </m:r>
                  <m:r>
                    <a:rPr sz="1800">
                      <a:latin typeface="Cambria Math"/>
                      <a:ea typeface="Cambria Math"/>
                      <a:cs typeface="Cambria Math"/>
                    </a:rPr>
                    <m:t>(</m:t>
                  </m:r>
                  <m:f>
                    <m:num>
                      <m:sSub>
                        <m:e>
                          <m:r>
                            <a:rPr sz="1800">
                              <a:latin typeface="Cambria Math"/>
                              <a:ea typeface="Cambria Math"/>
                              <a:cs typeface="Cambria Math"/>
                            </a:rPr>
                            <m:t>m</m:t>
                          </m:r>
                          <m:r>
                            <a:rPr sz="1800">
                              <a:latin typeface="Cambria Math"/>
                              <a:ea typeface="Cambria Math"/>
                              <a:cs typeface="Cambria Math"/>
                            </a:rPr>
                            <m:t>a</m:t>
                          </m:r>
                          <m:r>
                            <a:rPr sz="1800">
                              <a:latin typeface="Cambria Math"/>
                              <a:ea typeface="Cambria Math"/>
                              <a:cs typeface="Cambria Math"/>
                            </a:rPr>
                            <m:t>x</m:t>
                          </m:r>
                        </m:e>
                        <m:sub>
                          <m:r>
                            <a:rPr sz="1260">
                              <a:latin typeface="Cambria Math"/>
                              <a:ea typeface="Cambria Math"/>
                              <a:cs typeface="Cambria Math"/>
                            </a:rPr>
                            <m:t>k</m:t>
                          </m:r>
                        </m:sub>
                      </m:sSub>
                      <m:r>
                        <a:rPr sz="1800">
                          <a:latin typeface="Cambria Math"/>
                          <a:ea typeface="Cambria Math"/>
                          <a:cs typeface="Cambria Math"/>
                        </a:rPr>
                        <m:t>|</m:t>
                      </m:r>
                      <m:sSub>
                        <m:e>
                          <m:r>
                            <a:rPr sz="1800">
                              <a:latin typeface="Cambria Math"/>
                              <a:ea typeface="Cambria Math"/>
                              <a:cs typeface="Cambria Math"/>
                            </a:rPr>
                            <m:t>W</m:t>
                          </m:r>
                        </m:e>
                        <m:sub>
                          <m:r>
                            <a:rPr sz="1260">
                              <a:latin typeface="Cambria Math"/>
                              <a:ea typeface="Cambria Math"/>
                              <a:cs typeface="Cambria Math"/>
                            </a:rPr>
                            <m:t>r</m:t>
                          </m:r>
                          <m:r>
                            <a:rPr sz="1260">
                              <a:latin typeface="Cambria Math"/>
                              <a:ea typeface="Cambria Math"/>
                              <a:cs typeface="Cambria Math"/>
                            </a:rPr>
                            <m:t>,</m:t>
                          </m:r>
                          <m:r>
                            <a:rPr sz="1260">
                              <a:latin typeface="Cambria Math"/>
                              <a:ea typeface="Cambria Math"/>
                              <a:cs typeface="Cambria Math"/>
                            </a:rPr>
                            <m:t>k</m:t>
                          </m:r>
                        </m:sub>
                      </m:sSub>
                      <m:r>
                        <a:rPr sz="1800">
                          <a:latin typeface="Cambria Math"/>
                          <a:ea typeface="Cambria Math"/>
                          <a:cs typeface="Cambria Math"/>
                        </a:rPr>
                        <m:t>|</m:t>
                      </m:r>
                    </m:num>
                    <m:den>
                      <m:r>
                        <a:rPr sz="1800">
                          <a:latin typeface="Cambria Math"/>
                          <a:ea typeface="Cambria Math"/>
                          <a:cs typeface="Cambria Math"/>
                        </a:rPr>
                        <m:t>127</m:t>
                      </m:r>
                    </m:den>
                  </m:f>
                  <m:r>
                    <a:rPr sz="1800">
                      <a:latin typeface="Cambria Math"/>
                      <a:ea typeface="Cambria Math"/>
                      <a:cs typeface="Cambria Math"/>
                    </a:rPr>
                    <m:t>,</m:t>
                  </m:r>
                  <m:sSub>
                    <m:e>
                      <m:r>
                        <a:rPr sz="1800">
                          <a:latin typeface="Cambria Math"/>
                          <a:ea typeface="Cambria Math"/>
                          <a:cs typeface="Cambria Math"/>
                        </a:rPr>
                        <m:t>ε</m:t>
                      </m:r>
                    </m:e>
                    <m:sub>
                      <m:r>
                        <a:rPr sz="1260">
                          <a:latin typeface="Cambria Math"/>
                          <a:ea typeface="Cambria Math"/>
                          <a:cs typeface="Cambria Math"/>
                        </a:rPr>
                        <m:t>q</m:t>
                      </m:r>
                    </m:sub>
                  </m:sSub>
                  <m:r>
                    <a:rPr sz="1800">
                      <a:latin typeface="Cambria Math"/>
                      <a:ea typeface="Cambria Math"/>
                      <a:cs typeface="Cambria Math"/>
                    </a:rPr>
                    <m:t>)</m:t>
                  </m:r>
                </m:oMath>
              </m:oMathPara>
            </a14:m>
          </a:p>
        </p:txBody>
      </p:sp>
      <p:sp>
        <p:nvSpPr>
          <p:cNvPr id="3005" name="QR_code_label">
            <a:extLst xmlns:a="http://schemas.openxmlformats.org/drawingml/2006/main">
              <a:ext uri="{FF2B5EF4-FFF2-40B4-BE49-F238E27FC236}">
                <a16:creationId xmlns:a16="http://schemas.microsoft.com/office/drawing/2014/main" id="{75CE4E35-A5DE-4A94-8910-D8C9BBBB2BC9}"/>
              </a:ext>
            </a:extLst>
          </p:cNvPr>
          <p:cNvSpPr>
            <a:spLocks xmlns:a="http://schemas.openxmlformats.org/drawingml/2006/main" noGrp="1"/>
          </p:cNvSpPr>
          <p:nvPr/>
        </p:nvSpPr>
        <p:spPr>
          <a:xfrm xmlns:a="http://schemas.openxmlformats.org/drawingml/2006/main">
            <a:off x="552450" y="3771900"/>
            <a:ext cx="4238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Speicherung: q als INT8, s als FP32</a:t>
            </a:r>
          </a:p>
        </p:txBody>
      </p:sp>
      <p:sp>
        <p:nvSpPr>
          <p:cNvPr id="3006" name="QR_code">
            <a:extLst xmlns:a="http://schemas.openxmlformats.org/drawingml/2006/main">
              <a:ext uri="{FF2B5EF4-FFF2-40B4-BE49-F238E27FC236}">
                <a16:creationId xmlns:a16="http://schemas.microsoft.com/office/drawing/2014/main" id="{3A1F1D40-00F6-4560-9145-823638CE6845}"/>
              </a:ext>
            </a:extLst>
          </p:cNvPr>
          <p:cNvSpPr>
            <a:spLocks xmlns:a="http://schemas.openxmlformats.org/drawingml/2006/main" noGrp="1"/>
          </p:cNvSpPr>
          <p:nvPr/>
        </p:nvSpPr>
        <p:spPr>
          <a:xfrm xmlns:a="http://schemas.openxmlformats.org/drawingml/2006/main">
            <a:off x="552450" y="3152775"/>
            <a:ext cx="4238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800" b="0">
                <a:solidFill>
                  <a:srgbClr val="444444"/>
                </a:solidFill>
                <a:latin typeface="Calibri"/>
                <a:ea typeface="Calibri"/>
                <a:cs typeface="Calibri"/>
              </a:defRPr>
            </a:pPr>
            <a14:m xmlns:a14="http://schemas.microsoft.com/office/drawing/2010/main">
              <m:oMathPara xmlns:m="http://schemas.openxmlformats.org/officeDocument/2006/math">
                <m:oMathParaPr>
                  <m:jc m:val="centerGroup"/>
                </m:oMathParaPr>
                <m:oMath>
                  <m:sSub>
                    <m:e>
                      <m:r>
                        <a:rPr sz="1800">
                          <a:latin typeface="Cambria Math"/>
                          <a:ea typeface="Cambria Math"/>
                          <a:cs typeface="Cambria Math"/>
                        </a:rPr>
                        <m:t>q</m:t>
                      </m:r>
                    </m:e>
                    <m:sub>
                      <m:r>
                        <a:rPr sz="1260">
                          <a:latin typeface="Cambria Math"/>
                          <a:ea typeface="Cambria Math"/>
                          <a:cs typeface="Cambria Math"/>
                        </a:rPr>
                        <m:t>r</m:t>
                      </m:r>
                      <m:r>
                        <a:rPr sz="1260">
                          <a:latin typeface="Cambria Math"/>
                          <a:ea typeface="Cambria Math"/>
                          <a:cs typeface="Cambria Math"/>
                        </a:rPr>
                        <m:t>,</m:t>
                      </m:r>
                      <m:r>
                        <a:rPr sz="1260">
                          <a:latin typeface="Cambria Math"/>
                          <a:ea typeface="Cambria Math"/>
                          <a:cs typeface="Cambria Math"/>
                        </a:rPr>
                        <m:t>k</m:t>
                      </m:r>
                    </m:sub>
                  </m:sSub>
                  <m:r>
                    <a:rPr sz="1800">
                      <a:latin typeface="Cambria Math"/>
                      <a:ea typeface="Cambria Math"/>
                      <a:cs typeface="Cambria Math"/>
                    </a:rPr>
                    <m:t>=</m:t>
                  </m:r>
                  <m:r>
                    <a:rPr sz="1800">
                      <a:latin typeface="Cambria Math"/>
                      <a:ea typeface="Cambria Math"/>
                      <a:cs typeface="Cambria Math"/>
                    </a:rPr>
                    <m:t>c</m:t>
                  </m:r>
                  <m:r>
                    <a:rPr sz="1800">
                      <a:latin typeface="Cambria Math"/>
                      <a:ea typeface="Cambria Math"/>
                      <a:cs typeface="Cambria Math"/>
                    </a:rPr>
                    <m:t>l</m:t>
                  </m:r>
                  <m:r>
                    <a:rPr sz="1800">
                      <a:latin typeface="Cambria Math"/>
                      <a:ea typeface="Cambria Math"/>
                      <a:cs typeface="Cambria Math"/>
                    </a:rPr>
                    <m:t>i</m:t>
                  </m:r>
                  <m:r>
                    <a:rPr sz="1800">
                      <a:latin typeface="Cambria Math"/>
                      <a:ea typeface="Cambria Math"/>
                      <a:cs typeface="Cambria Math"/>
                    </a:rPr>
                    <m:t>p</m:t>
                  </m:r>
                  <m:r>
                    <a:rPr sz="1800">
                      <a:latin typeface="Cambria Math"/>
                      <a:ea typeface="Cambria Math"/>
                      <a:cs typeface="Cambria Math"/>
                    </a:rPr>
                    <m:t>(</m:t>
                  </m:r>
                  <m:r>
                    <a:rPr sz="1800">
                      <a:latin typeface="Cambria Math"/>
                      <a:ea typeface="Cambria Math"/>
                      <a:cs typeface="Cambria Math"/>
                    </a:rPr>
                    <m:t>r</m:t>
                  </m:r>
                  <m:r>
                    <a:rPr sz="1800">
                      <a:latin typeface="Cambria Math"/>
                      <a:ea typeface="Cambria Math"/>
                      <a:cs typeface="Cambria Math"/>
                    </a:rPr>
                    <m:t>o</m:t>
                  </m:r>
                  <m:r>
                    <a:rPr sz="1800">
                      <a:latin typeface="Cambria Math"/>
                      <a:ea typeface="Cambria Math"/>
                      <a:cs typeface="Cambria Math"/>
                    </a:rPr>
                    <m:t>u</m:t>
                  </m:r>
                  <m:r>
                    <a:rPr sz="1800">
                      <a:latin typeface="Cambria Math"/>
                      <a:ea typeface="Cambria Math"/>
                      <a:cs typeface="Cambria Math"/>
                    </a:rPr>
                    <m:t>n</m:t>
                  </m:r>
                  <m:r>
                    <a:rPr sz="1800">
                      <a:latin typeface="Cambria Math"/>
                      <a:ea typeface="Cambria Math"/>
                      <a:cs typeface="Cambria Math"/>
                    </a:rPr>
                    <m:t>d</m:t>
                  </m:r>
                  <m:r>
                    <a:rPr sz="1800">
                      <a:latin typeface="Cambria Math"/>
                      <a:ea typeface="Cambria Math"/>
                      <a:cs typeface="Cambria Math"/>
                    </a:rPr>
                    <m:t>(</m:t>
                  </m:r>
                  <m:f>
                    <m:num>
                      <m:sSub>
                        <m:e>
                          <m:r>
                            <a:rPr sz="1800">
                              <a:latin typeface="Cambria Math"/>
                              <a:ea typeface="Cambria Math"/>
                              <a:cs typeface="Cambria Math"/>
                            </a:rPr>
                            <m:t>W</m:t>
                          </m:r>
                        </m:e>
                        <m:sub>
                          <m:r>
                            <a:rPr sz="1260">
                              <a:latin typeface="Cambria Math"/>
                              <a:ea typeface="Cambria Math"/>
                              <a:cs typeface="Cambria Math"/>
                            </a:rPr>
                            <m:t>r</m:t>
                          </m:r>
                          <m:r>
                            <a:rPr sz="1260">
                              <a:latin typeface="Cambria Math"/>
                              <a:ea typeface="Cambria Math"/>
                              <a:cs typeface="Cambria Math"/>
                            </a:rPr>
                            <m:t>,</m:t>
                          </m:r>
                          <m:r>
                            <a:rPr sz="1260">
                              <a:latin typeface="Cambria Math"/>
                              <a:ea typeface="Cambria Math"/>
                              <a:cs typeface="Cambria Math"/>
                            </a:rPr>
                            <m:t>k</m:t>
                          </m:r>
                        </m:sub>
                      </m:sSub>
                    </m:num>
                    <m:den>
                      <m:sSub>
                        <m:e>
                          <m:r>
                            <a:rPr sz="1800">
                              <a:latin typeface="Cambria Math"/>
                              <a:ea typeface="Cambria Math"/>
                              <a:cs typeface="Cambria Math"/>
                            </a:rPr>
                            <m:t>s</m:t>
                          </m:r>
                        </m:e>
                        <m:sub>
                          <m:r>
                            <a:rPr sz="1260">
                              <a:latin typeface="Cambria Math"/>
                              <a:ea typeface="Cambria Math"/>
                              <a:cs typeface="Cambria Math"/>
                            </a:rPr>
                            <m:t>r</m:t>
                          </m:r>
                        </m:sub>
                      </m:sSub>
                    </m:den>
                  </m:f>
                  <m:r>
                    <a:rPr sz="1800">
                      <a:latin typeface="Cambria Math"/>
                      <a:ea typeface="Cambria Math"/>
                      <a:cs typeface="Cambria Math"/>
                    </a:rPr>
                    <m:t>)</m:t>
                  </m:r>
                  <m:r>
                    <a:rPr sz="1800">
                      <a:latin typeface="Cambria Math"/>
                      <a:ea typeface="Cambria Math"/>
                      <a:cs typeface="Cambria Math"/>
                    </a:rPr>
                    <m:t>,</m:t>
                  </m:r>
                  <m:r>
                    <a:rPr sz="1800">
                      <a:latin typeface="Cambria Math"/>
                      <a:ea typeface="Cambria Math"/>
                      <a:cs typeface="Cambria Math"/>
                    </a:rPr>
                    <m:t>−</m:t>
                  </m:r>
                  <m:r>
                    <a:rPr sz="1800">
                      <a:latin typeface="Cambria Math"/>
                      <a:ea typeface="Cambria Math"/>
                      <a:cs typeface="Cambria Math"/>
                    </a:rPr>
                    <m:t>127</m:t>
                  </m:r>
                  <m:r>
                    <a:rPr sz="1800">
                      <a:latin typeface="Cambria Math"/>
                      <a:ea typeface="Cambria Math"/>
                      <a:cs typeface="Cambria Math"/>
                    </a:rPr>
                    <m:t>,</m:t>
                  </m:r>
                  <m:r>
                    <a:rPr sz="1800">
                      <a:latin typeface="Cambria Math"/>
                      <a:ea typeface="Cambria Math"/>
                      <a:cs typeface="Cambria Math"/>
                    </a:rPr>
                    <m:t>127</m:t>
                  </m:r>
                  <m:r>
                    <a:rPr sz="1800">
                      <a:latin typeface="Cambria Math"/>
                      <a:ea typeface="Cambria Math"/>
                      <a:cs typeface="Cambria Math"/>
                    </a:rPr>
                    <m:t>)</m:t>
                  </m:r>
                </m:oMath>
              </m:oMathPara>
            </a14:m>
          </a:p>
        </p:txBody>
      </p:sp>
      <p:sp>
        <p:nvSpPr>
          <p:cNvPr id="3007" name="QR_reconstruction_label">
            <a:extLst xmlns:a="http://schemas.openxmlformats.org/drawingml/2006/main">
              <a:ext uri="{FF2B5EF4-FFF2-40B4-BE49-F238E27FC236}">
                <a16:creationId xmlns:a16="http://schemas.microsoft.com/office/drawing/2014/main" id="{0B7E4458-81C7-4DAA-A3CD-EE2D45404F9C}"/>
              </a:ext>
            </a:extLst>
          </p:cNvPr>
          <p:cNvSpPr>
            <a:spLocks xmlns:a="http://schemas.openxmlformats.org/drawingml/2006/main" noGrp="1"/>
          </p:cNvSpPr>
          <p:nvPr/>
        </p:nvSpPr>
        <p:spPr>
          <a:xfrm xmlns:a="http://schemas.openxmlformats.org/drawingml/2006/main">
            <a:off x="552450" y="4305300"/>
            <a:ext cx="4238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Dequantization zur Laufzeit</a:t>
            </a:r>
          </a:p>
        </p:txBody>
      </p:sp>
      <p:sp>
        <p:nvSpPr>
          <p:cNvPr id="3008" name="QR_reconstruction">
            <a:extLst xmlns:a="http://schemas.openxmlformats.org/drawingml/2006/main">
              <a:ext uri="{FF2B5EF4-FFF2-40B4-BE49-F238E27FC236}">
                <a16:creationId xmlns:a16="http://schemas.microsoft.com/office/drawing/2014/main" id="{F8E0BFAF-AB60-46EB-8E13-EAE74C8D73E4}"/>
              </a:ext>
            </a:extLst>
          </p:cNvPr>
          <p:cNvSpPr>
            <a:spLocks xmlns:a="http://schemas.openxmlformats.org/drawingml/2006/main" noGrp="1"/>
          </p:cNvSpPr>
          <p:nvPr/>
        </p:nvSpPr>
        <p:spPr>
          <a:xfrm xmlns:a="http://schemas.openxmlformats.org/drawingml/2006/main">
            <a:off x="552450" y="4667250"/>
            <a:ext cx="4238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800" b="0">
                <a:solidFill>
                  <a:srgbClr val="444444"/>
                </a:solidFill>
                <a:latin typeface="Calibri"/>
                <a:ea typeface="Calibri"/>
                <a:cs typeface="Calibri"/>
              </a:defRPr>
            </a:pPr>
            <a14:m xmlns:a14="http://schemas.microsoft.com/office/drawing/2010/main">
              <m:oMathPara xmlns:m="http://schemas.openxmlformats.org/officeDocument/2006/math">
                <m:oMathParaPr>
                  <m:jc m:val="centerGroup"/>
                </m:oMathParaPr>
                <m:oMath>
                  <m:sSub>
                    <m:e>
                      <m:acc>
                        <m:accPr>
                          <m:chr m:val="^"/>
                        </m:accPr>
                        <m:e>
                          <m:r>
                            <a:rPr sz="1800">
                              <a:latin typeface="Cambria Math"/>
                              <a:ea typeface="Cambria Math"/>
                              <a:cs typeface="Cambria Math"/>
                            </a:rPr>
                            <m:t>W</m:t>
                          </m:r>
                        </m:e>
                      </m:acc>
                    </m:e>
                    <m:sub>
                      <m:r>
                        <a:rPr sz="1260">
                          <a:latin typeface="Cambria Math"/>
                          <a:ea typeface="Cambria Math"/>
                          <a:cs typeface="Cambria Math"/>
                        </a:rPr>
                        <m:t>r</m:t>
                      </m:r>
                      <m:r>
                        <a:rPr sz="1260">
                          <a:latin typeface="Cambria Math"/>
                          <a:ea typeface="Cambria Math"/>
                          <a:cs typeface="Cambria Math"/>
                        </a:rPr>
                        <m:t>,</m:t>
                      </m:r>
                      <m:r>
                        <a:rPr sz="1260">
                          <a:latin typeface="Cambria Math"/>
                          <a:ea typeface="Cambria Math"/>
                          <a:cs typeface="Cambria Math"/>
                        </a:rPr>
                        <m:t>k</m:t>
                      </m:r>
                    </m:sub>
                  </m:sSub>
                  <m:r>
                    <a:rPr sz="1800">
                      <a:latin typeface="Cambria Math"/>
                      <a:ea typeface="Cambria Math"/>
                      <a:cs typeface="Cambria Math"/>
                    </a:rPr>
                    <m:t>=</m:t>
                  </m:r>
                  <m:sSub>
                    <m:e>
                      <m:r>
                        <a:rPr sz="1800">
                          <a:latin typeface="Cambria Math"/>
                          <a:ea typeface="Cambria Math"/>
                          <a:cs typeface="Cambria Math"/>
                        </a:rPr>
                        <m:t>s</m:t>
                      </m:r>
                    </m:e>
                    <m:sub>
                      <m:r>
                        <a:rPr sz="1260">
                          <a:latin typeface="Cambria Math"/>
                          <a:ea typeface="Cambria Math"/>
                          <a:cs typeface="Cambria Math"/>
                        </a:rPr>
                        <m:t>r</m:t>
                      </m:r>
                    </m:sub>
                  </m:sSub>
                  <m:sSub>
                    <m:e>
                      <m:r>
                        <a:rPr sz="1800">
                          <a:latin typeface="Cambria Math"/>
                          <a:ea typeface="Cambria Math"/>
                          <a:cs typeface="Cambria Math"/>
                        </a:rPr>
                        <m:t>q</m:t>
                      </m:r>
                    </m:e>
                    <m:sub>
                      <m:r>
                        <a:rPr sz="1260">
                          <a:latin typeface="Cambria Math"/>
                          <a:ea typeface="Cambria Math"/>
                          <a:cs typeface="Cambria Math"/>
                        </a:rPr>
                        <m:t>r</m:t>
                      </m:r>
                      <m:r>
                        <a:rPr sz="1260">
                          <a:latin typeface="Cambria Math"/>
                          <a:ea typeface="Cambria Math"/>
                          <a:cs typeface="Cambria Math"/>
                        </a:rPr>
                        <m:t>,</m:t>
                      </m:r>
                      <m:r>
                        <a:rPr sz="1260">
                          <a:latin typeface="Cambria Math"/>
                          <a:ea typeface="Cambria Math"/>
                          <a:cs typeface="Cambria Math"/>
                        </a:rPr>
                        <m:t>k</m:t>
                      </m:r>
                    </m:sub>
                  </m:sSub>
                </m:oMath>
              </m:oMathPara>
            </a14:m>
          </a:p>
        </p:txBody>
      </p:sp>
      <p:sp>
        <p:nvSpPr>
          <p:cNvPr id="3009" name="QR_precision">
            <a:extLst xmlns:a="http://schemas.openxmlformats.org/drawingml/2006/main">
              <a:ext uri="{FF2B5EF4-FFF2-40B4-BE49-F238E27FC236}">
                <a16:creationId xmlns:a16="http://schemas.microsoft.com/office/drawing/2014/main" id="{F88F3938-5B72-4BF5-8908-C63E79F4AA3D}"/>
              </a:ext>
            </a:extLst>
          </p:cNvPr>
          <p:cNvSpPr>
            <a:spLocks xmlns:a="http://schemas.openxmlformats.org/drawingml/2006/main" noGrp="1"/>
          </p:cNvSpPr>
          <p:nvPr/>
        </p:nvSpPr>
        <p:spPr>
          <a:xfrm xmlns:a="http://schemas.openxmlformats.org/drawingml/2006/main">
            <a:off x="552450" y="5048250"/>
            <a:ext cx="4238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Rekonstruierte Weights in FP32</a:t>
            </a:r>
          </a:p>
          <a:p xmlns:a="http://schemas.openxmlformats.org/drawingml/2006/main">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Bias, States und MLP in FP32</a:t>
            </a:r>
          </a:p>
        </p:txBody>
      </p:sp>
      <p:sp>
        <p:nvSpPr>
          <p:cNvPr id="3010" name="QR_takeaway">
            <a:extLst xmlns:a="http://schemas.openxmlformats.org/drawingml/2006/main">
              <a:ext uri="{FF2B5EF4-FFF2-40B4-BE49-F238E27FC236}">
                <a16:creationId xmlns:a16="http://schemas.microsoft.com/office/drawing/2014/main" id="{6365C577-320A-4609-853F-A7FFBAB9F8CF}"/>
              </a:ext>
            </a:extLst>
          </p:cNvPr>
          <p:cNvSpPr>
            <a:spLocks xmlns:a="http://schemas.openxmlformats.org/drawingml/2006/main" noGrp="1"/>
          </p:cNvSpPr>
          <p:nvPr/>
        </p:nvSpPr>
        <p:spPr>
          <a:xfrm xmlns:a="http://schemas.openxmlformats.org/drawingml/2006/main">
            <a:off x="552450" y="5657850"/>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Geringerer Gewichtsspeicher bei gleicher Topologie und MAC-Zahl</a:t>
            </a:r>
          </a:p>
        </p:txBody>
      </p:sp>
      <p:sp>
        <p:nvSpPr>
          <p:cNvPr id="3011" name="QR_signed_highlight">
            <a:extLst xmlns:a="http://schemas.openxmlformats.org/drawingml/2006/main">
              <a:ext uri="{FF2B5EF4-FFF2-40B4-BE49-F238E27FC236}">
                <a16:creationId xmlns:a16="http://schemas.microsoft.com/office/drawing/2014/main" id="{4353F4AA-EC64-4565-8965-981A5134439A}"/>
              </a:ext>
            </a:extLst>
          </p:cNvPr>
          <p:cNvSpPr>
            <a:spLocks xmlns:a="http://schemas.openxmlformats.org/drawingml/2006/main" noGrp="1"/>
          </p:cNvSpPr>
          <p:nvPr/>
        </p:nvSpPr>
        <p:spPr>
          <a:xfrm xmlns:a="http://schemas.openxmlformats.org/drawingml/2006/main">
            <a:off x="5105400" y="1381125"/>
            <a:ext cx="4857750" cy="1438275"/>
          </a:xfrm>
          <a:prstGeom xmlns:a="http://schemas.openxmlformats.org/drawingml/2006/main" prst="rect">
            <a:avLst/>
          </a:prstGeom>
          <a:noFill xmlns:a="http://schemas.openxmlformats.org/drawingml/2006/main"/>
          <a:ln xmlns:a="http://schemas.openxmlformats.org/drawingml/2006/main" w="19050">
            <a:solidFill>
              <a:srgbClr val="D00020"/>
            </a:solidFill>
          </a:ln>
        </p:spPr>
      </p:sp>
      <p:sp>
        <p:nvSpPr>
          <p:cNvPr id="3012" name="QR_used">
            <a:extLst xmlns:a="http://schemas.openxmlformats.org/drawingml/2006/main">
              <a:ext uri="{FF2B5EF4-FFF2-40B4-BE49-F238E27FC236}">
                <a16:creationId xmlns:a16="http://schemas.microsoft.com/office/drawing/2014/main" id="{0CA7CB1D-85A3-4B32-BFDF-FAD93B6D4803}"/>
              </a:ext>
            </a:extLst>
          </p:cNvPr>
          <p:cNvSpPr>
            <a:spLocks xmlns:a="http://schemas.openxmlformats.org/drawingml/2006/main" noGrp="1"/>
          </p:cNvSpPr>
          <p:nvPr/>
        </p:nvSpPr>
        <p:spPr>
          <a:xfrm xmlns:a="http://schemas.openxmlformats.org/drawingml/2006/main">
            <a:off x="8648700" y="1466850"/>
            <a:ext cx="1257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Verwendet</a:t>
            </a:r>
          </a:p>
        </p:txBody>
      </p:sp>
    </p:spTree>
    <p:extLst>
      <p:ext uri="{BB962C8B-B14F-4D97-AF65-F5344CB8AC3E}">
        <p14:creationId xmlns:p14="http://schemas.microsoft.com/office/powerpoint/2010/main" val="4281378793"/>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lIns="0" tIns="0" rIns="0" bIns="0" anchor="t">
            <a:noAutofit/>
          </a:bodyPr>
          <a:lstStyle xmlns:a="http://schemas.openxmlformats.org/drawingml/2006/main"/>
          <a:p xmlns:a="http://schemas.openxmlformats.org/drawingml/2006/main">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Ergebnisse: Accuracy nach Modellkompression</a:t>
            </a:r>
          </a: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39 / 44</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sp>
        <p:nvSpPr>
          <p:cNvPr id="15" name="Structure separator">
            <a:extLst xmlns:a="http://schemas.openxmlformats.org/drawingml/2006/main">
              <a:ext uri="{FF2B5EF4-FFF2-40B4-BE49-F238E27FC236}">
                <a16:creationId xmlns:a16="http://schemas.microsoft.com/office/drawing/2014/main" id="{9255478F-B521-4CBF-B463-6AF0AC331A3A}"/>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16" name="Structure label">
            <a:extLst xmlns:a="http://schemas.openxmlformats.org/drawingml/2006/main">
              <a:ext uri="{FF2B5EF4-FFF2-40B4-BE49-F238E27FC236}">
                <a16:creationId xmlns:a16="http://schemas.microsoft.com/office/drawing/2014/main" id="{5E1D1FDA-3A78-45B8-8BE9-EB4FF189548E}"/>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xmlns:a="http://schemas.openxmlformats.org/drawingml/2006/main">
              <a:ext uri="{FF2B5EF4-FFF2-40B4-BE49-F238E27FC236}">
                <a16:creationId xmlns:a16="http://schemas.microsoft.com/office/drawing/2014/main" id="{88C81035-26C5-42A3-95BC-BF61B6CC25D6}"/>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xmlns:a="http://schemas.openxmlformats.org/drawingml/2006/main">
              <a:ext uri="{FF2B5EF4-FFF2-40B4-BE49-F238E27FC236}">
                <a16:creationId xmlns:a16="http://schemas.microsoft.com/office/drawing/2014/main" id="{67CFA1B8-99B2-4EF7-9E3E-107A3A59172D}"/>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xmlns:a="http://schemas.openxmlformats.org/drawingml/2006/main">
              <a:ext uri="{FF2B5EF4-FFF2-40B4-BE49-F238E27FC236}">
                <a16:creationId xmlns:a16="http://schemas.microsoft.com/office/drawing/2014/main" id="{3068BB09-C0E8-44B6-897A-A61CDDD0A2D0}"/>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xmlns:a="http://schemas.openxmlformats.org/drawingml/2006/main">
              <a:ext uri="{FF2B5EF4-FFF2-40B4-BE49-F238E27FC236}">
                <a16:creationId xmlns:a16="http://schemas.microsoft.com/office/drawing/2014/main" id="{4AB73494-47EE-4C18-9B9C-67DF345E9988}"/>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xmlns:a="http://schemas.openxmlformats.org/drawingml/2006/main">
              <a:ext uri="{FF2B5EF4-FFF2-40B4-BE49-F238E27FC236}">
                <a16:creationId xmlns:a16="http://schemas.microsoft.com/office/drawing/2014/main" id="{2F324E9B-C60F-406E-8FEB-4793007C944D}"/>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2" name="Structure 5">
            <a:extLst xmlns:a="http://schemas.openxmlformats.org/drawingml/2006/main">
              <a:ext uri="{FF2B5EF4-FFF2-40B4-BE49-F238E27FC236}">
                <a16:creationId xmlns:a16="http://schemas.microsoft.com/office/drawing/2014/main" id="{0C71C263-D7D5-4729-B7BB-38C4F6CA370D}"/>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3" name="AM_SOC">
            <a:extLst xmlns:a="http://schemas.openxmlformats.org/drawingml/2006/main">
              <a:ext uri="{FF2B5EF4-FFF2-40B4-BE49-F238E27FC236}">
                <a16:creationId xmlns:a16="http://schemas.microsoft.com/office/drawing/2014/main" id="{72751900-5C05-4524-9C45-8762511C9FBA}"/>
              </a:ext>
            </a:extLst>
          </p:cNvPr>
          <p:cNvSpPr>
            <a:spLocks xmlns:a="http://schemas.openxmlformats.org/drawingml/2006/main" noGrp="1"/>
          </p:cNvSpPr>
          <p:nvPr/>
        </p:nvSpPr>
        <p:spPr>
          <a:xfrm xmlns:a="http://schemas.openxmlformats.org/drawingml/2006/main">
            <a:off x="552450" y="5095875"/>
            <a:ext cx="438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Quantized nahe Base</a:t>
            </a:r>
          </a:p>
          <a:p xmlns:a="http://schemas.openxmlformats.org/drawingml/2006/main">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Pruned mit geringerer Fehlerstreuung</a:t>
            </a:r>
          </a:p>
        </p:txBody>
      </p:sp>
      <p:sp>
        <p:nvSpPr>
          <p:cNvPr id="24" name="AM_SOH">
            <a:extLst xmlns:a="http://schemas.openxmlformats.org/drawingml/2006/main">
              <a:ext uri="{FF2B5EF4-FFF2-40B4-BE49-F238E27FC236}">
                <a16:creationId xmlns:a16="http://schemas.microsoft.com/office/drawing/2014/main" id="{4B35BF5D-60D5-4C72-9924-BD7B91761DE4}"/>
              </a:ext>
            </a:extLst>
          </p:cNvPr>
          <p:cNvSpPr>
            <a:spLocks xmlns:a="http://schemas.openxmlformats.org/drawingml/2006/main" noGrp="1"/>
          </p:cNvSpPr>
          <p:nvPr/>
        </p:nvSpPr>
        <p:spPr>
          <a:xfrm xmlns:a="http://schemas.openxmlformats.org/drawingml/2006/main">
            <a:off x="5562600" y="5095875"/>
            <a:ext cx="438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Nach kausaler Filterung: Höhere Fehler</a:t>
            </a:r>
          </a:p>
          <a:p xmlns:a="http://schemas.openxmlformats.org/drawingml/2006/main">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und Streuung bei Pruned und Quantized</a:t>
            </a:r>
          </a:p>
        </p:txBody>
      </p:sp>
      <p:sp>
        <p:nvSpPr>
          <p:cNvPr id="25" name="AM_takeaway">
            <a:extLst xmlns:a="http://schemas.openxmlformats.org/drawingml/2006/main">
              <a:ext uri="{FF2B5EF4-FFF2-40B4-BE49-F238E27FC236}">
                <a16:creationId xmlns:a16="http://schemas.microsoft.com/office/drawing/2014/main" id="{23EC93CE-7D92-4894-B7EA-21452BFE5310}"/>
              </a:ext>
            </a:extLst>
          </p:cNvPr>
          <p:cNvSpPr>
            <a:spLocks xmlns:a="http://schemas.openxmlformats.org/drawingml/2006/main" noGrp="1"/>
          </p:cNvSpPr>
          <p:nvPr/>
        </p:nvSpPr>
        <p:spPr>
          <a:xfrm xmlns:a="http://schemas.openxmlformats.org/drawingml/2006/main">
            <a:off x="552450" y="5705475"/>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SOC-Accuracy weitgehend erhalten, höhere SOH-Fehler nach Kompression</a:t>
            </a:r>
          </a:p>
        </p:txBody>
      </p:sp>
      <p:pic>
        <p:nvPicPr>
          <p:cNvPr id="26" name="AM_SOC_boxplot"/>
          <p:cNvPicPr>
            <a:picLocks xmlns:a="http://schemas.openxmlformats.org/drawingml/2006/main" noChangeAspect="1"/>
          </p:cNvPicPr>
          <p:nvPr/>
        </p:nvPicPr>
        <p:blipFill>
          <a:blip xmlns:r="http://schemas.openxmlformats.org/officeDocument/2006/relationships" xmlns:a="http://schemas.openxmlformats.org/drawingml/2006/main" r:embed="R43aa86f23e6b4bbe"/>
          <ns0:srcRect xmlns:ns0="http://schemas.openxmlformats.org/drawingml/2006/main" l="0" t="0" r="50000" b="0"/>
          <a:stretch xmlns:a="http://schemas.openxmlformats.org/drawingml/2006/main"/>
        </p:blipFill>
        <p:spPr>
          <a:xfrm xmlns:a="http://schemas.openxmlformats.org/drawingml/2006/main">
            <a:off x="552450" y="1409700"/>
            <a:ext cx="4381500" cy="3651250"/>
          </a:xfrm>
          <a:prstGeom xmlns:a="http://schemas.openxmlformats.org/drawingml/2006/main" prst="rect">
            <a:avLst/>
          </a:prstGeom>
        </p:spPr>
      </p:pic>
      <p:pic>
        <p:nvPicPr>
          <p:cNvPr id="27" name="AM_SOH_boxplot"/>
          <p:cNvPicPr>
            <a:picLocks xmlns:a="http://schemas.openxmlformats.org/drawingml/2006/main" noChangeAspect="1"/>
          </p:cNvPicPr>
          <p:nvPr/>
        </p:nvPicPr>
        <p:blipFill>
          <a:blip xmlns:r="http://schemas.openxmlformats.org/officeDocument/2006/relationships" xmlns:a="http://schemas.openxmlformats.org/drawingml/2006/main" r:embed="rIdAccuracyImage33"/>
          <ns0:srcRect xmlns:ns0="http://schemas.openxmlformats.org/drawingml/2006/main" l="0" t="0" r="50000" b="0"/>
          <a:stretch xmlns:a="http://schemas.openxmlformats.org/drawingml/2006/main"/>
        </p:blipFill>
        <p:spPr>
          <a:xfrm xmlns:a="http://schemas.openxmlformats.org/drawingml/2006/main">
            <a:off x="5562600" y="1409700"/>
            <a:ext cx="4381500" cy="3651250"/>
          </a:xfrm>
          <a:prstGeom xmlns:a="http://schemas.openxmlformats.org/drawingml/2006/main" prst="rect">
            <a:avLst/>
          </a:prstGeom>
        </p:spPr>
      </p:pic>
    </p:spTree>
    <p:extLst>
      <p:ext uri="{BB962C8B-B14F-4D97-AF65-F5344CB8AC3E}">
        <p14:creationId xmlns:p14="http://schemas.microsoft.com/office/powerpoint/2010/main" val="2783850571"/>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lIns="0" tIns="0" rIns="0" bIns="0" anchor="t">
            <a:noAutofit/>
          </a:bodyPr>
          <a:lstStyle xmlns:a="http://schemas.openxmlformats.org/drawingml/2006/main"/>
          <a:p xmlns:a="http://schemas.openxmlformats.org/drawingml/2006/main">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Anhang: Signed Error Distributions von SOC und SOH</a:t>
            </a:r>
          </a: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Anhang 12</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sp>
        <p:nvSpPr>
          <p:cNvPr id="15" name="Structure separator">
            <a:extLst xmlns:a="http://schemas.openxmlformats.org/drawingml/2006/main">
              <a:ext uri="{FF2B5EF4-FFF2-40B4-BE49-F238E27FC236}">
                <a16:creationId xmlns:a16="http://schemas.microsoft.com/office/drawing/2014/main" id="{9255478F-B521-4CBF-B463-6AF0AC331A3A}"/>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16" name="Structure label">
            <a:extLst xmlns:a="http://schemas.openxmlformats.org/drawingml/2006/main">
              <a:ext uri="{FF2B5EF4-FFF2-40B4-BE49-F238E27FC236}">
                <a16:creationId xmlns:a16="http://schemas.microsoft.com/office/drawing/2014/main" id="{5E1D1FDA-3A78-45B8-8BE9-EB4FF189548E}"/>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xmlns:a="http://schemas.openxmlformats.org/drawingml/2006/main">
              <a:ext uri="{FF2B5EF4-FFF2-40B4-BE49-F238E27FC236}">
                <a16:creationId xmlns:a16="http://schemas.microsoft.com/office/drawing/2014/main" id="{88C81035-26C5-42A3-95BC-BF61B6CC25D6}"/>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xmlns:a="http://schemas.openxmlformats.org/drawingml/2006/main">
              <a:ext uri="{FF2B5EF4-FFF2-40B4-BE49-F238E27FC236}">
                <a16:creationId xmlns:a16="http://schemas.microsoft.com/office/drawing/2014/main" id="{67CFA1B8-99B2-4EF7-9E3E-107A3A59172D}"/>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xmlns:a="http://schemas.openxmlformats.org/drawingml/2006/main">
              <a:ext uri="{FF2B5EF4-FFF2-40B4-BE49-F238E27FC236}">
                <a16:creationId xmlns:a16="http://schemas.microsoft.com/office/drawing/2014/main" id="{3068BB09-C0E8-44B6-897A-A61CDDD0A2D0}"/>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xmlns:a="http://schemas.openxmlformats.org/drawingml/2006/main">
              <a:ext uri="{FF2B5EF4-FFF2-40B4-BE49-F238E27FC236}">
                <a16:creationId xmlns:a16="http://schemas.microsoft.com/office/drawing/2014/main" id="{4AB73494-47EE-4C18-9B9C-67DF345E9988}"/>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xmlns:a="http://schemas.openxmlformats.org/drawingml/2006/main">
              <a:ext uri="{FF2B5EF4-FFF2-40B4-BE49-F238E27FC236}">
                <a16:creationId xmlns:a16="http://schemas.microsoft.com/office/drawing/2014/main" id="{2F324E9B-C60F-406E-8FEB-4793007C944D}"/>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2" name="Structure 5">
            <a:extLst xmlns:a="http://schemas.openxmlformats.org/drawingml/2006/main">
              <a:ext uri="{FF2B5EF4-FFF2-40B4-BE49-F238E27FC236}">
                <a16:creationId xmlns:a16="http://schemas.microsoft.com/office/drawing/2014/main" id="{0C71C263-D7D5-4729-B7BB-38C4F6CA370D}"/>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3" name="AM_definition">
            <a:extLst xmlns:a="http://schemas.openxmlformats.org/drawingml/2006/main">
              <a:ext uri="{FF2B5EF4-FFF2-40B4-BE49-F238E27FC236}">
                <a16:creationId xmlns:a16="http://schemas.microsoft.com/office/drawing/2014/main" id="{B1BBA781-BEC8-4A6C-BF3A-F4F2B8DED9F9}"/>
              </a:ext>
            </a:extLst>
          </p:cNvPr>
          <p:cNvSpPr>
            <a:spLocks xmlns:a="http://schemas.openxmlformats.org/drawingml/2006/main" noGrp="1"/>
          </p:cNvSpPr>
          <p:nvPr/>
        </p:nvSpPr>
        <p:spPr>
          <a:xfrm xmlns:a="http://schemas.openxmlformats.org/drawingml/2006/main">
            <a:off x="552450" y="5257800"/>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Signed error: Prediction minus Ground Truth</a:t>
            </a:r>
          </a:p>
        </p:txBody>
      </p:sp>
      <p:sp>
        <p:nvSpPr>
          <p:cNvPr id="24" name="AM_interpretation">
            <a:extLst xmlns:a="http://schemas.openxmlformats.org/drawingml/2006/main">
              <a:ext uri="{FF2B5EF4-FFF2-40B4-BE49-F238E27FC236}">
                <a16:creationId xmlns:a16="http://schemas.microsoft.com/office/drawing/2014/main" id="{57DDFF62-6A5C-4A25-A7E2-D138D6AF6C39}"/>
              </a:ext>
            </a:extLst>
          </p:cNvPr>
          <p:cNvSpPr>
            <a:spLocks xmlns:a="http://schemas.openxmlformats.org/drawingml/2006/main" noGrp="1"/>
          </p:cNvSpPr>
          <p:nvPr/>
        </p:nvSpPr>
        <p:spPr>
          <a:xfrm xmlns:a="http://schemas.openxmlformats.org/drawingml/2006/main">
            <a:off x="552450" y="5619750"/>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Positive Fehler: Überschätzung, negative Fehler: Unterschätzung</a:t>
            </a:r>
          </a:p>
        </p:txBody>
      </p:sp>
      <p:pic>
        <p:nvPicPr>
          <p:cNvPr id="25" name="AM_SOC_histogram"/>
          <p:cNvPicPr>
            <a:picLocks xmlns:a="http://schemas.openxmlformats.org/drawingml/2006/main" noChangeAspect="1"/>
          </p:cNvPicPr>
          <p:nvPr/>
        </p:nvPicPr>
        <p:blipFill>
          <a:blip xmlns:r="http://schemas.openxmlformats.org/officeDocument/2006/relationships" xmlns:a="http://schemas.openxmlformats.org/drawingml/2006/main" r:embed="rIdAccuracyImage32"/>
          <ns0:srcRect xmlns:ns0="http://schemas.openxmlformats.org/drawingml/2006/main" l="50000" t="0" r="0" b="0"/>
          <a:stretch xmlns:a="http://schemas.openxmlformats.org/drawingml/2006/main"/>
        </p:blipFill>
        <p:spPr>
          <a:xfrm xmlns:a="http://schemas.openxmlformats.org/drawingml/2006/main">
            <a:off x="552450" y="1409700"/>
            <a:ext cx="4381500" cy="3651250"/>
          </a:xfrm>
          <a:prstGeom xmlns:a="http://schemas.openxmlformats.org/drawingml/2006/main" prst="rect">
            <a:avLst/>
          </a:prstGeom>
        </p:spPr>
      </p:pic>
      <p:pic>
        <p:nvPicPr>
          <p:cNvPr id="26" name="AM_SOH_histogram"/>
          <p:cNvPicPr>
            <a:picLocks xmlns:a="http://schemas.openxmlformats.org/drawingml/2006/main" noChangeAspect="1"/>
          </p:cNvPicPr>
          <p:nvPr/>
        </p:nvPicPr>
        <p:blipFill>
          <a:blip xmlns:r="http://schemas.openxmlformats.org/officeDocument/2006/relationships" xmlns:a="http://schemas.openxmlformats.org/drawingml/2006/main" r:embed="R6fb60f95db6f4fcf"/>
          <ns0:srcRect xmlns:ns0="http://schemas.openxmlformats.org/drawingml/2006/main" l="50000" t="0" r="0" b="0"/>
          <a:stretch xmlns:a="http://schemas.openxmlformats.org/drawingml/2006/main"/>
        </p:blipFill>
        <p:spPr>
          <a:xfrm xmlns:a="http://schemas.openxmlformats.org/drawingml/2006/main">
            <a:off x="5562600" y="1409700"/>
            <a:ext cx="4381500" cy="3651250"/>
          </a:xfrm>
          <a:prstGeom xmlns:a="http://schemas.openxmlformats.org/drawingml/2006/main" prst="rect">
            <a:avLst/>
          </a:prstGeom>
        </p:spPr>
      </p:pic>
    </p:spTree>
    <p:extLst>
      <p:ext uri="{BB962C8B-B14F-4D97-AF65-F5344CB8AC3E}">
        <p14:creationId xmlns:p14="http://schemas.microsoft.com/office/powerpoint/2010/main" val="2783850571"/>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lIns="0" tIns="0" rIns="0" bIns="0" anchor="t">
            <a:noAutofit/>
          </a:bodyPr>
          <a:lstStyle xmlns:a="http://schemas.openxmlformats.org/drawingml/2006/main"/>
          <a:p xmlns:a="http://schemas.openxmlformats.org/drawingml/2006/main">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Ergebnisse: Flash- und RAM-Bedarf der Modelle</a:t>
            </a:r>
          </a: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40 / 44</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pic>
        <p:nvPicPr>
          <p:cNvPr id="40" name="V5_Figure_11"/>
          <p:cNvPicPr>
            <a:picLocks xmlns:a="http://schemas.openxmlformats.org/drawingml/2006/main" noChangeAspect="1"/>
          </p:cNvPicPr>
          <p:nvPr/>
        </p:nvPicPr>
        <p:blipFill>
          <a:blip xmlns:r="http://schemas.openxmlformats.org/officeDocument/2006/relationships" xmlns:a="http://schemas.openxmlformats.org/drawingml/2006/main" r:embed="Rf69356580e1949ee"/>
          <a:srcRect xmlns:a="http://schemas.openxmlformats.org/drawingml/2006/main" l="0" t="0" r="0" b="0"/>
          <a:stretch xmlns:a="http://schemas.openxmlformats.org/drawingml/2006/main">
            <a:fillRect l="0" t="0" r="0" b="0"/>
          </a:stretch>
        </p:blipFill>
        <p:spPr>
          <a:xfrm xmlns:a="http://schemas.openxmlformats.org/drawingml/2006/main">
            <a:off x="552450" y="1543050"/>
            <a:ext cx="5429250" cy="3476625"/>
          </a:xfrm>
          <a:prstGeom xmlns:a="http://schemas.openxmlformats.org/drawingml/2006/main" prst="rect">
            <a:avLst/>
          </a:prstGeom>
        </p:spPr>
      </p:pic>
      <p:pic>
        <p:nvPicPr>
          <p:cNvPr id="43" name="V6_TU_Logo"/>
          <p:cNvPicPr>
            <a:picLocks xmlns:a="http://schemas.openxmlformats.org/drawingml/2006/main" noChangeAspect="1"/>
          </p:cNvPicPr>
          <p:nvPr/>
        </p:nvPicPr>
        <p:blipFill>
          <a:blip xmlns:r="http://schemas.openxmlformats.org/officeDocument/2006/relationships" xmlns:a="http://schemas.openxmlformats.org/drawingml/2006/main" r:embed="Rbbdb4056630642f8"/>
          <a:stretch xmlns:a="http://schemas.openxmlformats.org/drawingml/2006/main">
            <a:fillRect l="0" t="0" r="0" b="0"/>
          </a:stretch>
        </p:blipFill>
        <p:spPr>
          <a:xfrm xmlns:a="http://schemas.openxmlformats.org/drawingml/2006/main">
            <a:off x="10614660" y="378460"/>
            <a:ext cx="1003300" cy="767080"/>
          </a:xfrm>
          <a:prstGeom xmlns:a="http://schemas.openxmlformats.org/drawingml/2006/main" prst="rect">
            <a:avLst/>
          </a:prstGeom>
        </p:spPr>
      </p:pic>
      <p:sp>
        <p:nvSpPr>
          <p:cNvPr id="19" name="Structure separator">
            <a:extLst xmlns:a="http://schemas.openxmlformats.org/drawingml/2006/main">
              <a:ext uri="{FF2B5EF4-FFF2-40B4-BE49-F238E27FC236}">
                <a16:creationId xmlns:a16="http://schemas.microsoft.com/office/drawing/2014/main" id="{15AFD174-6BBF-4B31-BD82-147CEBE088FC}"/>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20" name="Structure label">
            <a:extLst xmlns:a="http://schemas.openxmlformats.org/drawingml/2006/main">
              <a:ext uri="{FF2B5EF4-FFF2-40B4-BE49-F238E27FC236}">
                <a16:creationId xmlns:a16="http://schemas.microsoft.com/office/drawing/2014/main" id="{D895C4AA-3B55-4C57-B7F8-1908B64F6BDC}"/>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xmlns:a="http://schemas.openxmlformats.org/drawingml/2006/main">
              <a:ext uri="{FF2B5EF4-FFF2-40B4-BE49-F238E27FC236}">
                <a16:creationId xmlns:a16="http://schemas.microsoft.com/office/drawing/2014/main" id="{CD023E9D-5A52-4DA1-8F38-AC86C0AE0202}"/>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xmlns:a="http://schemas.openxmlformats.org/drawingml/2006/main">
              <a:ext uri="{FF2B5EF4-FFF2-40B4-BE49-F238E27FC236}">
                <a16:creationId xmlns:a16="http://schemas.microsoft.com/office/drawing/2014/main" id="{B8DD2CC6-F8B4-413D-B89B-BF19E2EBB355}"/>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xmlns:a="http://schemas.openxmlformats.org/drawingml/2006/main">
              <a:ext uri="{FF2B5EF4-FFF2-40B4-BE49-F238E27FC236}">
                <a16:creationId xmlns:a16="http://schemas.microsoft.com/office/drawing/2014/main" id="{ED8F9D8A-F2B7-4A41-BEE0-7D0FDB8F39FA}"/>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xmlns:a="http://schemas.openxmlformats.org/drawingml/2006/main">
              <a:ext uri="{FF2B5EF4-FFF2-40B4-BE49-F238E27FC236}">
                <a16:creationId xmlns:a16="http://schemas.microsoft.com/office/drawing/2014/main" id="{DEBA1E4F-95E5-4E6A-A321-3B3C7B1E5C00}"/>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xmlns:a="http://schemas.openxmlformats.org/drawingml/2006/main">
              <a:ext uri="{FF2B5EF4-FFF2-40B4-BE49-F238E27FC236}">
                <a16:creationId xmlns:a16="http://schemas.microsoft.com/office/drawing/2014/main" id="{AA3D179D-6DD3-4D07-AAB5-489F479FA85C}"/>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6" name="Structure 5">
            <a:extLst xmlns:a="http://schemas.openxmlformats.org/drawingml/2006/main">
              <a:ext uri="{FF2B5EF4-FFF2-40B4-BE49-F238E27FC236}">
                <a16:creationId xmlns:a16="http://schemas.microsoft.com/office/drawing/2014/main" id="{A911ABF1-E354-406F-B257-609193195600}"/>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30" name="v11-math-34-4">
            <a:extLst xmlns:a="http://schemas.openxmlformats.org/drawingml/2006/main">
              <a:ext uri="{FF2B5EF4-FFF2-40B4-BE49-F238E27FC236}">
                <a16:creationId xmlns:a16="http://schemas.microsoft.com/office/drawing/2014/main" id="{7759F966-AFAB-4797-9DFD-F0C8374068CA}"/>
              </a:ext>
            </a:extLst>
          </p:cNvPr>
          <p:cNvSpPr>
            <a:spLocks xmlns:a="http://schemas.openxmlformats.org/drawingml/2006/main" noGrp="1"/>
          </p:cNvSpPr>
          <p:nvPr/>
        </p:nvSpPr>
        <p:spPr>
          <a:xfrm xmlns:a="http://schemas.openxmlformats.org/drawingml/2006/main">
            <a:off x="1971675" y="5095875"/>
            <a:ext cx="4010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pPr>
            <a14:m xmlns:a14="http://schemas.microsoft.com/office/drawing/2010/main">
              <m:oMathPara xmlns:m="http://schemas.openxmlformats.org/officeDocument/2006/math">
                <m:oMathParaPr>
                  <m:jc m:val="centerGroup"/>
                </m:oMathParaPr>
                <m:oMath>
                  <m:sSub>
                    <m:e>
                      <m:r>
                        <a:rPr xmlns:a="http://schemas.openxmlformats.org/drawingml/2006/main" sz="1875">
                          <a:latin typeface="Cambria Math"/>
                          <a:ea typeface="Cambria Math"/>
                          <a:cs typeface="Cambria Math"/>
                        </a:rPr>
                        <m:t>F</m:t>
                      </m:r>
                    </m:e>
                    <m:sub>
                      <m:r>
                        <a:rPr xmlns:a="http://schemas.openxmlformats.org/drawingml/2006/main" sz="1313">
                          <a:latin typeface="Cambria Math"/>
                          <a:ea typeface="Cambria Math"/>
                          <a:cs typeface="Cambria Math"/>
                        </a:rPr>
                        <m:t>F</m:t>
                      </m:r>
                      <m:r>
                        <a:rPr xmlns:a="http://schemas.openxmlformats.org/drawingml/2006/main" sz="1313">
                          <a:latin typeface="Cambria Math"/>
                          <a:ea typeface="Cambria Math"/>
                          <a:cs typeface="Cambria Math"/>
                        </a:rPr>
                        <m:t>i</m:t>
                      </m:r>
                      <m:r>
                        <a:rPr xmlns:a="http://schemas.openxmlformats.org/drawingml/2006/main" sz="1313">
                          <a:latin typeface="Cambria Math"/>
                          <a:ea typeface="Cambria Math"/>
                          <a:cs typeface="Cambria Math"/>
                        </a:rPr>
                        <m:t>r</m:t>
                      </m:r>
                      <m:r>
                        <a:rPr xmlns:a="http://schemas.openxmlformats.org/drawingml/2006/main" sz="1313">
                          <a:latin typeface="Cambria Math"/>
                          <a:ea typeface="Cambria Math"/>
                          <a:cs typeface="Cambria Math"/>
                        </a:rPr>
                        <m:t>m</m:t>
                      </m:r>
                      <m:r>
                        <a:rPr xmlns:a="http://schemas.openxmlformats.org/drawingml/2006/main" sz="1313">
                          <a:latin typeface="Cambria Math"/>
                          <a:ea typeface="Cambria Math"/>
                          <a:cs typeface="Cambria Math"/>
                        </a:rPr>
                        <m:t>w</m:t>
                      </m:r>
                      <m:r>
                        <a:rPr xmlns:a="http://schemas.openxmlformats.org/drawingml/2006/main" sz="1313">
                          <a:latin typeface="Cambria Math"/>
                          <a:ea typeface="Cambria Math"/>
                          <a:cs typeface="Cambria Math"/>
                        </a:rPr>
                        <m:t>a</m:t>
                      </m:r>
                      <m:r>
                        <a:rPr xmlns:a="http://schemas.openxmlformats.org/drawingml/2006/main" sz="1313">
                          <a:latin typeface="Cambria Math"/>
                          <a:ea typeface="Cambria Math"/>
                          <a:cs typeface="Cambria Math"/>
                        </a:rPr>
                        <m:t>r</m:t>
                      </m:r>
                      <m:r>
                        <a:rPr xmlns:a="http://schemas.openxmlformats.org/drawingml/2006/main" sz="1313">
                          <a:latin typeface="Cambria Math"/>
                          <a:ea typeface="Cambria Math"/>
                          <a:cs typeface="Cambria Math"/>
                        </a:rPr>
                        <m:t>e</m:t>
                      </m:r>
                    </m:sub>
                  </m:sSub>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F</m:t>
                      </m:r>
                    </m:e>
                    <m:sub>
                      <m:r>
                        <a:rPr xmlns:a="http://schemas.openxmlformats.org/drawingml/2006/main" sz="1313">
                          <a:latin typeface="Cambria Math"/>
                          <a:ea typeface="Cambria Math"/>
                          <a:cs typeface="Cambria Math"/>
                        </a:rPr>
                        <m:t>G</m:t>
                      </m:r>
                      <m:r>
                        <a:rPr xmlns:a="http://schemas.openxmlformats.org/drawingml/2006/main" sz="1313">
                          <a:latin typeface="Cambria Math"/>
                          <a:ea typeface="Cambria Math"/>
                          <a:cs typeface="Cambria Math"/>
                        </a:rPr>
                        <m:t>e</m:t>
                      </m:r>
                      <m:r>
                        <a:rPr xmlns:a="http://schemas.openxmlformats.org/drawingml/2006/main" sz="1313">
                          <a:latin typeface="Cambria Math"/>
                          <a:ea typeface="Cambria Math"/>
                          <a:cs typeface="Cambria Math"/>
                        </a:rPr>
                        <m:t>w</m:t>
                      </m:r>
                      <m:r>
                        <a:rPr xmlns:a="http://schemas.openxmlformats.org/drawingml/2006/main" sz="1313">
                          <a:latin typeface="Cambria Math"/>
                          <a:ea typeface="Cambria Math"/>
                          <a:cs typeface="Cambria Math"/>
                        </a:rPr>
                        <m:t>i</m:t>
                      </m:r>
                      <m:r>
                        <a:rPr xmlns:a="http://schemas.openxmlformats.org/drawingml/2006/main" sz="1313">
                          <a:latin typeface="Cambria Math"/>
                          <a:ea typeface="Cambria Math"/>
                          <a:cs typeface="Cambria Math"/>
                        </a:rPr>
                        <m:t>c</m:t>
                      </m:r>
                      <m:r>
                        <a:rPr xmlns:a="http://schemas.openxmlformats.org/drawingml/2006/main" sz="1313">
                          <a:latin typeface="Cambria Math"/>
                          <a:ea typeface="Cambria Math"/>
                          <a:cs typeface="Cambria Math"/>
                        </a:rPr>
                        <m:t>h</m:t>
                      </m:r>
                      <m:r>
                        <a:rPr xmlns:a="http://schemas.openxmlformats.org/drawingml/2006/main" sz="1313">
                          <a:latin typeface="Cambria Math"/>
                          <a:ea typeface="Cambria Math"/>
                          <a:cs typeface="Cambria Math"/>
                        </a:rPr>
                        <m:t>t</m:t>
                      </m:r>
                      <m:r>
                        <a:rPr xmlns:a="http://schemas.openxmlformats.org/drawingml/2006/main" sz="1313">
                          <a:latin typeface="Cambria Math"/>
                          <a:ea typeface="Cambria Math"/>
                          <a:cs typeface="Cambria Math"/>
                        </a:rPr>
                        <m:t>e</m:t>
                      </m:r>
                    </m:sub>
                  </m:sSub>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F</m:t>
                      </m:r>
                    </m:e>
                    <m:sub>
                      <m:r>
                        <a:rPr xmlns:a="http://schemas.openxmlformats.org/drawingml/2006/main" sz="1313">
                          <a:latin typeface="Cambria Math"/>
                          <a:ea typeface="Cambria Math"/>
                          <a:cs typeface="Cambria Math"/>
                        </a:rPr>
                        <m:t>C</m:t>
                      </m:r>
                      <m:r>
                        <a:rPr xmlns:a="http://schemas.openxmlformats.org/drawingml/2006/main" sz="1313">
                          <a:latin typeface="Cambria Math"/>
                          <a:ea typeface="Cambria Math"/>
                          <a:cs typeface="Cambria Math"/>
                        </a:rPr>
                        <m:t>o</m:t>
                      </m:r>
                      <m:r>
                        <a:rPr xmlns:a="http://schemas.openxmlformats.org/drawingml/2006/main" sz="1313">
                          <a:latin typeface="Cambria Math"/>
                          <a:ea typeface="Cambria Math"/>
                          <a:cs typeface="Cambria Math"/>
                        </a:rPr>
                        <m:t>d</m:t>
                      </m:r>
                      <m:r>
                        <a:rPr xmlns:a="http://schemas.openxmlformats.org/drawingml/2006/main" sz="1313">
                          <a:latin typeface="Cambria Math"/>
                          <a:ea typeface="Cambria Math"/>
                          <a:cs typeface="Cambria Math"/>
                        </a:rPr>
                        <m:t>e</m:t>
                      </m:r>
                    </m:sub>
                  </m:sSub>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F</m:t>
                      </m:r>
                    </m:e>
                    <m:sub>
                      <m:r>
                        <a:rPr xmlns:a="http://schemas.openxmlformats.org/drawingml/2006/main" sz="1313">
                          <a:latin typeface="Cambria Math"/>
                          <a:ea typeface="Cambria Math"/>
                          <a:cs typeface="Cambria Math"/>
                        </a:rPr>
                        <m:t>K</m:t>
                      </m:r>
                      <m:r>
                        <a:rPr xmlns:a="http://schemas.openxmlformats.org/drawingml/2006/main" sz="1313">
                          <a:latin typeface="Cambria Math"/>
                          <a:ea typeface="Cambria Math"/>
                          <a:cs typeface="Cambria Math"/>
                        </a:rPr>
                        <m:t>o</m:t>
                      </m:r>
                      <m:r>
                        <a:rPr xmlns:a="http://schemas.openxmlformats.org/drawingml/2006/main" sz="1313">
                          <a:latin typeface="Cambria Math"/>
                          <a:ea typeface="Cambria Math"/>
                          <a:cs typeface="Cambria Math"/>
                        </a:rPr>
                        <m:t>n</m:t>
                      </m:r>
                      <m:r>
                        <a:rPr xmlns:a="http://schemas.openxmlformats.org/drawingml/2006/main" sz="1313">
                          <a:latin typeface="Cambria Math"/>
                          <a:ea typeface="Cambria Math"/>
                          <a:cs typeface="Cambria Math"/>
                        </a:rPr>
                        <m:t>s</m:t>
                      </m:r>
                      <m:r>
                        <a:rPr xmlns:a="http://schemas.openxmlformats.org/drawingml/2006/main" sz="1313">
                          <a:latin typeface="Cambria Math"/>
                          <a:ea typeface="Cambria Math"/>
                          <a:cs typeface="Cambria Math"/>
                        </a:rPr>
                        <m:t>t</m:t>
                      </m:r>
                      <m:r>
                        <a:rPr xmlns:a="http://schemas.openxmlformats.org/drawingml/2006/main" sz="1313">
                          <a:latin typeface="Cambria Math"/>
                          <a:ea typeface="Cambria Math"/>
                          <a:cs typeface="Cambria Math"/>
                        </a:rPr>
                        <m:t>a</m:t>
                      </m:r>
                      <m:r>
                        <a:rPr xmlns:a="http://schemas.openxmlformats.org/drawingml/2006/main" sz="1313">
                          <a:latin typeface="Cambria Math"/>
                          <a:ea typeface="Cambria Math"/>
                          <a:cs typeface="Cambria Math"/>
                        </a:rPr>
                        <m:t>n</m:t>
                      </m:r>
                      <m:r>
                        <a:rPr xmlns:a="http://schemas.openxmlformats.org/drawingml/2006/main" sz="1313">
                          <a:latin typeface="Cambria Math"/>
                          <a:ea typeface="Cambria Math"/>
                          <a:cs typeface="Cambria Math"/>
                        </a:rPr>
                        <m:t>t</m:t>
                      </m:r>
                      <m:r>
                        <a:rPr xmlns:a="http://schemas.openxmlformats.org/drawingml/2006/main" sz="1313">
                          <a:latin typeface="Cambria Math"/>
                          <a:ea typeface="Cambria Math"/>
                          <a:cs typeface="Cambria Math"/>
                        </a:rPr>
                        <m:t>e</m:t>
                      </m:r>
                      <m:r>
                        <a:rPr xmlns:a="http://schemas.openxmlformats.org/drawingml/2006/main" sz="1313">
                          <a:latin typeface="Cambria Math"/>
                          <a:ea typeface="Cambria Math"/>
                          <a:cs typeface="Cambria Math"/>
                        </a:rPr>
                        <m:t>n</m:t>
                      </m:r>
                    </m:sub>
                  </m:sSub>
                </m:oMath>
              </m:oMathPara>
            </a14:m>
          </a:p>
        </p:txBody>
      </p:sp>
      <p:sp>
        <p:nvSpPr>
          <p:cNvPr id="46" name="MS_ram_interpretation">
            <a:extLst xmlns:a="http://schemas.openxmlformats.org/drawingml/2006/main">
              <a:ext uri="{FF2B5EF4-FFF2-40B4-BE49-F238E27FC236}">
                <a16:creationId xmlns:a16="http://schemas.microsoft.com/office/drawing/2014/main" id="{19F516A9-466D-4E25-878D-D75C6B9C91F7}"/>
              </a:ext>
            </a:extLst>
          </p:cNvPr>
          <p:cNvSpPr>
            <a:spLocks xmlns:a="http://schemas.openxmlformats.org/drawingml/2006/main" noGrp="1"/>
          </p:cNvSpPr>
          <p:nvPr/>
        </p:nvSpPr>
        <p:spPr>
          <a:xfrm xmlns:a="http://schemas.openxmlformats.org/drawingml/2006/main">
            <a:off x="6372225" y="4972050"/>
            <a:ext cx="3581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Begrenzte RAM-Ersparnis:</a:t>
            </a:r>
          </a:p>
          <a:p xmlns:a="http://schemas.openxmlformats.org/drawingml/2006/main">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FP32-Zustände und Aktivierungen</a:t>
            </a:r>
          </a:p>
          <a:p xmlns:a="http://schemas.openxmlformats.org/drawingml/2006/main">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auch bei Quantized</a:t>
            </a:r>
          </a:p>
        </p:txBody>
      </p:sp>
      <p:sp>
        <p:nvSpPr>
          <p:cNvPr id="47" name="MS_flash_label">
            <a:extLst xmlns:a="http://schemas.openxmlformats.org/drawingml/2006/main">
              <a:ext uri="{FF2B5EF4-FFF2-40B4-BE49-F238E27FC236}">
                <a16:creationId xmlns:a16="http://schemas.microsoft.com/office/drawing/2014/main" id="{1607A952-49B0-440C-8C1E-9241AEF305E7}"/>
              </a:ext>
            </a:extLst>
          </p:cNvPr>
          <p:cNvSpPr>
            <a:spLocks xmlns:a="http://schemas.openxmlformats.org/drawingml/2006/main" noGrp="1"/>
          </p:cNvSpPr>
          <p:nvPr/>
        </p:nvSpPr>
        <p:spPr>
          <a:xfrm xmlns:a="http://schemas.openxmlformats.org/drawingml/2006/main">
            <a:off x="552450" y="509587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Flash-Bilanz:</a:t>
            </a:r>
          </a:p>
        </p:txBody>
      </p:sp>
      <p:sp>
        <p:nvSpPr>
          <p:cNvPr id="48" name="ML_comparison_label">
            <a:extLst xmlns:a="http://schemas.openxmlformats.org/drawingml/2006/main">
              <a:ext uri="{FF2B5EF4-FFF2-40B4-BE49-F238E27FC236}">
                <a16:creationId xmlns:a16="http://schemas.microsoft.com/office/drawing/2014/main" id="{ACD942EF-2EC2-4358-9BE7-7AC8155A08AE}"/>
              </a:ext>
            </a:extLst>
          </p:cNvPr>
          <p:cNvSpPr>
            <a:spLocks xmlns:a="http://schemas.openxmlformats.org/drawingml/2006/main" noGrp="1"/>
          </p:cNvSpPr>
          <p:nvPr/>
        </p:nvSpPr>
        <p:spPr>
          <a:xfrm xmlns:a="http://schemas.openxmlformats.org/drawingml/2006/main">
            <a:off x="6372225" y="1514475"/>
            <a:ext cx="3581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Einsparung gegenüber Base</a:t>
            </a:r>
          </a:p>
        </p:txBody>
      </p:sp>
      <p:graphicFrame>
        <p:nvGraphicFramePr>
          <p:cNvPr id="49" name=""/>
          <p:cNvGraphicFramePr/>
          <p:nvPr/>
        </p:nvGraphicFramePr>
        <p:xfrm>
          <a:off xmlns:a="http://schemas.openxmlformats.org/drawingml/2006/main" x="6372225" y="1952625"/>
          <a:ext xmlns:a="http://schemas.openxmlformats.org/drawingml/2006/main" cx="3581400" cy="2667000"/>
        </p:xfrm>
        <a:graphic xmlns:a="http://schemas.openxmlformats.org/drawingml/2006/main">
          <a:graphicData uri="http://schemas.openxmlformats.org/drawingml/2006/table">
            <a:tbl>
              <a:tblPr firstRow="0" firstCol="0" lastRow="0" lastCol="0" bandRow="0" bandCol="0"/>
              <a:tblGrid>
                <a:gridCol w="1123950"/>
                <a:gridCol w="1228725"/>
                <a:gridCol w="1228725"/>
              </a:tblGrid>
              <a:tr h="381000">
                <a:tc>
                  <a:txBody>
                    <a:bodyPr wrap="none">
                      <a:noAutofit/>
                    </a:bodyPr>
                    <a:lstStyle/>
                    <a:p>
                      <a:r>
                        <a:rPr sz="1800" b="1">
                          <a:solidFill>
                            <a:srgbClr val="444444"/>
                          </a:solidFill>
                          <a:latin typeface="Calibri"/>
                          <a:ea typeface="Calibri"/>
                          <a:cs typeface="Calibri"/>
                        </a:rPr>
                        <a:t/>
                      </a:r>
                    </a:p>
                  </a:txBody>
                  <a:tcPr marL="95250" marR="95250" marT="28575" marB="28575" anchor="ctr">
                    <a:solidFill>
                      <a:srgbClr val="FFFFFF"/>
                    </a:solidFill>
                  </a:tcPr>
                </a:tc>
                <a:tc>
                  <a:txBody>
                    <a:bodyPr wrap="none">
                      <a:noAutofit/>
                    </a:bodyPr>
                    <a:lstStyle/>
                    <a:p>
                      <a:pPr algn="ctr">
                        <a:buNone/>
                      </a:pPr>
                      <a:r>
                        <a:rPr sz="1800" b="1">
                          <a:solidFill>
                            <a:srgbClr val="444444"/>
                          </a:solidFill>
                          <a:latin typeface="Calibri"/>
                          <a:ea typeface="Calibri"/>
                          <a:cs typeface="Calibri"/>
                        </a:rPr>
                        <a:t>SOC</a:t>
                      </a:r>
                    </a:p>
                  </a:txBody>
                  <a:tcPr marL="95250" marR="95250" marT="28575" marB="28575" anchor="ctr">
                    <a:solidFill>
                      <a:srgbClr val="FFFFFF"/>
                    </a:solidFill>
                  </a:tcPr>
                </a:tc>
                <a:tc>
                  <a:txBody>
                    <a:bodyPr wrap="none">
                      <a:noAutofit/>
                    </a:bodyPr>
                    <a:lstStyle/>
                    <a:p>
                      <a:pPr algn="ctr">
                        <a:buNone/>
                      </a:pPr>
                      <a:r>
                        <a:rPr sz="1800" b="1">
                          <a:solidFill>
                            <a:srgbClr val="444444"/>
                          </a:solidFill>
                          <a:latin typeface="Calibri"/>
                          <a:ea typeface="Calibri"/>
                          <a:cs typeface="Calibri"/>
                        </a:rPr>
                        <a:t>SOH</a:t>
                      </a:r>
                    </a:p>
                  </a:txBody>
                  <a:tcPr marL="95250" marR="95250" marT="28575" marB="28575" anchor="ctr">
                    <a:solidFill>
                      <a:srgbClr val="FFFFFF"/>
                    </a:solidFill>
                  </a:tcPr>
                </a:tc>
              </a:tr>
              <a:tr h="381000">
                <a:tc gridSpan="3">
                  <a:txBody>
                    <a:bodyPr wrap="none">
                      <a:noAutofit/>
                    </a:bodyPr>
                    <a:lstStyle/>
                    <a:p>
                      <a:pPr algn="l">
                        <a:buNone/>
                      </a:pPr>
                      <a:r>
                        <a:rPr sz="1800" b="1">
                          <a:solidFill>
                            <a:srgbClr val="D00020"/>
                          </a:solidFill>
                          <a:latin typeface="Calibri"/>
                          <a:ea typeface="Calibri"/>
                          <a:cs typeface="Calibri"/>
                        </a:rPr>
                        <a:t>Pruning</a:t>
                      </a:r>
                    </a:p>
                  </a:txBody>
                  <a:tcPr marL="95250" marR="95250" marT="28575" marB="28575" anchor="ctr">
                    <a:solidFill>
                      <a:srgbClr val="F0F0F0"/>
                    </a:solidFill>
                  </a:tcPr>
                </a:tc>
                <a:tc hMerge="1">
                  <a:txBody>
                    <a:bodyPr wrap="none">
                      <a:noAutofit/>
                    </a:bodyPr>
                    <a:lstStyle/>
                    <a:p>
                      <a:r>
                        <a:rPr sz="1800" b="1">
                          <a:solidFill>
                            <a:srgbClr val="D00020"/>
                          </a:solidFill>
                          <a:latin typeface="Calibri"/>
                          <a:ea typeface="Calibri"/>
                          <a:cs typeface="Calibri"/>
                        </a:rPr>
                        <a:t/>
                      </a:r>
                    </a:p>
                  </a:txBody>
                  <a:tcPr marL="95250" marR="95250" marT="28575" marB="28575" anchor="ctr">
                    <a:solidFill>
                      <a:srgbClr val="F0F0F0"/>
                    </a:solidFill>
                  </a:tcPr>
                </a:tc>
                <a:tc hMerge="1">
                  <a:txBody>
                    <a:bodyPr wrap="none">
                      <a:noAutofit/>
                    </a:bodyPr>
                    <a:lstStyle/>
                    <a:p>
                      <a:r>
                        <a:rPr sz="1800" b="1">
                          <a:solidFill>
                            <a:srgbClr val="D00020"/>
                          </a:solidFill>
                          <a:latin typeface="Calibri"/>
                          <a:ea typeface="Calibri"/>
                          <a:cs typeface="Calibri"/>
                        </a:rPr>
                        <a:t/>
                      </a:r>
                    </a:p>
                  </a:txBody>
                  <a:tcPr marL="95250" marR="95250" marT="28575" marB="28575" anchor="ctr">
                    <a:solidFill>
                      <a:srgbClr val="F0F0F0"/>
                    </a:solidFill>
                  </a:tcPr>
                </a:tc>
              </a:tr>
              <a:tr h="381000">
                <a:tc>
                  <a:txBody>
                    <a:bodyPr wrap="none">
                      <a:noAutofit/>
                    </a:bodyPr>
                    <a:lstStyle/>
                    <a:p>
                      <a:pPr algn="l">
                        <a:buNone/>
                      </a:pPr>
                      <a:r>
                        <a:rPr sz="1800" b="0">
                          <a:solidFill>
                            <a:srgbClr val="444444"/>
                          </a:solidFill>
                          <a:latin typeface="Calibri"/>
                          <a:ea typeface="Calibri"/>
                          <a:cs typeface="Calibri"/>
                        </a:rPr>
                        <a:t>Flash</a:t>
                      </a:r>
                    </a:p>
                  </a:txBody>
                  <a:tcPr marL="95250" marR="95250" marT="28575" marB="28575" anchor="ctr">
                    <a:solidFill>
                      <a:srgbClr val="FFFFFF"/>
                    </a:solidFill>
                  </a:tcPr>
                </a:tc>
                <a:tc>
                  <a:txBody>
                    <a:bodyPr wrap="none">
                      <a:noAutofit/>
                    </a:bodyPr>
                    <a:lstStyle/>
                    <a:p>
                      <a:pPr algn="ctr">
                        <a:buNone/>
                      </a:pPr>
                      <a:r>
                        <a:rPr sz="1800" b="0">
                          <a:solidFill>
                            <a:srgbClr val="444444"/>
                          </a:solidFill>
                          <a:latin typeface="Calibri"/>
                          <a:ea typeface="Calibri"/>
                          <a:cs typeface="Calibri"/>
                        </a:rPr>
                        <a:t>40,9 %</a:t>
                      </a:r>
                    </a:p>
                  </a:txBody>
                  <a:tcPr marL="95250" marR="95250" marT="28575" marB="28575" anchor="ctr">
                    <a:solidFill>
                      <a:srgbClr val="FFFFFF"/>
                    </a:solidFill>
                  </a:tcPr>
                </a:tc>
                <a:tc>
                  <a:txBody>
                    <a:bodyPr wrap="none">
                      <a:noAutofit/>
                    </a:bodyPr>
                    <a:lstStyle/>
                    <a:p>
                      <a:pPr algn="ctr">
                        <a:buNone/>
                      </a:pPr>
                      <a:r>
                        <a:rPr sz="1800" b="0">
                          <a:solidFill>
                            <a:srgbClr val="444444"/>
                          </a:solidFill>
                          <a:latin typeface="Calibri"/>
                          <a:ea typeface="Calibri"/>
                          <a:cs typeface="Calibri"/>
                        </a:rPr>
                        <a:t>45,5 %</a:t>
                      </a:r>
                    </a:p>
                  </a:txBody>
                  <a:tcPr marL="95250" marR="95250" marT="28575" marB="28575" anchor="ctr">
                    <a:solidFill>
                      <a:srgbClr val="FFFFFF"/>
                    </a:solidFill>
                  </a:tcPr>
                </a:tc>
              </a:tr>
              <a:tr h="381000">
                <a:tc>
                  <a:txBody>
                    <a:bodyPr wrap="none">
                      <a:noAutofit/>
                    </a:bodyPr>
                    <a:lstStyle/>
                    <a:p>
                      <a:pPr algn="l">
                        <a:buNone/>
                      </a:pPr>
                      <a:r>
                        <a:rPr sz="1800" b="0">
                          <a:solidFill>
                            <a:srgbClr val="444444"/>
                          </a:solidFill>
                          <a:latin typeface="Calibri"/>
                          <a:ea typeface="Calibri"/>
                          <a:cs typeface="Calibri"/>
                        </a:rPr>
                        <a:t>RAM</a:t>
                      </a:r>
                    </a:p>
                  </a:txBody>
                  <a:tcPr marL="95250" marR="95250" marT="28575" marB="28575" anchor="ctr">
                    <a:solidFill>
                      <a:srgbClr val="FFFFFF"/>
                    </a:solidFill>
                  </a:tcPr>
                </a:tc>
                <a:tc>
                  <a:txBody>
                    <a:bodyPr wrap="none">
                      <a:noAutofit/>
                    </a:bodyPr>
                    <a:lstStyle/>
                    <a:p>
                      <a:pPr algn="ctr">
                        <a:buNone/>
                      </a:pPr>
                      <a:r>
                        <a:rPr sz="1800" b="0">
                          <a:solidFill>
                            <a:srgbClr val="444444"/>
                          </a:solidFill>
                          <a:latin typeface="Calibri"/>
                          <a:ea typeface="Calibri"/>
                          <a:cs typeface="Calibri"/>
                        </a:rPr>
                        <a:t>18,3 %</a:t>
                      </a:r>
                    </a:p>
                  </a:txBody>
                  <a:tcPr marL="95250" marR="95250" marT="28575" marB="28575" anchor="ctr">
                    <a:solidFill>
                      <a:srgbClr val="FFFFFF"/>
                    </a:solidFill>
                  </a:tcPr>
                </a:tc>
                <a:tc>
                  <a:txBody>
                    <a:bodyPr wrap="none">
                      <a:noAutofit/>
                    </a:bodyPr>
                    <a:lstStyle/>
                    <a:p>
                      <a:pPr algn="ctr">
                        <a:buNone/>
                      </a:pPr>
                      <a:r>
                        <a:rPr sz="1800" b="0">
                          <a:solidFill>
                            <a:srgbClr val="444444"/>
                          </a:solidFill>
                          <a:latin typeface="Calibri"/>
                          <a:ea typeface="Calibri"/>
                          <a:cs typeface="Calibri"/>
                        </a:rPr>
                        <a:t>19,9 %</a:t>
                      </a:r>
                    </a:p>
                  </a:txBody>
                  <a:tcPr marL="95250" marR="95250" marT="28575" marB="28575" anchor="ctr">
                    <a:solidFill>
                      <a:srgbClr val="FFFFFF"/>
                    </a:solidFill>
                  </a:tcPr>
                </a:tc>
              </a:tr>
              <a:tr h="381000">
                <a:tc gridSpan="3">
                  <a:txBody>
                    <a:bodyPr wrap="none">
                      <a:noAutofit/>
                    </a:bodyPr>
                    <a:lstStyle/>
                    <a:p>
                      <a:pPr algn="l">
                        <a:buNone/>
                      </a:pPr>
                      <a:r>
                        <a:rPr sz="1800" b="1">
                          <a:solidFill>
                            <a:srgbClr val="D00020"/>
                          </a:solidFill>
                          <a:latin typeface="Calibri"/>
                          <a:ea typeface="Calibri"/>
                          <a:cs typeface="Calibri"/>
                        </a:rPr>
                        <a:t>Quantized</a:t>
                      </a:r>
                    </a:p>
                  </a:txBody>
                  <a:tcPr marL="95250" marR="95250" marT="28575" marB="28575" anchor="ctr">
                    <a:solidFill>
                      <a:srgbClr val="F0F0F0"/>
                    </a:solidFill>
                  </a:tcPr>
                </a:tc>
                <a:tc hMerge="1">
                  <a:txBody>
                    <a:bodyPr wrap="none">
                      <a:noAutofit/>
                    </a:bodyPr>
                    <a:lstStyle/>
                    <a:p>
                      <a:r>
                        <a:rPr sz="1800" b="1">
                          <a:solidFill>
                            <a:srgbClr val="D00020"/>
                          </a:solidFill>
                          <a:latin typeface="Calibri"/>
                          <a:ea typeface="Calibri"/>
                          <a:cs typeface="Calibri"/>
                        </a:rPr>
                        <a:t/>
                      </a:r>
                    </a:p>
                  </a:txBody>
                  <a:tcPr marL="95250" marR="95250" marT="28575" marB="28575" anchor="ctr">
                    <a:solidFill>
                      <a:srgbClr val="F0F0F0"/>
                    </a:solidFill>
                  </a:tcPr>
                </a:tc>
                <a:tc hMerge="1">
                  <a:txBody>
                    <a:bodyPr wrap="none">
                      <a:noAutofit/>
                    </a:bodyPr>
                    <a:lstStyle/>
                    <a:p>
                      <a:r>
                        <a:rPr sz="1800" b="1">
                          <a:solidFill>
                            <a:srgbClr val="D00020"/>
                          </a:solidFill>
                          <a:latin typeface="Calibri"/>
                          <a:ea typeface="Calibri"/>
                          <a:cs typeface="Calibri"/>
                        </a:rPr>
                        <a:t/>
                      </a:r>
                    </a:p>
                  </a:txBody>
                  <a:tcPr marL="95250" marR="95250" marT="28575" marB="28575" anchor="ctr">
                    <a:solidFill>
                      <a:srgbClr val="F0F0F0"/>
                    </a:solidFill>
                  </a:tcPr>
                </a:tc>
              </a:tr>
              <a:tr h="381000">
                <a:tc>
                  <a:txBody>
                    <a:bodyPr wrap="none">
                      <a:noAutofit/>
                    </a:bodyPr>
                    <a:lstStyle/>
                    <a:p>
                      <a:pPr algn="l">
                        <a:buNone/>
                      </a:pPr>
                      <a:r>
                        <a:rPr sz="1800" b="0">
                          <a:solidFill>
                            <a:srgbClr val="444444"/>
                          </a:solidFill>
                          <a:latin typeface="Calibri"/>
                          <a:ea typeface="Calibri"/>
                          <a:cs typeface="Calibri"/>
                        </a:rPr>
                        <a:t>Flash</a:t>
                      </a:r>
                    </a:p>
                  </a:txBody>
                  <a:tcPr marL="95250" marR="95250" marT="28575" marB="28575" anchor="ctr">
                    <a:solidFill>
                      <a:srgbClr val="FFFFFF"/>
                    </a:solidFill>
                  </a:tcPr>
                </a:tc>
                <a:tc>
                  <a:txBody>
                    <a:bodyPr wrap="none">
                      <a:noAutofit/>
                    </a:bodyPr>
                    <a:lstStyle/>
                    <a:p>
                      <a:pPr algn="ctr">
                        <a:buNone/>
                      </a:pPr>
                      <a:r>
                        <a:rPr sz="1800" b="0">
                          <a:solidFill>
                            <a:srgbClr val="444444"/>
                          </a:solidFill>
                          <a:latin typeface="Calibri"/>
                          <a:ea typeface="Calibri"/>
                          <a:cs typeface="Calibri"/>
                        </a:rPr>
                        <a:t>50,2 %</a:t>
                      </a:r>
                    </a:p>
                  </a:txBody>
                  <a:tcPr marL="95250" marR="95250" marT="28575" marB="28575" anchor="ctr">
                    <a:solidFill>
                      <a:srgbClr val="FFFFFF"/>
                    </a:solidFill>
                  </a:tcPr>
                </a:tc>
                <a:tc>
                  <a:txBody>
                    <a:bodyPr wrap="none">
                      <a:noAutofit/>
                    </a:bodyPr>
                    <a:lstStyle/>
                    <a:p>
                      <a:pPr algn="ctr">
                        <a:buNone/>
                      </a:pPr>
                      <a:r>
                        <a:rPr sz="1800" b="0">
                          <a:solidFill>
                            <a:srgbClr val="444444"/>
                          </a:solidFill>
                          <a:latin typeface="Calibri"/>
                          <a:ea typeface="Calibri"/>
                          <a:cs typeface="Calibri"/>
                        </a:rPr>
                        <a:t>58,8 %</a:t>
                      </a:r>
                    </a:p>
                  </a:txBody>
                  <a:tcPr marL="95250" marR="95250" marT="28575" marB="28575" anchor="ctr">
                    <a:solidFill>
                      <a:srgbClr val="FFFFFF"/>
                    </a:solidFill>
                  </a:tcPr>
                </a:tc>
              </a:tr>
              <a:tr h="381000">
                <a:tc>
                  <a:txBody>
                    <a:bodyPr wrap="none">
                      <a:noAutofit/>
                    </a:bodyPr>
                    <a:lstStyle/>
                    <a:p>
                      <a:pPr algn="l">
                        <a:buNone/>
                      </a:pPr>
                      <a:r>
                        <a:rPr sz="1800" b="0">
                          <a:solidFill>
                            <a:srgbClr val="444444"/>
                          </a:solidFill>
                          <a:latin typeface="Calibri"/>
                          <a:ea typeface="Calibri"/>
                          <a:cs typeface="Calibri"/>
                        </a:rPr>
                        <a:t>RAM</a:t>
                      </a:r>
                    </a:p>
                  </a:txBody>
                  <a:tcPr marL="95250" marR="95250" marT="28575" marB="28575" anchor="ctr">
                    <a:solidFill>
                      <a:srgbClr val="FFFFFF"/>
                    </a:solidFill>
                  </a:tcPr>
                </a:tc>
                <a:tc>
                  <a:txBody>
                    <a:bodyPr wrap="none">
                      <a:noAutofit/>
                    </a:bodyPr>
                    <a:lstStyle/>
                    <a:p>
                      <a:pPr algn="ctr">
                        <a:buNone/>
                      </a:pPr>
                      <a:r>
                        <a:rPr sz="1800" b="0">
                          <a:solidFill>
                            <a:srgbClr val="444444"/>
                          </a:solidFill>
                          <a:latin typeface="Calibri"/>
                          <a:ea typeface="Calibri"/>
                          <a:cs typeface="Calibri"/>
                        </a:rPr>
                        <a:t>19,7 %</a:t>
                      </a:r>
                    </a:p>
                  </a:txBody>
                  <a:tcPr marL="95250" marR="95250" marT="28575" marB="28575" anchor="ctr">
                    <a:solidFill>
                      <a:srgbClr val="FFFFFF"/>
                    </a:solidFill>
                  </a:tcPr>
                </a:tc>
                <a:tc>
                  <a:txBody>
                    <a:bodyPr wrap="none">
                      <a:noAutofit/>
                    </a:bodyPr>
                    <a:lstStyle/>
                    <a:p>
                      <a:pPr algn="ctr">
                        <a:buNone/>
                      </a:pPr>
                      <a:r>
                        <a:rPr sz="1800" b="0">
                          <a:solidFill>
                            <a:srgbClr val="444444"/>
                          </a:solidFill>
                          <a:latin typeface="Calibri"/>
                          <a:ea typeface="Calibri"/>
                          <a:cs typeface="Calibri"/>
                        </a:rPr>
                        <a:t>22,9 %</a:t>
                      </a:r>
                    </a:p>
                  </a:txBody>
                  <a:tcPr marL="95250" marR="95250" marT="28575" marB="28575" anchor="ctr">
                    <a:solidFill>
                      <a:srgbClr val="FFFFFF"/>
                    </a:solidFill>
                  </a:tcPr>
                </a:tc>
              </a:tr>
            </a:tbl>
          </a:graphicData>
        </a:graphic>
      </p:graphicFrame>
      <p:sp>
        <p:nvSpPr>
          <p:cNvPr id="50" name="ML_ram_label">
            <a:extLst xmlns:a="http://schemas.openxmlformats.org/drawingml/2006/main">
              <a:ext uri="{FF2B5EF4-FFF2-40B4-BE49-F238E27FC236}">
                <a16:creationId xmlns:a16="http://schemas.microsoft.com/office/drawing/2014/main" id="{3E383C55-3CB7-4605-9A31-15244A295669}"/>
              </a:ext>
            </a:extLst>
          </p:cNvPr>
          <p:cNvSpPr>
            <a:spLocks xmlns:a="http://schemas.openxmlformats.org/drawingml/2006/main" noGrp="1"/>
          </p:cNvSpPr>
          <p:nvPr/>
        </p:nvSpPr>
        <p:spPr>
          <a:xfrm xmlns:a="http://schemas.openxmlformats.org/drawingml/2006/main">
            <a:off x="552450" y="555307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RAM-Bilanz:</a:t>
            </a:r>
          </a:p>
        </p:txBody>
      </p:sp>
      <p:sp>
        <p:nvSpPr>
          <p:cNvPr id="51" name="ML_ram_formula">
            <a:extLst xmlns:a="http://schemas.openxmlformats.org/drawingml/2006/main">
              <a:ext uri="{FF2B5EF4-FFF2-40B4-BE49-F238E27FC236}">
                <a16:creationId xmlns:a16="http://schemas.microsoft.com/office/drawing/2014/main" id="{EDD17664-6F47-45BF-AC9C-337B751A99B6}"/>
              </a:ext>
            </a:extLst>
          </p:cNvPr>
          <p:cNvSpPr>
            <a:spLocks xmlns:a="http://schemas.openxmlformats.org/drawingml/2006/main" noGrp="1"/>
          </p:cNvSpPr>
          <p:nvPr/>
        </p:nvSpPr>
        <p:spPr>
          <a:xfrm xmlns:a="http://schemas.openxmlformats.org/drawingml/2006/main">
            <a:off x="1971675" y="5553075"/>
            <a:ext cx="40100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pPr>
            <a14:m xmlns:a14="http://schemas.microsoft.com/office/drawing/2010/main">
              <m:oMathPara xmlns:m="http://schemas.openxmlformats.org/officeDocument/2006/math">
                <m:oMathParaPr>
                  <m:jc m:val="left"/>
                </m:oMathParaPr>
                <m:oMath>
                  <m:sSub>
                    <m:e>
                      <m:r>
                        <a:rPr sz="1800">
                          <a:solidFill>
                            <a:srgbClr val="444444"/>
                          </a:solidFill>
                          <a:latin typeface="Cambria Math"/>
                          <a:ea typeface="Cambria Math"/>
                          <a:cs typeface="Cambria Math"/>
                        </a:rPr>
                        <m:t>R</m:t>
                      </m:r>
                    </m:e>
                    <m:sub>
                      <m:r>
                        <m:rPr>
                          <m:sty m:val="p"/>
                        </m:rPr>
                        <a:rPr sz="1260">
                          <a:solidFill>
                            <a:srgbClr val="444444"/>
                          </a:solidFill>
                          <a:latin typeface="Cambria Math"/>
                          <a:ea typeface="Cambria Math"/>
                          <a:cs typeface="Cambria Math"/>
                        </a:rPr>
                        <m:t>gesamt</m:t>
                      </m:r>
                    </m:sub>
                  </m:sSub>
                  <m:r>
                    <a:rPr sz="1800">
                      <a:solidFill>
                        <a:srgbClr val="444444"/>
                      </a:solidFill>
                      <a:latin typeface="Cambria Math"/>
                      <a:ea typeface="Cambria Math"/>
                      <a:cs typeface="Cambria Math"/>
                    </a:rPr>
                    <m:t>=</m:t>
                  </m:r>
                  <m:sSub>
                    <m:e>
                      <m:r>
                        <a:rPr sz="1800">
                          <a:solidFill>
                            <a:srgbClr val="444444"/>
                          </a:solidFill>
                          <a:latin typeface="Cambria Math"/>
                          <a:ea typeface="Cambria Math"/>
                          <a:cs typeface="Cambria Math"/>
                        </a:rPr>
                        <m:t>R</m:t>
                      </m:r>
                    </m:e>
                    <m:sub>
                      <m:r>
                        <m:rPr>
                          <m:sty m:val="p"/>
                        </m:rPr>
                        <a:rPr sz="1260">
                          <a:solidFill>
                            <a:srgbClr val="444444"/>
                          </a:solidFill>
                          <a:latin typeface="Cambria Math"/>
                          <a:ea typeface="Cambria Math"/>
                          <a:cs typeface="Cambria Math"/>
                        </a:rPr>
                        <m:t>Variablen</m:t>
                      </m:r>
                    </m:sub>
                  </m:sSub>
                  <m:r>
                    <a:rPr sz="1800">
                      <a:solidFill>
                        <a:srgbClr val="444444"/>
                      </a:solidFill>
                      <a:latin typeface="Cambria Math"/>
                      <a:ea typeface="Cambria Math"/>
                      <a:cs typeface="Cambria Math"/>
                    </a:rPr>
                    <m:t>+</m:t>
                  </m:r>
                  <m:sSub>
                    <m:e>
                      <m:r>
                        <a:rPr sz="1800">
                          <a:solidFill>
                            <a:srgbClr val="444444"/>
                          </a:solidFill>
                          <a:latin typeface="Cambria Math"/>
                          <a:ea typeface="Cambria Math"/>
                          <a:cs typeface="Cambria Math"/>
                        </a:rPr>
                        <m:t>R</m:t>
                      </m:r>
                    </m:e>
                    <m:sub>
                      <m:r>
                        <m:rPr>
                          <m:sty m:val="p"/>
                        </m:rPr>
                        <a:rPr sz="1260">
                          <a:solidFill>
                            <a:srgbClr val="444444"/>
                          </a:solidFill>
                          <a:latin typeface="Cambria Math"/>
                          <a:ea typeface="Cambria Math"/>
                          <a:cs typeface="Cambria Math"/>
                        </a:rPr>
                        <m:t>Puffer</m:t>
                      </m:r>
                    </m:sub>
                  </m:sSub>
                  <m:r>
                    <a:rPr sz="1800">
                      <a:solidFill>
                        <a:srgbClr val="444444"/>
                      </a:solidFill>
                      <a:latin typeface="Cambria Math"/>
                      <a:ea typeface="Cambria Math"/>
                      <a:cs typeface="Cambria Math"/>
                    </a:rPr>
                    <m:t>+</m:t>
                  </m:r>
                  <m:sSub>
                    <m:e>
                      <m:r>
                        <a:rPr sz="1800">
                          <a:solidFill>
                            <a:srgbClr val="444444"/>
                          </a:solidFill>
                          <a:latin typeface="Cambria Math"/>
                          <a:ea typeface="Cambria Math"/>
                          <a:cs typeface="Cambria Math"/>
                        </a:rPr>
                        <m:t>R</m:t>
                      </m:r>
                    </m:e>
                    <m:sub>
                      <m:r>
                        <m:rPr>
                          <m:sty m:val="p"/>
                        </m:rPr>
                        <a:rPr sz="1260">
                          <a:solidFill>
                            <a:srgbClr val="444444"/>
                          </a:solidFill>
                          <a:latin typeface="Cambria Math"/>
                          <a:ea typeface="Cambria Math"/>
                          <a:cs typeface="Cambria Math"/>
                        </a:rPr>
                        <m:t>Stack,max</m:t>
                      </m:r>
                    </m:sub>
                  </m:sSub>
                </m:oMath>
              </m:oMathPara>
            </a14:m>
          </a:p>
        </p:txBody>
      </p:sp>
    </p:spTree>
    <p:extLst>
      <p:ext uri="{BB962C8B-B14F-4D97-AF65-F5344CB8AC3E}">
        <p14:creationId xmlns:p14="http://schemas.microsoft.com/office/powerpoint/2010/main" val="195099688"/>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lIns="0" tIns="0" rIns="0" bIns="0" anchor="t">
            <a:noAutofit/>
          </a:bodyPr>
          <a:lstStyle xmlns:a="http://schemas.openxmlformats.org/drawingml/2006/main"/>
          <a:p xmlns:a="http://schemas.openxmlformats.org/drawingml/2006/main">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Ergebnisse: Host-Latenz und Kernelzeit auf dem STM32</a:t>
            </a:r>
          </a: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41 / 44</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sp>
        <p:nvSpPr>
          <p:cNvPr id="15" name="Structure separator">
            <a:extLst xmlns:a="http://schemas.openxmlformats.org/drawingml/2006/main">
              <a:ext uri="{FF2B5EF4-FFF2-40B4-BE49-F238E27FC236}">
                <a16:creationId xmlns:a16="http://schemas.microsoft.com/office/drawing/2014/main" id="{01829133-D6FE-4D28-951B-A5D37E551BBF}"/>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16" name="Structure label">
            <a:extLst xmlns:a="http://schemas.openxmlformats.org/drawingml/2006/main">
              <a:ext uri="{FF2B5EF4-FFF2-40B4-BE49-F238E27FC236}">
                <a16:creationId xmlns:a16="http://schemas.microsoft.com/office/drawing/2014/main" id="{B9B498A6-C283-48A2-9DE7-598EAB1DC61B}"/>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xmlns:a="http://schemas.openxmlformats.org/drawingml/2006/main">
              <a:ext uri="{FF2B5EF4-FFF2-40B4-BE49-F238E27FC236}">
                <a16:creationId xmlns:a16="http://schemas.microsoft.com/office/drawing/2014/main" id="{E88A03A2-F1E1-49B6-9CF5-2AEBF0E5DD20}"/>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xmlns:a="http://schemas.openxmlformats.org/drawingml/2006/main">
              <a:ext uri="{FF2B5EF4-FFF2-40B4-BE49-F238E27FC236}">
                <a16:creationId xmlns:a16="http://schemas.microsoft.com/office/drawing/2014/main" id="{8C49075D-1FAF-4A32-9EFC-03D612D51349}"/>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xmlns:a="http://schemas.openxmlformats.org/drawingml/2006/main">
              <a:ext uri="{FF2B5EF4-FFF2-40B4-BE49-F238E27FC236}">
                <a16:creationId xmlns:a16="http://schemas.microsoft.com/office/drawing/2014/main" id="{08E14E1C-2FE6-447E-AA47-A0A248CB791F}"/>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xmlns:a="http://schemas.openxmlformats.org/drawingml/2006/main">
              <a:ext uri="{FF2B5EF4-FFF2-40B4-BE49-F238E27FC236}">
                <a16:creationId xmlns:a16="http://schemas.microsoft.com/office/drawing/2014/main" id="{8AD65587-F191-493E-AA9F-493E1A82E5B3}"/>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xmlns:a="http://schemas.openxmlformats.org/drawingml/2006/main">
              <a:ext uri="{FF2B5EF4-FFF2-40B4-BE49-F238E27FC236}">
                <a16:creationId xmlns:a16="http://schemas.microsoft.com/office/drawing/2014/main" id="{3B2F4D78-1577-40C9-A434-7B37B327AD37}"/>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2" name="Structure 5">
            <a:extLst xmlns:a="http://schemas.openxmlformats.org/drawingml/2006/main">
              <a:ext uri="{FF2B5EF4-FFF2-40B4-BE49-F238E27FC236}">
                <a16:creationId xmlns:a16="http://schemas.microsoft.com/office/drawing/2014/main" id="{758A4926-DDD0-4BBD-BFDE-459EE60C1963}"/>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30" name="LV_host_distributions"/>
          <p:cNvPicPr>
            <a:picLocks xmlns:a="http://schemas.openxmlformats.org/drawingml/2006/main" noChangeAspect="1"/>
          </p:cNvPicPr>
          <p:nvPr/>
        </p:nvPicPr>
        <p:blipFill>
          <a:blip xmlns:r="http://schemas.openxmlformats.org/officeDocument/2006/relationships" xmlns:a="http://schemas.openxmlformats.org/drawingml/2006/main" r:embed="R45bc85ee20e6400b"/>
          <a:stretch xmlns:a="http://schemas.openxmlformats.org/drawingml/2006/main"/>
        </p:blipFill>
        <p:spPr>
          <a:xfrm xmlns:a="http://schemas.openxmlformats.org/drawingml/2006/main">
            <a:off x="552450" y="1476375"/>
            <a:ext cx="5953125" cy="2480469"/>
          </a:xfrm>
          <a:prstGeom xmlns:a="http://schemas.openxmlformats.org/drawingml/2006/main" prst="rect">
            <a:avLst/>
          </a:prstGeom>
        </p:spPr>
      </p:pic>
      <p:sp>
        <p:nvSpPr>
          <p:cNvPr id="31" name="LC_variant">
            <a:extLst xmlns:a="http://schemas.openxmlformats.org/drawingml/2006/main">
              <a:ext uri="{FF2B5EF4-FFF2-40B4-BE49-F238E27FC236}">
                <a16:creationId xmlns:a16="http://schemas.microsoft.com/office/drawing/2014/main" id="{5852BB09-7040-4974-92F0-88D4FADEAB20}"/>
              </a:ext>
            </a:extLst>
          </p:cNvPr>
          <p:cNvSpPr>
            <a:spLocks xmlns:a="http://schemas.openxmlformats.org/drawingml/2006/main" noGrp="1"/>
          </p:cNvSpPr>
          <p:nvPr/>
        </p:nvSpPr>
        <p:spPr>
          <a:xfrm xmlns:a="http://schemas.openxmlformats.org/drawingml/2006/main">
            <a:off x="6715125" y="1476375"/>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Pruning vs. Base</a:t>
            </a:r>
          </a:p>
        </p:txBody>
      </p:sp>
      <p:graphicFrame>
        <p:nvGraphicFramePr>
          <p:cNvPr id="32" name=""/>
          <p:cNvGraphicFramePr/>
          <p:nvPr/>
        </p:nvGraphicFramePr>
        <p:xfrm>
          <a:off xmlns:a="http://schemas.openxmlformats.org/drawingml/2006/main" x="6715125" y="1885950"/>
          <a:ext xmlns:a="http://schemas.openxmlformats.org/drawingml/2006/main" cx="3238500" cy="2009775"/>
        </p:xfrm>
        <a:graphic xmlns:a="http://schemas.openxmlformats.org/drawingml/2006/main">
          <a:graphicData uri="http://schemas.openxmlformats.org/drawingml/2006/table">
            <a:tbl>
              <a:tblPr firstRow="0" firstCol="0" lastRow="0" lastCol="0" bandRow="0" bandCol="0"/>
              <a:tblGrid>
                <a:gridCol w="1619250"/>
                <a:gridCol w="1619250"/>
              </a:tblGrid>
              <a:tr h="333375">
                <a:tc>
                  <a:txBody>
                    <a:bodyPr>
                      <a:noAutofit/>
                    </a:bodyPr>
                    <a:lstStyle/>
                    <a:p>
                      <a:pPr algn="ctr">
                        <a:buNone/>
                      </a:pPr>
                      <a:r>
                        <a:rPr sz="1800" b="1">
                          <a:solidFill>
                            <a:srgbClr val="444444"/>
                          </a:solidFill>
                          <a:latin typeface="Calibri"/>
                          <a:ea typeface="Calibri"/>
                          <a:cs typeface="Calibri"/>
                        </a:rPr>
                        <a:t>SOC</a:t>
                      </a:r>
                    </a:p>
                  </a:txBody>
                  <a:tcPr marL="66675" marR="66675" marT="28575" marB="28575" anchor="ctr">
                    <a:solidFill>
                      <a:srgbClr val="FFFFFF"/>
                    </a:solidFill>
                  </a:tcPr>
                </a:tc>
                <a:tc>
                  <a:txBody>
                    <a:bodyPr>
                      <a:noAutofit/>
                    </a:bodyPr>
                    <a:lstStyle/>
                    <a:p>
                      <a:pPr algn="ctr">
                        <a:buNone/>
                      </a:pPr>
                      <a:r>
                        <a:rPr sz="1800" b="1">
                          <a:solidFill>
                            <a:srgbClr val="444444"/>
                          </a:solidFill>
                          <a:latin typeface="Calibri"/>
                          <a:ea typeface="Calibri"/>
                          <a:cs typeface="Calibri"/>
                        </a:rPr>
                        <a:t>SOH</a:t>
                      </a:r>
                    </a:p>
                  </a:txBody>
                  <a:tcPr marL="66675" marR="66675" marT="28575" marB="28575" anchor="ctr">
                    <a:solidFill>
                      <a:srgbClr val="FFFFFF"/>
                    </a:solidFill>
                  </a:tcPr>
                </a:tc>
              </a:tr>
              <a:tr h="390525">
                <a:tc gridSpan="2">
                  <a:txBody>
                    <a:bodyPr>
                      <a:noAutofit/>
                    </a:bodyPr>
                    <a:lstStyle/>
                    <a:p>
                      <a:pPr algn="ctr">
                        <a:buNone/>
                      </a:pPr>
                      <a:r>
                        <a:rPr sz="1800" b="0">
                          <a:solidFill>
                            <a:srgbClr val="444444"/>
                          </a:solidFill>
                          <a:latin typeface="Calibri"/>
                          <a:ea typeface="Calibri"/>
                          <a:cs typeface="Calibri"/>
                        </a:rPr>
                        <a:t>Kernelzeit (STM32)</a:t>
                      </a:r>
                    </a:p>
                  </a:txBody>
                  <a:tcPr marL="66675" marR="66675" marT="28575" marB="28575" anchor="ctr">
                    <a:solidFill>
                      <a:srgbClr val="F0F0F0"/>
                    </a:solidFill>
                  </a:tcPr>
                </a:tc>
                <a:tc hMerge="1">
                  <a:txBody>
                    <a:bodyPr>
                      <a:noAutofit/>
                    </a:bodyPr>
                    <a:lstStyle/>
                    <a:p>
                      <a:r>
                        <a:rPr sz="1800" b="0">
                          <a:solidFill>
                            <a:srgbClr val="444444"/>
                          </a:solidFill>
                          <a:latin typeface="Calibri"/>
                          <a:ea typeface="Calibri"/>
                          <a:cs typeface="Calibri"/>
                        </a:rPr>
                        <a:t/>
                      </a:r>
                    </a:p>
                  </a:txBody>
                  <a:tcPr marL="66675" marR="66675" marT="28575" marB="28575" anchor="ctr">
                    <a:solidFill>
                      <a:srgbClr val="F0F0F0"/>
                    </a:solidFill>
                  </a:tcPr>
                </a:tc>
              </a:tr>
              <a:tr h="447675">
                <a:tc>
                  <a:txBody>
                    <a:bodyPr>
                      <a:noAutofit/>
                    </a:bodyPr>
                    <a:lstStyle/>
                    <a:p>
                      <a:pPr algn="ctr">
                        <a:buNone/>
                      </a:pPr>
                      <a:r>
                        <a:rPr sz="1800" b="1">
                          <a:solidFill>
                            <a:srgbClr val="D00020"/>
                          </a:solidFill>
                          <a:latin typeface="Calibri"/>
                          <a:ea typeface="Calibri"/>
                          <a:cs typeface="Calibri"/>
                        </a:rPr>
                        <a:t>−42,9 %</a:t>
                      </a:r>
                    </a:p>
                  </a:txBody>
                  <a:tcPr marL="66675" marR="66675" marT="28575" marB="28575" anchor="ctr">
                    <a:solidFill>
                      <a:srgbClr val="FFFFFF"/>
                    </a:solidFill>
                  </a:tcPr>
                </a:tc>
                <a:tc>
                  <a:txBody>
                    <a:bodyPr>
                      <a:noAutofit/>
                    </a:bodyPr>
                    <a:lstStyle/>
                    <a:p>
                      <a:pPr algn="ctr">
                        <a:buNone/>
                      </a:pPr>
                      <a:r>
                        <a:rPr sz="1800" b="1">
                          <a:solidFill>
                            <a:srgbClr val="D00020"/>
                          </a:solidFill>
                          <a:latin typeface="Calibri"/>
                          <a:ea typeface="Calibri"/>
                          <a:cs typeface="Calibri"/>
                        </a:rPr>
                        <a:t>−44,0 %</a:t>
                      </a:r>
                    </a:p>
                  </a:txBody>
                  <a:tcPr marL="66675" marR="66675" marT="28575" marB="28575" anchor="ctr">
                    <a:solidFill>
                      <a:srgbClr val="FFFFFF"/>
                    </a:solidFill>
                  </a:tcPr>
                </a:tc>
              </a:tr>
              <a:tr h="390525">
                <a:tc gridSpan="2">
                  <a:txBody>
                    <a:bodyPr>
                      <a:noAutofit/>
                    </a:bodyPr>
                    <a:lstStyle/>
                    <a:p>
                      <a:pPr algn="ctr">
                        <a:buNone/>
                      </a:pPr>
                      <a:r>
                        <a:rPr sz="1800" b="0">
                          <a:solidFill>
                            <a:srgbClr val="444444"/>
                          </a:solidFill>
                          <a:latin typeface="Calibri"/>
                          <a:ea typeface="Calibri"/>
                          <a:cs typeface="Calibri"/>
                        </a:rPr>
                        <a:t>Host-Latenz (PC ↔ STM32)</a:t>
                      </a:r>
                    </a:p>
                  </a:txBody>
                  <a:tcPr marL="66675" marR="66675" marT="28575" marB="28575" anchor="ctr">
                    <a:solidFill>
                      <a:srgbClr val="F0F0F0"/>
                    </a:solidFill>
                  </a:tcPr>
                </a:tc>
                <a:tc hMerge="1">
                  <a:txBody>
                    <a:bodyPr>
                      <a:noAutofit/>
                    </a:bodyPr>
                    <a:lstStyle/>
                    <a:p>
                      <a:r>
                        <a:rPr sz="1800" b="0">
                          <a:solidFill>
                            <a:srgbClr val="444444"/>
                          </a:solidFill>
                          <a:latin typeface="Calibri"/>
                          <a:ea typeface="Calibri"/>
                          <a:cs typeface="Calibri"/>
                        </a:rPr>
                        <a:t/>
                      </a:r>
                    </a:p>
                  </a:txBody>
                  <a:tcPr marL="66675" marR="66675" marT="28575" marB="28575" anchor="ctr">
                    <a:solidFill>
                      <a:srgbClr val="F0F0F0"/>
                    </a:solidFill>
                  </a:tcPr>
                </a:tc>
              </a:tr>
              <a:tr h="447675">
                <a:tc>
                  <a:txBody>
                    <a:bodyPr>
                      <a:noAutofit/>
                    </a:bodyPr>
                    <a:lstStyle/>
                    <a:p>
                      <a:pPr algn="ctr">
                        <a:buNone/>
                      </a:pPr>
                      <a:r>
                        <a:rPr sz="1800" b="1">
                          <a:solidFill>
                            <a:srgbClr val="D00020"/>
                          </a:solidFill>
                          <a:latin typeface="Calibri"/>
                          <a:ea typeface="Calibri"/>
                          <a:cs typeface="Calibri"/>
                        </a:rPr>
                        <a:t>−3,9 %</a:t>
                      </a:r>
                    </a:p>
                  </a:txBody>
                  <a:tcPr marL="66675" marR="66675" marT="28575" marB="28575" anchor="ctr">
                    <a:solidFill>
                      <a:srgbClr val="FFFFFF"/>
                    </a:solidFill>
                  </a:tcPr>
                </a:tc>
                <a:tc>
                  <a:txBody>
                    <a:bodyPr>
                      <a:noAutofit/>
                    </a:bodyPr>
                    <a:lstStyle/>
                    <a:p>
                      <a:pPr algn="ctr">
                        <a:buNone/>
                      </a:pPr>
                      <a:r>
                        <a:rPr sz="1800" b="1">
                          <a:solidFill>
                            <a:srgbClr val="D00020"/>
                          </a:solidFill>
                          <a:latin typeface="Calibri"/>
                          <a:ea typeface="Calibri"/>
                          <a:cs typeface="Calibri"/>
                        </a:rPr>
                        <a:t>−29,2 %</a:t>
                      </a:r>
                    </a:p>
                  </a:txBody>
                  <a:tcPr marL="66675" marR="66675" marT="28575" marB="28575" anchor="ctr">
                    <a:solidFill>
                      <a:srgbClr val="FFFFFF"/>
                    </a:solidFill>
                  </a:tcPr>
                </a:tc>
              </a:tr>
            </a:tbl>
          </a:graphicData>
        </a:graphic>
      </p:graphicFrame>
      <p:sp>
        <p:nvSpPr>
          <p:cNvPr id="33" name="LC_label_Ergebnis">
            <a:extLst xmlns:a="http://schemas.openxmlformats.org/drawingml/2006/main">
              <a:ext uri="{FF2B5EF4-FFF2-40B4-BE49-F238E27FC236}">
                <a16:creationId xmlns:a16="http://schemas.microsoft.com/office/drawing/2014/main" id="{1B28898D-2FE8-49EA-AA5C-C867AB53ADC1}"/>
              </a:ext>
            </a:extLst>
          </p:cNvPr>
          <p:cNvSpPr>
            <a:spLocks xmlns:a="http://schemas.openxmlformats.org/drawingml/2006/main" noGrp="1"/>
          </p:cNvSpPr>
          <p:nvPr/>
        </p:nvSpPr>
        <p:spPr>
          <a:xfrm xmlns:a="http://schemas.openxmlformats.org/drawingml/2006/main">
            <a:off x="552450" y="4248150"/>
            <a:ext cx="1000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Ergebnis</a:t>
            </a:r>
          </a:p>
        </p:txBody>
      </p:sp>
      <p:sp>
        <p:nvSpPr>
          <p:cNvPr id="34" name="LC_text_Ergebnis">
            <a:extLst xmlns:a="http://schemas.openxmlformats.org/drawingml/2006/main">
              <a:ext uri="{FF2B5EF4-FFF2-40B4-BE49-F238E27FC236}">
                <a16:creationId xmlns:a16="http://schemas.microsoft.com/office/drawing/2014/main" id="{47408EE4-86D3-41F6-8959-30F97C98E857}"/>
              </a:ext>
            </a:extLst>
          </p:cNvPr>
          <p:cNvSpPr>
            <a:spLocks xmlns:a="http://schemas.openxmlformats.org/drawingml/2006/main" noGrp="1"/>
          </p:cNvSpPr>
          <p:nvPr/>
        </p:nvSpPr>
        <p:spPr>
          <a:xfrm xmlns:a="http://schemas.openxmlformats.org/drawingml/2006/main">
            <a:off x="1743075" y="4248150"/>
            <a:ext cx="8210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Deutlich kürzere Kernelzeit; geringer Host-Gewinn beim SOC</a:t>
            </a:r>
          </a:p>
        </p:txBody>
      </p:sp>
      <p:sp>
        <p:nvSpPr>
          <p:cNvPr id="35" name="LC_label_Ursache">
            <a:extLst xmlns:a="http://schemas.openxmlformats.org/drawingml/2006/main">
              <a:ext uri="{FF2B5EF4-FFF2-40B4-BE49-F238E27FC236}">
                <a16:creationId xmlns:a16="http://schemas.microsoft.com/office/drawing/2014/main" id="{1E0966D2-1798-45B6-8583-E2FFEF791FD8}"/>
              </a:ext>
            </a:extLst>
          </p:cNvPr>
          <p:cNvSpPr>
            <a:spLocks xmlns:a="http://schemas.openxmlformats.org/drawingml/2006/main" noGrp="1"/>
          </p:cNvSpPr>
          <p:nvPr/>
        </p:nvSpPr>
        <p:spPr>
          <a:xfrm xmlns:a="http://schemas.openxmlformats.org/drawingml/2006/main">
            <a:off x="552450" y="4667250"/>
            <a:ext cx="10001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Ursache</a:t>
            </a:r>
          </a:p>
        </p:txBody>
      </p:sp>
      <p:sp>
        <p:nvSpPr>
          <p:cNvPr id="36" name="LC_text_Ursache">
            <a:extLst xmlns:a="http://schemas.openxmlformats.org/drawingml/2006/main">
              <a:ext uri="{FF2B5EF4-FFF2-40B4-BE49-F238E27FC236}">
                <a16:creationId xmlns:a16="http://schemas.microsoft.com/office/drawing/2014/main" id="{9593F7F1-3E5F-4C1F-91E6-5E33FFD3EB87}"/>
              </a:ext>
            </a:extLst>
          </p:cNvPr>
          <p:cNvSpPr>
            <a:spLocks xmlns:a="http://schemas.openxmlformats.org/drawingml/2006/main" noGrp="1"/>
          </p:cNvSpPr>
          <p:nvPr/>
        </p:nvSpPr>
        <p:spPr>
          <a:xfrm xmlns:a="http://schemas.openxmlformats.org/drawingml/2006/main">
            <a:off x="1743075" y="4667250"/>
            <a:ext cx="82105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Reduktion der Rechenoperationen durch weniger Hidden Units;</a:t>
            </a:r>
          </a:p>
          <a:p xmlns:a="http://schemas.openxmlformats.org/drawingml/2006/main">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beim SOC hoher Zeitanteil für Übertragung und Scheduling</a:t>
            </a:r>
          </a:p>
        </p:txBody>
      </p:sp>
      <p:sp>
        <p:nvSpPr>
          <p:cNvPr id="37" name="LC_label_Fazit">
            <a:extLst xmlns:a="http://schemas.openxmlformats.org/drawingml/2006/main">
              <a:ext uri="{FF2B5EF4-FFF2-40B4-BE49-F238E27FC236}">
                <a16:creationId xmlns:a16="http://schemas.microsoft.com/office/drawing/2014/main" id="{6231E57A-E4AA-41B7-8D64-6AAD05D96283}"/>
              </a:ext>
            </a:extLst>
          </p:cNvPr>
          <p:cNvSpPr>
            <a:spLocks xmlns:a="http://schemas.openxmlformats.org/drawingml/2006/main" noGrp="1"/>
          </p:cNvSpPr>
          <p:nvPr/>
        </p:nvSpPr>
        <p:spPr>
          <a:xfrm xmlns:a="http://schemas.openxmlformats.org/drawingml/2006/main">
            <a:off x="552450" y="5353050"/>
            <a:ext cx="10001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Fazit</a:t>
            </a:r>
          </a:p>
        </p:txBody>
      </p:sp>
      <p:sp>
        <p:nvSpPr>
          <p:cNvPr id="38" name="LC_text_Fazit">
            <a:extLst xmlns:a="http://schemas.openxmlformats.org/drawingml/2006/main">
              <a:ext uri="{FF2B5EF4-FFF2-40B4-BE49-F238E27FC236}">
                <a16:creationId xmlns:a16="http://schemas.microsoft.com/office/drawing/2014/main" id="{B5254F83-2150-49AB-8B5E-211662C3B789}"/>
              </a:ext>
            </a:extLst>
          </p:cNvPr>
          <p:cNvSpPr>
            <a:spLocks xmlns:a="http://schemas.openxmlformats.org/drawingml/2006/main" noGrp="1"/>
          </p:cNvSpPr>
          <p:nvPr/>
        </p:nvSpPr>
        <p:spPr>
          <a:xfrm xmlns:a="http://schemas.openxmlformats.org/drawingml/2006/main">
            <a:off x="1743075" y="5353050"/>
            <a:ext cx="82105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Zusätzliche Optimierung von Übertragung und Scheduling</a:t>
            </a:r>
          </a:p>
          <a:p xmlns:a="http://schemas.openxmlformats.org/drawingml/2006/main">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für einen größeren End-to-End-Gewinn</a:t>
            </a:r>
          </a:p>
        </p:txBody>
      </p:sp>
    </p:spTree>
    <p:extLst>
      <p:ext uri="{BB962C8B-B14F-4D97-AF65-F5344CB8AC3E}">
        <p14:creationId xmlns:p14="http://schemas.microsoft.com/office/powerpoint/2010/main" val="1283791891"/>
      </p:ext>
    </p:extLst>
  </p:cSld>
  <p:transition spd="fast" advClick="1">
    <p:fade/>
  </p:transition>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lIns="0" tIns="0" rIns="0" bIns="0" anchor="t">
            <a:noAutofit/>
          </a:bodyPr>
          <a:lstStyle xmlns:a="http://schemas.openxmlformats.org/drawingml/2006/main"/>
          <a:p xmlns:a="http://schemas.openxmlformats.org/drawingml/2006/main">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Anhang: Kernelzeit und Kompressionseffekte</a:t>
            </a:r>
          </a: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Anhang 15</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graphicFrame>
        <p:nvGraphicFramePr>
          <p:cNvPr id="29" name="V5_Table_10"/>
          <p:cNvGraphicFramePr/>
          <p:nvPr/>
        </p:nvGraphicFramePr>
        <p:xfrm>
          <a:off xmlns:a="http://schemas.openxmlformats.org/drawingml/2006/main" x="552450" y="1466850"/>
          <a:ext xmlns:a="http://schemas.openxmlformats.org/drawingml/2006/main" cx="9353550" cy="3095625"/>
        </p:xfrm>
        <a:graphic xmlns:a="http://schemas.openxmlformats.org/drawingml/2006/main">
          <a:graphicData uri="http://schemas.openxmlformats.org/drawingml/2006/table">
            <a:tbl>
              <a:tblPr firstRow="1" bandRow="1">
                <a:tableStyleId>{5C22544A-7EE6-4342-B048-85BDC9FD1C3A}</a:tableStyleId>
              </a:tblPr>
              <a:tblGrid>
                <a:gridCol w="1000125"/>
                <a:gridCol w="2190750"/>
                <a:gridCol w="2038350"/>
                <a:gridCol w="2000250"/>
                <a:gridCol w="2124075"/>
              </a:tblGrid>
              <a:tr h="442232">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Ziel</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Variante</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Kernel [ms]</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Δ zu Base</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Host [ms]</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r>
              <a:tr h="442232">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SOC</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Base</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1,40</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12,70</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r>
              <a:tr h="442232">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SOC</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Pruned</a:t>
                      </a:r>
                      <a:endParaRPr sz="1800" b="0">
                        <a:solidFill>
                          <a:srgbClr val="434343"/>
                        </a:solidFill>
                        <a:latin typeface="Arial"/>
                        <a:ea typeface="Arial"/>
                        <a:cs typeface="Arial"/>
                      </a:endParaRP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0,80</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−43 %</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12,20</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r>
              <a:tr h="442232">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SOC</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Quantized</a:t>
                      </a:r>
                      <a:endParaRPr sz="1800" b="0">
                        <a:solidFill>
                          <a:srgbClr val="434343"/>
                        </a:solidFill>
                        <a:latin typeface="Arial"/>
                        <a:ea typeface="Arial"/>
                        <a:cs typeface="Arial"/>
                      </a:endParaRP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6,99</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+399 %</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18,48</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r>
              <a:tr h="442232">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SOH</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Base</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22,73</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34,88</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r>
              <a:tr h="442232">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SOH</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Pruned</a:t>
                      </a:r>
                      <a:endParaRPr sz="1800" b="0">
                        <a:solidFill>
                          <a:srgbClr val="434343"/>
                        </a:solidFill>
                        <a:latin typeface="Arial"/>
                        <a:ea typeface="Arial"/>
                        <a:cs typeface="Arial"/>
                      </a:endParaRP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12,72</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−44 %</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24,69</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r>
              <a:tr h="442232">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SOH</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Quantized</a:t>
                      </a:r>
                      <a:endParaRPr sz="1800" b="0">
                        <a:solidFill>
                          <a:srgbClr val="434343"/>
                        </a:solidFill>
                        <a:latin typeface="Arial"/>
                        <a:ea typeface="Arial"/>
                        <a:cs typeface="Arial"/>
                      </a:endParaRP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29,21</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+29 %</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41,23</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r>
            </a:tbl>
          </a:graphicData>
        </a:graphic>
      </p:graphicFrame>
      <p:sp>
        <p:nvSpPr>
          <p:cNvPr id="11" name="V5_Text_11">
            <a:extLst xmlns:a="http://schemas.openxmlformats.org/drawingml/2006/main">
              <a:ext uri="{FF2B5EF4-FFF2-40B4-BE49-F238E27FC236}">
                <a16:creationId xmlns:a16="http://schemas.microsoft.com/office/drawing/2014/main" id="{849DB070-65C4-4F9E-A570-ECE42A6F9B21}"/>
              </a:ext>
            </a:extLst>
          </p:cNvPr>
          <p:cNvSpPr>
            <a:spLocks xmlns:a="http://schemas.openxmlformats.org/drawingml/2006/main" noGrp="1"/>
          </p:cNvSpPr>
          <p:nvPr/>
        </p:nvSpPr>
        <p:spPr>
          <a:xfrm xmlns:a="http://schemas.openxmlformats.org/drawingml/2006/main">
            <a:off x="552450" y="4752975"/>
            <a:ext cx="93535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ns1:p xmlns:ns1="http://schemas.openxmlformats.org/drawingml/2006/main">
            <ns1:pPr marL="20" indent="-17" algn="l">
              <ns1:spcBef>
                <ns1:spcPts val="0"/>
              </ns1:spcBef>
              <ns1:spcAft>
                <ns1:spcPts val="0"/>
              </ns1:spcAft>
              <ns1:buChar char="•"/>
              <ns1:defRPr sz="1800" b="0">
                <ns1:solidFill>
                  <ns1:srgbClr val="3F3F3F"/>
                </ns1:solidFill>
                <ns1:latin typeface="Calibri"/>
                <ns1:ea typeface="Calibri"/>
                <ns1:cs typeface="Calibri"/>
              </ns1:defRPr>
            </ns1:pPr>
            <ns1:r>
              <ns1:rPr sz="1800" b="1">
                <ns1:latin typeface="Calibri"/>
                <ns1:ea typeface="Calibri"/>
                <ns1:cs typeface="Calibri"/>
              </ns1:rPr>
              <ns1:t>Pruning:</ns1:t>
            </ns1:r>
            <ns1:r>
              <ns1:rPr sz="1800" b="0">
                <ns1:latin typeface="Calibri"/>
                <ns1:ea typeface="Calibri"/>
                <ns1:cs typeface="Calibri"/>
              </ns1:rPr>
              <ns1:t xml:space="preserve"> Rund 45 % weniger MACs entsprechen 43–44 % kürzerer Kernelzeit</ns1:t>
            </ns1:r>
          </ns1:p>
        </p:txBody>
      </p:sp>
      <p:sp>
        <p:nvSpPr>
          <p:cNvPr id="14" name="Structure separator">
            <a:extLst xmlns:a="http://schemas.openxmlformats.org/drawingml/2006/main">
              <a:ext uri="{FF2B5EF4-FFF2-40B4-BE49-F238E27FC236}">
                <a16:creationId xmlns:a16="http://schemas.microsoft.com/office/drawing/2014/main" id="{AF5C435C-3ED7-4297-B7F2-F31B89E77D34}"/>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15" name="Structure label">
            <a:extLst xmlns:a="http://schemas.openxmlformats.org/drawingml/2006/main">
              <a:ext uri="{FF2B5EF4-FFF2-40B4-BE49-F238E27FC236}">
                <a16:creationId xmlns:a16="http://schemas.microsoft.com/office/drawing/2014/main" id="{AB64F56B-C2CF-43E9-A526-3DB3D8AE66D5}"/>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xmlns:a="http://schemas.openxmlformats.org/drawingml/2006/main">
              <a:ext uri="{FF2B5EF4-FFF2-40B4-BE49-F238E27FC236}">
                <a16:creationId xmlns:a16="http://schemas.microsoft.com/office/drawing/2014/main" id="{0EAF8EE2-3563-48F3-A5E6-C190FE82FC3D}"/>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7" name="Structure 1">
            <a:extLst xmlns:a="http://schemas.openxmlformats.org/drawingml/2006/main">
              <a:ext uri="{FF2B5EF4-FFF2-40B4-BE49-F238E27FC236}">
                <a16:creationId xmlns:a16="http://schemas.microsoft.com/office/drawing/2014/main" id="{E5C32DBF-BBE6-4604-9439-DA7B858038B9}"/>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8" name="Structure 2">
            <a:extLst xmlns:a="http://schemas.openxmlformats.org/drawingml/2006/main">
              <a:ext uri="{FF2B5EF4-FFF2-40B4-BE49-F238E27FC236}">
                <a16:creationId xmlns:a16="http://schemas.microsoft.com/office/drawing/2014/main" id="{488FE591-F84D-4812-AA44-ED8A92A265EC}"/>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19" name="Structure 3">
            <a:extLst xmlns:a="http://schemas.openxmlformats.org/drawingml/2006/main">
              <a:ext uri="{FF2B5EF4-FFF2-40B4-BE49-F238E27FC236}">
                <a16:creationId xmlns:a16="http://schemas.microsoft.com/office/drawing/2014/main" id="{80D3D8CE-AFD1-4B89-AF36-CB2A5E63595A}"/>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0" name="Structure 4">
            <a:extLst xmlns:a="http://schemas.openxmlformats.org/drawingml/2006/main">
              <a:ext uri="{FF2B5EF4-FFF2-40B4-BE49-F238E27FC236}">
                <a16:creationId xmlns:a16="http://schemas.microsoft.com/office/drawing/2014/main" id="{0B76D5C2-3AFF-4FE4-8E53-A304E050F085}"/>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1" name="Structure 5">
            <a:extLst xmlns:a="http://schemas.openxmlformats.org/drawingml/2006/main">
              <a:ext uri="{FF2B5EF4-FFF2-40B4-BE49-F238E27FC236}">
                <a16:creationId xmlns:a16="http://schemas.microsoft.com/office/drawing/2014/main" id="{F831D13C-148A-4550-B31D-69822AA5D8B4}"/>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3" name="v11-text-36-2">
            <a:extLst xmlns:a="http://schemas.openxmlformats.org/drawingml/2006/main">
              <a:ext uri="{FF2B5EF4-FFF2-40B4-BE49-F238E27FC236}">
                <a16:creationId xmlns:a16="http://schemas.microsoft.com/office/drawing/2014/main" id="{74FE52DD-ED3E-4D39-8D6B-25DD48DB715E}"/>
              </a:ext>
            </a:extLst>
          </p:cNvPr>
          <p:cNvSpPr>
            <a:spLocks xmlns:a="http://schemas.openxmlformats.org/drawingml/2006/main" noGrp="1"/>
          </p:cNvSpPr>
          <p:nvPr/>
        </p:nvSpPr>
        <p:spPr>
          <a:xfrm xmlns:a="http://schemas.openxmlformats.org/drawingml/2006/main">
            <a:off x="552450" y="5467350"/>
            <a:ext cx="9353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2:p xmlns:ns2="http://schemas.openxmlformats.org/drawingml/2006/main">
            <ns2:pPr marL="20" indent="-17" algn="l">
              <ns2:spcBef>
                <ns2:spcPts val="0"/>
              </ns2:spcBef>
              <ns2:spcAft>
                <ns2:spcPts val="0"/>
              </ns2:spcAft>
              <ns2:buChar char="•"/>
              <ns2:defRPr sz="1800" b="0">
                <ns2:solidFill>
                  <ns2:srgbClr val="3F3F3F"/>
                </ns2:solidFill>
                <ns2:latin typeface="Calibri"/>
                <ns2:ea typeface="Calibri"/>
                <ns2:cs typeface="Calibri"/>
              </ns2:defRPr>
            </ns2:pPr>
            <ns2:r>
              <ns2:rPr sz="1800" b="1">
                <ns2:latin typeface="Calibri"/>
                <ns2:ea typeface="Calibri"/>
                <ns2:cs typeface="Calibri"/>
              </ns2:rPr>
              <ns2:t>Messbasis:</ns2:t>
            </ns2:r>
            <ns2:r>
              <ns2:rPr sz="1800" b="0">
                <ns2:latin typeface="Calibri"/>
                <ns2:ea typeface="Calibri"/>
                <ns2:cs typeface="Calibri"/>
              </ns2:rPr>
              <ns2:t xml:space="preserve"> Manuelle Kernels ohne Compileroptimierung, INT8-Gewichte mit zusätzlicher FP32-Konvertierung</ns2:t>
            </ns2:r>
          </ns2:p>
        </p:txBody>
      </p:sp>
    </p:spTree>
    <p:extLst>
      <p:ext uri="{BB962C8B-B14F-4D97-AF65-F5344CB8AC3E}">
        <p14:creationId xmlns:p14="http://schemas.microsoft.com/office/powerpoint/2010/main" val="292774331"/>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lIns="0" tIns="0" rIns="0" bIns="0" anchor="t">
            <a:noAutofit/>
          </a:bodyPr>
          <a:lstStyle xmlns:a="http://schemas.openxmlformats.org/drawingml/2006/main"/>
          <a:p xmlns:a="http://schemas.openxmlformats.org/drawingml/2006/main">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Fazit: Antworten auf die Forschungsfragen</a:t>
            </a:r>
          </a: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43 / 44</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sp>
        <p:nvSpPr>
          <p:cNvPr id="19" name="Structure separator">
            <a:extLst xmlns:a="http://schemas.openxmlformats.org/drawingml/2006/main">
              <a:ext uri="{FF2B5EF4-FFF2-40B4-BE49-F238E27FC236}">
                <a16:creationId xmlns:a16="http://schemas.microsoft.com/office/drawing/2014/main" id="{3E8DD8F8-5986-4CBD-8E61-B460047912AC}"/>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20" name="Structure label">
            <a:extLst xmlns:a="http://schemas.openxmlformats.org/drawingml/2006/main">
              <a:ext uri="{FF2B5EF4-FFF2-40B4-BE49-F238E27FC236}">
                <a16:creationId xmlns:a16="http://schemas.microsoft.com/office/drawing/2014/main" id="{32606DE3-F8B1-4DC8-8E1E-BB6910A68043}"/>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xmlns:a="http://schemas.openxmlformats.org/drawingml/2006/main">
              <a:ext uri="{FF2B5EF4-FFF2-40B4-BE49-F238E27FC236}">
                <a16:creationId xmlns:a16="http://schemas.microsoft.com/office/drawing/2014/main" id="{CA5CFFFF-6E8C-4552-B224-32B31B32B451}"/>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xmlns:a="http://schemas.openxmlformats.org/drawingml/2006/main">
              <a:ext uri="{FF2B5EF4-FFF2-40B4-BE49-F238E27FC236}">
                <a16:creationId xmlns:a16="http://schemas.microsoft.com/office/drawing/2014/main" id="{6D2BE5D4-9464-4069-9C41-C0788D63A24D}"/>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xmlns:a="http://schemas.openxmlformats.org/drawingml/2006/main">
              <a:ext uri="{FF2B5EF4-FFF2-40B4-BE49-F238E27FC236}">
                <a16:creationId xmlns:a16="http://schemas.microsoft.com/office/drawing/2014/main" id="{CF6029C0-E42C-4F36-9870-944CF4DADA3B}"/>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xmlns:a="http://schemas.openxmlformats.org/drawingml/2006/main">
              <a:ext uri="{FF2B5EF4-FFF2-40B4-BE49-F238E27FC236}">
                <a16:creationId xmlns:a16="http://schemas.microsoft.com/office/drawing/2014/main" id="{06DFFC36-ED73-4039-86E5-C0D55FE2D747}"/>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xmlns:a="http://schemas.openxmlformats.org/drawingml/2006/main">
              <a:ext uri="{FF2B5EF4-FFF2-40B4-BE49-F238E27FC236}">
                <a16:creationId xmlns:a16="http://schemas.microsoft.com/office/drawing/2014/main" id="{2CF58A79-24A7-481F-A416-DB79D590E223}"/>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xmlns:a="http://schemas.openxmlformats.org/drawingml/2006/main">
              <a:ext uri="{FF2B5EF4-FFF2-40B4-BE49-F238E27FC236}">
                <a16:creationId xmlns:a16="http://schemas.microsoft.com/office/drawing/2014/main" id="{93BB3C47-F244-4716-B67E-0F1BE8DB686C}"/>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Fazit &amp; Ausblick</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4906a648abcb4e7a"/>
          <a:stretch xmlns:a="http://schemas.openxmlformats.org/drawingml/2006/main"/>
        </p:blipFill>
        <p:spPr>
          <a:xfrm xmlns:a="http://schemas.openxmlformats.org/drawingml/2006/main">
            <a:off x="552450" y="2333625"/>
            <a:ext cx="3857625" cy="2426755"/>
          </a:xfrm>
          <a:prstGeom xmlns:a="http://schemas.openxmlformats.org/drawingml/2006/main" prst="rect">
            <a:avLst/>
          </a:prstGeom>
        </p:spPr>
      </p:pic>
      <p:sp>
        <p:nvSpPr>
          <p:cNvPr id="45" name="CQ_topic_0">
            <a:extLst xmlns:a="http://schemas.openxmlformats.org/drawingml/2006/main">
              <a:ext uri="{FF2B5EF4-FFF2-40B4-BE49-F238E27FC236}">
                <a16:creationId xmlns:a16="http://schemas.microsoft.com/office/drawing/2014/main" id="{854204CF-9D67-40EB-A559-C4B5606749C0}"/>
              </a:ext>
            </a:extLst>
          </p:cNvPr>
          <p:cNvSpPr>
            <a:spLocks xmlns:a="http://schemas.openxmlformats.org/drawingml/2006/main" noGrp="1"/>
          </p:cNvSpPr>
          <p:nvPr/>
        </p:nvSpPr>
        <p:spPr>
          <a:xfrm xmlns:a="http://schemas.openxmlformats.org/drawingml/2006/main">
            <a:off x="4714875" y="14287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Feature Engineering</a:t>
            </a:r>
          </a:p>
        </p:txBody>
      </p:sp>
      <p:sp>
        <p:nvSpPr>
          <p:cNvPr id="46" name="CQ_answer_0">
            <a:extLst xmlns:a="http://schemas.openxmlformats.org/drawingml/2006/main">
              <a:ext uri="{FF2B5EF4-FFF2-40B4-BE49-F238E27FC236}">
                <a16:creationId xmlns:a16="http://schemas.microsoft.com/office/drawing/2014/main" id="{22FA9098-2EAE-4FFE-9732-C6134C1BD791}"/>
              </a:ext>
            </a:extLst>
          </p:cNvPr>
          <p:cNvSpPr>
            <a:spLocks xmlns:a="http://schemas.openxmlformats.org/drawingml/2006/main" noGrp="1"/>
          </p:cNvSpPr>
          <p:nvPr/>
        </p:nvSpPr>
        <p:spPr>
          <a:xfrm xmlns:a="http://schemas.openxmlformats.org/drawingml/2006/main">
            <a:off x="4714875" y="1743075"/>
            <a:ext cx="5238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Zeitabhängige SOH-Schätzung</a:t>
            </a:r>
          </a:p>
          <a:p xmlns:a="http://schemas.openxmlformats.org/drawingml/2006/main">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auch ohne rekurrente Architektur</a:t>
            </a:r>
          </a:p>
        </p:txBody>
      </p:sp>
      <p:sp>
        <p:nvSpPr>
          <p:cNvPr id="47" name="CQ_detail_0">
            <a:extLst xmlns:a="http://schemas.openxmlformats.org/drawingml/2006/main">
              <a:ext uri="{FF2B5EF4-FFF2-40B4-BE49-F238E27FC236}">
                <a16:creationId xmlns:a16="http://schemas.microsoft.com/office/drawing/2014/main" id="{F09F76E8-B8C2-492B-BB3A-8317C95B1EE3}"/>
              </a:ext>
            </a:extLst>
          </p:cNvPr>
          <p:cNvSpPr>
            <a:spLocks xmlns:a="http://schemas.openxmlformats.org/drawingml/2006/main" noGrp="1"/>
          </p:cNvSpPr>
          <p:nvPr/>
        </p:nvSpPr>
        <p:spPr>
          <a:xfrm xmlns:a="http://schemas.openxmlformats.org/drawingml/2006/main">
            <a:off x="4714875" y="2333625"/>
            <a:ext cx="5238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Belastungshistorie und Lag Sequences</a:t>
            </a:r>
          </a:p>
          <a:p xmlns:a="http://schemas.openxmlformats.org/drawingml/2006/main">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als explizite Zeitinformation für ein MLP</a:t>
            </a:r>
          </a:p>
        </p:txBody>
      </p:sp>
      <p:sp>
        <p:nvSpPr>
          <p:cNvPr id="48" name="CQ_topic_1">
            <a:extLst xmlns:a="http://schemas.openxmlformats.org/drawingml/2006/main">
              <a:ext uri="{FF2B5EF4-FFF2-40B4-BE49-F238E27FC236}">
                <a16:creationId xmlns:a16="http://schemas.microsoft.com/office/drawing/2014/main" id="{2302C89A-BEAB-4013-96F3-E79679AF21F8}"/>
              </a:ext>
            </a:extLst>
          </p:cNvPr>
          <p:cNvSpPr>
            <a:spLocks xmlns:a="http://schemas.openxmlformats.org/drawingml/2006/main" noGrp="1"/>
          </p:cNvSpPr>
          <p:nvPr/>
        </p:nvSpPr>
        <p:spPr>
          <a:xfrm xmlns:a="http://schemas.openxmlformats.org/drawingml/2006/main">
            <a:off x="4714875" y="294322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Zuverlässigkeit</a:t>
            </a:r>
          </a:p>
        </p:txBody>
      </p:sp>
      <p:sp>
        <p:nvSpPr>
          <p:cNvPr id="49" name="CQ_answer_1">
            <a:extLst xmlns:a="http://schemas.openxmlformats.org/drawingml/2006/main">
              <a:ext uri="{FF2B5EF4-FFF2-40B4-BE49-F238E27FC236}">
                <a16:creationId xmlns:a16="http://schemas.microsoft.com/office/drawing/2014/main" id="{ABBD3A2A-88A5-4EA2-9875-02196B46B190}"/>
              </a:ext>
            </a:extLst>
          </p:cNvPr>
          <p:cNvSpPr>
            <a:spLocks xmlns:a="http://schemas.openxmlformats.org/drawingml/2006/main" noGrp="1"/>
          </p:cNvSpPr>
          <p:nvPr/>
        </p:nvSpPr>
        <p:spPr>
          <a:xfrm xmlns:a="http://schemas.openxmlformats.org/drawingml/2006/main">
            <a:off x="4714875" y="3257550"/>
            <a:ext cx="5238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DD: höchste nominale Accuracy</a:t>
            </a:r>
          </a:p>
          <a:p xmlns:a="http://schemas.openxmlformats.org/drawingml/2006/main">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und breite Robustheit im Benchmark</a:t>
            </a:r>
          </a:p>
        </p:txBody>
      </p:sp>
      <p:sp>
        <p:nvSpPr>
          <p:cNvPr id="50" name="CQ_detail_1">
            <a:extLst xmlns:a="http://schemas.openxmlformats.org/drawingml/2006/main">
              <a:ext uri="{FF2B5EF4-FFF2-40B4-BE49-F238E27FC236}">
                <a16:creationId xmlns:a16="http://schemas.microsoft.com/office/drawing/2014/main" id="{F68E716D-B82E-40A2-B3CE-7A6515C2DB04}"/>
              </a:ext>
            </a:extLst>
          </p:cNvPr>
          <p:cNvSpPr>
            <a:spLocks xmlns:a="http://schemas.openxmlformats.org/drawingml/2006/main" noGrp="1"/>
          </p:cNvSpPr>
          <p:nvPr/>
        </p:nvSpPr>
        <p:spPr>
          <a:xfrm xmlns:a="http://schemas.openxmlformats.org/drawingml/2006/main">
            <a:off x="4714875" y="3848100"/>
            <a:ext cx="5238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Multivariater zeitlicher Kontext als Stärke;</a:t>
            </a:r>
          </a:p>
          <a:p xmlns:a="http://schemas.openxmlformats.org/drawingml/2006/main">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Störtests und State-Verwaltung entscheidend</a:t>
            </a:r>
          </a:p>
        </p:txBody>
      </p:sp>
      <p:sp>
        <p:nvSpPr>
          <p:cNvPr id="51" name="CQ_topic_2">
            <a:extLst xmlns:a="http://schemas.openxmlformats.org/drawingml/2006/main">
              <a:ext uri="{FF2B5EF4-FFF2-40B4-BE49-F238E27FC236}">
                <a16:creationId xmlns:a16="http://schemas.microsoft.com/office/drawing/2014/main" id="{D80858D4-566D-4BA5-BB66-D97A15F1D371}"/>
              </a:ext>
            </a:extLst>
          </p:cNvPr>
          <p:cNvSpPr>
            <a:spLocks xmlns:a="http://schemas.openxmlformats.org/drawingml/2006/main" noGrp="1"/>
          </p:cNvSpPr>
          <p:nvPr/>
        </p:nvSpPr>
        <p:spPr>
          <a:xfrm xmlns:a="http://schemas.openxmlformats.org/drawingml/2006/main">
            <a:off x="4714875" y="44577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Embedded AI</a:t>
            </a:r>
          </a:p>
        </p:txBody>
      </p:sp>
      <p:sp>
        <p:nvSpPr>
          <p:cNvPr id="52" name="CQ_answer_2">
            <a:extLst xmlns:a="http://schemas.openxmlformats.org/drawingml/2006/main">
              <a:ext uri="{FF2B5EF4-FFF2-40B4-BE49-F238E27FC236}">
                <a16:creationId xmlns:a16="http://schemas.microsoft.com/office/drawing/2014/main" id="{6CC2CF52-5FCA-4F0E-A131-78B4D336E3C8}"/>
              </a:ext>
            </a:extLst>
          </p:cNvPr>
          <p:cNvSpPr>
            <a:spLocks xmlns:a="http://schemas.openxmlformats.org/drawingml/2006/main" noGrp="1"/>
          </p:cNvSpPr>
          <p:nvPr/>
        </p:nvSpPr>
        <p:spPr>
          <a:xfrm xmlns:a="http://schemas.openxmlformats.org/drawingml/2006/main">
            <a:off x="4714875" y="4772025"/>
            <a:ext cx="5238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Neuronale SOC-/SOH-Schätzung</a:t>
            </a:r>
          </a:p>
          <a:p xmlns:a="http://schemas.openxmlformats.org/drawingml/2006/main">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auf dem Mikrocontroller realisierbar</a:t>
            </a:r>
          </a:p>
        </p:txBody>
      </p:sp>
      <p:sp>
        <p:nvSpPr>
          <p:cNvPr id="53" name="CQ_detail_2">
            <a:extLst xmlns:a="http://schemas.openxmlformats.org/drawingml/2006/main">
              <a:ext uri="{FF2B5EF4-FFF2-40B4-BE49-F238E27FC236}">
                <a16:creationId xmlns:a16="http://schemas.microsoft.com/office/drawing/2014/main" id="{73C6368A-5AF6-431D-A9C5-BF8387B9EEAF}"/>
              </a:ext>
            </a:extLst>
          </p:cNvPr>
          <p:cNvSpPr>
            <a:spLocks xmlns:a="http://schemas.openxmlformats.org/drawingml/2006/main" noGrp="1"/>
          </p:cNvSpPr>
          <p:nvPr/>
        </p:nvSpPr>
        <p:spPr>
          <a:xfrm xmlns:a="http://schemas.openxmlformats.org/drawingml/2006/main">
            <a:off x="4714875" y="5362575"/>
            <a:ext cx="5238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Ressourcengewinne durch Modellkompression;</a:t>
            </a:r>
          </a:p>
          <a:p xmlns:a="http://schemas.openxmlformats.org/drawingml/2006/main">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Trade-off zwischen Accuracy und Ressourcen</a:t>
            </a:r>
          </a:p>
        </p:txBody>
      </p:sp>
    </p:spTree>
    <p:extLst>
      <p:ext uri="{BB962C8B-B14F-4D97-AF65-F5344CB8AC3E}">
        <p14:creationId xmlns:p14="http://schemas.microsoft.com/office/powerpoint/2010/main" val="3254682436"/>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44 / 44</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sp>
        <p:nvSpPr>
          <p:cNvPr id="19" name="Structure separator">
            <a:extLst xmlns:a="http://schemas.openxmlformats.org/drawingml/2006/main">
              <a:ext uri="{FF2B5EF4-FFF2-40B4-BE49-F238E27FC236}">
                <a16:creationId xmlns:a16="http://schemas.microsoft.com/office/drawing/2014/main" id="{3E8DD8F8-5986-4CBD-8E61-B460047912AC}"/>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20" name="Structure label">
            <a:extLst xmlns:a="http://schemas.openxmlformats.org/drawingml/2006/main">
              <a:ext uri="{FF2B5EF4-FFF2-40B4-BE49-F238E27FC236}">
                <a16:creationId xmlns:a16="http://schemas.microsoft.com/office/drawing/2014/main" id="{32606DE3-F8B1-4DC8-8E1E-BB6910A68043}"/>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xmlns:a="http://schemas.openxmlformats.org/drawingml/2006/main">
              <a:ext uri="{FF2B5EF4-FFF2-40B4-BE49-F238E27FC236}">
                <a16:creationId xmlns:a16="http://schemas.microsoft.com/office/drawing/2014/main" id="{CA5CFFFF-6E8C-4552-B224-32B31B32B451}"/>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xmlns:a="http://schemas.openxmlformats.org/drawingml/2006/main">
              <a:ext uri="{FF2B5EF4-FFF2-40B4-BE49-F238E27FC236}">
                <a16:creationId xmlns:a16="http://schemas.microsoft.com/office/drawing/2014/main" id="{6D2BE5D4-9464-4069-9C41-C0788D63A24D}"/>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xmlns:a="http://schemas.openxmlformats.org/drawingml/2006/main">
              <a:ext uri="{FF2B5EF4-FFF2-40B4-BE49-F238E27FC236}">
                <a16:creationId xmlns:a16="http://schemas.microsoft.com/office/drawing/2014/main" id="{CF6029C0-E42C-4F36-9870-944CF4DADA3B}"/>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xmlns:a="http://schemas.openxmlformats.org/drawingml/2006/main">
              <a:ext uri="{FF2B5EF4-FFF2-40B4-BE49-F238E27FC236}">
                <a16:creationId xmlns:a16="http://schemas.microsoft.com/office/drawing/2014/main" id="{06DFFC36-ED73-4039-86E5-C0D55FE2D747}"/>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xmlns:a="http://schemas.openxmlformats.org/drawingml/2006/main">
              <a:ext uri="{FF2B5EF4-FFF2-40B4-BE49-F238E27FC236}">
                <a16:creationId xmlns:a16="http://schemas.microsoft.com/office/drawing/2014/main" id="{2CF58A79-24A7-481F-A416-DB79D590E223}"/>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xmlns:a="http://schemas.openxmlformats.org/drawingml/2006/main">
              <a:ext uri="{FF2B5EF4-FFF2-40B4-BE49-F238E27FC236}">
                <a16:creationId xmlns:a16="http://schemas.microsoft.com/office/drawing/2014/main" id="{93BB3C47-F244-4716-B67E-0F1BE8DB686C}"/>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Fazit &amp; Ausblick</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4906a648abcb4e7a"/>
          <a:stretch xmlns:a="http://schemas.openxmlformats.org/drawingml/2006/main"/>
        </p:blipFill>
        <p:spPr>
          <a:xfrm xmlns:a="http://schemas.openxmlformats.org/drawingml/2006/main">
            <a:off x="552450" y="2333625"/>
            <a:ext cx="3857625" cy="2426755"/>
          </a:xfrm>
          <a:prstGeom xmlns:a="http://schemas.openxmlformats.org/drawingml/2006/main" prst="rect">
            <a:avLst/>
          </a:prstGeom>
        </p:spPr>
      </p:pic>
      <p:sp>
        <p:nvSpPr>
          <p:cNvPr id="45" name="TY_closing_title">
            <a:extLst xmlns:a="http://schemas.openxmlformats.org/drawingml/2006/main">
              <a:ext uri="{FF2B5EF4-FFF2-40B4-BE49-F238E27FC236}">
                <a16:creationId xmlns:a16="http://schemas.microsoft.com/office/drawing/2014/main" id="{2F8C0EB5-14AB-4457-BD8C-B5A72721E1B5}"/>
              </a:ext>
            </a:extLst>
          </p:cNvPr>
          <p:cNvSpPr>
            <a:spLocks xmlns:a="http://schemas.openxmlformats.org/drawingml/2006/main" noGrp="1"/>
          </p:cNvSpPr>
          <p:nvPr/>
        </p:nvSpPr>
        <p:spPr>
          <a:xfrm xmlns:a="http://schemas.openxmlformats.org/drawingml/2006/main">
            <a:off x="4714875" y="3152775"/>
            <a:ext cx="523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400" b="1">
                <a:solidFill>
                  <a:srgbClr val="D00020"/>
                </a:solidFill>
                <a:latin typeface="Calibri"/>
                <a:ea typeface="Calibri"/>
                <a:cs typeface="Calibri"/>
              </a:defRPr>
            </a:pPr>
            <a:r>
              <a:rPr sz="2400" b="1">
                <a:solidFill>
                  <a:srgbClr val="D00020"/>
                </a:solidFill>
                <a:latin typeface="Calibri"/>
                <a:ea typeface="Calibri"/>
                <a:cs typeface="Calibri"/>
              </a:rPr>
              <a:t>Vielen Dank</a:t>
            </a:r>
          </a:p>
          <a:p xmlns:a="http://schemas.openxmlformats.org/drawingml/2006/main">
            <a:pPr algn="l">
              <a:buNone/>
              <a:defRPr sz="2400" b="1">
                <a:solidFill>
                  <a:srgbClr val="D00020"/>
                </a:solidFill>
                <a:latin typeface="Calibri"/>
                <a:ea typeface="Calibri"/>
                <a:cs typeface="Calibri"/>
              </a:defRPr>
            </a:pPr>
            <a:r>
              <a:rPr sz="2400" b="1">
                <a:solidFill>
                  <a:srgbClr val="D00020"/>
                </a:solidFill>
                <a:latin typeface="Calibri"/>
                <a:ea typeface="Calibri"/>
                <a:cs typeface="Calibri"/>
              </a:rPr>
              <a:t>für Ihre Aufmerksamkeit!</a:t>
            </a:r>
          </a:p>
        </p:txBody>
      </p:sp>
    </p:spTree>
    <p:extLst>
      <p:ext uri="{BB962C8B-B14F-4D97-AF65-F5344CB8AC3E}">
        <p14:creationId xmlns:p14="http://schemas.microsoft.com/office/powerpoint/2010/main" val="3254682436"/>
      </p:ext>
    </p:extLst>
  </p:cSld>
  <p:transition spd="fast" advClick="1">
    <p:fade/>
  </p:transition>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wrap="none" lIns="0" tIns="0" rIns="0" bIns="0" anchor="t">
            <a:noAutofit/>
          </a:bodyPr>
          <a:lstStyle xmlns:a="http://schemas.openxmlformats.org/drawingml/2006/main"/>
          <ns0:p xmlns:ns0="http://schemas.openxmlformats.org/drawingml/2006/main">
            <ns0:pPr algn="l">
              <ns0:lnSpc>
                <ns0:spcPct val="106000"/>
              </ns0:lnSpc>
              <ns0:buNone/>
              <ns0:defRPr sz="2400" b="0">
                <ns0:solidFill>
                  <ns0:srgbClr val="CC001C"/>
                </ns0:solidFill>
                <ns0:latin typeface="Calibri"/>
                <ns0:ea typeface="Calibri"/>
                <ns0:cs typeface="Calibri"/>
              </ns0:defRPr>
            </ns0:pPr>
            <ns0:r>
              <ns0:rPr sz="2400" b="0">
                <ns0:solidFill>
                  <ns0:srgbClr val="CC001C"/>
                </ns0:solidFill>
                <ns0:latin typeface="Calibri"/>
                <ns0:ea typeface="Calibri"/>
                <ns0:cs typeface="Calibri"/>
              </ns0:rPr>
              <ns0:t>Anhang: Korrelation der SOH-Eingangsmerkmale</ns0:t>
            </ns0:r>
            <ns0:endParaRPr/>
          </ns0: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Anhang 1</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pic>
        <p:nvPicPr>
          <p:cNvPr id="36" name="V5_Figure_11"/>
          <p:cNvPicPr>
            <a:picLocks xmlns:a="http://schemas.openxmlformats.org/drawingml/2006/main" noChangeAspect="1"/>
          </p:cNvPicPr>
          <p:nvPr/>
        </p:nvPicPr>
        <p:blipFill>
          <a:blip xmlns:r="http://schemas.openxmlformats.org/officeDocument/2006/relationships" xmlns:a="http://schemas.openxmlformats.org/drawingml/2006/main" r:embed="R86cef44b204b4c54"/>
          <a:stretch xmlns:a="http://schemas.openxmlformats.org/drawingml/2006/main"/>
        </p:blipFill>
        <p:spPr>
          <a:xfrm xmlns:a="http://schemas.openxmlformats.org/drawingml/2006/main">
            <a:off x="908471" y="1562100"/>
            <a:ext cx="4764833" cy="3648075"/>
          </a:xfrm>
          <a:prstGeom xmlns:a="http://schemas.openxmlformats.org/drawingml/2006/main" prst="rect">
            <a:avLst/>
          </a:prstGeom>
        </p:spPr>
      </p:pic>
      <p:sp>
        <p:nvSpPr>
          <p:cNvPr id="12" name="V5_Text_12">
            <a:extLst xmlns:a="http://schemas.openxmlformats.org/drawingml/2006/main">
              <a:ext uri="{FF2B5EF4-FFF2-40B4-BE49-F238E27FC236}">
                <a16:creationId xmlns:a16="http://schemas.microsoft.com/office/drawing/2014/main" id="{3C15EE52-60E3-43E9-A0E5-0BA4629013B2}"/>
              </a:ext>
            </a:extLst>
          </p:cNvPr>
          <p:cNvSpPr>
            <a:spLocks xmlns:a="http://schemas.openxmlformats.org/drawingml/2006/main" noGrp="1"/>
          </p:cNvSpPr>
          <p:nvPr/>
        </p:nvSpPr>
        <p:spPr>
          <a:xfrm xmlns:a="http://schemas.openxmlformats.org/drawingml/2006/main">
            <a:off x="6496050" y="1514475"/>
            <a:ext cx="34575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ns1:p xmlns:ns1="http://schemas.openxmlformats.org/drawingml/2006/main">
            <ns1:pPr marL="20" indent="-17" algn="l">
              <ns1:spcBef>
                <ns1:spcPts val="0"/>
              </ns1:spcBef>
              <ns1:spcAft>
                <ns1:spcPts val="0"/>
              </ns1:spcAft>
              <ns1:buChar char="•"/>
              <ns1:defRPr sz="1800" b="0">
                <ns1:solidFill>
                  <ns1:srgbClr val="3F3F3F"/>
                </ns1:solidFill>
                <ns1:latin typeface="Calibri"/>
                <ns1:ea typeface="Calibri"/>
                <ns1:cs typeface="Calibri"/>
              </ns1:defRPr>
            </ns1:pPr>
            <ns1:r>
              <ns1:rPr sz="1800" b="1">
                <ns1:latin typeface="Calibri"/>
                <ns1:ea typeface="Calibri"/>
                <ns1:cs typeface="Calibri"/>
              </ns1:rPr>
              <ns1:t>Merkmale:</ns1:t>
            </ns1:r>
            <ns1:r>
              <ns1:rPr sz="1800" b="0">
                <ns1:latin typeface="Calibri"/>
                <ns1:ea typeface="Calibri"/>
                <ns1:cs typeface="Calibri"/>
              </ns1:rPr>
              <ns1:t xml:space="preserve"> Pearson-Korrelation von SOH mit U, T und getrenntem Lade- und Entladedurchsatz</ns1:t>
            </ns1:r>
          </ns1:p>
        </p:txBody>
      </p:sp>
      <p:sp>
        <p:nvSpPr>
          <p:cNvPr id="2" name="V6_Text_2">
            <a:extLst xmlns:a="http://schemas.openxmlformats.org/drawingml/2006/main">
              <a:ext uri="{FF2B5EF4-FFF2-40B4-BE49-F238E27FC236}">
                <a16:creationId xmlns:a16="http://schemas.microsoft.com/office/drawing/2014/main" id="{6E2AE00D-6BEA-482D-9E85-303D904E3E43}"/>
              </a:ext>
            </a:extLst>
          </p:cNvPr>
          <p:cNvSpPr>
            <a:spLocks xmlns:a="http://schemas.openxmlformats.org/drawingml/2006/main" noGrp="1"/>
          </p:cNvSpPr>
          <p:nvPr/>
        </p:nvSpPr>
        <p:spPr>
          <a:xfrm xmlns:a="http://schemas.openxmlformats.org/drawingml/2006/main">
            <a:off x="6496050" y="3000375"/>
            <a:ext cx="3457575"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ns2:p xmlns:ns2="http://schemas.openxmlformats.org/drawingml/2006/main">
            <ns2:pPr marL="20" indent="-17" algn="l">
              <ns2:spcBef>
                <ns2:spcPts val="0"/>
              </ns2:spcBef>
              <ns2:spcAft>
                <ns2:spcPts val="0"/>
              </ns2:spcAft>
              <ns2:buChar char="•"/>
              <ns2:defRPr sz="1800" b="0">
                <ns2:solidFill>
                  <ns2:srgbClr val="3F3F3F"/>
                </ns2:solidFill>
                <ns2:latin typeface="Calibri"/>
                <ns2:ea typeface="Calibri"/>
                <ns2:cs typeface="Calibri"/>
              </ns2:defRPr>
            </ns2:pPr>
            <ns2:r>
              <ns2:rPr sz="1800" b="1">
                <ns2:latin typeface="Calibri"/>
                <ns2:ea typeface="Calibri"/>
                <ns2:cs typeface="Calibri"/>
              </ns2:rPr>
              <ns2:t>Befund:</ns2:t>
            </ns2:r>
            <ns2:r>
              <ns2:rPr sz="1800" b="0">
                <ns2:latin typeface="Calibri"/>
                <ns2:ea typeface="Calibri"/>
                <ns2:cs typeface="Calibri"/>
              </ns2:rPr>
              <ns2:t xml:space="preserve"> Temperatur und kumulative Ströme zeigen deutlichere lineare Beziehungen zu SOH als Spannung</ns2:t>
            </ns2:r>
          </ns2:p>
        </p:txBody>
      </p:sp>
      <p:pic>
        <p:nvPicPr>
          <p:cNvPr id="39" name="V6_TU_Logo"/>
          <p:cNvPicPr>
            <a:picLocks xmlns:a="http://schemas.openxmlformats.org/drawingml/2006/main" noChangeAspect="1"/>
          </p:cNvPicPr>
          <p:nvPr/>
        </p:nvPicPr>
        <p:blipFill>
          <a:blip xmlns:r="http://schemas.openxmlformats.org/officeDocument/2006/relationships" xmlns:a="http://schemas.openxmlformats.org/drawingml/2006/main" r:embed="Rcb9d8ae2730a4766"/>
          <a:stretch xmlns:a="http://schemas.openxmlformats.org/drawingml/2006/main">
            <a:fillRect l="0" t="0" r="0" b="0"/>
          </a:stretch>
        </p:blipFill>
        <p:spPr>
          <a:xfrm xmlns:a="http://schemas.openxmlformats.org/drawingml/2006/main">
            <a:off x="10614660" y="378460"/>
            <a:ext cx="1003300" cy="767080"/>
          </a:xfrm>
          <a:prstGeom xmlns:a="http://schemas.openxmlformats.org/drawingml/2006/main" prst="rect">
            <a:avLst/>
          </a:prstGeom>
        </p:spPr>
      </p:pic>
      <p:sp>
        <p:nvSpPr>
          <p:cNvPr id="19" name="Structure separator">
            <a:extLst xmlns:a="http://schemas.openxmlformats.org/drawingml/2006/main">
              <a:ext uri="{FF2B5EF4-FFF2-40B4-BE49-F238E27FC236}">
                <a16:creationId xmlns:a16="http://schemas.microsoft.com/office/drawing/2014/main" id="{065BED09-2CE4-40B6-B102-FF86D5FAF6C0}"/>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20" name="Structure label">
            <a:extLst xmlns:a="http://schemas.openxmlformats.org/drawingml/2006/main">
              <a:ext uri="{FF2B5EF4-FFF2-40B4-BE49-F238E27FC236}">
                <a16:creationId xmlns:a16="http://schemas.microsoft.com/office/drawing/2014/main" id="{DC948B53-DA5C-4EDD-8D85-C3ED52BAC843}"/>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xmlns:a="http://schemas.openxmlformats.org/drawingml/2006/main">
              <a:ext uri="{FF2B5EF4-FFF2-40B4-BE49-F238E27FC236}">
                <a16:creationId xmlns:a16="http://schemas.microsoft.com/office/drawing/2014/main" id="{F4C48789-329B-431B-AA48-3ECF7B0E6C39}"/>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xmlns:a="http://schemas.openxmlformats.org/drawingml/2006/main">
              <a:ext uri="{FF2B5EF4-FFF2-40B4-BE49-F238E27FC236}">
                <a16:creationId xmlns:a16="http://schemas.microsoft.com/office/drawing/2014/main" id="{88898300-12F9-4BFE-8103-A0504C2A32DA}"/>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xmlns:a="http://schemas.openxmlformats.org/drawingml/2006/main">
              <a:ext uri="{FF2B5EF4-FFF2-40B4-BE49-F238E27FC236}">
                <a16:creationId xmlns:a16="http://schemas.microsoft.com/office/drawing/2014/main" id="{A034181D-8828-4514-8B87-37DF6586AD58}"/>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24" name="Structure 3">
            <a:extLst xmlns:a="http://schemas.openxmlformats.org/drawingml/2006/main">
              <a:ext uri="{FF2B5EF4-FFF2-40B4-BE49-F238E27FC236}">
                <a16:creationId xmlns:a16="http://schemas.microsoft.com/office/drawing/2014/main" id="{E514FDA1-194C-4834-994F-3E257D70CC13}"/>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xmlns:a="http://schemas.openxmlformats.org/drawingml/2006/main">
              <a:ext uri="{FF2B5EF4-FFF2-40B4-BE49-F238E27FC236}">
                <a16:creationId xmlns:a16="http://schemas.microsoft.com/office/drawing/2014/main" id="{B1D23639-0E80-4CD3-87E9-947AC2F7242B}"/>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xmlns:a="http://schemas.openxmlformats.org/drawingml/2006/main">
              <a:ext uri="{FF2B5EF4-FFF2-40B4-BE49-F238E27FC236}">
                <a16:creationId xmlns:a16="http://schemas.microsoft.com/office/drawing/2014/main" id="{853BC500-52BC-47D3-84C8-D8622B45048B}"/>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9" name="v11-text-39-3">
            <a:extLst xmlns:a="http://schemas.openxmlformats.org/drawingml/2006/main">
              <a:ext uri="{FF2B5EF4-FFF2-40B4-BE49-F238E27FC236}">
                <a16:creationId xmlns:a16="http://schemas.microsoft.com/office/drawing/2014/main" id="{CBBFA3DC-79D0-42B4-B61D-FC9DC400CE25}"/>
              </a:ext>
            </a:extLst>
          </p:cNvPr>
          <p:cNvSpPr>
            <a:spLocks xmlns:a="http://schemas.openxmlformats.org/drawingml/2006/main" noGrp="1"/>
          </p:cNvSpPr>
          <p:nvPr/>
        </p:nvSpPr>
        <p:spPr>
          <a:xfrm xmlns:a="http://schemas.openxmlformats.org/drawingml/2006/main">
            <a:off x="6496050" y="4552950"/>
            <a:ext cx="34575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3:p xmlns:ns3="http://schemas.openxmlformats.org/drawingml/2006/main">
            <ns3:pPr marL="20" indent="-17" algn="l">
              <ns3:spcBef>
                <ns3:spcPts val="0"/>
              </ns3:spcBef>
              <ns3:spcAft>
                <ns3:spcPts val="0"/>
              </ns3:spcAft>
              <ns3:buChar char="•"/>
              <ns3:defRPr sz="1800" b="0">
                <ns3:solidFill>
                  <ns3:srgbClr val="3F3F3F"/>
                </ns3:solidFill>
                <ns3:latin typeface="Calibri"/>
                <ns3:ea typeface="Calibri"/>
                <ns3:cs typeface="Calibri"/>
              </ns3:defRPr>
            </ns3:pPr>
            <ns3:r>
              <ns3:rPr sz="1800" b="1">
                <ns3:latin typeface="Calibri"/>
                <ns3:ea typeface="Calibri"/>
                <ns3:cs typeface="Calibri"/>
              </ns3:rPr>
              <ns3:t>Grenze:</ns3:t>
            </ns3:r>
            <ns3:r>
              <ns3:rPr sz="1800" b="0">
                <ns3:latin typeface="Calibri"/>
                <ns3:ea typeface="Calibri"/>
                <ns3:cs typeface="Calibri"/>
              </ns3:rPr>
              <ns3:t xml:space="preserve"> Pearson erfasst lineare Beziehungen und belegt keine kausalen Alterungsmechanismen</ns3:t>
            </ns3:r>
          </ns3:p>
        </p:txBody>
      </p:sp>
    </p:spTree>
    <p:extLst>
      <p:ext uri="{BB962C8B-B14F-4D97-AF65-F5344CB8AC3E}">
        <p14:creationId xmlns:p14="http://schemas.microsoft.com/office/powerpoint/2010/main" val="195099688"/>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wrap="none" lIns="0" tIns="0" rIns="0" bIns="0" anchor="t">
            <a:noAutofit/>
          </a:bodyPr>
          <a:lstStyle xmlns:a="http://schemas.openxmlformats.org/drawingml/2006/main"/>
          <ns0:p xmlns:ns0="http://schemas.openxmlformats.org/drawingml/2006/main">
            <ns0:pPr algn="l">
              <ns0:lnSpc>
                <ns0:spcPct val="106000"/>
              </ns0:lnSpc>
              <ns0:buNone/>
              <ns0:defRPr sz="2400" b="0">
                <ns0:solidFill>
                  <ns0:srgbClr val="CC001C"/>
                </ns0:solidFill>
                <ns0:latin typeface="Calibri"/>
                <ns0:ea typeface="Calibri"/>
                <ns0:cs typeface="Calibri"/>
              </ns0:defRPr>
            </ns0:pPr>
            <ns0:r>
              <ns0:rPr sz="2400" b="0">
                <ns0:solidFill>
                  <ns0:srgbClr val="CC001C"/>
                </ns0:solidFill>
                <ns0:latin typeface="Calibri"/>
                <ns0:ea typeface="Calibri"/>
                <ns0:cs typeface="Calibri"/>
              </ns0:rPr>
              <ns0:t>Anhang: Störungsszenarien im Robustheitsvergleich</ns0:t>
            </ns0:r>
          </ns0: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Anhang 2</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sp>
        <p:nvSpPr>
          <p:cNvPr id="12" name="V5_Text_12">
            <a:extLst xmlns:a="http://schemas.openxmlformats.org/drawingml/2006/main">
              <a:ext uri="{FF2B5EF4-FFF2-40B4-BE49-F238E27FC236}">
                <a16:creationId xmlns:a16="http://schemas.microsoft.com/office/drawing/2014/main" id="{503C1133-6DF6-4F42-9C4D-8814116395D8}"/>
              </a:ext>
            </a:extLst>
          </p:cNvPr>
          <p:cNvSpPr>
            <a:spLocks xmlns:a="http://schemas.openxmlformats.org/drawingml/2006/main" noGrp="1"/>
          </p:cNvSpPr>
          <p:nvPr/>
        </p:nvSpPr>
        <p:spPr>
          <a:xfrm xmlns:a="http://schemas.openxmlformats.org/drawingml/2006/main">
            <a:off x="552450" y="4895850"/>
            <a:ext cx="93535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ns1:p xmlns:ns1="http://schemas.openxmlformats.org/drawingml/2006/main">
            <ns1:pPr marL="20" indent="-17" algn="l">
              <ns1:spcBef>
                <ns1:spcPts val="0"/>
              </ns1:spcBef>
              <ns1:spcAft>
                <ns1:spcPts val="0"/>
              </ns1:spcAft>
              <ns1:buChar char="•"/>
              <ns1:defRPr sz="1800" b="0">
                <ns1:solidFill>
                  <ns1:srgbClr val="3F3F3F"/>
                </ns1:solidFill>
                <ns1:latin typeface="Calibri"/>
                <ns1:ea typeface="Calibri"/>
                <ns1:cs typeface="Calibri"/>
              </ns1:defRPr>
            </ns1:pPr>
            <ns1:r>
              <ns1:rPr sz="1800" b="1">
                <ns1:latin typeface="Calibri"/>
                <ns1:ea typeface="Calibri"/>
                <ns1:cs typeface="Calibri"/>
              </ns1:rPr>
              <ns1:t>Strom-Offset:</ns1:t>
            </ns1:r>
            <ns1:r>
              <ns1:rPr sz="1800" b="0">
                <ns1:latin typeface="Calibri"/>
                <ns1:ea typeface="Calibri"/>
                <ns1:cs typeface="Calibri"/>
              </ns1:rPr>
              <ns1:t xml:space="preserve"> Größter globaler MAE-Anstieg bei allen vier Verfahren, DD bleibt am wenigsten betroffen</ns1:t>
            </ns1:r>
          </ns1:p>
        </p:txBody>
      </p:sp>
      <p:pic>
        <p:nvPicPr>
          <p:cNvPr id="31" name="V5_Figure_11"/>
          <p:cNvPicPr>
            <a:picLocks xmlns:a="http://schemas.openxmlformats.org/drawingml/2006/main" noChangeAspect="1"/>
          </p:cNvPicPr>
          <p:nvPr/>
        </p:nvPicPr>
        <p:blipFill>
          <a:blip xmlns:r="http://schemas.openxmlformats.org/officeDocument/2006/relationships" xmlns:a="http://schemas.openxmlformats.org/drawingml/2006/main" r:embed="Rebcc14976c254a37"/>
          <a:stretch xmlns:a="http://schemas.openxmlformats.org/drawingml/2006/main"/>
        </p:blipFill>
        <p:spPr>
          <a:xfrm xmlns:a="http://schemas.openxmlformats.org/drawingml/2006/main">
            <a:off x="552450" y="1555533"/>
            <a:ext cx="9353550" cy="2965885"/>
          </a:xfrm>
          <a:prstGeom xmlns:a="http://schemas.openxmlformats.org/drawingml/2006/main" prst="rect">
            <a:avLst/>
          </a:prstGeom>
        </p:spPr>
      </p:pic>
      <p:sp>
        <p:nvSpPr>
          <p:cNvPr id="15" name="Structure separator">
            <a:extLst xmlns:a="http://schemas.openxmlformats.org/drawingml/2006/main">
              <a:ext uri="{FF2B5EF4-FFF2-40B4-BE49-F238E27FC236}">
                <a16:creationId xmlns:a16="http://schemas.microsoft.com/office/drawing/2014/main" id="{034BFC71-1F01-467E-8C90-B80B5A337110}"/>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16" name="Structure label">
            <a:extLst xmlns:a="http://schemas.openxmlformats.org/drawingml/2006/main">
              <a:ext uri="{FF2B5EF4-FFF2-40B4-BE49-F238E27FC236}">
                <a16:creationId xmlns:a16="http://schemas.microsoft.com/office/drawing/2014/main" id="{18F4D3BC-B452-4C79-B353-C4C683B65964}"/>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xmlns:a="http://schemas.openxmlformats.org/drawingml/2006/main">
              <a:ext uri="{FF2B5EF4-FFF2-40B4-BE49-F238E27FC236}">
                <a16:creationId xmlns:a16="http://schemas.microsoft.com/office/drawing/2014/main" id="{555B7D7F-0326-43C8-A303-2CE1303DC9FD}"/>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xmlns:a="http://schemas.openxmlformats.org/drawingml/2006/main">
              <a:ext uri="{FF2B5EF4-FFF2-40B4-BE49-F238E27FC236}">
                <a16:creationId xmlns:a16="http://schemas.microsoft.com/office/drawing/2014/main" id="{AC332418-C591-42C8-88AE-F8F0A105C4FC}"/>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xmlns:a="http://schemas.openxmlformats.org/drawingml/2006/main">
              <a:ext uri="{FF2B5EF4-FFF2-40B4-BE49-F238E27FC236}">
                <a16:creationId xmlns:a16="http://schemas.microsoft.com/office/drawing/2014/main" id="{BB2EADC8-0EDF-496B-9B6B-72169A108B1F}"/>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xmlns:a="http://schemas.openxmlformats.org/drawingml/2006/main">
              <a:ext uri="{FF2B5EF4-FFF2-40B4-BE49-F238E27FC236}">
                <a16:creationId xmlns:a16="http://schemas.microsoft.com/office/drawing/2014/main" id="{5D6561FC-9AB7-4631-B88B-C588BF1320EE}"/>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xmlns:a="http://schemas.openxmlformats.org/drawingml/2006/main">
              <a:ext uri="{FF2B5EF4-FFF2-40B4-BE49-F238E27FC236}">
                <a16:creationId xmlns:a16="http://schemas.microsoft.com/office/drawing/2014/main" id="{C8AB9551-A44B-4E24-8496-1530BB29E0B7}"/>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xmlns:a="http://schemas.openxmlformats.org/drawingml/2006/main">
              <a:ext uri="{FF2B5EF4-FFF2-40B4-BE49-F238E27FC236}">
                <a16:creationId xmlns:a16="http://schemas.microsoft.com/office/drawing/2014/main" id="{0AB4746D-78A2-4424-B851-159FCC49587F}"/>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4" name="v11-text-40-2">
            <a:extLst xmlns:a="http://schemas.openxmlformats.org/drawingml/2006/main">
              <a:ext uri="{FF2B5EF4-FFF2-40B4-BE49-F238E27FC236}">
                <a16:creationId xmlns:a16="http://schemas.microsoft.com/office/drawing/2014/main" id="{3A0360FD-A7EF-4E6F-9DDD-9236408A9F63}"/>
              </a:ext>
            </a:extLst>
          </p:cNvPr>
          <p:cNvSpPr>
            <a:spLocks xmlns:a="http://schemas.openxmlformats.org/drawingml/2006/main" noGrp="1"/>
          </p:cNvSpPr>
          <p:nvPr/>
        </p:nvSpPr>
        <p:spPr>
          <a:xfrm xmlns:a="http://schemas.openxmlformats.org/drawingml/2006/main">
            <a:off x="552450" y="5486400"/>
            <a:ext cx="9353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2:p xmlns:ns2="http://schemas.openxmlformats.org/drawingml/2006/main">
            <ns2:pPr marL="20" indent="-17" algn="l">
              <ns2:spcBef>
                <ns2:spcPts val="0"/>
              </ns2:spcBef>
              <ns2:spcAft>
                <ns2:spcPts val="0"/>
              </ns2:spcAft>
              <ns2:buChar char="•"/>
              <ns2:defRPr sz="1800" b="0">
                <ns2:solidFill>
                  <ns2:srgbClr val="3F3F3F"/>
                </ns2:solidFill>
                <ns2:latin typeface="Calibri"/>
                <ns2:ea typeface="Calibri"/>
                <ns2:cs typeface="Calibri"/>
              </ns2:defRPr>
            </ns2:pPr>
            <ns2:r>
              <ns2:rPr sz="1800" b="1">
                <ns2:latin typeface="Calibri"/>
                <ns2:ea typeface="Calibri"/>
                <ns2:cs typeface="Calibri"/>
              </ns2:rPr>
              <ns2:t>ΔMAE:</ns2:t>
            </ns2:r>
            <ns2:r>
              <ns2:rPr sz="1800" b="0">
                <ns2:latin typeface="Calibri"/>
                <ns2:ea typeface="Calibri"/>
                <ns2:cs typeface="Calibri"/>
              </ns2:rPr>
              <ns2:t xml:space="preserve"> Änderung gegenüber der Baseline. Negative Werte können aus Fehlerkompensation im Testfenster entstehen</ns2:t>
            </ns2:r>
          </ns2:p>
        </p:txBody>
      </p:sp>
    </p:spTree>
    <p:extLst>
      <p:ext uri="{BB962C8B-B14F-4D97-AF65-F5344CB8AC3E}">
        <p14:creationId xmlns:p14="http://schemas.microsoft.com/office/powerpoint/2010/main" val="1283791891"/>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wrap="none" lIns="0" tIns="0" rIns="0" bIns="0" anchor="t">
            <a:noAutofit/>
          </a:bodyPr>
          <a:lstStyle xmlns:a="http://schemas.openxmlformats.org/drawingml/2006/main"/>
          <ns0:p xmlns:ns0="http://schemas.openxmlformats.org/drawingml/2006/main">
            <ns0:pPr algn="l">
              <ns0:lnSpc>
                <ns0:spcPct val="106000"/>
              </ns0:lnSpc>
              <ns0:buNone/>
              <ns0:defRPr sz="2400" b="0">
                <ns0:solidFill>
                  <ns0:srgbClr val="CC001C"/>
                </ns0:solidFill>
                <ns0:latin typeface="Calibri"/>
                <ns0:ea typeface="Calibri"/>
                <ns0:cs typeface="Calibri"/>
              </ns0:defRPr>
            </ns0:pPr>
            <ns0:r>
              <ns0:rPr sz="2400" b="0">
                <ns0:solidFill>
                  <ns0:srgbClr val="CC001C"/>
                </ns0:solidFill>
                <ns0:latin typeface="Calibri"/>
                <ns0:ea typeface="Calibri"/>
                <ns0:cs typeface="Calibri"/>
              </ns0:rPr>
              <ns0:t>Anhang: Stromrauschen und lokale SOC-Schwankungen</ns0:t>
            </ns0:r>
          </ns0: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Anhang 3</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sp>
        <p:nvSpPr>
          <p:cNvPr id="12" name="V5_Text_12">
            <a:extLst xmlns:a="http://schemas.openxmlformats.org/drawingml/2006/main">
              <a:ext uri="{FF2B5EF4-FFF2-40B4-BE49-F238E27FC236}">
                <a16:creationId xmlns:a16="http://schemas.microsoft.com/office/drawing/2014/main" id="{503C1133-6DF6-4F42-9C4D-8814116395D8}"/>
              </a:ext>
            </a:extLst>
          </p:cNvPr>
          <p:cNvSpPr>
            <a:spLocks xmlns:a="http://schemas.openxmlformats.org/drawingml/2006/main" noGrp="1"/>
          </p:cNvSpPr>
          <p:nvPr/>
        </p:nvSpPr>
        <p:spPr>
          <a:xfrm xmlns:a="http://schemas.openxmlformats.org/drawingml/2006/main">
            <a:off x="6715125" y="1552575"/>
            <a:ext cx="32385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ns1:p xmlns:ns1="http://schemas.openxmlformats.org/drawingml/2006/main">
            <ns1:pPr marL="20" indent="-17" algn="l">
              <ns1:spcBef>
                <ns1:spcPts val="0"/>
              </ns1:spcBef>
              <ns1:spcAft>
                <ns1:spcPts val="0"/>
              </ns1:spcAft>
              <ns1:buChar char="•"/>
              <ns1:defRPr sz="1800" b="0">
                <ns1:solidFill>
                  <ns1:srgbClr val="3F3F3F"/>
                </ns1:solidFill>
                <ns1:latin typeface="Calibri"/>
                <ns1:ea typeface="Calibri"/>
                <ns1:cs typeface="Calibri"/>
              </ns1:defRPr>
            </ns1:pPr>
            <ns1:r>
              <ns1:rPr sz="1800" b="1">
                <ns1:latin typeface="Calibri"/>
                <ns1:ea typeface="Calibri"/>
                <ns1:cs typeface="Calibri"/>
              </ns1:rPr>
              <ns1:t>Integration:</ns1:t>
            </ns1:r>
            <ns1:r>
              <ns1:rPr sz="1800" b="0">
                <ns1:latin typeface="Calibri"/>
                <ns1:ea typeface="Calibri"/>
                <ns1:cs typeface="Calibri"/>
              </ns1:rPr>
              <ns1:t xml:space="preserve"> Rauschanteile heben sich teilweise auf. Streuung der Summe wächst mit √N</ns1:t>
            </ns1:r>
          </ns1:p>
        </p:txBody>
      </p:sp>
      <p:sp>
        <p:nvSpPr>
          <p:cNvPr id="15" name="Structure separator">
            <a:extLst xmlns:a="http://schemas.openxmlformats.org/drawingml/2006/main">
              <a:ext uri="{FF2B5EF4-FFF2-40B4-BE49-F238E27FC236}">
                <a16:creationId xmlns:a16="http://schemas.microsoft.com/office/drawing/2014/main" id="{C5FB202D-EFA5-43A7-ACE9-520C8D550FBE}"/>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16" name="Structure label">
            <a:extLst xmlns:a="http://schemas.openxmlformats.org/drawingml/2006/main">
              <a:ext uri="{FF2B5EF4-FFF2-40B4-BE49-F238E27FC236}">
                <a16:creationId xmlns:a16="http://schemas.microsoft.com/office/drawing/2014/main" id="{2FA50135-848F-4865-9341-46B9FA99E1A7}"/>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xmlns:a="http://schemas.openxmlformats.org/drawingml/2006/main">
              <a:ext uri="{FF2B5EF4-FFF2-40B4-BE49-F238E27FC236}">
                <a16:creationId xmlns:a16="http://schemas.microsoft.com/office/drawing/2014/main" id="{9EA13D9D-14B2-4A34-B17B-2F500283BD88}"/>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xmlns:a="http://schemas.openxmlformats.org/drawingml/2006/main">
              <a:ext uri="{FF2B5EF4-FFF2-40B4-BE49-F238E27FC236}">
                <a16:creationId xmlns:a16="http://schemas.microsoft.com/office/drawing/2014/main" id="{7437F1D1-2487-45AA-B48D-5E403CFD405E}"/>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xmlns:a="http://schemas.openxmlformats.org/drawingml/2006/main">
              <a:ext uri="{FF2B5EF4-FFF2-40B4-BE49-F238E27FC236}">
                <a16:creationId xmlns:a16="http://schemas.microsoft.com/office/drawing/2014/main" id="{8D40D91A-4170-4CCF-8E8B-601857E74505}"/>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xmlns:a="http://schemas.openxmlformats.org/drawingml/2006/main">
              <a:ext uri="{FF2B5EF4-FFF2-40B4-BE49-F238E27FC236}">
                <a16:creationId xmlns:a16="http://schemas.microsoft.com/office/drawing/2014/main" id="{FF622501-4996-4FCC-B13D-F84E6B83DA31}"/>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xmlns:a="http://schemas.openxmlformats.org/drawingml/2006/main">
              <a:ext uri="{FF2B5EF4-FFF2-40B4-BE49-F238E27FC236}">
                <a16:creationId xmlns:a16="http://schemas.microsoft.com/office/drawing/2014/main" id="{F55A4940-01B1-4249-9A15-3537AB6A1A04}"/>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xmlns:a="http://schemas.openxmlformats.org/drawingml/2006/main">
              <a:ext uri="{FF2B5EF4-FFF2-40B4-BE49-F238E27FC236}">
                <a16:creationId xmlns:a16="http://schemas.microsoft.com/office/drawing/2014/main" id="{5CEE2A39-58DD-4115-807A-B04893318D13}"/>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efd79ace82d4415c"/>
          <a:stretch xmlns:a="http://schemas.openxmlformats.org/drawingml/2006/main"/>
        </p:blipFill>
        <p:spPr>
          <a:xfrm xmlns:a="http://schemas.openxmlformats.org/drawingml/2006/main">
            <a:off x="775308" y="1419225"/>
            <a:ext cx="5326434" cy="4400550"/>
          </a:xfrm>
          <a:prstGeom xmlns:a="http://schemas.openxmlformats.org/drawingml/2006/main" prst="rect">
            <a:avLst/>
          </a:prstGeom>
        </p:spPr>
      </p:pic>
      <p:sp>
        <p:nvSpPr>
          <p:cNvPr id="24" name="v11-text-41-2">
            <a:extLst xmlns:a="http://schemas.openxmlformats.org/drawingml/2006/main">
              <a:ext uri="{FF2B5EF4-FFF2-40B4-BE49-F238E27FC236}">
                <a16:creationId xmlns:a16="http://schemas.microsoft.com/office/drawing/2014/main" id="{AAFED736-47C7-4D64-8458-8789F9A42B78}"/>
              </a:ext>
            </a:extLst>
          </p:cNvPr>
          <p:cNvSpPr>
            <a:spLocks xmlns:a="http://schemas.openxmlformats.org/drawingml/2006/main" noGrp="1"/>
          </p:cNvSpPr>
          <p:nvPr/>
        </p:nvSpPr>
        <p:spPr>
          <a:xfrm xmlns:a="http://schemas.openxmlformats.org/drawingml/2006/main">
            <a:off x="6715125" y="2838450"/>
            <a:ext cx="32385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2:p xmlns:ns2="http://schemas.openxmlformats.org/drawingml/2006/main">
            <ns2:pPr marL="20" indent="-17" algn="l">
              <ns2:spcBef>
                <ns2:spcPts val="0"/>
              </ns2:spcBef>
              <ns2:spcAft>
                <ns2:spcPts val="0"/>
              </ns2:spcAft>
              <ns2:buChar char="•"/>
              <ns2:defRPr sz="1800" b="0">
                <ns2:solidFill>
                  <ns2:srgbClr val="3F3F3F"/>
                </ns2:solidFill>
                <ns2:latin typeface="Calibri"/>
                <ns2:ea typeface="Calibri"/>
                <ns2:cs typeface="Calibri"/>
              </ns2:defRPr>
            </ns2:pPr>
            <ns2:r>
              <ns2:rPr sz="1800" b="1">
                <ns2:latin typeface="Calibri"/>
                <ns2:ea typeface="Calibri"/>
                <ns2:cs typeface="Calibri"/>
              </ns2:rPr>
              <ns2:t>DD:</ns2:t>
            </ns2:r>
            <ns2:r>
              <ns2:rPr sz="1800" b="0">
                <ns2:latin typeface="Calibri"/>
                <ns2:ea typeface="Calibri"/>
                <ns2:cs typeface="Calibri"/>
              </ns2:rPr>
              <ns2:t xml:space="preserve"> Sichtbare lokale Schwankungen bei nahezu unverändertem globalem MAE</ns2:t>
            </ns2:r>
          </ns2:p>
        </p:txBody>
      </p:sp>
      <p:sp>
        <p:nvSpPr>
          <p:cNvPr id="25" name="v11-math-41-3">
            <a:extLst xmlns:a="http://schemas.openxmlformats.org/drawingml/2006/main">
              <a:ext uri="{FF2B5EF4-FFF2-40B4-BE49-F238E27FC236}">
                <a16:creationId xmlns:a16="http://schemas.microsoft.com/office/drawing/2014/main" id="{1CDF9187-CA1D-4610-AF7F-2760FDA738BB}"/>
              </a:ext>
            </a:extLst>
          </p:cNvPr>
          <p:cNvSpPr>
            <a:spLocks xmlns:a="http://schemas.openxmlformats.org/drawingml/2006/main" noGrp="1"/>
          </p:cNvSpPr>
          <p:nvPr/>
        </p:nvSpPr>
        <p:spPr>
          <a:xfrm xmlns:a="http://schemas.openxmlformats.org/drawingml/2006/main">
            <a:off x="7248525" y="4324350"/>
            <a:ext cx="20859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14:m xmlns:a14="http://schemas.microsoft.com/office/drawing/2010/main">
              <m:oMathPara xmlns:m="http://schemas.openxmlformats.org/officeDocument/2006/math">
                <m:oMathParaPr>
                  <m:jc m:val="centerGroup"/>
                </m:oMathParaPr>
                <m:oMath>
                  <m:r>
                    <a:rPr xmlns:a="http://schemas.openxmlformats.org/drawingml/2006/main" sz="1875">
                      <a:latin typeface="Cambria Math"/>
                      <a:ea typeface="Cambria Math"/>
                      <a:cs typeface="Cambria Math"/>
                    </a:rPr>
                    <m:t>S</m:t>
                  </m:r>
                  <m:r>
                    <a:rPr xmlns:a="http://schemas.openxmlformats.org/drawingml/2006/main" sz="1875">
                      <a:latin typeface="Cambria Math"/>
                      <a:ea typeface="Cambria Math"/>
                      <a:cs typeface="Cambria Math"/>
                    </a:rPr>
                    <m:t>t</m:t>
                  </m:r>
                  <m:r>
                    <a:rPr xmlns:a="http://schemas.openxmlformats.org/drawingml/2006/main" sz="1875">
                      <a:latin typeface="Cambria Math"/>
                      <a:ea typeface="Cambria Math"/>
                      <a:cs typeface="Cambria Math"/>
                    </a:rPr>
                    <m:t>d</m:t>
                  </m:r>
                  <m:r>
                    <a:rPr xmlns:a="http://schemas.openxmlformats.org/drawingml/2006/main" sz="1875">
                      <a:latin typeface="Cambria Math"/>
                      <a:ea typeface="Cambria Math"/>
                      <a:cs typeface="Cambria Math"/>
                    </a:rPr>
                    <m:t>(</m:t>
                  </m:r>
                  <m:sSubSup>
                    <m:e>
                      <m:r>
                        <a:rPr xmlns:a="http://schemas.openxmlformats.org/drawingml/2006/main" sz="1875">
                          <a:latin typeface="Cambria Math"/>
                          <a:ea typeface="Cambria Math"/>
                          <a:cs typeface="Cambria Math"/>
                        </a:rPr>
                        <m:t>∑</m:t>
                      </m:r>
                    </m:e>
                    <m:sub>
                      <m:r>
                        <a:rPr xmlns:a="http://schemas.openxmlformats.org/drawingml/2006/main" sz="1313">
                          <a:latin typeface="Cambria Math"/>
                          <a:ea typeface="Cambria Math"/>
                          <a:cs typeface="Cambria Math"/>
                        </a:rPr>
                        <m:t>k</m:t>
                      </m:r>
                      <m:r>
                        <a:rPr xmlns:a="http://schemas.openxmlformats.org/drawingml/2006/main" sz="1313">
                          <a:latin typeface="Cambria Math"/>
                          <a:ea typeface="Cambria Math"/>
                          <a:cs typeface="Cambria Math"/>
                        </a:rPr>
                        <m:t>=</m:t>
                      </m:r>
                      <m:r>
                        <a:rPr xmlns:a="http://schemas.openxmlformats.org/drawingml/2006/main" sz="1313">
                          <a:latin typeface="Cambria Math"/>
                          <a:ea typeface="Cambria Math"/>
                          <a:cs typeface="Cambria Math"/>
                        </a:rPr>
                        <m:t>1</m:t>
                      </m:r>
                    </m:sub>
                    <m:sup>
                      <m:r>
                        <a:rPr xmlns:a="http://schemas.openxmlformats.org/drawingml/2006/main" sz="1313">
                          <a:latin typeface="Cambria Math"/>
                          <a:ea typeface="Cambria Math"/>
                          <a:cs typeface="Cambria Math"/>
                        </a:rPr>
                        <m:t>N</m:t>
                      </m:r>
                    </m:sup>
                  </m:sSubSup>
                  <m:sSub>
                    <m:e>
                      <m:r>
                        <a:rPr xmlns:a="http://schemas.openxmlformats.org/drawingml/2006/main" sz="1875">
                          <a:latin typeface="Cambria Math"/>
                          <a:ea typeface="Cambria Math"/>
                          <a:cs typeface="Cambria Math"/>
                        </a:rPr>
                        <m:t>ε</m:t>
                      </m:r>
                    </m:e>
                    <m:sub>
                      <m:r>
                        <a:rPr xmlns:a="http://schemas.openxmlformats.org/drawingml/2006/main" sz="1313">
                          <a:latin typeface="Cambria Math"/>
                          <a:ea typeface="Cambria Math"/>
                          <a:cs typeface="Cambria Math"/>
                        </a:rPr>
                        <m:t>k</m:t>
                      </m:r>
                    </m:sub>
                  </m:sSub>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σ</m:t>
                  </m:r>
                  <m:rad>
                    <m:radPr>
                      <m:degHide m:val="on"/>
                    </m:radPr>
                    <m:deg>
                      <m:r>
                        <a:rPr xmlns:a="http://schemas.openxmlformats.org/drawingml/2006/main" sz="1875">
                          <a:latin typeface="Cambria Math"/>
                          <a:ea typeface="Cambria Math"/>
                          <a:cs typeface="Cambria Math"/>
                        </a:rPr>
                        <m:t/>
                      </m:r>
                    </m:deg>
                    <m:e>
                      <m:r>
                        <a:rPr xmlns:a="http://schemas.openxmlformats.org/drawingml/2006/main" sz="1875">
                          <a:latin typeface="Cambria Math"/>
                          <a:ea typeface="Cambria Math"/>
                          <a:cs typeface="Cambria Math"/>
                        </a:rPr>
                        <m:t>N</m:t>
                      </m:r>
                    </m:e>
                  </m:rad>
                </m:oMath>
              </m:oMathPara>
            </a14:m>
          </a:p>
        </p:txBody>
      </p:sp>
      <p:sp>
        <p:nvSpPr>
          <p:cNvPr id="26" name="v11-text-41-4">
            <a:extLst xmlns:a="http://schemas.openxmlformats.org/drawingml/2006/main">
              <a:ext uri="{FF2B5EF4-FFF2-40B4-BE49-F238E27FC236}">
                <a16:creationId xmlns:a16="http://schemas.microsoft.com/office/drawing/2014/main" id="{0C83AE00-DB28-4EC7-9BE1-EF2BA9880FE7}"/>
              </a:ext>
            </a:extLst>
          </p:cNvPr>
          <p:cNvSpPr>
            <a:spLocks xmlns:a="http://schemas.openxmlformats.org/drawingml/2006/main" noGrp="1"/>
          </p:cNvSpPr>
          <p:nvPr/>
        </p:nvSpPr>
        <p:spPr>
          <a:xfrm xmlns:a="http://schemas.openxmlformats.org/drawingml/2006/main">
            <a:off x="6715125" y="5000625"/>
            <a:ext cx="3238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3:p xmlns:ns3="http://schemas.openxmlformats.org/drawingml/2006/main">
            <ns3:pPr marL="0" indent="0" algn="l">
              <ns3:spcBef>
                <ns3:spcPts val="0"/>
              </ns3:spcBef>
              <ns3:spcAft>
                <ns3:spcPts val="0"/>
              </ns3:spcAft>
              <ns3:buNone/>
              <ns3:defRPr sz="1800" b="0">
                <ns3:solidFill>
                  <ns3:srgbClr val="3F3F3F"/>
                </ns3:solidFill>
                <ns3:latin typeface="Calibri"/>
                <ns3:ea typeface="Calibri"/>
                <ns3:cs typeface="Calibri"/>
              </ns3:defRPr>
            </ns3:pPr>
            <ns3:r>
              <ns3:rPr sz="1800" b="1">
                <ns3:latin typeface="Calibri"/>
                <ns3:ea typeface="Calibri"/>
                <ns3:cs typeface="Calibri"/>
              </ns3:rPr>
              <ns3:t>Annahme:</ns3:t>
            </ns3:r>
            <ns3:r>
              <ns3:rPr sz="1800" b="0">
                <ns3:latin typeface="Calibri"/>
                <ns3:ea typeface="Calibri"/>
                <ns3:cs typeface="Calibri"/>
              </ns3:rPr>
              <ns3:t xml:space="preserve"> Unabhängige, mittelwertfreie Fehler mit gleicher Standardabweichung σ</ns3:t>
            </ns3:r>
          </ns3:p>
        </p:txBody>
      </p:sp>
    </p:spTree>
    <p:extLst>
      <p:ext uri="{BB962C8B-B14F-4D97-AF65-F5344CB8AC3E}">
        <p14:creationId xmlns:p14="http://schemas.microsoft.com/office/powerpoint/2010/main" val="1283791891"/>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wrap="none" lIns="0" tIns="0" rIns="0" bIns="0" anchor="t">
            <a:noAutofit/>
          </a:bodyPr>
          <a:lstStyle xmlns:a="http://schemas.openxmlformats.org/drawingml/2006/main"/>
          <ns0:p xmlns:ns0="http://schemas.openxmlformats.org/drawingml/2006/main">
            <ns0:pPr algn="l">
              <ns0:lnSpc>
                <ns0:spcPct val="106000"/>
              </ns0:lnSpc>
              <ns0:buNone/>
              <ns0:defRPr sz="2400" b="0">
                <ns0:solidFill>
                  <ns0:srgbClr val="CC001C"/>
                </ns0:solidFill>
                <ns0:latin typeface="Calibri"/>
                <ns0:ea typeface="Calibri"/>
                <ns0:cs typeface="Calibri"/>
              </ns0:defRPr>
            </ns0:pPr>
            <ns0:r>
              <ns0:rPr sz="2400" b="0">
                <ns0:solidFill>
                  <ns0:srgbClr val="CC001C"/>
                </ns0:solidFill>
                <ns0:latin typeface="Calibri"/>
                <ns0:ea typeface="Calibri"/>
                <ns0:cs typeface="Calibri"/>
              </ns0:rPr>
              <ns0:t>Anhang: LSTM- und GRU-Gleichungen</ns0:t>
            </ns0:r>
          </ns0: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Anhang 4</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sp>
        <p:nvSpPr>
          <p:cNvPr id="14" name="Gate convention">
            <a:extLst xmlns:a="http://schemas.openxmlformats.org/drawingml/2006/main">
              <a:ext uri="{FF2B5EF4-FFF2-40B4-BE49-F238E27FC236}">
                <a16:creationId xmlns:a16="http://schemas.microsoft.com/office/drawing/2014/main" id="{F4EDA27D-8FC6-4A1E-B734-81C093FD847D}"/>
              </a:ext>
            </a:extLst>
          </p:cNvPr>
          <p:cNvSpPr>
            <a:spLocks xmlns:a="http://schemas.openxmlformats.org/drawingml/2006/main" noGrp="1"/>
          </p:cNvSpPr>
          <p:nvPr/>
        </p:nvSpPr>
        <p:spPr>
          <a:xfrm xmlns:a="http://schemas.openxmlformats.org/drawingml/2006/main">
            <a:off x="552450" y="1466850"/>
            <a:ext cx="9353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1:p xmlns:ns1="http://schemas.openxmlformats.org/drawingml/2006/main">
            <ns1:pPr marL="0" indent="0" algn="l">
              <ns1:spcBef>
                <ns1:spcPts val="0"/>
              </ns1:spcBef>
              <ns1:spcAft>
                <ns1:spcPts val="0"/>
              </ns1:spcAft>
              <ns1:buNone/>
              <ns1:defRPr sz="1800" b="0">
                <ns1:solidFill>
                  <ns1:srgbClr val="3F3F3F"/>
                </ns1:solidFill>
                <ns1:latin typeface="Calibri"/>
                <ns1:ea typeface="Calibri"/>
                <ns1:cs typeface="Calibri"/>
              </ns1:defRPr>
            </ns1:pPr>
            <ns1:r>
              <ns1:rPr sz="1800" b="1">
                <ns1:latin typeface="Calibri"/>
                <ns1:ea typeface="Calibri"/>
                <ns1:cs typeface="Calibri"/>
              </ns1:rPr>
              <ns1:t>LSTM:</ns1:t>
            </ns1:r>
            <ns1:r>
              <ns1:rPr sz="1800" b="0">
                <ns1:latin typeface="Calibri"/>
                <ns1:ea typeface="Calibri"/>
                <ns1:cs typeface="Calibri"/>
              </ns1:rPr>
              <ns1:t xml:space="preserve"> Gates f/i/o, Kandidat c̃ und Zustände c/h. σ bezeichnet Sigmoid</ns1:t>
            </ns1:r>
          </ns1:p>
        </p:txBody>
      </p:sp>
      <p:sp>
        <p:nvSpPr>
          <p:cNvPr id="16" name="Structure separator">
            <a:extLst xmlns:a="http://schemas.openxmlformats.org/drawingml/2006/main">
              <a:ext uri="{FF2B5EF4-FFF2-40B4-BE49-F238E27FC236}">
                <a16:creationId xmlns:a16="http://schemas.microsoft.com/office/drawing/2014/main" id="{BD37389F-A514-466A-A114-BA138D081099}"/>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17" name="Structure label">
            <a:extLst xmlns:a="http://schemas.openxmlformats.org/drawingml/2006/main">
              <a:ext uri="{FF2B5EF4-FFF2-40B4-BE49-F238E27FC236}">
                <a16:creationId xmlns:a16="http://schemas.microsoft.com/office/drawing/2014/main" id="{81F39B22-347C-4B69-A9D4-D80333EDE665}"/>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8" name="Structure 0">
            <a:extLst xmlns:a="http://schemas.openxmlformats.org/drawingml/2006/main">
              <a:ext uri="{FF2B5EF4-FFF2-40B4-BE49-F238E27FC236}">
                <a16:creationId xmlns:a16="http://schemas.microsoft.com/office/drawing/2014/main" id="{D9376E42-D4C7-4BD0-AF90-7AD10E302D26}"/>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9" name="Structure 1">
            <a:extLst xmlns:a="http://schemas.openxmlformats.org/drawingml/2006/main">
              <a:ext uri="{FF2B5EF4-FFF2-40B4-BE49-F238E27FC236}">
                <a16:creationId xmlns:a16="http://schemas.microsoft.com/office/drawing/2014/main" id="{7FED6755-0253-4EB9-9146-3CAE4794813C}"/>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0" name="Structure 2">
            <a:extLst xmlns:a="http://schemas.openxmlformats.org/drawingml/2006/main">
              <a:ext uri="{FF2B5EF4-FFF2-40B4-BE49-F238E27FC236}">
                <a16:creationId xmlns:a16="http://schemas.microsoft.com/office/drawing/2014/main" id="{5097EF74-76D4-402C-9B17-849BD86F0402}"/>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1" name="Structure 3">
            <a:extLst xmlns:a="http://schemas.openxmlformats.org/drawingml/2006/main">
              <a:ext uri="{FF2B5EF4-FFF2-40B4-BE49-F238E27FC236}">
                <a16:creationId xmlns:a16="http://schemas.microsoft.com/office/drawing/2014/main" id="{3E990E89-E7F0-4013-8296-3F7A37BDB041}"/>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2" name="Structure 4">
            <a:extLst xmlns:a="http://schemas.openxmlformats.org/drawingml/2006/main">
              <a:ext uri="{FF2B5EF4-FFF2-40B4-BE49-F238E27FC236}">
                <a16:creationId xmlns:a16="http://schemas.microsoft.com/office/drawing/2014/main" id="{DF032045-F196-4621-B53C-13C81BF819DC}"/>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3" name="Structure 5">
            <a:extLst xmlns:a="http://schemas.openxmlformats.org/drawingml/2006/main">
              <a:ext uri="{FF2B5EF4-FFF2-40B4-BE49-F238E27FC236}">
                <a16:creationId xmlns:a16="http://schemas.microsoft.com/office/drawing/2014/main" id="{569B8752-6D0A-4484-9983-CBCEEF00CEE8}"/>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4" name="v11-math-42-1">
            <a:extLst xmlns:a="http://schemas.openxmlformats.org/drawingml/2006/main">
              <a:ext uri="{FF2B5EF4-FFF2-40B4-BE49-F238E27FC236}">
                <a16:creationId xmlns:a16="http://schemas.microsoft.com/office/drawing/2014/main" id="{47748C11-2302-4E4F-86AF-17F14AE29401}"/>
              </a:ext>
            </a:extLst>
          </p:cNvPr>
          <p:cNvSpPr>
            <a:spLocks xmlns:a="http://schemas.openxmlformats.org/drawingml/2006/main" noGrp="1"/>
          </p:cNvSpPr>
          <p:nvPr/>
        </p:nvSpPr>
        <p:spPr>
          <a:xfrm xmlns:a="http://schemas.openxmlformats.org/drawingml/2006/main">
            <a:off x="2676525" y="1995488"/>
            <a:ext cx="5105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pPr>
            <a14:m xmlns:a14="http://schemas.microsoft.com/office/drawing/2010/main">
              <m:oMathPara xmlns:m="http://schemas.openxmlformats.org/officeDocument/2006/math">
                <m:oMathParaPr>
                  <m:jc m:val="centerGroup"/>
                </m:oMathParaPr>
                <m:oMath>
                  <m:sSub>
                    <m:e>
                      <m:r>
                        <a:rPr xmlns:a="http://schemas.openxmlformats.org/drawingml/2006/main" sz="1875">
                          <a:latin typeface="Cambria Math"/>
                          <a:ea typeface="Cambria Math"/>
                          <a:cs typeface="Cambria Math"/>
                        </a:rPr>
                        <m:t>f</m:t>
                      </m:r>
                    </m:e>
                    <m:sub>
                      <m:r>
                        <a:rPr xmlns:a="http://schemas.openxmlformats.org/drawingml/2006/main" sz="1313">
                          <a:latin typeface="Cambria Math"/>
                          <a:ea typeface="Cambria Math"/>
                          <a:cs typeface="Cambria Math"/>
                        </a:rPr>
                        <m:t>t</m:t>
                      </m:r>
                    </m:sub>
                  </m:sSub>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σ</m:t>
                  </m:r>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W</m:t>
                      </m:r>
                    </m:e>
                    <m:sub>
                      <m:r>
                        <a:rPr xmlns:a="http://schemas.openxmlformats.org/drawingml/2006/main" sz="1313">
                          <a:latin typeface="Cambria Math"/>
                          <a:ea typeface="Cambria Math"/>
                          <a:cs typeface="Cambria Math"/>
                        </a:rPr>
                        <m:t>f</m:t>
                      </m:r>
                    </m:sub>
                  </m:sSub>
                  <m:sSub>
                    <m:e>
                      <m:r>
                        <a:rPr xmlns:a="http://schemas.openxmlformats.org/drawingml/2006/main" sz="1875">
                          <a:latin typeface="Cambria Math"/>
                          <a:ea typeface="Cambria Math"/>
                          <a:cs typeface="Cambria Math"/>
                        </a:rPr>
                        <m:t>x</m:t>
                      </m:r>
                    </m:e>
                    <m:sub>
                      <m:r>
                        <a:rPr xmlns:a="http://schemas.openxmlformats.org/drawingml/2006/main" sz="1313">
                          <a:latin typeface="Cambria Math"/>
                          <a:ea typeface="Cambria Math"/>
                          <a:cs typeface="Cambria Math"/>
                        </a:rPr>
                        <m:t>t</m:t>
                      </m:r>
                    </m:sub>
                  </m:sSub>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U</m:t>
                      </m:r>
                    </m:e>
                    <m:sub>
                      <m:r>
                        <a:rPr xmlns:a="http://schemas.openxmlformats.org/drawingml/2006/main" sz="1313">
                          <a:latin typeface="Cambria Math"/>
                          <a:ea typeface="Cambria Math"/>
                          <a:cs typeface="Cambria Math"/>
                        </a:rPr>
                        <m:t>f</m:t>
                      </m:r>
                    </m:sub>
                  </m:sSub>
                  <m:sSub>
                    <m:e>
                      <m:r>
                        <a:rPr xmlns:a="http://schemas.openxmlformats.org/drawingml/2006/main" sz="1875">
                          <a:latin typeface="Cambria Math"/>
                          <a:ea typeface="Cambria Math"/>
                          <a:cs typeface="Cambria Math"/>
                        </a:rPr>
                        <m:t>h</m:t>
                      </m:r>
                    </m:e>
                    <m:sub>
                      <m:r>
                        <a:rPr xmlns:a="http://schemas.openxmlformats.org/drawingml/2006/main" sz="1313">
                          <a:latin typeface="Cambria Math"/>
                          <a:ea typeface="Cambria Math"/>
                          <a:cs typeface="Cambria Math"/>
                        </a:rPr>
                        <m:t>t</m:t>
                      </m:r>
                      <m:r>
                        <a:rPr xmlns:a="http://schemas.openxmlformats.org/drawingml/2006/main" sz="1313">
                          <a:latin typeface="Cambria Math"/>
                          <a:ea typeface="Cambria Math"/>
                          <a:cs typeface="Cambria Math"/>
                        </a:rPr>
                        <m:t>−</m:t>
                      </m:r>
                      <m:r>
                        <a:rPr xmlns:a="http://schemas.openxmlformats.org/drawingml/2006/main" sz="1313">
                          <a:latin typeface="Cambria Math"/>
                          <a:ea typeface="Cambria Math"/>
                          <a:cs typeface="Cambria Math"/>
                        </a:rPr>
                        <m:t>1</m:t>
                      </m:r>
                    </m:sub>
                  </m:sSub>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b</m:t>
                      </m:r>
                    </m:e>
                    <m:sub>
                      <m:r>
                        <a:rPr xmlns:a="http://schemas.openxmlformats.org/drawingml/2006/main" sz="1313">
                          <a:latin typeface="Cambria Math"/>
                          <a:ea typeface="Cambria Math"/>
                          <a:cs typeface="Cambria Math"/>
                        </a:rPr>
                        <m:t>f</m:t>
                      </m:r>
                    </m:sub>
                  </m:sSub>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i</m:t>
                      </m:r>
                    </m:e>
                    <m:sub>
                      <m:r>
                        <a:rPr xmlns:a="http://schemas.openxmlformats.org/drawingml/2006/main" sz="1313">
                          <a:latin typeface="Cambria Math"/>
                          <a:ea typeface="Cambria Math"/>
                          <a:cs typeface="Cambria Math"/>
                        </a:rPr>
                        <m:t>t</m:t>
                      </m:r>
                    </m:sub>
                  </m:sSub>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σ</m:t>
                  </m:r>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W</m:t>
                      </m:r>
                    </m:e>
                    <m:sub>
                      <m:r>
                        <a:rPr xmlns:a="http://schemas.openxmlformats.org/drawingml/2006/main" sz="1313">
                          <a:latin typeface="Cambria Math"/>
                          <a:ea typeface="Cambria Math"/>
                          <a:cs typeface="Cambria Math"/>
                        </a:rPr>
                        <m:t>i</m:t>
                      </m:r>
                    </m:sub>
                  </m:sSub>
                  <m:sSub>
                    <m:e>
                      <m:r>
                        <a:rPr xmlns:a="http://schemas.openxmlformats.org/drawingml/2006/main" sz="1875">
                          <a:latin typeface="Cambria Math"/>
                          <a:ea typeface="Cambria Math"/>
                          <a:cs typeface="Cambria Math"/>
                        </a:rPr>
                        <m:t>x</m:t>
                      </m:r>
                    </m:e>
                    <m:sub>
                      <m:r>
                        <a:rPr xmlns:a="http://schemas.openxmlformats.org/drawingml/2006/main" sz="1313">
                          <a:latin typeface="Cambria Math"/>
                          <a:ea typeface="Cambria Math"/>
                          <a:cs typeface="Cambria Math"/>
                        </a:rPr>
                        <m:t>t</m:t>
                      </m:r>
                    </m:sub>
                  </m:sSub>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U</m:t>
                      </m:r>
                    </m:e>
                    <m:sub>
                      <m:r>
                        <a:rPr xmlns:a="http://schemas.openxmlformats.org/drawingml/2006/main" sz="1313">
                          <a:latin typeface="Cambria Math"/>
                          <a:ea typeface="Cambria Math"/>
                          <a:cs typeface="Cambria Math"/>
                        </a:rPr>
                        <m:t>i</m:t>
                      </m:r>
                    </m:sub>
                  </m:sSub>
                  <m:sSub>
                    <m:e>
                      <m:r>
                        <a:rPr xmlns:a="http://schemas.openxmlformats.org/drawingml/2006/main" sz="1875">
                          <a:latin typeface="Cambria Math"/>
                          <a:ea typeface="Cambria Math"/>
                          <a:cs typeface="Cambria Math"/>
                        </a:rPr>
                        <m:t>h</m:t>
                      </m:r>
                    </m:e>
                    <m:sub>
                      <m:r>
                        <a:rPr xmlns:a="http://schemas.openxmlformats.org/drawingml/2006/main" sz="1313">
                          <a:latin typeface="Cambria Math"/>
                          <a:ea typeface="Cambria Math"/>
                          <a:cs typeface="Cambria Math"/>
                        </a:rPr>
                        <m:t>t</m:t>
                      </m:r>
                      <m:r>
                        <a:rPr xmlns:a="http://schemas.openxmlformats.org/drawingml/2006/main" sz="1313">
                          <a:latin typeface="Cambria Math"/>
                          <a:ea typeface="Cambria Math"/>
                          <a:cs typeface="Cambria Math"/>
                        </a:rPr>
                        <m:t>−</m:t>
                      </m:r>
                      <m:r>
                        <a:rPr xmlns:a="http://schemas.openxmlformats.org/drawingml/2006/main" sz="1313">
                          <a:latin typeface="Cambria Math"/>
                          <a:ea typeface="Cambria Math"/>
                          <a:cs typeface="Cambria Math"/>
                        </a:rPr>
                        <m:t>1</m:t>
                      </m:r>
                    </m:sub>
                  </m:sSub>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b</m:t>
                      </m:r>
                    </m:e>
                    <m:sub>
                      <m:r>
                        <a:rPr xmlns:a="http://schemas.openxmlformats.org/drawingml/2006/main" sz="1313">
                          <a:latin typeface="Cambria Math"/>
                          <a:ea typeface="Cambria Math"/>
                          <a:cs typeface="Cambria Math"/>
                        </a:rPr>
                        <m:t>i</m:t>
                      </m:r>
                    </m:sub>
                  </m:sSub>
                  <m:r>
                    <a:rPr xmlns:a="http://schemas.openxmlformats.org/drawingml/2006/main" sz="1875">
                      <a:latin typeface="Cambria Math"/>
                      <a:ea typeface="Cambria Math"/>
                      <a:cs typeface="Cambria Math"/>
                    </a:rPr>
                    <m:t>)</m:t>
                  </m:r>
                </m:oMath>
              </m:oMathPara>
            </a14:m>
          </a:p>
        </p:txBody>
      </p:sp>
      <p:sp>
        <p:nvSpPr>
          <p:cNvPr id="25" name="v11-math-42-2">
            <a:extLst xmlns:a="http://schemas.openxmlformats.org/drawingml/2006/main">
              <a:ext uri="{FF2B5EF4-FFF2-40B4-BE49-F238E27FC236}">
                <a16:creationId xmlns:a16="http://schemas.microsoft.com/office/drawing/2014/main" id="{3D30FF30-917A-4F1F-87BE-7068DD46C197}"/>
              </a:ext>
            </a:extLst>
          </p:cNvPr>
          <p:cNvSpPr>
            <a:spLocks xmlns:a="http://schemas.openxmlformats.org/drawingml/2006/main" noGrp="1"/>
          </p:cNvSpPr>
          <p:nvPr/>
        </p:nvSpPr>
        <p:spPr>
          <a:xfrm xmlns:a="http://schemas.openxmlformats.org/drawingml/2006/main">
            <a:off x="2371725" y="2576513"/>
            <a:ext cx="5715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pPr>
            <a14:m xmlns:a14="http://schemas.microsoft.com/office/drawing/2010/main">
              <m:oMathPara xmlns:m="http://schemas.openxmlformats.org/officeDocument/2006/math">
                <m:oMathParaPr>
                  <m:jc m:val="centerGroup"/>
                </m:oMathParaPr>
                <m:oMath>
                  <m:sSub>
                    <m:e>
                      <m:acc>
                        <m:accPr>
                          <m:chr m:val="~"/>
                        </m:accPr>
                        <m:e>
                          <m:r>
                            <a:rPr xmlns:a="http://schemas.openxmlformats.org/drawingml/2006/main" sz="1875">
                              <a:latin typeface="Cambria Math"/>
                              <a:ea typeface="Cambria Math"/>
                              <a:cs typeface="Cambria Math"/>
                            </a:rPr>
                            <m:t>c</m:t>
                          </m:r>
                        </m:e>
                      </m:acc>
                    </m:e>
                    <m:sub>
                      <m:r>
                        <a:rPr xmlns:a="http://schemas.openxmlformats.org/drawingml/2006/main" sz="1313">
                          <a:latin typeface="Cambria Math"/>
                          <a:ea typeface="Cambria Math"/>
                          <a:cs typeface="Cambria Math"/>
                        </a:rPr>
                        <m:t>t</m:t>
                      </m:r>
                    </m:sub>
                  </m:sSub>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tanh</m:t>
                  </m:r>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W</m:t>
                      </m:r>
                    </m:e>
                    <m:sub>
                      <m:r>
                        <a:rPr xmlns:a="http://schemas.openxmlformats.org/drawingml/2006/main" sz="1313">
                          <a:latin typeface="Cambria Math"/>
                          <a:ea typeface="Cambria Math"/>
                          <a:cs typeface="Cambria Math"/>
                        </a:rPr>
                        <m:t>g</m:t>
                      </m:r>
                    </m:sub>
                  </m:sSub>
                  <m:sSub>
                    <m:e>
                      <m:r>
                        <a:rPr xmlns:a="http://schemas.openxmlformats.org/drawingml/2006/main" sz="1875">
                          <a:latin typeface="Cambria Math"/>
                          <a:ea typeface="Cambria Math"/>
                          <a:cs typeface="Cambria Math"/>
                        </a:rPr>
                        <m:t>x</m:t>
                      </m:r>
                    </m:e>
                    <m:sub>
                      <m:r>
                        <a:rPr xmlns:a="http://schemas.openxmlformats.org/drawingml/2006/main" sz="1313">
                          <a:latin typeface="Cambria Math"/>
                          <a:ea typeface="Cambria Math"/>
                          <a:cs typeface="Cambria Math"/>
                        </a:rPr>
                        <m:t>t</m:t>
                      </m:r>
                    </m:sub>
                  </m:sSub>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U</m:t>
                      </m:r>
                    </m:e>
                    <m:sub>
                      <m:r>
                        <a:rPr xmlns:a="http://schemas.openxmlformats.org/drawingml/2006/main" sz="1313">
                          <a:latin typeface="Cambria Math"/>
                          <a:ea typeface="Cambria Math"/>
                          <a:cs typeface="Cambria Math"/>
                        </a:rPr>
                        <m:t>g</m:t>
                      </m:r>
                    </m:sub>
                  </m:sSub>
                  <m:sSub>
                    <m:e>
                      <m:r>
                        <a:rPr xmlns:a="http://schemas.openxmlformats.org/drawingml/2006/main" sz="1875">
                          <a:latin typeface="Cambria Math"/>
                          <a:ea typeface="Cambria Math"/>
                          <a:cs typeface="Cambria Math"/>
                        </a:rPr>
                        <m:t>h</m:t>
                      </m:r>
                    </m:e>
                    <m:sub>
                      <m:r>
                        <a:rPr xmlns:a="http://schemas.openxmlformats.org/drawingml/2006/main" sz="1313">
                          <a:latin typeface="Cambria Math"/>
                          <a:ea typeface="Cambria Math"/>
                          <a:cs typeface="Cambria Math"/>
                        </a:rPr>
                        <m:t>t</m:t>
                      </m:r>
                      <m:r>
                        <a:rPr xmlns:a="http://schemas.openxmlformats.org/drawingml/2006/main" sz="1313">
                          <a:latin typeface="Cambria Math"/>
                          <a:ea typeface="Cambria Math"/>
                          <a:cs typeface="Cambria Math"/>
                        </a:rPr>
                        <m:t>−</m:t>
                      </m:r>
                      <m:r>
                        <a:rPr xmlns:a="http://schemas.openxmlformats.org/drawingml/2006/main" sz="1313">
                          <a:latin typeface="Cambria Math"/>
                          <a:ea typeface="Cambria Math"/>
                          <a:cs typeface="Cambria Math"/>
                        </a:rPr>
                        <m:t>1</m:t>
                      </m:r>
                    </m:sub>
                  </m:sSub>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b</m:t>
                      </m:r>
                    </m:e>
                    <m:sub>
                      <m:r>
                        <a:rPr xmlns:a="http://schemas.openxmlformats.org/drawingml/2006/main" sz="1313">
                          <a:latin typeface="Cambria Math"/>
                          <a:ea typeface="Cambria Math"/>
                          <a:cs typeface="Cambria Math"/>
                        </a:rPr>
                        <m:t>g</m:t>
                      </m:r>
                    </m:sub>
                  </m:sSub>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o</m:t>
                      </m:r>
                    </m:e>
                    <m:sub>
                      <m:r>
                        <a:rPr xmlns:a="http://schemas.openxmlformats.org/drawingml/2006/main" sz="1313">
                          <a:latin typeface="Cambria Math"/>
                          <a:ea typeface="Cambria Math"/>
                          <a:cs typeface="Cambria Math"/>
                        </a:rPr>
                        <m:t>t</m:t>
                      </m:r>
                    </m:sub>
                  </m:sSub>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σ</m:t>
                  </m:r>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W</m:t>
                      </m:r>
                    </m:e>
                    <m:sub>
                      <m:r>
                        <a:rPr xmlns:a="http://schemas.openxmlformats.org/drawingml/2006/main" sz="1313">
                          <a:latin typeface="Cambria Math"/>
                          <a:ea typeface="Cambria Math"/>
                          <a:cs typeface="Cambria Math"/>
                        </a:rPr>
                        <m:t>o</m:t>
                      </m:r>
                    </m:sub>
                  </m:sSub>
                  <m:sSub>
                    <m:e>
                      <m:r>
                        <a:rPr xmlns:a="http://schemas.openxmlformats.org/drawingml/2006/main" sz="1875">
                          <a:latin typeface="Cambria Math"/>
                          <a:ea typeface="Cambria Math"/>
                          <a:cs typeface="Cambria Math"/>
                        </a:rPr>
                        <m:t>x</m:t>
                      </m:r>
                    </m:e>
                    <m:sub>
                      <m:r>
                        <a:rPr xmlns:a="http://schemas.openxmlformats.org/drawingml/2006/main" sz="1313">
                          <a:latin typeface="Cambria Math"/>
                          <a:ea typeface="Cambria Math"/>
                          <a:cs typeface="Cambria Math"/>
                        </a:rPr>
                        <m:t>t</m:t>
                      </m:r>
                    </m:sub>
                  </m:sSub>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U</m:t>
                      </m:r>
                    </m:e>
                    <m:sub>
                      <m:r>
                        <a:rPr xmlns:a="http://schemas.openxmlformats.org/drawingml/2006/main" sz="1313">
                          <a:latin typeface="Cambria Math"/>
                          <a:ea typeface="Cambria Math"/>
                          <a:cs typeface="Cambria Math"/>
                        </a:rPr>
                        <m:t>o</m:t>
                      </m:r>
                    </m:sub>
                  </m:sSub>
                  <m:sSub>
                    <m:e>
                      <m:r>
                        <a:rPr xmlns:a="http://schemas.openxmlformats.org/drawingml/2006/main" sz="1875">
                          <a:latin typeface="Cambria Math"/>
                          <a:ea typeface="Cambria Math"/>
                          <a:cs typeface="Cambria Math"/>
                        </a:rPr>
                        <m:t>h</m:t>
                      </m:r>
                    </m:e>
                    <m:sub>
                      <m:r>
                        <a:rPr xmlns:a="http://schemas.openxmlformats.org/drawingml/2006/main" sz="1313">
                          <a:latin typeface="Cambria Math"/>
                          <a:ea typeface="Cambria Math"/>
                          <a:cs typeface="Cambria Math"/>
                        </a:rPr>
                        <m:t>t</m:t>
                      </m:r>
                      <m:r>
                        <a:rPr xmlns:a="http://schemas.openxmlformats.org/drawingml/2006/main" sz="1313">
                          <a:latin typeface="Cambria Math"/>
                          <a:ea typeface="Cambria Math"/>
                          <a:cs typeface="Cambria Math"/>
                        </a:rPr>
                        <m:t>−</m:t>
                      </m:r>
                      <m:r>
                        <a:rPr xmlns:a="http://schemas.openxmlformats.org/drawingml/2006/main" sz="1313">
                          <a:latin typeface="Cambria Math"/>
                          <a:ea typeface="Cambria Math"/>
                          <a:cs typeface="Cambria Math"/>
                        </a:rPr>
                        <m:t>1</m:t>
                      </m:r>
                    </m:sub>
                  </m:sSub>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b</m:t>
                      </m:r>
                    </m:e>
                    <m:sub>
                      <m:r>
                        <a:rPr xmlns:a="http://schemas.openxmlformats.org/drawingml/2006/main" sz="1313">
                          <a:latin typeface="Cambria Math"/>
                          <a:ea typeface="Cambria Math"/>
                          <a:cs typeface="Cambria Math"/>
                        </a:rPr>
                        <m:t>o</m:t>
                      </m:r>
                    </m:sub>
                  </m:sSub>
                  <m:r>
                    <a:rPr xmlns:a="http://schemas.openxmlformats.org/drawingml/2006/main" sz="1875">
                      <a:latin typeface="Cambria Math"/>
                      <a:ea typeface="Cambria Math"/>
                      <a:cs typeface="Cambria Math"/>
                    </a:rPr>
                    <m:t>)</m:t>
                  </m:r>
                </m:oMath>
              </m:oMathPara>
            </a14:m>
          </a:p>
        </p:txBody>
      </p:sp>
      <p:sp>
        <p:nvSpPr>
          <p:cNvPr id="26" name="v11-math-42-3">
            <a:extLst xmlns:a="http://schemas.openxmlformats.org/drawingml/2006/main">
              <a:ext uri="{FF2B5EF4-FFF2-40B4-BE49-F238E27FC236}">
                <a16:creationId xmlns:a16="http://schemas.microsoft.com/office/drawing/2014/main" id="{8CDE35FD-F24A-46B1-927D-EE95F0683CF5}"/>
              </a:ext>
            </a:extLst>
          </p:cNvPr>
          <p:cNvSpPr>
            <a:spLocks xmlns:a="http://schemas.openxmlformats.org/drawingml/2006/main" noGrp="1"/>
          </p:cNvSpPr>
          <p:nvPr/>
        </p:nvSpPr>
        <p:spPr>
          <a:xfrm xmlns:a="http://schemas.openxmlformats.org/drawingml/2006/main">
            <a:off x="3262313" y="3152775"/>
            <a:ext cx="3933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pPr>
            <a14:m xmlns:a14="http://schemas.microsoft.com/office/drawing/2010/main">
              <m:oMathPara xmlns:m="http://schemas.openxmlformats.org/officeDocument/2006/math">
                <m:oMathParaPr>
                  <m:jc m:val="centerGroup"/>
                </m:oMathParaPr>
                <m:oMath>
                  <m:sSub>
                    <m:e>
                      <m:r>
                        <a:rPr xmlns:a="http://schemas.openxmlformats.org/drawingml/2006/main" sz="1875">
                          <a:latin typeface="Cambria Math"/>
                          <a:ea typeface="Cambria Math"/>
                          <a:cs typeface="Cambria Math"/>
                        </a:rPr>
                        <m:t>c</m:t>
                      </m:r>
                    </m:e>
                    <m:sub>
                      <m:r>
                        <a:rPr xmlns:a="http://schemas.openxmlformats.org/drawingml/2006/main" sz="1313">
                          <a:latin typeface="Cambria Math"/>
                          <a:ea typeface="Cambria Math"/>
                          <a:cs typeface="Cambria Math"/>
                        </a:rPr>
                        <m:t>t</m:t>
                      </m:r>
                    </m:sub>
                  </m:sSub>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f</m:t>
                      </m:r>
                    </m:e>
                    <m:sub>
                      <m:r>
                        <a:rPr xmlns:a="http://schemas.openxmlformats.org/drawingml/2006/main" sz="1313">
                          <a:latin typeface="Cambria Math"/>
                          <a:ea typeface="Cambria Math"/>
                          <a:cs typeface="Cambria Math"/>
                        </a:rPr>
                        <m:t>t</m:t>
                      </m:r>
                    </m:sub>
                  </m:sSub>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c</m:t>
                      </m:r>
                    </m:e>
                    <m:sub>
                      <m:r>
                        <a:rPr xmlns:a="http://schemas.openxmlformats.org/drawingml/2006/main" sz="1313">
                          <a:latin typeface="Cambria Math"/>
                          <a:ea typeface="Cambria Math"/>
                          <a:cs typeface="Cambria Math"/>
                        </a:rPr>
                        <m:t>t</m:t>
                      </m:r>
                      <m:r>
                        <a:rPr xmlns:a="http://schemas.openxmlformats.org/drawingml/2006/main" sz="1313">
                          <a:latin typeface="Cambria Math"/>
                          <a:ea typeface="Cambria Math"/>
                          <a:cs typeface="Cambria Math"/>
                        </a:rPr>
                        <m:t>−</m:t>
                      </m:r>
                      <m:r>
                        <a:rPr xmlns:a="http://schemas.openxmlformats.org/drawingml/2006/main" sz="1313">
                          <a:latin typeface="Cambria Math"/>
                          <a:ea typeface="Cambria Math"/>
                          <a:cs typeface="Cambria Math"/>
                        </a:rPr>
                        <m:t>1</m:t>
                      </m:r>
                    </m:sub>
                  </m:sSub>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i</m:t>
                      </m:r>
                    </m:e>
                    <m:sub>
                      <m:r>
                        <a:rPr xmlns:a="http://schemas.openxmlformats.org/drawingml/2006/main" sz="1313">
                          <a:latin typeface="Cambria Math"/>
                          <a:ea typeface="Cambria Math"/>
                          <a:cs typeface="Cambria Math"/>
                        </a:rPr>
                        <m:t>t</m:t>
                      </m:r>
                    </m:sub>
                  </m:sSub>
                  <m:r>
                    <a:rPr xmlns:a="http://schemas.openxmlformats.org/drawingml/2006/main" sz="1875">
                      <a:latin typeface="Cambria Math"/>
                      <a:ea typeface="Cambria Math"/>
                      <a:cs typeface="Cambria Math"/>
                    </a:rPr>
                    <m:t>⊙</m:t>
                  </m:r>
                  <m:sSub>
                    <m:e>
                      <m:acc>
                        <m:accPr>
                          <m:chr m:val="~"/>
                        </m:accPr>
                        <m:e>
                          <m:r>
                            <a:rPr xmlns:a="http://schemas.openxmlformats.org/drawingml/2006/main" sz="1875">
                              <a:latin typeface="Cambria Math"/>
                              <a:ea typeface="Cambria Math"/>
                              <a:cs typeface="Cambria Math"/>
                            </a:rPr>
                            <m:t>c</m:t>
                          </m:r>
                        </m:e>
                      </m:acc>
                    </m:e>
                    <m:sub>
                      <m:r>
                        <a:rPr xmlns:a="http://schemas.openxmlformats.org/drawingml/2006/main" sz="1313">
                          <a:latin typeface="Cambria Math"/>
                          <a:ea typeface="Cambria Math"/>
                          <a:cs typeface="Cambria Math"/>
                        </a:rPr>
                        <m:t>t</m:t>
                      </m:r>
                    </m:sub>
                  </m:sSub>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h</m:t>
                      </m:r>
                    </m:e>
                    <m:sub>
                      <m:r>
                        <a:rPr xmlns:a="http://schemas.openxmlformats.org/drawingml/2006/main" sz="1313">
                          <a:latin typeface="Cambria Math"/>
                          <a:ea typeface="Cambria Math"/>
                          <a:cs typeface="Cambria Math"/>
                        </a:rPr>
                        <m:t>t</m:t>
                      </m:r>
                    </m:sub>
                  </m:sSub>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o</m:t>
                      </m:r>
                    </m:e>
                    <m:sub>
                      <m:r>
                        <a:rPr xmlns:a="http://schemas.openxmlformats.org/drawingml/2006/main" sz="1313">
                          <a:latin typeface="Cambria Math"/>
                          <a:ea typeface="Cambria Math"/>
                          <a:cs typeface="Cambria Math"/>
                        </a:rPr>
                        <m:t>t</m:t>
                      </m:r>
                    </m:sub>
                  </m:sSub>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tanh</m:t>
                  </m:r>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c</m:t>
                      </m:r>
                    </m:e>
                    <m:sub>
                      <m:r>
                        <a:rPr xmlns:a="http://schemas.openxmlformats.org/drawingml/2006/main" sz="1313">
                          <a:latin typeface="Cambria Math"/>
                          <a:ea typeface="Cambria Math"/>
                          <a:cs typeface="Cambria Math"/>
                        </a:rPr>
                        <m:t>t</m:t>
                      </m:r>
                    </m:sub>
                  </m:sSub>
                  <m:r>
                    <a:rPr xmlns:a="http://schemas.openxmlformats.org/drawingml/2006/main" sz="1875">
                      <a:latin typeface="Cambria Math"/>
                      <a:ea typeface="Cambria Math"/>
                      <a:cs typeface="Cambria Math"/>
                    </a:rPr>
                    <m:t>)</m:t>
                  </m:r>
                </m:oMath>
              </m:oMathPara>
            </a14:m>
          </a:p>
        </p:txBody>
      </p:sp>
      <p:sp>
        <p:nvSpPr>
          <p:cNvPr id="27" name="v11-text-42-4">
            <a:extLst xmlns:a="http://schemas.openxmlformats.org/drawingml/2006/main">
              <a:ext uri="{FF2B5EF4-FFF2-40B4-BE49-F238E27FC236}">
                <a16:creationId xmlns:a16="http://schemas.microsoft.com/office/drawing/2014/main" id="{7DC83DFE-71D0-4117-BD61-7CD7916DB315}"/>
              </a:ext>
            </a:extLst>
          </p:cNvPr>
          <p:cNvSpPr>
            <a:spLocks xmlns:a="http://schemas.openxmlformats.org/drawingml/2006/main" noGrp="1"/>
          </p:cNvSpPr>
          <p:nvPr/>
        </p:nvSpPr>
        <p:spPr>
          <a:xfrm xmlns:a="http://schemas.openxmlformats.org/drawingml/2006/main">
            <a:off x="552450" y="3762375"/>
            <a:ext cx="93535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2:p xmlns:ns2="http://schemas.openxmlformats.org/drawingml/2006/main">
            <ns2:pPr marL="0" indent="0" algn="l">
              <ns2:spcBef>
                <ns2:spcPts val="0"/>
              </ns2:spcBef>
              <ns2:spcAft>
                <ns2:spcPts val="0"/>
              </ns2:spcAft>
              <ns2:buNone/>
              <ns2:defRPr sz="1800" b="0">
                <ns2:solidFill>
                  <ns2:srgbClr val="3F3F3F"/>
                </ns2:solidFill>
                <ns2:latin typeface="Calibri"/>
                <ns2:ea typeface="Calibri"/>
                <ns2:cs typeface="Calibri"/>
              </ns2:defRPr>
            </ns2:pPr>
            <ns2:r>
              <ns2:rPr sz="1800" b="1">
                <ns2:latin typeface="Calibri"/>
                <ns2:ea typeface="Calibri"/>
                <ns2:cs typeface="Calibri"/>
              </ns2:rPr>
              <ns2:t>GRU:</ns2:t>
            </ns2:r>
            <ns2:r>
              <ns2:rPr sz="1800" b="0">
                <ns2:latin typeface="Calibri"/>
                <ns2:ea typeface="Calibri"/>
                <ns2:cs typeface="Calibri"/>
              </ns2:rPr>
              <ns2:t xml:space="preserve"> z gewichtet den Kandidaten, r steuert die Historie. ⊙ bedeutet elementweise</ns2:t>
            </ns2:r>
          </ns2:p>
        </p:txBody>
      </p:sp>
      <p:sp>
        <p:nvSpPr>
          <p:cNvPr id="28" name="v11-math-42-5">
            <a:extLst xmlns:a="http://schemas.openxmlformats.org/drawingml/2006/main">
              <a:ext uri="{FF2B5EF4-FFF2-40B4-BE49-F238E27FC236}">
                <a16:creationId xmlns:a16="http://schemas.microsoft.com/office/drawing/2014/main" id="{04457D91-C6AB-430C-B43A-AFB30832889E}"/>
              </a:ext>
            </a:extLst>
          </p:cNvPr>
          <p:cNvSpPr>
            <a:spLocks xmlns:a="http://schemas.openxmlformats.org/drawingml/2006/main" noGrp="1"/>
          </p:cNvSpPr>
          <p:nvPr/>
        </p:nvSpPr>
        <p:spPr>
          <a:xfrm xmlns:a="http://schemas.openxmlformats.org/drawingml/2006/main">
            <a:off x="2595563" y="4291013"/>
            <a:ext cx="52673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pPr>
            <a14:m xmlns:a14="http://schemas.microsoft.com/office/drawing/2010/main">
              <m:oMathPara xmlns:m="http://schemas.openxmlformats.org/officeDocument/2006/math">
                <m:oMathParaPr>
                  <m:jc m:val="centerGroup"/>
                </m:oMathParaPr>
                <m:oMath>
                  <m:sSub>
                    <m:e>
                      <m:r>
                        <a:rPr xmlns:a="http://schemas.openxmlformats.org/drawingml/2006/main" sz="1875">
                          <a:latin typeface="Cambria Math"/>
                          <a:ea typeface="Cambria Math"/>
                          <a:cs typeface="Cambria Math"/>
                        </a:rPr>
                        <m:t>z</m:t>
                      </m:r>
                    </m:e>
                    <m:sub>
                      <m:r>
                        <a:rPr xmlns:a="http://schemas.openxmlformats.org/drawingml/2006/main" sz="1313">
                          <a:latin typeface="Cambria Math"/>
                          <a:ea typeface="Cambria Math"/>
                          <a:cs typeface="Cambria Math"/>
                        </a:rPr>
                        <m:t>t</m:t>
                      </m:r>
                    </m:sub>
                  </m:sSub>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σ</m:t>
                  </m:r>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W</m:t>
                      </m:r>
                    </m:e>
                    <m:sub>
                      <m:r>
                        <a:rPr xmlns:a="http://schemas.openxmlformats.org/drawingml/2006/main" sz="1313">
                          <a:latin typeface="Cambria Math"/>
                          <a:ea typeface="Cambria Math"/>
                          <a:cs typeface="Cambria Math"/>
                        </a:rPr>
                        <m:t>z</m:t>
                      </m:r>
                    </m:sub>
                  </m:sSub>
                  <m:sSub>
                    <m:e>
                      <m:r>
                        <a:rPr xmlns:a="http://schemas.openxmlformats.org/drawingml/2006/main" sz="1875">
                          <a:latin typeface="Cambria Math"/>
                          <a:ea typeface="Cambria Math"/>
                          <a:cs typeface="Cambria Math"/>
                        </a:rPr>
                        <m:t>x</m:t>
                      </m:r>
                    </m:e>
                    <m:sub>
                      <m:r>
                        <a:rPr xmlns:a="http://schemas.openxmlformats.org/drawingml/2006/main" sz="1313">
                          <a:latin typeface="Cambria Math"/>
                          <a:ea typeface="Cambria Math"/>
                          <a:cs typeface="Cambria Math"/>
                        </a:rPr>
                        <m:t>t</m:t>
                      </m:r>
                    </m:sub>
                  </m:sSub>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U</m:t>
                      </m:r>
                    </m:e>
                    <m:sub>
                      <m:r>
                        <a:rPr xmlns:a="http://schemas.openxmlformats.org/drawingml/2006/main" sz="1313">
                          <a:latin typeface="Cambria Math"/>
                          <a:ea typeface="Cambria Math"/>
                          <a:cs typeface="Cambria Math"/>
                        </a:rPr>
                        <m:t>z</m:t>
                      </m:r>
                    </m:sub>
                  </m:sSub>
                  <m:sSub>
                    <m:e>
                      <m:r>
                        <a:rPr xmlns:a="http://schemas.openxmlformats.org/drawingml/2006/main" sz="1875">
                          <a:latin typeface="Cambria Math"/>
                          <a:ea typeface="Cambria Math"/>
                          <a:cs typeface="Cambria Math"/>
                        </a:rPr>
                        <m:t>h</m:t>
                      </m:r>
                    </m:e>
                    <m:sub>
                      <m:r>
                        <a:rPr xmlns:a="http://schemas.openxmlformats.org/drawingml/2006/main" sz="1313">
                          <a:latin typeface="Cambria Math"/>
                          <a:ea typeface="Cambria Math"/>
                          <a:cs typeface="Cambria Math"/>
                        </a:rPr>
                        <m:t>t</m:t>
                      </m:r>
                      <m:r>
                        <a:rPr xmlns:a="http://schemas.openxmlformats.org/drawingml/2006/main" sz="1313">
                          <a:latin typeface="Cambria Math"/>
                          <a:ea typeface="Cambria Math"/>
                          <a:cs typeface="Cambria Math"/>
                        </a:rPr>
                        <m:t>−</m:t>
                      </m:r>
                      <m:r>
                        <a:rPr xmlns:a="http://schemas.openxmlformats.org/drawingml/2006/main" sz="1313">
                          <a:latin typeface="Cambria Math"/>
                          <a:ea typeface="Cambria Math"/>
                          <a:cs typeface="Cambria Math"/>
                        </a:rPr>
                        <m:t>1</m:t>
                      </m:r>
                    </m:sub>
                  </m:sSub>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b</m:t>
                      </m:r>
                    </m:e>
                    <m:sub>
                      <m:r>
                        <a:rPr xmlns:a="http://schemas.openxmlformats.org/drawingml/2006/main" sz="1313">
                          <a:latin typeface="Cambria Math"/>
                          <a:ea typeface="Cambria Math"/>
                          <a:cs typeface="Cambria Math"/>
                        </a:rPr>
                        <m:t>z</m:t>
                      </m:r>
                    </m:sub>
                  </m:sSub>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r</m:t>
                      </m:r>
                    </m:e>
                    <m:sub>
                      <m:r>
                        <a:rPr xmlns:a="http://schemas.openxmlformats.org/drawingml/2006/main" sz="1313">
                          <a:latin typeface="Cambria Math"/>
                          <a:ea typeface="Cambria Math"/>
                          <a:cs typeface="Cambria Math"/>
                        </a:rPr>
                        <m:t>t</m:t>
                      </m:r>
                    </m:sub>
                  </m:sSub>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σ</m:t>
                  </m:r>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W</m:t>
                      </m:r>
                    </m:e>
                    <m:sub>
                      <m:r>
                        <a:rPr xmlns:a="http://schemas.openxmlformats.org/drawingml/2006/main" sz="1313">
                          <a:latin typeface="Cambria Math"/>
                          <a:ea typeface="Cambria Math"/>
                          <a:cs typeface="Cambria Math"/>
                        </a:rPr>
                        <m:t>r</m:t>
                      </m:r>
                    </m:sub>
                  </m:sSub>
                  <m:sSub>
                    <m:e>
                      <m:r>
                        <a:rPr xmlns:a="http://schemas.openxmlformats.org/drawingml/2006/main" sz="1875">
                          <a:latin typeface="Cambria Math"/>
                          <a:ea typeface="Cambria Math"/>
                          <a:cs typeface="Cambria Math"/>
                        </a:rPr>
                        <m:t>x</m:t>
                      </m:r>
                    </m:e>
                    <m:sub>
                      <m:r>
                        <a:rPr xmlns:a="http://schemas.openxmlformats.org/drawingml/2006/main" sz="1313">
                          <a:latin typeface="Cambria Math"/>
                          <a:ea typeface="Cambria Math"/>
                          <a:cs typeface="Cambria Math"/>
                        </a:rPr>
                        <m:t>t</m:t>
                      </m:r>
                    </m:sub>
                  </m:sSub>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U</m:t>
                      </m:r>
                    </m:e>
                    <m:sub>
                      <m:r>
                        <a:rPr xmlns:a="http://schemas.openxmlformats.org/drawingml/2006/main" sz="1313">
                          <a:latin typeface="Cambria Math"/>
                          <a:ea typeface="Cambria Math"/>
                          <a:cs typeface="Cambria Math"/>
                        </a:rPr>
                        <m:t>r</m:t>
                      </m:r>
                    </m:sub>
                  </m:sSub>
                  <m:sSub>
                    <m:e>
                      <m:r>
                        <a:rPr xmlns:a="http://schemas.openxmlformats.org/drawingml/2006/main" sz="1875">
                          <a:latin typeface="Cambria Math"/>
                          <a:ea typeface="Cambria Math"/>
                          <a:cs typeface="Cambria Math"/>
                        </a:rPr>
                        <m:t>h</m:t>
                      </m:r>
                    </m:e>
                    <m:sub>
                      <m:r>
                        <a:rPr xmlns:a="http://schemas.openxmlformats.org/drawingml/2006/main" sz="1313">
                          <a:latin typeface="Cambria Math"/>
                          <a:ea typeface="Cambria Math"/>
                          <a:cs typeface="Cambria Math"/>
                        </a:rPr>
                        <m:t>t</m:t>
                      </m:r>
                      <m:r>
                        <a:rPr xmlns:a="http://schemas.openxmlformats.org/drawingml/2006/main" sz="1313">
                          <a:latin typeface="Cambria Math"/>
                          <a:ea typeface="Cambria Math"/>
                          <a:cs typeface="Cambria Math"/>
                        </a:rPr>
                        <m:t>−</m:t>
                      </m:r>
                      <m:r>
                        <a:rPr xmlns:a="http://schemas.openxmlformats.org/drawingml/2006/main" sz="1313">
                          <a:latin typeface="Cambria Math"/>
                          <a:ea typeface="Cambria Math"/>
                          <a:cs typeface="Cambria Math"/>
                        </a:rPr>
                        <m:t>1</m:t>
                      </m:r>
                    </m:sub>
                  </m:sSub>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b</m:t>
                      </m:r>
                    </m:e>
                    <m:sub>
                      <m:r>
                        <a:rPr xmlns:a="http://schemas.openxmlformats.org/drawingml/2006/main" sz="1313">
                          <a:latin typeface="Cambria Math"/>
                          <a:ea typeface="Cambria Math"/>
                          <a:cs typeface="Cambria Math"/>
                        </a:rPr>
                        <m:t>r</m:t>
                      </m:r>
                    </m:sub>
                  </m:sSub>
                  <m:r>
                    <a:rPr xmlns:a="http://schemas.openxmlformats.org/drawingml/2006/main" sz="1875">
                      <a:latin typeface="Cambria Math"/>
                      <a:ea typeface="Cambria Math"/>
                      <a:cs typeface="Cambria Math"/>
                    </a:rPr>
                    <m:t>)</m:t>
                  </m:r>
                </m:oMath>
              </m:oMathPara>
            </a14:m>
          </a:p>
        </p:txBody>
      </p:sp>
      <p:sp>
        <p:nvSpPr>
          <p:cNvPr id="29" name="v11-math-42-6">
            <a:extLst xmlns:a="http://schemas.openxmlformats.org/drawingml/2006/main">
              <a:ext uri="{FF2B5EF4-FFF2-40B4-BE49-F238E27FC236}">
                <a16:creationId xmlns:a16="http://schemas.microsoft.com/office/drawing/2014/main" id="{7EE0B73F-629F-4311-A5E7-CD42065B68F0}"/>
              </a:ext>
            </a:extLst>
          </p:cNvPr>
          <p:cNvSpPr>
            <a:spLocks xmlns:a="http://schemas.openxmlformats.org/drawingml/2006/main" noGrp="1"/>
          </p:cNvSpPr>
          <p:nvPr/>
        </p:nvSpPr>
        <p:spPr>
          <a:xfrm xmlns:a="http://schemas.openxmlformats.org/drawingml/2006/main">
            <a:off x="3471863" y="4867275"/>
            <a:ext cx="35147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pPr>
            <a14:m xmlns:a14="http://schemas.microsoft.com/office/drawing/2010/main">
              <m:oMathPara xmlns:m="http://schemas.openxmlformats.org/officeDocument/2006/math">
                <m:oMathParaPr>
                  <m:jc m:val="centerGroup"/>
                </m:oMathParaPr>
                <m:oMath>
                  <m:sSub>
                    <m:e>
                      <m:acc>
                        <m:accPr>
                          <m:chr m:val="~"/>
                        </m:accPr>
                        <m:e>
                          <m:r>
                            <a:rPr xmlns:a="http://schemas.openxmlformats.org/drawingml/2006/main" sz="1875">
                              <a:latin typeface="Cambria Math"/>
                              <a:ea typeface="Cambria Math"/>
                              <a:cs typeface="Cambria Math"/>
                            </a:rPr>
                            <m:t>h</m:t>
                          </m:r>
                        </m:e>
                      </m:acc>
                    </m:e>
                    <m:sub>
                      <m:r>
                        <a:rPr xmlns:a="http://schemas.openxmlformats.org/drawingml/2006/main" sz="1313">
                          <a:latin typeface="Cambria Math"/>
                          <a:ea typeface="Cambria Math"/>
                          <a:cs typeface="Cambria Math"/>
                        </a:rPr>
                        <m:t>t</m:t>
                      </m:r>
                    </m:sub>
                  </m:sSub>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tanh</m:t>
                  </m:r>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W</m:t>
                      </m:r>
                    </m:e>
                    <m:sub>
                      <m:r>
                        <a:rPr xmlns:a="http://schemas.openxmlformats.org/drawingml/2006/main" sz="1313">
                          <a:latin typeface="Cambria Math"/>
                          <a:ea typeface="Cambria Math"/>
                          <a:cs typeface="Cambria Math"/>
                        </a:rPr>
                        <m:t>h</m:t>
                      </m:r>
                    </m:sub>
                  </m:sSub>
                  <m:sSub>
                    <m:e>
                      <m:r>
                        <a:rPr xmlns:a="http://schemas.openxmlformats.org/drawingml/2006/main" sz="1875">
                          <a:latin typeface="Cambria Math"/>
                          <a:ea typeface="Cambria Math"/>
                          <a:cs typeface="Cambria Math"/>
                        </a:rPr>
                        <m:t>x</m:t>
                      </m:r>
                    </m:e>
                    <m:sub>
                      <m:r>
                        <a:rPr xmlns:a="http://schemas.openxmlformats.org/drawingml/2006/main" sz="1313">
                          <a:latin typeface="Cambria Math"/>
                          <a:ea typeface="Cambria Math"/>
                          <a:cs typeface="Cambria Math"/>
                        </a:rPr>
                        <m:t>t</m:t>
                      </m:r>
                    </m:sub>
                  </m:sSub>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U</m:t>
                      </m:r>
                    </m:e>
                    <m:sub>
                      <m:r>
                        <a:rPr xmlns:a="http://schemas.openxmlformats.org/drawingml/2006/main" sz="1313">
                          <a:latin typeface="Cambria Math"/>
                          <a:ea typeface="Cambria Math"/>
                          <a:cs typeface="Cambria Math"/>
                        </a:rPr>
                        <m:t>h</m:t>
                      </m:r>
                    </m:sub>
                  </m:sSub>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r</m:t>
                      </m:r>
                    </m:e>
                    <m:sub>
                      <m:r>
                        <a:rPr xmlns:a="http://schemas.openxmlformats.org/drawingml/2006/main" sz="1313">
                          <a:latin typeface="Cambria Math"/>
                          <a:ea typeface="Cambria Math"/>
                          <a:cs typeface="Cambria Math"/>
                        </a:rPr>
                        <m:t>t</m:t>
                      </m:r>
                    </m:sub>
                  </m:sSub>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h</m:t>
                      </m:r>
                    </m:e>
                    <m:sub>
                      <m:r>
                        <a:rPr xmlns:a="http://schemas.openxmlformats.org/drawingml/2006/main" sz="1313">
                          <a:latin typeface="Cambria Math"/>
                          <a:ea typeface="Cambria Math"/>
                          <a:cs typeface="Cambria Math"/>
                        </a:rPr>
                        <m:t>t</m:t>
                      </m:r>
                      <m:r>
                        <a:rPr xmlns:a="http://schemas.openxmlformats.org/drawingml/2006/main" sz="1313">
                          <a:latin typeface="Cambria Math"/>
                          <a:ea typeface="Cambria Math"/>
                          <a:cs typeface="Cambria Math"/>
                        </a:rPr>
                        <m:t>−</m:t>
                      </m:r>
                      <m:r>
                        <a:rPr xmlns:a="http://schemas.openxmlformats.org/drawingml/2006/main" sz="1313">
                          <a:latin typeface="Cambria Math"/>
                          <a:ea typeface="Cambria Math"/>
                          <a:cs typeface="Cambria Math"/>
                        </a:rPr>
                        <m:t>1</m:t>
                      </m:r>
                    </m:sub>
                  </m:sSub>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b</m:t>
                      </m:r>
                    </m:e>
                    <m:sub>
                      <m:r>
                        <a:rPr xmlns:a="http://schemas.openxmlformats.org/drawingml/2006/main" sz="1313">
                          <a:latin typeface="Cambria Math"/>
                          <a:ea typeface="Cambria Math"/>
                          <a:cs typeface="Cambria Math"/>
                        </a:rPr>
                        <m:t>h</m:t>
                      </m:r>
                    </m:sub>
                  </m:sSub>
                  <m:r>
                    <a:rPr xmlns:a="http://schemas.openxmlformats.org/drawingml/2006/main" sz="1875">
                      <a:latin typeface="Cambria Math"/>
                      <a:ea typeface="Cambria Math"/>
                      <a:cs typeface="Cambria Math"/>
                    </a:rPr>
                    <m:t>)</m:t>
                  </m:r>
                </m:oMath>
              </m:oMathPara>
            </a14:m>
          </a:p>
        </p:txBody>
      </p:sp>
      <p:sp>
        <p:nvSpPr>
          <p:cNvPr id="30" name="v11-math-42-7">
            <a:extLst xmlns:a="http://schemas.openxmlformats.org/drawingml/2006/main">
              <a:ext uri="{FF2B5EF4-FFF2-40B4-BE49-F238E27FC236}">
                <a16:creationId xmlns:a16="http://schemas.microsoft.com/office/drawing/2014/main" id="{1A41DF06-9BD3-4A18-A775-DED9C9540A9D}"/>
              </a:ext>
            </a:extLst>
          </p:cNvPr>
          <p:cNvSpPr>
            <a:spLocks xmlns:a="http://schemas.openxmlformats.org/drawingml/2006/main" noGrp="1"/>
          </p:cNvSpPr>
          <p:nvPr/>
        </p:nvSpPr>
        <p:spPr>
          <a:xfrm xmlns:a="http://schemas.openxmlformats.org/drawingml/2006/main">
            <a:off x="3876675" y="5462588"/>
            <a:ext cx="2705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pPr>
            <a14:m xmlns:a14="http://schemas.microsoft.com/office/drawing/2010/main">
              <m:oMathPara xmlns:m="http://schemas.openxmlformats.org/officeDocument/2006/math">
                <m:oMathParaPr>
                  <m:jc m:val="centerGroup"/>
                </m:oMathParaPr>
                <m:oMath>
                  <m:sSub>
                    <m:e>
                      <m:r>
                        <a:rPr xmlns:a="http://schemas.openxmlformats.org/drawingml/2006/main" sz="1875">
                          <a:latin typeface="Cambria Math"/>
                          <a:ea typeface="Cambria Math"/>
                          <a:cs typeface="Cambria Math"/>
                        </a:rPr>
                        <m:t>h</m:t>
                      </m:r>
                    </m:e>
                    <m:sub>
                      <m:r>
                        <a:rPr xmlns:a="http://schemas.openxmlformats.org/drawingml/2006/main" sz="1313">
                          <a:latin typeface="Cambria Math"/>
                          <a:ea typeface="Cambria Math"/>
                          <a:cs typeface="Cambria Math"/>
                        </a:rPr>
                        <m:t>t</m:t>
                      </m:r>
                    </m:sub>
                  </m:sSub>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1</m:t>
                  </m:r>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z</m:t>
                      </m:r>
                    </m:e>
                    <m:sub>
                      <m:r>
                        <a:rPr xmlns:a="http://schemas.openxmlformats.org/drawingml/2006/main" sz="1313">
                          <a:latin typeface="Cambria Math"/>
                          <a:ea typeface="Cambria Math"/>
                          <a:cs typeface="Cambria Math"/>
                        </a:rPr>
                        <m:t>t</m:t>
                      </m:r>
                    </m:sub>
                  </m:sSub>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h</m:t>
                      </m:r>
                    </m:e>
                    <m:sub>
                      <m:r>
                        <a:rPr xmlns:a="http://schemas.openxmlformats.org/drawingml/2006/main" sz="1313">
                          <a:latin typeface="Cambria Math"/>
                          <a:ea typeface="Cambria Math"/>
                          <a:cs typeface="Cambria Math"/>
                        </a:rPr>
                        <m:t>t</m:t>
                      </m:r>
                      <m:r>
                        <a:rPr xmlns:a="http://schemas.openxmlformats.org/drawingml/2006/main" sz="1313">
                          <a:latin typeface="Cambria Math"/>
                          <a:ea typeface="Cambria Math"/>
                          <a:cs typeface="Cambria Math"/>
                        </a:rPr>
                        <m:t>−</m:t>
                      </m:r>
                      <m:r>
                        <a:rPr xmlns:a="http://schemas.openxmlformats.org/drawingml/2006/main" sz="1313">
                          <a:latin typeface="Cambria Math"/>
                          <a:ea typeface="Cambria Math"/>
                          <a:cs typeface="Cambria Math"/>
                        </a:rPr>
                        <m:t>1</m:t>
                      </m:r>
                    </m:sub>
                  </m:sSub>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z</m:t>
                      </m:r>
                    </m:e>
                    <m:sub>
                      <m:r>
                        <a:rPr xmlns:a="http://schemas.openxmlformats.org/drawingml/2006/main" sz="1313">
                          <a:latin typeface="Cambria Math"/>
                          <a:ea typeface="Cambria Math"/>
                          <a:cs typeface="Cambria Math"/>
                        </a:rPr>
                        <m:t>t</m:t>
                      </m:r>
                    </m:sub>
                  </m:sSub>
                  <m:r>
                    <a:rPr xmlns:a="http://schemas.openxmlformats.org/drawingml/2006/main" sz="1875">
                      <a:latin typeface="Cambria Math"/>
                      <a:ea typeface="Cambria Math"/>
                      <a:cs typeface="Cambria Math"/>
                    </a:rPr>
                    <m:t>⊙</m:t>
                  </m:r>
                  <m:sSub>
                    <m:e>
                      <m:acc>
                        <m:accPr>
                          <m:chr m:val="~"/>
                        </m:accPr>
                        <m:e>
                          <m:r>
                            <a:rPr xmlns:a="http://schemas.openxmlformats.org/drawingml/2006/main" sz="1875">
                              <a:latin typeface="Cambria Math"/>
                              <a:ea typeface="Cambria Math"/>
                              <a:cs typeface="Cambria Math"/>
                            </a:rPr>
                            <m:t>h</m:t>
                          </m:r>
                        </m:e>
                      </m:acc>
                    </m:e>
                    <m:sub>
                      <m:r>
                        <a:rPr xmlns:a="http://schemas.openxmlformats.org/drawingml/2006/main" sz="1313">
                          <a:latin typeface="Cambria Math"/>
                          <a:ea typeface="Cambria Math"/>
                          <a:cs typeface="Cambria Math"/>
                        </a:rPr>
                        <m:t>t</m:t>
                      </m:r>
                    </m:sub>
                  </m:sSub>
                </m:oMath>
              </m:oMathPara>
            </a14:m>
          </a:p>
        </p:txBody>
      </p:sp>
    </p:spTree>
    <p:extLst>
      <p:ext uri="{BB962C8B-B14F-4D97-AF65-F5344CB8AC3E}">
        <p14:creationId xmlns:p14="http://schemas.microsoft.com/office/powerpoint/2010/main" val="2606044684"/>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wrap="none" lIns="0" tIns="0" rIns="0" bIns="0" anchor="t">
            <a:noAutofit/>
          </a:bodyPr>
          <a:lstStyle xmlns:a="http://schemas.openxmlformats.org/drawingml/2006/main"/>
          <ns0:p xmlns:ns0="http://schemas.openxmlformats.org/drawingml/2006/main">
            <ns0:pPr algn="l">
              <ns0:lnSpc>
                <ns0:spcPct val="106000"/>
              </ns0:lnSpc>
              <ns0:buNone/>
              <ns0:defRPr sz="2400" b="0">
                <ns0:solidFill>
                  <ns0:srgbClr val="CC001C"/>
                </ns0:solidFill>
                <ns0:latin typeface="Calibri"/>
                <ns0:ea typeface="Calibri"/>
                <ns0:cs typeface="Calibri"/>
              </ns0:defRPr>
            </ns0:pPr>
            <ns0:r>
              <ns0:rPr sz="2400" b="0">
                <ns0:solidFill>
                  <ns0:srgbClr val="CC001C"/>
                </ns0:solidFill>
                <ns0:latin typeface="Calibri"/>
                <ns0:ea typeface="Calibri"/>
                <ns0:cs typeface="Calibri"/>
              </ns0:rPr>
              <ns0:t>Anhang: Zelltrennung und statistische Auswertung</ns0:t>
            </ns0:r>
          </ns0: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Anhang 5</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graphicFrame>
        <p:nvGraphicFramePr>
          <p:cNvPr id="29" name="V5_Table_10"/>
          <p:cNvGraphicFramePr/>
          <p:nvPr/>
        </p:nvGraphicFramePr>
        <p:xfrm>
          <a:off xmlns:a="http://schemas.openxmlformats.org/drawingml/2006/main" x="552450" y="1495425"/>
          <a:ext xmlns:a="http://schemas.openxmlformats.org/drawingml/2006/main" cx="9353550" cy="3352800"/>
        </p:xfrm>
        <a:graphic xmlns:a="http://schemas.openxmlformats.org/drawingml/2006/main">
          <a:graphicData uri="http://schemas.openxmlformats.org/drawingml/2006/table">
            <a:tbl>
              <a:tblPr firstRow="1" bandRow="1">
                <a:tableStyleId>{5C22544A-7EE6-4342-B048-85BDC9FD1C3A}</a:tableStyleId>
              </a:tblPr>
              <a:tblGrid>
                <a:gridCol w="2857500"/>
                <a:gridCol w="6496050"/>
              </a:tblGrid>
              <a:tr h="670560">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Aufteilung</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LFP-Robustness-Benchmark</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r>
              <a:tr h="670560">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Training</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6 Zellen</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r>
              <a:tr h="670560">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Validierung</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3 Zellen</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r>
              <a:tr h="670560">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Test</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6 unabhängige Holdout-Zellen</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r>
              <a:tr h="670560">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Auswertung</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16 verfügbare Zell-/SOH-Fenster</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r>
            </a:tbl>
          </a:graphicData>
        </a:graphic>
      </p:graphicFrame>
      <p:sp>
        <p:nvSpPr>
          <p:cNvPr id="11" name="V5_Text_11">
            <a:extLst xmlns:a="http://schemas.openxmlformats.org/drawingml/2006/main">
              <a:ext uri="{FF2B5EF4-FFF2-40B4-BE49-F238E27FC236}">
                <a16:creationId xmlns:a16="http://schemas.microsoft.com/office/drawing/2014/main" id="{72E3C4B5-EF90-4440-A9A5-71772EB759B9}"/>
              </a:ext>
            </a:extLst>
          </p:cNvPr>
          <p:cNvSpPr>
            <a:spLocks xmlns:a="http://schemas.openxmlformats.org/drawingml/2006/main" noGrp="1"/>
          </p:cNvSpPr>
          <p:nvPr/>
        </p:nvSpPr>
        <p:spPr>
          <a:xfrm xmlns:a="http://schemas.openxmlformats.org/drawingml/2006/main">
            <a:off x="552450" y="5048250"/>
            <a:ext cx="93535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ns1:p xmlns:ns1="http://schemas.openxmlformats.org/drawingml/2006/main">
            <ns1:pPr marL="20" indent="-17" algn="l">
              <ns1:spcBef>
                <ns1:spcPts val="0"/>
              </ns1:spcBef>
              <ns1:spcAft>
                <ns1:spcPts val="0"/>
              </ns1:spcAft>
              <ns1:buChar char="•"/>
              <ns1:defRPr sz="1800" b="0">
                <ns1:solidFill>
                  <ns1:srgbClr val="3F3F3F"/>
                </ns1:solidFill>
                <ns1:latin typeface="Calibri"/>
                <ns1:ea typeface="Calibri"/>
                <ns1:cs typeface="Calibri"/>
              </ns1:defRPr>
            </ns1:pPr>
            <ns1:r>
              <ns1:rPr sz="1800" b="1">
                <ns1:latin typeface="Calibri"/>
                <ns1:ea typeface="Calibri"/>
                <ns1:cs typeface="Calibri"/>
              </ns1:rPr>
              <ns1:t>Statistik:</ns1:t>
            </ns1:r>
            <ns1:r>
              <ns1:rPr sz="1800" b="0">
                <ns1:latin typeface="Calibri"/>
                <ns1:ea typeface="Calibri"/>
                <ns1:cs typeface="Calibri"/>
              </ns1:rPr>
              <ns1:t xml:space="preserve"> Zellmittel aus Fenstern und Seeds bilden, sechs Zellen gleich gewichten</ns1:t>
            </ns1:r>
          </ns1:p>
        </p:txBody>
      </p:sp>
      <p:sp>
        <p:nvSpPr>
          <p:cNvPr id="14" name="Structure separator">
            <a:extLst xmlns:a="http://schemas.openxmlformats.org/drawingml/2006/main">
              <a:ext uri="{FF2B5EF4-FFF2-40B4-BE49-F238E27FC236}">
                <a16:creationId xmlns:a16="http://schemas.microsoft.com/office/drawing/2014/main" id="{39591CBE-53FE-4CFC-A5B3-D6A81B20D4CA}"/>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15" name="Structure label">
            <a:extLst xmlns:a="http://schemas.openxmlformats.org/drawingml/2006/main">
              <a:ext uri="{FF2B5EF4-FFF2-40B4-BE49-F238E27FC236}">
                <a16:creationId xmlns:a16="http://schemas.microsoft.com/office/drawing/2014/main" id="{C411AF79-D07D-4B39-B320-27CD3E704B47}"/>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xmlns:a="http://schemas.openxmlformats.org/drawingml/2006/main">
              <a:ext uri="{FF2B5EF4-FFF2-40B4-BE49-F238E27FC236}">
                <a16:creationId xmlns:a16="http://schemas.microsoft.com/office/drawing/2014/main" id="{48FFBDF4-B3CD-4799-BD99-040C6F4DD1D9}"/>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7" name="Structure 1">
            <a:extLst xmlns:a="http://schemas.openxmlformats.org/drawingml/2006/main">
              <a:ext uri="{FF2B5EF4-FFF2-40B4-BE49-F238E27FC236}">
                <a16:creationId xmlns:a16="http://schemas.microsoft.com/office/drawing/2014/main" id="{08731813-1BC4-41B9-BEFA-538EDAC1D4F3}"/>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Daten &amp; BMS</a:t>
            </a:r>
          </a:p>
        </p:txBody>
      </p:sp>
      <p:sp>
        <p:nvSpPr>
          <p:cNvPr id="18" name="Structure 2">
            <a:extLst xmlns:a="http://schemas.openxmlformats.org/drawingml/2006/main">
              <a:ext uri="{FF2B5EF4-FFF2-40B4-BE49-F238E27FC236}">
                <a16:creationId xmlns:a16="http://schemas.microsoft.com/office/drawing/2014/main" id="{C26FE3F9-9601-4E18-AC20-1D92E6AD9D21}"/>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19" name="Structure 3">
            <a:extLst xmlns:a="http://schemas.openxmlformats.org/drawingml/2006/main">
              <a:ext uri="{FF2B5EF4-FFF2-40B4-BE49-F238E27FC236}">
                <a16:creationId xmlns:a16="http://schemas.microsoft.com/office/drawing/2014/main" id="{FF547101-270B-4BDD-BDB1-F6D44377DC6D}"/>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0" name="Structure 4">
            <a:extLst xmlns:a="http://schemas.openxmlformats.org/drawingml/2006/main">
              <a:ext uri="{FF2B5EF4-FFF2-40B4-BE49-F238E27FC236}">
                <a16:creationId xmlns:a16="http://schemas.microsoft.com/office/drawing/2014/main" id="{BE4A8038-CCE3-48FD-826E-24B5A3004C45}"/>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1" name="Structure 5">
            <a:extLst xmlns:a="http://schemas.openxmlformats.org/drawingml/2006/main">
              <a:ext uri="{FF2B5EF4-FFF2-40B4-BE49-F238E27FC236}">
                <a16:creationId xmlns:a16="http://schemas.microsoft.com/office/drawing/2014/main" id="{8AFA7B87-F146-44EA-94B4-66763D0A94BD}"/>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3" name="v11-text-43-2">
            <a:extLst xmlns:a="http://schemas.openxmlformats.org/drawingml/2006/main">
              <a:ext uri="{FF2B5EF4-FFF2-40B4-BE49-F238E27FC236}">
                <a16:creationId xmlns:a16="http://schemas.microsoft.com/office/drawing/2014/main" id="{BFD9E86C-E619-440B-9148-267B70E4E29A}"/>
              </a:ext>
            </a:extLst>
          </p:cNvPr>
          <p:cNvSpPr>
            <a:spLocks xmlns:a="http://schemas.openxmlformats.org/drawingml/2006/main" noGrp="1"/>
          </p:cNvSpPr>
          <p:nvPr/>
        </p:nvSpPr>
        <p:spPr>
          <a:xfrm xmlns:a="http://schemas.openxmlformats.org/drawingml/2006/main">
            <a:off x="552450" y="5572125"/>
            <a:ext cx="93535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2:p xmlns:ns2="http://schemas.openxmlformats.org/drawingml/2006/main">
            <ns2:pPr marL="20" indent="-17" algn="l">
              <ns2:spcBef>
                <ns2:spcPts val="0"/>
              </ns2:spcBef>
              <ns2:spcAft>
                <ns2:spcPts val="0"/>
              </ns2:spcAft>
              <ns2:buChar char="•"/>
              <ns2:defRPr sz="1800" b="0">
                <ns2:solidFill>
                  <ns2:srgbClr val="3F3F3F"/>
                </ns2:solidFill>
                <ns2:latin typeface="Calibri"/>
                <ns2:ea typeface="Calibri"/>
                <ns2:cs typeface="Calibri"/>
              </ns2:defRPr>
            </ns2:pPr>
            <ns2:r>
              <ns2:rPr sz="1800" b="1">
                <ns2:latin typeface="Calibri"/>
                <ns2:ea typeface="Calibri"/>
                <ns2:cs typeface="Calibri"/>
              </ns2:rPr>
              <ns2:t>Modellwahl:</ns2:t>
            </ns2:r>
            <ns2:r>
              <ns2:rPr sz="1800" b="0">
                <ns2:latin typeface="Calibri"/>
                <ns2:ea typeface="Calibri"/>
                <ns2:cs typeface="Calibri"/>
              </ns2:rPr>
              <ns2:t xml:space="preserve"> Training, Skalierung und Abstimmung ohne Zugriff auf die Holdout-Zellen</ns2:t>
            </ns2:r>
          </ns2:p>
        </p:txBody>
      </p:sp>
    </p:spTree>
    <p:extLst>
      <p:ext uri="{BB962C8B-B14F-4D97-AF65-F5344CB8AC3E}">
        <p14:creationId xmlns:p14="http://schemas.microsoft.com/office/powerpoint/2010/main" val="1598912944"/>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wrap="none" lIns="0" tIns="0" rIns="0" bIns="0" anchor="t">
            <a:noAutofit/>
          </a:bodyPr>
          <a:lstStyle xmlns:a="http://schemas.openxmlformats.org/drawingml/2006/main"/>
          <ns0:p xmlns:ns0="http://schemas.openxmlformats.org/drawingml/2006/main">
            <ns0:pPr algn="l">
              <ns0:lnSpc>
                <ns0:spcPct val="106000"/>
              </ns0:lnSpc>
              <ns0:buNone/>
              <ns0:defRPr sz="2400" b="0">
                <ns0:solidFill>
                  <ns0:srgbClr val="CC001C"/>
                </ns0:solidFill>
                <ns0:latin typeface="Calibri"/>
                <ns0:ea typeface="Calibri"/>
                <ns0:cs typeface="Calibri"/>
              </ns0:defRPr>
            </ns0:pPr>
            <ns0:r>
              <ns0:rPr sz="2400" b="0">
                <ns0:solidFill>
                  <ns0:srgbClr val="CC001C"/>
                </ns0:solidFill>
                <ns0:latin typeface="Calibri"/>
                <ns0:ea typeface="Calibri"/>
                <ns0:cs typeface="Calibri"/>
              </ns0:rPr>
              <ns0:t>Anhang: STM32-Kennzahlen und Messgrenzen</ns0:t>
            </ns0:r>
          </ns0: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Anhang 6</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graphicFrame>
        <p:nvGraphicFramePr>
          <p:cNvPr id="29" name="V5_Table_10"/>
          <p:cNvGraphicFramePr/>
          <p:nvPr/>
        </p:nvGraphicFramePr>
        <p:xfrm>
          <a:off xmlns:a="http://schemas.openxmlformats.org/drawingml/2006/main" x="552450" y="1476375"/>
          <a:ext xmlns:a="http://schemas.openxmlformats.org/drawingml/2006/main" cx="9353550" cy="3400425"/>
        </p:xfrm>
        <a:graphic xmlns:a="http://schemas.openxmlformats.org/drawingml/2006/main">
          <a:graphicData uri="http://schemas.openxmlformats.org/drawingml/2006/table">
            <a:tbl>
              <a:tblPr firstRow="1" bandRow="1">
                <a:tableStyleId>{5C22544A-7EE6-4342-B048-85BDC9FD1C3A}</a:tableStyleId>
              </a:tblPr>
              <a:tblGrid>
                <a:gridCol w="1000125"/>
                <a:gridCol w="2190750"/>
                <a:gridCol w="2038350"/>
                <a:gridCol w="2000250"/>
                <a:gridCol w="2124075"/>
              </a:tblGrid>
              <a:tr h="485775">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Ziel</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Variante</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Flash [KB]</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RAM [KB]</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Zeit [ms]</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r>
              <a:tr h="485775">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SOC</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Base</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105,32</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4,93</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1,40</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r>
              <a:tr h="485775">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SOC</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Pruned</a:t>
                      </a:r>
                      <a:endParaRPr sz="1800" b="0">
                        <a:solidFill>
                          <a:srgbClr val="434343"/>
                        </a:solidFill>
                        <a:latin typeface="Arial"/>
                        <a:ea typeface="Arial"/>
                        <a:cs typeface="Arial"/>
                      </a:endParaRP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62,27</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4,03</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0,80</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r>
              <a:tr h="485775">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SOC</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Quantized</a:t>
                      </a:r>
                      <a:endParaRPr sz="1800" b="0">
                        <a:solidFill>
                          <a:srgbClr val="434343"/>
                        </a:solidFill>
                        <a:latin typeface="Arial"/>
                        <a:ea typeface="Arial"/>
                        <a:cs typeface="Arial"/>
                      </a:endParaRP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52,48</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3,96</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6,99</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r>
              <a:tr h="485775">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SOH</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Base</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335,00</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8,69</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22,73</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r>
              <a:tr h="485775">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SOH</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Pruned</a:t>
                      </a:r>
                      <a:endParaRPr sz="1800" b="0">
                        <a:solidFill>
                          <a:srgbClr val="434343"/>
                        </a:solidFill>
                        <a:latin typeface="Arial"/>
                        <a:ea typeface="Arial"/>
                        <a:cs typeface="Arial"/>
                      </a:endParaRP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182,41</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6,96</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12,72</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r>
              <a:tr h="485775">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SOH</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Quantized</a:t>
                      </a:r>
                      <a:endParaRPr sz="1800" b="0">
                        <a:solidFill>
                          <a:srgbClr val="434343"/>
                        </a:solidFill>
                        <a:latin typeface="Arial"/>
                        <a:ea typeface="Arial"/>
                        <a:cs typeface="Arial"/>
                      </a:endParaRP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138,00</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6,70</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29,21</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r>
            </a:tbl>
          </a:graphicData>
        </a:graphic>
      </p:graphicFrame>
      <p:sp>
        <p:nvSpPr>
          <p:cNvPr id="11" name="V5_Text_11">
            <a:extLst xmlns:a="http://schemas.openxmlformats.org/drawingml/2006/main">
              <a:ext uri="{FF2B5EF4-FFF2-40B4-BE49-F238E27FC236}">
                <a16:creationId xmlns:a16="http://schemas.microsoft.com/office/drawing/2014/main" id="{849DB070-65C4-4F9E-A570-ECE42A6F9B21}"/>
              </a:ext>
            </a:extLst>
          </p:cNvPr>
          <p:cNvSpPr>
            <a:spLocks xmlns:a="http://schemas.openxmlformats.org/drawingml/2006/main" noGrp="1"/>
          </p:cNvSpPr>
          <p:nvPr/>
        </p:nvSpPr>
        <p:spPr>
          <a:xfrm xmlns:a="http://schemas.openxmlformats.org/drawingml/2006/main">
            <a:off x="552450" y="5086350"/>
            <a:ext cx="9353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ns1:p xmlns:ns1="http://schemas.openxmlformats.org/drawingml/2006/main">
            <ns1:pPr marL="20" indent="-17" algn="l">
              <ns1:spcBef>
                <ns1:spcPts val="0"/>
              </ns1:spcBef>
              <ns1:spcAft>
                <ns1:spcPts val="0"/>
              </ns1:spcAft>
              <ns1:buChar char="•"/>
              <ns1:defRPr sz="1800" b="0">
                <ns1:solidFill>
                  <ns1:srgbClr val="3F3F3F"/>
                </ns1:solidFill>
                <ns1:latin typeface="Calibri"/>
                <ns1:ea typeface="Calibri"/>
                <ns1:cs typeface="Calibri"/>
              </ns1:defRPr>
            </ns1:pPr>
            <ns1:r>
              <ns1:rPr sz="1800" b="1">
                <ns1:latin typeface="Calibri"/>
                <ns1:ea typeface="Calibri"/>
                <ns1:cs typeface="Calibri"/>
              </ns1:rPr>
              <ns1:t>Kernelmessung:</ns1:t>
            </ns1:r>
            <ns1:r>
              <ns1:rPr sz="1800" b="0">
                <ns1:latin typeface="Calibri"/>
                <ns1:ea typeface="Calibri"/>
                <ns1:cs typeface="Calibri"/>
              </ns1:rPr>
              <ns1:t xml:space="preserve"> DWT-Zähler um LSTM und MLP, ohne UART und Feature-Berechnung</ns1:t>
            </ns1:r>
          </ns1:p>
        </p:txBody>
      </p:sp>
      <p:sp>
        <p:nvSpPr>
          <p:cNvPr id="14" name="Structure separator">
            <a:extLst xmlns:a="http://schemas.openxmlformats.org/drawingml/2006/main">
              <a:ext uri="{FF2B5EF4-FFF2-40B4-BE49-F238E27FC236}">
                <a16:creationId xmlns:a16="http://schemas.microsoft.com/office/drawing/2014/main" id="{B50A7B44-8F45-4CEC-8C8C-C29C0263E4A2}"/>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15" name="Structure label">
            <a:extLst xmlns:a="http://schemas.openxmlformats.org/drawingml/2006/main">
              <a:ext uri="{FF2B5EF4-FFF2-40B4-BE49-F238E27FC236}">
                <a16:creationId xmlns:a16="http://schemas.microsoft.com/office/drawing/2014/main" id="{D71C2D3D-41A6-4885-AF99-11C63FB91221}"/>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xmlns:a="http://schemas.openxmlformats.org/drawingml/2006/main">
              <a:ext uri="{FF2B5EF4-FFF2-40B4-BE49-F238E27FC236}">
                <a16:creationId xmlns:a16="http://schemas.microsoft.com/office/drawing/2014/main" id="{7B47CA48-D11E-42EC-ABC8-7B85EBDDBB98}"/>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7" name="Structure 1">
            <a:extLst xmlns:a="http://schemas.openxmlformats.org/drawingml/2006/main">
              <a:ext uri="{FF2B5EF4-FFF2-40B4-BE49-F238E27FC236}">
                <a16:creationId xmlns:a16="http://schemas.microsoft.com/office/drawing/2014/main" id="{BFFDAAED-E773-4CD5-8F50-2A05995E530D}"/>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8" name="Structure 2">
            <a:extLst xmlns:a="http://schemas.openxmlformats.org/drawingml/2006/main">
              <a:ext uri="{FF2B5EF4-FFF2-40B4-BE49-F238E27FC236}">
                <a16:creationId xmlns:a16="http://schemas.microsoft.com/office/drawing/2014/main" id="{86961144-C27B-45D8-8B97-A72BF52CA25C}"/>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19" name="Structure 3">
            <a:extLst xmlns:a="http://schemas.openxmlformats.org/drawingml/2006/main">
              <a:ext uri="{FF2B5EF4-FFF2-40B4-BE49-F238E27FC236}">
                <a16:creationId xmlns:a16="http://schemas.microsoft.com/office/drawing/2014/main" id="{5FBECDE7-5866-4F10-8FEA-4638DDA35FA7}"/>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0" name="Structure 4">
            <a:extLst xmlns:a="http://schemas.openxmlformats.org/drawingml/2006/main">
              <a:ext uri="{FF2B5EF4-FFF2-40B4-BE49-F238E27FC236}">
                <a16:creationId xmlns:a16="http://schemas.microsoft.com/office/drawing/2014/main" id="{BD3F5094-D91D-4270-BEBF-AACE752E390D}"/>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1" name="Structure 5">
            <a:extLst xmlns:a="http://schemas.openxmlformats.org/drawingml/2006/main">
              <a:ext uri="{FF2B5EF4-FFF2-40B4-BE49-F238E27FC236}">
                <a16:creationId xmlns:a16="http://schemas.microsoft.com/office/drawing/2014/main" id="{F4B9ABE3-8DEE-47BC-B162-43A59CC8EB8C}"/>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3" name="v11-text-44-2">
            <a:extLst xmlns:a="http://schemas.openxmlformats.org/drawingml/2006/main">
              <a:ext uri="{FF2B5EF4-FFF2-40B4-BE49-F238E27FC236}">
                <a16:creationId xmlns:a16="http://schemas.microsoft.com/office/drawing/2014/main" id="{45C9E032-6F67-4ECA-AA5E-2CEF4598A85C}"/>
              </a:ext>
            </a:extLst>
          </p:cNvPr>
          <p:cNvSpPr>
            <a:spLocks xmlns:a="http://schemas.openxmlformats.org/drawingml/2006/main" noGrp="1"/>
          </p:cNvSpPr>
          <p:nvPr/>
        </p:nvSpPr>
        <p:spPr>
          <a:xfrm xmlns:a="http://schemas.openxmlformats.org/drawingml/2006/main">
            <a:off x="552450" y="5562600"/>
            <a:ext cx="93535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2:p xmlns:ns2="http://schemas.openxmlformats.org/drawingml/2006/main">
            <ns2:pPr marL="20" indent="-17" algn="l">
              <ns2:spcBef>
                <ns2:spcPts val="0"/>
              </ns2:spcBef>
              <ns2:spcAft>
                <ns2:spcPts val="0"/>
              </ns2:spcAft>
              <ns2:buChar char="•"/>
              <ns2:defRPr sz="1800" b="0">
                <ns2:solidFill>
                  <ns2:srgbClr val="3F3F3F"/>
                </ns2:solidFill>
                <ns2:latin typeface="Calibri"/>
                <ns2:ea typeface="Calibri"/>
                <ns2:cs typeface="Calibri"/>
              </ns2:defRPr>
            </ns2:pPr>
            <ns2:r>
              <ns2:rPr sz="1800" b="1">
                <ns2:latin typeface="Calibri"/>
                <ns2:ea typeface="Calibri"/>
                <ns2:cs typeface="Calibri"/>
              </ns2:rPr>
              <ns2:t>Energieproxy:</ns2:t>
            </ns2:r>
            <ns2:r>
              <ns2:rPr sz="1800" b="0">
                <ns2:latin typeface="Calibri"/>
                <ns2:ea typeface="Calibri"/>
                <ns2:cs typeface="Calibri"/>
              </ns2:rPr>
              <ns2:t xml:space="preserve"> 0,5 W × Kernelzeit, keine separate Leistungsmessung</ns2:t>
            </ns2:r>
          </ns2:p>
        </p:txBody>
      </p:sp>
    </p:spTree>
    <p:extLst>
      <p:ext uri="{BB962C8B-B14F-4D97-AF65-F5344CB8AC3E}">
        <p14:creationId xmlns:p14="http://schemas.microsoft.com/office/powerpoint/2010/main" val="292774331"/>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wrap="none" lIns="0" tIns="0" rIns="0" bIns="0" anchor="t">
            <a:noAutofit/>
          </a:bodyPr>
          <a:lstStyle xmlns:a="http://schemas.openxmlformats.org/drawingml/2006/main"/>
          <ns0:p xmlns:ns0="http://schemas.openxmlformats.org/drawingml/2006/main">
            <ns0:pPr algn="l">
              <ns0:lnSpc>
                <ns0:spcPct val="106000"/>
              </ns0:lnSpc>
              <ns0:buNone/>
              <ns0:defRPr sz="2400" b="0">
                <ns0:solidFill>
                  <ns0:srgbClr val="CC001C"/>
                </ns0:solidFill>
                <ns0:latin typeface="Calibri"/>
                <ns0:ea typeface="Calibri"/>
                <ns0:cs typeface="Calibri"/>
              </ns0:defRPr>
            </ns0:pPr>
            <ns0:r>
              <ns0:rPr sz="2400" b="0">
                <ns0:solidFill>
                  <ns0:srgbClr val="CC001C"/>
                </ns0:solidFill>
                <ns0:latin typeface="Calibri"/>
                <ns0:ea typeface="Calibri"/>
                <ns0:cs typeface="Calibri"/>
              </ns0:rPr>
              <ns0:t>Anhang: Parameterspeicher und Firmwarebedarf</ns0:t>
            </ns0:r>
            <ns0:endParaRPr/>
          </ns0: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Anhang 7</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sp>
        <p:nvSpPr>
          <p:cNvPr id="12" name="V5_Text_12">
            <a:extLst xmlns:a="http://schemas.openxmlformats.org/drawingml/2006/main">
              <a:ext uri="{FF2B5EF4-FFF2-40B4-BE49-F238E27FC236}">
                <a16:creationId xmlns:a16="http://schemas.microsoft.com/office/drawing/2014/main" id="{3C15EE52-60E3-43E9-A0E5-0BA4629013B2}"/>
              </a:ext>
            </a:extLst>
          </p:cNvPr>
          <p:cNvSpPr>
            <a:spLocks xmlns:a="http://schemas.openxmlformats.org/drawingml/2006/main" noGrp="1"/>
          </p:cNvSpPr>
          <p:nvPr/>
        </p:nvSpPr>
        <p:spPr>
          <a:xfrm xmlns:a="http://schemas.openxmlformats.org/drawingml/2006/main">
            <a:off x="7162800" y="1457325"/>
            <a:ext cx="27908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ns1:p xmlns:ns1="http://schemas.openxmlformats.org/drawingml/2006/main">
            <ns1:pPr marL="20" indent="-17" algn="l">
              <ns1:spcBef>
                <ns1:spcPts val="0"/>
              </ns1:spcBef>
              <ns1:spcAft>
                <ns1:spcPts val="0"/>
              </ns1:spcAft>
              <ns1:buChar char="•"/>
              <ns1:defRPr sz="1800" b="0">
                <ns1:solidFill>
                  <ns1:srgbClr val="3F3F3F"/>
                </ns1:solidFill>
                <ns1:latin typeface="Calibri"/>
                <ns1:ea typeface="Calibri"/>
                <ns1:cs typeface="Calibri"/>
              </ns1:defRPr>
            </ns1:pPr>
            <ns1:r>
              <ns1:rPr sz="1800" b="1">
                <ns1:latin typeface="Calibri"/>
                <ns1:ea typeface="Calibri"/>
                <ns1:cs typeface="Calibri"/>
              </ns1:rPr>
              <ns1:t>Messwerte:</ns1:t>
            </ns1:r>
            <ns1:r>
              <ns1:rPr sz="1800" b="0">
                <ns1:latin typeface="Calibri"/>
                <ns1:ea typeface="Calibri"/>
                <ns1:cs typeface="Calibri"/>
              </ns1:rPr>
              <ns1:t xml:space="preserve"> Flash aus Linkerbericht, RAM aus Daten und maximalem Stack</ns1:t>
            </ns1:r>
          </ns1:p>
        </p:txBody>
      </p:sp>
      <p:sp>
        <p:nvSpPr>
          <p:cNvPr id="2" name="V6_Text_2">
            <a:extLst xmlns:a="http://schemas.openxmlformats.org/drawingml/2006/main">
              <a:ext uri="{FF2B5EF4-FFF2-40B4-BE49-F238E27FC236}">
                <a16:creationId xmlns:a16="http://schemas.microsoft.com/office/drawing/2014/main" id="{6E2AE00D-6BEA-482D-9E85-303D904E3E43}"/>
              </a:ext>
            </a:extLst>
          </p:cNvPr>
          <p:cNvSpPr>
            <a:spLocks xmlns:a="http://schemas.openxmlformats.org/drawingml/2006/main" noGrp="1"/>
          </p:cNvSpPr>
          <p:nvPr/>
        </p:nvSpPr>
        <p:spPr>
          <a:xfrm xmlns:a="http://schemas.openxmlformats.org/drawingml/2006/main">
            <a:off x="7162800" y="2990850"/>
            <a:ext cx="27908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ns2:p xmlns:ns2="http://schemas.openxmlformats.org/drawingml/2006/main">
            <ns2:pPr marL="20" indent="-17" algn="l">
              <ns2:spcBef>
                <ns2:spcPts val="0"/>
              </ns2:spcBef>
              <ns2:spcAft>
                <ns2:spcPts val="0"/>
              </ns2:spcAft>
              <ns2:buChar char="•"/>
              <ns2:defRPr sz="1800" b="0">
                <ns2:solidFill>
                  <ns2:srgbClr val="3F3F3F"/>
                </ns2:solidFill>
                <ns2:latin typeface="Calibri"/>
                <ns2:ea typeface="Calibri"/>
                <ns2:cs typeface="Calibri"/>
              </ns2:defRPr>
            </ns2:pPr>
            <ns2:r>
              <ns2:rPr sz="1800" b="1">
                <ns2:latin typeface="Calibri"/>
                <ns2:ea typeface="Calibri"/>
                <ns2:cs typeface="Calibri"/>
              </ns2:rPr>
              <ns2:t>SOC-RAM Quantized:</ns2:t>
            </ns2:r>
            <ns2:r>
              <ns2:rPr sz="1800" b="0">
                <ns2:latin typeface="Calibri"/>
                <ns2:ea typeface="Calibri"/>
                <ns2:cs typeface="Calibri"/>
              </ns2:rPr>
              <ns2:t xml:space="preserve"> 3,96 KB laut Tabelle 7.1, Grafik ca. 3,5 KB</ns2:t>
            </ns2:r>
          </ns2:p>
        </p:txBody>
      </p:sp>
      <p:pic>
        <p:nvPicPr>
          <p:cNvPr id="38" name="V6_TU_Logo"/>
          <p:cNvPicPr>
            <a:picLocks xmlns:a="http://schemas.openxmlformats.org/drawingml/2006/main" noChangeAspect="1"/>
          </p:cNvPicPr>
          <p:nvPr/>
        </p:nvPicPr>
        <p:blipFill>
          <a:blip xmlns:r="http://schemas.openxmlformats.org/officeDocument/2006/relationships" xmlns:a="http://schemas.openxmlformats.org/drawingml/2006/main" r:embed="Re772d388af3948d2"/>
          <a:stretch xmlns:a="http://schemas.openxmlformats.org/drawingml/2006/main">
            <a:fillRect l="0" t="0" r="0" b="0"/>
          </a:stretch>
        </p:blipFill>
        <p:spPr>
          <a:xfrm xmlns:a="http://schemas.openxmlformats.org/drawingml/2006/main">
            <a:off x="10614660" y="378460"/>
            <a:ext cx="1003300" cy="767080"/>
          </a:xfrm>
          <a:prstGeom xmlns:a="http://schemas.openxmlformats.org/drawingml/2006/main" prst="rect">
            <a:avLst/>
          </a:prstGeom>
        </p:spPr>
      </p:pic>
      <p:sp>
        <p:nvSpPr>
          <p:cNvPr id="19" name="Structure separator">
            <a:extLst xmlns:a="http://schemas.openxmlformats.org/drawingml/2006/main">
              <a:ext uri="{FF2B5EF4-FFF2-40B4-BE49-F238E27FC236}">
                <a16:creationId xmlns:a16="http://schemas.microsoft.com/office/drawing/2014/main" id="{15AFD174-6BBF-4B31-BD82-147CEBE088FC}"/>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20" name="Structure label">
            <a:extLst xmlns:a="http://schemas.openxmlformats.org/drawingml/2006/main">
              <a:ext uri="{FF2B5EF4-FFF2-40B4-BE49-F238E27FC236}">
                <a16:creationId xmlns:a16="http://schemas.microsoft.com/office/drawing/2014/main" id="{D895C4AA-3B55-4C57-B7F8-1908B64F6BDC}"/>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xmlns:a="http://schemas.openxmlformats.org/drawingml/2006/main">
              <a:ext uri="{FF2B5EF4-FFF2-40B4-BE49-F238E27FC236}">
                <a16:creationId xmlns:a16="http://schemas.microsoft.com/office/drawing/2014/main" id="{CD023E9D-5A52-4DA1-8F38-AC86C0AE0202}"/>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xmlns:a="http://schemas.openxmlformats.org/drawingml/2006/main">
              <a:ext uri="{FF2B5EF4-FFF2-40B4-BE49-F238E27FC236}">
                <a16:creationId xmlns:a16="http://schemas.microsoft.com/office/drawing/2014/main" id="{B8DD2CC6-F8B4-413D-B89B-BF19E2EBB355}"/>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xmlns:a="http://schemas.openxmlformats.org/drawingml/2006/main">
              <a:ext uri="{FF2B5EF4-FFF2-40B4-BE49-F238E27FC236}">
                <a16:creationId xmlns:a16="http://schemas.microsoft.com/office/drawing/2014/main" id="{ED8F9D8A-F2B7-4A41-BEE0-7D0FDB8F39FA}"/>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xmlns:a="http://schemas.openxmlformats.org/drawingml/2006/main">
              <a:ext uri="{FF2B5EF4-FFF2-40B4-BE49-F238E27FC236}">
                <a16:creationId xmlns:a16="http://schemas.microsoft.com/office/drawing/2014/main" id="{DEBA1E4F-95E5-4E6A-A321-3B3C7B1E5C00}"/>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xmlns:a="http://schemas.openxmlformats.org/drawingml/2006/main">
              <a:ext uri="{FF2B5EF4-FFF2-40B4-BE49-F238E27FC236}">
                <a16:creationId xmlns:a16="http://schemas.microsoft.com/office/drawing/2014/main" id="{AA3D179D-6DD3-4D07-AAB5-489F479FA85C}"/>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6" name="Structure 5">
            <a:extLst xmlns:a="http://schemas.openxmlformats.org/drawingml/2006/main">
              <a:ext uri="{FF2B5EF4-FFF2-40B4-BE49-F238E27FC236}">
                <a16:creationId xmlns:a16="http://schemas.microsoft.com/office/drawing/2014/main" id="{A911ABF1-E354-406F-B257-609193195600}"/>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688e403dca5b4f75"/>
          <a:stretch xmlns:a="http://schemas.openxmlformats.org/drawingml/2006/main"/>
        </p:blipFill>
        <p:spPr>
          <a:xfrm xmlns:a="http://schemas.openxmlformats.org/drawingml/2006/main">
            <a:off x="572555" y="1419225"/>
            <a:ext cx="6151039" cy="4391025"/>
          </a:xfrm>
          <a:prstGeom xmlns:a="http://schemas.openxmlformats.org/drawingml/2006/main" prst="rect">
            <a:avLst/>
          </a:prstGeom>
        </p:spPr>
      </p:pic>
      <p:sp>
        <p:nvSpPr>
          <p:cNvPr id="29" name="v11-text-45-3">
            <a:extLst xmlns:a="http://schemas.openxmlformats.org/drawingml/2006/main">
              <a:ext uri="{FF2B5EF4-FFF2-40B4-BE49-F238E27FC236}">
                <a16:creationId xmlns:a16="http://schemas.microsoft.com/office/drawing/2014/main" id="{35ABFB3D-2BBF-4EAE-9FE4-BA0F8955AA9D}"/>
              </a:ext>
            </a:extLst>
          </p:cNvPr>
          <p:cNvSpPr>
            <a:spLocks xmlns:a="http://schemas.openxmlformats.org/drawingml/2006/main" noGrp="1"/>
          </p:cNvSpPr>
          <p:nvPr/>
        </p:nvSpPr>
        <p:spPr>
          <a:xfrm xmlns:a="http://schemas.openxmlformats.org/drawingml/2006/main">
            <a:off x="7162800" y="4362450"/>
            <a:ext cx="27908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3:p xmlns:ns3="http://schemas.openxmlformats.org/drawingml/2006/main">
            <ns3:pPr marL="20" indent="-17" algn="l">
              <ns3:spcBef>
                <ns3:spcPts val="0"/>
              </ns3:spcBef>
              <ns3:spcAft>
                <ns3:spcPts val="0"/>
              </ns3:spcAft>
              <ns3:buChar char="•"/>
              <ns3:defRPr sz="1800" b="0">
                <ns3:solidFill>
                  <ns3:srgbClr val="3F3F3F"/>
                </ns3:solidFill>
                <ns3:latin typeface="Calibri"/>
                <ns3:ea typeface="Calibri"/>
                <ns3:cs typeface="Calibri"/>
              </ns3:defRPr>
            </ns3:pPr>
            <ns3:r>
              <ns3:rPr sz="1800" b="1">
                <ns3:latin typeface="Calibri"/>
                <ns3:ea typeface="Calibri"/>
                <ns3:cs typeface="Calibri"/>
              </ns3:rPr>
              <ns3:t>Parameterzahl:</ns3:t>
            </ns3:r>
            <ns3:r>
              <ns3:rPr sz="1800" b="0">
                <ns3:latin typeface="Calibri"/>
                <ns3:ea typeface="Calibri"/>
                <ns3:cs typeface="Calibri"/>
              </ns3:rPr>
              <ns3:t xml:space="preserve"> Für die verwendete Architektur gelten 22 657 (SOC) und 86 273 (SOH)</ns3:t>
            </ns3:r>
          </ns3:p>
        </p:txBody>
      </p:sp>
    </p:spTree>
    <p:extLst>
      <p:ext uri="{BB962C8B-B14F-4D97-AF65-F5344CB8AC3E}">
        <p14:creationId xmlns:p14="http://schemas.microsoft.com/office/powerpoint/2010/main" val="195099688"/>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wrap="none" lIns="0" tIns="0" rIns="0" bIns="0" anchor="t">
            <a:noAutofit/>
          </a:bodyPr>
          <a:lstStyle xmlns:a="http://schemas.openxmlformats.org/drawingml/2006/main"/>
          <ns0:p xmlns:ns0="http://schemas.openxmlformats.org/drawingml/2006/main">
            <ns0:pPr algn="l">
              <ns0:lnSpc>
                <ns0:spcPct val="106000"/>
              </ns0:lnSpc>
              <ns0:buNone/>
              <ns0:defRPr sz="2400" b="0">
                <ns0:solidFill>
                  <ns0:srgbClr val="CC001C"/>
                </ns0:solidFill>
                <ns0:latin typeface="Calibri"/>
                <ns0:ea typeface="Calibri"/>
                <ns0:cs typeface="Calibri"/>
              </ns0:defRPr>
            </ns0:pPr>
            <ns0:r>
              <ns0:rPr sz="2400" b="0">
                <ns0:solidFill>
                  <ns0:srgbClr val="CC001C"/>
                </ns0:solidFill>
                <ns0:latin typeface="Calibri"/>
                <ns0:ea typeface="Calibri"/>
                <ns0:cs typeface="Calibri"/>
              </ns0:rPr>
              <ns0:t>Benchmark: Aufbau der SOC-Modelle</ns0:t>
            </ns0:r>
          </ns0: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ns1:p xmlns:ns1="http://schemas.openxmlformats.org/drawingml/2006/main">
            <ns1:pPr algn="l">
              <ns1:lnSpc>
                <ns1:spcPct val="106000"/>
              </ns1:lnSpc>
              <ns1:buNone/>
              <ns1:defRPr sz="1350" b="0">
                <ns1:solidFill>
                  <ns1:srgbClr val="FFFFFF"/>
                </ns1:solidFill>
                <ns1:latin typeface="Calibri"/>
                <ns1:ea typeface="Calibri"/>
                <ns1:cs typeface="Calibri"/>
              </ns1:defRPr>
            </ns1:pPr>
            <ns1:r>
              <ns1:rPr sz="1350" b="0">
                <ns1:solidFill>
                  <ns1:srgbClr val="FFFFFF"/>
                </ns1:solidFill>
                <ns1:latin typeface="Calibri"/>
                <ns1:ea typeface="Calibri"/>
                <ns1:cs typeface="Calibri"/>
              </ns1:rPr>
              <ns1:t>17 / 44</ns1:t>
            </ns1:r>
          </ns1: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sp>
        <p:nvSpPr>
          <p:cNvPr id="17" name="Structure separator">
            <a:extLst xmlns:a="http://schemas.openxmlformats.org/drawingml/2006/main">
              <a:ext uri="{FF2B5EF4-FFF2-40B4-BE49-F238E27FC236}">
                <a16:creationId xmlns:a16="http://schemas.microsoft.com/office/drawing/2014/main" id="{3234B77F-CF7F-4AAF-85D2-CD5F42ABDE74}"/>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18" name="Structure label">
            <a:extLst xmlns:a="http://schemas.openxmlformats.org/drawingml/2006/main">
              <a:ext uri="{FF2B5EF4-FFF2-40B4-BE49-F238E27FC236}">
                <a16:creationId xmlns:a16="http://schemas.microsoft.com/office/drawing/2014/main" id="{93767A57-046D-4E03-9DB7-C2DE644254C5}"/>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xmlns:a="http://schemas.openxmlformats.org/drawingml/2006/main">
              <a:ext uri="{FF2B5EF4-FFF2-40B4-BE49-F238E27FC236}">
                <a16:creationId xmlns:a16="http://schemas.microsoft.com/office/drawing/2014/main" id="{463E2E83-9E2B-40E5-B14E-E0025CA64298}"/>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xmlns:a="http://schemas.openxmlformats.org/drawingml/2006/main">
              <a:ext uri="{FF2B5EF4-FFF2-40B4-BE49-F238E27FC236}">
                <a16:creationId xmlns:a16="http://schemas.microsoft.com/office/drawing/2014/main" id="{140E3643-1C82-49BA-A14C-C8ECC31F07C0}"/>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xmlns:a="http://schemas.openxmlformats.org/drawingml/2006/main">
              <a:ext uri="{FF2B5EF4-FFF2-40B4-BE49-F238E27FC236}">
                <a16:creationId xmlns:a16="http://schemas.microsoft.com/office/drawing/2014/main" id="{A5637DB6-2587-4D2C-B2D5-5DB5F9DDAFDA}"/>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xmlns:a="http://schemas.openxmlformats.org/drawingml/2006/main">
              <a:ext uri="{FF2B5EF4-FFF2-40B4-BE49-F238E27FC236}">
                <a16:creationId xmlns:a16="http://schemas.microsoft.com/office/drawing/2014/main" id="{FFAFBC42-ABF6-498C-A7A0-0A3B65F2B163}"/>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xmlns:a="http://schemas.openxmlformats.org/drawingml/2006/main">
              <a:ext uri="{FF2B5EF4-FFF2-40B4-BE49-F238E27FC236}">
                <a16:creationId xmlns:a16="http://schemas.microsoft.com/office/drawing/2014/main" id="{7196F72B-F323-4AD8-A320-9F6FC3A1C228}"/>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xmlns:a="http://schemas.openxmlformats.org/drawingml/2006/main">
              <a:ext uri="{FF2B5EF4-FFF2-40B4-BE49-F238E27FC236}">
                <a16:creationId xmlns:a16="http://schemas.microsoft.com/office/drawing/2014/main" id="{3C1D7EE0-5401-489D-9328-37AF523F9E03}"/>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1000" name="BM_column_divider_14">
            <a:extLst xmlns:a="http://schemas.openxmlformats.org/drawingml/2006/main">
              <a:ext uri="{FF2B5EF4-FFF2-40B4-BE49-F238E27FC236}">
                <a16:creationId xmlns:a16="http://schemas.microsoft.com/office/drawing/2014/main" id="{4BA1EF5A-C428-4727-AAB4-566C2042BAE1}"/>
              </a:ext>
            </a:extLst>
          </p:cNvPr>
          <p:cNvSpPr>
            <a:spLocks xmlns:a="http://schemas.openxmlformats.org/drawingml/2006/main" noGrp="1"/>
          </p:cNvSpPr>
          <p:nvPr/>
        </p:nvSpPr>
        <p:spPr>
          <a:xfrm xmlns:a="http://schemas.openxmlformats.org/drawingml/2006/main">
            <a:off x="4171950" y="1543050"/>
            <a:ext cx="11430" cy="4248150"/>
          </a:xfrm>
          <a:prstGeom xmlns:a="http://schemas.openxmlformats.org/drawingml/2006/main" prst="rect">
            <a:avLst/>
          </a:prstGeom>
          <a:solidFill xmlns:a="http://schemas.openxmlformats.org/drawingml/2006/main">
            <a:srgbClr val="DDE2E6"/>
          </a:solidFill>
          <a:ln xmlns:a="http://schemas.openxmlformats.org/drawingml/2006/main" w="0">
            <a:noFill/>
          </a:ln>
        </p:spPr>
      </p:sp>
      <p:sp>
        <p:nvSpPr>
          <p:cNvPr id="1001" name="BM_current_model_accent_15">
            <a:extLst xmlns:a="http://schemas.openxmlformats.org/drawingml/2006/main">
              <a:ext uri="{FF2B5EF4-FFF2-40B4-BE49-F238E27FC236}">
                <a16:creationId xmlns:a16="http://schemas.microsoft.com/office/drawing/2014/main" id="{3F1E9146-DEC1-4A2F-B3DF-73A8B2407B5F}"/>
              </a:ext>
            </a:extLst>
          </p:cNvPr>
          <p:cNvSpPr>
            <a:spLocks xmlns:a="http://schemas.openxmlformats.org/drawingml/2006/main" noGrp="1"/>
          </p:cNvSpPr>
          <p:nvPr/>
        </p:nvSpPr>
        <p:spPr>
          <a:xfrm xmlns:a="http://schemas.openxmlformats.org/drawingml/2006/main">
            <a:off x="552450" y="1657350"/>
            <a:ext cx="28575" cy="685800"/>
          </a:xfrm>
          <a:prstGeom xmlns:a="http://schemas.openxmlformats.org/drawingml/2006/main" prst="rect">
            <a:avLst/>
          </a:prstGeom>
          <a:solidFill xmlns:a="http://schemas.openxmlformats.org/drawingml/2006/main">
            <a:srgbClr val="D00020"/>
          </a:solidFill>
          <a:ln xmlns:a="http://schemas.openxmlformats.org/drawingml/2006/main" w="0">
            <a:noFill/>
          </a:ln>
        </p:spPr>
      </p:sp>
      <p:sp>
        <p:nvSpPr>
          <p:cNvPr id="1002" name="BM_model_list_abbr_0_16">
            <a:extLst xmlns:a="http://schemas.openxmlformats.org/drawingml/2006/main">
              <a:ext uri="{FF2B5EF4-FFF2-40B4-BE49-F238E27FC236}">
                <a16:creationId xmlns:a16="http://schemas.microsoft.com/office/drawing/2014/main" id="{E9B3A2B7-08A1-40E9-AC36-5EFBBEB5D547}"/>
              </a:ext>
            </a:extLst>
          </p:cNvPr>
          <p:cNvSpPr>
            <a:spLocks xmlns:a="http://schemas.openxmlformats.org/drawingml/2006/main" noGrp="1"/>
          </p:cNvSpPr>
          <p:nvPr/>
        </p:nvSpPr>
        <p:spPr>
          <a:xfrm xmlns:a="http://schemas.openxmlformats.org/drawingml/2006/main">
            <a:off x="762000" y="1628775"/>
            <a:ext cx="312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D00020"/>
                </a:solidFill>
                <a:latin typeface="Calibri"/>
                <a:ea typeface="Calibri"/>
                <a:cs typeface="Calibri"/>
              </a:defRPr>
            </a:pPr>
            <a:r>
              <a:rPr sz="1800" b="1">
                <a:solidFill>
                  <a:srgbClr val="D00020"/>
                </a:solidFill>
                <a:latin typeface="Calibri"/>
                <a:ea typeface="Calibri"/>
                <a:cs typeface="Calibri"/>
              </a:rPr>
              <a:t>DM</a:t>
            </a:r>
          </a:p>
        </p:txBody>
      </p:sp>
      <p:sp>
        <p:nvSpPr>
          <p:cNvPr id="1003" name="BM_model_list_family_0_17">
            <a:extLst xmlns:a="http://schemas.openxmlformats.org/drawingml/2006/main">
              <a:ext uri="{FF2B5EF4-FFF2-40B4-BE49-F238E27FC236}">
                <a16:creationId xmlns:a16="http://schemas.microsoft.com/office/drawing/2014/main" id="{348627AA-E9A8-4F29-97B1-21794DE4B902}"/>
              </a:ext>
            </a:extLst>
          </p:cNvPr>
          <p:cNvSpPr>
            <a:spLocks xmlns:a="http://schemas.openxmlformats.org/drawingml/2006/main" noGrp="1"/>
          </p:cNvSpPr>
          <p:nvPr/>
        </p:nvSpPr>
        <p:spPr>
          <a:xfrm xmlns:a="http://schemas.openxmlformats.org/drawingml/2006/main">
            <a:off x="762000" y="2000250"/>
            <a:ext cx="3124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444444"/>
                </a:solidFill>
                <a:latin typeface="Calibri"/>
                <a:ea typeface="Calibri"/>
                <a:cs typeface="Calibri"/>
              </a:defRPr>
            </a:pPr>
            <a:r>
              <a:rPr sz="1800" b="0">
                <a:solidFill>
                  <a:srgbClr val="444444"/>
                </a:solidFill>
                <a:latin typeface="Calibri"/>
                <a:ea typeface="Calibri"/>
                <a:cs typeface="Calibri"/>
              </a:rPr>
              <a:t>Direct Measurement</a:t>
            </a:r>
          </a:p>
        </p:txBody>
      </p:sp>
      <p:sp>
        <p:nvSpPr>
          <p:cNvPr id="1004" name="BM_model_focus_18">
            <a:extLst xmlns:a="http://schemas.openxmlformats.org/drawingml/2006/main">
              <a:ext uri="{FF2B5EF4-FFF2-40B4-BE49-F238E27FC236}">
                <a16:creationId xmlns:a16="http://schemas.microsoft.com/office/drawing/2014/main" id="{C81B2C3B-2964-4BEB-BE70-CEBF60454E06}"/>
              </a:ext>
            </a:extLst>
          </p:cNvPr>
          <p:cNvSpPr>
            <a:spLocks xmlns:a="http://schemas.openxmlformats.org/drawingml/2006/main" noGrp="1"/>
          </p:cNvSpPr>
          <p:nvPr/>
        </p:nvSpPr>
        <p:spPr>
          <a:xfrm xmlns:a="http://schemas.openxmlformats.org/drawingml/2006/main">
            <a:off x="4623757" y="1533525"/>
            <a:ext cx="5320343"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444444"/>
                </a:solidFill>
                <a:latin typeface="Calibri"/>
                <a:ea typeface="Calibri"/>
                <a:cs typeface="Calibri"/>
              </a:defRPr>
            </a:pPr>
            <a:r>
              <a:rPr sz="1800" b="1">
                <a:solidFill>
                  <a:srgbClr val="444444"/>
                </a:solidFill>
                <a:latin typeface="Calibri"/>
                <a:ea typeface="Calibri"/>
                <a:cs typeface="Calibri"/>
              </a:rPr>
              <a:t>Stromintegration mit fester Kapazität</a:t>
            </a:r>
          </a:p>
        </p:txBody>
      </p:sp>
      <p:sp>
        <p:nvSpPr>
          <p:cNvPr id="1005" name="BM_current_input_19">
            <a:extLst xmlns:a="http://schemas.openxmlformats.org/drawingml/2006/main">
              <a:ext uri="{FF2B5EF4-FFF2-40B4-BE49-F238E27FC236}">
                <a16:creationId xmlns:a16="http://schemas.microsoft.com/office/drawing/2014/main" id="{2D03B9FB-A4FD-4543-A8D6-075CBF7275E4}"/>
              </a:ext>
            </a:extLst>
          </p:cNvPr>
          <p:cNvSpPr>
            <a:spLocks xmlns:a="http://schemas.openxmlformats.org/drawingml/2006/main" noGrp="1"/>
          </p:cNvSpPr>
          <p:nvPr/>
        </p:nvSpPr>
        <p:spPr>
          <a:xfrm xmlns:a="http://schemas.openxmlformats.org/drawingml/2006/main">
            <a:off x="4623757" y="2638425"/>
            <a:ext cx="71955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444444"/>
                </a:solidFill>
                <a:latin typeface="Calibri"/>
                <a:ea typeface="Calibri"/>
                <a:cs typeface="Calibri"/>
              </a:defRPr>
            </a:pPr>
            <a:r>
              <a:rPr sz="1800" b="0">
                <a:solidFill>
                  <a:srgbClr val="444444"/>
                </a:solidFill>
                <a:latin typeface="Calibri"/>
                <a:ea typeface="Calibri"/>
                <a:cs typeface="Calibri"/>
              </a:rPr>
              <a:t>I, Δt</a:t>
            </a:r>
          </a:p>
        </p:txBody>
      </p:sp>
      <p:sp>
        <p:nvSpPr>
          <p:cNvPr id="1006" name="BM_current_integral_20">
            <a:extLst xmlns:a="http://schemas.openxmlformats.org/drawingml/2006/main">
              <a:ext uri="{FF2B5EF4-FFF2-40B4-BE49-F238E27FC236}">
                <a16:creationId xmlns:a16="http://schemas.microsoft.com/office/drawing/2014/main" id="{C15D9DFF-C607-4BA4-830C-B6B33ACEE5FB}"/>
              </a:ext>
            </a:extLst>
          </p:cNvPr>
          <p:cNvSpPr>
            <a:spLocks xmlns:a="http://schemas.openxmlformats.org/drawingml/2006/main" noGrp="1"/>
          </p:cNvSpPr>
          <p:nvPr/>
        </p:nvSpPr>
        <p:spPr>
          <a:xfrm xmlns:a="http://schemas.openxmlformats.org/drawingml/2006/main">
            <a:off x="5637675" y="2486025"/>
            <a:ext cx="1122941" cy="704850"/>
          </a:xfrm>
          <a:prstGeom xmlns:a="http://schemas.openxmlformats.org/drawingml/2006/main" prst="rect">
            <a:avLst/>
          </a:prstGeom>
          <a:solidFill xmlns:a="http://schemas.openxmlformats.org/drawingml/2006/main">
            <a:srgbClr val="EDF3F7"/>
          </a:solidFill>
          <a:ln xmlns:a="http://schemas.openxmlformats.org/drawingml/2006/main" w="9525">
            <a:solidFill>
              <a:srgbClr val="899EAC"/>
            </a:solidFill>
          </a:ln>
        </p:spPr>
        <p:txBody>
          <a:bodyPr xmlns:a="http://schemas.openxmlformats.org/drawingml/2006/main" lIns="47625" tIns="28575" rIns="47625" bIns="28575" anchor="ctr">
            <a:noAutofit/>
          </a:bodyPr>
          <a:lstStyle xmlns:a="http://schemas.openxmlformats.org/drawingml/2006/main"/>
          <a:p xmlns:a="http://schemas.openxmlformats.org/drawingml/2006/main">
            <a:pPr algn="ctr">
              <a:defRPr sz="1800">
                <a:solidFill>
                  <a:srgbClr val="444444"/>
                </a:solidFill>
                <a:latin typeface="Calibri"/>
                <a:ea typeface="Calibri"/>
                <a:cs typeface="Calibri"/>
              </a:defRPr>
            </a:pPr>
            <a:r>
              <a:rPr sz="1800">
                <a:solidFill>
                  <a:srgbClr val="444444"/>
                </a:solidFill>
                <a:latin typeface="Calibri"/>
                <a:ea typeface="Calibri"/>
                <a:cs typeface="Calibri"/>
              </a:rPr>
              <a:t>∫ I dt</a:t>
            </a:r>
          </a:p>
        </p:txBody>
      </p:sp>
      <p:sp>
        <p:nvSpPr>
          <p:cNvPr id="1007" name="BM_charge_state_21">
            <a:extLst xmlns:a="http://schemas.openxmlformats.org/drawingml/2006/main">
              <a:ext uri="{FF2B5EF4-FFF2-40B4-BE49-F238E27FC236}">
                <a16:creationId xmlns:a16="http://schemas.microsoft.com/office/drawing/2014/main" id="{E213B900-6982-44A9-AE41-52BC2FF0C395}"/>
              </a:ext>
            </a:extLst>
          </p:cNvPr>
          <p:cNvSpPr>
            <a:spLocks xmlns:a="http://schemas.openxmlformats.org/drawingml/2006/main" noGrp="1"/>
          </p:cNvSpPr>
          <p:nvPr/>
        </p:nvSpPr>
        <p:spPr>
          <a:xfrm xmlns:a="http://schemas.openxmlformats.org/drawingml/2006/main">
            <a:off x="5637675" y="3248025"/>
            <a:ext cx="1122941"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444444"/>
                </a:solidFill>
                <a:latin typeface="Calibri"/>
                <a:ea typeface="Calibri"/>
                <a:cs typeface="Calibri"/>
              </a:defRPr>
            </a:pPr>
            <a:r>
              <a:rPr sz="1800" b="0">
                <a:solidFill>
                  <a:srgbClr val="444444"/>
                </a:solidFill>
                <a:latin typeface="Calibri"/>
                <a:ea typeface="Calibri"/>
                <a:cs typeface="Calibri"/>
              </a:rPr>
              <a:t>Qc</a:t>
            </a:r>
          </a:p>
        </p:txBody>
      </p:sp>
      <p:sp>
        <p:nvSpPr>
          <p:cNvPr id="1008" name="BM_fixed_capacity_22">
            <a:extLst xmlns:a="http://schemas.openxmlformats.org/drawingml/2006/main">
              <a:ext uri="{FF2B5EF4-FFF2-40B4-BE49-F238E27FC236}">
                <a16:creationId xmlns:a16="http://schemas.microsoft.com/office/drawing/2014/main" id="{659753CA-5920-4AEB-A183-F767905E70F8}"/>
              </a:ext>
            </a:extLst>
          </p:cNvPr>
          <p:cNvSpPr>
            <a:spLocks xmlns:a="http://schemas.openxmlformats.org/drawingml/2006/main" noGrp="1"/>
          </p:cNvSpPr>
          <p:nvPr/>
        </p:nvSpPr>
        <p:spPr>
          <a:xfrm xmlns:a="http://schemas.openxmlformats.org/drawingml/2006/main">
            <a:off x="7251221" y="2486025"/>
            <a:ext cx="1646254" cy="704850"/>
          </a:xfrm>
          <a:prstGeom xmlns:a="http://schemas.openxmlformats.org/drawingml/2006/main" prst="rect">
            <a:avLst/>
          </a:prstGeom>
          <a:solidFill xmlns:a="http://schemas.openxmlformats.org/drawingml/2006/main">
            <a:srgbClr val="EDF3F7"/>
          </a:solidFill>
          <a:ln xmlns:a="http://schemas.openxmlformats.org/drawingml/2006/main" w="9525">
            <a:solidFill>
              <a:srgbClr val="899EAC"/>
            </a:solidFill>
          </a:ln>
        </p:spPr>
        <p:txBody>
          <a:bodyPr xmlns:a="http://schemas.openxmlformats.org/drawingml/2006/main" lIns="47625" tIns="28575" rIns="47625" bIns="28575" anchor="ctr">
            <a:noAutofit/>
          </a:bodyPr>
          <a:lstStyle xmlns:a="http://schemas.openxmlformats.org/drawingml/2006/main"/>
          <a:p xmlns:a="http://schemas.openxmlformats.org/drawingml/2006/main">
            <a:pPr algn="ctr">
              <a:defRPr sz="1800">
                <a:solidFill>
                  <a:srgbClr val="444444"/>
                </a:solidFill>
                <a:latin typeface="Calibri"/>
                <a:ea typeface="Calibri"/>
                <a:cs typeface="Calibri"/>
              </a:defRPr>
            </a:pPr>
            <a:r>
              <a:rPr sz="1800">
                <a:solidFill>
                  <a:srgbClr val="444444"/>
                </a:solidFill>
                <a:latin typeface="Calibri"/>
                <a:ea typeface="Calibri"/>
                <a:cs typeface="Calibri"/>
              </a:rPr>
              <a:t>Cnom</a:t>
            </a:r>
          </a:p>
          <a:p xmlns:a="http://schemas.openxmlformats.org/drawingml/2006/main">
            <a:pPr algn="ctr">
              <a:defRPr sz="1800">
                <a:solidFill>
                  <a:srgbClr val="444444"/>
                </a:solidFill>
                <a:latin typeface="Calibri"/>
                <a:ea typeface="Calibri"/>
                <a:cs typeface="Calibri"/>
              </a:defRPr>
            </a:pPr>
            <a:r>
              <a:rPr sz="1800">
                <a:solidFill>
                  <a:srgbClr val="444444"/>
                </a:solidFill>
                <a:latin typeface="Calibri"/>
                <a:ea typeface="Calibri"/>
                <a:cs typeface="Calibri"/>
              </a:rPr>
              <a:t>konstant</a:t>
            </a:r>
          </a:p>
        </p:txBody>
      </p:sp>
      <p:sp>
        <p:nvSpPr>
          <p:cNvPr id="1009" name="BM_soc_output_23">
            <a:extLst xmlns:a="http://schemas.openxmlformats.org/drawingml/2006/main">
              <a:ext uri="{FF2B5EF4-FFF2-40B4-BE49-F238E27FC236}">
                <a16:creationId xmlns:a16="http://schemas.microsoft.com/office/drawing/2014/main" id="{EAD96D56-5D8E-4ED2-B3F7-F36C5B19E394}"/>
              </a:ext>
            </a:extLst>
          </p:cNvPr>
          <p:cNvSpPr>
            <a:spLocks xmlns:a="http://schemas.openxmlformats.org/drawingml/2006/main" noGrp="1"/>
          </p:cNvSpPr>
          <p:nvPr/>
        </p:nvSpPr>
        <p:spPr>
          <a:xfrm xmlns:a="http://schemas.openxmlformats.org/drawingml/2006/main">
            <a:off x="9224545" y="2638425"/>
            <a:ext cx="69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444444"/>
                </a:solidFill>
                <a:latin typeface="Calibri"/>
                <a:ea typeface="Calibri"/>
                <a:cs typeface="Calibri"/>
              </a:defRPr>
            </a:pPr>
            <a:r>
              <a:rPr sz="1800" b="0">
                <a:solidFill>
                  <a:srgbClr val="444444"/>
                </a:solidFill>
                <a:latin typeface="Calibri"/>
                <a:ea typeface="Calibri"/>
                <a:cs typeface="Calibri"/>
              </a:rPr>
              <a:t>SOC</a:t>
            </a:r>
          </a:p>
        </p:txBody>
      </p:sp>
      <p:cxnSp>
        <p:nvCxnSpPr>
          <p:cNvPr id="1010" name=""/>
          <p:cNvCxnSpPr>
            <a:stCxn xmlns:a="http://schemas.openxmlformats.org/drawingml/2006/main" id="1005" idx="3"/>
            <a:endCxn xmlns:a="http://schemas.openxmlformats.org/drawingml/2006/main" id="1006" idx="1"/>
          </p:cNvCxnSpPr>
          <p:nvPr/>
        </p:nvCxnSpPr>
        <p:spPr>
          <a:xfrm xmlns:a="http://schemas.openxmlformats.org/drawingml/2006/main" flipV="1">
            <a:off x="5343312" y="2838450"/>
            <a:ext cx="294363" cy="4763"/>
          </a:xfrm>
          <a:prstGeom xmlns:a="http://schemas.openxmlformats.org/drawingml/2006/main" prst="straightConnector1">
            <a:avLst/>
          </a:prstGeom>
          <a:ln xmlns:a="http://schemas.openxmlformats.org/drawingml/2006/main" w="17145">
            <a:solidFill>
              <a:srgbClr val="899EAC"/>
            </a:solidFill>
            <a:tailEnd type="triangle" w="sm" len="sm"/>
          </a:ln>
        </p:spPr>
      </p:cxnSp>
      <p:cxnSp>
        <p:nvCxnSpPr>
          <p:cNvPr id="1011" name=""/>
          <p:cNvCxnSpPr>
            <a:stCxn xmlns:a="http://schemas.openxmlformats.org/drawingml/2006/main" id="1006" idx="3"/>
            <a:endCxn xmlns:a="http://schemas.openxmlformats.org/drawingml/2006/main" id="1008" idx="1"/>
          </p:cNvCxnSpPr>
          <p:nvPr/>
        </p:nvCxnSpPr>
        <p:spPr>
          <a:xfrm xmlns:a="http://schemas.openxmlformats.org/drawingml/2006/main">
            <a:off x="6760616" y="2838450"/>
            <a:ext cx="490605" cy="0"/>
          </a:xfrm>
          <a:prstGeom xmlns:a="http://schemas.openxmlformats.org/drawingml/2006/main" prst="straightConnector1">
            <a:avLst/>
          </a:prstGeom>
          <a:ln xmlns:a="http://schemas.openxmlformats.org/drawingml/2006/main" w="17145">
            <a:solidFill>
              <a:srgbClr val="899EAC"/>
            </a:solidFill>
            <a:tailEnd type="triangle" w="sm" len="sm"/>
          </a:ln>
        </p:spPr>
      </p:cxnSp>
      <p:cxnSp>
        <p:nvCxnSpPr>
          <p:cNvPr id="1012" name=""/>
          <p:cNvCxnSpPr>
            <a:stCxn xmlns:a="http://schemas.openxmlformats.org/drawingml/2006/main" id="1008" idx="3"/>
            <a:endCxn xmlns:a="http://schemas.openxmlformats.org/drawingml/2006/main" id="1009" idx="1"/>
          </p:cNvCxnSpPr>
          <p:nvPr/>
        </p:nvCxnSpPr>
        <p:spPr>
          <a:xfrm xmlns:a="http://schemas.openxmlformats.org/drawingml/2006/main">
            <a:off x="8897475" y="2838450"/>
            <a:ext cx="327070" cy="4763"/>
          </a:xfrm>
          <a:prstGeom xmlns:a="http://schemas.openxmlformats.org/drawingml/2006/main" prst="straightConnector1">
            <a:avLst/>
          </a:prstGeom>
          <a:ln xmlns:a="http://schemas.openxmlformats.org/drawingml/2006/main" w="17145">
            <a:solidFill>
              <a:srgbClr val="899EAC"/>
            </a:solidFill>
            <a:tailEnd type="triangle" w="sm" len="sm"/>
          </a:ln>
        </p:spPr>
      </p:cxnSp>
      <p:sp>
        <p:nvSpPr>
          <p:cNvPr id="1013" name="BM_full_charge_anchor_24">
            <a:extLst xmlns:a="http://schemas.openxmlformats.org/drawingml/2006/main">
              <a:ext uri="{FF2B5EF4-FFF2-40B4-BE49-F238E27FC236}">
                <a16:creationId xmlns:a16="http://schemas.microsoft.com/office/drawing/2014/main" id="{72742640-9960-47E3-93B6-3EA1C1115813}"/>
              </a:ext>
            </a:extLst>
          </p:cNvPr>
          <p:cNvSpPr>
            <a:spLocks xmlns:a="http://schemas.openxmlformats.org/drawingml/2006/main" noGrp="1"/>
          </p:cNvSpPr>
          <p:nvPr/>
        </p:nvSpPr>
        <p:spPr>
          <a:xfrm xmlns:a="http://schemas.openxmlformats.org/drawingml/2006/main">
            <a:off x="4983534" y="3686175"/>
            <a:ext cx="4775226"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777777"/>
                </a:solidFill>
                <a:latin typeface="Calibri"/>
                <a:ea typeface="Calibri"/>
                <a:cs typeface="Calibri"/>
              </a:defRPr>
            </a:pPr>
            <a:r>
              <a:rPr sz="1800" b="0">
                <a:solidFill>
                  <a:srgbClr val="777777"/>
                </a:solidFill>
                <a:latin typeface="Calibri"/>
                <a:ea typeface="Calibri"/>
                <a:cs typeface="Calibri"/>
              </a:rPr>
              <a:t>Vollade-Anker: Qc = 0</a:t>
            </a:r>
          </a:p>
        </p:txBody>
      </p:sp>
      <p:sp>
        <p:nvSpPr>
          <p:cNvPr id="1014" name="BM_principle_25">
            <a:extLst xmlns:a="http://schemas.openxmlformats.org/drawingml/2006/main">
              <a:ext uri="{FF2B5EF4-FFF2-40B4-BE49-F238E27FC236}">
                <a16:creationId xmlns:a16="http://schemas.microsoft.com/office/drawing/2014/main" id="{3D58AB21-696E-4057-B2C4-CF07B98B3C15}"/>
              </a:ext>
            </a:extLst>
          </p:cNvPr>
          <p:cNvSpPr>
            <a:spLocks xmlns:a="http://schemas.openxmlformats.org/drawingml/2006/main" noGrp="1"/>
          </p:cNvSpPr>
          <p:nvPr/>
        </p:nvSpPr>
        <p:spPr>
          <a:xfrm xmlns:a="http://schemas.openxmlformats.org/drawingml/2006/main">
            <a:off x="4623757" y="4324350"/>
            <a:ext cx="5320343"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444444"/>
                </a:solidFill>
                <a:latin typeface="Calibri"/>
                <a:ea typeface="Calibri"/>
                <a:cs typeface="Calibri"/>
              </a:defRPr>
            </a:pPr>
            <a:r>
              <a:rPr b="1"/>
              <a:t>Prinzip: </a:t>
            </a:r>
            <a:r>
              <a:t>Stromintegration und Division durch die feste Nennkapazität</a:t>
            </a:r>
          </a:p>
        </p:txBody>
      </p:sp>
      <p:sp>
        <p:nvSpPr>
          <p:cNvPr id="1015" name="BM_benefit_26">
            <a:extLst xmlns:a="http://schemas.openxmlformats.org/drawingml/2006/main">
              <a:ext uri="{FF2B5EF4-FFF2-40B4-BE49-F238E27FC236}">
                <a16:creationId xmlns:a16="http://schemas.microsoft.com/office/drawing/2014/main" id="{213F54ED-C6E5-49EC-80C1-5D81E345D749}"/>
              </a:ext>
            </a:extLst>
          </p:cNvPr>
          <p:cNvSpPr>
            <a:spLocks xmlns:a="http://schemas.openxmlformats.org/drawingml/2006/main" noGrp="1"/>
          </p:cNvSpPr>
          <p:nvPr/>
        </p:nvSpPr>
        <p:spPr>
          <a:xfrm xmlns:a="http://schemas.openxmlformats.org/drawingml/2006/main">
            <a:off x="4623757" y="5086350"/>
            <a:ext cx="5320343"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444444"/>
                </a:solidFill>
                <a:latin typeface="Calibri"/>
                <a:ea typeface="Calibri"/>
                <a:cs typeface="Calibri"/>
              </a:defRPr>
            </a:pPr>
            <a:r>
              <a:rPr b="1"/>
              <a:t>Nutzen: </a:t>
            </a:r>
            <a:r>
              <a:t>Transparente Referenz mit geringem Rechen- und Speicherbedarf</a:t>
            </a:r>
          </a:p>
        </p:txBody>
      </p:sp>
    </p:spTree>
    <p:extLst>
      <p:ext uri="{BB962C8B-B14F-4D97-AF65-F5344CB8AC3E}">
        <p14:creationId xmlns:p14="http://schemas.microsoft.com/office/powerpoint/2010/main" val="2606044684"/>
      </p:ext>
    </p:extLst>
  </p:cSld>
  <p:transition spd="fast" advClick="1">
    <p:fade/>
  </p:transition>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wrap="none" lIns="0" tIns="0" rIns="0" bIns="0" anchor="t">
            <a:noAutofit/>
          </a:bodyPr>
          <a:lstStyle xmlns:a="http://schemas.openxmlformats.org/drawingml/2006/main"/>
          <ns0:p xmlns:ns0="http://schemas.openxmlformats.org/drawingml/2006/main">
            <ns0:pPr algn="l">
              <ns0:lnSpc>
                <ns0:spcPct val="106000"/>
              </ns0:lnSpc>
              <ns0:buNone/>
              <ns0:defRPr sz="2400" b="0">
                <ns0:solidFill>
                  <ns0:srgbClr val="CC001C"/>
                </ns0:solidFill>
                <ns0:latin typeface="Calibri"/>
                <ns0:ea typeface="Calibri"/>
                <ns0:cs typeface="Calibri"/>
              </ns0:defRPr>
            </ns0:pPr>
            <ns0:r>
              <ns0:rPr sz="2400" b="0">
                <ns0:solidFill>
                  <ns0:srgbClr val="CC001C"/>
                </ns0:solidFill>
                <ns0:latin typeface="Calibri"/>
                <ns0:ea typeface="Calibri"/>
                <ns0:cs typeface="Calibri"/>
              </ns0:rPr>
              <ns0:t>Benchmark: Aufbau der SOC-Modelle</ns0:t>
            </ns0:r>
          </ns0: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ns1:p xmlns:ns1="http://schemas.openxmlformats.org/drawingml/2006/main">
            <ns1:pPr algn="l">
              <ns1:lnSpc>
                <ns1:spcPct val="106000"/>
              </ns1:lnSpc>
              <ns1:buNone/>
              <ns1:defRPr sz="1350" b="0">
                <ns1:solidFill>
                  <ns1:srgbClr val="FFFFFF"/>
                </ns1:solidFill>
                <ns1:latin typeface="Calibri"/>
                <ns1:ea typeface="Calibri"/>
                <ns1:cs typeface="Calibri"/>
              </ns1:defRPr>
            </ns1:pPr>
            <ns1:r>
              <ns1:rPr sz="1350" b="0">
                <ns1:solidFill>
                  <ns1:srgbClr val="FFFFFF"/>
                </ns1:solidFill>
                <ns1:latin typeface="Calibri"/>
                <ns1:ea typeface="Calibri"/>
                <ns1:cs typeface="Calibri"/>
              </ns1:rPr>
              <ns1:t>18 / 44</ns1:t>
            </ns1:r>
          </ns1: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sp>
        <p:nvSpPr>
          <p:cNvPr id="17" name="Structure separator">
            <a:extLst xmlns:a="http://schemas.openxmlformats.org/drawingml/2006/main">
              <a:ext uri="{FF2B5EF4-FFF2-40B4-BE49-F238E27FC236}">
                <a16:creationId xmlns:a16="http://schemas.microsoft.com/office/drawing/2014/main" id="{3234B77F-CF7F-4AAF-85D2-CD5F42ABDE74}"/>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18" name="Structure label">
            <a:extLst xmlns:a="http://schemas.openxmlformats.org/drawingml/2006/main">
              <a:ext uri="{FF2B5EF4-FFF2-40B4-BE49-F238E27FC236}">
                <a16:creationId xmlns:a16="http://schemas.microsoft.com/office/drawing/2014/main" id="{93767A57-046D-4E03-9DB7-C2DE644254C5}"/>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xmlns:a="http://schemas.openxmlformats.org/drawingml/2006/main">
              <a:ext uri="{FF2B5EF4-FFF2-40B4-BE49-F238E27FC236}">
                <a16:creationId xmlns:a16="http://schemas.microsoft.com/office/drawing/2014/main" id="{463E2E83-9E2B-40E5-B14E-E0025CA64298}"/>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xmlns:a="http://schemas.openxmlformats.org/drawingml/2006/main">
              <a:ext uri="{FF2B5EF4-FFF2-40B4-BE49-F238E27FC236}">
                <a16:creationId xmlns:a16="http://schemas.microsoft.com/office/drawing/2014/main" id="{140E3643-1C82-49BA-A14C-C8ECC31F07C0}"/>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xmlns:a="http://schemas.openxmlformats.org/drawingml/2006/main">
              <a:ext uri="{FF2B5EF4-FFF2-40B4-BE49-F238E27FC236}">
                <a16:creationId xmlns:a16="http://schemas.microsoft.com/office/drawing/2014/main" id="{A5637DB6-2587-4D2C-B2D5-5DB5F9DDAFDA}"/>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xmlns:a="http://schemas.openxmlformats.org/drawingml/2006/main">
              <a:ext uri="{FF2B5EF4-FFF2-40B4-BE49-F238E27FC236}">
                <a16:creationId xmlns:a16="http://schemas.microsoft.com/office/drawing/2014/main" id="{FFAFBC42-ABF6-498C-A7A0-0A3B65F2B163}"/>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xmlns:a="http://schemas.openxmlformats.org/drawingml/2006/main">
              <a:ext uri="{FF2B5EF4-FFF2-40B4-BE49-F238E27FC236}">
                <a16:creationId xmlns:a16="http://schemas.microsoft.com/office/drawing/2014/main" id="{7196F72B-F323-4AD8-A320-9F6FC3A1C228}"/>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xmlns:a="http://schemas.openxmlformats.org/drawingml/2006/main">
              <a:ext uri="{FF2B5EF4-FFF2-40B4-BE49-F238E27FC236}">
                <a16:creationId xmlns:a16="http://schemas.microsoft.com/office/drawing/2014/main" id="{3C1D7EE0-5401-489D-9328-37AF523F9E03}"/>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1000" name="BM_column_divider_27">
            <a:extLst xmlns:a="http://schemas.openxmlformats.org/drawingml/2006/main">
              <a:ext uri="{FF2B5EF4-FFF2-40B4-BE49-F238E27FC236}">
                <a16:creationId xmlns:a16="http://schemas.microsoft.com/office/drawing/2014/main" id="{D090818E-8A46-4660-B63C-ED140CC0DD42}"/>
              </a:ext>
            </a:extLst>
          </p:cNvPr>
          <p:cNvSpPr>
            <a:spLocks xmlns:a="http://schemas.openxmlformats.org/drawingml/2006/main" noGrp="1"/>
          </p:cNvSpPr>
          <p:nvPr/>
        </p:nvSpPr>
        <p:spPr>
          <a:xfrm xmlns:a="http://schemas.openxmlformats.org/drawingml/2006/main">
            <a:off x="4171950" y="1543050"/>
            <a:ext cx="11430" cy="4248150"/>
          </a:xfrm>
          <a:prstGeom xmlns:a="http://schemas.openxmlformats.org/drawingml/2006/main" prst="rect">
            <a:avLst/>
          </a:prstGeom>
          <a:solidFill xmlns:a="http://schemas.openxmlformats.org/drawingml/2006/main">
            <a:srgbClr val="DDE2E6"/>
          </a:solidFill>
          <a:ln xmlns:a="http://schemas.openxmlformats.org/drawingml/2006/main" w="0">
            <a:noFill/>
          </a:ln>
        </p:spPr>
      </p:sp>
      <p:sp>
        <p:nvSpPr>
          <p:cNvPr id="1001" name="BM_model_list_abbr_0_28">
            <a:extLst xmlns:a="http://schemas.openxmlformats.org/drawingml/2006/main">
              <a:ext uri="{FF2B5EF4-FFF2-40B4-BE49-F238E27FC236}">
                <a16:creationId xmlns:a16="http://schemas.microsoft.com/office/drawing/2014/main" id="{31DAD3AA-7F7E-4ABB-A513-FC2C7155E863}"/>
              </a:ext>
            </a:extLst>
          </p:cNvPr>
          <p:cNvSpPr>
            <a:spLocks xmlns:a="http://schemas.openxmlformats.org/drawingml/2006/main" noGrp="1"/>
          </p:cNvSpPr>
          <p:nvPr/>
        </p:nvSpPr>
        <p:spPr>
          <a:xfrm xmlns:a="http://schemas.openxmlformats.org/drawingml/2006/main">
            <a:off x="762000" y="1628775"/>
            <a:ext cx="312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8D9399"/>
                </a:solidFill>
                <a:latin typeface="Calibri"/>
                <a:ea typeface="Calibri"/>
                <a:cs typeface="Calibri"/>
              </a:defRPr>
            </a:pPr>
            <a:r>
              <a:rPr sz="1800" b="1">
                <a:solidFill>
                  <a:srgbClr val="8D9399"/>
                </a:solidFill>
                <a:latin typeface="Calibri"/>
                <a:ea typeface="Calibri"/>
                <a:cs typeface="Calibri"/>
              </a:rPr>
              <a:t>DM</a:t>
            </a:r>
          </a:p>
        </p:txBody>
      </p:sp>
      <p:sp>
        <p:nvSpPr>
          <p:cNvPr id="1002" name="BM_model_list_family_0_29">
            <a:extLst xmlns:a="http://schemas.openxmlformats.org/drawingml/2006/main">
              <a:ext uri="{FF2B5EF4-FFF2-40B4-BE49-F238E27FC236}">
                <a16:creationId xmlns:a16="http://schemas.microsoft.com/office/drawing/2014/main" id="{D404B5E8-4DED-446D-AC5D-2E09CD7F2B78}"/>
              </a:ext>
            </a:extLst>
          </p:cNvPr>
          <p:cNvSpPr>
            <a:spLocks xmlns:a="http://schemas.openxmlformats.org/drawingml/2006/main" noGrp="1"/>
          </p:cNvSpPr>
          <p:nvPr/>
        </p:nvSpPr>
        <p:spPr>
          <a:xfrm xmlns:a="http://schemas.openxmlformats.org/drawingml/2006/main">
            <a:off x="762000" y="2000250"/>
            <a:ext cx="3124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8D9399"/>
                </a:solidFill>
                <a:latin typeface="Calibri"/>
                <a:ea typeface="Calibri"/>
                <a:cs typeface="Calibri"/>
              </a:defRPr>
            </a:pPr>
            <a:r>
              <a:rPr sz="1800" b="0">
                <a:solidFill>
                  <a:srgbClr val="8D9399"/>
                </a:solidFill>
                <a:latin typeface="Calibri"/>
                <a:ea typeface="Calibri"/>
                <a:cs typeface="Calibri"/>
              </a:rPr>
              <a:t>Direct Measurement</a:t>
            </a:r>
          </a:p>
        </p:txBody>
      </p:sp>
      <p:sp>
        <p:nvSpPr>
          <p:cNvPr id="1003" name="BM_current_model_accent_30">
            <a:extLst xmlns:a="http://schemas.openxmlformats.org/drawingml/2006/main">
              <a:ext uri="{FF2B5EF4-FFF2-40B4-BE49-F238E27FC236}">
                <a16:creationId xmlns:a16="http://schemas.microsoft.com/office/drawing/2014/main" id="{901487F5-C07A-4260-87C7-87302B83A619}"/>
              </a:ext>
            </a:extLst>
          </p:cNvPr>
          <p:cNvSpPr>
            <a:spLocks xmlns:a="http://schemas.openxmlformats.org/drawingml/2006/main" noGrp="1"/>
          </p:cNvSpPr>
          <p:nvPr/>
        </p:nvSpPr>
        <p:spPr>
          <a:xfrm xmlns:a="http://schemas.openxmlformats.org/drawingml/2006/main">
            <a:off x="552450" y="2724150"/>
            <a:ext cx="28575" cy="685800"/>
          </a:xfrm>
          <a:prstGeom xmlns:a="http://schemas.openxmlformats.org/drawingml/2006/main" prst="rect">
            <a:avLst/>
          </a:prstGeom>
          <a:solidFill xmlns:a="http://schemas.openxmlformats.org/drawingml/2006/main">
            <a:srgbClr val="D00020"/>
          </a:solidFill>
          <a:ln xmlns:a="http://schemas.openxmlformats.org/drawingml/2006/main" w="0">
            <a:noFill/>
          </a:ln>
        </p:spPr>
      </p:sp>
      <p:sp>
        <p:nvSpPr>
          <p:cNvPr id="1004" name="BM_model_list_abbr_1_31">
            <a:extLst xmlns:a="http://schemas.openxmlformats.org/drawingml/2006/main">
              <a:ext uri="{FF2B5EF4-FFF2-40B4-BE49-F238E27FC236}">
                <a16:creationId xmlns:a16="http://schemas.microsoft.com/office/drawing/2014/main" id="{22EE6A51-4950-41BD-99BF-E9E2AC782DEA}"/>
              </a:ext>
            </a:extLst>
          </p:cNvPr>
          <p:cNvSpPr>
            <a:spLocks xmlns:a="http://schemas.openxmlformats.org/drawingml/2006/main" noGrp="1"/>
          </p:cNvSpPr>
          <p:nvPr/>
        </p:nvSpPr>
        <p:spPr>
          <a:xfrm xmlns:a="http://schemas.openxmlformats.org/drawingml/2006/main">
            <a:off x="762000" y="2695575"/>
            <a:ext cx="312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D00020"/>
                </a:solidFill>
                <a:latin typeface="Calibri"/>
                <a:ea typeface="Calibri"/>
                <a:cs typeface="Calibri"/>
              </a:defRPr>
            </a:pPr>
            <a:r>
              <a:rPr sz="1800" b="1">
                <a:solidFill>
                  <a:srgbClr val="D00020"/>
                </a:solidFill>
                <a:latin typeface="Calibri"/>
                <a:ea typeface="Calibri"/>
                <a:cs typeface="Calibri"/>
              </a:rPr>
              <a:t>HDM</a:t>
            </a:r>
          </a:p>
        </p:txBody>
      </p:sp>
      <p:sp>
        <p:nvSpPr>
          <p:cNvPr id="1005" name="BM_model_list_family_1_32">
            <a:extLst xmlns:a="http://schemas.openxmlformats.org/drawingml/2006/main">
              <a:ext uri="{FF2B5EF4-FFF2-40B4-BE49-F238E27FC236}">
                <a16:creationId xmlns:a16="http://schemas.microsoft.com/office/drawing/2014/main" id="{E7B6528A-EF8B-4A9F-A4A1-0A630D8D65CC}"/>
              </a:ext>
            </a:extLst>
          </p:cNvPr>
          <p:cNvSpPr>
            <a:spLocks xmlns:a="http://schemas.openxmlformats.org/drawingml/2006/main" noGrp="1"/>
          </p:cNvSpPr>
          <p:nvPr/>
        </p:nvSpPr>
        <p:spPr>
          <a:xfrm xmlns:a="http://schemas.openxmlformats.org/drawingml/2006/main">
            <a:off x="762000" y="3067050"/>
            <a:ext cx="3124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444444"/>
                </a:solidFill>
                <a:latin typeface="Calibri"/>
                <a:ea typeface="Calibri"/>
                <a:cs typeface="Calibri"/>
              </a:defRPr>
            </a:pPr>
            <a:r>
              <a:rPr sz="1800" b="0">
                <a:solidFill>
                  <a:srgbClr val="444444"/>
                </a:solidFill>
                <a:latin typeface="Calibri"/>
                <a:ea typeface="Calibri"/>
                <a:cs typeface="Calibri"/>
              </a:rPr>
              <a:t>Hybrid Direct Measurement</a:t>
            </a:r>
          </a:p>
        </p:txBody>
      </p:sp>
      <p:sp>
        <p:nvSpPr>
          <p:cNvPr id="1006" name="BM_model_focus_33">
            <a:extLst xmlns:a="http://schemas.openxmlformats.org/drawingml/2006/main">
              <a:ext uri="{FF2B5EF4-FFF2-40B4-BE49-F238E27FC236}">
                <a16:creationId xmlns:a16="http://schemas.microsoft.com/office/drawing/2014/main" id="{F5B91AF9-7C7C-4E5E-9619-80CFD69C7A3E}"/>
              </a:ext>
            </a:extLst>
          </p:cNvPr>
          <p:cNvSpPr>
            <a:spLocks xmlns:a="http://schemas.openxmlformats.org/drawingml/2006/main" noGrp="1"/>
          </p:cNvSpPr>
          <p:nvPr/>
        </p:nvSpPr>
        <p:spPr>
          <a:xfrm xmlns:a="http://schemas.openxmlformats.org/drawingml/2006/main">
            <a:off x="4623757" y="1533525"/>
            <a:ext cx="5320343"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444444"/>
                </a:solidFill>
                <a:latin typeface="Calibri"/>
                <a:ea typeface="Calibri"/>
                <a:cs typeface="Calibri"/>
              </a:defRPr>
            </a:pPr>
            <a:r>
              <a:rPr sz="1800" b="1">
                <a:solidFill>
                  <a:srgbClr val="444444"/>
                </a:solidFill>
                <a:latin typeface="Calibri"/>
                <a:ea typeface="Calibri"/>
                <a:cs typeface="Calibri"/>
              </a:rPr>
              <a:t>Kapazitätsanpassung mit SOH</a:t>
            </a:r>
          </a:p>
        </p:txBody>
      </p:sp>
      <p:sp>
        <p:nvSpPr>
          <p:cNvPr id="1007" name="BM_hourly_features_34">
            <a:extLst xmlns:a="http://schemas.openxmlformats.org/drawingml/2006/main">
              <a:ext uri="{FF2B5EF4-FFF2-40B4-BE49-F238E27FC236}">
                <a16:creationId xmlns:a16="http://schemas.microsoft.com/office/drawing/2014/main" id="{4749087C-69B7-43CB-8AFB-AA4A6947ACFF}"/>
              </a:ext>
            </a:extLst>
          </p:cNvPr>
          <p:cNvSpPr>
            <a:spLocks xmlns:a="http://schemas.openxmlformats.org/drawingml/2006/main" noGrp="1"/>
          </p:cNvSpPr>
          <p:nvPr/>
        </p:nvSpPr>
        <p:spPr>
          <a:xfrm xmlns:a="http://schemas.openxmlformats.org/drawingml/2006/main">
            <a:off x="4623757" y="1943100"/>
            <a:ext cx="1330086"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444444"/>
                </a:solidFill>
                <a:latin typeface="Calibri"/>
                <a:ea typeface="Calibri"/>
                <a:cs typeface="Calibri"/>
              </a:defRPr>
            </a:pPr>
            <a:r>
              <a:rPr sz="1800" b="0">
                <a:solidFill>
                  <a:srgbClr val="444444"/>
                </a:solidFill>
                <a:latin typeface="Calibri"/>
                <a:ea typeface="Calibri"/>
                <a:cs typeface="Calibri"/>
              </a:rPr>
              <a:t>Stunden-</a:t>
            </a:r>
          </a:p>
          <a:p xmlns:a="http://schemas.openxmlformats.org/drawingml/2006/main">
            <a:pPr algn="ctr">
              <a:defRPr sz="1800" b="0">
                <a:solidFill>
                  <a:srgbClr val="444444"/>
                </a:solidFill>
                <a:latin typeface="Calibri"/>
                <a:ea typeface="Calibri"/>
                <a:cs typeface="Calibri"/>
              </a:defRPr>
            </a:pPr>
            <a:r>
              <a:rPr sz="1800" b="0">
                <a:solidFill>
                  <a:srgbClr val="444444"/>
                </a:solidFill>
                <a:latin typeface="Calibri"/>
                <a:ea typeface="Calibri"/>
                <a:cs typeface="Calibri"/>
              </a:rPr>
              <a:t>Features</a:t>
            </a:r>
          </a:p>
        </p:txBody>
      </p:sp>
      <p:sp>
        <p:nvSpPr>
          <p:cNvPr id="1008" name="BM_soh_lstm_35">
            <a:extLst xmlns:a="http://schemas.openxmlformats.org/drawingml/2006/main">
              <a:ext uri="{FF2B5EF4-FFF2-40B4-BE49-F238E27FC236}">
                <a16:creationId xmlns:a16="http://schemas.microsoft.com/office/drawing/2014/main" id="{413EDCF4-D382-41B7-B508-35E95D78F7FF}"/>
              </a:ext>
            </a:extLst>
          </p:cNvPr>
          <p:cNvSpPr>
            <a:spLocks xmlns:a="http://schemas.openxmlformats.org/drawingml/2006/main" noGrp="1"/>
          </p:cNvSpPr>
          <p:nvPr/>
        </p:nvSpPr>
        <p:spPr>
          <a:xfrm xmlns:a="http://schemas.openxmlformats.org/drawingml/2006/main">
            <a:off x="6302718" y="1952625"/>
            <a:ext cx="1384597" cy="542925"/>
          </a:xfrm>
          <a:prstGeom xmlns:a="http://schemas.openxmlformats.org/drawingml/2006/main" prst="rect">
            <a:avLst/>
          </a:prstGeom>
          <a:solidFill xmlns:a="http://schemas.openxmlformats.org/drawingml/2006/main">
            <a:srgbClr val="FBECEE"/>
          </a:solidFill>
          <a:ln xmlns:a="http://schemas.openxmlformats.org/drawingml/2006/main" w="9525">
            <a:solidFill>
              <a:srgbClr val="899EAC"/>
            </a:solidFill>
          </a:ln>
        </p:spPr>
        <p:txBody>
          <a:bodyPr xmlns:a="http://schemas.openxmlformats.org/drawingml/2006/main" lIns="47625" tIns="28575" rIns="47625" bIns="28575" anchor="ctr">
            <a:noAutofit/>
          </a:bodyPr>
          <a:lstStyle xmlns:a="http://schemas.openxmlformats.org/drawingml/2006/main"/>
          <a:p xmlns:a="http://schemas.openxmlformats.org/drawingml/2006/main">
            <a:pPr algn="ctr">
              <a:defRPr sz="1800">
                <a:solidFill>
                  <a:srgbClr val="444444"/>
                </a:solidFill>
                <a:latin typeface="Calibri"/>
                <a:ea typeface="Calibri"/>
                <a:cs typeface="Calibri"/>
              </a:defRPr>
            </a:pPr>
            <a:r>
              <a:rPr sz="1800">
                <a:solidFill>
                  <a:srgbClr val="444444"/>
                </a:solidFill>
                <a:latin typeface="Calibri"/>
                <a:ea typeface="Calibri"/>
                <a:cs typeface="Calibri"/>
              </a:rPr>
              <a:t>LSTM</a:t>
            </a:r>
          </a:p>
        </p:txBody>
      </p:sp>
      <p:sp>
        <p:nvSpPr>
          <p:cNvPr id="1009" name="BM_soh_output_36">
            <a:extLst xmlns:a="http://schemas.openxmlformats.org/drawingml/2006/main">
              <a:ext uri="{FF2B5EF4-FFF2-40B4-BE49-F238E27FC236}">
                <a16:creationId xmlns:a16="http://schemas.microsoft.com/office/drawing/2014/main" id="{645EEA0D-E204-4973-8F06-56DEF3972EC5}"/>
              </a:ext>
            </a:extLst>
          </p:cNvPr>
          <p:cNvSpPr>
            <a:spLocks xmlns:a="http://schemas.openxmlformats.org/drawingml/2006/main" noGrp="1"/>
          </p:cNvSpPr>
          <p:nvPr/>
        </p:nvSpPr>
        <p:spPr>
          <a:xfrm xmlns:a="http://schemas.openxmlformats.org/drawingml/2006/main">
            <a:off x="8199725" y="2038350"/>
            <a:ext cx="763164"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444444"/>
                </a:solidFill>
                <a:latin typeface="Calibri"/>
                <a:ea typeface="Calibri"/>
                <a:cs typeface="Calibri"/>
              </a:defRPr>
            </a:pPr>
            <a:r>
              <a:rPr sz="1800" b="0">
                <a:solidFill>
                  <a:srgbClr val="444444"/>
                </a:solidFill>
                <a:latin typeface="Calibri"/>
                <a:ea typeface="Calibri"/>
                <a:cs typeface="Calibri"/>
              </a:rPr>
              <a:t>SOH</a:t>
            </a:r>
          </a:p>
        </p:txBody>
      </p:sp>
      <p:cxnSp>
        <p:nvCxnSpPr>
          <p:cNvPr id="1010" name=""/>
          <p:cNvCxnSpPr>
            <a:stCxn xmlns:a="http://schemas.openxmlformats.org/drawingml/2006/main" id="1007" idx="3"/>
            <a:endCxn xmlns:a="http://schemas.openxmlformats.org/drawingml/2006/main" id="1008" idx="1"/>
          </p:cNvCxnSpPr>
          <p:nvPr/>
        </p:nvCxnSpPr>
        <p:spPr>
          <a:xfrm xmlns:a="http://schemas.openxmlformats.org/drawingml/2006/main">
            <a:off x="5953843" y="2219325"/>
            <a:ext cx="348875" cy="4763"/>
          </a:xfrm>
          <a:prstGeom xmlns:a="http://schemas.openxmlformats.org/drawingml/2006/main" prst="straightConnector1">
            <a:avLst/>
          </a:prstGeom>
          <a:ln xmlns:a="http://schemas.openxmlformats.org/drawingml/2006/main" w="17145">
            <a:solidFill>
              <a:srgbClr val="899EAC"/>
            </a:solidFill>
            <a:tailEnd type="triangle" w="sm" len="sm"/>
          </a:ln>
        </p:spPr>
      </p:cxnSp>
      <p:cxnSp>
        <p:nvCxnSpPr>
          <p:cNvPr id="1011" name=""/>
          <p:cNvCxnSpPr>
            <a:stCxn xmlns:a="http://schemas.openxmlformats.org/drawingml/2006/main" id="1008" idx="3"/>
            <a:endCxn xmlns:a="http://schemas.openxmlformats.org/drawingml/2006/main" id="1009" idx="1"/>
          </p:cNvCxnSpPr>
          <p:nvPr/>
        </p:nvCxnSpPr>
        <p:spPr>
          <a:xfrm xmlns:a="http://schemas.openxmlformats.org/drawingml/2006/main" flipV="1">
            <a:off x="7687315" y="2219325"/>
            <a:ext cx="512410" cy="4763"/>
          </a:xfrm>
          <a:prstGeom xmlns:a="http://schemas.openxmlformats.org/drawingml/2006/main" prst="straightConnector1">
            <a:avLst/>
          </a:prstGeom>
          <a:ln xmlns:a="http://schemas.openxmlformats.org/drawingml/2006/main" w="17145">
            <a:solidFill>
              <a:srgbClr val="899EAC"/>
            </a:solidFill>
            <a:tailEnd type="triangle" w="sm" len="sm"/>
          </a:ln>
        </p:spPr>
      </p:cxnSp>
      <p:sp>
        <p:nvSpPr>
          <p:cNvPr id="1012" name="BM_current_input_37">
            <a:extLst xmlns:a="http://schemas.openxmlformats.org/drawingml/2006/main">
              <a:ext uri="{FF2B5EF4-FFF2-40B4-BE49-F238E27FC236}">
                <a16:creationId xmlns:a16="http://schemas.microsoft.com/office/drawing/2014/main" id="{871E6050-7ED5-43F6-A2E0-D43FC69A5986}"/>
              </a:ext>
            </a:extLst>
          </p:cNvPr>
          <p:cNvSpPr>
            <a:spLocks xmlns:a="http://schemas.openxmlformats.org/drawingml/2006/main" noGrp="1"/>
          </p:cNvSpPr>
          <p:nvPr/>
        </p:nvSpPr>
        <p:spPr>
          <a:xfrm xmlns:a="http://schemas.openxmlformats.org/drawingml/2006/main">
            <a:off x="4623757" y="3257550"/>
            <a:ext cx="71955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444444"/>
                </a:solidFill>
                <a:latin typeface="Calibri"/>
                <a:ea typeface="Calibri"/>
                <a:cs typeface="Calibri"/>
              </a:defRPr>
            </a:pPr>
            <a:r>
              <a:rPr sz="1800" b="0">
                <a:solidFill>
                  <a:srgbClr val="444444"/>
                </a:solidFill>
                <a:latin typeface="Calibri"/>
                <a:ea typeface="Calibri"/>
                <a:cs typeface="Calibri"/>
              </a:rPr>
              <a:t>I, Δt</a:t>
            </a:r>
          </a:p>
        </p:txBody>
      </p:sp>
      <p:sp>
        <p:nvSpPr>
          <p:cNvPr id="1013" name="BM_current_integral_38">
            <a:extLst xmlns:a="http://schemas.openxmlformats.org/drawingml/2006/main">
              <a:ext uri="{FF2B5EF4-FFF2-40B4-BE49-F238E27FC236}">
                <a16:creationId xmlns:a16="http://schemas.microsoft.com/office/drawing/2014/main" id="{936B857B-7B33-4541-86E4-76730F9E1DD7}"/>
              </a:ext>
            </a:extLst>
          </p:cNvPr>
          <p:cNvSpPr>
            <a:spLocks xmlns:a="http://schemas.openxmlformats.org/drawingml/2006/main" noGrp="1"/>
          </p:cNvSpPr>
          <p:nvPr/>
        </p:nvSpPr>
        <p:spPr>
          <a:xfrm xmlns:a="http://schemas.openxmlformats.org/drawingml/2006/main">
            <a:off x="5637675" y="3105150"/>
            <a:ext cx="1122941" cy="704850"/>
          </a:xfrm>
          <a:prstGeom xmlns:a="http://schemas.openxmlformats.org/drawingml/2006/main" prst="rect">
            <a:avLst/>
          </a:prstGeom>
          <a:solidFill xmlns:a="http://schemas.openxmlformats.org/drawingml/2006/main">
            <a:srgbClr val="EDF3F7"/>
          </a:solidFill>
          <a:ln xmlns:a="http://schemas.openxmlformats.org/drawingml/2006/main" w="9525">
            <a:solidFill>
              <a:srgbClr val="899EAC"/>
            </a:solidFill>
          </a:ln>
        </p:spPr>
        <p:txBody>
          <a:bodyPr xmlns:a="http://schemas.openxmlformats.org/drawingml/2006/main" lIns="47625" tIns="28575" rIns="47625" bIns="28575" anchor="ctr">
            <a:noAutofit/>
          </a:bodyPr>
          <a:lstStyle xmlns:a="http://schemas.openxmlformats.org/drawingml/2006/main"/>
          <a:p xmlns:a="http://schemas.openxmlformats.org/drawingml/2006/main">
            <a:pPr algn="ctr">
              <a:defRPr sz="1800">
                <a:solidFill>
                  <a:srgbClr val="444444"/>
                </a:solidFill>
                <a:latin typeface="Calibri"/>
                <a:ea typeface="Calibri"/>
                <a:cs typeface="Calibri"/>
              </a:defRPr>
            </a:pPr>
            <a:r>
              <a:rPr sz="1800">
                <a:solidFill>
                  <a:srgbClr val="444444"/>
                </a:solidFill>
                <a:latin typeface="Calibri"/>
                <a:ea typeface="Calibri"/>
                <a:cs typeface="Calibri"/>
              </a:rPr>
              <a:t>∫ I dt</a:t>
            </a:r>
          </a:p>
        </p:txBody>
      </p:sp>
      <p:sp>
        <p:nvSpPr>
          <p:cNvPr id="1014" name="BM_charge_state_39">
            <a:extLst xmlns:a="http://schemas.openxmlformats.org/drawingml/2006/main">
              <a:ext uri="{FF2B5EF4-FFF2-40B4-BE49-F238E27FC236}">
                <a16:creationId xmlns:a16="http://schemas.microsoft.com/office/drawing/2014/main" id="{3E159DB6-6397-45C0-8120-8A6C4D1475CD}"/>
              </a:ext>
            </a:extLst>
          </p:cNvPr>
          <p:cNvSpPr>
            <a:spLocks xmlns:a="http://schemas.openxmlformats.org/drawingml/2006/main" noGrp="1"/>
          </p:cNvSpPr>
          <p:nvPr/>
        </p:nvSpPr>
        <p:spPr>
          <a:xfrm xmlns:a="http://schemas.openxmlformats.org/drawingml/2006/main">
            <a:off x="5637675" y="3867150"/>
            <a:ext cx="1122941"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444444"/>
                </a:solidFill>
                <a:latin typeface="Calibri"/>
                <a:ea typeface="Calibri"/>
                <a:cs typeface="Calibri"/>
              </a:defRPr>
            </a:pPr>
            <a:r>
              <a:rPr sz="1800" b="0">
                <a:solidFill>
                  <a:srgbClr val="444444"/>
                </a:solidFill>
                <a:latin typeface="Calibri"/>
                <a:ea typeface="Calibri"/>
                <a:cs typeface="Calibri"/>
              </a:rPr>
              <a:t>Qc</a:t>
            </a:r>
          </a:p>
        </p:txBody>
      </p:sp>
      <p:sp>
        <p:nvSpPr>
          <p:cNvPr id="1015" name="BM_effective_capacity_40">
            <a:extLst xmlns:a="http://schemas.openxmlformats.org/drawingml/2006/main">
              <a:ext uri="{FF2B5EF4-FFF2-40B4-BE49-F238E27FC236}">
                <a16:creationId xmlns:a16="http://schemas.microsoft.com/office/drawing/2014/main" id="{D275DB93-C2B9-4FB7-BCD2-46D38F822B07}"/>
              </a:ext>
            </a:extLst>
          </p:cNvPr>
          <p:cNvSpPr>
            <a:spLocks xmlns:a="http://schemas.openxmlformats.org/drawingml/2006/main" noGrp="1"/>
          </p:cNvSpPr>
          <p:nvPr/>
        </p:nvSpPr>
        <p:spPr>
          <a:xfrm xmlns:a="http://schemas.openxmlformats.org/drawingml/2006/main">
            <a:off x="7251221" y="3105150"/>
            <a:ext cx="1646254" cy="704850"/>
          </a:xfrm>
          <a:prstGeom xmlns:a="http://schemas.openxmlformats.org/drawingml/2006/main" prst="rect">
            <a:avLst/>
          </a:prstGeom>
          <a:solidFill xmlns:a="http://schemas.openxmlformats.org/drawingml/2006/main">
            <a:srgbClr val="EDF3F7"/>
          </a:solidFill>
          <a:ln xmlns:a="http://schemas.openxmlformats.org/drawingml/2006/main" w="9525">
            <a:solidFill>
              <a:srgbClr val="899EAC"/>
            </a:solidFill>
          </a:ln>
        </p:spPr>
        <p:txBody>
          <a:bodyPr xmlns:a="http://schemas.openxmlformats.org/drawingml/2006/main" lIns="47625" tIns="28575" rIns="47625" bIns="28575" anchor="ctr">
            <a:noAutofit/>
          </a:bodyPr>
          <a:lstStyle xmlns:a="http://schemas.openxmlformats.org/drawingml/2006/main"/>
          <a:p xmlns:a="http://schemas.openxmlformats.org/drawingml/2006/main">
            <a:pPr algn="ctr">
              <a:defRPr sz="1800">
                <a:solidFill>
                  <a:srgbClr val="444444"/>
                </a:solidFill>
                <a:latin typeface="Calibri"/>
                <a:ea typeface="Calibri"/>
                <a:cs typeface="Calibri"/>
              </a:defRPr>
            </a:pPr>
            <a:r>
              <a:rPr sz="1800">
                <a:solidFill>
                  <a:srgbClr val="444444"/>
                </a:solidFill>
                <a:latin typeface="Calibri"/>
                <a:ea typeface="Calibri"/>
                <a:cs typeface="Calibri"/>
              </a:rPr>
              <a:t>Ceff</a:t>
            </a:r>
          </a:p>
          <a:p xmlns:a="http://schemas.openxmlformats.org/drawingml/2006/main">
            <a:pPr algn="ctr">
              <a:defRPr sz="1800">
                <a:solidFill>
                  <a:srgbClr val="444444"/>
                </a:solidFill>
                <a:latin typeface="Calibri"/>
                <a:ea typeface="Calibri"/>
                <a:cs typeface="Calibri"/>
              </a:defRPr>
            </a:pPr>
            <a:r>
              <a:rPr sz="1800">
                <a:solidFill>
                  <a:srgbClr val="444444"/>
                </a:solidFill>
                <a:latin typeface="Calibri"/>
                <a:ea typeface="Calibri"/>
                <a:cs typeface="Calibri"/>
              </a:rPr>
              <a:t>Cnom × SOH</a:t>
            </a:r>
          </a:p>
        </p:txBody>
      </p:sp>
      <p:sp>
        <p:nvSpPr>
          <p:cNvPr id="1016" name="BM_soc_output_41">
            <a:extLst xmlns:a="http://schemas.openxmlformats.org/drawingml/2006/main">
              <a:ext uri="{FF2B5EF4-FFF2-40B4-BE49-F238E27FC236}">
                <a16:creationId xmlns:a16="http://schemas.microsoft.com/office/drawing/2014/main" id="{42E36825-A23A-4686-9B22-431A891754ED}"/>
              </a:ext>
            </a:extLst>
          </p:cNvPr>
          <p:cNvSpPr>
            <a:spLocks xmlns:a="http://schemas.openxmlformats.org/drawingml/2006/main" noGrp="1"/>
          </p:cNvSpPr>
          <p:nvPr/>
        </p:nvSpPr>
        <p:spPr>
          <a:xfrm xmlns:a="http://schemas.openxmlformats.org/drawingml/2006/main">
            <a:off x="9224545" y="3257550"/>
            <a:ext cx="69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444444"/>
                </a:solidFill>
                <a:latin typeface="Calibri"/>
                <a:ea typeface="Calibri"/>
                <a:cs typeface="Calibri"/>
              </a:defRPr>
            </a:pPr>
            <a:r>
              <a:rPr sz="1800" b="0">
                <a:solidFill>
                  <a:srgbClr val="444444"/>
                </a:solidFill>
                <a:latin typeface="Calibri"/>
                <a:ea typeface="Calibri"/>
                <a:cs typeface="Calibri"/>
              </a:rPr>
              <a:t>SOC</a:t>
            </a:r>
          </a:p>
        </p:txBody>
      </p:sp>
      <p:cxnSp>
        <p:nvCxnSpPr>
          <p:cNvPr id="1017" name=""/>
          <p:cNvCxnSpPr>
            <a:stCxn xmlns:a="http://schemas.openxmlformats.org/drawingml/2006/main" id="1012" idx="3"/>
            <a:endCxn xmlns:a="http://schemas.openxmlformats.org/drawingml/2006/main" id="1013" idx="1"/>
          </p:cNvCxnSpPr>
          <p:nvPr/>
        </p:nvCxnSpPr>
        <p:spPr>
          <a:xfrm xmlns:a="http://schemas.openxmlformats.org/drawingml/2006/main" flipV="1">
            <a:off x="5343312" y="3457575"/>
            <a:ext cx="294363" cy="4763"/>
          </a:xfrm>
          <a:prstGeom xmlns:a="http://schemas.openxmlformats.org/drawingml/2006/main" prst="straightConnector1">
            <a:avLst/>
          </a:prstGeom>
          <a:ln xmlns:a="http://schemas.openxmlformats.org/drawingml/2006/main" w="17145">
            <a:solidFill>
              <a:srgbClr val="899EAC"/>
            </a:solidFill>
            <a:tailEnd type="triangle" w="sm" len="sm"/>
          </a:ln>
        </p:spPr>
      </p:cxnSp>
      <p:cxnSp>
        <p:nvCxnSpPr>
          <p:cNvPr id="1018" name=""/>
          <p:cNvCxnSpPr>
            <a:stCxn xmlns:a="http://schemas.openxmlformats.org/drawingml/2006/main" id="1013" idx="3"/>
            <a:endCxn xmlns:a="http://schemas.openxmlformats.org/drawingml/2006/main" id="1015" idx="1"/>
          </p:cNvCxnSpPr>
          <p:nvPr/>
        </p:nvCxnSpPr>
        <p:spPr>
          <a:xfrm xmlns:a="http://schemas.openxmlformats.org/drawingml/2006/main">
            <a:off x="6760616" y="3457575"/>
            <a:ext cx="490605" cy="0"/>
          </a:xfrm>
          <a:prstGeom xmlns:a="http://schemas.openxmlformats.org/drawingml/2006/main" prst="straightConnector1">
            <a:avLst/>
          </a:prstGeom>
          <a:ln xmlns:a="http://schemas.openxmlformats.org/drawingml/2006/main" w="17145">
            <a:solidFill>
              <a:srgbClr val="899EAC"/>
            </a:solidFill>
            <a:tailEnd type="triangle" w="sm" len="sm"/>
          </a:ln>
        </p:spPr>
      </p:cxnSp>
      <p:cxnSp>
        <p:nvCxnSpPr>
          <p:cNvPr id="1019" name=""/>
          <p:cNvCxnSpPr>
            <a:stCxn xmlns:a="http://schemas.openxmlformats.org/drawingml/2006/main" id="1015" idx="3"/>
            <a:endCxn xmlns:a="http://schemas.openxmlformats.org/drawingml/2006/main" id="1016" idx="1"/>
          </p:cNvCxnSpPr>
          <p:nvPr/>
        </p:nvCxnSpPr>
        <p:spPr>
          <a:xfrm xmlns:a="http://schemas.openxmlformats.org/drawingml/2006/main">
            <a:off x="8897475" y="3457575"/>
            <a:ext cx="327070" cy="4763"/>
          </a:xfrm>
          <a:prstGeom xmlns:a="http://schemas.openxmlformats.org/drawingml/2006/main" prst="straightConnector1">
            <a:avLst/>
          </a:prstGeom>
          <a:ln xmlns:a="http://schemas.openxmlformats.org/drawingml/2006/main" w="17145">
            <a:solidFill>
              <a:srgbClr val="899EAC"/>
            </a:solidFill>
            <a:tailEnd type="triangle" w="sm" len="sm"/>
          </a:ln>
        </p:spPr>
      </p:cxnSp>
      <p:cxnSp>
        <p:nvCxnSpPr>
          <p:cNvPr id="1020" name=""/>
          <p:cNvCxnSpPr>
            <a:stCxn xmlns:a="http://schemas.openxmlformats.org/drawingml/2006/main" id="1009" idx="2"/>
            <a:endCxn xmlns:a="http://schemas.openxmlformats.org/drawingml/2006/main" id="1015" idx="0"/>
          </p:cNvCxnSpPr>
          <p:nvPr/>
        </p:nvCxnSpPr>
        <p:spPr>
          <a:xfrm xmlns:a="http://schemas.openxmlformats.org/drawingml/2006/main" flipH="1">
            <a:off x="8074348" y="2400300"/>
            <a:ext cx="506959" cy="704850"/>
          </a:xfrm>
          <a:prstGeom xmlns:a="http://schemas.openxmlformats.org/drawingml/2006/main" prst="bentConnector4">
            <a:avLst>
              <a:gd name="adj1" fmla="val 0"/>
              <a:gd name="adj2" fmla="val 50000"/>
            </a:avLst>
          </a:prstGeom>
          <a:ln xmlns:a="http://schemas.openxmlformats.org/drawingml/2006/main" w="17145">
            <a:solidFill>
              <a:srgbClr val="899EAC"/>
            </a:solidFill>
            <a:tailEnd type="triangle" w="sm" len="sm"/>
          </a:ln>
        </p:spPr>
      </p:cxnSp>
      <p:sp>
        <p:nvSpPr>
          <p:cNvPr id="1021" name="BM_benefit_42">
            <a:extLst xmlns:a="http://schemas.openxmlformats.org/drawingml/2006/main">
              <a:ext uri="{FF2B5EF4-FFF2-40B4-BE49-F238E27FC236}">
                <a16:creationId xmlns:a16="http://schemas.microsoft.com/office/drawing/2014/main" id="{192A7C4A-05D5-4989-AEA1-E4F2B8A9CC2D}"/>
              </a:ext>
            </a:extLst>
          </p:cNvPr>
          <p:cNvSpPr>
            <a:spLocks xmlns:a="http://schemas.openxmlformats.org/drawingml/2006/main" noGrp="1"/>
          </p:cNvSpPr>
          <p:nvPr/>
        </p:nvSpPr>
        <p:spPr>
          <a:xfrm xmlns:a="http://schemas.openxmlformats.org/drawingml/2006/main">
            <a:off x="4623757" y="4324350"/>
            <a:ext cx="5320343"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444444"/>
                </a:solidFill>
                <a:latin typeface="Calibri"/>
                <a:ea typeface="Calibri"/>
                <a:cs typeface="Calibri"/>
              </a:defRPr>
            </a:pPr>
            <a:r>
              <a:rPr b="1"/>
              <a:t>Nutzen: </a:t>
            </a:r>
            <a:r>
              <a:t>Berücksichtigung des Kapazitätsverlusts bei gleichem Integrationskern</a:t>
            </a:r>
          </a:p>
        </p:txBody>
      </p:sp>
      <p:sp>
        <p:nvSpPr>
          <p:cNvPr id="1022" name="BM_lstm_function_43">
            <a:extLst xmlns:a="http://schemas.openxmlformats.org/drawingml/2006/main">
              <a:ext uri="{FF2B5EF4-FFF2-40B4-BE49-F238E27FC236}">
                <a16:creationId xmlns:a16="http://schemas.microsoft.com/office/drawing/2014/main" id="{4FF06190-20DF-4D69-A720-CFEF4FEF1F45}"/>
              </a:ext>
            </a:extLst>
          </p:cNvPr>
          <p:cNvSpPr>
            <a:spLocks xmlns:a="http://schemas.openxmlformats.org/drawingml/2006/main" noGrp="1"/>
          </p:cNvSpPr>
          <p:nvPr/>
        </p:nvSpPr>
        <p:spPr>
          <a:xfrm xmlns:a="http://schemas.openxmlformats.org/drawingml/2006/main">
            <a:off x="4623757" y="5029200"/>
            <a:ext cx="5320343"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444444"/>
                </a:solidFill>
                <a:latin typeface="Calibri"/>
                <a:ea typeface="Calibri"/>
                <a:cs typeface="Calibri"/>
              </a:defRPr>
            </a:pPr>
            <a:r>
              <a:rPr b="1"/>
              <a:t>LSTM: </a:t>
            </a:r>
            <a:r>
              <a:t>Historie im Cell State, Steuerung von Erhalt, Aktualisierung und Ausgabe durch Gates</a:t>
            </a:r>
          </a:p>
        </p:txBody>
      </p:sp>
    </p:spTree>
    <p:extLst>
      <p:ext uri="{BB962C8B-B14F-4D97-AF65-F5344CB8AC3E}">
        <p14:creationId xmlns:p14="http://schemas.microsoft.com/office/powerpoint/2010/main" val="2606044684"/>
      </p:ext>
    </p:extLst>
  </p:cSld>
  <p:transition spd="fast" advClick="1">
    <p:fade/>
  </p:transition>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wrap="none" lIns="0" tIns="0" rIns="0" bIns="0" anchor="t">
            <a:noAutofit/>
          </a:bodyPr>
          <a:lstStyle xmlns:a="http://schemas.openxmlformats.org/drawingml/2006/main"/>
          <ns0:p xmlns:ns0="http://schemas.openxmlformats.org/drawingml/2006/main">
            <ns0:pPr algn="l">
              <ns0:lnSpc>
                <ns0:spcPct val="106000"/>
              </ns0:lnSpc>
              <ns0:buNone/>
              <ns0:defRPr sz="2400" b="0">
                <ns0:solidFill>
                  <ns0:srgbClr val="CC001C"/>
                </ns0:solidFill>
                <ns0:latin typeface="Calibri"/>
                <ns0:ea typeface="Calibri"/>
                <ns0:cs typeface="Calibri"/>
              </ns0:defRPr>
            </ns0:pPr>
            <ns0:r>
              <ns0:rPr sz="2400" b="0">
                <ns0:solidFill>
                  <ns0:srgbClr val="CC001C"/>
                </ns0:solidFill>
                <ns0:latin typeface="Calibri"/>
                <ns0:ea typeface="Calibri"/>
                <ns0:cs typeface="Calibri"/>
              </ns0:rPr>
              <ns0:t>Benchmark: Aufbau der SOC-Modelle</ns0:t>
            </ns0:r>
          </ns0: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ns1:p xmlns:ns1="http://schemas.openxmlformats.org/drawingml/2006/main">
            <ns1:pPr algn="l">
              <ns1:lnSpc>
                <ns1:spcPct val="106000"/>
              </ns1:lnSpc>
              <ns1:buNone/>
              <ns1:defRPr sz="1350" b="0">
                <ns1:solidFill>
                  <ns1:srgbClr val="FFFFFF"/>
                </ns1:solidFill>
                <ns1:latin typeface="Calibri"/>
                <ns1:ea typeface="Calibri"/>
                <ns1:cs typeface="Calibri"/>
              </ns1:defRPr>
            </ns1:pPr>
            <ns1:r>
              <ns1:rPr sz="1350" b="0">
                <ns1:solidFill>
                  <ns1:srgbClr val="FFFFFF"/>
                </ns1:solidFill>
                <ns1:latin typeface="Calibri"/>
                <ns1:ea typeface="Calibri"/>
                <ns1:cs typeface="Calibri"/>
              </ns1:rPr>
              <ns1:t>19 / 44</ns1:t>
            </ns1:r>
          </ns1: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sp>
        <p:nvSpPr>
          <p:cNvPr id="17" name="Structure separator">
            <a:extLst xmlns:a="http://schemas.openxmlformats.org/drawingml/2006/main">
              <a:ext uri="{FF2B5EF4-FFF2-40B4-BE49-F238E27FC236}">
                <a16:creationId xmlns:a16="http://schemas.microsoft.com/office/drawing/2014/main" id="{3234B77F-CF7F-4AAF-85D2-CD5F42ABDE74}"/>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18" name="Structure label">
            <a:extLst xmlns:a="http://schemas.openxmlformats.org/drawingml/2006/main">
              <a:ext uri="{FF2B5EF4-FFF2-40B4-BE49-F238E27FC236}">
                <a16:creationId xmlns:a16="http://schemas.microsoft.com/office/drawing/2014/main" id="{93767A57-046D-4E03-9DB7-C2DE644254C5}"/>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xmlns:a="http://schemas.openxmlformats.org/drawingml/2006/main">
              <a:ext uri="{FF2B5EF4-FFF2-40B4-BE49-F238E27FC236}">
                <a16:creationId xmlns:a16="http://schemas.microsoft.com/office/drawing/2014/main" id="{463E2E83-9E2B-40E5-B14E-E0025CA64298}"/>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xmlns:a="http://schemas.openxmlformats.org/drawingml/2006/main">
              <a:ext uri="{FF2B5EF4-FFF2-40B4-BE49-F238E27FC236}">
                <a16:creationId xmlns:a16="http://schemas.microsoft.com/office/drawing/2014/main" id="{140E3643-1C82-49BA-A14C-C8ECC31F07C0}"/>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xmlns:a="http://schemas.openxmlformats.org/drawingml/2006/main">
              <a:ext uri="{FF2B5EF4-FFF2-40B4-BE49-F238E27FC236}">
                <a16:creationId xmlns:a16="http://schemas.microsoft.com/office/drawing/2014/main" id="{A5637DB6-2587-4D2C-B2D5-5DB5F9DDAFDA}"/>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xmlns:a="http://schemas.openxmlformats.org/drawingml/2006/main">
              <a:ext uri="{FF2B5EF4-FFF2-40B4-BE49-F238E27FC236}">
                <a16:creationId xmlns:a16="http://schemas.microsoft.com/office/drawing/2014/main" id="{FFAFBC42-ABF6-498C-A7A0-0A3B65F2B163}"/>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xmlns:a="http://schemas.openxmlformats.org/drawingml/2006/main">
              <a:ext uri="{FF2B5EF4-FFF2-40B4-BE49-F238E27FC236}">
                <a16:creationId xmlns:a16="http://schemas.microsoft.com/office/drawing/2014/main" id="{7196F72B-F323-4AD8-A320-9F6FC3A1C228}"/>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xmlns:a="http://schemas.openxmlformats.org/drawingml/2006/main">
              <a:ext uri="{FF2B5EF4-FFF2-40B4-BE49-F238E27FC236}">
                <a16:creationId xmlns:a16="http://schemas.microsoft.com/office/drawing/2014/main" id="{3C1D7EE0-5401-489D-9328-37AF523F9E03}"/>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1000" name="BM_column_divider_44">
            <a:extLst xmlns:a="http://schemas.openxmlformats.org/drawingml/2006/main">
              <a:ext uri="{FF2B5EF4-FFF2-40B4-BE49-F238E27FC236}">
                <a16:creationId xmlns:a16="http://schemas.microsoft.com/office/drawing/2014/main" id="{E075B3F1-EE50-471F-9809-655BD7C71333}"/>
              </a:ext>
            </a:extLst>
          </p:cNvPr>
          <p:cNvSpPr>
            <a:spLocks xmlns:a="http://schemas.openxmlformats.org/drawingml/2006/main" noGrp="1"/>
          </p:cNvSpPr>
          <p:nvPr/>
        </p:nvSpPr>
        <p:spPr>
          <a:xfrm xmlns:a="http://schemas.openxmlformats.org/drawingml/2006/main">
            <a:off x="4171950" y="1543050"/>
            <a:ext cx="11430" cy="4248150"/>
          </a:xfrm>
          <a:prstGeom xmlns:a="http://schemas.openxmlformats.org/drawingml/2006/main" prst="rect">
            <a:avLst/>
          </a:prstGeom>
          <a:solidFill xmlns:a="http://schemas.openxmlformats.org/drawingml/2006/main">
            <a:srgbClr val="DDE2E6"/>
          </a:solidFill>
          <a:ln xmlns:a="http://schemas.openxmlformats.org/drawingml/2006/main" w="0">
            <a:noFill/>
          </a:ln>
        </p:spPr>
      </p:sp>
      <p:sp>
        <p:nvSpPr>
          <p:cNvPr id="1001" name="BM_model_list_abbr_0_45">
            <a:extLst xmlns:a="http://schemas.openxmlformats.org/drawingml/2006/main">
              <a:ext uri="{FF2B5EF4-FFF2-40B4-BE49-F238E27FC236}">
                <a16:creationId xmlns:a16="http://schemas.microsoft.com/office/drawing/2014/main" id="{65D2FD4A-C90B-4E54-B154-E87698D0FEB2}"/>
              </a:ext>
            </a:extLst>
          </p:cNvPr>
          <p:cNvSpPr>
            <a:spLocks xmlns:a="http://schemas.openxmlformats.org/drawingml/2006/main" noGrp="1"/>
          </p:cNvSpPr>
          <p:nvPr/>
        </p:nvSpPr>
        <p:spPr>
          <a:xfrm xmlns:a="http://schemas.openxmlformats.org/drawingml/2006/main">
            <a:off x="762000" y="1628775"/>
            <a:ext cx="312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8D9399"/>
                </a:solidFill>
                <a:latin typeface="Calibri"/>
                <a:ea typeface="Calibri"/>
                <a:cs typeface="Calibri"/>
              </a:defRPr>
            </a:pPr>
            <a:r>
              <a:rPr sz="1800" b="1">
                <a:solidFill>
                  <a:srgbClr val="8D9399"/>
                </a:solidFill>
                <a:latin typeface="Calibri"/>
                <a:ea typeface="Calibri"/>
                <a:cs typeface="Calibri"/>
              </a:rPr>
              <a:t>DM</a:t>
            </a:r>
          </a:p>
        </p:txBody>
      </p:sp>
      <p:sp>
        <p:nvSpPr>
          <p:cNvPr id="1002" name="BM_model_list_family_0_46">
            <a:extLst xmlns:a="http://schemas.openxmlformats.org/drawingml/2006/main">
              <a:ext uri="{FF2B5EF4-FFF2-40B4-BE49-F238E27FC236}">
                <a16:creationId xmlns:a16="http://schemas.microsoft.com/office/drawing/2014/main" id="{F8CAB524-B11F-4574-8205-D218A56A67C0}"/>
              </a:ext>
            </a:extLst>
          </p:cNvPr>
          <p:cNvSpPr>
            <a:spLocks xmlns:a="http://schemas.openxmlformats.org/drawingml/2006/main" noGrp="1"/>
          </p:cNvSpPr>
          <p:nvPr/>
        </p:nvSpPr>
        <p:spPr>
          <a:xfrm xmlns:a="http://schemas.openxmlformats.org/drawingml/2006/main">
            <a:off x="762000" y="2000250"/>
            <a:ext cx="3124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8D9399"/>
                </a:solidFill>
                <a:latin typeface="Calibri"/>
                <a:ea typeface="Calibri"/>
                <a:cs typeface="Calibri"/>
              </a:defRPr>
            </a:pPr>
            <a:r>
              <a:rPr sz="1800" b="0">
                <a:solidFill>
                  <a:srgbClr val="8D9399"/>
                </a:solidFill>
                <a:latin typeface="Calibri"/>
                <a:ea typeface="Calibri"/>
                <a:cs typeface="Calibri"/>
              </a:rPr>
              <a:t>Direct Measurement</a:t>
            </a:r>
          </a:p>
        </p:txBody>
      </p:sp>
      <p:sp>
        <p:nvSpPr>
          <p:cNvPr id="1003" name="BM_model_list_abbr_1_47">
            <a:extLst xmlns:a="http://schemas.openxmlformats.org/drawingml/2006/main">
              <a:ext uri="{FF2B5EF4-FFF2-40B4-BE49-F238E27FC236}">
                <a16:creationId xmlns:a16="http://schemas.microsoft.com/office/drawing/2014/main" id="{691132EA-AF57-4D04-B8F2-B638E6761A3A}"/>
              </a:ext>
            </a:extLst>
          </p:cNvPr>
          <p:cNvSpPr>
            <a:spLocks xmlns:a="http://schemas.openxmlformats.org/drawingml/2006/main" noGrp="1"/>
          </p:cNvSpPr>
          <p:nvPr/>
        </p:nvSpPr>
        <p:spPr>
          <a:xfrm xmlns:a="http://schemas.openxmlformats.org/drawingml/2006/main">
            <a:off x="762000" y="2695575"/>
            <a:ext cx="312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8D9399"/>
                </a:solidFill>
                <a:latin typeface="Calibri"/>
                <a:ea typeface="Calibri"/>
                <a:cs typeface="Calibri"/>
              </a:defRPr>
            </a:pPr>
            <a:r>
              <a:rPr sz="1800" b="1">
                <a:solidFill>
                  <a:srgbClr val="8D9399"/>
                </a:solidFill>
                <a:latin typeface="Calibri"/>
                <a:ea typeface="Calibri"/>
                <a:cs typeface="Calibri"/>
              </a:rPr>
              <a:t>HDM</a:t>
            </a:r>
          </a:p>
        </p:txBody>
      </p:sp>
      <p:sp>
        <p:nvSpPr>
          <p:cNvPr id="1004" name="BM_model_list_family_1_48">
            <a:extLst xmlns:a="http://schemas.openxmlformats.org/drawingml/2006/main">
              <a:ext uri="{FF2B5EF4-FFF2-40B4-BE49-F238E27FC236}">
                <a16:creationId xmlns:a16="http://schemas.microsoft.com/office/drawing/2014/main" id="{5339E8C8-8B26-4BCC-9EE8-6C15D2FD2255}"/>
              </a:ext>
            </a:extLst>
          </p:cNvPr>
          <p:cNvSpPr>
            <a:spLocks xmlns:a="http://schemas.openxmlformats.org/drawingml/2006/main" noGrp="1"/>
          </p:cNvSpPr>
          <p:nvPr/>
        </p:nvSpPr>
        <p:spPr>
          <a:xfrm xmlns:a="http://schemas.openxmlformats.org/drawingml/2006/main">
            <a:off x="762000" y="3067050"/>
            <a:ext cx="3124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8D9399"/>
                </a:solidFill>
                <a:latin typeface="Calibri"/>
                <a:ea typeface="Calibri"/>
                <a:cs typeface="Calibri"/>
              </a:defRPr>
            </a:pPr>
            <a:r>
              <a:rPr sz="1800" b="0">
                <a:solidFill>
                  <a:srgbClr val="8D9399"/>
                </a:solidFill>
                <a:latin typeface="Calibri"/>
                <a:ea typeface="Calibri"/>
                <a:cs typeface="Calibri"/>
              </a:rPr>
              <a:t>Hybrid Direct Measurement</a:t>
            </a:r>
          </a:p>
        </p:txBody>
      </p:sp>
      <p:sp>
        <p:nvSpPr>
          <p:cNvPr id="1005" name="BM_current_model_accent_49">
            <a:extLst xmlns:a="http://schemas.openxmlformats.org/drawingml/2006/main">
              <a:ext uri="{FF2B5EF4-FFF2-40B4-BE49-F238E27FC236}">
                <a16:creationId xmlns:a16="http://schemas.microsoft.com/office/drawing/2014/main" id="{A895B32D-4623-44A6-A24D-C7924227942A}"/>
              </a:ext>
            </a:extLst>
          </p:cNvPr>
          <p:cNvSpPr>
            <a:spLocks xmlns:a="http://schemas.openxmlformats.org/drawingml/2006/main" noGrp="1"/>
          </p:cNvSpPr>
          <p:nvPr/>
        </p:nvSpPr>
        <p:spPr>
          <a:xfrm xmlns:a="http://schemas.openxmlformats.org/drawingml/2006/main">
            <a:off x="552450" y="3790950"/>
            <a:ext cx="28575" cy="685800"/>
          </a:xfrm>
          <a:prstGeom xmlns:a="http://schemas.openxmlformats.org/drawingml/2006/main" prst="rect">
            <a:avLst/>
          </a:prstGeom>
          <a:solidFill xmlns:a="http://schemas.openxmlformats.org/drawingml/2006/main">
            <a:srgbClr val="D00020"/>
          </a:solidFill>
          <a:ln xmlns:a="http://schemas.openxmlformats.org/drawingml/2006/main" w="0">
            <a:noFill/>
          </a:ln>
        </p:spPr>
      </p:sp>
      <p:sp>
        <p:nvSpPr>
          <p:cNvPr id="1006" name="BM_model_list_abbr_2_50">
            <a:extLst xmlns:a="http://schemas.openxmlformats.org/drawingml/2006/main">
              <a:ext uri="{FF2B5EF4-FFF2-40B4-BE49-F238E27FC236}">
                <a16:creationId xmlns:a16="http://schemas.microsoft.com/office/drawing/2014/main" id="{DC29B502-08AE-494A-8659-9DE4677420C3}"/>
              </a:ext>
            </a:extLst>
          </p:cNvPr>
          <p:cNvSpPr>
            <a:spLocks xmlns:a="http://schemas.openxmlformats.org/drawingml/2006/main" noGrp="1"/>
          </p:cNvSpPr>
          <p:nvPr/>
        </p:nvSpPr>
        <p:spPr>
          <a:xfrm xmlns:a="http://schemas.openxmlformats.org/drawingml/2006/main">
            <a:off x="762000" y="3762375"/>
            <a:ext cx="312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D00020"/>
                </a:solidFill>
                <a:latin typeface="Calibri"/>
                <a:ea typeface="Calibri"/>
                <a:cs typeface="Calibri"/>
              </a:defRPr>
            </a:pPr>
            <a:r>
              <a:rPr sz="1800" b="1">
                <a:solidFill>
                  <a:srgbClr val="D00020"/>
                </a:solidFill>
                <a:latin typeface="Calibri"/>
                <a:ea typeface="Calibri"/>
                <a:cs typeface="Calibri"/>
              </a:rPr>
              <a:t>HECM</a:t>
            </a:r>
          </a:p>
        </p:txBody>
      </p:sp>
      <p:sp>
        <p:nvSpPr>
          <p:cNvPr id="1007" name="BM_model_list_family_2_51">
            <a:extLst xmlns:a="http://schemas.openxmlformats.org/drawingml/2006/main">
              <a:ext uri="{FF2B5EF4-FFF2-40B4-BE49-F238E27FC236}">
                <a16:creationId xmlns:a16="http://schemas.microsoft.com/office/drawing/2014/main" id="{7BA25A73-33C7-42A1-8570-224D0DAF2D67}"/>
              </a:ext>
            </a:extLst>
          </p:cNvPr>
          <p:cNvSpPr>
            <a:spLocks xmlns:a="http://schemas.openxmlformats.org/drawingml/2006/main" noGrp="1"/>
          </p:cNvSpPr>
          <p:nvPr/>
        </p:nvSpPr>
        <p:spPr>
          <a:xfrm xmlns:a="http://schemas.openxmlformats.org/drawingml/2006/main">
            <a:off x="762000" y="4133850"/>
            <a:ext cx="3124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444444"/>
                </a:solidFill>
                <a:latin typeface="Calibri"/>
                <a:ea typeface="Calibri"/>
                <a:cs typeface="Calibri"/>
              </a:defRPr>
            </a:pPr>
            <a:r>
              <a:rPr sz="1800" b="0">
                <a:solidFill>
                  <a:srgbClr val="444444"/>
                </a:solidFill>
                <a:latin typeface="Calibri"/>
                <a:ea typeface="Calibri"/>
                <a:cs typeface="Calibri"/>
              </a:rPr>
              <a:t>Hybrid Equivalent-Circuit Model</a:t>
            </a:r>
          </a:p>
        </p:txBody>
      </p:sp>
      <p:sp>
        <p:nvSpPr>
          <p:cNvPr id="1008" name="BM_model_focus_52">
            <a:extLst xmlns:a="http://schemas.openxmlformats.org/drawingml/2006/main">
              <a:ext uri="{FF2B5EF4-FFF2-40B4-BE49-F238E27FC236}">
                <a16:creationId xmlns:a16="http://schemas.microsoft.com/office/drawing/2014/main" id="{549B2B4D-C051-44DB-BB0E-734AE14A8CE4}"/>
              </a:ext>
            </a:extLst>
          </p:cNvPr>
          <p:cNvSpPr>
            <a:spLocks xmlns:a="http://schemas.openxmlformats.org/drawingml/2006/main" noGrp="1"/>
          </p:cNvSpPr>
          <p:nvPr/>
        </p:nvSpPr>
        <p:spPr>
          <a:xfrm xmlns:a="http://schemas.openxmlformats.org/drawingml/2006/main">
            <a:off x="4623757" y="1533525"/>
            <a:ext cx="5320343"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444444"/>
                </a:solidFill>
                <a:latin typeface="Calibri"/>
                <a:ea typeface="Calibri"/>
                <a:cs typeface="Calibri"/>
              </a:defRPr>
            </a:pPr>
            <a:r>
              <a:rPr sz="1800" b="1">
                <a:solidFill>
                  <a:srgbClr val="444444"/>
                </a:solidFill>
                <a:latin typeface="Calibri"/>
                <a:ea typeface="Calibri"/>
                <a:cs typeface="Calibri"/>
              </a:rPr>
              <a:t>Spannungsfeedback für SOC</a:t>
            </a:r>
          </a:p>
        </p:txBody>
      </p:sp>
      <p:sp>
        <p:nvSpPr>
          <p:cNvPr id="1009" name="BM_soh_lstm_53">
            <a:extLst xmlns:a="http://schemas.openxmlformats.org/drawingml/2006/main">
              <a:ext uri="{FF2B5EF4-FFF2-40B4-BE49-F238E27FC236}">
                <a16:creationId xmlns:a16="http://schemas.microsoft.com/office/drawing/2014/main" id="{54CA6F18-0996-4771-A267-A7C1813CC150}"/>
              </a:ext>
            </a:extLst>
          </p:cNvPr>
          <p:cNvSpPr>
            <a:spLocks xmlns:a="http://schemas.openxmlformats.org/drawingml/2006/main" noGrp="1"/>
          </p:cNvSpPr>
          <p:nvPr/>
        </p:nvSpPr>
        <p:spPr>
          <a:xfrm xmlns:a="http://schemas.openxmlformats.org/drawingml/2006/main">
            <a:off x="4710976" y="2009775"/>
            <a:ext cx="1460914" cy="619125"/>
          </a:xfrm>
          <a:prstGeom xmlns:a="http://schemas.openxmlformats.org/drawingml/2006/main" prst="rect">
            <a:avLst/>
          </a:prstGeom>
          <a:solidFill xmlns:a="http://schemas.openxmlformats.org/drawingml/2006/main">
            <a:srgbClr val="FBECEE"/>
          </a:solidFill>
          <a:ln xmlns:a="http://schemas.openxmlformats.org/drawingml/2006/main" w="9525">
            <a:solidFill>
              <a:srgbClr val="899EAC"/>
            </a:solidFill>
          </a:ln>
        </p:spPr>
        <p:txBody>
          <a:bodyPr xmlns:a="http://schemas.openxmlformats.org/drawingml/2006/main" lIns="47625" tIns="28575" rIns="47625" bIns="28575" anchor="ctr">
            <a:noAutofit/>
          </a:bodyPr>
          <a:lstStyle xmlns:a="http://schemas.openxmlformats.org/drawingml/2006/main"/>
          <a:p xmlns:a="http://schemas.openxmlformats.org/drawingml/2006/main">
            <a:pPr algn="ctr">
              <a:defRPr sz="1800">
                <a:solidFill>
                  <a:srgbClr val="444444"/>
                </a:solidFill>
                <a:latin typeface="Calibri"/>
                <a:ea typeface="Calibri"/>
                <a:cs typeface="Calibri"/>
              </a:defRPr>
            </a:pPr>
            <a:r>
              <a:rPr sz="1800">
                <a:solidFill>
                  <a:srgbClr val="444444"/>
                </a:solidFill>
                <a:latin typeface="Calibri"/>
                <a:ea typeface="Calibri"/>
                <a:cs typeface="Calibri"/>
              </a:rPr>
              <a:t>LSTM</a:t>
            </a:r>
          </a:p>
          <a:p xmlns:a="http://schemas.openxmlformats.org/drawingml/2006/main">
            <a:pPr algn="ctr">
              <a:defRPr sz="1800">
                <a:solidFill>
                  <a:srgbClr val="444444"/>
                </a:solidFill>
                <a:latin typeface="Calibri"/>
                <a:ea typeface="Calibri"/>
                <a:cs typeface="Calibri"/>
              </a:defRPr>
            </a:pPr>
            <a:r>
              <a:rPr sz="1800">
                <a:solidFill>
                  <a:srgbClr val="444444"/>
                </a:solidFill>
                <a:latin typeface="Calibri"/>
                <a:ea typeface="Calibri"/>
                <a:cs typeface="Calibri"/>
              </a:rPr>
              <a:t>SOH</a:t>
            </a:r>
          </a:p>
        </p:txBody>
      </p:sp>
      <p:sp>
        <p:nvSpPr>
          <p:cNvPr id="1010" name="BM_soh_parameters_54">
            <a:extLst xmlns:a="http://schemas.openxmlformats.org/drawingml/2006/main">
              <a:ext uri="{FF2B5EF4-FFF2-40B4-BE49-F238E27FC236}">
                <a16:creationId xmlns:a16="http://schemas.microsoft.com/office/drawing/2014/main" id="{361C6906-36C8-4FED-BC74-3AD990E72166}"/>
              </a:ext>
            </a:extLst>
          </p:cNvPr>
          <p:cNvSpPr>
            <a:spLocks xmlns:a="http://schemas.openxmlformats.org/drawingml/2006/main" noGrp="1"/>
          </p:cNvSpPr>
          <p:nvPr/>
        </p:nvSpPr>
        <p:spPr>
          <a:xfrm xmlns:a="http://schemas.openxmlformats.org/drawingml/2006/main">
            <a:off x="6826030" y="2009775"/>
            <a:ext cx="2638367" cy="619125"/>
          </a:xfrm>
          <a:prstGeom xmlns:a="http://schemas.openxmlformats.org/drawingml/2006/main" prst="rect">
            <a:avLst/>
          </a:prstGeom>
          <a:solidFill xmlns:a="http://schemas.openxmlformats.org/drawingml/2006/main">
            <a:srgbClr val="EDF3F7"/>
          </a:solidFill>
          <a:ln xmlns:a="http://schemas.openxmlformats.org/drawingml/2006/main" w="9525">
            <a:solidFill>
              <a:srgbClr val="899EAC"/>
            </a:solidFill>
          </a:ln>
        </p:spPr>
        <p:txBody>
          <a:bodyPr xmlns:a="http://schemas.openxmlformats.org/drawingml/2006/main" lIns="47625" tIns="28575" rIns="47625" bIns="28575" anchor="ctr">
            <a:noAutofit/>
          </a:bodyPr>
          <a:lstStyle xmlns:a="http://schemas.openxmlformats.org/drawingml/2006/main"/>
          <a:p xmlns:a="http://schemas.openxmlformats.org/drawingml/2006/main">
            <a:pPr algn="ctr">
              <a:defRPr sz="1800">
                <a:solidFill>
                  <a:srgbClr val="444444"/>
                </a:solidFill>
                <a:latin typeface="Calibri"/>
                <a:ea typeface="Calibri"/>
                <a:cs typeface="Calibri"/>
              </a:defRPr>
            </a:pPr>
            <a:r>
              <a:rPr sz="1800">
                <a:solidFill>
                  <a:srgbClr val="444444"/>
                </a:solidFill>
                <a:latin typeface="Calibri"/>
                <a:ea typeface="Calibri"/>
                <a:cs typeface="Calibri"/>
              </a:rPr>
              <a:t>Kapazität und</a:t>
            </a:r>
          </a:p>
          <a:p xmlns:a="http://schemas.openxmlformats.org/drawingml/2006/main">
            <a:pPr algn="ctr">
              <a:defRPr sz="1800">
                <a:solidFill>
                  <a:srgbClr val="444444"/>
                </a:solidFill>
                <a:latin typeface="Calibri"/>
                <a:ea typeface="Calibri"/>
                <a:cs typeface="Calibri"/>
              </a:defRPr>
            </a:pPr>
            <a:r>
              <a:rPr sz="1800">
                <a:solidFill>
                  <a:srgbClr val="444444"/>
                </a:solidFill>
                <a:latin typeface="Calibri"/>
                <a:ea typeface="Calibri"/>
                <a:cs typeface="Calibri"/>
              </a:rPr>
              <a:t>SOH-Kennfelder</a:t>
            </a:r>
          </a:p>
        </p:txBody>
      </p:sp>
      <p:cxnSp>
        <p:nvCxnSpPr>
          <p:cNvPr id="1011" name=""/>
          <p:cNvCxnSpPr>
            <a:stCxn xmlns:a="http://schemas.openxmlformats.org/drawingml/2006/main" id="1009" idx="3"/>
            <a:endCxn xmlns:a="http://schemas.openxmlformats.org/drawingml/2006/main" id="1010" idx="1"/>
          </p:cNvCxnSpPr>
          <p:nvPr/>
        </p:nvCxnSpPr>
        <p:spPr>
          <a:xfrm xmlns:a="http://schemas.openxmlformats.org/drawingml/2006/main">
            <a:off x="6171890" y="2319338"/>
            <a:ext cx="654140" cy="0"/>
          </a:xfrm>
          <a:prstGeom xmlns:a="http://schemas.openxmlformats.org/drawingml/2006/main" prst="straightConnector1">
            <a:avLst/>
          </a:prstGeom>
          <a:ln xmlns:a="http://schemas.openxmlformats.org/drawingml/2006/main" w="17145">
            <a:solidFill>
              <a:srgbClr val="899EAC"/>
            </a:solidFill>
            <a:tailEnd type="triangle" w="sm" len="sm"/>
          </a:ln>
        </p:spPr>
      </p:cxnSp>
      <p:sp>
        <p:nvSpPr>
          <p:cNvPr id="1012" name="BM_current_input_55">
            <a:extLst xmlns:a="http://schemas.openxmlformats.org/drawingml/2006/main">
              <a:ext uri="{FF2B5EF4-FFF2-40B4-BE49-F238E27FC236}">
                <a16:creationId xmlns:a16="http://schemas.microsoft.com/office/drawing/2014/main" id="{7D12A11B-6446-409F-AA54-C954703D19E3}"/>
              </a:ext>
            </a:extLst>
          </p:cNvPr>
          <p:cNvSpPr>
            <a:spLocks xmlns:a="http://schemas.openxmlformats.org/drawingml/2006/main" noGrp="1"/>
          </p:cNvSpPr>
          <p:nvPr/>
        </p:nvSpPr>
        <p:spPr>
          <a:xfrm xmlns:a="http://schemas.openxmlformats.org/drawingml/2006/main">
            <a:off x="4623757" y="3248025"/>
            <a:ext cx="479703"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444444"/>
                </a:solidFill>
                <a:latin typeface="Calibri"/>
                <a:ea typeface="Calibri"/>
                <a:cs typeface="Calibri"/>
              </a:defRPr>
            </a:pPr>
            <a:r>
              <a:rPr sz="1800" b="0">
                <a:solidFill>
                  <a:srgbClr val="444444"/>
                </a:solidFill>
                <a:latin typeface="Calibri"/>
                <a:ea typeface="Calibri"/>
                <a:cs typeface="Calibri"/>
              </a:rPr>
              <a:t>I</a:t>
            </a:r>
          </a:p>
        </p:txBody>
      </p:sp>
      <p:sp>
        <p:nvSpPr>
          <p:cNvPr id="1013" name="BM_two_rc_model_56">
            <a:extLst xmlns:a="http://schemas.openxmlformats.org/drawingml/2006/main">
              <a:ext uri="{FF2B5EF4-FFF2-40B4-BE49-F238E27FC236}">
                <a16:creationId xmlns:a16="http://schemas.microsoft.com/office/drawing/2014/main" id="{5BC6470A-FADE-4AF7-B75B-D8528E0DF2CE}"/>
              </a:ext>
            </a:extLst>
          </p:cNvPr>
          <p:cNvSpPr>
            <a:spLocks xmlns:a="http://schemas.openxmlformats.org/drawingml/2006/main" noGrp="1"/>
          </p:cNvSpPr>
          <p:nvPr/>
        </p:nvSpPr>
        <p:spPr>
          <a:xfrm xmlns:a="http://schemas.openxmlformats.org/drawingml/2006/main">
            <a:off x="5354214" y="3095625"/>
            <a:ext cx="1886105" cy="704850"/>
          </a:xfrm>
          <a:prstGeom xmlns:a="http://schemas.openxmlformats.org/drawingml/2006/main" prst="rect">
            <a:avLst/>
          </a:prstGeom>
          <a:solidFill xmlns:a="http://schemas.openxmlformats.org/drawingml/2006/main">
            <a:srgbClr val="EDF3F7"/>
          </a:solidFill>
          <a:ln xmlns:a="http://schemas.openxmlformats.org/drawingml/2006/main" w="9525">
            <a:solidFill>
              <a:srgbClr val="899EAC"/>
            </a:solidFill>
          </a:ln>
        </p:spPr>
        <p:txBody>
          <a:bodyPr xmlns:a="http://schemas.openxmlformats.org/drawingml/2006/main" lIns="47625" tIns="28575" rIns="47625" bIns="28575" anchor="ctr">
            <a:noAutofit/>
          </a:bodyPr>
          <a:lstStyle xmlns:a="http://schemas.openxmlformats.org/drawingml/2006/main"/>
          <a:p xmlns:a="http://schemas.openxmlformats.org/drawingml/2006/main">
            <a:pPr algn="ctr">
              <a:defRPr sz="1800">
                <a:solidFill>
                  <a:srgbClr val="444444"/>
                </a:solidFill>
                <a:latin typeface="Calibri"/>
                <a:ea typeface="Calibri"/>
                <a:cs typeface="Calibri"/>
              </a:defRPr>
            </a:pPr>
            <a:r>
              <a:rPr sz="1800">
                <a:solidFill>
                  <a:srgbClr val="444444"/>
                </a:solidFill>
                <a:latin typeface="Calibri"/>
                <a:ea typeface="Calibri"/>
                <a:cs typeface="Calibri"/>
              </a:rPr>
              <a:t>2RC-Modell</a:t>
            </a:r>
          </a:p>
        </p:txBody>
      </p:sp>
      <p:sp>
        <p:nvSpPr>
          <p:cNvPr id="1014" name="BM_ekf_correction_57">
            <a:extLst xmlns:a="http://schemas.openxmlformats.org/drawingml/2006/main">
              <a:ext uri="{FF2B5EF4-FFF2-40B4-BE49-F238E27FC236}">
                <a16:creationId xmlns:a16="http://schemas.microsoft.com/office/drawing/2014/main" id="{B5DBCA9C-8411-472F-82D6-519A3617883C}"/>
              </a:ext>
            </a:extLst>
          </p:cNvPr>
          <p:cNvSpPr>
            <a:spLocks xmlns:a="http://schemas.openxmlformats.org/drawingml/2006/main" noGrp="1"/>
          </p:cNvSpPr>
          <p:nvPr/>
        </p:nvSpPr>
        <p:spPr>
          <a:xfrm xmlns:a="http://schemas.openxmlformats.org/drawingml/2006/main">
            <a:off x="7959874" y="3095625"/>
            <a:ext cx="1929715" cy="704850"/>
          </a:xfrm>
          <a:prstGeom xmlns:a="http://schemas.openxmlformats.org/drawingml/2006/main" prst="rect">
            <a:avLst/>
          </a:prstGeom>
          <a:solidFill xmlns:a="http://schemas.openxmlformats.org/drawingml/2006/main">
            <a:srgbClr val="EDF3F7"/>
          </a:solidFill>
          <a:ln xmlns:a="http://schemas.openxmlformats.org/drawingml/2006/main" w="9525">
            <a:solidFill>
              <a:srgbClr val="899EAC"/>
            </a:solidFill>
          </a:ln>
        </p:spPr>
        <p:txBody>
          <a:bodyPr xmlns:a="http://schemas.openxmlformats.org/drawingml/2006/main" lIns="47625" tIns="28575" rIns="47625" bIns="28575" anchor="ctr">
            <a:noAutofit/>
          </a:bodyPr>
          <a:lstStyle xmlns:a="http://schemas.openxmlformats.org/drawingml/2006/main"/>
          <a:p xmlns:a="http://schemas.openxmlformats.org/drawingml/2006/main">
            <a:pPr algn="ctr">
              <a:defRPr sz="1800">
                <a:solidFill>
                  <a:srgbClr val="444444"/>
                </a:solidFill>
                <a:latin typeface="Calibri"/>
                <a:ea typeface="Calibri"/>
                <a:cs typeface="Calibri"/>
              </a:defRPr>
            </a:pPr>
            <a:r>
              <a:rPr sz="1800">
                <a:solidFill>
                  <a:srgbClr val="444444"/>
                </a:solidFill>
                <a:latin typeface="Calibri"/>
                <a:ea typeface="Calibri"/>
                <a:cs typeface="Calibri"/>
              </a:rPr>
              <a:t>EKF-</a:t>
            </a:r>
          </a:p>
          <a:p xmlns:a="http://schemas.openxmlformats.org/drawingml/2006/main">
            <a:pPr algn="ctr">
              <a:defRPr sz="1800">
                <a:solidFill>
                  <a:srgbClr val="444444"/>
                </a:solidFill>
                <a:latin typeface="Calibri"/>
                <a:ea typeface="Calibri"/>
                <a:cs typeface="Calibri"/>
              </a:defRPr>
            </a:pPr>
            <a:r>
              <a:rPr sz="1800">
                <a:solidFill>
                  <a:srgbClr val="444444"/>
                </a:solidFill>
                <a:latin typeface="Calibri"/>
                <a:ea typeface="Calibri"/>
                <a:cs typeface="Calibri"/>
              </a:rPr>
              <a:t>Korrektur</a:t>
            </a:r>
          </a:p>
        </p:txBody>
      </p:sp>
      <p:sp>
        <p:nvSpPr>
          <p:cNvPr id="1015" name="BM_measured_voltage_58">
            <a:extLst xmlns:a="http://schemas.openxmlformats.org/drawingml/2006/main">
              <a:ext uri="{FF2B5EF4-FFF2-40B4-BE49-F238E27FC236}">
                <a16:creationId xmlns:a16="http://schemas.microsoft.com/office/drawing/2014/main" id="{841FFF5F-1782-441A-99F6-B365B5CA9D7A}"/>
              </a:ext>
            </a:extLst>
          </p:cNvPr>
          <p:cNvSpPr>
            <a:spLocks xmlns:a="http://schemas.openxmlformats.org/drawingml/2006/main" noGrp="1"/>
          </p:cNvSpPr>
          <p:nvPr/>
        </p:nvSpPr>
        <p:spPr>
          <a:xfrm xmlns:a="http://schemas.openxmlformats.org/drawingml/2006/main">
            <a:off x="8254237" y="2724150"/>
            <a:ext cx="1613547"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444444"/>
                </a:solidFill>
                <a:latin typeface="Calibri"/>
                <a:ea typeface="Calibri"/>
                <a:cs typeface="Calibri"/>
              </a:defRPr>
            </a:pPr>
            <a:r>
              <a:rPr sz="1800" b="0">
                <a:solidFill>
                  <a:srgbClr val="444444"/>
                </a:solidFill>
                <a:latin typeface="Calibri"/>
                <a:ea typeface="Calibri"/>
                <a:cs typeface="Calibri"/>
              </a:rPr>
              <a:t>U gemessen</a:t>
            </a:r>
          </a:p>
        </p:txBody>
      </p:sp>
      <p:sp>
        <p:nvSpPr>
          <p:cNvPr id="1016" name="BM_soc_output_59">
            <a:extLst xmlns:a="http://schemas.openxmlformats.org/drawingml/2006/main">
              <a:ext uri="{FF2B5EF4-FFF2-40B4-BE49-F238E27FC236}">
                <a16:creationId xmlns:a16="http://schemas.microsoft.com/office/drawing/2014/main" id="{DCE3712D-7D78-4E0B-8465-C5430322417D}"/>
              </a:ext>
            </a:extLst>
          </p:cNvPr>
          <p:cNvSpPr>
            <a:spLocks xmlns:a="http://schemas.openxmlformats.org/drawingml/2006/main" noGrp="1"/>
          </p:cNvSpPr>
          <p:nvPr/>
        </p:nvSpPr>
        <p:spPr>
          <a:xfrm xmlns:a="http://schemas.openxmlformats.org/drawingml/2006/main">
            <a:off x="8428674" y="3943350"/>
            <a:ext cx="992113"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444444"/>
                </a:solidFill>
                <a:latin typeface="Calibri"/>
                <a:ea typeface="Calibri"/>
                <a:cs typeface="Calibri"/>
              </a:defRPr>
            </a:pPr>
            <a:r>
              <a:rPr sz="1800" b="0">
                <a:solidFill>
                  <a:srgbClr val="444444"/>
                </a:solidFill>
                <a:latin typeface="Calibri"/>
                <a:ea typeface="Calibri"/>
                <a:cs typeface="Calibri"/>
              </a:rPr>
              <a:t>SOC</a:t>
            </a:r>
          </a:p>
        </p:txBody>
      </p:sp>
      <p:cxnSp>
        <p:nvCxnSpPr>
          <p:cNvPr id="1017" name=""/>
          <p:cNvCxnSpPr>
            <a:stCxn xmlns:a="http://schemas.openxmlformats.org/drawingml/2006/main" id="1010" idx="2"/>
            <a:endCxn xmlns:a="http://schemas.openxmlformats.org/drawingml/2006/main" id="1013" idx="0"/>
          </p:cNvCxnSpPr>
          <p:nvPr/>
        </p:nvCxnSpPr>
        <p:spPr>
          <a:xfrm xmlns:a="http://schemas.openxmlformats.org/drawingml/2006/main" flipH="1">
            <a:off x="6297267" y="2628900"/>
            <a:ext cx="1847947" cy="466725"/>
          </a:xfrm>
          <a:prstGeom xmlns:a="http://schemas.openxmlformats.org/drawingml/2006/main" prst="bentConnector4">
            <a:avLst>
              <a:gd name="adj1" fmla="val 0"/>
              <a:gd name="adj2" fmla="val 50000"/>
            </a:avLst>
          </a:prstGeom>
          <a:ln xmlns:a="http://schemas.openxmlformats.org/drawingml/2006/main" w="17145">
            <a:solidFill>
              <a:srgbClr val="899EAC"/>
            </a:solidFill>
            <a:tailEnd type="triangle" w="sm" len="sm"/>
          </a:ln>
        </p:spPr>
      </p:cxnSp>
      <p:cxnSp>
        <p:nvCxnSpPr>
          <p:cNvPr id="1018" name=""/>
          <p:cNvCxnSpPr>
            <a:stCxn xmlns:a="http://schemas.openxmlformats.org/drawingml/2006/main" id="1012" idx="3"/>
            <a:endCxn xmlns:a="http://schemas.openxmlformats.org/drawingml/2006/main" id="1013" idx="1"/>
          </p:cNvCxnSpPr>
          <p:nvPr/>
        </p:nvCxnSpPr>
        <p:spPr>
          <a:xfrm xmlns:a="http://schemas.openxmlformats.org/drawingml/2006/main" flipV="1">
            <a:off x="5103460" y="3448050"/>
            <a:ext cx="250754" cy="4763"/>
          </a:xfrm>
          <a:prstGeom xmlns:a="http://schemas.openxmlformats.org/drawingml/2006/main" prst="straightConnector1">
            <a:avLst/>
          </a:prstGeom>
          <a:ln xmlns:a="http://schemas.openxmlformats.org/drawingml/2006/main" w="17145">
            <a:solidFill>
              <a:srgbClr val="899EAC"/>
            </a:solidFill>
            <a:tailEnd type="triangle" w="sm" len="sm"/>
          </a:ln>
        </p:spPr>
      </p:cxnSp>
      <p:cxnSp>
        <p:nvCxnSpPr>
          <p:cNvPr id="1019" name=""/>
          <p:cNvCxnSpPr>
            <a:stCxn xmlns:a="http://schemas.openxmlformats.org/drawingml/2006/main" id="1013" idx="3"/>
            <a:endCxn xmlns:a="http://schemas.openxmlformats.org/drawingml/2006/main" id="1014" idx="1"/>
          </p:cNvCxnSpPr>
          <p:nvPr/>
        </p:nvCxnSpPr>
        <p:spPr>
          <a:xfrm xmlns:a="http://schemas.openxmlformats.org/drawingml/2006/main">
            <a:off x="7240319" y="3448050"/>
            <a:ext cx="719555" cy="0"/>
          </a:xfrm>
          <a:prstGeom xmlns:a="http://schemas.openxmlformats.org/drawingml/2006/main" prst="straightConnector1">
            <a:avLst/>
          </a:prstGeom>
          <a:ln xmlns:a="http://schemas.openxmlformats.org/drawingml/2006/main" w="17145">
            <a:solidFill>
              <a:srgbClr val="899EAC"/>
            </a:solidFill>
            <a:tailEnd type="triangle" w="sm" len="sm"/>
          </a:ln>
        </p:spPr>
      </p:cxnSp>
      <p:cxnSp>
        <p:nvCxnSpPr>
          <p:cNvPr id="1020" name=""/>
          <p:cNvCxnSpPr>
            <a:stCxn xmlns:a="http://schemas.openxmlformats.org/drawingml/2006/main" id="1015" idx="2"/>
            <a:endCxn xmlns:a="http://schemas.openxmlformats.org/drawingml/2006/main" id="1014" idx="0"/>
          </p:cNvCxnSpPr>
          <p:nvPr/>
        </p:nvCxnSpPr>
        <p:spPr>
          <a:xfrm xmlns:a="http://schemas.openxmlformats.org/drawingml/2006/main" flipH="1">
            <a:off x="8924732" y="3019425"/>
            <a:ext cx="136279" cy="76200"/>
          </a:xfrm>
          <a:prstGeom xmlns:a="http://schemas.openxmlformats.org/drawingml/2006/main" prst="straightConnector1">
            <a:avLst/>
          </a:prstGeom>
          <a:ln xmlns:a="http://schemas.openxmlformats.org/drawingml/2006/main" w="17145">
            <a:solidFill>
              <a:srgbClr val="899EAC"/>
            </a:solidFill>
            <a:tailEnd type="triangle" w="sm" len="sm"/>
          </a:ln>
        </p:spPr>
      </p:cxnSp>
      <p:cxnSp>
        <p:nvCxnSpPr>
          <p:cNvPr id="1021" name=""/>
          <p:cNvCxnSpPr>
            <a:stCxn xmlns:a="http://schemas.openxmlformats.org/drawingml/2006/main" id="1014" idx="2"/>
            <a:endCxn xmlns:a="http://schemas.openxmlformats.org/drawingml/2006/main" id="1016" idx="0"/>
          </p:cNvCxnSpPr>
          <p:nvPr/>
        </p:nvCxnSpPr>
        <p:spPr>
          <a:xfrm xmlns:a="http://schemas.openxmlformats.org/drawingml/2006/main" flipH="1">
            <a:off x="8924731" y="3800475"/>
            <a:ext cx="1" cy="142875"/>
          </a:xfrm>
          <a:prstGeom xmlns:a="http://schemas.openxmlformats.org/drawingml/2006/main" prst="straightConnector1">
            <a:avLst/>
          </a:prstGeom>
          <a:ln xmlns:a="http://schemas.openxmlformats.org/drawingml/2006/main" w="17145">
            <a:solidFill>
              <a:srgbClr val="899EAC"/>
            </a:solidFill>
            <a:tailEnd type="triangle" w="sm" len="sm"/>
          </a:ln>
        </p:spPr>
      </p:cxnSp>
      <p:sp>
        <p:nvSpPr>
          <p:cNvPr id="1022" name="BM_predicted_voltage_60">
            <a:extLst xmlns:a="http://schemas.openxmlformats.org/drawingml/2006/main">
              <a:ext uri="{FF2B5EF4-FFF2-40B4-BE49-F238E27FC236}">
                <a16:creationId xmlns:a16="http://schemas.microsoft.com/office/drawing/2014/main" id="{8F8597B3-ECE1-4262-A46B-6173B6379311}"/>
              </a:ext>
            </a:extLst>
          </p:cNvPr>
          <p:cNvSpPr>
            <a:spLocks xmlns:a="http://schemas.openxmlformats.org/drawingml/2006/main" noGrp="1"/>
          </p:cNvSpPr>
          <p:nvPr/>
        </p:nvSpPr>
        <p:spPr>
          <a:xfrm xmlns:a="http://schemas.openxmlformats.org/drawingml/2006/main">
            <a:off x="7371147" y="3171825"/>
            <a:ext cx="457898"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444444"/>
                </a:solidFill>
                <a:latin typeface="Calibri"/>
                <a:ea typeface="Calibri"/>
                <a:cs typeface="Calibri"/>
              </a:defRPr>
            </a:pPr>
            <a:r>
              <a:rPr sz="1800" b="0">
                <a:solidFill>
                  <a:srgbClr val="444444"/>
                </a:solidFill>
                <a:latin typeface="Calibri"/>
                <a:ea typeface="Calibri"/>
                <a:cs typeface="Calibri"/>
              </a:rPr>
              <a:t>Û</a:t>
            </a:r>
          </a:p>
        </p:txBody>
      </p:sp>
      <p:sp>
        <p:nvSpPr>
          <p:cNvPr id="1023" name="BM_principle_61">
            <a:extLst xmlns:a="http://schemas.openxmlformats.org/drawingml/2006/main">
              <a:ext uri="{FF2B5EF4-FFF2-40B4-BE49-F238E27FC236}">
                <a16:creationId xmlns:a16="http://schemas.microsoft.com/office/drawing/2014/main" id="{5B8D1D82-401E-43D4-AE34-40012F966EC4}"/>
              </a:ext>
            </a:extLst>
          </p:cNvPr>
          <p:cNvSpPr>
            <a:spLocks xmlns:a="http://schemas.openxmlformats.org/drawingml/2006/main" noGrp="1"/>
          </p:cNvSpPr>
          <p:nvPr/>
        </p:nvSpPr>
        <p:spPr>
          <a:xfrm xmlns:a="http://schemas.openxmlformats.org/drawingml/2006/main">
            <a:off x="4623757" y="4438650"/>
            <a:ext cx="5320343"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444444"/>
                </a:solidFill>
                <a:latin typeface="Calibri"/>
                <a:ea typeface="Calibri"/>
                <a:cs typeface="Calibri"/>
              </a:defRPr>
            </a:pPr>
            <a:r>
              <a:rPr b="1"/>
              <a:t>Prinzip: </a:t>
            </a:r>
            <a:r>
              <a:t>Zustandskorrektur durch den EKF über die Spannungsabweichung U − Û</a:t>
            </a:r>
          </a:p>
        </p:txBody>
      </p:sp>
      <p:sp>
        <p:nvSpPr>
          <p:cNvPr id="1024" name="BM_benefit_62">
            <a:extLst xmlns:a="http://schemas.openxmlformats.org/drawingml/2006/main">
              <a:ext uri="{FF2B5EF4-FFF2-40B4-BE49-F238E27FC236}">
                <a16:creationId xmlns:a16="http://schemas.microsoft.com/office/drawing/2014/main" id="{9881A825-1E7C-4009-B78E-9A30BA171C8B}"/>
              </a:ext>
            </a:extLst>
          </p:cNvPr>
          <p:cNvSpPr>
            <a:spLocks xmlns:a="http://schemas.openxmlformats.org/drawingml/2006/main" noGrp="1"/>
          </p:cNvSpPr>
          <p:nvPr/>
        </p:nvSpPr>
        <p:spPr>
          <a:xfrm xmlns:a="http://schemas.openxmlformats.org/drawingml/2006/main">
            <a:off x="4623757" y="5210175"/>
            <a:ext cx="5320343"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444444"/>
                </a:solidFill>
                <a:latin typeface="Calibri"/>
                <a:ea typeface="Calibri"/>
                <a:cs typeface="Calibri"/>
              </a:defRPr>
            </a:pPr>
            <a:r>
              <a:rPr b="1"/>
              <a:t>Nutzen: </a:t>
            </a:r>
            <a:r>
              <a:t>Verbindung von physikalischer Dynamik, SOH-Anpassung und Messfeedback</a:t>
            </a:r>
          </a:p>
        </p:txBody>
      </p:sp>
    </p:spTree>
    <p:extLst>
      <p:ext uri="{BB962C8B-B14F-4D97-AF65-F5344CB8AC3E}">
        <p14:creationId xmlns:p14="http://schemas.microsoft.com/office/powerpoint/2010/main" val="2606044684"/>
      </p:ext>
    </p:extLst>
  </p:cSld>
  <p:transition spd="fast" advClick="1">
    <p:fade/>
  </p:transition>
</p:sld>
</file>

<file path=ppt/slides/slide49.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wrap="none" lIns="0" tIns="0" rIns="0" bIns="0" anchor="t">
            <a:noAutofit/>
          </a:bodyPr>
          <a:lstStyle xmlns:a="http://schemas.openxmlformats.org/drawingml/2006/main"/>
          <ns0:p xmlns:ns0="http://schemas.openxmlformats.org/drawingml/2006/main">
            <ns0:pPr algn="l">
              <ns0:lnSpc>
                <ns0:spcPct val="106000"/>
              </ns0:lnSpc>
              <ns0:buNone/>
              <ns0:defRPr sz="2400" b="0">
                <ns0:solidFill>
                  <ns0:srgbClr val="CC001C"/>
                </ns0:solidFill>
                <ns0:latin typeface="Calibri"/>
                <ns0:ea typeface="Calibri"/>
                <ns0:cs typeface="Calibri"/>
              </ns0:defRPr>
            </ns0:pPr>
            <ns0:r>
              <ns0:rPr sz="2400" b="0">
                <ns0:solidFill>
                  <ns0:srgbClr val="CC001C"/>
                </ns0:solidFill>
                <ns0:latin typeface="Calibri"/>
                <ns0:ea typeface="Calibri"/>
                <ns0:cs typeface="Calibri"/>
              </ns0:rPr>
              <ns0:t>Benchmark: Aufbau der SOC-Modelle</ns0:t>
            </ns0:r>
          </ns0: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ns1:p xmlns:ns1="http://schemas.openxmlformats.org/drawingml/2006/main">
            <ns1:pPr algn="l">
              <ns1:lnSpc>
                <ns1:spcPct val="106000"/>
              </ns1:lnSpc>
              <ns1:buNone/>
              <ns1:defRPr sz="1350" b="0">
                <ns1:solidFill>
                  <ns1:srgbClr val="FFFFFF"/>
                </ns1:solidFill>
                <ns1:latin typeface="Calibri"/>
                <ns1:ea typeface="Calibri"/>
                <ns1:cs typeface="Calibri"/>
              </ns1:defRPr>
            </ns1:pPr>
            <ns1:r>
              <ns1:rPr sz="1350" b="0">
                <ns1:solidFill>
                  <ns1:srgbClr val="FFFFFF"/>
                </ns1:solidFill>
                <ns1:latin typeface="Calibri"/>
                <ns1:ea typeface="Calibri"/>
                <ns1:cs typeface="Calibri"/>
              </ns1:rPr>
              <ns1:t>20 / 44</ns1:t>
            </ns1:r>
          </ns1: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sp>
        <p:nvSpPr>
          <p:cNvPr id="17" name="Structure separator">
            <a:extLst xmlns:a="http://schemas.openxmlformats.org/drawingml/2006/main">
              <a:ext uri="{FF2B5EF4-FFF2-40B4-BE49-F238E27FC236}">
                <a16:creationId xmlns:a16="http://schemas.microsoft.com/office/drawing/2014/main" id="{3234B77F-CF7F-4AAF-85D2-CD5F42ABDE74}"/>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18" name="Structure label">
            <a:extLst xmlns:a="http://schemas.openxmlformats.org/drawingml/2006/main">
              <a:ext uri="{FF2B5EF4-FFF2-40B4-BE49-F238E27FC236}">
                <a16:creationId xmlns:a16="http://schemas.microsoft.com/office/drawing/2014/main" id="{93767A57-046D-4E03-9DB7-C2DE644254C5}"/>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xmlns:a="http://schemas.openxmlformats.org/drawingml/2006/main">
              <a:ext uri="{FF2B5EF4-FFF2-40B4-BE49-F238E27FC236}">
                <a16:creationId xmlns:a16="http://schemas.microsoft.com/office/drawing/2014/main" id="{463E2E83-9E2B-40E5-B14E-E0025CA64298}"/>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xmlns:a="http://schemas.openxmlformats.org/drawingml/2006/main">
              <a:ext uri="{FF2B5EF4-FFF2-40B4-BE49-F238E27FC236}">
                <a16:creationId xmlns:a16="http://schemas.microsoft.com/office/drawing/2014/main" id="{140E3643-1C82-49BA-A14C-C8ECC31F07C0}"/>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xmlns:a="http://schemas.openxmlformats.org/drawingml/2006/main">
              <a:ext uri="{FF2B5EF4-FFF2-40B4-BE49-F238E27FC236}">
                <a16:creationId xmlns:a16="http://schemas.microsoft.com/office/drawing/2014/main" id="{A5637DB6-2587-4D2C-B2D5-5DB5F9DDAFDA}"/>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xmlns:a="http://schemas.openxmlformats.org/drawingml/2006/main">
              <a:ext uri="{FF2B5EF4-FFF2-40B4-BE49-F238E27FC236}">
                <a16:creationId xmlns:a16="http://schemas.microsoft.com/office/drawing/2014/main" id="{FFAFBC42-ABF6-498C-A7A0-0A3B65F2B163}"/>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xmlns:a="http://schemas.openxmlformats.org/drawingml/2006/main">
              <a:ext uri="{FF2B5EF4-FFF2-40B4-BE49-F238E27FC236}">
                <a16:creationId xmlns:a16="http://schemas.microsoft.com/office/drawing/2014/main" id="{7196F72B-F323-4AD8-A320-9F6FC3A1C228}"/>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xmlns:a="http://schemas.openxmlformats.org/drawingml/2006/main">
              <a:ext uri="{FF2B5EF4-FFF2-40B4-BE49-F238E27FC236}">
                <a16:creationId xmlns:a16="http://schemas.microsoft.com/office/drawing/2014/main" id="{3C1D7EE0-5401-489D-9328-37AF523F9E03}"/>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1000" name="BM_column_divider_63">
            <a:extLst xmlns:a="http://schemas.openxmlformats.org/drawingml/2006/main">
              <a:ext uri="{FF2B5EF4-FFF2-40B4-BE49-F238E27FC236}">
                <a16:creationId xmlns:a16="http://schemas.microsoft.com/office/drawing/2014/main" id="{1043F74B-199B-41C6-8CB9-4BCC5E538C06}"/>
              </a:ext>
            </a:extLst>
          </p:cNvPr>
          <p:cNvSpPr>
            <a:spLocks xmlns:a="http://schemas.openxmlformats.org/drawingml/2006/main" noGrp="1"/>
          </p:cNvSpPr>
          <p:nvPr/>
        </p:nvSpPr>
        <p:spPr>
          <a:xfrm xmlns:a="http://schemas.openxmlformats.org/drawingml/2006/main">
            <a:off x="4171950" y="1543050"/>
            <a:ext cx="11430" cy="4248150"/>
          </a:xfrm>
          <a:prstGeom xmlns:a="http://schemas.openxmlformats.org/drawingml/2006/main" prst="rect">
            <a:avLst/>
          </a:prstGeom>
          <a:solidFill xmlns:a="http://schemas.openxmlformats.org/drawingml/2006/main">
            <a:srgbClr val="DDE2E6"/>
          </a:solidFill>
          <a:ln xmlns:a="http://schemas.openxmlformats.org/drawingml/2006/main" w="0">
            <a:noFill/>
          </a:ln>
        </p:spPr>
      </p:sp>
      <p:sp>
        <p:nvSpPr>
          <p:cNvPr id="1001" name="BM_model_list_abbr_0_64">
            <a:extLst xmlns:a="http://schemas.openxmlformats.org/drawingml/2006/main">
              <a:ext uri="{FF2B5EF4-FFF2-40B4-BE49-F238E27FC236}">
                <a16:creationId xmlns:a16="http://schemas.microsoft.com/office/drawing/2014/main" id="{00B2ADCA-FCBA-4651-8A0B-FCB2EC092627}"/>
              </a:ext>
            </a:extLst>
          </p:cNvPr>
          <p:cNvSpPr>
            <a:spLocks xmlns:a="http://schemas.openxmlformats.org/drawingml/2006/main" noGrp="1"/>
          </p:cNvSpPr>
          <p:nvPr/>
        </p:nvSpPr>
        <p:spPr>
          <a:xfrm xmlns:a="http://schemas.openxmlformats.org/drawingml/2006/main">
            <a:off x="762000" y="1628775"/>
            <a:ext cx="312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8D9399"/>
                </a:solidFill>
                <a:latin typeface="Calibri"/>
                <a:ea typeface="Calibri"/>
                <a:cs typeface="Calibri"/>
              </a:defRPr>
            </a:pPr>
            <a:r>
              <a:rPr sz="1800" b="1">
                <a:solidFill>
                  <a:srgbClr val="8D9399"/>
                </a:solidFill>
                <a:latin typeface="Calibri"/>
                <a:ea typeface="Calibri"/>
                <a:cs typeface="Calibri"/>
              </a:rPr>
              <a:t>DM</a:t>
            </a:r>
          </a:p>
        </p:txBody>
      </p:sp>
      <p:sp>
        <p:nvSpPr>
          <p:cNvPr id="1002" name="BM_model_list_family_0_65">
            <a:extLst xmlns:a="http://schemas.openxmlformats.org/drawingml/2006/main">
              <a:ext uri="{FF2B5EF4-FFF2-40B4-BE49-F238E27FC236}">
                <a16:creationId xmlns:a16="http://schemas.microsoft.com/office/drawing/2014/main" id="{984ECDD9-89A1-4CEE-A69E-000E4894EE7D}"/>
              </a:ext>
            </a:extLst>
          </p:cNvPr>
          <p:cNvSpPr>
            <a:spLocks xmlns:a="http://schemas.openxmlformats.org/drawingml/2006/main" noGrp="1"/>
          </p:cNvSpPr>
          <p:nvPr/>
        </p:nvSpPr>
        <p:spPr>
          <a:xfrm xmlns:a="http://schemas.openxmlformats.org/drawingml/2006/main">
            <a:off x="762000" y="2000250"/>
            <a:ext cx="3124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8D9399"/>
                </a:solidFill>
                <a:latin typeface="Calibri"/>
                <a:ea typeface="Calibri"/>
                <a:cs typeface="Calibri"/>
              </a:defRPr>
            </a:pPr>
            <a:r>
              <a:rPr sz="1800" b="0">
                <a:solidFill>
                  <a:srgbClr val="8D9399"/>
                </a:solidFill>
                <a:latin typeface="Calibri"/>
                <a:ea typeface="Calibri"/>
                <a:cs typeface="Calibri"/>
              </a:rPr>
              <a:t>Direct Measurement</a:t>
            </a:r>
          </a:p>
        </p:txBody>
      </p:sp>
      <p:sp>
        <p:nvSpPr>
          <p:cNvPr id="1003" name="BM_model_list_abbr_1_66">
            <a:extLst xmlns:a="http://schemas.openxmlformats.org/drawingml/2006/main">
              <a:ext uri="{FF2B5EF4-FFF2-40B4-BE49-F238E27FC236}">
                <a16:creationId xmlns:a16="http://schemas.microsoft.com/office/drawing/2014/main" id="{AB3EFDDD-7825-434F-9AF5-7BE8C854FB1B}"/>
              </a:ext>
            </a:extLst>
          </p:cNvPr>
          <p:cNvSpPr>
            <a:spLocks xmlns:a="http://schemas.openxmlformats.org/drawingml/2006/main" noGrp="1"/>
          </p:cNvSpPr>
          <p:nvPr/>
        </p:nvSpPr>
        <p:spPr>
          <a:xfrm xmlns:a="http://schemas.openxmlformats.org/drawingml/2006/main">
            <a:off x="762000" y="2695575"/>
            <a:ext cx="312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8D9399"/>
                </a:solidFill>
                <a:latin typeface="Calibri"/>
                <a:ea typeface="Calibri"/>
                <a:cs typeface="Calibri"/>
              </a:defRPr>
            </a:pPr>
            <a:r>
              <a:rPr sz="1800" b="1">
                <a:solidFill>
                  <a:srgbClr val="8D9399"/>
                </a:solidFill>
                <a:latin typeface="Calibri"/>
                <a:ea typeface="Calibri"/>
                <a:cs typeface="Calibri"/>
              </a:rPr>
              <a:t>HDM</a:t>
            </a:r>
          </a:p>
        </p:txBody>
      </p:sp>
      <p:sp>
        <p:nvSpPr>
          <p:cNvPr id="1004" name="BM_model_list_family_1_67">
            <a:extLst xmlns:a="http://schemas.openxmlformats.org/drawingml/2006/main">
              <a:ext uri="{FF2B5EF4-FFF2-40B4-BE49-F238E27FC236}">
                <a16:creationId xmlns:a16="http://schemas.microsoft.com/office/drawing/2014/main" id="{CE8D45B2-33ED-4DB1-9E36-5B9F8F2D8F7A}"/>
              </a:ext>
            </a:extLst>
          </p:cNvPr>
          <p:cNvSpPr>
            <a:spLocks xmlns:a="http://schemas.openxmlformats.org/drawingml/2006/main" noGrp="1"/>
          </p:cNvSpPr>
          <p:nvPr/>
        </p:nvSpPr>
        <p:spPr>
          <a:xfrm xmlns:a="http://schemas.openxmlformats.org/drawingml/2006/main">
            <a:off x="762000" y="3067050"/>
            <a:ext cx="3124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8D9399"/>
                </a:solidFill>
                <a:latin typeface="Calibri"/>
                <a:ea typeface="Calibri"/>
                <a:cs typeface="Calibri"/>
              </a:defRPr>
            </a:pPr>
            <a:r>
              <a:rPr sz="1800" b="0">
                <a:solidFill>
                  <a:srgbClr val="8D9399"/>
                </a:solidFill>
                <a:latin typeface="Calibri"/>
                <a:ea typeface="Calibri"/>
                <a:cs typeface="Calibri"/>
              </a:rPr>
              <a:t>Hybrid Direct Measurement</a:t>
            </a:r>
          </a:p>
        </p:txBody>
      </p:sp>
      <p:sp>
        <p:nvSpPr>
          <p:cNvPr id="1005" name="BM_model_list_abbr_2_68">
            <a:extLst xmlns:a="http://schemas.openxmlformats.org/drawingml/2006/main">
              <a:ext uri="{FF2B5EF4-FFF2-40B4-BE49-F238E27FC236}">
                <a16:creationId xmlns:a16="http://schemas.microsoft.com/office/drawing/2014/main" id="{A3BCA225-4B6F-4BE9-A3CF-ABB922288CEF}"/>
              </a:ext>
            </a:extLst>
          </p:cNvPr>
          <p:cNvSpPr>
            <a:spLocks xmlns:a="http://schemas.openxmlformats.org/drawingml/2006/main" noGrp="1"/>
          </p:cNvSpPr>
          <p:nvPr/>
        </p:nvSpPr>
        <p:spPr>
          <a:xfrm xmlns:a="http://schemas.openxmlformats.org/drawingml/2006/main">
            <a:off x="762000" y="3762375"/>
            <a:ext cx="312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8D9399"/>
                </a:solidFill>
                <a:latin typeface="Calibri"/>
                <a:ea typeface="Calibri"/>
                <a:cs typeface="Calibri"/>
              </a:defRPr>
            </a:pPr>
            <a:r>
              <a:rPr sz="1800" b="1">
                <a:solidFill>
                  <a:srgbClr val="8D9399"/>
                </a:solidFill>
                <a:latin typeface="Calibri"/>
                <a:ea typeface="Calibri"/>
                <a:cs typeface="Calibri"/>
              </a:rPr>
              <a:t>HECM</a:t>
            </a:r>
          </a:p>
        </p:txBody>
      </p:sp>
      <p:sp>
        <p:nvSpPr>
          <p:cNvPr id="1006" name="BM_model_list_family_2_69">
            <a:extLst xmlns:a="http://schemas.openxmlformats.org/drawingml/2006/main">
              <a:ext uri="{FF2B5EF4-FFF2-40B4-BE49-F238E27FC236}">
                <a16:creationId xmlns:a16="http://schemas.microsoft.com/office/drawing/2014/main" id="{930BAE54-D368-427A-818D-CFA2FE49A206}"/>
              </a:ext>
            </a:extLst>
          </p:cNvPr>
          <p:cNvSpPr>
            <a:spLocks xmlns:a="http://schemas.openxmlformats.org/drawingml/2006/main" noGrp="1"/>
          </p:cNvSpPr>
          <p:nvPr/>
        </p:nvSpPr>
        <p:spPr>
          <a:xfrm xmlns:a="http://schemas.openxmlformats.org/drawingml/2006/main">
            <a:off x="762000" y="4133850"/>
            <a:ext cx="3124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8D9399"/>
                </a:solidFill>
                <a:latin typeface="Calibri"/>
                <a:ea typeface="Calibri"/>
                <a:cs typeface="Calibri"/>
              </a:defRPr>
            </a:pPr>
            <a:r>
              <a:rPr sz="1800" b="0">
                <a:solidFill>
                  <a:srgbClr val="8D9399"/>
                </a:solidFill>
                <a:latin typeface="Calibri"/>
                <a:ea typeface="Calibri"/>
                <a:cs typeface="Calibri"/>
              </a:rPr>
              <a:t>Hybrid Equivalent-Circuit Model</a:t>
            </a:r>
          </a:p>
        </p:txBody>
      </p:sp>
      <p:sp>
        <p:nvSpPr>
          <p:cNvPr id="1007" name="BM_current_model_accent_70">
            <a:extLst xmlns:a="http://schemas.openxmlformats.org/drawingml/2006/main">
              <a:ext uri="{FF2B5EF4-FFF2-40B4-BE49-F238E27FC236}">
                <a16:creationId xmlns:a16="http://schemas.microsoft.com/office/drawing/2014/main" id="{CCB31E5A-886B-42A0-A2CB-F20215A44F1B}"/>
              </a:ext>
            </a:extLst>
          </p:cNvPr>
          <p:cNvSpPr>
            <a:spLocks xmlns:a="http://schemas.openxmlformats.org/drawingml/2006/main" noGrp="1"/>
          </p:cNvSpPr>
          <p:nvPr/>
        </p:nvSpPr>
        <p:spPr>
          <a:xfrm xmlns:a="http://schemas.openxmlformats.org/drawingml/2006/main">
            <a:off x="552450" y="4857750"/>
            <a:ext cx="28575" cy="685800"/>
          </a:xfrm>
          <a:prstGeom xmlns:a="http://schemas.openxmlformats.org/drawingml/2006/main" prst="rect">
            <a:avLst/>
          </a:prstGeom>
          <a:solidFill xmlns:a="http://schemas.openxmlformats.org/drawingml/2006/main">
            <a:srgbClr val="D00020"/>
          </a:solidFill>
          <a:ln xmlns:a="http://schemas.openxmlformats.org/drawingml/2006/main" w="0">
            <a:noFill/>
          </a:ln>
        </p:spPr>
      </p:sp>
      <p:sp>
        <p:nvSpPr>
          <p:cNvPr id="1008" name="BM_model_list_abbr_3_71">
            <a:extLst xmlns:a="http://schemas.openxmlformats.org/drawingml/2006/main">
              <a:ext uri="{FF2B5EF4-FFF2-40B4-BE49-F238E27FC236}">
                <a16:creationId xmlns:a16="http://schemas.microsoft.com/office/drawing/2014/main" id="{90CF01B6-7DE2-448C-86D6-82D4DBF7AC76}"/>
              </a:ext>
            </a:extLst>
          </p:cNvPr>
          <p:cNvSpPr>
            <a:spLocks xmlns:a="http://schemas.openxmlformats.org/drawingml/2006/main" noGrp="1"/>
          </p:cNvSpPr>
          <p:nvPr/>
        </p:nvSpPr>
        <p:spPr>
          <a:xfrm xmlns:a="http://schemas.openxmlformats.org/drawingml/2006/main">
            <a:off x="762000" y="4829175"/>
            <a:ext cx="312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D00020"/>
                </a:solidFill>
                <a:latin typeface="Calibri"/>
                <a:ea typeface="Calibri"/>
                <a:cs typeface="Calibri"/>
              </a:defRPr>
            </a:pPr>
            <a:r>
              <a:rPr sz="1800" b="1">
                <a:solidFill>
                  <a:srgbClr val="D00020"/>
                </a:solidFill>
                <a:latin typeface="Calibri"/>
                <a:ea typeface="Calibri"/>
                <a:cs typeface="Calibri"/>
              </a:rPr>
              <a:t>DD</a:t>
            </a:r>
          </a:p>
        </p:txBody>
      </p:sp>
      <p:sp>
        <p:nvSpPr>
          <p:cNvPr id="1009" name="BM_model_list_family_3_72">
            <a:extLst xmlns:a="http://schemas.openxmlformats.org/drawingml/2006/main">
              <a:ext uri="{FF2B5EF4-FFF2-40B4-BE49-F238E27FC236}">
                <a16:creationId xmlns:a16="http://schemas.microsoft.com/office/drawing/2014/main" id="{01135DF6-A683-450B-8953-7057BA4656E4}"/>
              </a:ext>
            </a:extLst>
          </p:cNvPr>
          <p:cNvSpPr>
            <a:spLocks xmlns:a="http://schemas.openxmlformats.org/drawingml/2006/main" noGrp="1"/>
          </p:cNvSpPr>
          <p:nvPr/>
        </p:nvSpPr>
        <p:spPr>
          <a:xfrm xmlns:a="http://schemas.openxmlformats.org/drawingml/2006/main">
            <a:off x="762000" y="5200650"/>
            <a:ext cx="3124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444444"/>
                </a:solidFill>
                <a:latin typeface="Calibri"/>
                <a:ea typeface="Calibri"/>
                <a:cs typeface="Calibri"/>
              </a:defRPr>
            </a:pPr>
            <a:r>
              <a:rPr sz="1800" b="0">
                <a:solidFill>
                  <a:srgbClr val="444444"/>
                </a:solidFill>
                <a:latin typeface="Calibri"/>
                <a:ea typeface="Calibri"/>
                <a:cs typeface="Calibri"/>
              </a:rPr>
              <a:t>Data-Driven Model</a:t>
            </a:r>
          </a:p>
        </p:txBody>
      </p:sp>
      <p:sp>
        <p:nvSpPr>
          <p:cNvPr id="1010" name="BM_model_focus_73">
            <a:extLst xmlns:a="http://schemas.openxmlformats.org/drawingml/2006/main">
              <a:ext uri="{FF2B5EF4-FFF2-40B4-BE49-F238E27FC236}">
                <a16:creationId xmlns:a16="http://schemas.microsoft.com/office/drawing/2014/main" id="{B4248301-25FD-4B2B-BD0F-9DC7552601C3}"/>
              </a:ext>
            </a:extLst>
          </p:cNvPr>
          <p:cNvSpPr>
            <a:spLocks xmlns:a="http://schemas.openxmlformats.org/drawingml/2006/main" noGrp="1"/>
          </p:cNvSpPr>
          <p:nvPr/>
        </p:nvSpPr>
        <p:spPr>
          <a:xfrm xmlns:a="http://schemas.openxmlformats.org/drawingml/2006/main">
            <a:off x="4623757" y="1533525"/>
            <a:ext cx="5320343"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444444"/>
                </a:solidFill>
                <a:latin typeface="Calibri"/>
                <a:ea typeface="Calibri"/>
                <a:cs typeface="Calibri"/>
              </a:defRPr>
            </a:pPr>
            <a:r>
              <a:rPr sz="1800" b="1">
                <a:solidFill>
                  <a:srgbClr val="444444"/>
                </a:solidFill>
                <a:latin typeface="Calibri"/>
                <a:ea typeface="Calibri"/>
                <a:cs typeface="Calibri"/>
              </a:rPr>
              <a:t>SOC aus der Signalhistorie</a:t>
            </a:r>
          </a:p>
        </p:txBody>
      </p:sp>
      <p:sp>
        <p:nvSpPr>
          <p:cNvPr id="1011" name="BM_soh_lstm_74">
            <a:extLst xmlns:a="http://schemas.openxmlformats.org/drawingml/2006/main">
              <a:ext uri="{FF2B5EF4-FFF2-40B4-BE49-F238E27FC236}">
                <a16:creationId xmlns:a16="http://schemas.microsoft.com/office/drawing/2014/main" id="{8196F697-9B53-4D2A-821D-2A66F3C76038}"/>
              </a:ext>
            </a:extLst>
          </p:cNvPr>
          <p:cNvSpPr>
            <a:spLocks xmlns:a="http://schemas.openxmlformats.org/drawingml/2006/main" noGrp="1"/>
          </p:cNvSpPr>
          <p:nvPr/>
        </p:nvSpPr>
        <p:spPr>
          <a:xfrm xmlns:a="http://schemas.openxmlformats.org/drawingml/2006/main">
            <a:off x="4645562" y="2076450"/>
            <a:ext cx="1755277" cy="514350"/>
          </a:xfrm>
          <a:prstGeom xmlns:a="http://schemas.openxmlformats.org/drawingml/2006/main" prst="rect">
            <a:avLst/>
          </a:prstGeom>
          <a:solidFill xmlns:a="http://schemas.openxmlformats.org/drawingml/2006/main">
            <a:srgbClr val="FBECEE"/>
          </a:solidFill>
          <a:ln xmlns:a="http://schemas.openxmlformats.org/drawingml/2006/main" w="9525">
            <a:solidFill>
              <a:srgbClr val="899EAC"/>
            </a:solidFill>
          </a:ln>
        </p:spPr>
        <p:txBody>
          <a:bodyPr xmlns:a="http://schemas.openxmlformats.org/drawingml/2006/main" lIns="47625" tIns="28575" rIns="47625" bIns="28575" anchor="ctr">
            <a:noAutofit/>
          </a:bodyPr>
          <a:lstStyle xmlns:a="http://schemas.openxmlformats.org/drawingml/2006/main"/>
          <a:p xmlns:a="http://schemas.openxmlformats.org/drawingml/2006/main">
            <a:pPr algn="ctr">
              <a:defRPr sz="1800">
                <a:solidFill>
                  <a:srgbClr val="444444"/>
                </a:solidFill>
                <a:latin typeface="Calibri"/>
                <a:ea typeface="Calibri"/>
                <a:cs typeface="Calibri"/>
              </a:defRPr>
            </a:pPr>
            <a:r>
              <a:rPr sz="1800">
                <a:solidFill>
                  <a:srgbClr val="444444"/>
                </a:solidFill>
                <a:latin typeface="Calibri"/>
                <a:ea typeface="Calibri"/>
                <a:cs typeface="Calibri"/>
              </a:rPr>
              <a:t>LSTM · SOH</a:t>
            </a:r>
          </a:p>
        </p:txBody>
      </p:sp>
      <p:sp>
        <p:nvSpPr>
          <p:cNvPr id="1012" name="BM_soc_window_75">
            <a:extLst xmlns:a="http://schemas.openxmlformats.org/drawingml/2006/main">
              <a:ext uri="{FF2B5EF4-FFF2-40B4-BE49-F238E27FC236}">
                <a16:creationId xmlns:a16="http://schemas.microsoft.com/office/drawing/2014/main" id="{05BDF49E-6628-4680-848A-43D58BB5C7AF}"/>
              </a:ext>
            </a:extLst>
          </p:cNvPr>
          <p:cNvSpPr>
            <a:spLocks xmlns:a="http://schemas.openxmlformats.org/drawingml/2006/main" noGrp="1"/>
          </p:cNvSpPr>
          <p:nvPr/>
        </p:nvSpPr>
        <p:spPr>
          <a:xfrm xmlns:a="http://schemas.openxmlformats.org/drawingml/2006/main">
            <a:off x="6815128" y="2619375"/>
            <a:ext cx="308536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777777"/>
                </a:solidFill>
                <a:latin typeface="Calibri"/>
                <a:ea typeface="Calibri"/>
                <a:cs typeface="Calibri"/>
              </a:defRPr>
            </a:pPr>
            <a:r>
              <a:rPr sz="1800" b="0">
                <a:solidFill>
                  <a:srgbClr val="777777"/>
                </a:solidFill>
                <a:latin typeface="Calibri"/>
                <a:ea typeface="Calibri"/>
                <a:cs typeface="Calibri"/>
              </a:rPr>
              <a:t>Fenster: 2024 Samples</a:t>
            </a:r>
          </a:p>
        </p:txBody>
      </p:sp>
      <p:sp>
        <p:nvSpPr>
          <p:cNvPr id="1013" name="BM_causal_features_76">
            <a:extLst xmlns:a="http://schemas.openxmlformats.org/drawingml/2006/main">
              <a:ext uri="{FF2B5EF4-FFF2-40B4-BE49-F238E27FC236}">
                <a16:creationId xmlns:a16="http://schemas.microsoft.com/office/drawing/2014/main" id="{A99F748C-7569-4E02-93AD-2CCBD31D4B5B}"/>
              </a:ext>
            </a:extLst>
          </p:cNvPr>
          <p:cNvSpPr>
            <a:spLocks xmlns:a="http://schemas.openxmlformats.org/drawingml/2006/main" noGrp="1"/>
          </p:cNvSpPr>
          <p:nvPr/>
        </p:nvSpPr>
        <p:spPr>
          <a:xfrm xmlns:a="http://schemas.openxmlformats.org/drawingml/2006/main">
            <a:off x="4591050" y="2924175"/>
            <a:ext cx="1809789" cy="914400"/>
          </a:xfrm>
          <a:prstGeom xmlns:a="http://schemas.openxmlformats.org/drawingml/2006/main" prst="rect">
            <a:avLst/>
          </a:prstGeom>
          <a:solidFill xmlns:a="http://schemas.openxmlformats.org/drawingml/2006/main">
            <a:srgbClr val="EDF3F7"/>
          </a:solidFill>
          <a:ln xmlns:a="http://schemas.openxmlformats.org/drawingml/2006/main" w="9525">
            <a:solidFill>
              <a:srgbClr val="899EAC"/>
            </a:solidFill>
          </a:ln>
        </p:spPr>
        <p:txBody>
          <a:bodyPr xmlns:a="http://schemas.openxmlformats.org/drawingml/2006/main" lIns="47625" tIns="28575" rIns="47625" bIns="28575" anchor="ctr">
            <a:noAutofit/>
          </a:bodyPr>
          <a:lstStyle xmlns:a="http://schemas.openxmlformats.org/drawingml/2006/main"/>
          <a:p xmlns:a="http://schemas.openxmlformats.org/drawingml/2006/main">
            <a:pPr algn="ctr">
              <a:defRPr sz="1800">
                <a:solidFill>
                  <a:srgbClr val="444444"/>
                </a:solidFill>
                <a:latin typeface="Calibri"/>
                <a:ea typeface="Calibri"/>
                <a:cs typeface="Calibri"/>
              </a:defRPr>
            </a:pPr>
            <a:r>
              <a:rPr sz="1800">
                <a:solidFill>
                  <a:srgbClr val="444444"/>
                </a:solidFill>
                <a:latin typeface="Calibri"/>
                <a:ea typeface="Calibri"/>
                <a:cs typeface="Calibri"/>
              </a:rPr>
              <a:t>U, I, T, Qc,</a:t>
            </a:r>
          </a:p>
          <a:p xmlns:a="http://schemas.openxmlformats.org/drawingml/2006/main">
            <a:pPr algn="ctr">
              <a:defRPr sz="1800">
                <a:solidFill>
                  <a:srgbClr val="444444"/>
                </a:solidFill>
                <a:latin typeface="Calibri"/>
                <a:ea typeface="Calibri"/>
                <a:cs typeface="Calibri"/>
              </a:defRPr>
            </a:pPr>
            <a:r>
              <a:rPr sz="1800">
                <a:solidFill>
                  <a:srgbClr val="444444"/>
                </a:solidFill>
                <a:latin typeface="Calibri"/>
                <a:ea typeface="Calibri"/>
                <a:cs typeface="Calibri"/>
              </a:rPr>
              <a:t>dU/dt, dI/dt,</a:t>
            </a:r>
          </a:p>
          <a:p xmlns:a="http://schemas.openxmlformats.org/drawingml/2006/main">
            <a:pPr algn="ctr">
              <a:defRPr sz="1800">
                <a:solidFill>
                  <a:srgbClr val="444444"/>
                </a:solidFill>
                <a:latin typeface="Calibri"/>
                <a:ea typeface="Calibri"/>
                <a:cs typeface="Calibri"/>
              </a:defRPr>
            </a:pPr>
            <a:r>
              <a:rPr sz="1800">
                <a:solidFill>
                  <a:srgbClr val="444444"/>
                </a:solidFill>
                <a:latin typeface="Calibri"/>
                <a:ea typeface="Calibri"/>
                <a:cs typeface="Calibri"/>
              </a:rPr>
              <a:t>Δt, SOH</a:t>
            </a:r>
          </a:p>
        </p:txBody>
      </p:sp>
      <p:sp>
        <p:nvSpPr>
          <p:cNvPr id="1014" name="BM_soc_gru_77">
            <a:extLst xmlns:a="http://schemas.openxmlformats.org/drawingml/2006/main">
              <a:ext uri="{FF2B5EF4-FFF2-40B4-BE49-F238E27FC236}">
                <a16:creationId xmlns:a16="http://schemas.microsoft.com/office/drawing/2014/main" id="{74AF9B76-2D85-4DE9-A51E-CA4ACFE08805}"/>
              </a:ext>
            </a:extLst>
          </p:cNvPr>
          <p:cNvSpPr>
            <a:spLocks xmlns:a="http://schemas.openxmlformats.org/drawingml/2006/main" noGrp="1"/>
          </p:cNvSpPr>
          <p:nvPr/>
        </p:nvSpPr>
        <p:spPr>
          <a:xfrm xmlns:a="http://schemas.openxmlformats.org/drawingml/2006/main">
            <a:off x="6815128" y="2924175"/>
            <a:ext cx="1439109" cy="914400"/>
          </a:xfrm>
          <a:prstGeom xmlns:a="http://schemas.openxmlformats.org/drawingml/2006/main" prst="rect">
            <a:avLst/>
          </a:prstGeom>
          <a:solidFill xmlns:a="http://schemas.openxmlformats.org/drawingml/2006/main">
            <a:srgbClr val="EDF3F7"/>
          </a:solidFill>
          <a:ln xmlns:a="http://schemas.openxmlformats.org/drawingml/2006/main" w="9525">
            <a:solidFill>
              <a:srgbClr val="899EAC"/>
            </a:solidFill>
          </a:ln>
        </p:spPr>
        <p:txBody>
          <a:bodyPr xmlns:a="http://schemas.openxmlformats.org/drawingml/2006/main" lIns="47625" tIns="28575" rIns="47625" bIns="28575" anchor="ctr">
            <a:noAutofit/>
          </a:bodyPr>
          <a:lstStyle xmlns:a="http://schemas.openxmlformats.org/drawingml/2006/main"/>
          <a:p xmlns:a="http://schemas.openxmlformats.org/drawingml/2006/main">
            <a:pPr algn="ctr">
              <a:defRPr sz="1800">
                <a:solidFill>
                  <a:srgbClr val="444444"/>
                </a:solidFill>
                <a:latin typeface="Calibri"/>
                <a:ea typeface="Calibri"/>
                <a:cs typeface="Calibri"/>
              </a:defRPr>
            </a:pPr>
            <a:r>
              <a:rPr sz="1800">
                <a:solidFill>
                  <a:srgbClr val="444444"/>
                </a:solidFill>
                <a:latin typeface="Calibri"/>
                <a:ea typeface="Calibri"/>
                <a:cs typeface="Calibri"/>
              </a:rPr>
              <a:t>GRU</a:t>
            </a:r>
          </a:p>
          <a:p xmlns:a="http://schemas.openxmlformats.org/drawingml/2006/main">
            <a:pPr algn="ctr">
              <a:defRPr sz="1800">
                <a:solidFill>
                  <a:srgbClr val="444444"/>
                </a:solidFill>
                <a:latin typeface="Calibri"/>
                <a:ea typeface="Calibri"/>
                <a:cs typeface="Calibri"/>
              </a:defRPr>
            </a:pPr>
            <a:r>
              <a:rPr sz="1800">
                <a:solidFill>
                  <a:srgbClr val="444444"/>
                </a:solidFill>
                <a:latin typeface="Calibri"/>
                <a:ea typeface="Calibri"/>
                <a:cs typeface="Calibri"/>
              </a:rPr>
              <a:t>67 Einheiten</a:t>
            </a:r>
          </a:p>
        </p:txBody>
      </p:sp>
      <p:sp>
        <p:nvSpPr>
          <p:cNvPr id="1015" name="BM_soc_mlp_head_78">
            <a:extLst xmlns:a="http://schemas.openxmlformats.org/drawingml/2006/main">
              <a:ext uri="{FF2B5EF4-FFF2-40B4-BE49-F238E27FC236}">
                <a16:creationId xmlns:a16="http://schemas.microsoft.com/office/drawing/2014/main" id="{39BA232A-E78D-4913-8BA4-ACBC4E556287}"/>
              </a:ext>
            </a:extLst>
          </p:cNvPr>
          <p:cNvSpPr>
            <a:spLocks xmlns:a="http://schemas.openxmlformats.org/drawingml/2006/main" noGrp="1"/>
          </p:cNvSpPr>
          <p:nvPr/>
        </p:nvSpPr>
        <p:spPr>
          <a:xfrm xmlns:a="http://schemas.openxmlformats.org/drawingml/2006/main">
            <a:off x="8701233" y="3057525"/>
            <a:ext cx="1242867" cy="638175"/>
          </a:xfrm>
          <a:prstGeom xmlns:a="http://schemas.openxmlformats.org/drawingml/2006/main" prst="rect">
            <a:avLst/>
          </a:prstGeom>
          <a:solidFill xmlns:a="http://schemas.openxmlformats.org/drawingml/2006/main">
            <a:srgbClr val="EDF3F7"/>
          </a:solidFill>
          <a:ln xmlns:a="http://schemas.openxmlformats.org/drawingml/2006/main" w="9525">
            <a:solidFill>
              <a:srgbClr val="899EAC"/>
            </a:solidFill>
          </a:ln>
        </p:spPr>
        <p:txBody>
          <a:bodyPr xmlns:a="http://schemas.openxmlformats.org/drawingml/2006/main" lIns="47625" tIns="28575" rIns="47625" bIns="28575" anchor="ctr">
            <a:noAutofit/>
          </a:bodyPr>
          <a:lstStyle xmlns:a="http://schemas.openxmlformats.org/drawingml/2006/main"/>
          <a:p xmlns:a="http://schemas.openxmlformats.org/drawingml/2006/main">
            <a:pPr algn="ctr">
              <a:defRPr sz="1800">
                <a:solidFill>
                  <a:srgbClr val="444444"/>
                </a:solidFill>
                <a:latin typeface="Calibri"/>
                <a:ea typeface="Calibri"/>
                <a:cs typeface="Calibri"/>
              </a:defRPr>
            </a:pPr>
            <a:r>
              <a:rPr sz="1800">
                <a:solidFill>
                  <a:srgbClr val="444444"/>
                </a:solidFill>
                <a:latin typeface="Calibri"/>
                <a:ea typeface="Calibri"/>
                <a:cs typeface="Calibri"/>
              </a:rPr>
              <a:t>MLP-</a:t>
            </a:r>
          </a:p>
          <a:p xmlns:a="http://schemas.openxmlformats.org/drawingml/2006/main">
            <a:pPr algn="ctr">
              <a:defRPr sz="1800">
                <a:solidFill>
                  <a:srgbClr val="444444"/>
                </a:solidFill>
                <a:latin typeface="Calibri"/>
                <a:ea typeface="Calibri"/>
                <a:cs typeface="Calibri"/>
              </a:defRPr>
            </a:pPr>
            <a:r>
              <a:rPr sz="1800">
                <a:solidFill>
                  <a:srgbClr val="444444"/>
                </a:solidFill>
                <a:latin typeface="Calibri"/>
                <a:ea typeface="Calibri"/>
                <a:cs typeface="Calibri"/>
              </a:rPr>
              <a:t>Head</a:t>
            </a:r>
          </a:p>
        </p:txBody>
      </p:sp>
      <p:sp>
        <p:nvSpPr>
          <p:cNvPr id="1016" name="BM_soc_output_79">
            <a:extLst xmlns:a="http://schemas.openxmlformats.org/drawingml/2006/main">
              <a:ext uri="{FF2B5EF4-FFF2-40B4-BE49-F238E27FC236}">
                <a16:creationId xmlns:a16="http://schemas.microsoft.com/office/drawing/2014/main" id="{57C04BB8-61C4-4F1E-AFEB-CF3DD21FFB1B}"/>
              </a:ext>
            </a:extLst>
          </p:cNvPr>
          <p:cNvSpPr>
            <a:spLocks xmlns:a="http://schemas.openxmlformats.org/drawingml/2006/main" noGrp="1"/>
          </p:cNvSpPr>
          <p:nvPr/>
        </p:nvSpPr>
        <p:spPr>
          <a:xfrm xmlns:a="http://schemas.openxmlformats.org/drawingml/2006/main">
            <a:off x="8919280" y="3943350"/>
            <a:ext cx="795871"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444444"/>
                </a:solidFill>
                <a:latin typeface="Calibri"/>
                <a:ea typeface="Calibri"/>
                <a:cs typeface="Calibri"/>
              </a:defRPr>
            </a:pPr>
            <a:r>
              <a:rPr sz="1800" b="0">
                <a:solidFill>
                  <a:srgbClr val="444444"/>
                </a:solidFill>
                <a:latin typeface="Calibri"/>
                <a:ea typeface="Calibri"/>
                <a:cs typeface="Calibri"/>
              </a:rPr>
              <a:t>SOC</a:t>
            </a:r>
          </a:p>
        </p:txBody>
      </p:sp>
      <p:cxnSp>
        <p:nvCxnSpPr>
          <p:cNvPr id="1017" name=""/>
          <p:cNvCxnSpPr>
            <a:stCxn xmlns:a="http://schemas.openxmlformats.org/drawingml/2006/main" id="1011" idx="2"/>
            <a:endCxn xmlns:a="http://schemas.openxmlformats.org/drawingml/2006/main" id="1013" idx="0"/>
          </p:cNvCxnSpPr>
          <p:nvPr/>
        </p:nvCxnSpPr>
        <p:spPr>
          <a:xfrm xmlns:a="http://schemas.openxmlformats.org/drawingml/2006/main" flipH="1">
            <a:off x="5495945" y="2590800"/>
            <a:ext cx="27256" cy="333375"/>
          </a:xfrm>
          <a:prstGeom xmlns:a="http://schemas.openxmlformats.org/drawingml/2006/main" prst="straightConnector1">
            <a:avLst/>
          </a:prstGeom>
          <a:ln xmlns:a="http://schemas.openxmlformats.org/drawingml/2006/main" w="17145">
            <a:solidFill>
              <a:srgbClr val="899EAC"/>
            </a:solidFill>
            <a:tailEnd type="triangle" w="sm" len="sm"/>
          </a:ln>
        </p:spPr>
      </p:cxnSp>
      <p:cxnSp>
        <p:nvCxnSpPr>
          <p:cNvPr id="1018" name=""/>
          <p:cNvCxnSpPr>
            <a:stCxn xmlns:a="http://schemas.openxmlformats.org/drawingml/2006/main" id="1013" idx="3"/>
            <a:endCxn xmlns:a="http://schemas.openxmlformats.org/drawingml/2006/main" id="1014" idx="1"/>
          </p:cNvCxnSpPr>
          <p:nvPr/>
        </p:nvCxnSpPr>
        <p:spPr>
          <a:xfrm xmlns:a="http://schemas.openxmlformats.org/drawingml/2006/main">
            <a:off x="6400839" y="3381375"/>
            <a:ext cx="414289" cy="0"/>
          </a:xfrm>
          <a:prstGeom xmlns:a="http://schemas.openxmlformats.org/drawingml/2006/main" prst="straightConnector1">
            <a:avLst/>
          </a:prstGeom>
          <a:ln xmlns:a="http://schemas.openxmlformats.org/drawingml/2006/main" w="17145">
            <a:solidFill>
              <a:srgbClr val="899EAC"/>
            </a:solidFill>
            <a:tailEnd type="triangle" w="sm" len="sm"/>
          </a:ln>
        </p:spPr>
      </p:cxnSp>
      <p:cxnSp>
        <p:nvCxnSpPr>
          <p:cNvPr id="1019" name=""/>
          <p:cNvCxnSpPr>
            <a:stCxn xmlns:a="http://schemas.openxmlformats.org/drawingml/2006/main" id="1014" idx="3"/>
            <a:endCxn xmlns:a="http://schemas.openxmlformats.org/drawingml/2006/main" id="1015" idx="1"/>
          </p:cNvCxnSpPr>
          <p:nvPr/>
        </p:nvCxnSpPr>
        <p:spPr>
          <a:xfrm xmlns:a="http://schemas.openxmlformats.org/drawingml/2006/main" flipV="1">
            <a:off x="8254237" y="3376613"/>
            <a:ext cx="446996" cy="4763"/>
          </a:xfrm>
          <a:prstGeom xmlns:a="http://schemas.openxmlformats.org/drawingml/2006/main" prst="straightConnector1">
            <a:avLst/>
          </a:prstGeom>
          <a:ln xmlns:a="http://schemas.openxmlformats.org/drawingml/2006/main" w="17145">
            <a:solidFill>
              <a:srgbClr val="899EAC"/>
            </a:solidFill>
            <a:tailEnd type="triangle" w="sm" len="sm"/>
          </a:ln>
        </p:spPr>
      </p:cxnSp>
      <p:cxnSp>
        <p:nvCxnSpPr>
          <p:cNvPr id="1020" name=""/>
          <p:cNvCxnSpPr>
            <a:stCxn xmlns:a="http://schemas.openxmlformats.org/drawingml/2006/main" id="1015" idx="2"/>
            <a:endCxn xmlns:a="http://schemas.openxmlformats.org/drawingml/2006/main" id="1016" idx="0"/>
          </p:cNvCxnSpPr>
          <p:nvPr/>
        </p:nvCxnSpPr>
        <p:spPr>
          <a:xfrm xmlns:a="http://schemas.openxmlformats.org/drawingml/2006/main" flipH="1">
            <a:off x="9317216" y="3695700"/>
            <a:ext cx="5451" cy="247650"/>
          </a:xfrm>
          <a:prstGeom xmlns:a="http://schemas.openxmlformats.org/drawingml/2006/main" prst="straightConnector1">
            <a:avLst/>
          </a:prstGeom>
          <a:ln xmlns:a="http://schemas.openxmlformats.org/drawingml/2006/main" w="17145">
            <a:solidFill>
              <a:srgbClr val="899EAC"/>
            </a:solidFill>
            <a:tailEnd type="triangle" w="sm" len="sm"/>
          </a:ln>
        </p:spPr>
      </p:cxnSp>
      <p:sp>
        <p:nvSpPr>
          <p:cNvPr id="1021" name="BM_benefit_80">
            <a:extLst xmlns:a="http://schemas.openxmlformats.org/drawingml/2006/main">
              <a:ext uri="{FF2B5EF4-FFF2-40B4-BE49-F238E27FC236}">
                <a16:creationId xmlns:a16="http://schemas.microsoft.com/office/drawing/2014/main" id="{74EABBB7-1B83-4BBE-83C0-A5C0B32FD6A4}"/>
              </a:ext>
            </a:extLst>
          </p:cNvPr>
          <p:cNvSpPr>
            <a:spLocks xmlns:a="http://schemas.openxmlformats.org/drawingml/2006/main" noGrp="1"/>
          </p:cNvSpPr>
          <p:nvPr/>
        </p:nvSpPr>
        <p:spPr>
          <a:xfrm xmlns:a="http://schemas.openxmlformats.org/drawingml/2006/main">
            <a:off x="4623757" y="4438650"/>
            <a:ext cx="5320343"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444444"/>
                </a:solidFill>
                <a:latin typeface="Calibri"/>
                <a:ea typeface="Calibri"/>
                <a:cs typeface="Calibri"/>
              </a:defRPr>
            </a:pPr>
            <a:r>
              <a:rPr b="1"/>
              <a:t>Nutzen: </a:t>
            </a:r>
            <a:r>
              <a:t>Erfassung zeitlicher Zusammenhänge aus Messsignalen und kausalen Features</a:t>
            </a:r>
          </a:p>
        </p:txBody>
      </p:sp>
      <p:sp>
        <p:nvSpPr>
          <p:cNvPr id="1022" name="BM_gru_function_81">
            <a:extLst xmlns:a="http://schemas.openxmlformats.org/drawingml/2006/main">
              <a:ext uri="{FF2B5EF4-FFF2-40B4-BE49-F238E27FC236}">
                <a16:creationId xmlns:a16="http://schemas.microsoft.com/office/drawing/2014/main" id="{53F1C23A-9DB3-4798-980C-18A6B05D902D}"/>
              </a:ext>
            </a:extLst>
          </p:cNvPr>
          <p:cNvSpPr>
            <a:spLocks xmlns:a="http://schemas.openxmlformats.org/drawingml/2006/main" noGrp="1"/>
          </p:cNvSpPr>
          <p:nvPr/>
        </p:nvSpPr>
        <p:spPr>
          <a:xfrm xmlns:a="http://schemas.openxmlformats.org/drawingml/2006/main">
            <a:off x="4623757" y="5086350"/>
            <a:ext cx="5320343"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444444"/>
                </a:solidFill>
                <a:latin typeface="Calibri"/>
                <a:ea typeface="Calibri"/>
                <a:cs typeface="Calibri"/>
              </a:defRPr>
            </a:pPr>
            <a:r>
              <a:rPr b="1"/>
              <a:t>GRU: </a:t>
            </a:r>
            <a:r>
              <a:t>Hidden State, Update zur Zustandsmischung, Reset für die Historie im Kandidaten</a:t>
            </a:r>
          </a:p>
        </p:txBody>
      </p:sp>
    </p:spTree>
    <p:extLst>
      <p:ext uri="{BB962C8B-B14F-4D97-AF65-F5344CB8AC3E}">
        <p14:creationId xmlns:p14="http://schemas.microsoft.com/office/powerpoint/2010/main" val="2606044684"/>
      </p:ext>
    </p:extLst>
  </p:cSld>
  <p:transition spd="fast" advClick="1">
    <p:fade/>
  </p:transition>
</p:sld>
</file>

<file path=ppt/slides/slide50.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wrap="none" lIns="0" tIns="0" rIns="0" bIns="0" anchor="t">
            <a:noAutofit/>
          </a:bodyPr>
          <a:lstStyle xmlns:a="http://schemas.openxmlformats.org/drawingml/2006/main"/>
          <ns0:p xmlns:ns0="http://schemas.openxmlformats.org/drawingml/2006/main">
            <ns0:pPr algn="l">
              <ns0:lnSpc>
                <ns0:spcPct val="106000"/>
              </ns0:lnSpc>
              <ns0:buNone/>
              <ns0:defRPr sz="2400" b="0">
                <ns0:solidFill>
                  <ns0:srgbClr val="CC001C"/>
                </ns0:solidFill>
                <ns0:latin typeface="Calibri"/>
                <ns0:ea typeface="Calibri"/>
                <ns0:cs typeface="Calibri"/>
              </ns0:defRPr>
            </ns0:pPr>
            <ns0:r>
              <ns0:rPr sz="2400" b="0">
                <ns0:solidFill>
                  <ns0:srgbClr val="CC001C"/>
                </ns0:solidFill>
                <ns0:latin typeface="Calibri"/>
                <ns0:ea typeface="Calibri"/>
                <ns0:cs typeface="Calibri"/>
              </ns0:rPr>
              <ns0:t>Benchmark: Störungen und kausale Auswertung</ns0:t>
            </ns0:r>
          </ns0: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22 / 44</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pic>
        <p:nvPicPr>
          <p:cNvPr id="31" name="V5_Figure_11"/>
          <p:cNvPicPr>
            <a:picLocks xmlns:a="http://schemas.openxmlformats.org/drawingml/2006/main" noChangeAspect="1"/>
          </p:cNvPicPr>
          <p:nvPr/>
        </p:nvPicPr>
        <p:blipFill>
          <a:blip xmlns:r="http://schemas.openxmlformats.org/officeDocument/2006/relationships" xmlns:a="http://schemas.openxmlformats.org/drawingml/2006/main" r:embed="R679b00789be2486e"/>
          <a:srcRect xmlns:a="http://schemas.openxmlformats.org/drawingml/2006/main" l="0" t="0" r="20925" b="0"/>
          <a:stretch xmlns:a="http://schemas.openxmlformats.org/drawingml/2006/main"/>
        </p:blipFill>
        <p:spPr>
          <a:xfrm xmlns:a="http://schemas.openxmlformats.org/drawingml/2006/main">
            <a:off x="4591050" y="2152650"/>
            <a:ext cx="5353050" cy="2958264"/>
          </a:xfrm>
          <a:prstGeom xmlns:a="http://schemas.openxmlformats.org/drawingml/2006/main" prst="rect">
            <a:avLst/>
          </a:prstGeom>
        </p:spPr>
      </p:pic>
      <p:sp>
        <p:nvSpPr>
          <p:cNvPr id="15" name="Structure separator">
            <a:extLst xmlns:a="http://schemas.openxmlformats.org/drawingml/2006/main">
              <a:ext uri="{FF2B5EF4-FFF2-40B4-BE49-F238E27FC236}">
                <a16:creationId xmlns:a16="http://schemas.microsoft.com/office/drawing/2014/main" id="{9F039303-D9A4-4A29-8BD2-60713A06A59D}"/>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16" name="Structure label">
            <a:extLst xmlns:a="http://schemas.openxmlformats.org/drawingml/2006/main">
              <a:ext uri="{FF2B5EF4-FFF2-40B4-BE49-F238E27FC236}">
                <a16:creationId xmlns:a16="http://schemas.microsoft.com/office/drawing/2014/main" id="{87269D4D-6607-4D0B-89DE-EA317B92891D}"/>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xmlns:a="http://schemas.openxmlformats.org/drawingml/2006/main">
              <a:ext uri="{FF2B5EF4-FFF2-40B4-BE49-F238E27FC236}">
                <a16:creationId xmlns:a16="http://schemas.microsoft.com/office/drawing/2014/main" id="{701BD1E0-7D79-4158-964F-CEC23984B66D}"/>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xmlns:a="http://schemas.openxmlformats.org/drawingml/2006/main">
              <a:ext uri="{FF2B5EF4-FFF2-40B4-BE49-F238E27FC236}">
                <a16:creationId xmlns:a16="http://schemas.microsoft.com/office/drawing/2014/main" id="{C58858FC-86F8-4190-A586-7B67E262F5DD}"/>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xmlns:a="http://schemas.openxmlformats.org/drawingml/2006/main">
              <a:ext uri="{FF2B5EF4-FFF2-40B4-BE49-F238E27FC236}">
                <a16:creationId xmlns:a16="http://schemas.microsoft.com/office/drawing/2014/main" id="{D77FF9DF-385F-475A-87A2-8CED162D1442}"/>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xmlns:a="http://schemas.openxmlformats.org/drawingml/2006/main">
              <a:ext uri="{FF2B5EF4-FFF2-40B4-BE49-F238E27FC236}">
                <a16:creationId xmlns:a16="http://schemas.microsoft.com/office/drawing/2014/main" id="{A799AEF3-46D7-4F85-AF68-2783C6A5B457}"/>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xmlns:a="http://schemas.openxmlformats.org/drawingml/2006/main">
              <a:ext uri="{FF2B5EF4-FFF2-40B4-BE49-F238E27FC236}">
                <a16:creationId xmlns:a16="http://schemas.microsoft.com/office/drawing/2014/main" id="{3DB614A4-6069-4730-8FED-5C5AF5DF316C}"/>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xmlns:a="http://schemas.openxmlformats.org/drawingml/2006/main">
              <a:ext uri="{FF2B5EF4-FFF2-40B4-BE49-F238E27FC236}">
                <a16:creationId xmlns:a16="http://schemas.microsoft.com/office/drawing/2014/main" id="{E9D17CEE-2143-4626-A04B-711C207AA06E}"/>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DS_column_divider_1">
            <a:extLst xmlns:a="http://schemas.openxmlformats.org/drawingml/2006/main">
              <a:ext uri="{FF2B5EF4-FFF2-40B4-BE49-F238E27FC236}">
                <a16:creationId xmlns:a16="http://schemas.microsoft.com/office/drawing/2014/main" id="{C9621CF2-2747-49C5-A944-91F639F2CD75}"/>
              </a:ext>
            </a:extLst>
          </p:cNvPr>
          <p:cNvSpPr>
            <a:spLocks xmlns:a="http://schemas.openxmlformats.org/drawingml/2006/main" noGrp="1"/>
          </p:cNvSpPr>
          <p:nvPr/>
        </p:nvSpPr>
        <p:spPr>
          <a:xfrm xmlns:a="http://schemas.openxmlformats.org/drawingml/2006/main">
            <a:off x="4171950" y="1543050"/>
            <a:ext cx="11430" cy="4248150"/>
          </a:xfrm>
          <a:prstGeom xmlns:a="http://schemas.openxmlformats.org/drawingml/2006/main" prst="rect">
            <a:avLst/>
          </a:prstGeom>
          <a:solidFill xmlns:a="http://schemas.openxmlformats.org/drawingml/2006/main">
            <a:srgbClr val="DDE2E6"/>
          </a:solidFill>
          <a:ln xmlns:a="http://schemas.openxmlformats.org/drawingml/2006/main" w="0">
            <a:noFill/>
          </a:ln>
        </p:spPr>
      </p:sp>
      <p:sp>
        <p:nvSpPr>
          <p:cNvPr id="2001" name="DS_topic_accent_1">
            <a:extLst xmlns:a="http://schemas.openxmlformats.org/drawingml/2006/main">
              <a:ext uri="{FF2B5EF4-FFF2-40B4-BE49-F238E27FC236}">
                <a16:creationId xmlns:a16="http://schemas.microsoft.com/office/drawing/2014/main" id="{7B6F0E97-599E-491B-B311-874ACCBE4FFF}"/>
              </a:ext>
            </a:extLst>
          </p:cNvPr>
          <p:cNvSpPr>
            <a:spLocks xmlns:a="http://schemas.openxmlformats.org/drawingml/2006/main" noGrp="1"/>
          </p:cNvSpPr>
          <p:nvPr/>
        </p:nvSpPr>
        <p:spPr>
          <a:xfrm xmlns:a="http://schemas.openxmlformats.org/drawingml/2006/main">
            <a:off x="552450" y="1657350"/>
            <a:ext cx="28575" cy="381000"/>
          </a:xfrm>
          <a:prstGeom xmlns:a="http://schemas.openxmlformats.org/drawingml/2006/main" prst="rect">
            <a:avLst/>
          </a:prstGeom>
          <a:solidFill xmlns:a="http://schemas.openxmlformats.org/drawingml/2006/main">
            <a:srgbClr val="D00020"/>
          </a:solidFill>
          <a:ln xmlns:a="http://schemas.openxmlformats.org/drawingml/2006/main" w="0">
            <a:noFill/>
          </a:ln>
        </p:spPr>
      </p:sp>
      <p:sp>
        <p:nvSpPr>
          <p:cNvPr id="2002" name="DS_topic_1">
            <a:extLst xmlns:a="http://schemas.openxmlformats.org/drawingml/2006/main">
              <a:ext uri="{FF2B5EF4-FFF2-40B4-BE49-F238E27FC236}">
                <a16:creationId xmlns:a16="http://schemas.microsoft.com/office/drawing/2014/main" id="{3C015F48-80E7-4FE5-BD9A-73AB224B660A}"/>
              </a:ext>
            </a:extLst>
          </p:cNvPr>
          <p:cNvSpPr>
            <a:spLocks xmlns:a="http://schemas.openxmlformats.org/drawingml/2006/main" noGrp="1"/>
          </p:cNvSpPr>
          <p:nvPr/>
        </p:nvSpPr>
        <p:spPr>
          <a:xfrm xmlns:a="http://schemas.openxmlformats.org/drawingml/2006/main">
            <a:off x="762000" y="1628775"/>
            <a:ext cx="32194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D00020"/>
                </a:solidFill>
                <a:latin typeface="Calibri"/>
                <a:ea typeface="Calibri"/>
                <a:cs typeface="Calibri"/>
              </a:defRPr>
            </a:pPr>
            <a:r>
              <a:rPr sz="1800" b="1">
                <a:solidFill>
                  <a:srgbClr val="D00020"/>
                </a:solidFill>
                <a:latin typeface="Calibri"/>
                <a:ea typeface="Calibri"/>
                <a:cs typeface="Calibri"/>
              </a:rPr>
              <a:t>Input Disturbances</a:t>
            </a:r>
          </a:p>
        </p:txBody>
      </p:sp>
      <p:sp>
        <p:nvSpPr>
          <p:cNvPr id="2003" name="DS_section_title_1_0">
            <a:extLst xmlns:a="http://schemas.openxmlformats.org/drawingml/2006/main">
              <a:ext uri="{FF2B5EF4-FFF2-40B4-BE49-F238E27FC236}">
                <a16:creationId xmlns:a16="http://schemas.microsoft.com/office/drawing/2014/main" id="{A033D743-D088-4C6E-8143-1221385BC2A4}"/>
              </a:ext>
            </a:extLst>
          </p:cNvPr>
          <p:cNvSpPr>
            <a:spLocks xmlns:a="http://schemas.openxmlformats.org/drawingml/2006/main" noGrp="1"/>
          </p:cNvSpPr>
          <p:nvPr/>
        </p:nvSpPr>
        <p:spPr>
          <a:xfrm xmlns:a="http://schemas.openxmlformats.org/drawingml/2006/main">
            <a:off x="762000" y="2333625"/>
            <a:ext cx="32194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444444"/>
                </a:solidFill>
                <a:latin typeface="Calibri"/>
                <a:ea typeface="Calibri"/>
                <a:cs typeface="Calibri"/>
              </a:defRPr>
            </a:pPr>
            <a:r>
              <a:rPr sz="1800" b="1">
                <a:solidFill>
                  <a:srgbClr val="444444"/>
                </a:solidFill>
                <a:latin typeface="Calibri"/>
                <a:ea typeface="Calibri"/>
                <a:cs typeface="Calibri"/>
              </a:rPr>
              <a:t>Betriebssituation</a:t>
            </a:r>
          </a:p>
        </p:txBody>
      </p:sp>
      <p:sp>
        <p:nvSpPr>
          <p:cNvPr id="2004" name="DS_section_body_1_0">
            <a:extLst xmlns:a="http://schemas.openxmlformats.org/drawingml/2006/main">
              <a:ext uri="{FF2B5EF4-FFF2-40B4-BE49-F238E27FC236}">
                <a16:creationId xmlns:a16="http://schemas.microsoft.com/office/drawing/2014/main" id="{DFA948F3-12A7-4125-A842-AFCF2C95771E}"/>
              </a:ext>
            </a:extLst>
          </p:cNvPr>
          <p:cNvSpPr>
            <a:spLocks xmlns:a="http://schemas.openxmlformats.org/drawingml/2006/main" noGrp="1"/>
          </p:cNvSpPr>
          <p:nvPr/>
        </p:nvSpPr>
        <p:spPr>
          <a:xfrm xmlns:a="http://schemas.openxmlformats.org/drawingml/2006/main">
            <a:off x="762000" y="2667000"/>
            <a:ext cx="32194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444444"/>
                </a:solidFill>
                <a:latin typeface="Calibri"/>
                <a:ea typeface="Calibri"/>
                <a:cs typeface="Calibri"/>
              </a:defRPr>
            </a:pPr>
            <a:r>
              <a:rPr sz="1800" b="0">
                <a:solidFill>
                  <a:srgbClr val="444444"/>
                </a:solidFill>
                <a:latin typeface="Calibri"/>
                <a:ea typeface="Calibri"/>
                <a:cs typeface="Calibri"/>
              </a:rPr>
              <a:t>Sensordrift, Fehlkalibrierung und elektromagnetische Störungen</a:t>
            </a:r>
          </a:p>
        </p:txBody>
      </p:sp>
      <p:sp>
        <p:nvSpPr>
          <p:cNvPr id="2005" name="DS_section_title_1_1">
            <a:extLst xmlns:a="http://schemas.openxmlformats.org/drawingml/2006/main">
              <a:ext uri="{FF2B5EF4-FFF2-40B4-BE49-F238E27FC236}">
                <a16:creationId xmlns:a16="http://schemas.microsoft.com/office/drawing/2014/main" id="{09117536-4A23-40B5-A0C6-20E44AFCB680}"/>
              </a:ext>
            </a:extLst>
          </p:cNvPr>
          <p:cNvSpPr>
            <a:spLocks xmlns:a="http://schemas.openxmlformats.org/drawingml/2006/main" noGrp="1"/>
          </p:cNvSpPr>
          <p:nvPr/>
        </p:nvSpPr>
        <p:spPr>
          <a:xfrm xmlns:a="http://schemas.openxmlformats.org/drawingml/2006/main">
            <a:off x="762000" y="3981450"/>
            <a:ext cx="32194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444444"/>
                </a:solidFill>
                <a:latin typeface="Calibri"/>
                <a:ea typeface="Calibri"/>
                <a:cs typeface="Calibri"/>
              </a:defRPr>
            </a:pPr>
            <a:r>
              <a:rPr sz="1800" b="1">
                <a:solidFill>
                  <a:srgbClr val="444444"/>
                </a:solidFill>
                <a:latin typeface="Calibri"/>
                <a:ea typeface="Calibri"/>
                <a:cs typeface="Calibri"/>
              </a:rPr>
              <a:t>Mögliche Auswirkungen</a:t>
            </a:r>
          </a:p>
        </p:txBody>
      </p:sp>
      <p:sp>
        <p:nvSpPr>
          <p:cNvPr id="2006" name="DS_section_body_1_1">
            <a:extLst xmlns:a="http://schemas.openxmlformats.org/drawingml/2006/main">
              <a:ext uri="{FF2B5EF4-FFF2-40B4-BE49-F238E27FC236}">
                <a16:creationId xmlns:a16="http://schemas.microsoft.com/office/drawing/2014/main" id="{7E326C64-35AE-4082-8536-29113770F6B5}"/>
              </a:ext>
            </a:extLst>
          </p:cNvPr>
          <p:cNvSpPr>
            <a:spLocks xmlns:a="http://schemas.openxmlformats.org/drawingml/2006/main" noGrp="1"/>
          </p:cNvSpPr>
          <p:nvPr/>
        </p:nvSpPr>
        <p:spPr>
          <a:xfrm xmlns:a="http://schemas.openxmlformats.org/drawingml/2006/main">
            <a:off x="762000" y="4314825"/>
            <a:ext cx="32194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444444"/>
                </a:solidFill>
                <a:latin typeface="Calibri"/>
                <a:ea typeface="Calibri"/>
                <a:cs typeface="Calibri"/>
              </a:defRPr>
            </a:pPr>
            <a:r>
              <a:rPr sz="1800" b="0">
                <a:solidFill>
                  <a:srgbClr val="444444"/>
                </a:solidFill>
                <a:latin typeface="Calibri"/>
                <a:ea typeface="Calibri"/>
                <a:cs typeface="Calibri"/>
              </a:rPr>
              <a:t>SOC-Drift, verfälschtes Spannungsfeedback und fehlerhafte NN-Features</a:t>
            </a:r>
          </a:p>
        </p:txBody>
      </p:sp>
      <p:sp>
        <p:nvSpPr>
          <p:cNvPr id="2007" name="DS_current_family_1">
            <a:extLst xmlns:a="http://schemas.openxmlformats.org/drawingml/2006/main">
              <a:ext uri="{FF2B5EF4-FFF2-40B4-BE49-F238E27FC236}">
                <a16:creationId xmlns:a16="http://schemas.microsoft.com/office/drawing/2014/main" id="{C4E2FE63-1DE9-46E6-9370-75B0C20509CF}"/>
              </a:ext>
            </a:extLst>
          </p:cNvPr>
          <p:cNvSpPr>
            <a:spLocks xmlns:a="http://schemas.openxmlformats.org/drawingml/2006/main" noGrp="1"/>
          </p:cNvSpPr>
          <p:nvPr/>
        </p:nvSpPr>
        <p:spPr>
          <a:xfrm xmlns:a="http://schemas.openxmlformats.org/drawingml/2006/main">
            <a:off x="8386038" y="4339376"/>
            <a:ext cx="1449165" cy="279163"/>
          </a:xfrm>
          <a:prstGeom xmlns:a="http://schemas.openxmlformats.org/drawingml/2006/main" prst="rect">
            <a:avLst/>
          </a:prstGeom>
          <a:noFill xmlns:a="http://schemas.openxmlformats.org/drawingml/2006/main"/>
          <a:ln xmlns:a="http://schemas.openxmlformats.org/drawingml/2006/main" w="17145">
            <a:solidFill>
              <a:srgbClr val="D00020"/>
            </a:solidFill>
          </a:ln>
        </p:spPr>
      </p:sp>
    </p:spTree>
    <p:extLst>
      <p:ext uri="{BB962C8B-B14F-4D97-AF65-F5344CB8AC3E}">
        <p14:creationId xmlns:p14="http://schemas.microsoft.com/office/powerpoint/2010/main" val="2876319687"/>
      </p:ext>
    </p:extLst>
  </p:cSld>
  <p:transition spd="fast" advClick="1">
    <p:fade/>
  </p:transition>
</p:sld>
</file>

<file path=ppt/slides/slide51.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wrap="none" lIns="0" tIns="0" rIns="0" bIns="0" anchor="t">
            <a:noAutofit/>
          </a:bodyPr>
          <a:lstStyle xmlns:a="http://schemas.openxmlformats.org/drawingml/2006/main"/>
          <ns0:p xmlns:ns0="http://schemas.openxmlformats.org/drawingml/2006/main">
            <ns0:pPr algn="l">
              <ns0:lnSpc>
                <ns0:spcPct val="106000"/>
              </ns0:lnSpc>
              <ns0:buNone/>
              <ns0:defRPr sz="2400" b="0">
                <ns0:solidFill>
                  <ns0:srgbClr val="CC001C"/>
                </ns0:solidFill>
                <ns0:latin typeface="Calibri"/>
                <ns0:ea typeface="Calibri"/>
                <ns0:cs typeface="Calibri"/>
              </ns0:defRPr>
            </ns0:pPr>
            <ns0:r>
              <ns0:rPr sz="2400" b="0">
                <ns0:solidFill>
                  <ns0:srgbClr val="CC001C"/>
                </ns0:solidFill>
                <ns0:latin typeface="Calibri"/>
                <ns0:ea typeface="Calibri"/>
                <ns0:cs typeface="Calibri"/>
              </ns0:rPr>
              <ns0:t>Benchmark: Störungen und kausale Auswertung</ns0:t>
            </ns0:r>
          </ns0: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23 / 44</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pic>
        <p:nvPicPr>
          <p:cNvPr id="31" name="V5_Figure_11"/>
          <p:cNvPicPr>
            <a:picLocks xmlns:a="http://schemas.openxmlformats.org/drawingml/2006/main" noChangeAspect="1"/>
          </p:cNvPicPr>
          <p:nvPr/>
        </p:nvPicPr>
        <p:blipFill>
          <a:blip xmlns:r="http://schemas.openxmlformats.org/officeDocument/2006/relationships" xmlns:a="http://schemas.openxmlformats.org/drawingml/2006/main" r:embed="R679b00789be2486e"/>
          <a:srcRect xmlns:a="http://schemas.openxmlformats.org/drawingml/2006/main" l="0" t="0" r="20925" b="0"/>
          <a:stretch xmlns:a="http://schemas.openxmlformats.org/drawingml/2006/main"/>
        </p:blipFill>
        <p:spPr>
          <a:xfrm xmlns:a="http://schemas.openxmlformats.org/drawingml/2006/main">
            <a:off x="4591050" y="2152650"/>
            <a:ext cx="5353050" cy="2958264"/>
          </a:xfrm>
          <a:prstGeom xmlns:a="http://schemas.openxmlformats.org/drawingml/2006/main" prst="rect">
            <a:avLst/>
          </a:prstGeom>
        </p:spPr>
      </p:pic>
      <p:sp>
        <p:nvSpPr>
          <p:cNvPr id="15" name="Structure separator">
            <a:extLst xmlns:a="http://schemas.openxmlformats.org/drawingml/2006/main">
              <a:ext uri="{FF2B5EF4-FFF2-40B4-BE49-F238E27FC236}">
                <a16:creationId xmlns:a16="http://schemas.microsoft.com/office/drawing/2014/main" id="{9F039303-D9A4-4A29-8BD2-60713A06A59D}"/>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16" name="Structure label">
            <a:extLst xmlns:a="http://schemas.openxmlformats.org/drawingml/2006/main">
              <a:ext uri="{FF2B5EF4-FFF2-40B4-BE49-F238E27FC236}">
                <a16:creationId xmlns:a16="http://schemas.microsoft.com/office/drawing/2014/main" id="{87269D4D-6607-4D0B-89DE-EA317B92891D}"/>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xmlns:a="http://schemas.openxmlformats.org/drawingml/2006/main">
              <a:ext uri="{FF2B5EF4-FFF2-40B4-BE49-F238E27FC236}">
                <a16:creationId xmlns:a16="http://schemas.microsoft.com/office/drawing/2014/main" id="{701BD1E0-7D79-4158-964F-CEC23984B66D}"/>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xmlns:a="http://schemas.openxmlformats.org/drawingml/2006/main">
              <a:ext uri="{FF2B5EF4-FFF2-40B4-BE49-F238E27FC236}">
                <a16:creationId xmlns:a16="http://schemas.microsoft.com/office/drawing/2014/main" id="{C58858FC-86F8-4190-A586-7B67E262F5DD}"/>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xmlns:a="http://schemas.openxmlformats.org/drawingml/2006/main">
              <a:ext uri="{FF2B5EF4-FFF2-40B4-BE49-F238E27FC236}">
                <a16:creationId xmlns:a16="http://schemas.microsoft.com/office/drawing/2014/main" id="{D77FF9DF-385F-475A-87A2-8CED162D1442}"/>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xmlns:a="http://schemas.openxmlformats.org/drawingml/2006/main">
              <a:ext uri="{FF2B5EF4-FFF2-40B4-BE49-F238E27FC236}">
                <a16:creationId xmlns:a16="http://schemas.microsoft.com/office/drawing/2014/main" id="{A799AEF3-46D7-4F85-AF68-2783C6A5B457}"/>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xmlns:a="http://schemas.openxmlformats.org/drawingml/2006/main">
              <a:ext uri="{FF2B5EF4-FFF2-40B4-BE49-F238E27FC236}">
                <a16:creationId xmlns:a16="http://schemas.microsoft.com/office/drawing/2014/main" id="{3DB614A4-6069-4730-8FED-5C5AF5DF316C}"/>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xmlns:a="http://schemas.openxmlformats.org/drawingml/2006/main">
              <a:ext uri="{FF2B5EF4-FFF2-40B4-BE49-F238E27FC236}">
                <a16:creationId xmlns:a16="http://schemas.microsoft.com/office/drawing/2014/main" id="{E9D17CEE-2143-4626-A04B-711C207AA06E}"/>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DS_column_divider_2">
            <a:extLst xmlns:a="http://schemas.openxmlformats.org/drawingml/2006/main">
              <a:ext uri="{FF2B5EF4-FFF2-40B4-BE49-F238E27FC236}">
                <a16:creationId xmlns:a16="http://schemas.microsoft.com/office/drawing/2014/main" id="{23B9B85B-9AB5-4C30-9185-9906C31B5EA9}"/>
              </a:ext>
            </a:extLst>
          </p:cNvPr>
          <p:cNvSpPr>
            <a:spLocks xmlns:a="http://schemas.openxmlformats.org/drawingml/2006/main" noGrp="1"/>
          </p:cNvSpPr>
          <p:nvPr/>
        </p:nvSpPr>
        <p:spPr>
          <a:xfrm xmlns:a="http://schemas.openxmlformats.org/drawingml/2006/main">
            <a:off x="4171950" y="1543050"/>
            <a:ext cx="11430" cy="4248150"/>
          </a:xfrm>
          <a:prstGeom xmlns:a="http://schemas.openxmlformats.org/drawingml/2006/main" prst="rect">
            <a:avLst/>
          </a:prstGeom>
          <a:solidFill xmlns:a="http://schemas.openxmlformats.org/drawingml/2006/main">
            <a:srgbClr val="DDE2E6"/>
          </a:solidFill>
          <a:ln xmlns:a="http://schemas.openxmlformats.org/drawingml/2006/main" w="0">
            <a:noFill/>
          </a:ln>
        </p:spPr>
      </p:sp>
      <p:sp>
        <p:nvSpPr>
          <p:cNvPr id="2001" name="DS_topic_accent_2">
            <a:extLst xmlns:a="http://schemas.openxmlformats.org/drawingml/2006/main">
              <a:ext uri="{FF2B5EF4-FFF2-40B4-BE49-F238E27FC236}">
                <a16:creationId xmlns:a16="http://schemas.microsoft.com/office/drawing/2014/main" id="{940AAE7D-42A3-49A2-8A93-55DFE78A6248}"/>
              </a:ext>
            </a:extLst>
          </p:cNvPr>
          <p:cNvSpPr>
            <a:spLocks xmlns:a="http://schemas.openxmlformats.org/drawingml/2006/main" noGrp="1"/>
          </p:cNvSpPr>
          <p:nvPr/>
        </p:nvSpPr>
        <p:spPr>
          <a:xfrm xmlns:a="http://schemas.openxmlformats.org/drawingml/2006/main">
            <a:off x="552450" y="1657350"/>
            <a:ext cx="28575" cy="381000"/>
          </a:xfrm>
          <a:prstGeom xmlns:a="http://schemas.openxmlformats.org/drawingml/2006/main" prst="rect">
            <a:avLst/>
          </a:prstGeom>
          <a:solidFill xmlns:a="http://schemas.openxmlformats.org/drawingml/2006/main">
            <a:srgbClr val="D00020"/>
          </a:solidFill>
          <a:ln xmlns:a="http://schemas.openxmlformats.org/drawingml/2006/main" w="0">
            <a:noFill/>
          </a:ln>
        </p:spPr>
      </p:sp>
      <p:sp>
        <p:nvSpPr>
          <p:cNvPr id="2002" name="DS_topic_2">
            <a:extLst xmlns:a="http://schemas.openxmlformats.org/drawingml/2006/main">
              <a:ext uri="{FF2B5EF4-FFF2-40B4-BE49-F238E27FC236}">
                <a16:creationId xmlns:a16="http://schemas.microsoft.com/office/drawing/2014/main" id="{EEAB2DE9-BE8B-45DE-992D-B81406448731}"/>
              </a:ext>
            </a:extLst>
          </p:cNvPr>
          <p:cNvSpPr>
            <a:spLocks xmlns:a="http://schemas.openxmlformats.org/drawingml/2006/main" noGrp="1"/>
          </p:cNvSpPr>
          <p:nvPr/>
        </p:nvSpPr>
        <p:spPr>
          <a:xfrm xmlns:a="http://schemas.openxmlformats.org/drawingml/2006/main">
            <a:off x="762000" y="1628775"/>
            <a:ext cx="32194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D00020"/>
                </a:solidFill>
                <a:latin typeface="Calibri"/>
                <a:ea typeface="Calibri"/>
                <a:cs typeface="Calibri"/>
              </a:defRPr>
            </a:pPr>
            <a:r>
              <a:rPr sz="1800" b="1">
                <a:solidFill>
                  <a:srgbClr val="D00020"/>
                </a:solidFill>
                <a:latin typeface="Calibri"/>
                <a:ea typeface="Calibri"/>
                <a:cs typeface="Calibri"/>
              </a:rPr>
              <a:t>Signal-Integrity Faults</a:t>
            </a:r>
          </a:p>
        </p:txBody>
      </p:sp>
      <p:sp>
        <p:nvSpPr>
          <p:cNvPr id="2003" name="DS_section_title_2_0">
            <a:extLst xmlns:a="http://schemas.openxmlformats.org/drawingml/2006/main">
              <a:ext uri="{FF2B5EF4-FFF2-40B4-BE49-F238E27FC236}">
                <a16:creationId xmlns:a16="http://schemas.microsoft.com/office/drawing/2014/main" id="{2699534F-A07E-4D71-A149-21C10654227F}"/>
              </a:ext>
            </a:extLst>
          </p:cNvPr>
          <p:cNvSpPr>
            <a:spLocks xmlns:a="http://schemas.openxmlformats.org/drawingml/2006/main" noGrp="1"/>
          </p:cNvSpPr>
          <p:nvPr/>
        </p:nvSpPr>
        <p:spPr>
          <a:xfrm xmlns:a="http://schemas.openxmlformats.org/drawingml/2006/main">
            <a:off x="762000" y="2333625"/>
            <a:ext cx="32194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444444"/>
                </a:solidFill>
                <a:latin typeface="Calibri"/>
                <a:ea typeface="Calibri"/>
                <a:cs typeface="Calibri"/>
              </a:defRPr>
            </a:pPr>
            <a:r>
              <a:rPr sz="1800" b="1">
                <a:solidFill>
                  <a:srgbClr val="444444"/>
                </a:solidFill>
                <a:latin typeface="Calibri"/>
                <a:ea typeface="Calibri"/>
                <a:cs typeface="Calibri"/>
              </a:rPr>
              <a:t>Betriebssituation</a:t>
            </a:r>
          </a:p>
        </p:txBody>
      </p:sp>
      <p:sp>
        <p:nvSpPr>
          <p:cNvPr id="2004" name="DS_section_body_2_0">
            <a:extLst xmlns:a="http://schemas.openxmlformats.org/drawingml/2006/main">
              <a:ext uri="{FF2B5EF4-FFF2-40B4-BE49-F238E27FC236}">
                <a16:creationId xmlns:a16="http://schemas.microsoft.com/office/drawing/2014/main" id="{9F899C93-F505-4043-AB86-DE0A61DE7AB8}"/>
              </a:ext>
            </a:extLst>
          </p:cNvPr>
          <p:cNvSpPr>
            <a:spLocks xmlns:a="http://schemas.openxmlformats.org/drawingml/2006/main" noGrp="1"/>
          </p:cNvSpPr>
          <p:nvPr/>
        </p:nvSpPr>
        <p:spPr>
          <a:xfrm xmlns:a="http://schemas.openxmlformats.org/drawingml/2006/main">
            <a:off x="762000" y="2667000"/>
            <a:ext cx="32194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444444"/>
                </a:solidFill>
                <a:latin typeface="Calibri"/>
                <a:ea typeface="Calibri"/>
                <a:cs typeface="Calibri"/>
              </a:defRPr>
            </a:pPr>
            <a:r>
              <a:rPr sz="1800" b="0">
                <a:solidFill>
                  <a:srgbClr val="444444"/>
                </a:solidFill>
                <a:latin typeface="Calibri"/>
                <a:ea typeface="Calibri"/>
                <a:cs typeface="Calibri"/>
              </a:rPr>
              <a:t>Paketverluste, Kommunikationsausfälle und variable Task- oder Bus-Latenzen</a:t>
            </a:r>
          </a:p>
        </p:txBody>
      </p:sp>
      <p:sp>
        <p:nvSpPr>
          <p:cNvPr id="2005" name="DS_section_title_2_1">
            <a:extLst xmlns:a="http://schemas.openxmlformats.org/drawingml/2006/main">
              <a:ext uri="{FF2B5EF4-FFF2-40B4-BE49-F238E27FC236}">
                <a16:creationId xmlns:a16="http://schemas.microsoft.com/office/drawing/2014/main" id="{B7AF7160-3D0F-443F-B8CC-7FE1157F91DD}"/>
              </a:ext>
            </a:extLst>
          </p:cNvPr>
          <p:cNvSpPr>
            <a:spLocks xmlns:a="http://schemas.openxmlformats.org/drawingml/2006/main" noGrp="1"/>
          </p:cNvSpPr>
          <p:nvPr/>
        </p:nvSpPr>
        <p:spPr>
          <a:xfrm xmlns:a="http://schemas.openxmlformats.org/drawingml/2006/main">
            <a:off x="762000" y="3981450"/>
            <a:ext cx="32194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444444"/>
                </a:solidFill>
                <a:latin typeface="Calibri"/>
                <a:ea typeface="Calibri"/>
                <a:cs typeface="Calibri"/>
              </a:defRPr>
            </a:pPr>
            <a:r>
              <a:rPr sz="1800" b="1">
                <a:solidFill>
                  <a:srgbClr val="444444"/>
                </a:solidFill>
                <a:latin typeface="Calibri"/>
                <a:ea typeface="Calibri"/>
                <a:cs typeface="Calibri"/>
              </a:rPr>
              <a:t>Mögliche Auswirkungen</a:t>
            </a:r>
          </a:p>
        </p:txBody>
      </p:sp>
      <p:sp>
        <p:nvSpPr>
          <p:cNvPr id="2006" name="DS_section_body_2_1">
            <a:extLst xmlns:a="http://schemas.openxmlformats.org/drawingml/2006/main">
              <a:ext uri="{FF2B5EF4-FFF2-40B4-BE49-F238E27FC236}">
                <a16:creationId xmlns:a16="http://schemas.microsoft.com/office/drawing/2014/main" id="{15373B4E-649D-4728-B6F6-8FBEB434A806}"/>
              </a:ext>
            </a:extLst>
          </p:cNvPr>
          <p:cNvSpPr>
            <a:spLocks xmlns:a="http://schemas.openxmlformats.org/drawingml/2006/main" noGrp="1"/>
          </p:cNvSpPr>
          <p:nvPr/>
        </p:nvSpPr>
        <p:spPr>
          <a:xfrm xmlns:a="http://schemas.openxmlformats.org/drawingml/2006/main">
            <a:off x="762000" y="4314825"/>
            <a:ext cx="32194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444444"/>
                </a:solidFill>
                <a:latin typeface="Calibri"/>
                <a:ea typeface="Calibri"/>
                <a:cs typeface="Calibri"/>
              </a:defRPr>
            </a:pPr>
            <a:r>
              <a:rPr sz="1800" b="0">
                <a:solidFill>
                  <a:srgbClr val="444444"/>
                </a:solidFill>
                <a:latin typeface="Calibri"/>
                <a:ea typeface="Calibri"/>
                <a:cs typeface="Calibri"/>
              </a:rPr>
              <a:t>Fehlerhafte Ladungsbilanz und verfälschte Signalhistorie bei weiterlaufendem Zellbetrieb</a:t>
            </a:r>
          </a:p>
        </p:txBody>
      </p:sp>
      <p:sp>
        <p:nvSpPr>
          <p:cNvPr id="2007" name="DS_current_family_2">
            <a:extLst xmlns:a="http://schemas.openxmlformats.org/drawingml/2006/main">
              <a:ext uri="{FF2B5EF4-FFF2-40B4-BE49-F238E27FC236}">
                <a16:creationId xmlns:a16="http://schemas.microsoft.com/office/drawing/2014/main" id="{93808014-B753-4B7E-BEF6-68018E6BF236}"/>
              </a:ext>
            </a:extLst>
          </p:cNvPr>
          <p:cNvSpPr>
            <a:spLocks xmlns:a="http://schemas.openxmlformats.org/drawingml/2006/main" noGrp="1"/>
          </p:cNvSpPr>
          <p:nvPr/>
        </p:nvSpPr>
        <p:spPr>
          <a:xfrm xmlns:a="http://schemas.openxmlformats.org/drawingml/2006/main">
            <a:off x="4543425" y="2429808"/>
            <a:ext cx="1515687" cy="283076"/>
          </a:xfrm>
          <a:prstGeom xmlns:a="http://schemas.openxmlformats.org/drawingml/2006/main" prst="rect">
            <a:avLst/>
          </a:prstGeom>
          <a:noFill xmlns:a="http://schemas.openxmlformats.org/drawingml/2006/main"/>
          <a:ln xmlns:a="http://schemas.openxmlformats.org/drawingml/2006/main" w="17145">
            <a:solidFill>
              <a:srgbClr val="D00020"/>
            </a:solidFill>
          </a:ln>
        </p:spPr>
      </p:sp>
    </p:spTree>
    <p:extLst>
      <p:ext uri="{BB962C8B-B14F-4D97-AF65-F5344CB8AC3E}">
        <p14:creationId xmlns:p14="http://schemas.microsoft.com/office/powerpoint/2010/main" val="2876319687"/>
      </p:ext>
    </p:extLst>
  </p:cSld>
  <p:transition spd="fast" advClick="1">
    <p:fade/>
  </p:transition>
</p:sld>
</file>

<file path=ppt/slides/slide52.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wrap="none" lIns="0" tIns="0" rIns="0" bIns="0" anchor="t">
            <a:noAutofit/>
          </a:bodyPr>
          <a:lstStyle xmlns:a="http://schemas.openxmlformats.org/drawingml/2006/main"/>
          <ns0:p xmlns:ns0="http://schemas.openxmlformats.org/drawingml/2006/main">
            <ns0:pPr algn="l">
              <ns0:lnSpc>
                <ns0:spcPct val="106000"/>
              </ns0:lnSpc>
              <ns0:buNone/>
              <ns0:defRPr sz="2400" b="0">
                <ns0:solidFill>
                  <ns0:srgbClr val="CC001C"/>
                </ns0:solidFill>
                <ns0:latin typeface="Calibri"/>
                <ns0:ea typeface="Calibri"/>
                <ns0:cs typeface="Calibri"/>
              </ns0:defRPr>
            </ns0:pPr>
            <ns0:r>
              <ns0:rPr sz="2400" b="0">
                <ns0:solidFill>
                  <ns0:srgbClr val="CC001C"/>
                </ns0:solidFill>
                <ns0:latin typeface="Calibri"/>
                <ns0:ea typeface="Calibri"/>
                <ns0:cs typeface="Calibri"/>
              </ns0:rPr>
              <ns0:t>Benchmark: Störungen und kausale Auswertung</ns0:t>
            </ns0:r>
          </ns0: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24 / 44</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pic>
        <p:nvPicPr>
          <p:cNvPr id="31" name="V5_Figure_11"/>
          <p:cNvPicPr>
            <a:picLocks xmlns:a="http://schemas.openxmlformats.org/drawingml/2006/main" noChangeAspect="1"/>
          </p:cNvPicPr>
          <p:nvPr/>
        </p:nvPicPr>
        <p:blipFill>
          <a:blip xmlns:r="http://schemas.openxmlformats.org/officeDocument/2006/relationships" xmlns:a="http://schemas.openxmlformats.org/drawingml/2006/main" r:embed="R679b00789be2486e"/>
          <a:srcRect xmlns:a="http://schemas.openxmlformats.org/drawingml/2006/main" l="0" t="0" r="20925" b="0"/>
          <a:stretch xmlns:a="http://schemas.openxmlformats.org/drawingml/2006/main"/>
        </p:blipFill>
        <p:spPr>
          <a:xfrm xmlns:a="http://schemas.openxmlformats.org/drawingml/2006/main">
            <a:off x="4591050" y="2152650"/>
            <a:ext cx="5353050" cy="2958264"/>
          </a:xfrm>
          <a:prstGeom xmlns:a="http://schemas.openxmlformats.org/drawingml/2006/main" prst="rect">
            <a:avLst/>
          </a:prstGeom>
        </p:spPr>
      </p:pic>
      <p:sp>
        <p:nvSpPr>
          <p:cNvPr id="15" name="Structure separator">
            <a:extLst xmlns:a="http://schemas.openxmlformats.org/drawingml/2006/main">
              <a:ext uri="{FF2B5EF4-FFF2-40B4-BE49-F238E27FC236}">
                <a16:creationId xmlns:a16="http://schemas.microsoft.com/office/drawing/2014/main" id="{9F039303-D9A4-4A29-8BD2-60713A06A59D}"/>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16" name="Structure label">
            <a:extLst xmlns:a="http://schemas.openxmlformats.org/drawingml/2006/main">
              <a:ext uri="{FF2B5EF4-FFF2-40B4-BE49-F238E27FC236}">
                <a16:creationId xmlns:a16="http://schemas.microsoft.com/office/drawing/2014/main" id="{87269D4D-6607-4D0B-89DE-EA317B92891D}"/>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xmlns:a="http://schemas.openxmlformats.org/drawingml/2006/main">
              <a:ext uri="{FF2B5EF4-FFF2-40B4-BE49-F238E27FC236}">
                <a16:creationId xmlns:a16="http://schemas.microsoft.com/office/drawing/2014/main" id="{701BD1E0-7D79-4158-964F-CEC23984B66D}"/>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xmlns:a="http://schemas.openxmlformats.org/drawingml/2006/main">
              <a:ext uri="{FF2B5EF4-FFF2-40B4-BE49-F238E27FC236}">
                <a16:creationId xmlns:a16="http://schemas.microsoft.com/office/drawing/2014/main" id="{C58858FC-86F8-4190-A586-7B67E262F5DD}"/>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xmlns:a="http://schemas.openxmlformats.org/drawingml/2006/main">
              <a:ext uri="{FF2B5EF4-FFF2-40B4-BE49-F238E27FC236}">
                <a16:creationId xmlns:a16="http://schemas.microsoft.com/office/drawing/2014/main" id="{D77FF9DF-385F-475A-87A2-8CED162D1442}"/>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xmlns:a="http://schemas.openxmlformats.org/drawingml/2006/main">
              <a:ext uri="{FF2B5EF4-FFF2-40B4-BE49-F238E27FC236}">
                <a16:creationId xmlns:a16="http://schemas.microsoft.com/office/drawing/2014/main" id="{A799AEF3-46D7-4F85-AF68-2783C6A5B457}"/>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xmlns:a="http://schemas.openxmlformats.org/drawingml/2006/main">
              <a:ext uri="{FF2B5EF4-FFF2-40B4-BE49-F238E27FC236}">
                <a16:creationId xmlns:a16="http://schemas.microsoft.com/office/drawing/2014/main" id="{3DB614A4-6069-4730-8FED-5C5AF5DF316C}"/>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xmlns:a="http://schemas.openxmlformats.org/drawingml/2006/main">
              <a:ext uri="{FF2B5EF4-FFF2-40B4-BE49-F238E27FC236}">
                <a16:creationId xmlns:a16="http://schemas.microsoft.com/office/drawing/2014/main" id="{E9D17CEE-2143-4626-A04B-711C207AA06E}"/>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DS_column_divider_3">
            <a:extLst xmlns:a="http://schemas.openxmlformats.org/drawingml/2006/main">
              <a:ext uri="{FF2B5EF4-FFF2-40B4-BE49-F238E27FC236}">
                <a16:creationId xmlns:a16="http://schemas.microsoft.com/office/drawing/2014/main" id="{505B668B-F5B5-4C9A-A36B-8E2548B868A5}"/>
              </a:ext>
            </a:extLst>
          </p:cNvPr>
          <p:cNvSpPr>
            <a:spLocks xmlns:a="http://schemas.openxmlformats.org/drawingml/2006/main" noGrp="1"/>
          </p:cNvSpPr>
          <p:nvPr/>
        </p:nvSpPr>
        <p:spPr>
          <a:xfrm xmlns:a="http://schemas.openxmlformats.org/drawingml/2006/main">
            <a:off x="4171950" y="1543050"/>
            <a:ext cx="11430" cy="4248150"/>
          </a:xfrm>
          <a:prstGeom xmlns:a="http://schemas.openxmlformats.org/drawingml/2006/main" prst="rect">
            <a:avLst/>
          </a:prstGeom>
          <a:solidFill xmlns:a="http://schemas.openxmlformats.org/drawingml/2006/main">
            <a:srgbClr val="DDE2E6"/>
          </a:solidFill>
          <a:ln xmlns:a="http://schemas.openxmlformats.org/drawingml/2006/main" w="0">
            <a:noFill/>
          </a:ln>
        </p:spPr>
      </p:sp>
      <p:sp>
        <p:nvSpPr>
          <p:cNvPr id="2001" name="DS_topic_accent_3">
            <a:extLst xmlns:a="http://schemas.openxmlformats.org/drawingml/2006/main">
              <a:ext uri="{FF2B5EF4-FFF2-40B4-BE49-F238E27FC236}">
                <a16:creationId xmlns:a16="http://schemas.microsoft.com/office/drawing/2014/main" id="{4AF4DD64-2661-408D-87AA-417652FB6BA7}"/>
              </a:ext>
            </a:extLst>
          </p:cNvPr>
          <p:cNvSpPr>
            <a:spLocks xmlns:a="http://schemas.openxmlformats.org/drawingml/2006/main" noGrp="1"/>
          </p:cNvSpPr>
          <p:nvPr/>
        </p:nvSpPr>
        <p:spPr>
          <a:xfrm xmlns:a="http://schemas.openxmlformats.org/drawingml/2006/main">
            <a:off x="552450" y="1657350"/>
            <a:ext cx="28575" cy="381000"/>
          </a:xfrm>
          <a:prstGeom xmlns:a="http://schemas.openxmlformats.org/drawingml/2006/main" prst="rect">
            <a:avLst/>
          </a:prstGeom>
          <a:solidFill xmlns:a="http://schemas.openxmlformats.org/drawingml/2006/main">
            <a:srgbClr val="D00020"/>
          </a:solidFill>
          <a:ln xmlns:a="http://schemas.openxmlformats.org/drawingml/2006/main" w="0">
            <a:noFill/>
          </a:ln>
        </p:spPr>
      </p:sp>
      <p:sp>
        <p:nvSpPr>
          <p:cNvPr id="2002" name="DS_topic_3">
            <a:extLst xmlns:a="http://schemas.openxmlformats.org/drawingml/2006/main">
              <a:ext uri="{FF2B5EF4-FFF2-40B4-BE49-F238E27FC236}">
                <a16:creationId xmlns:a16="http://schemas.microsoft.com/office/drawing/2014/main" id="{5F26A53A-9F9A-4372-86B9-B301F774BB21}"/>
              </a:ext>
            </a:extLst>
          </p:cNvPr>
          <p:cNvSpPr>
            <a:spLocks xmlns:a="http://schemas.openxmlformats.org/drawingml/2006/main" noGrp="1"/>
          </p:cNvSpPr>
          <p:nvPr/>
        </p:nvSpPr>
        <p:spPr>
          <a:xfrm xmlns:a="http://schemas.openxmlformats.org/drawingml/2006/main">
            <a:off x="762000" y="1628775"/>
            <a:ext cx="32194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D00020"/>
                </a:solidFill>
                <a:latin typeface="Calibri"/>
                <a:ea typeface="Calibri"/>
                <a:cs typeface="Calibri"/>
              </a:defRPr>
            </a:pPr>
            <a:r>
              <a:rPr sz="1800" b="1">
                <a:solidFill>
                  <a:srgbClr val="D00020"/>
                </a:solidFill>
                <a:latin typeface="Calibri"/>
                <a:ea typeface="Calibri"/>
                <a:cs typeface="Calibri"/>
              </a:rPr>
              <a:t>Kausale Auswertung</a:t>
            </a:r>
          </a:p>
        </p:txBody>
      </p:sp>
      <p:sp>
        <p:nvSpPr>
          <p:cNvPr id="2003" name="DS_section_title_3_0">
            <a:extLst xmlns:a="http://schemas.openxmlformats.org/drawingml/2006/main">
              <a:ext uri="{FF2B5EF4-FFF2-40B4-BE49-F238E27FC236}">
                <a16:creationId xmlns:a16="http://schemas.microsoft.com/office/drawing/2014/main" id="{00BDC3D2-EF4A-49C9-94CE-5BFC12E166D8}"/>
              </a:ext>
            </a:extLst>
          </p:cNvPr>
          <p:cNvSpPr>
            <a:spLocks xmlns:a="http://schemas.openxmlformats.org/drawingml/2006/main" noGrp="1"/>
          </p:cNvSpPr>
          <p:nvPr/>
        </p:nvSpPr>
        <p:spPr>
          <a:xfrm xmlns:a="http://schemas.openxmlformats.org/drawingml/2006/main">
            <a:off x="762000" y="2333625"/>
            <a:ext cx="32194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444444"/>
                </a:solidFill>
                <a:latin typeface="Calibri"/>
                <a:ea typeface="Calibri"/>
                <a:cs typeface="Calibri"/>
              </a:defRPr>
            </a:pPr>
            <a:r>
              <a:rPr sz="1800" b="1">
                <a:solidFill>
                  <a:srgbClr val="444444"/>
                </a:solidFill>
                <a:latin typeface="Calibri"/>
                <a:ea typeface="Calibri"/>
                <a:cs typeface="Calibri"/>
              </a:rPr>
              <a:t>Kausale Rekonstruktion</a:t>
            </a:r>
          </a:p>
        </p:txBody>
      </p:sp>
      <p:sp>
        <p:nvSpPr>
          <p:cNvPr id="2004" name="DS_section_body_3_0">
            <a:extLst xmlns:a="http://schemas.openxmlformats.org/drawingml/2006/main">
              <a:ext uri="{FF2B5EF4-FFF2-40B4-BE49-F238E27FC236}">
                <a16:creationId xmlns:a16="http://schemas.microsoft.com/office/drawing/2014/main" id="{27729773-5A27-447F-90FE-21382A18C69A}"/>
              </a:ext>
            </a:extLst>
          </p:cNvPr>
          <p:cNvSpPr>
            <a:spLocks xmlns:a="http://schemas.openxmlformats.org/drawingml/2006/main" noGrp="1"/>
          </p:cNvSpPr>
          <p:nvPr/>
        </p:nvSpPr>
        <p:spPr>
          <a:xfrm xmlns:a="http://schemas.openxmlformats.org/drawingml/2006/main">
            <a:off x="762000" y="2667000"/>
            <a:ext cx="32194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444444"/>
                </a:solidFill>
                <a:latin typeface="Calibri"/>
                <a:ea typeface="Calibri"/>
                <a:cs typeface="Calibri"/>
              </a:defRPr>
            </a:pPr>
            <a:r>
              <a:rPr sz="1800" b="0">
                <a:solidFill>
                  <a:srgbClr val="444444"/>
                </a:solidFill>
                <a:latin typeface="Calibri"/>
                <a:ea typeface="Calibri"/>
                <a:cs typeface="Calibri"/>
              </a:rPr>
              <a:t>Neuberechnung von Qc, EFC, Ableitungen und SOH-Features aus dem gestörten Signalstrom</a:t>
            </a:r>
          </a:p>
        </p:txBody>
      </p:sp>
      <p:sp>
        <p:nvSpPr>
          <p:cNvPr id="2005" name="DS_section_title_3_1">
            <a:extLst xmlns:a="http://schemas.openxmlformats.org/drawingml/2006/main">
              <a:ext uri="{FF2B5EF4-FFF2-40B4-BE49-F238E27FC236}">
                <a16:creationId xmlns:a16="http://schemas.microsoft.com/office/drawing/2014/main" id="{68032D51-1029-4FDA-A7DE-C23ABE73AAFC}"/>
              </a:ext>
            </a:extLst>
          </p:cNvPr>
          <p:cNvSpPr>
            <a:spLocks xmlns:a="http://schemas.openxmlformats.org/drawingml/2006/main" noGrp="1"/>
          </p:cNvSpPr>
          <p:nvPr/>
        </p:nvSpPr>
        <p:spPr>
          <a:xfrm xmlns:a="http://schemas.openxmlformats.org/drawingml/2006/main">
            <a:off x="762000" y="3981450"/>
            <a:ext cx="32194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444444"/>
                </a:solidFill>
                <a:latin typeface="Calibri"/>
                <a:ea typeface="Calibri"/>
                <a:cs typeface="Calibri"/>
              </a:defRPr>
            </a:pPr>
            <a:r>
              <a:rPr sz="1800" b="1">
                <a:solidFill>
                  <a:srgbClr val="444444"/>
                </a:solidFill>
                <a:latin typeface="Calibri"/>
                <a:ea typeface="Calibri"/>
                <a:cs typeface="Calibri"/>
              </a:rPr>
              <a:t>Paarvergleich</a:t>
            </a:r>
          </a:p>
        </p:txBody>
      </p:sp>
      <p:sp>
        <p:nvSpPr>
          <p:cNvPr id="2006" name="DS_section_body_3_1">
            <a:extLst xmlns:a="http://schemas.openxmlformats.org/drawingml/2006/main">
              <a:ext uri="{FF2B5EF4-FFF2-40B4-BE49-F238E27FC236}">
                <a16:creationId xmlns:a16="http://schemas.microsoft.com/office/drawing/2014/main" id="{D1048D6A-9904-4C8C-8319-714E4064C985}"/>
              </a:ext>
            </a:extLst>
          </p:cNvPr>
          <p:cNvSpPr>
            <a:spLocks xmlns:a="http://schemas.openxmlformats.org/drawingml/2006/main" noGrp="1"/>
          </p:cNvSpPr>
          <p:nvPr/>
        </p:nvSpPr>
        <p:spPr>
          <a:xfrm xmlns:a="http://schemas.openxmlformats.org/drawingml/2006/main">
            <a:off x="762000" y="4314825"/>
            <a:ext cx="32194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444444"/>
                </a:solidFill>
                <a:latin typeface="Calibri"/>
                <a:ea typeface="Calibri"/>
                <a:cs typeface="Calibri"/>
              </a:defRPr>
            </a:pPr>
            <a:r>
              <a:rPr sz="1800" b="0">
                <a:solidFill>
                  <a:srgbClr val="444444"/>
                </a:solidFill>
                <a:latin typeface="Calibri"/>
                <a:ea typeface="Calibri"/>
                <a:cs typeface="Calibri"/>
              </a:rPr>
              <a:t>ΔMAE zur Baseline je Zelle, Fenster und Seed</a:t>
            </a:r>
          </a:p>
          <a:p xmlns:a="http://schemas.openxmlformats.org/drawingml/2006/main">
            <a:pPr algn="l">
              <a:defRPr sz="1800" b="0">
                <a:solidFill>
                  <a:srgbClr val="444444"/>
                </a:solidFill>
                <a:latin typeface="Calibri"/>
                <a:ea typeface="Calibri"/>
                <a:cs typeface="Calibri"/>
              </a:defRPr>
            </a:pPr>
            <a:r>
              <a:rPr sz="1800" b="0">
                <a:solidFill>
                  <a:srgbClr val="444444"/>
                </a:solidFill>
                <a:latin typeface="Calibri"/>
                <a:ea typeface="Calibri"/>
                <a:cs typeface="Calibri"/>
              </a:rPr>
              <a:t>Recovery zum korrekt initialisierten Lauf</a:t>
            </a:r>
          </a:p>
        </p:txBody>
      </p:sp>
    </p:spTree>
    <p:extLst>
      <p:ext uri="{BB962C8B-B14F-4D97-AF65-F5344CB8AC3E}">
        <p14:creationId xmlns:p14="http://schemas.microsoft.com/office/powerpoint/2010/main" val="2876319687"/>
      </p:ext>
    </p:extLst>
  </p:cSld>
  <p:transition spd="fast" advClick="1">
    <p:fade/>
  </p:transition>
</p:sld>
</file>

<file path=ppt/slides/slide53.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D00020"/>
                </a:solidFill>
                <a:latin typeface="Calibri"/>
                <a:ea typeface="Calibri"/>
                <a:cs typeface="Calibri"/>
              </a:defRPr>
            </a:pPr>
            <a:r>
              <a:rPr sz="2400" b="0">
                <a:solidFill>
                  <a:srgbClr val="D00020"/>
                </a:solidFill>
                <a:latin typeface="Calibri"/>
                <a:ea typeface="Calibri"/>
                <a:cs typeface="Calibri"/>
              </a:rPr>
              <a:t>Modellkomplexität: Anzahl der Parameter</a:t>
            </a:r>
          </a: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33 / 44</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sp>
        <p:nvSpPr>
          <p:cNvPr id="25" name="Structure separator">
            <a:extLst xmlns:a="http://schemas.openxmlformats.org/drawingml/2006/main">
              <a:ext uri="{FF2B5EF4-FFF2-40B4-BE49-F238E27FC236}">
                <a16:creationId xmlns:a16="http://schemas.microsoft.com/office/drawing/2014/main" id="{F1172810-A9AC-4C7B-B4FD-F8FA917498AF}"/>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26" name="Structure label">
            <a:extLst xmlns:a="http://schemas.openxmlformats.org/drawingml/2006/main">
              <a:ext uri="{FF2B5EF4-FFF2-40B4-BE49-F238E27FC236}">
                <a16:creationId xmlns:a16="http://schemas.microsoft.com/office/drawing/2014/main" id="{0F32C96F-1D12-48DC-9E3B-F6956131A458}"/>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7" name="Structure 0">
            <a:extLst xmlns:a="http://schemas.openxmlformats.org/drawingml/2006/main">
              <a:ext uri="{FF2B5EF4-FFF2-40B4-BE49-F238E27FC236}">
                <a16:creationId xmlns:a16="http://schemas.microsoft.com/office/drawing/2014/main" id="{B7228852-721B-431E-B6EA-9FDE2B77FF62}"/>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8" name="Structure 1">
            <a:extLst xmlns:a="http://schemas.openxmlformats.org/drawingml/2006/main">
              <a:ext uri="{FF2B5EF4-FFF2-40B4-BE49-F238E27FC236}">
                <a16:creationId xmlns:a16="http://schemas.microsoft.com/office/drawing/2014/main" id="{98A99518-00F7-4BCE-9A01-0AB72A4049ED}"/>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9" name="Structure 2">
            <a:extLst xmlns:a="http://schemas.openxmlformats.org/drawingml/2006/main">
              <a:ext uri="{FF2B5EF4-FFF2-40B4-BE49-F238E27FC236}">
                <a16:creationId xmlns:a16="http://schemas.microsoft.com/office/drawing/2014/main" id="{286DBC0D-83E9-4BF3-8D62-8A8E95590C15}"/>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0" name="Structure 3">
            <a:extLst xmlns:a="http://schemas.openxmlformats.org/drawingml/2006/main">
              <a:ext uri="{FF2B5EF4-FFF2-40B4-BE49-F238E27FC236}">
                <a16:creationId xmlns:a16="http://schemas.microsoft.com/office/drawing/2014/main" id="{0F7F0D20-E692-4C66-9E22-A165D4334539}"/>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1" name="Structure 4">
            <a:extLst xmlns:a="http://schemas.openxmlformats.org/drawingml/2006/main">
              <a:ext uri="{FF2B5EF4-FFF2-40B4-BE49-F238E27FC236}">
                <a16:creationId xmlns:a16="http://schemas.microsoft.com/office/drawing/2014/main" id="{57D36B00-32B8-4D70-87A5-C7ACBC0D2384}"/>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32" name="Structure 5">
            <a:extLst xmlns:a="http://schemas.openxmlformats.org/drawingml/2006/main">
              <a:ext uri="{FF2B5EF4-FFF2-40B4-BE49-F238E27FC236}">
                <a16:creationId xmlns:a16="http://schemas.microsoft.com/office/drawing/2014/main" id="{C225A9AE-5AB8-480E-AC8F-CCFA60F32DE5}"/>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47ec9455b9df425d"/>
          <a:stretch xmlns:a="http://schemas.openxmlformats.org/drawingml/2006/main"/>
        </p:blipFill>
        <p:spPr>
          <a:xfrm xmlns:a="http://schemas.openxmlformats.org/drawingml/2006/main">
            <a:off x="1389574" y="1419225"/>
            <a:ext cx="7679301" cy="2447925"/>
          </a:xfrm>
          <a:prstGeom xmlns:a="http://schemas.openxmlformats.org/drawingml/2006/main" prst="rect">
            <a:avLst/>
          </a:prstGeom>
        </p:spPr>
      </p:pic>
      <p:sp>
        <p:nvSpPr>
          <p:cNvPr id="2000" name="PC_highlight_mlp">
            <a:extLst xmlns:a="http://schemas.openxmlformats.org/drawingml/2006/main">
              <a:ext uri="{FF2B5EF4-FFF2-40B4-BE49-F238E27FC236}">
                <a16:creationId xmlns:a16="http://schemas.microsoft.com/office/drawing/2014/main" id="{198F6CFA-8047-4B0B-AB74-D8BC81A05B1F}"/>
              </a:ext>
            </a:extLst>
          </p:cNvPr>
          <p:cNvSpPr>
            <a:spLocks xmlns:a="http://schemas.openxmlformats.org/drawingml/2006/main" noGrp="1"/>
          </p:cNvSpPr>
          <p:nvPr/>
        </p:nvSpPr>
        <p:spPr>
          <a:xfrm xmlns:a="http://schemas.openxmlformats.org/drawingml/2006/main">
            <a:off x="6915150" y="1438275"/>
            <a:ext cx="1514475" cy="1866900"/>
          </a:xfrm>
          <a:prstGeom xmlns:a="http://schemas.openxmlformats.org/drawingml/2006/main" prst="rect">
            <a:avLst/>
          </a:prstGeom>
          <a:noFill xmlns:a="http://schemas.openxmlformats.org/drawingml/2006/main"/>
          <a:ln xmlns:a="http://schemas.openxmlformats.org/drawingml/2006/main" w="23813">
            <a:solidFill>
              <a:srgbClr val="D00020"/>
            </a:solidFill>
          </a:ln>
        </p:spPr>
      </p:sp>
      <p:sp>
        <p:nvSpPr>
          <p:cNvPr id="2001" name="PC_mlp_context">
            <a:extLst xmlns:a="http://schemas.openxmlformats.org/drawingml/2006/main">
              <a:ext uri="{FF2B5EF4-FFF2-40B4-BE49-F238E27FC236}">
                <a16:creationId xmlns:a16="http://schemas.microsoft.com/office/drawing/2014/main" id="{69C62011-B5E3-46C4-A774-1259BE15597B}"/>
              </a:ext>
            </a:extLst>
          </p:cNvPr>
          <p:cNvSpPr>
            <a:spLocks xmlns:a="http://schemas.openxmlformats.org/drawingml/2006/main" noGrp="1"/>
          </p:cNvSpPr>
          <p:nvPr/>
        </p:nvSpPr>
        <p:spPr>
          <a:xfrm xmlns:a="http://schemas.openxmlformats.org/drawingml/2006/main">
            <a:off x="552450" y="4019550"/>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MLP-Head: Hidden Layer der Breite M und skalarer Ausgang</a:t>
            </a:r>
          </a:p>
        </p:txBody>
      </p:sp>
      <p:sp>
        <p:nvSpPr>
          <p:cNvPr id="2002" name="PC_mlp_formula">
            <a:extLst xmlns:a="http://schemas.openxmlformats.org/drawingml/2006/main">
              <a:ext uri="{FF2B5EF4-FFF2-40B4-BE49-F238E27FC236}">
                <a16:creationId xmlns:a16="http://schemas.microsoft.com/office/drawing/2014/main" id="{CCF4E6AD-A8AC-4569-AECB-DEF9A8200D79}"/>
              </a:ext>
            </a:extLst>
          </p:cNvPr>
          <p:cNvSpPr>
            <a:spLocks xmlns:a="http://schemas.openxmlformats.org/drawingml/2006/main" noGrp="1"/>
          </p:cNvSpPr>
          <p:nvPr/>
        </p:nvSpPr>
        <p:spPr>
          <a:xfrm xmlns:a="http://schemas.openxmlformats.org/drawingml/2006/main">
            <a:off x="552450" y="4400550"/>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pPr>
            <a14:m xmlns:a14="http://schemas.microsoft.com/office/drawing/2010/main">
              <m:oMathPara xmlns:m="http://schemas.openxmlformats.org/officeDocument/2006/math">
                <m:oMathParaPr>
                  <m:jc m:val="left"/>
                </m:oMathParaPr>
                <m:oMath>
                  <m:sSub>
                    <m:e>
                      <m:r>
                        <a:rPr sz="1800">
                          <a:solidFill>
                            <a:srgbClr val="444444"/>
                          </a:solidFill>
                          <a:latin typeface="Cambria Math"/>
                          <a:ea typeface="Cambria Math"/>
                          <a:cs typeface="Cambria Math"/>
                        </a:rPr>
                        <m:t>N</m:t>
                      </m:r>
                    </m:e>
                    <m:sub>
                      <m:r>
                        <m:rPr>
                          <m:sty m:val="p"/>
                        </m:rPr>
                        <a:rPr sz="1260">
                          <a:solidFill>
                            <a:srgbClr val="444444"/>
                          </a:solidFill>
                          <a:latin typeface="Cambria Math"/>
                          <a:ea typeface="Cambria Math"/>
                          <a:cs typeface="Cambria Math"/>
                        </a:rPr>
                        <m:t>MLP</m:t>
                      </m:r>
                    </m:sub>
                  </m:sSub>
                  <m:r>
                    <a:rPr sz="1800">
                      <a:solidFill>
                        <a:srgbClr val="444444"/>
                      </a:solidFill>
                      <a:latin typeface="Cambria Math"/>
                      <a:ea typeface="Cambria Math"/>
                      <a:cs typeface="Cambria Math"/>
                    </a:rPr>
                    <m:t>=(HM+M)+(M+1)=HM+2M+1</m:t>
                  </m:r>
                </m:oMath>
              </m:oMathPara>
            </a14:m>
          </a:p>
        </p:txBody>
      </p:sp>
      <p:sp>
        <p:nvSpPr>
          <p:cNvPr id="2003" name="PC_mlp_terms">
            <a:extLst xmlns:a="http://schemas.openxmlformats.org/drawingml/2006/main">
              <a:ext uri="{FF2B5EF4-FFF2-40B4-BE49-F238E27FC236}">
                <a16:creationId xmlns:a16="http://schemas.microsoft.com/office/drawing/2014/main" id="{45134C5B-C59D-40DF-840A-6AEC9C2EDECD}"/>
              </a:ext>
            </a:extLst>
          </p:cNvPr>
          <p:cNvSpPr>
            <a:spLocks xmlns:a="http://schemas.openxmlformats.org/drawingml/2006/main" noGrp="1"/>
          </p:cNvSpPr>
          <p:nvPr/>
        </p:nvSpPr>
        <p:spPr>
          <a:xfrm xmlns:a="http://schemas.openxmlformats.org/drawingml/2006/main">
            <a:off x="552450" y="4781550"/>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Hidden Layer: H × M Gewichte + M Bias, Ausgang: M Gewichte + 1 Bias</a:t>
            </a:r>
          </a:p>
        </p:txBody>
      </p:sp>
      <p:sp>
        <p:nvSpPr>
          <p:cNvPr id="2004" name="PC_mlp_soc">
            <a:extLst xmlns:a="http://schemas.openxmlformats.org/drawingml/2006/main">
              <a:ext uri="{FF2B5EF4-FFF2-40B4-BE49-F238E27FC236}">
                <a16:creationId xmlns:a16="http://schemas.microsoft.com/office/drawing/2014/main" id="{6B560B57-E9FD-4FA6-820E-13908073AB7B}"/>
              </a:ext>
            </a:extLst>
          </p:cNvPr>
          <p:cNvSpPr>
            <a:spLocks xmlns:a="http://schemas.openxmlformats.org/drawingml/2006/main" noGrp="1"/>
          </p:cNvSpPr>
          <p:nvPr/>
        </p:nvSpPr>
        <p:spPr>
          <a:xfrm xmlns:a="http://schemas.openxmlformats.org/drawingml/2006/main">
            <a:off x="552450" y="5162550"/>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pPr>
            <a14:m xmlns:a14="http://schemas.microsoft.com/office/drawing/2010/main">
              <m:oMathPara xmlns:m="http://schemas.openxmlformats.org/officeDocument/2006/math">
                <m:oMathParaPr>
                  <m:jc m:val="left"/>
                </m:oMathParaPr>
                <m:oMath>
                  <m:r>
                    <m:rPr>
                      <m:sty m:val="p"/>
                    </m:rPr>
                    <a:rPr sz="1800">
                      <a:solidFill>
                        <a:srgbClr val="D00020"/>
                      </a:solidFill>
                      <a:latin typeface="Cambria Math"/>
                      <a:ea typeface="Cambria Math"/>
                      <a:cs typeface="Cambria Math"/>
                    </a:rPr>
                    <m:t xml:space="preserve">SOC (H = M = 64): </m:t>
                  </m:r>
                  <m:r>
                    <a:rPr sz="1800">
                      <a:solidFill>
                        <a:srgbClr val="D00020"/>
                      </a:solidFill>
                      <a:latin typeface="Cambria Math"/>
                      <a:ea typeface="Cambria Math"/>
                      <a:cs typeface="Cambria Math"/>
                    </a:rPr>
                    <m:t>4 096 + 64 + 64 + 1 = 4 225</m:t>
                  </m:r>
                </m:oMath>
              </m:oMathPara>
            </a14:m>
          </a:p>
        </p:txBody>
      </p:sp>
      <p:sp>
        <p:nvSpPr>
          <p:cNvPr id="2005" name="PC_mlp_soh">
            <a:extLst xmlns:a="http://schemas.openxmlformats.org/drawingml/2006/main">
              <a:ext uri="{FF2B5EF4-FFF2-40B4-BE49-F238E27FC236}">
                <a16:creationId xmlns:a16="http://schemas.microsoft.com/office/drawing/2014/main" id="{C6CCD990-855A-4336-ACF6-FC4843690B5A}"/>
              </a:ext>
            </a:extLst>
          </p:cNvPr>
          <p:cNvSpPr>
            <a:spLocks xmlns:a="http://schemas.openxmlformats.org/drawingml/2006/main" noGrp="1"/>
          </p:cNvSpPr>
          <p:nvPr/>
        </p:nvSpPr>
        <p:spPr>
          <a:xfrm xmlns:a="http://schemas.openxmlformats.org/drawingml/2006/main">
            <a:off x="552450" y="5543550"/>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pPr>
            <a14:m xmlns:a14="http://schemas.microsoft.com/office/drawing/2010/main">
              <m:oMathPara xmlns:m="http://schemas.openxmlformats.org/officeDocument/2006/math">
                <m:oMathParaPr>
                  <m:jc m:val="left"/>
                </m:oMathParaPr>
                <m:oMath>
                  <m:r>
                    <m:rPr>
                      <m:sty m:val="p"/>
                    </m:rPr>
                    <a:rPr sz="1800">
                      <a:solidFill>
                        <a:srgbClr val="D00020"/>
                      </a:solidFill>
                      <a:latin typeface="Cambria Math"/>
                      <a:ea typeface="Cambria Math"/>
                      <a:cs typeface="Cambria Math"/>
                    </a:rPr>
                    <m:t xml:space="preserve">SOH (H = M = 128): </m:t>
                  </m:r>
                  <m:r>
                    <a:rPr sz="1800">
                      <a:solidFill>
                        <a:srgbClr val="D00020"/>
                      </a:solidFill>
                      <a:latin typeface="Cambria Math"/>
                      <a:ea typeface="Cambria Math"/>
                      <a:cs typeface="Cambria Math"/>
                    </a:rPr>
                    <m:t>16 384 + 128 + 128 + 1 = 16 641</m:t>
                  </m:r>
                </m:oMath>
              </m:oMathPara>
            </a14:m>
          </a:p>
        </p:txBody>
      </p:sp>
    </p:spTree>
    <p:extLst>
      <p:ext uri="{BB962C8B-B14F-4D97-AF65-F5344CB8AC3E}">
        <p14:creationId xmlns:p14="http://schemas.microsoft.com/office/powerpoint/2010/main" val="2834351105"/>
      </p:ext>
    </p:extLst>
  </p:cSld>
  <p:transition spd="fast" advClick="1">
    <p:fade/>
  </p:transition>
</p:sld>
</file>

<file path=ppt/slides/slide54.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D00020"/>
                </a:solidFill>
                <a:latin typeface="Calibri"/>
                <a:ea typeface="Calibri"/>
                <a:cs typeface="Calibri"/>
              </a:defRPr>
            </a:pPr>
            <a:r>
              <a:rPr sz="2400" b="0">
                <a:solidFill>
                  <a:srgbClr val="D00020"/>
                </a:solidFill>
                <a:latin typeface="Calibri"/>
                <a:ea typeface="Calibri"/>
                <a:cs typeface="Calibri"/>
              </a:rPr>
              <a:t>Modellkomplexität: Anzahl der Parameter</a:t>
            </a:r>
          </a: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34 / 44</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sp>
        <p:nvSpPr>
          <p:cNvPr id="25" name="Structure separator">
            <a:extLst xmlns:a="http://schemas.openxmlformats.org/drawingml/2006/main">
              <a:ext uri="{FF2B5EF4-FFF2-40B4-BE49-F238E27FC236}">
                <a16:creationId xmlns:a16="http://schemas.microsoft.com/office/drawing/2014/main" id="{F1172810-A9AC-4C7B-B4FD-F8FA917498AF}"/>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26" name="Structure label">
            <a:extLst xmlns:a="http://schemas.openxmlformats.org/drawingml/2006/main">
              <a:ext uri="{FF2B5EF4-FFF2-40B4-BE49-F238E27FC236}">
                <a16:creationId xmlns:a16="http://schemas.microsoft.com/office/drawing/2014/main" id="{0F32C96F-1D12-48DC-9E3B-F6956131A458}"/>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7" name="Structure 0">
            <a:extLst xmlns:a="http://schemas.openxmlformats.org/drawingml/2006/main">
              <a:ext uri="{FF2B5EF4-FFF2-40B4-BE49-F238E27FC236}">
                <a16:creationId xmlns:a16="http://schemas.microsoft.com/office/drawing/2014/main" id="{B7228852-721B-431E-B6EA-9FDE2B77FF62}"/>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8" name="Structure 1">
            <a:extLst xmlns:a="http://schemas.openxmlformats.org/drawingml/2006/main">
              <a:ext uri="{FF2B5EF4-FFF2-40B4-BE49-F238E27FC236}">
                <a16:creationId xmlns:a16="http://schemas.microsoft.com/office/drawing/2014/main" id="{98A99518-00F7-4BCE-9A01-0AB72A4049ED}"/>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9" name="Structure 2">
            <a:extLst xmlns:a="http://schemas.openxmlformats.org/drawingml/2006/main">
              <a:ext uri="{FF2B5EF4-FFF2-40B4-BE49-F238E27FC236}">
                <a16:creationId xmlns:a16="http://schemas.microsoft.com/office/drawing/2014/main" id="{286DBC0D-83E9-4BF3-8D62-8A8E95590C15}"/>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0" name="Structure 3">
            <a:extLst xmlns:a="http://schemas.openxmlformats.org/drawingml/2006/main">
              <a:ext uri="{FF2B5EF4-FFF2-40B4-BE49-F238E27FC236}">
                <a16:creationId xmlns:a16="http://schemas.microsoft.com/office/drawing/2014/main" id="{0F7F0D20-E692-4C66-9E22-A165D4334539}"/>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1" name="Structure 4">
            <a:extLst xmlns:a="http://schemas.openxmlformats.org/drawingml/2006/main">
              <a:ext uri="{FF2B5EF4-FFF2-40B4-BE49-F238E27FC236}">
                <a16:creationId xmlns:a16="http://schemas.microsoft.com/office/drawing/2014/main" id="{57D36B00-32B8-4D70-87A5-C7ACBC0D2384}"/>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32" name="Structure 5">
            <a:extLst xmlns:a="http://schemas.openxmlformats.org/drawingml/2006/main">
              <a:ext uri="{FF2B5EF4-FFF2-40B4-BE49-F238E27FC236}">
                <a16:creationId xmlns:a16="http://schemas.microsoft.com/office/drawing/2014/main" id="{C225A9AE-5AB8-480E-AC8F-CCFA60F32DE5}"/>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47ec9455b9df425d"/>
          <a:stretch xmlns:a="http://schemas.openxmlformats.org/drawingml/2006/main"/>
        </p:blipFill>
        <p:spPr>
          <a:xfrm xmlns:a="http://schemas.openxmlformats.org/drawingml/2006/main">
            <a:off x="1389574" y="1419225"/>
            <a:ext cx="7679301" cy="2447925"/>
          </a:xfrm>
          <a:prstGeom xmlns:a="http://schemas.openxmlformats.org/drawingml/2006/main" prst="rect">
            <a:avLst/>
          </a:prstGeom>
        </p:spPr>
      </p:pic>
      <p:sp>
        <p:nvSpPr>
          <p:cNvPr id="2000" name="PC_highlight_total">
            <a:extLst xmlns:a="http://schemas.openxmlformats.org/drawingml/2006/main">
              <a:ext uri="{FF2B5EF4-FFF2-40B4-BE49-F238E27FC236}">
                <a16:creationId xmlns:a16="http://schemas.microsoft.com/office/drawing/2014/main" id="{E35583EC-7332-4BDC-949F-8C80BCF0C976}"/>
              </a:ext>
            </a:extLst>
          </p:cNvPr>
          <p:cNvSpPr>
            <a:spLocks xmlns:a="http://schemas.openxmlformats.org/drawingml/2006/main" noGrp="1"/>
          </p:cNvSpPr>
          <p:nvPr/>
        </p:nvSpPr>
        <p:spPr>
          <a:xfrm xmlns:a="http://schemas.openxmlformats.org/drawingml/2006/main">
            <a:off x="3638550" y="1438275"/>
            <a:ext cx="4791075" cy="1866900"/>
          </a:xfrm>
          <a:prstGeom xmlns:a="http://schemas.openxmlformats.org/drawingml/2006/main" prst="rect">
            <a:avLst/>
          </a:prstGeom>
          <a:noFill xmlns:a="http://schemas.openxmlformats.org/drawingml/2006/main"/>
          <a:ln xmlns:a="http://schemas.openxmlformats.org/drawingml/2006/main" w="23813">
            <a:solidFill>
              <a:srgbClr val="D00020"/>
            </a:solidFill>
          </a:ln>
        </p:spPr>
      </p:sp>
      <p:sp>
        <p:nvSpPr>
          <p:cNvPr id="2001" name="PC_total_context">
            <a:extLst xmlns:a="http://schemas.openxmlformats.org/drawingml/2006/main">
              <a:ext uri="{FF2B5EF4-FFF2-40B4-BE49-F238E27FC236}">
                <a16:creationId xmlns:a16="http://schemas.microsoft.com/office/drawing/2014/main" id="{ADB848F1-898F-44DB-96A3-26EFDB56EB95}"/>
              </a:ext>
            </a:extLst>
          </p:cNvPr>
          <p:cNvSpPr>
            <a:spLocks xmlns:a="http://schemas.openxmlformats.org/drawingml/2006/main" noGrp="1"/>
          </p:cNvSpPr>
          <p:nvPr/>
        </p:nvSpPr>
        <p:spPr>
          <a:xfrm xmlns:a="http://schemas.openxmlformats.org/drawingml/2006/main">
            <a:off x="552450" y="4019550"/>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Gesamtzahl: LSTM-Kern + MLP-Head, jeweils inklusive Bias</a:t>
            </a:r>
          </a:p>
        </p:txBody>
      </p:sp>
      <p:graphicFrame>
        <p:nvGraphicFramePr>
          <p:cNvPr id="2002" name=""/>
          <p:cNvGraphicFramePr/>
          <p:nvPr/>
        </p:nvGraphicFramePr>
        <p:xfrm>
          <a:off xmlns:a="http://schemas.openxmlformats.org/drawingml/2006/main" x="552450" y="4381500"/>
          <a:ext xmlns:a="http://schemas.openxmlformats.org/drawingml/2006/main" cx="9391650" cy="1114425"/>
        </p:xfrm>
        <a:graphic xmlns:a="http://schemas.openxmlformats.org/drawingml/2006/main">
          <a:graphicData uri="http://schemas.openxmlformats.org/drawingml/2006/table">
            <a:tbl>
              <a:tblPr firstRow="0" firstCol="0" lastRow="0" lastCol="0" bandRow="0" bandCol="0"/>
              <a:tblGrid>
                <a:gridCol w="3333750"/>
                <a:gridCol w="1943100"/>
                <a:gridCol w="1943100"/>
                <a:gridCol w="2171700"/>
              </a:tblGrid>
              <a:tr h="371475">
                <a:tc>
                  <a:txBody>
                    <a:bodyPr wrap="none">
                      <a:noAutofit/>
                    </a:bodyPr>
                    <a:lstStyle/>
                    <a:p>
                      <a:pPr algn="l">
                        <a:buNone/>
                      </a:pPr>
                      <a:r>
                        <a:rPr sz="1800" b="1">
                          <a:solidFill>
                            <a:srgbClr val="444444"/>
                          </a:solidFill>
                          <a:latin typeface="Calibri"/>
                          <a:ea typeface="Calibri"/>
                          <a:cs typeface="Calibri"/>
                        </a:rPr>
                        <a:t>Base-Modell (D = 6)</a:t>
                      </a:r>
                    </a:p>
                  </a:txBody>
                  <a:tcPr marL="114300" marR="114300" marT="47625" marB="47625" anchor="ctr">
                    <a:solidFill>
                      <a:srgbClr val="F0F0F0"/>
                    </a:solidFill>
                  </a:tcPr>
                </a:tc>
                <a:tc>
                  <a:txBody>
                    <a:bodyPr wrap="none">
                      <a:noAutofit/>
                    </a:bodyPr>
                    <a:lstStyle/>
                    <a:p>
                      <a:pPr algn="r">
                        <a:buNone/>
                      </a:pPr>
                      <a:r>
                        <a:rPr sz="1800" b="1">
                          <a:solidFill>
                            <a:srgbClr val="444444"/>
                          </a:solidFill>
                          <a:latin typeface="Calibri"/>
                          <a:ea typeface="Calibri"/>
                          <a:cs typeface="Calibri"/>
                        </a:rPr>
                        <a:t>LSTM</a:t>
                      </a:r>
                    </a:p>
                  </a:txBody>
                  <a:tcPr marL="114300" marR="114300" marT="47625" marB="47625" anchor="ctr">
                    <a:solidFill>
                      <a:srgbClr val="F0F0F0"/>
                    </a:solidFill>
                  </a:tcPr>
                </a:tc>
                <a:tc>
                  <a:txBody>
                    <a:bodyPr wrap="none">
                      <a:noAutofit/>
                    </a:bodyPr>
                    <a:lstStyle/>
                    <a:p>
                      <a:pPr algn="r">
                        <a:buNone/>
                      </a:pPr>
                      <a:r>
                        <a:rPr sz="1800" b="1">
                          <a:solidFill>
                            <a:srgbClr val="444444"/>
                          </a:solidFill>
                          <a:latin typeface="Calibri"/>
                          <a:ea typeface="Calibri"/>
                          <a:cs typeface="Calibri"/>
                        </a:rPr>
                        <a:t>MLP</a:t>
                      </a:r>
                    </a:p>
                  </a:txBody>
                  <a:tcPr marL="114300" marR="114300" marT="47625" marB="47625" anchor="ctr">
                    <a:solidFill>
                      <a:srgbClr val="F0F0F0"/>
                    </a:solidFill>
                  </a:tcPr>
                </a:tc>
                <a:tc>
                  <a:txBody>
                    <a:bodyPr wrap="none">
                      <a:noAutofit/>
                    </a:bodyPr>
                    <a:lstStyle/>
                    <a:p>
                      <a:pPr algn="r">
                        <a:buNone/>
                      </a:pPr>
                      <a:r>
                        <a:rPr sz="1800" b="1">
                          <a:solidFill>
                            <a:srgbClr val="444444"/>
                          </a:solidFill>
                          <a:latin typeface="Calibri"/>
                          <a:ea typeface="Calibri"/>
                          <a:cs typeface="Calibri"/>
                        </a:rPr>
                        <a:t>Gesamt</a:t>
                      </a:r>
                    </a:p>
                  </a:txBody>
                  <a:tcPr marL="114300" marR="114300" marT="47625" marB="47625" anchor="ctr">
                    <a:solidFill>
                      <a:srgbClr val="F0F0F0"/>
                    </a:solidFill>
                  </a:tcPr>
                </a:tc>
              </a:tr>
              <a:tr h="371475">
                <a:tc>
                  <a:txBody>
                    <a:bodyPr wrap="none">
                      <a:noAutofit/>
                    </a:bodyPr>
                    <a:lstStyle/>
                    <a:p>
                      <a:pPr algn="l">
                        <a:buNone/>
                      </a:pPr>
                      <a:r>
                        <a:rPr sz="1800" b="0">
                          <a:solidFill>
                            <a:srgbClr val="444444"/>
                          </a:solidFill>
                          <a:latin typeface="Calibri"/>
                          <a:ea typeface="Calibri"/>
                          <a:cs typeface="Calibri"/>
                        </a:rPr>
                        <a:t>SOC (H = M = 64)</a:t>
                      </a:r>
                    </a:p>
                  </a:txBody>
                  <a:tcPr marL="114300" marR="114300" marT="47625" marB="47625" anchor="ctr">
                    <a:solidFill>
                      <a:srgbClr val="FFFFFF"/>
                    </a:solidFill>
                  </a:tcPr>
                </a:tc>
                <a:tc>
                  <a:txBody>
                    <a:bodyPr wrap="none">
                      <a:noAutofit/>
                    </a:bodyPr>
                    <a:lstStyle/>
                    <a:p>
                      <a:pPr algn="r">
                        <a:buNone/>
                      </a:pPr>
                      <a:r>
                        <a:rPr sz="1800" b="0">
                          <a:solidFill>
                            <a:srgbClr val="444444"/>
                          </a:solidFill>
                          <a:latin typeface="Calibri"/>
                          <a:ea typeface="Calibri"/>
                          <a:cs typeface="Calibri"/>
                        </a:rPr>
                        <a:t>18 432</a:t>
                      </a:r>
                    </a:p>
                  </a:txBody>
                  <a:tcPr marL="114300" marR="114300" marT="47625" marB="47625" anchor="ctr">
                    <a:solidFill>
                      <a:srgbClr val="FFFFFF"/>
                    </a:solidFill>
                  </a:tcPr>
                </a:tc>
                <a:tc>
                  <a:txBody>
                    <a:bodyPr wrap="none">
                      <a:noAutofit/>
                    </a:bodyPr>
                    <a:lstStyle/>
                    <a:p>
                      <a:pPr algn="r">
                        <a:buNone/>
                      </a:pPr>
                      <a:r>
                        <a:rPr sz="1800" b="0">
                          <a:solidFill>
                            <a:srgbClr val="444444"/>
                          </a:solidFill>
                          <a:latin typeface="Calibri"/>
                          <a:ea typeface="Calibri"/>
                          <a:cs typeface="Calibri"/>
                        </a:rPr>
                        <a:t>4 225</a:t>
                      </a:r>
                    </a:p>
                  </a:txBody>
                  <a:tcPr marL="114300" marR="114300" marT="47625" marB="47625" anchor="ctr">
                    <a:solidFill>
                      <a:srgbClr val="FFFFFF"/>
                    </a:solidFill>
                  </a:tcPr>
                </a:tc>
                <a:tc>
                  <a:txBody>
                    <a:bodyPr wrap="none">
                      <a:noAutofit/>
                    </a:bodyPr>
                    <a:lstStyle/>
                    <a:p>
                      <a:pPr algn="r">
                        <a:buNone/>
                      </a:pPr>
                      <a:r>
                        <a:rPr sz="1800" b="1">
                          <a:solidFill>
                            <a:srgbClr val="D00020"/>
                          </a:solidFill>
                          <a:latin typeface="Calibri"/>
                          <a:ea typeface="Calibri"/>
                          <a:cs typeface="Calibri"/>
                        </a:rPr>
                        <a:t>22 657</a:t>
                      </a:r>
                    </a:p>
                  </a:txBody>
                  <a:tcPr marL="114300" marR="114300" marT="47625" marB="47625" anchor="ctr">
                    <a:solidFill>
                      <a:srgbClr val="FFFFFF"/>
                    </a:solidFill>
                  </a:tcPr>
                </a:tc>
              </a:tr>
              <a:tr h="371475">
                <a:tc>
                  <a:txBody>
                    <a:bodyPr wrap="none">
                      <a:noAutofit/>
                    </a:bodyPr>
                    <a:lstStyle/>
                    <a:p>
                      <a:pPr algn="l">
                        <a:buNone/>
                      </a:pPr>
                      <a:r>
                        <a:rPr sz="1800" b="0">
                          <a:solidFill>
                            <a:srgbClr val="444444"/>
                          </a:solidFill>
                          <a:latin typeface="Calibri"/>
                          <a:ea typeface="Calibri"/>
                          <a:cs typeface="Calibri"/>
                        </a:rPr>
                        <a:t>SOH (H = M = 128)</a:t>
                      </a:r>
                    </a:p>
                  </a:txBody>
                  <a:tcPr marL="114300" marR="114300" marT="47625" marB="47625" anchor="ctr">
                    <a:solidFill>
                      <a:srgbClr val="FFFFFF"/>
                    </a:solidFill>
                  </a:tcPr>
                </a:tc>
                <a:tc>
                  <a:txBody>
                    <a:bodyPr wrap="none">
                      <a:noAutofit/>
                    </a:bodyPr>
                    <a:lstStyle/>
                    <a:p>
                      <a:pPr algn="r">
                        <a:buNone/>
                      </a:pPr>
                      <a:r>
                        <a:rPr sz="1800" b="0">
                          <a:solidFill>
                            <a:srgbClr val="444444"/>
                          </a:solidFill>
                          <a:latin typeface="Calibri"/>
                          <a:ea typeface="Calibri"/>
                          <a:cs typeface="Calibri"/>
                        </a:rPr>
                        <a:t>69 632</a:t>
                      </a:r>
                    </a:p>
                  </a:txBody>
                  <a:tcPr marL="114300" marR="114300" marT="47625" marB="47625" anchor="ctr">
                    <a:solidFill>
                      <a:srgbClr val="FFFFFF"/>
                    </a:solidFill>
                  </a:tcPr>
                </a:tc>
                <a:tc>
                  <a:txBody>
                    <a:bodyPr wrap="none">
                      <a:noAutofit/>
                    </a:bodyPr>
                    <a:lstStyle/>
                    <a:p>
                      <a:pPr algn="r">
                        <a:buNone/>
                      </a:pPr>
                      <a:r>
                        <a:rPr sz="1800" b="0">
                          <a:solidFill>
                            <a:srgbClr val="444444"/>
                          </a:solidFill>
                          <a:latin typeface="Calibri"/>
                          <a:ea typeface="Calibri"/>
                          <a:cs typeface="Calibri"/>
                        </a:rPr>
                        <a:t>16 641</a:t>
                      </a:r>
                    </a:p>
                  </a:txBody>
                  <a:tcPr marL="114300" marR="114300" marT="47625" marB="47625" anchor="ctr">
                    <a:solidFill>
                      <a:srgbClr val="FFFFFF"/>
                    </a:solidFill>
                  </a:tcPr>
                </a:tc>
                <a:tc>
                  <a:txBody>
                    <a:bodyPr wrap="none">
                      <a:noAutofit/>
                    </a:bodyPr>
                    <a:lstStyle/>
                    <a:p>
                      <a:pPr algn="r">
                        <a:buNone/>
                      </a:pPr>
                      <a:r>
                        <a:rPr sz="1800" b="1">
                          <a:solidFill>
                            <a:srgbClr val="D00020"/>
                          </a:solidFill>
                          <a:latin typeface="Calibri"/>
                          <a:ea typeface="Calibri"/>
                          <a:cs typeface="Calibri"/>
                        </a:rPr>
                        <a:t>86 273</a:t>
                      </a:r>
                    </a:p>
                  </a:txBody>
                  <a:tcPr marL="114300" marR="114300" marT="47625" marB="47625" anchor="ctr">
                    <a:solidFill>
                      <a:srgbClr val="FFFFFF"/>
                    </a:solidFill>
                  </a:tcPr>
                </a:tc>
              </a:tr>
            </a:tbl>
          </a:graphicData>
        </a:graphic>
      </p:graphicFrame>
      <p:sp>
        <p:nvSpPr>
          <p:cNvPr id="2003" name="PC_total_takeaway">
            <a:extLst xmlns:a="http://schemas.openxmlformats.org/drawingml/2006/main">
              <a:ext uri="{FF2B5EF4-FFF2-40B4-BE49-F238E27FC236}">
                <a16:creationId xmlns:a16="http://schemas.microsoft.com/office/drawing/2014/main" id="{29EE1B8C-833A-49C1-BF20-CFB326567C36}"/>
              </a:ext>
            </a:extLst>
          </p:cNvPr>
          <p:cNvSpPr>
            <a:spLocks xmlns:a="http://schemas.openxmlformats.org/drawingml/2006/main" noGrp="1"/>
          </p:cNvSpPr>
          <p:nvPr/>
        </p:nvSpPr>
        <p:spPr>
          <a:xfrm xmlns:a="http://schemas.openxmlformats.org/drawingml/2006/main">
            <a:off x="552450" y="5629275"/>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LSTM-Kern mit rund 81 % der Parameter und quadratischem H²-Anteil</a:t>
            </a:r>
          </a:p>
        </p:txBody>
      </p:sp>
    </p:spTree>
    <p:extLst>
      <p:ext uri="{BB962C8B-B14F-4D97-AF65-F5344CB8AC3E}">
        <p14:creationId xmlns:p14="http://schemas.microsoft.com/office/powerpoint/2010/main" val="2834351105"/>
      </p:ext>
    </p:extLst>
  </p:cSld>
  <p:transition spd="fast" advClick="1">
    <p:fade/>
  </p:transition>
</p:sld>
</file>

<file path=ppt/slides/slide55.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D00020"/>
                </a:solidFill>
                <a:latin typeface="Calibri"/>
                <a:ea typeface="Calibri"/>
                <a:cs typeface="Calibri"/>
              </a:defRPr>
            </a:pPr>
            <a:r>
              <a:rPr sz="2400" b="0">
                <a:solidFill>
                  <a:srgbClr val="D00020"/>
                </a:solidFill>
                <a:latin typeface="Calibri"/>
                <a:ea typeface="Calibri"/>
                <a:cs typeface="Calibri"/>
              </a:rPr>
              <a:t>Anhang: Parameterzahl und MACs</a:t>
            </a:r>
          </a: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Anhang 10</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sp>
        <p:nvSpPr>
          <p:cNvPr id="25" name="Structure separator">
            <a:extLst xmlns:a="http://schemas.openxmlformats.org/drawingml/2006/main">
              <a:ext uri="{FF2B5EF4-FFF2-40B4-BE49-F238E27FC236}">
                <a16:creationId xmlns:a16="http://schemas.microsoft.com/office/drawing/2014/main" id="{F1172810-A9AC-4C7B-B4FD-F8FA917498AF}"/>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26" name="Structure label">
            <a:extLst xmlns:a="http://schemas.openxmlformats.org/drawingml/2006/main">
              <a:ext uri="{FF2B5EF4-FFF2-40B4-BE49-F238E27FC236}">
                <a16:creationId xmlns:a16="http://schemas.microsoft.com/office/drawing/2014/main" id="{0F32C96F-1D12-48DC-9E3B-F6956131A458}"/>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7" name="Structure 0">
            <a:extLst xmlns:a="http://schemas.openxmlformats.org/drawingml/2006/main">
              <a:ext uri="{FF2B5EF4-FFF2-40B4-BE49-F238E27FC236}">
                <a16:creationId xmlns:a16="http://schemas.microsoft.com/office/drawing/2014/main" id="{B7228852-721B-431E-B6EA-9FDE2B77FF62}"/>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8" name="Structure 1">
            <a:extLst xmlns:a="http://schemas.openxmlformats.org/drawingml/2006/main">
              <a:ext uri="{FF2B5EF4-FFF2-40B4-BE49-F238E27FC236}">
                <a16:creationId xmlns:a16="http://schemas.microsoft.com/office/drawing/2014/main" id="{98A99518-00F7-4BCE-9A01-0AB72A4049ED}"/>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9" name="Structure 2">
            <a:extLst xmlns:a="http://schemas.openxmlformats.org/drawingml/2006/main">
              <a:ext uri="{FF2B5EF4-FFF2-40B4-BE49-F238E27FC236}">
                <a16:creationId xmlns:a16="http://schemas.microsoft.com/office/drawing/2014/main" id="{286DBC0D-83E9-4BF3-8D62-8A8E95590C15}"/>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0" name="Structure 3">
            <a:extLst xmlns:a="http://schemas.openxmlformats.org/drawingml/2006/main">
              <a:ext uri="{FF2B5EF4-FFF2-40B4-BE49-F238E27FC236}">
                <a16:creationId xmlns:a16="http://schemas.microsoft.com/office/drawing/2014/main" id="{0F7F0D20-E692-4C66-9E22-A165D4334539}"/>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1" name="Structure 4">
            <a:extLst xmlns:a="http://schemas.openxmlformats.org/drawingml/2006/main">
              <a:ext uri="{FF2B5EF4-FFF2-40B4-BE49-F238E27FC236}">
                <a16:creationId xmlns:a16="http://schemas.microsoft.com/office/drawing/2014/main" id="{57D36B00-32B8-4D70-87A5-C7ACBC0D2384}"/>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32" name="Structure 5">
            <a:extLst xmlns:a="http://schemas.openxmlformats.org/drawingml/2006/main">
              <a:ext uri="{FF2B5EF4-FFF2-40B4-BE49-F238E27FC236}">
                <a16:creationId xmlns:a16="http://schemas.microsoft.com/office/drawing/2014/main" id="{C225A9AE-5AB8-480E-AC8F-CCFA60F32DE5}"/>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PC_mac_parameters">
            <a:extLst xmlns:a="http://schemas.openxmlformats.org/drawingml/2006/main">
              <a:ext uri="{FF2B5EF4-FFF2-40B4-BE49-F238E27FC236}">
                <a16:creationId xmlns:a16="http://schemas.microsoft.com/office/drawing/2014/main" id="{5694EB15-B071-4DBE-B2C9-4BFF93E0A1FF}"/>
              </a:ext>
            </a:extLst>
          </p:cNvPr>
          <p:cNvSpPr>
            <a:spLocks xmlns:a="http://schemas.openxmlformats.org/drawingml/2006/main" noGrp="1"/>
          </p:cNvSpPr>
          <p:nvPr/>
        </p:nvSpPr>
        <p:spPr>
          <a:xfrm xmlns:a="http://schemas.openxmlformats.org/drawingml/2006/main">
            <a:off x="552450" y="1495425"/>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Parameter: Gespeicherte Gewichte und Biaswerte</a:t>
            </a:r>
          </a:p>
        </p:txBody>
      </p:sp>
      <p:sp>
        <p:nvSpPr>
          <p:cNvPr id="2001" name="PC_mac_definition">
            <a:extLst xmlns:a="http://schemas.openxmlformats.org/drawingml/2006/main">
              <a:ext uri="{FF2B5EF4-FFF2-40B4-BE49-F238E27FC236}">
                <a16:creationId xmlns:a16="http://schemas.microsoft.com/office/drawing/2014/main" id="{5B69C444-13B3-4FF5-B639-218451169610}"/>
              </a:ext>
            </a:extLst>
          </p:cNvPr>
          <p:cNvSpPr>
            <a:spLocks xmlns:a="http://schemas.openxmlformats.org/drawingml/2006/main" noGrp="1"/>
          </p:cNvSpPr>
          <p:nvPr/>
        </p:nvSpPr>
        <p:spPr>
          <a:xfrm xmlns:a="http://schemas.openxmlformats.org/drawingml/2006/main">
            <a:off x="552450" y="1905000"/>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MAC (Multiply–Accumulate): Multiplikation mit anschließendem Aufsummieren</a:t>
            </a:r>
          </a:p>
        </p:txBody>
      </p:sp>
      <p:sp>
        <p:nvSpPr>
          <p:cNvPr id="2002" name="PC_mac_formula">
            <a:extLst xmlns:a="http://schemas.openxmlformats.org/drawingml/2006/main">
              <a:ext uri="{FF2B5EF4-FFF2-40B4-BE49-F238E27FC236}">
                <a16:creationId xmlns:a16="http://schemas.microsoft.com/office/drawing/2014/main" id="{9FC04401-E548-4304-B8B2-EA48858852A9}"/>
              </a:ext>
            </a:extLst>
          </p:cNvPr>
          <p:cNvSpPr>
            <a:spLocks xmlns:a="http://schemas.openxmlformats.org/drawingml/2006/main" noGrp="1"/>
          </p:cNvSpPr>
          <p:nvPr/>
        </p:nvSpPr>
        <p:spPr>
          <a:xfrm xmlns:a="http://schemas.openxmlformats.org/drawingml/2006/main">
            <a:off x="552450" y="2362200"/>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MACs pro Update = 4H(D + H) + HM + M</a:t>
            </a:r>
          </a:p>
        </p:txBody>
      </p:sp>
      <p:sp>
        <p:nvSpPr>
          <p:cNvPr id="2003" name="PC_mac_scope">
            <a:extLst xmlns:a="http://schemas.openxmlformats.org/drawingml/2006/main">
              <a:ext uri="{FF2B5EF4-FFF2-40B4-BE49-F238E27FC236}">
                <a16:creationId xmlns:a16="http://schemas.microsoft.com/office/drawing/2014/main" id="{B228DDB6-7EEC-4062-B7AD-8EF8F8496BBB}"/>
              </a:ext>
            </a:extLst>
          </p:cNvPr>
          <p:cNvSpPr>
            <a:spLocks xmlns:a="http://schemas.openxmlformats.org/drawingml/2006/main" noGrp="1"/>
          </p:cNvSpPr>
          <p:nvPr/>
        </p:nvSpPr>
        <p:spPr>
          <a:xfrm xmlns:a="http://schemas.openxmlformats.org/drawingml/2006/main">
            <a:off x="552450" y="2743200"/>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Matrixprodukte je Update, ohne Biasadditionen und Aktivierungsfunktionen</a:t>
            </a:r>
          </a:p>
        </p:txBody>
      </p:sp>
      <p:graphicFrame>
        <p:nvGraphicFramePr>
          <p:cNvPr id="2004" name=""/>
          <p:cNvGraphicFramePr/>
          <p:nvPr/>
        </p:nvGraphicFramePr>
        <p:xfrm>
          <a:off xmlns:a="http://schemas.openxmlformats.org/drawingml/2006/main" x="552450" y="3190875"/>
          <a:ext xmlns:a="http://schemas.openxmlformats.org/drawingml/2006/main" cx="9391650" cy="1114425"/>
        </p:xfrm>
        <a:graphic xmlns:a="http://schemas.openxmlformats.org/drawingml/2006/main">
          <a:graphicData uri="http://schemas.openxmlformats.org/drawingml/2006/table">
            <a:tbl>
              <a:tblPr firstRow="0" firstCol="0" lastRow="0" lastCol="0" bandRow="0" bandCol="0"/>
              <a:tblGrid>
                <a:gridCol w="4667250"/>
                <a:gridCol w="2190750"/>
                <a:gridCol w="2533650"/>
              </a:tblGrid>
              <a:tr h="371475">
                <a:tc>
                  <a:txBody>
                    <a:bodyPr wrap="none">
                      <a:noAutofit/>
                    </a:bodyPr>
                    <a:lstStyle/>
                    <a:p>
                      <a:pPr algn="l">
                        <a:buNone/>
                      </a:pPr>
                      <a:r>
                        <a:rPr sz="1800" b="1">
                          <a:solidFill>
                            <a:srgbClr val="444444"/>
                          </a:solidFill>
                          <a:latin typeface="Calibri"/>
                          <a:ea typeface="Calibri"/>
                          <a:cs typeface="Calibri"/>
                        </a:rPr>
                        <a:t>Base-Modell</a:t>
                      </a:r>
                    </a:p>
                  </a:txBody>
                  <a:tcPr marL="114300" marR="114300" marT="47625" marB="47625" anchor="ctr">
                    <a:solidFill>
                      <a:srgbClr val="F0F0F0"/>
                    </a:solidFill>
                  </a:tcPr>
                </a:tc>
                <a:tc>
                  <a:txBody>
                    <a:bodyPr wrap="none">
                      <a:noAutofit/>
                    </a:bodyPr>
                    <a:lstStyle/>
                    <a:p>
                      <a:pPr algn="r">
                        <a:buNone/>
                      </a:pPr>
                      <a:r>
                        <a:rPr sz="1800" b="1">
                          <a:solidFill>
                            <a:srgbClr val="444444"/>
                          </a:solidFill>
                          <a:latin typeface="Calibri"/>
                          <a:ea typeface="Calibri"/>
                          <a:cs typeface="Calibri"/>
                        </a:rPr>
                        <a:t>Parameter</a:t>
                      </a:r>
                    </a:p>
                  </a:txBody>
                  <a:tcPr marL="114300" marR="114300" marT="47625" marB="47625" anchor="ctr">
                    <a:solidFill>
                      <a:srgbClr val="F0F0F0"/>
                    </a:solidFill>
                  </a:tcPr>
                </a:tc>
                <a:tc>
                  <a:txBody>
                    <a:bodyPr wrap="none">
                      <a:noAutofit/>
                    </a:bodyPr>
                    <a:lstStyle/>
                    <a:p>
                      <a:pPr algn="r">
                        <a:buNone/>
                      </a:pPr>
                      <a:r>
                        <a:rPr sz="1800" b="1">
                          <a:solidFill>
                            <a:srgbClr val="444444"/>
                          </a:solidFill>
                          <a:latin typeface="Calibri"/>
                          <a:ea typeface="Calibri"/>
                          <a:cs typeface="Calibri"/>
                        </a:rPr>
                        <a:t>MACs je Update</a:t>
                      </a:r>
                    </a:p>
                  </a:txBody>
                  <a:tcPr marL="114300" marR="114300" marT="47625" marB="47625" anchor="ctr">
                    <a:solidFill>
                      <a:srgbClr val="F0F0F0"/>
                    </a:solidFill>
                  </a:tcPr>
                </a:tc>
              </a:tr>
              <a:tr h="371475">
                <a:tc>
                  <a:txBody>
                    <a:bodyPr wrap="none">
                      <a:noAutofit/>
                    </a:bodyPr>
                    <a:lstStyle/>
                    <a:p>
                      <a:pPr algn="l">
                        <a:buNone/>
                      </a:pPr>
                      <a:r>
                        <a:rPr sz="1800" b="0">
                          <a:solidFill>
                            <a:srgbClr val="444444"/>
                          </a:solidFill>
                          <a:latin typeface="Calibri"/>
                          <a:ea typeface="Calibri"/>
                          <a:cs typeface="Calibri"/>
                        </a:rPr>
                        <a:t>SOC (D = 6, H = M = 64)</a:t>
                      </a:r>
                    </a:p>
                  </a:txBody>
                  <a:tcPr marL="114300" marR="114300" marT="47625" marB="47625" anchor="ctr">
                    <a:solidFill>
                      <a:srgbClr val="FFFFFF"/>
                    </a:solidFill>
                  </a:tcPr>
                </a:tc>
                <a:tc>
                  <a:txBody>
                    <a:bodyPr wrap="none">
                      <a:noAutofit/>
                    </a:bodyPr>
                    <a:lstStyle/>
                    <a:p>
                      <a:pPr algn="r">
                        <a:buNone/>
                      </a:pPr>
                      <a:r>
                        <a:rPr sz="1800" b="0">
                          <a:solidFill>
                            <a:srgbClr val="444444"/>
                          </a:solidFill>
                          <a:latin typeface="Calibri"/>
                          <a:ea typeface="Calibri"/>
                          <a:cs typeface="Calibri"/>
                        </a:rPr>
                        <a:t>22 657</a:t>
                      </a:r>
                    </a:p>
                  </a:txBody>
                  <a:tcPr marL="114300" marR="114300" marT="47625" marB="47625" anchor="ctr">
                    <a:solidFill>
                      <a:srgbClr val="FFFFFF"/>
                    </a:solidFill>
                  </a:tcPr>
                </a:tc>
                <a:tc>
                  <a:txBody>
                    <a:bodyPr wrap="none">
                      <a:noAutofit/>
                    </a:bodyPr>
                    <a:lstStyle/>
                    <a:p>
                      <a:pPr algn="r">
                        <a:buNone/>
                      </a:pPr>
                      <a:r>
                        <a:rPr sz="1800" b="1">
                          <a:solidFill>
                            <a:srgbClr val="D00020"/>
                          </a:solidFill>
                          <a:latin typeface="Calibri"/>
                          <a:ea typeface="Calibri"/>
                          <a:cs typeface="Calibri"/>
                        </a:rPr>
                        <a:t>22 080</a:t>
                      </a:r>
                    </a:p>
                  </a:txBody>
                  <a:tcPr marL="114300" marR="114300" marT="47625" marB="47625" anchor="ctr">
                    <a:solidFill>
                      <a:srgbClr val="FFFFFF"/>
                    </a:solidFill>
                  </a:tcPr>
                </a:tc>
              </a:tr>
              <a:tr h="371475">
                <a:tc>
                  <a:txBody>
                    <a:bodyPr wrap="none">
                      <a:noAutofit/>
                    </a:bodyPr>
                    <a:lstStyle/>
                    <a:p>
                      <a:pPr algn="l">
                        <a:buNone/>
                      </a:pPr>
                      <a:r>
                        <a:rPr sz="1800" b="0">
                          <a:solidFill>
                            <a:srgbClr val="444444"/>
                          </a:solidFill>
                          <a:latin typeface="Calibri"/>
                          <a:ea typeface="Calibri"/>
                          <a:cs typeface="Calibri"/>
                        </a:rPr>
                        <a:t>SOH (D = 6, H = M = 128)</a:t>
                      </a:r>
                    </a:p>
                  </a:txBody>
                  <a:tcPr marL="114300" marR="114300" marT="47625" marB="47625" anchor="ctr">
                    <a:solidFill>
                      <a:srgbClr val="FFFFFF"/>
                    </a:solidFill>
                  </a:tcPr>
                </a:tc>
                <a:tc>
                  <a:txBody>
                    <a:bodyPr wrap="none">
                      <a:noAutofit/>
                    </a:bodyPr>
                    <a:lstStyle/>
                    <a:p>
                      <a:pPr algn="r">
                        <a:buNone/>
                      </a:pPr>
                      <a:r>
                        <a:rPr sz="1800" b="0">
                          <a:solidFill>
                            <a:srgbClr val="444444"/>
                          </a:solidFill>
                          <a:latin typeface="Calibri"/>
                          <a:ea typeface="Calibri"/>
                          <a:cs typeface="Calibri"/>
                        </a:rPr>
                        <a:t>86 273</a:t>
                      </a:r>
                    </a:p>
                  </a:txBody>
                  <a:tcPr marL="114300" marR="114300" marT="47625" marB="47625" anchor="ctr">
                    <a:solidFill>
                      <a:srgbClr val="FFFFFF"/>
                    </a:solidFill>
                  </a:tcPr>
                </a:tc>
                <a:tc>
                  <a:txBody>
                    <a:bodyPr wrap="none">
                      <a:noAutofit/>
                    </a:bodyPr>
                    <a:lstStyle/>
                    <a:p>
                      <a:pPr algn="r">
                        <a:buNone/>
                      </a:pPr>
                      <a:r>
                        <a:rPr sz="1800" b="1">
                          <a:solidFill>
                            <a:srgbClr val="D00020"/>
                          </a:solidFill>
                          <a:latin typeface="Calibri"/>
                          <a:ea typeface="Calibri"/>
                          <a:cs typeface="Calibri"/>
                        </a:rPr>
                        <a:t>85 120</a:t>
                      </a:r>
                    </a:p>
                  </a:txBody>
                  <a:tcPr marL="114300" marR="114300" marT="47625" marB="47625" anchor="ctr">
                    <a:solidFill>
                      <a:srgbClr val="FFFFFF"/>
                    </a:solidFill>
                  </a:tcPr>
                </a:tc>
              </a:tr>
            </a:tbl>
          </a:graphicData>
        </a:graphic>
      </p:graphicFrame>
      <p:sp>
        <p:nvSpPr>
          <p:cNvPr id="2005" name="PC_mac_example">
            <a:extLst xmlns:a="http://schemas.openxmlformats.org/drawingml/2006/main">
              <a:ext uri="{FF2B5EF4-FFF2-40B4-BE49-F238E27FC236}">
                <a16:creationId xmlns:a16="http://schemas.microsoft.com/office/drawing/2014/main" id="{A027C4BF-5C22-404D-8AE4-BEFAFE5EA482}"/>
              </a:ext>
            </a:extLst>
          </p:cNvPr>
          <p:cNvSpPr>
            <a:spLocks xmlns:a="http://schemas.openxmlformats.org/drawingml/2006/main" noGrp="1"/>
          </p:cNvSpPr>
          <p:nvPr/>
        </p:nvSpPr>
        <p:spPr>
          <a:xfrm xmlns:a="http://schemas.openxmlformats.org/drawingml/2006/main">
            <a:off x="552450" y="4629150"/>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Beispiel Dense Layer (D = 6, H = 64):</a:t>
            </a:r>
          </a:p>
        </p:txBody>
      </p:sp>
      <p:sp>
        <p:nvSpPr>
          <p:cNvPr id="2006" name="PC_mac_example_detail">
            <a:extLst xmlns:a="http://schemas.openxmlformats.org/drawingml/2006/main">
              <a:ext uri="{FF2B5EF4-FFF2-40B4-BE49-F238E27FC236}">
                <a16:creationId xmlns:a16="http://schemas.microsoft.com/office/drawing/2014/main" id="{21B174A4-4D3B-4DBC-891D-795DF93BA508}"/>
              </a:ext>
            </a:extLst>
          </p:cNvPr>
          <p:cNvSpPr>
            <a:spLocks xmlns:a="http://schemas.openxmlformats.org/drawingml/2006/main" noGrp="1"/>
          </p:cNvSpPr>
          <p:nvPr/>
        </p:nvSpPr>
        <p:spPr>
          <a:xfrm xmlns:a="http://schemas.openxmlformats.org/drawingml/2006/main">
            <a:off x="552450" y="5010150"/>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448 Parameter = 384 Gewichte + 64 Bias, bei 384 MACs je Update</a:t>
            </a:r>
          </a:p>
        </p:txBody>
      </p:sp>
      <p:sp>
        <p:nvSpPr>
          <p:cNvPr id="2007" name="PC_mac_takeaway">
            <a:extLst xmlns:a="http://schemas.openxmlformats.org/drawingml/2006/main">
              <a:ext uri="{FF2B5EF4-FFF2-40B4-BE49-F238E27FC236}">
                <a16:creationId xmlns:a16="http://schemas.microsoft.com/office/drawing/2014/main" id="{A89DFFCE-076D-4E2D-9BC6-B0864F042F3E}"/>
              </a:ext>
            </a:extLst>
          </p:cNvPr>
          <p:cNvSpPr>
            <a:spLocks xmlns:a="http://schemas.openxmlformats.org/drawingml/2006/main" noGrp="1"/>
          </p:cNvSpPr>
          <p:nvPr/>
        </p:nvSpPr>
        <p:spPr>
          <a:xfrm xmlns:a="http://schemas.openxmlformats.org/drawingml/2006/main">
            <a:off x="552450" y="5543550"/>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MAC-Zahl als Rechenmaß, tatsächliche Laufzeit zusätzlich vom Kernel abhängig</a:t>
            </a:r>
          </a:p>
        </p:txBody>
      </p:sp>
    </p:spTree>
    <p:extLst>
      <p:ext uri="{BB962C8B-B14F-4D97-AF65-F5344CB8AC3E}">
        <p14:creationId xmlns:p14="http://schemas.microsoft.com/office/powerpoint/2010/main" val="2834351105"/>
      </p:ext>
    </p:extLst>
  </p:cSld>
</p:sld>
</file>

<file path=ppt/slides/slide56.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lIns="0" tIns="0" rIns="0" bIns="0" anchor="t">
            <a:noAutofit/>
          </a:bodyPr>
          <a:lstStyle xmlns:a="http://schemas.openxmlformats.org/drawingml/2006/main"/>
          <a:p xmlns:a="http://schemas.openxmlformats.org/drawingml/2006/main">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Anhang: LSTM-Pruning und Matrixindizes</a:t>
            </a:r>
          </a: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Anhang 11</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sp>
        <p:nvSpPr>
          <p:cNvPr id="13" name="V5_Text_13">
            <a:extLst xmlns:a="http://schemas.openxmlformats.org/drawingml/2006/main">
              <a:ext uri="{FF2B5EF4-FFF2-40B4-BE49-F238E27FC236}">
                <a16:creationId xmlns:a16="http://schemas.microsoft.com/office/drawing/2014/main" id="{DE96A364-1391-49F0-9295-872CEC7644D0}"/>
              </a:ext>
            </a:extLst>
          </p:cNvPr>
          <p:cNvSpPr>
            <a:spLocks xmlns:a="http://schemas.openxmlformats.org/drawingml/2006/main" noGrp="1"/>
          </p:cNvSpPr>
          <p:nvPr/>
        </p:nvSpPr>
        <p:spPr>
          <a:xfrm xmlns:a="http://schemas.openxmlformats.org/drawingml/2006/main">
            <a:off x="3000375" y="1962150"/>
            <a:ext cx="4457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horz" wrap="square" lIns="0" tIns="0" rIns="0" bIns="0" anchor="t">
            <a:noAutofit/>
          </a:bodyPr>
          <a:lstStyle xmlns:a="http://schemas.openxmlformats.org/drawingml/2006/main"/>
          <a:p xmlns:a="http://schemas.openxmlformats.org/drawingml/2006/main">
            <a:pPr algn="ctr"/>
            <a14:m xmlns:a14="http://schemas.microsoft.com/office/drawing/2010/main">
              <m:oMathPara xmlns:m="http://schemas.openxmlformats.org/officeDocument/2006/math">
                <m:oMathParaPr>
                  <m:jc m:val="centerGroup"/>
                </m:oMathParaPr>
                <m:oMath>
                  <m:sSub>
                    <m:e>
                      <m:r>
                        <a:rPr xmlns:a="http://schemas.openxmlformats.org/drawingml/2006/main" sz="1875">
                          <a:latin typeface="Cambria Math"/>
                          <a:ea typeface="Cambria Math"/>
                          <a:cs typeface="Cambria Math"/>
                        </a:rPr>
                        <m:t>s</m:t>
                      </m:r>
                    </m:e>
                    <m:sub>
                      <m:r>
                        <a:rPr xmlns:a="http://schemas.openxmlformats.org/drawingml/2006/main" sz="1313">
                          <a:latin typeface="Cambria Math"/>
                          <a:ea typeface="Cambria Math"/>
                          <a:cs typeface="Cambria Math"/>
                        </a:rPr>
                        <m:t>h</m:t>
                      </m:r>
                    </m:sub>
                  </m:sSub>
                  <m:r>
                    <a:rPr xmlns:a="http://schemas.openxmlformats.org/drawingml/2006/main" sz="1875">
                      <a:latin typeface="Cambria Math"/>
                      <a:ea typeface="Cambria Math"/>
                      <a:cs typeface="Cambria Math"/>
                    </a:rPr>
                    <m:t>=</m:t>
                  </m:r>
                  <m:nary>
                    <m:naryPr>
                      <m:chr m:val="∑"/>
                      <m:limLoc m:val="undOvr"/>
                      <m:supHide m:val="on"/>
                    </m:naryPr>
                    <m:sub>
                      <m:r>
                        <a:rPr xmlns:a="http://schemas.openxmlformats.org/drawingml/2006/main" sz="1313">
                          <a:latin typeface="Cambria Math"/>
                          <a:ea typeface="Cambria Math"/>
                          <a:cs typeface="Cambria Math"/>
                        </a:rPr>
                        <m:t>g</m:t>
                      </m:r>
                      <m:r>
                        <a:rPr xmlns:a="http://schemas.openxmlformats.org/drawingml/2006/main" sz="1313">
                          <a:latin typeface="Cambria Math"/>
                          <a:ea typeface="Cambria Math"/>
                          <a:cs typeface="Cambria Math"/>
                        </a:rPr>
                        <m:t>∈</m:t>
                      </m:r>
                      <m:r>
                        <a:rPr xmlns:a="http://schemas.openxmlformats.org/drawingml/2006/main" sz="1313">
                          <a:latin typeface="Cambria Math"/>
                          <a:ea typeface="Cambria Math"/>
                          <a:cs typeface="Cambria Math"/>
                        </a:rPr>
                        <m:t>{</m:t>
                      </m:r>
                      <m:r>
                        <a:rPr xmlns:a="http://schemas.openxmlformats.org/drawingml/2006/main" sz="1313">
                          <a:latin typeface="Cambria Math"/>
                          <a:ea typeface="Cambria Math"/>
                          <a:cs typeface="Cambria Math"/>
                        </a:rPr>
                        <m:t>i</m:t>
                      </m:r>
                      <m:r>
                        <a:rPr xmlns:a="http://schemas.openxmlformats.org/drawingml/2006/main" sz="1313">
                          <a:latin typeface="Cambria Math"/>
                          <a:ea typeface="Cambria Math"/>
                          <a:cs typeface="Cambria Math"/>
                        </a:rPr>
                        <m:t>,</m:t>
                      </m:r>
                      <m:r>
                        <a:rPr xmlns:a="http://schemas.openxmlformats.org/drawingml/2006/main" sz="1313">
                          <a:latin typeface="Cambria Math"/>
                          <a:ea typeface="Cambria Math"/>
                          <a:cs typeface="Cambria Math"/>
                        </a:rPr>
                        <m:t>f</m:t>
                      </m:r>
                      <m:r>
                        <a:rPr xmlns:a="http://schemas.openxmlformats.org/drawingml/2006/main" sz="1313">
                          <a:latin typeface="Cambria Math"/>
                          <a:ea typeface="Cambria Math"/>
                          <a:cs typeface="Cambria Math"/>
                        </a:rPr>
                        <m:t>,</m:t>
                      </m:r>
                      <m:r>
                        <a:rPr xmlns:a="http://schemas.openxmlformats.org/drawingml/2006/main" sz="1313">
                          <a:latin typeface="Cambria Math"/>
                          <a:ea typeface="Cambria Math"/>
                          <a:cs typeface="Cambria Math"/>
                        </a:rPr>
                        <m:t>o</m:t>
                      </m:r>
                      <m:r>
                        <a:rPr xmlns:a="http://schemas.openxmlformats.org/drawingml/2006/main" sz="1313">
                          <a:latin typeface="Cambria Math"/>
                          <a:ea typeface="Cambria Math"/>
                          <a:cs typeface="Cambria Math"/>
                        </a:rPr>
                        <m:t>,</m:t>
                      </m:r>
                      <m:r>
                        <a:rPr xmlns:a="http://schemas.openxmlformats.org/drawingml/2006/main" sz="1313">
                          <a:latin typeface="Cambria Math"/>
                          <a:ea typeface="Cambria Math"/>
                          <a:cs typeface="Cambria Math"/>
                        </a:rPr>
                        <m:t>g</m:t>
                      </m:r>
                      <m:r>
                        <a:rPr xmlns:a="http://schemas.openxmlformats.org/drawingml/2006/main" sz="1313">
                          <a:latin typeface="Cambria Math"/>
                          <a:ea typeface="Cambria Math"/>
                          <a:cs typeface="Cambria Math"/>
                        </a:rPr>
                        <m:t>}</m:t>
                      </m:r>
                    </m:sub>
                    <m:sup>
                      <m:r>
                        <a:rPr xmlns:a="http://schemas.openxmlformats.org/drawingml/2006/main" sz="1313">
                          <a:latin typeface="Cambria Math"/>
                          <a:ea typeface="Cambria Math"/>
                          <a:cs typeface="Cambria Math"/>
                        </a:rPr>
                        <m:t/>
                      </m:r>
                    </m:sup>
                    <m:e>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m:t>
                      </m:r>
                      <m:sSubSup>
                        <m:e>
                          <m:r>
                            <a:rPr xmlns:a="http://schemas.openxmlformats.org/drawingml/2006/main" sz="1875">
                              <a:latin typeface="Cambria Math"/>
                              <a:ea typeface="Cambria Math"/>
                              <a:cs typeface="Cambria Math"/>
                            </a:rPr>
                            <m:t>W</m:t>
                          </m:r>
                        </m:e>
                        <m:sub>
                          <m:r>
                            <a:rPr xmlns:a="http://schemas.openxmlformats.org/drawingml/2006/main" sz="1313">
                              <a:latin typeface="Cambria Math"/>
                              <a:ea typeface="Cambria Math"/>
                              <a:cs typeface="Cambria Math"/>
                            </a:rPr>
                            <m:t>i</m:t>
                          </m:r>
                          <m:r>
                            <a:rPr xmlns:a="http://schemas.openxmlformats.org/drawingml/2006/main" sz="1313">
                              <a:latin typeface="Cambria Math"/>
                              <a:ea typeface="Cambria Math"/>
                              <a:cs typeface="Cambria Math"/>
                            </a:rPr>
                            <m:t>h</m:t>
                          </m:r>
                        </m:sub>
                        <m:sup>
                          <m:r>
                            <a:rPr xmlns:a="http://schemas.openxmlformats.org/drawingml/2006/main" sz="1313">
                              <a:latin typeface="Cambria Math"/>
                              <a:ea typeface="Cambria Math"/>
                              <a:cs typeface="Cambria Math"/>
                            </a:rPr>
                            <m:t>(</m:t>
                          </m:r>
                          <m:r>
                            <a:rPr xmlns:a="http://schemas.openxmlformats.org/drawingml/2006/main" sz="1313">
                              <a:latin typeface="Cambria Math"/>
                              <a:ea typeface="Cambria Math"/>
                              <a:cs typeface="Cambria Math"/>
                            </a:rPr>
                            <m:t>g</m:t>
                          </m:r>
                          <m:r>
                            <a:rPr xmlns:a="http://schemas.openxmlformats.org/drawingml/2006/main" sz="1313">
                              <a:latin typeface="Cambria Math"/>
                              <a:ea typeface="Cambria Math"/>
                              <a:cs typeface="Cambria Math"/>
                            </a:rPr>
                            <m:t>)</m:t>
                          </m:r>
                        </m:sup>
                      </m:sSubSup>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h</m:t>
                      </m:r>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m:t>
                          </m:r>
                        </m:e>
                        <m:sub>
                          <m:r>
                            <a:rPr xmlns:a="http://schemas.openxmlformats.org/drawingml/2006/main" sz="1313">
                              <a:latin typeface="Cambria Math"/>
                              <a:ea typeface="Cambria Math"/>
                              <a:cs typeface="Cambria Math"/>
                            </a:rPr>
                            <m:t>2</m:t>
                          </m:r>
                        </m:sub>
                      </m:sSub>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m:t>
                      </m:r>
                      <m:sSubSup>
                        <m:e>
                          <m:r>
                            <a:rPr xmlns:a="http://schemas.openxmlformats.org/drawingml/2006/main" sz="1875">
                              <a:latin typeface="Cambria Math"/>
                              <a:ea typeface="Cambria Math"/>
                              <a:cs typeface="Cambria Math"/>
                            </a:rPr>
                            <m:t>W</m:t>
                          </m:r>
                        </m:e>
                        <m:sub>
                          <m:r>
                            <a:rPr xmlns:a="http://schemas.openxmlformats.org/drawingml/2006/main" sz="1313">
                              <a:latin typeface="Cambria Math"/>
                              <a:ea typeface="Cambria Math"/>
                              <a:cs typeface="Cambria Math"/>
                            </a:rPr>
                            <m:t>h</m:t>
                          </m:r>
                          <m:r>
                            <a:rPr xmlns:a="http://schemas.openxmlformats.org/drawingml/2006/main" sz="1313">
                              <a:latin typeface="Cambria Math"/>
                              <a:ea typeface="Cambria Math"/>
                              <a:cs typeface="Cambria Math"/>
                            </a:rPr>
                            <m:t>h</m:t>
                          </m:r>
                        </m:sub>
                        <m:sup>
                          <m:r>
                            <a:rPr xmlns:a="http://schemas.openxmlformats.org/drawingml/2006/main" sz="1313">
                              <a:latin typeface="Cambria Math"/>
                              <a:ea typeface="Cambria Math"/>
                              <a:cs typeface="Cambria Math"/>
                            </a:rPr>
                            <m:t>(</m:t>
                          </m:r>
                          <m:r>
                            <a:rPr xmlns:a="http://schemas.openxmlformats.org/drawingml/2006/main" sz="1313">
                              <a:latin typeface="Cambria Math"/>
                              <a:ea typeface="Cambria Math"/>
                              <a:cs typeface="Cambria Math"/>
                            </a:rPr>
                            <m:t>g</m:t>
                          </m:r>
                          <m:r>
                            <a:rPr xmlns:a="http://schemas.openxmlformats.org/drawingml/2006/main" sz="1313">
                              <a:latin typeface="Cambria Math"/>
                              <a:ea typeface="Cambria Math"/>
                              <a:cs typeface="Cambria Math"/>
                            </a:rPr>
                            <m:t>)</m:t>
                          </m:r>
                        </m:sup>
                      </m:sSubSup>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h</m:t>
                      </m:r>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m:t>
                          </m:r>
                        </m:e>
                        <m:sub>
                          <m:r>
                            <a:rPr xmlns:a="http://schemas.openxmlformats.org/drawingml/2006/main" sz="1313">
                              <a:latin typeface="Cambria Math"/>
                              <a:ea typeface="Cambria Math"/>
                              <a:cs typeface="Cambria Math"/>
                            </a:rPr>
                            <m:t>2</m:t>
                          </m:r>
                        </m:sub>
                      </m:sSub>
                      <m:r>
                        <a:rPr xmlns:a="http://schemas.openxmlformats.org/drawingml/2006/main" sz="1875">
                          <a:latin typeface="Cambria Math"/>
                          <a:ea typeface="Cambria Math"/>
                          <a:cs typeface="Cambria Math"/>
                        </a:rPr>
                        <m:t>)</m:t>
                      </m:r>
                    </m:e>
                  </m:nary>
                </m:oMath>
              </m:oMathPara>
            </a14:m>
          </a:p>
        </p:txBody>
      </p:sp>
      <p:sp>
        <p:nvSpPr>
          <p:cNvPr id="14" name="V5_Text_14">
            <a:extLst xmlns:a="http://schemas.openxmlformats.org/drawingml/2006/main">
              <a:ext uri="{FF2B5EF4-FFF2-40B4-BE49-F238E27FC236}">
                <a16:creationId xmlns:a16="http://schemas.microsoft.com/office/drawing/2014/main" id="{0ABBB7D4-CC41-4BEC-9F64-1BAC6EC19A62}"/>
              </a:ext>
            </a:extLst>
          </p:cNvPr>
          <p:cNvSpPr>
            <a:spLocks xmlns:a="http://schemas.openxmlformats.org/drawingml/2006/main" noGrp="1"/>
          </p:cNvSpPr>
          <p:nvPr/>
        </p:nvSpPr>
        <p:spPr>
          <a:xfrm xmlns:a="http://schemas.openxmlformats.org/drawingml/2006/main">
            <a:off x="552450" y="2686050"/>
            <a:ext cx="93535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R: </a:t>
            </a:r>
            <a:r>
              <a:rPr sz="1800" b="0">
                <a:solidFill>
                  <a:srgbClr val="444444"/>
                </a:solidFill>
                <a:latin typeface="Calibri"/>
                <a:ea typeface="Calibri"/>
                <a:cs typeface="Calibri"/>
              </a:rPr>
              <a:t>Beibehaltene Hidden Units, gemeinsame Indexmenge für Iₒᵤₜ und Iᵢₙ</a:t>
            </a:r>
          </a:p>
        </p:txBody>
      </p:sp>
      <p:sp>
        <p:nvSpPr>
          <p:cNvPr id="16" name="Structure separator">
            <a:extLst xmlns:a="http://schemas.openxmlformats.org/drawingml/2006/main">
              <a:ext uri="{FF2B5EF4-FFF2-40B4-BE49-F238E27FC236}">
                <a16:creationId xmlns:a16="http://schemas.microsoft.com/office/drawing/2014/main" id="{678B9BB0-4AF9-4831-A7E4-863ABB46725A}"/>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17" name="Structure label">
            <a:extLst xmlns:a="http://schemas.openxmlformats.org/drawingml/2006/main">
              <a:ext uri="{FF2B5EF4-FFF2-40B4-BE49-F238E27FC236}">
                <a16:creationId xmlns:a16="http://schemas.microsoft.com/office/drawing/2014/main" id="{9476DA44-CF95-49EF-8932-E9B36B7D84FB}"/>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8" name="Structure 0">
            <a:extLst xmlns:a="http://schemas.openxmlformats.org/drawingml/2006/main">
              <a:ext uri="{FF2B5EF4-FFF2-40B4-BE49-F238E27FC236}">
                <a16:creationId xmlns:a16="http://schemas.microsoft.com/office/drawing/2014/main" id="{15D0FA13-A5BD-4F5F-AD93-8EA8B052FFB6}"/>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9" name="Structure 1">
            <a:extLst xmlns:a="http://schemas.openxmlformats.org/drawingml/2006/main">
              <a:ext uri="{FF2B5EF4-FFF2-40B4-BE49-F238E27FC236}">
                <a16:creationId xmlns:a16="http://schemas.microsoft.com/office/drawing/2014/main" id="{4D55B116-6121-4EC8-A45E-88B589D77C08}"/>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0" name="Structure 2">
            <a:extLst xmlns:a="http://schemas.openxmlformats.org/drawingml/2006/main">
              <a:ext uri="{FF2B5EF4-FFF2-40B4-BE49-F238E27FC236}">
                <a16:creationId xmlns:a16="http://schemas.microsoft.com/office/drawing/2014/main" id="{FDCDC55C-1E36-4161-97EC-1FAA98DED584}"/>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1" name="Structure 3">
            <a:extLst xmlns:a="http://schemas.openxmlformats.org/drawingml/2006/main">
              <a:ext uri="{FF2B5EF4-FFF2-40B4-BE49-F238E27FC236}">
                <a16:creationId xmlns:a16="http://schemas.microsoft.com/office/drawing/2014/main" id="{A6925EAC-64D4-41A7-9059-B7E3219D60BC}"/>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2" name="Structure 4">
            <a:extLst xmlns:a="http://schemas.openxmlformats.org/drawingml/2006/main">
              <a:ext uri="{FF2B5EF4-FFF2-40B4-BE49-F238E27FC236}">
                <a16:creationId xmlns:a16="http://schemas.microsoft.com/office/drawing/2014/main" id="{8B42BDF7-549B-49F7-B265-F5B81F733518}"/>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3" name="Structure 5">
            <a:extLst xmlns:a="http://schemas.openxmlformats.org/drawingml/2006/main">
              <a:ext uri="{FF2B5EF4-FFF2-40B4-BE49-F238E27FC236}">
                <a16:creationId xmlns:a16="http://schemas.microsoft.com/office/drawing/2014/main" id="{E7A7030F-9F42-41C5-9412-C5D694F77AE8}"/>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4" name="v11-math-30-2">
            <a:extLst xmlns:a="http://schemas.openxmlformats.org/drawingml/2006/main">
              <a:ext uri="{FF2B5EF4-FFF2-40B4-BE49-F238E27FC236}">
                <a16:creationId xmlns:a16="http://schemas.microsoft.com/office/drawing/2014/main" id="{7D21FDE8-880F-4954-8A5E-45B1E6904866}"/>
              </a:ext>
            </a:extLst>
          </p:cNvPr>
          <p:cNvSpPr>
            <a:spLocks xmlns:a="http://schemas.openxmlformats.org/drawingml/2006/main" noGrp="1"/>
          </p:cNvSpPr>
          <p:nvPr/>
        </p:nvSpPr>
        <p:spPr>
          <a:xfrm xmlns:a="http://schemas.openxmlformats.org/drawingml/2006/main">
            <a:off x="3409950" y="3314700"/>
            <a:ext cx="3638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pPr>
            <a14:m xmlns:a14="http://schemas.microsoft.com/office/drawing/2010/main">
              <m:oMathPara xmlns:m="http://schemas.openxmlformats.org/officeDocument/2006/math">
                <m:oMathParaPr>
                  <m:jc m:val="centerGroup"/>
                </m:oMathParaPr>
                <m:oMath>
                  <m:sSubSup>
                    <m:e>
                      <m:acc>
                        <m:accPr>
                          <m:chr m:val="~"/>
                        </m:accPr>
                        <m:e>
                          <m:r>
                            <a:rPr xmlns:a="http://schemas.openxmlformats.org/drawingml/2006/main" sz="1875">
                              <a:latin typeface="Cambria Math"/>
                              <a:ea typeface="Cambria Math"/>
                              <a:cs typeface="Cambria Math"/>
                            </a:rPr>
                            <m:t>W</m:t>
                          </m:r>
                        </m:e>
                      </m:acc>
                    </m:e>
                    <m:sub>
                      <m:r>
                        <a:rPr xmlns:a="http://schemas.openxmlformats.org/drawingml/2006/main" sz="1313">
                          <a:latin typeface="Cambria Math"/>
                          <a:ea typeface="Cambria Math"/>
                          <a:cs typeface="Cambria Math"/>
                        </a:rPr>
                        <m:t>i</m:t>
                      </m:r>
                      <m:r>
                        <a:rPr xmlns:a="http://schemas.openxmlformats.org/drawingml/2006/main" sz="1313">
                          <a:latin typeface="Cambria Math"/>
                          <a:ea typeface="Cambria Math"/>
                          <a:cs typeface="Cambria Math"/>
                        </a:rPr>
                        <m:t>h</m:t>
                      </m:r>
                    </m:sub>
                    <m:sup>
                      <m:r>
                        <a:rPr xmlns:a="http://schemas.openxmlformats.org/drawingml/2006/main" sz="1313">
                          <a:latin typeface="Cambria Math"/>
                          <a:ea typeface="Cambria Math"/>
                          <a:cs typeface="Cambria Math"/>
                        </a:rPr>
                        <m:t>(</m:t>
                      </m:r>
                      <m:r>
                        <a:rPr xmlns:a="http://schemas.openxmlformats.org/drawingml/2006/main" sz="1313">
                          <a:latin typeface="Cambria Math"/>
                          <a:ea typeface="Cambria Math"/>
                          <a:cs typeface="Cambria Math"/>
                        </a:rPr>
                        <m:t>g</m:t>
                      </m:r>
                      <m:r>
                        <a:rPr xmlns:a="http://schemas.openxmlformats.org/drawingml/2006/main" sz="1313">
                          <a:latin typeface="Cambria Math"/>
                          <a:ea typeface="Cambria Math"/>
                          <a:cs typeface="Cambria Math"/>
                        </a:rPr>
                        <m:t>)</m:t>
                      </m:r>
                    </m:sup>
                  </m:sSubSup>
                  <m:r>
                    <a:rPr xmlns:a="http://schemas.openxmlformats.org/drawingml/2006/main" sz="1875">
                      <a:latin typeface="Cambria Math"/>
                      <a:ea typeface="Cambria Math"/>
                      <a:cs typeface="Cambria Math"/>
                    </a:rPr>
                    <m:t>=</m:t>
                  </m:r>
                  <m:sSubSup>
                    <m:e>
                      <m:r>
                        <a:rPr xmlns:a="http://schemas.openxmlformats.org/drawingml/2006/main" sz="1875">
                          <a:latin typeface="Cambria Math"/>
                          <a:ea typeface="Cambria Math"/>
                          <a:cs typeface="Cambria Math"/>
                        </a:rPr>
                        <m:t>W</m:t>
                      </m:r>
                    </m:e>
                    <m:sub>
                      <m:r>
                        <a:rPr xmlns:a="http://schemas.openxmlformats.org/drawingml/2006/main" sz="1313">
                          <a:latin typeface="Cambria Math"/>
                          <a:ea typeface="Cambria Math"/>
                          <a:cs typeface="Cambria Math"/>
                        </a:rPr>
                        <m:t>i</m:t>
                      </m:r>
                      <m:r>
                        <a:rPr xmlns:a="http://schemas.openxmlformats.org/drawingml/2006/main" sz="1313">
                          <a:latin typeface="Cambria Math"/>
                          <a:ea typeface="Cambria Math"/>
                          <a:cs typeface="Cambria Math"/>
                        </a:rPr>
                        <m:t>h</m:t>
                      </m:r>
                    </m:sub>
                    <m:sup>
                      <m:r>
                        <a:rPr xmlns:a="http://schemas.openxmlformats.org/drawingml/2006/main" sz="1313">
                          <a:latin typeface="Cambria Math"/>
                          <a:ea typeface="Cambria Math"/>
                          <a:cs typeface="Cambria Math"/>
                        </a:rPr>
                        <m:t>(</m:t>
                      </m:r>
                      <m:r>
                        <a:rPr xmlns:a="http://schemas.openxmlformats.org/drawingml/2006/main" sz="1313">
                          <a:latin typeface="Cambria Math"/>
                          <a:ea typeface="Cambria Math"/>
                          <a:cs typeface="Cambria Math"/>
                        </a:rPr>
                        <m:t>g</m:t>
                      </m:r>
                      <m:r>
                        <a:rPr xmlns:a="http://schemas.openxmlformats.org/drawingml/2006/main" sz="1313">
                          <a:latin typeface="Cambria Math"/>
                          <a:ea typeface="Cambria Math"/>
                          <a:cs typeface="Cambria Math"/>
                        </a:rPr>
                        <m:t>)</m:t>
                      </m:r>
                    </m:sup>
                  </m:sSubSup>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R</m:t>
                  </m:r>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m:t>
                  </m:r>
                  <m:sSubSup>
                    <m:e>
                      <m:acc>
                        <m:accPr>
                          <m:chr m:val="~"/>
                        </m:accPr>
                        <m:e>
                          <m:r>
                            <a:rPr xmlns:a="http://schemas.openxmlformats.org/drawingml/2006/main" sz="1875">
                              <a:latin typeface="Cambria Math"/>
                              <a:ea typeface="Cambria Math"/>
                              <a:cs typeface="Cambria Math"/>
                            </a:rPr>
                            <m:t>W</m:t>
                          </m:r>
                        </m:e>
                      </m:acc>
                    </m:e>
                    <m:sub>
                      <m:r>
                        <a:rPr xmlns:a="http://schemas.openxmlformats.org/drawingml/2006/main" sz="1313">
                          <a:latin typeface="Cambria Math"/>
                          <a:ea typeface="Cambria Math"/>
                          <a:cs typeface="Cambria Math"/>
                        </a:rPr>
                        <m:t>h</m:t>
                      </m:r>
                      <m:r>
                        <a:rPr xmlns:a="http://schemas.openxmlformats.org/drawingml/2006/main" sz="1313">
                          <a:latin typeface="Cambria Math"/>
                          <a:ea typeface="Cambria Math"/>
                          <a:cs typeface="Cambria Math"/>
                        </a:rPr>
                        <m:t>h</m:t>
                      </m:r>
                    </m:sub>
                    <m:sup>
                      <m:r>
                        <a:rPr xmlns:a="http://schemas.openxmlformats.org/drawingml/2006/main" sz="1313">
                          <a:latin typeface="Cambria Math"/>
                          <a:ea typeface="Cambria Math"/>
                          <a:cs typeface="Cambria Math"/>
                        </a:rPr>
                        <m:t>(</m:t>
                      </m:r>
                      <m:r>
                        <a:rPr xmlns:a="http://schemas.openxmlformats.org/drawingml/2006/main" sz="1313">
                          <a:latin typeface="Cambria Math"/>
                          <a:ea typeface="Cambria Math"/>
                          <a:cs typeface="Cambria Math"/>
                        </a:rPr>
                        <m:t>g</m:t>
                      </m:r>
                      <m:r>
                        <a:rPr xmlns:a="http://schemas.openxmlformats.org/drawingml/2006/main" sz="1313">
                          <a:latin typeface="Cambria Math"/>
                          <a:ea typeface="Cambria Math"/>
                          <a:cs typeface="Cambria Math"/>
                        </a:rPr>
                        <m:t>)</m:t>
                      </m:r>
                    </m:sup>
                  </m:sSubSup>
                  <m:r>
                    <a:rPr xmlns:a="http://schemas.openxmlformats.org/drawingml/2006/main" sz="1875">
                      <a:latin typeface="Cambria Math"/>
                      <a:ea typeface="Cambria Math"/>
                      <a:cs typeface="Cambria Math"/>
                    </a:rPr>
                    <m:t>=</m:t>
                  </m:r>
                  <m:sSubSup>
                    <m:e>
                      <m:r>
                        <a:rPr xmlns:a="http://schemas.openxmlformats.org/drawingml/2006/main" sz="1875">
                          <a:latin typeface="Cambria Math"/>
                          <a:ea typeface="Cambria Math"/>
                          <a:cs typeface="Cambria Math"/>
                        </a:rPr>
                        <m:t>W</m:t>
                      </m:r>
                    </m:e>
                    <m:sub>
                      <m:r>
                        <a:rPr xmlns:a="http://schemas.openxmlformats.org/drawingml/2006/main" sz="1313">
                          <a:latin typeface="Cambria Math"/>
                          <a:ea typeface="Cambria Math"/>
                          <a:cs typeface="Cambria Math"/>
                        </a:rPr>
                        <m:t>h</m:t>
                      </m:r>
                      <m:r>
                        <a:rPr xmlns:a="http://schemas.openxmlformats.org/drawingml/2006/main" sz="1313">
                          <a:latin typeface="Cambria Math"/>
                          <a:ea typeface="Cambria Math"/>
                          <a:cs typeface="Cambria Math"/>
                        </a:rPr>
                        <m:t>h</m:t>
                      </m:r>
                    </m:sub>
                    <m:sup>
                      <m:r>
                        <a:rPr xmlns:a="http://schemas.openxmlformats.org/drawingml/2006/main" sz="1313">
                          <a:latin typeface="Cambria Math"/>
                          <a:ea typeface="Cambria Math"/>
                          <a:cs typeface="Cambria Math"/>
                        </a:rPr>
                        <m:t>(</m:t>
                      </m:r>
                      <m:r>
                        <a:rPr xmlns:a="http://schemas.openxmlformats.org/drawingml/2006/main" sz="1313">
                          <a:latin typeface="Cambria Math"/>
                          <a:ea typeface="Cambria Math"/>
                          <a:cs typeface="Cambria Math"/>
                        </a:rPr>
                        <m:t>g</m:t>
                      </m:r>
                      <m:r>
                        <a:rPr xmlns:a="http://schemas.openxmlformats.org/drawingml/2006/main" sz="1313">
                          <a:latin typeface="Cambria Math"/>
                          <a:ea typeface="Cambria Math"/>
                          <a:cs typeface="Cambria Math"/>
                        </a:rPr>
                        <m:t>)</m:t>
                      </m:r>
                    </m:sup>
                  </m:sSubSup>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R</m:t>
                  </m:r>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R</m:t>
                  </m:r>
                  <m:r>
                    <a:rPr xmlns:a="http://schemas.openxmlformats.org/drawingml/2006/main" sz="1875">
                      <a:latin typeface="Cambria Math"/>
                      <a:ea typeface="Cambria Math"/>
                      <a:cs typeface="Cambria Math"/>
                    </a:rPr>
                    <m:t>]</m:t>
                  </m:r>
                </m:oMath>
              </m:oMathPara>
            </a14:m>
          </a:p>
        </p:txBody>
      </p:sp>
      <p:sp>
        <p:nvSpPr>
          <p:cNvPr id="25" name="v11-math-30-3">
            <a:extLst xmlns:a="http://schemas.openxmlformats.org/drawingml/2006/main">
              <a:ext uri="{FF2B5EF4-FFF2-40B4-BE49-F238E27FC236}">
                <a16:creationId xmlns:a16="http://schemas.microsoft.com/office/drawing/2014/main" id="{861FA803-02E8-4CD0-88A1-326637D12556}"/>
              </a:ext>
            </a:extLst>
          </p:cNvPr>
          <p:cNvSpPr>
            <a:spLocks xmlns:a="http://schemas.openxmlformats.org/drawingml/2006/main" noGrp="1"/>
          </p:cNvSpPr>
          <p:nvPr/>
        </p:nvSpPr>
        <p:spPr>
          <a:xfrm xmlns:a="http://schemas.openxmlformats.org/drawingml/2006/main">
            <a:off x="4067175" y="3914775"/>
            <a:ext cx="23241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pPr>
            <a14:m xmlns:a14="http://schemas.microsoft.com/office/drawing/2010/main">
              <m:oMathPara xmlns:m="http://schemas.openxmlformats.org/officeDocument/2006/math">
                <m:oMathParaPr>
                  <m:jc m:val="centerGroup"/>
                </m:oMathParaPr>
                <m:oMath>
                  <m:sSub>
                    <m:e>
                      <m:acc>
                        <m:accPr>
                          <m:chr m:val="~"/>
                        </m:accPr>
                        <m:e>
                          <m:r>
                            <a:rPr xmlns:a="http://schemas.openxmlformats.org/drawingml/2006/main" sz="1875">
                              <a:latin typeface="Cambria Math"/>
                              <a:ea typeface="Cambria Math"/>
                              <a:cs typeface="Cambria Math"/>
                            </a:rPr>
                            <m:t>W</m:t>
                          </m:r>
                        </m:e>
                      </m:acc>
                    </m:e>
                    <m:sub>
                      <m:r>
                        <a:rPr xmlns:a="http://schemas.openxmlformats.org/drawingml/2006/main" sz="1313">
                          <a:latin typeface="Cambria Math"/>
                          <a:ea typeface="Cambria Math"/>
                          <a:cs typeface="Cambria Math"/>
                        </a:rPr>
                        <m:t>M</m:t>
                      </m:r>
                      <m:r>
                        <a:rPr xmlns:a="http://schemas.openxmlformats.org/drawingml/2006/main" sz="1313">
                          <a:latin typeface="Cambria Math"/>
                          <a:ea typeface="Cambria Math"/>
                          <a:cs typeface="Cambria Math"/>
                        </a:rPr>
                        <m:t>L</m:t>
                      </m:r>
                      <m:r>
                        <a:rPr xmlns:a="http://schemas.openxmlformats.org/drawingml/2006/main" sz="1313">
                          <a:latin typeface="Cambria Math"/>
                          <a:ea typeface="Cambria Math"/>
                          <a:cs typeface="Cambria Math"/>
                        </a:rPr>
                        <m:t>P</m:t>
                      </m:r>
                      <m:r>
                        <a:rPr xmlns:a="http://schemas.openxmlformats.org/drawingml/2006/main" sz="1313">
                          <a:latin typeface="Cambria Math"/>
                          <a:ea typeface="Cambria Math"/>
                          <a:cs typeface="Cambria Math"/>
                        </a:rPr>
                        <m:t>,</m:t>
                      </m:r>
                      <m:r>
                        <a:rPr xmlns:a="http://schemas.openxmlformats.org/drawingml/2006/main" sz="1313">
                          <a:latin typeface="Cambria Math"/>
                          <a:ea typeface="Cambria Math"/>
                          <a:cs typeface="Cambria Math"/>
                        </a:rPr>
                        <m:t>1</m:t>
                      </m:r>
                    </m:sub>
                  </m:sSub>
                  <m:r>
                    <a:rPr xmlns:a="http://schemas.openxmlformats.org/drawingml/2006/main" sz="1875">
                      <a:latin typeface="Cambria Math"/>
                      <a:ea typeface="Cambria Math"/>
                      <a:cs typeface="Cambria Math"/>
                    </a:rPr>
                    <m:t>=</m:t>
                  </m:r>
                  <m:sSub>
                    <m:e>
                      <m:r>
                        <a:rPr xmlns:a="http://schemas.openxmlformats.org/drawingml/2006/main" sz="1875">
                          <a:latin typeface="Cambria Math"/>
                          <a:ea typeface="Cambria Math"/>
                          <a:cs typeface="Cambria Math"/>
                        </a:rPr>
                        <m:t>W</m:t>
                      </m:r>
                    </m:e>
                    <m:sub>
                      <m:r>
                        <a:rPr xmlns:a="http://schemas.openxmlformats.org/drawingml/2006/main" sz="1313">
                          <a:latin typeface="Cambria Math"/>
                          <a:ea typeface="Cambria Math"/>
                          <a:cs typeface="Cambria Math"/>
                        </a:rPr>
                        <m:t>M</m:t>
                      </m:r>
                      <m:r>
                        <a:rPr xmlns:a="http://schemas.openxmlformats.org/drawingml/2006/main" sz="1313">
                          <a:latin typeface="Cambria Math"/>
                          <a:ea typeface="Cambria Math"/>
                          <a:cs typeface="Cambria Math"/>
                        </a:rPr>
                        <m:t>L</m:t>
                      </m:r>
                      <m:r>
                        <a:rPr xmlns:a="http://schemas.openxmlformats.org/drawingml/2006/main" sz="1313">
                          <a:latin typeface="Cambria Math"/>
                          <a:ea typeface="Cambria Math"/>
                          <a:cs typeface="Cambria Math"/>
                        </a:rPr>
                        <m:t>P</m:t>
                      </m:r>
                      <m:r>
                        <a:rPr xmlns:a="http://schemas.openxmlformats.org/drawingml/2006/main" sz="1313">
                          <a:latin typeface="Cambria Math"/>
                          <a:ea typeface="Cambria Math"/>
                          <a:cs typeface="Cambria Math"/>
                        </a:rPr>
                        <m:t>,</m:t>
                      </m:r>
                      <m:r>
                        <a:rPr xmlns:a="http://schemas.openxmlformats.org/drawingml/2006/main" sz="1313">
                          <a:latin typeface="Cambria Math"/>
                          <a:ea typeface="Cambria Math"/>
                          <a:cs typeface="Cambria Math"/>
                        </a:rPr>
                        <m:t>1</m:t>
                      </m:r>
                    </m:sub>
                  </m:sSub>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m:t>
                  </m:r>
                  <m:r>
                    <a:rPr xmlns:a="http://schemas.openxmlformats.org/drawingml/2006/main" sz="1875">
                      <a:latin typeface="Cambria Math"/>
                      <a:ea typeface="Cambria Math"/>
                      <a:cs typeface="Cambria Math"/>
                    </a:rPr>
                    <m:t>R</m:t>
                  </m:r>
                  <m:r>
                    <a:rPr xmlns:a="http://schemas.openxmlformats.org/drawingml/2006/main" sz="1875">
                      <a:latin typeface="Cambria Math"/>
                      <a:ea typeface="Cambria Math"/>
                      <a:cs typeface="Cambria Math"/>
                    </a:rPr>
                    <m:t>]</m:t>
                  </m:r>
                </m:oMath>
              </m:oMathPara>
            </a14:m>
          </a:p>
        </p:txBody>
      </p:sp>
      <p:sp>
        <p:nvSpPr>
          <p:cNvPr id="26" name="v11-text-30-4">
            <a:extLst xmlns:a="http://schemas.openxmlformats.org/drawingml/2006/main">
              <a:ext uri="{FF2B5EF4-FFF2-40B4-BE49-F238E27FC236}">
                <a16:creationId xmlns:a16="http://schemas.microsoft.com/office/drawing/2014/main" id="{FA53529F-8443-47C1-AF12-4DFA8CA6B3D8}"/>
              </a:ext>
            </a:extLst>
          </p:cNvPr>
          <p:cNvSpPr>
            <a:spLocks xmlns:a="http://schemas.openxmlformats.org/drawingml/2006/main" noGrp="1"/>
          </p:cNvSpPr>
          <p:nvPr/>
        </p:nvSpPr>
        <p:spPr>
          <a:xfrm xmlns:a="http://schemas.openxmlformats.org/drawingml/2006/main">
            <a:off x="552450" y="4486275"/>
            <a:ext cx="93535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3:p xmlns:ns3="http://schemas.openxmlformats.org/drawingml/2006/main">
            <ns3:pPr marL="20" indent="-17" algn="l">
              <ns3:spcBef>
                <ns3:spcPts val="0"/>
              </ns3:spcBef>
              <ns3:spcAft>
                <ns3:spcPts val="0"/>
              </ns3:spcAft>
              <ns3:buChar char="•"/>
              <ns3:defRPr sz="1800" b="0">
                <ns3:solidFill>
                  <ns3:srgbClr val="3F3F3F"/>
                </ns3:solidFill>
                <ns3:latin typeface="Calibri"/>
                <ns3:ea typeface="Calibri"/>
                <ns3:cs typeface="Calibri"/>
              </ns3:defRPr>
            </ns3:pPr>
            <ns3:r>
              <ns3:rPr sz="1800" b="1">
                <ns3:latin typeface="Calibri"/>
                <ns3:ea typeface="Calibri"/>
                <ns3:cs typeface="Calibri"/>
              </ns3:rPr>
              <ns3:t>Gekoppelte Kürzung:</ns3:t>
            </ns3:r>
            <ns3:r>
              <ns3:rPr sz="1800" b="0">
                <ns3:latin typeface="Calibri"/>
                <ns3:ea typeface="Calibri"/>
                <ns3:cs typeface="Calibri"/>
              </ns3:rPr>
              <ns3:t xml:space="preserve"> Gates, Bias, Zustände und MLP-Eingänge konsistent verkleinern, anschließend Fine-Tuning</ns3:t>
            </ns3:r>
          </ns3:p>
        </p:txBody>
      </p:sp>
      <p:sp>
        <p:nvSpPr>
          <p:cNvPr id="27" name="v11-text-30-5">
            <a:extLst xmlns:a="http://schemas.openxmlformats.org/drawingml/2006/main">
              <a:ext uri="{FF2B5EF4-FFF2-40B4-BE49-F238E27FC236}">
                <a16:creationId xmlns:a16="http://schemas.microsoft.com/office/drawing/2014/main" id="{143CEB4B-6730-41A0-B44E-5BB7695E18ED}"/>
              </a:ext>
            </a:extLst>
          </p:cNvPr>
          <p:cNvSpPr>
            <a:spLocks xmlns:a="http://schemas.openxmlformats.org/drawingml/2006/main" noGrp="1"/>
          </p:cNvSpPr>
          <p:nvPr/>
        </p:nvSpPr>
        <p:spPr>
          <a:xfrm xmlns:a="http://schemas.openxmlformats.org/drawingml/2006/main">
            <a:off x="552450" y="5314950"/>
            <a:ext cx="93535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4:p xmlns:ns4="http://schemas.openxmlformats.org/drawingml/2006/main">
            <ns4:pPr marL="20" indent="-17" algn="l">
              <ns4:spcBef>
                <ns4:spcPts val="0"/>
              </ns4:spcBef>
              <ns4:spcAft>
                <ns4:spcPts val="0"/>
              </ns4:spcAft>
              <ns4:buChar char="•"/>
              <ns4:defRPr sz="1800" b="0">
                <ns4:solidFill>
                  <ns4:srgbClr val="3F3F3F"/>
                </ns4:solidFill>
                <ns4:latin typeface="Calibri"/>
                <ns4:ea typeface="Calibri"/>
                <ns4:cs typeface="Calibri"/>
              </ns4:defRPr>
            </ns4:pPr>
            <ns4:r>
              <ns4:rPr sz="1800" b="1">
                <ns4:latin typeface="Calibri"/>
                <ns4:ea typeface="Calibri"/>
                <ns4:cs typeface="Calibri"/>
              </ns4:rPr>
              <ns4:t>Rechenaufwand:</ns4:t>
            </ns4:r>
            <ns4:r>
              <ns4:rPr sz="1800" b="0">
                <ns4:latin typeface="Calibri"/>
                <ns4:ea typeface="Calibri"/>
                <ns4:cs typeface="Calibri"/>
              </ns4:rPr>
              <ns4:t xml:space="preserve"> 45,1 % weniger MACs für SOC und 45,7 % für SOH bei unveränderter MLP-Breite</ns4:t>
            </ns4:r>
          </ns4:p>
        </p:txBody>
      </p:sp>
      <p:sp>
        <p:nvSpPr>
          <p:cNvPr id="28" name="v12-text-30-6">
            <a:extLst xmlns:a="http://schemas.openxmlformats.org/drawingml/2006/main">
              <a:ext uri="{FF2B5EF4-FFF2-40B4-BE49-F238E27FC236}">
                <a16:creationId xmlns:a16="http://schemas.microsoft.com/office/drawing/2014/main" id="{94F020C4-1293-41EE-8D98-69DA00E955C0}"/>
              </a:ext>
            </a:extLst>
          </p:cNvPr>
          <p:cNvSpPr>
            <a:spLocks xmlns:a="http://schemas.openxmlformats.org/drawingml/2006/main" noGrp="1"/>
          </p:cNvSpPr>
          <p:nvPr/>
        </p:nvSpPr>
        <p:spPr>
          <a:xfrm xmlns:a="http://schemas.openxmlformats.org/drawingml/2006/main">
            <a:off x="552450" y="1409700"/>
            <a:ext cx="93535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1:p xmlns:ns1="http://schemas.openxmlformats.org/drawingml/2006/main">
            <ns1:pPr marL="0" indent="0" algn="l">
              <ns1:spcBef>
                <ns1:spcPts val="0"/>
              </ns1:spcBef>
              <ns1:spcAft>
                <ns1:spcPts val="0"/>
              </ns1:spcAft>
              <ns1:buNone/>
              <ns1:defRPr sz="1800" b="0">
                <ns1:solidFill>
                  <ns1:srgbClr val="3F3F3F"/>
                </ns1:solidFill>
                <ns1:latin typeface="Calibri"/>
                <ns1:ea typeface="Calibri"/>
                <ns1:cs typeface="Calibri"/>
              </ns1:defRPr>
            </ns1:pPr>
            <ns1:r>
              <ns1:rPr sz="1800" b="1">
                <ns1:latin typeface="Calibri"/>
                <ns1:ea typeface="Calibri"/>
                <ns1:cs typeface="Calibri"/>
              </ns1:rPr>
              <ns1:t>Score sₕ:</ns1:t>
            </ns1:r>
            <ns1:r>
              <ns1:rPr sz="1800" b="0">
                <ns1:latin typeface="Calibri"/>
                <ns1:ea typeface="Calibri"/>
                <ns1:cs typeface="Calibri"/>
              </ns1:rPr>
              <ns1:t xml:space="preserve"> L2-Zeilennormen der Eingangs- und Rekurrenzgewichte über alle Gates</ns1:t>
            </ns1:r>
          </ns1:p>
        </p:txBody>
      </p:sp>
    </p:spTree>
    <p:extLst>
      <p:ext uri="{BB962C8B-B14F-4D97-AF65-F5344CB8AC3E}">
        <p14:creationId xmlns:p14="http://schemas.microsoft.com/office/powerpoint/2010/main" val="536383280"/>
      </p:ext>
    </p:extLst>
  </p:cSld>
</p:sld>
</file>

<file path=ppt/slides/slide57.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lIns="0" tIns="0" rIns="0" bIns="0" anchor="t">
            <a:noAutofit/>
          </a:bodyPr>
          <a:lstStyle xmlns:a="http://schemas.openxmlformats.org/drawingml/2006/main"/>
          <a:p xmlns:a="http://schemas.openxmlformats.org/drawingml/2006/main">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Anhang: SOH-Ergebnisse im Überblick</a:t>
            </a:r>
          </a: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Anhang 13</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pic>
        <p:nvPicPr>
          <p:cNvPr id="43" name="V6_TU_Logo"/>
          <p:cNvPicPr>
            <a:picLocks xmlns:a="http://schemas.openxmlformats.org/drawingml/2006/main" noChangeAspect="1"/>
          </p:cNvPicPr>
          <p:nvPr/>
        </p:nvPicPr>
        <p:blipFill>
          <a:blip xmlns:r="http://schemas.openxmlformats.org/officeDocument/2006/relationships" xmlns:a="http://schemas.openxmlformats.org/drawingml/2006/main" r:embed="Rbbdb4056630642f8"/>
          <a:stretch xmlns:a="http://schemas.openxmlformats.org/drawingml/2006/main">
            <a:fillRect l="0" t="0" r="0" b="0"/>
          </a:stretch>
        </p:blipFill>
        <p:spPr>
          <a:xfrm xmlns:a="http://schemas.openxmlformats.org/drawingml/2006/main">
            <a:off x="10614660" y="378460"/>
            <a:ext cx="1003300" cy="767080"/>
          </a:xfrm>
          <a:prstGeom xmlns:a="http://schemas.openxmlformats.org/drawingml/2006/main" prst="rect">
            <a:avLst/>
          </a:prstGeom>
        </p:spPr>
      </p:pic>
      <p:sp>
        <p:nvSpPr>
          <p:cNvPr id="19" name="Structure separator">
            <a:extLst xmlns:a="http://schemas.openxmlformats.org/drawingml/2006/main">
              <a:ext uri="{FF2B5EF4-FFF2-40B4-BE49-F238E27FC236}">
                <a16:creationId xmlns:a16="http://schemas.microsoft.com/office/drawing/2014/main" id="{15AFD174-6BBF-4B31-BD82-147CEBE088FC}"/>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20" name="Structure label">
            <a:extLst xmlns:a="http://schemas.openxmlformats.org/drawingml/2006/main">
              <a:ext uri="{FF2B5EF4-FFF2-40B4-BE49-F238E27FC236}">
                <a16:creationId xmlns:a16="http://schemas.microsoft.com/office/drawing/2014/main" id="{D895C4AA-3B55-4C57-B7F8-1908B64F6BDC}"/>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xmlns:a="http://schemas.openxmlformats.org/drawingml/2006/main">
              <a:ext uri="{FF2B5EF4-FFF2-40B4-BE49-F238E27FC236}">
                <a16:creationId xmlns:a16="http://schemas.microsoft.com/office/drawing/2014/main" id="{CD023E9D-5A52-4DA1-8F38-AC86C0AE0202}"/>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xmlns:a="http://schemas.openxmlformats.org/drawingml/2006/main">
              <a:ext uri="{FF2B5EF4-FFF2-40B4-BE49-F238E27FC236}">
                <a16:creationId xmlns:a16="http://schemas.microsoft.com/office/drawing/2014/main" id="{B8DD2CC6-F8B4-413D-B89B-BF19E2EBB355}"/>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xmlns:a="http://schemas.openxmlformats.org/drawingml/2006/main">
              <a:ext uri="{FF2B5EF4-FFF2-40B4-BE49-F238E27FC236}">
                <a16:creationId xmlns:a16="http://schemas.microsoft.com/office/drawing/2014/main" id="{ED8F9D8A-F2B7-4A41-BEE0-7D0FDB8F39FA}"/>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xmlns:a="http://schemas.openxmlformats.org/drawingml/2006/main">
              <a:ext uri="{FF2B5EF4-FFF2-40B4-BE49-F238E27FC236}">
                <a16:creationId xmlns:a16="http://schemas.microsoft.com/office/drawing/2014/main" id="{DEBA1E4F-95E5-4E6A-A321-3B3C7B1E5C00}"/>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xmlns:a="http://schemas.openxmlformats.org/drawingml/2006/main">
              <a:ext uri="{FF2B5EF4-FFF2-40B4-BE49-F238E27FC236}">
                <a16:creationId xmlns:a16="http://schemas.microsoft.com/office/drawing/2014/main" id="{AA3D179D-6DD3-4D07-AAB5-489F479FA85C}"/>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6" name="Structure 5">
            <a:extLst xmlns:a="http://schemas.openxmlformats.org/drawingml/2006/main">
              <a:ext uri="{FF2B5EF4-FFF2-40B4-BE49-F238E27FC236}">
                <a16:creationId xmlns:a16="http://schemas.microsoft.com/office/drawing/2014/main" id="{A911ABF1-E354-406F-B257-609193195600}"/>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graphicFrame>
        <p:nvGraphicFramePr>
          <p:cNvPr id="44" name=""/>
          <p:cNvGraphicFramePr/>
          <p:nvPr/>
        </p:nvGraphicFramePr>
        <p:xfrm>
          <a:off xmlns:a="http://schemas.openxmlformats.org/drawingml/2006/main" x="552450" y="1562100"/>
          <a:ext xmlns:a="http://schemas.openxmlformats.org/drawingml/2006/main" cx="9391650" cy="3657600"/>
        </p:xfrm>
        <a:graphic xmlns:a="http://schemas.openxmlformats.org/drawingml/2006/main">
          <a:graphicData uri="http://schemas.openxmlformats.org/drawingml/2006/table">
            <a:tbl>
              <a:tblPr firstRow="0" firstCol="0" lastRow="0" lastCol="0" bandRow="0" bandCol="0"/>
              <a:tblGrid>
                <a:gridCol w="2047875"/>
                <a:gridCol w="2581275"/>
                <a:gridCol w="1143000"/>
                <a:gridCol w="1143000"/>
                <a:gridCol w="1143000"/>
                <a:gridCol w="1333500"/>
              </a:tblGrid>
              <a:tr h="609600">
                <a:tc>
                  <a:txBody>
                    <a:bodyPr>
                      <a:noAutofit/>
                    </a:bodyPr>
                    <a:lstStyle/>
                    <a:p>
                      <a:pPr algn="l">
                        <a:buNone/>
                      </a:pPr>
                      <a:r>
                        <a:rPr sz="1800" b="1">
                          <a:solidFill>
                            <a:srgbClr val="444444"/>
                          </a:solidFill>
                          <a:latin typeface="Calibri"/>
                          <a:ea typeface="Calibri"/>
                          <a:cs typeface="Calibri"/>
                        </a:rPr>
                        <a:t>SOH-Modell</a:t>
                      </a:r>
                    </a:p>
                  </a:txBody>
                  <a:tcPr marL="95250" marR="95250" marT="28575" marB="28575" anchor="ctr">
                    <a:solidFill>
                      <a:srgbClr val="F0F0F0"/>
                    </a:solidFill>
                  </a:tcPr>
                </a:tc>
                <a:tc>
                  <a:txBody>
                    <a:bodyPr>
                      <a:noAutofit/>
                    </a:bodyPr>
                    <a:lstStyle/>
                    <a:p>
                      <a:pPr algn="l">
                        <a:buNone/>
                      </a:pPr>
                      <a:r>
                        <a:rPr sz="1800" b="1">
                          <a:solidFill>
                            <a:srgbClr val="444444"/>
                          </a:solidFill>
                          <a:latin typeface="Calibri"/>
                          <a:ea typeface="Calibri"/>
                          <a:cs typeface="Calibri"/>
                        </a:rPr>
                        <a:t>Variante</a:t>
                      </a:r>
                    </a:p>
                  </a:txBody>
                  <a:tcPr marL="95250" marR="95250" marT="28575" marB="28575" anchor="ctr">
                    <a:solidFill>
                      <a:srgbClr val="F0F0F0"/>
                    </a:solidFill>
                  </a:tcPr>
                </a:tc>
                <a:tc>
                  <a:txBody>
                    <a:bodyPr>
                      <a:noAutofit/>
                    </a:bodyPr>
                    <a:lstStyle/>
                    <a:p>
                      <a:pPr algn="ctr">
                        <a:buNone/>
                      </a:pPr>
                      <a:r>
                        <a:rPr sz="1800" b="1">
                          <a:solidFill>
                            <a:srgbClr val="444444"/>
                          </a:solidFill>
                          <a:latin typeface="Calibri"/>
                          <a:ea typeface="Calibri"/>
                          <a:cs typeface="Calibri"/>
                        </a:rPr>
                        <a:t>MAE</a:t>
                      </a:r>
                    </a:p>
                    <a:p>
                      <a:pPr algn="ctr">
                        <a:buNone/>
                      </a:pPr>
                      <a:r>
                        <a:rPr sz="1800" b="1">
                          <a:solidFill>
                            <a:srgbClr val="444444"/>
                          </a:solidFill>
                          <a:latin typeface="Calibri"/>
                          <a:ea typeface="Calibri"/>
                          <a:cs typeface="Calibri"/>
                        </a:rPr>
                        <a:t>[pp]</a:t>
                      </a:r>
                    </a:p>
                  </a:txBody>
                  <a:tcPr marL="95250" marR="95250" marT="28575" marB="28575" anchor="ctr">
                    <a:solidFill>
                      <a:srgbClr val="F0F0F0"/>
                    </a:solidFill>
                  </a:tcPr>
                </a:tc>
                <a:tc>
                  <a:txBody>
                    <a:bodyPr>
                      <a:noAutofit/>
                    </a:bodyPr>
                    <a:lstStyle/>
                    <a:p>
                      <a:pPr algn="ctr">
                        <a:buNone/>
                      </a:pPr>
                      <a:r>
                        <a:rPr sz="1800" b="1">
                          <a:solidFill>
                            <a:srgbClr val="444444"/>
                          </a:solidFill>
                          <a:latin typeface="Calibri"/>
                          <a:ea typeface="Calibri"/>
                          <a:cs typeface="Calibri"/>
                        </a:rPr>
                        <a:t>Flash</a:t>
                      </a:r>
                    </a:p>
                    <a:p>
                      <a:pPr algn="ctr">
                        <a:buNone/>
                      </a:pPr>
                      <a:r>
                        <a:rPr sz="1800" b="1">
                          <a:solidFill>
                            <a:srgbClr val="444444"/>
                          </a:solidFill>
                          <a:latin typeface="Calibri"/>
                          <a:ea typeface="Calibri"/>
                          <a:cs typeface="Calibri"/>
                        </a:rPr>
                        <a:t>[KB]</a:t>
                      </a:r>
                    </a:p>
                  </a:txBody>
                  <a:tcPr marL="95250" marR="95250" marT="28575" marB="28575" anchor="ctr">
                    <a:solidFill>
                      <a:srgbClr val="F0F0F0"/>
                    </a:solidFill>
                  </a:tcPr>
                </a:tc>
                <a:tc>
                  <a:txBody>
                    <a:bodyPr>
                      <a:noAutofit/>
                    </a:bodyPr>
                    <a:lstStyle/>
                    <a:p>
                      <a:pPr algn="ctr">
                        <a:buNone/>
                      </a:pPr>
                      <a:r>
                        <a:rPr sz="1800" b="1">
                          <a:solidFill>
                            <a:srgbClr val="444444"/>
                          </a:solidFill>
                          <a:latin typeface="Calibri"/>
                          <a:ea typeface="Calibri"/>
                          <a:cs typeface="Calibri"/>
                        </a:rPr>
                        <a:t>RAM</a:t>
                      </a:r>
                    </a:p>
                    <a:p>
                      <a:pPr algn="ctr">
                        <a:buNone/>
                      </a:pPr>
                      <a:r>
                        <a:rPr sz="1800" b="1">
                          <a:solidFill>
                            <a:srgbClr val="444444"/>
                          </a:solidFill>
                          <a:latin typeface="Calibri"/>
                          <a:ea typeface="Calibri"/>
                          <a:cs typeface="Calibri"/>
                        </a:rPr>
                        <a:t>[KB]</a:t>
                      </a:r>
                    </a:p>
                  </a:txBody>
                  <a:tcPr marL="95250" marR="95250" marT="28575" marB="28575" anchor="ctr">
                    <a:solidFill>
                      <a:srgbClr val="F0F0F0"/>
                    </a:solidFill>
                  </a:tcPr>
                </a:tc>
                <a:tc>
                  <a:txBody>
                    <a:bodyPr>
                      <a:noAutofit/>
                    </a:bodyPr>
                    <a:lstStyle/>
                    <a:p>
                      <a:pPr algn="ctr">
                        <a:buNone/>
                      </a:pPr>
                      <a:r>
                        <a:rPr sz="1800" b="1">
                          <a:solidFill>
                            <a:srgbClr val="444444"/>
                          </a:solidFill>
                          <a:latin typeface="Calibri"/>
                          <a:ea typeface="Calibri"/>
                          <a:cs typeface="Calibri"/>
                        </a:rPr>
                        <a:t>Inferenz</a:t>
                      </a:r>
                    </a:p>
                    <a:p>
                      <a:pPr algn="ctr">
                        <a:buNone/>
                      </a:pPr>
                      <a:r>
                        <a:rPr sz="1800" b="1">
                          <a:solidFill>
                            <a:srgbClr val="444444"/>
                          </a:solidFill>
                          <a:latin typeface="Calibri"/>
                          <a:ea typeface="Calibri"/>
                          <a:cs typeface="Calibri"/>
                        </a:rPr>
                        <a:t>[ms]</a:t>
                      </a:r>
                    </a:p>
                  </a:txBody>
                  <a:tcPr marL="95250" marR="95250" marT="28575" marB="28575" anchor="ctr">
                    <a:solidFill>
                      <a:srgbClr val="F0F0F0"/>
                    </a:solidFill>
                  </a:tcPr>
                </a:tc>
              </a:tr>
              <a:tr h="457200">
                <a:tc>
                  <a:txBody>
                    <a:bodyPr>
                      <a:noAutofit/>
                    </a:bodyPr>
                    <a:lstStyle/>
                    <a:p>
                      <a:pPr algn="l">
                        <a:buNone/>
                      </a:pPr>
                      <a:r>
                        <a:rPr sz="1800" b="0">
                          <a:solidFill>
                            <a:srgbClr val="444444"/>
                          </a:solidFill>
                          <a:latin typeface="Calibri"/>
                          <a:ea typeface="Calibri"/>
                          <a:cs typeface="Calibri"/>
                        </a:rPr>
                        <a:t>MLP (Kap. 5)</a:t>
                      </a:r>
                    </a:p>
                  </a:txBody>
                  <a:tcPr marL="95250" marR="95250" marT="28575" marB="28575" anchor="ctr">
                    <a:solidFill>
                      <a:srgbClr val="FFFFFF"/>
                    </a:solidFill>
                  </a:tcPr>
                </a:tc>
                <a:tc>
                  <a:txBody>
                    <a:bodyPr>
                      <a:noAutofit/>
                    </a:bodyPr>
                    <a:lstStyle/>
                    <a:p>
                      <a:pPr algn="l">
                        <a:buNone/>
                      </a:pPr>
                      <a:r>
                        <a:rPr sz="1800" b="0">
                          <a:solidFill>
                            <a:srgbClr val="444444"/>
                          </a:solidFill>
                          <a:latin typeface="Calibri"/>
                          <a:ea typeface="Calibri"/>
                          <a:cs typeface="Calibri"/>
                        </a:rPr>
                        <a:t>Standard</a:t>
                      </a:r>
                    </a:p>
                  </a:txBody>
                  <a:tcPr marL="95250" marR="95250" marT="28575" marB="28575" anchor="ctr">
                    <a:solidFill>
                      <a:srgbClr val="FFFFFF"/>
                    </a:solidFill>
                  </a:tcPr>
                </a:tc>
                <a:tc>
                  <a:txBody>
                    <a:bodyPr>
                      <a:noAutofit/>
                    </a:bodyPr>
                    <a:lstStyle/>
                    <a:p>
                      <a:pPr algn="ctr">
                        <a:buNone/>
                      </a:pPr>
                      <a:r>
                        <a:rPr sz="1800" b="0">
                          <a:solidFill>
                            <a:srgbClr val="444444"/>
                          </a:solidFill>
                          <a:latin typeface="Calibri"/>
                          <a:ea typeface="Calibri"/>
                          <a:cs typeface="Calibri"/>
                        </a:rPr>
                        <a:t>1,10</a:t>
                      </a:r>
                    </a:p>
                  </a:txBody>
                  <a:tcPr marL="95250" marR="95250" marT="28575" marB="28575" anchor="ctr">
                    <a:solidFill>
                      <a:srgbClr val="FFFFFF"/>
                    </a:solidFill>
                  </a:tcPr>
                </a:tc>
                <a:tc>
                  <a:txBody>
                    <a:bodyPr>
                      <a:noAutofit/>
                    </a:bodyPr>
                    <a:lstStyle/>
                    <a:p>
                      <a:pPr algn="ctr">
                        <a:buNone/>
                      </a:pPr>
                      <a:r>
                        <a:rPr sz="1800" b="0">
                          <a:solidFill>
                            <a:srgbClr val="444444"/>
                          </a:solidFill>
                          <a:latin typeface="Calibri"/>
                          <a:ea typeface="Calibri"/>
                          <a:cs typeface="Calibri"/>
                        </a:rPr>
                        <a:t>—</a:t>
                      </a:r>
                    </a:p>
                  </a:txBody>
                  <a:tcPr marL="95250" marR="95250" marT="28575" marB="28575" anchor="ctr">
                    <a:solidFill>
                      <a:srgbClr val="FFFFFF"/>
                    </a:solidFill>
                  </a:tcPr>
                </a:tc>
                <a:tc>
                  <a:txBody>
                    <a:bodyPr>
                      <a:noAutofit/>
                    </a:bodyPr>
                    <a:lstStyle/>
                    <a:p>
                      <a:pPr algn="ctr">
                        <a:buNone/>
                      </a:pPr>
                      <a:r>
                        <a:rPr sz="1800" b="0">
                          <a:solidFill>
                            <a:srgbClr val="444444"/>
                          </a:solidFill>
                          <a:latin typeface="Calibri"/>
                          <a:ea typeface="Calibri"/>
                          <a:cs typeface="Calibri"/>
                        </a:rPr>
                        <a:t>—</a:t>
                      </a:r>
                    </a:p>
                  </a:txBody>
                  <a:tcPr marL="95250" marR="95250" marT="28575" marB="28575" anchor="ctr">
                    <a:solidFill>
                      <a:srgbClr val="FFFFFF"/>
                    </a:solidFill>
                  </a:tcPr>
                </a:tc>
                <a:tc>
                  <a:txBody>
                    <a:bodyPr>
                      <a:noAutofit/>
                    </a:bodyPr>
                    <a:lstStyle/>
                    <a:p>
                      <a:pPr algn="ctr">
                        <a:buNone/>
                      </a:pPr>
                      <a:r>
                        <a:rPr sz="1800" b="0">
                          <a:solidFill>
                            <a:srgbClr val="444444"/>
                          </a:solidFill>
                          <a:latin typeface="Calibri"/>
                          <a:ea typeface="Calibri"/>
                          <a:cs typeface="Calibri"/>
                        </a:rPr>
                        <a:t>—</a:t>
                      </a:r>
                    </a:p>
                  </a:txBody>
                  <a:tcPr marL="95250" marR="95250" marT="28575" marB="28575" anchor="ctr">
                    <a:solidFill>
                      <a:srgbClr val="FFFFFF"/>
                    </a:solidFill>
                  </a:tcPr>
                </a:tc>
              </a:tr>
              <a:tr h="609600">
                <a:tc>
                  <a:txBody>
                    <a:bodyPr>
                      <a:noAutofit/>
                    </a:bodyPr>
                    <a:lstStyle/>
                    <a:p>
                      <a:pPr algn="l">
                        <a:buNone/>
                      </a:pPr>
                      <a:r>
                        <a:rPr sz="1800" b="0">
                          <a:solidFill>
                            <a:srgbClr val="444444"/>
                          </a:solidFill>
                          <a:latin typeface="Calibri"/>
                          <a:ea typeface="Calibri"/>
                          <a:cs typeface="Calibri"/>
                        </a:rPr>
                        <a:t>MLP (Kap. 5)</a:t>
                      </a:r>
                    </a:p>
                  </a:txBody>
                  <a:tcPr marL="95250" marR="95250" marT="28575" marB="28575" anchor="ctr">
                    <a:solidFill>
                      <a:srgbClr val="FFFFFF"/>
                    </a:solidFill>
                  </a:tcPr>
                </a:tc>
                <a:tc>
                  <a:txBody>
                    <a:bodyPr>
                      <a:noAutofit/>
                    </a:bodyPr>
                    <a:lstStyle/>
                    <a:p>
                      <a:pPr algn="l">
                        <a:buNone/>
                      </a:pPr>
                      <a:r>
                        <a:rPr sz="1800" b="0">
                          <a:solidFill>
                            <a:srgbClr val="444444"/>
                          </a:solidFill>
                          <a:latin typeface="Calibri"/>
                          <a:ea typeface="Calibri"/>
                          <a:cs typeface="Calibri"/>
                        </a:rPr>
                        <a:t>Training ohne</a:t>
                      </a:r>
                    </a:p>
                    <a:p>
                      <a:pPr algn="l">
                        <a:buNone/>
                      </a:pPr>
                      <a:r>
                        <a:rPr sz="1800" b="0">
                          <a:solidFill>
                            <a:srgbClr val="444444"/>
                          </a:solidFill>
                          <a:latin typeface="Calibri"/>
                          <a:ea typeface="Calibri"/>
                          <a:cs typeface="Calibri"/>
                        </a:rPr>
                        <a:t>Zellen 3 und 4</a:t>
                      </a:r>
                    </a:p>
                  </a:txBody>
                  <a:tcPr marL="95250" marR="95250" marT="28575" marB="28575" anchor="ctr">
                    <a:solidFill>
                      <a:srgbClr val="FFFFFF"/>
                    </a:solidFill>
                  </a:tcPr>
                </a:tc>
                <a:tc>
                  <a:txBody>
                    <a:bodyPr>
                      <a:noAutofit/>
                    </a:bodyPr>
                    <a:lstStyle/>
                    <a:p>
                      <a:pPr algn="ctr">
                        <a:buNone/>
                      </a:pPr>
                      <a:r>
                        <a:rPr sz="1800" b="0">
                          <a:solidFill>
                            <a:srgbClr val="444444"/>
                          </a:solidFill>
                          <a:latin typeface="Calibri"/>
                          <a:ea typeface="Calibri"/>
                          <a:cs typeface="Calibri"/>
                        </a:rPr>
                        <a:t>1,07</a:t>
                      </a:r>
                    </a:p>
                  </a:txBody>
                  <a:tcPr marL="95250" marR="95250" marT="28575" marB="28575" anchor="ctr">
                    <a:solidFill>
                      <a:srgbClr val="FFFFFF"/>
                    </a:solidFill>
                  </a:tcPr>
                </a:tc>
                <a:tc>
                  <a:txBody>
                    <a:bodyPr>
                      <a:noAutofit/>
                    </a:bodyPr>
                    <a:lstStyle/>
                    <a:p>
                      <a:pPr algn="ctr">
                        <a:buNone/>
                      </a:pPr>
                      <a:r>
                        <a:rPr sz="1800" b="0">
                          <a:solidFill>
                            <a:srgbClr val="444444"/>
                          </a:solidFill>
                          <a:latin typeface="Calibri"/>
                          <a:ea typeface="Calibri"/>
                          <a:cs typeface="Calibri"/>
                        </a:rPr>
                        <a:t>—</a:t>
                      </a:r>
                    </a:p>
                  </a:txBody>
                  <a:tcPr marL="95250" marR="95250" marT="28575" marB="28575" anchor="ctr">
                    <a:solidFill>
                      <a:srgbClr val="FFFFFF"/>
                    </a:solidFill>
                  </a:tcPr>
                </a:tc>
                <a:tc>
                  <a:txBody>
                    <a:bodyPr>
                      <a:noAutofit/>
                    </a:bodyPr>
                    <a:lstStyle/>
                    <a:p>
                      <a:pPr algn="ctr">
                        <a:buNone/>
                      </a:pPr>
                      <a:r>
                        <a:rPr sz="1800" b="0">
                          <a:solidFill>
                            <a:srgbClr val="444444"/>
                          </a:solidFill>
                          <a:latin typeface="Calibri"/>
                          <a:ea typeface="Calibri"/>
                          <a:cs typeface="Calibri"/>
                        </a:rPr>
                        <a:t>—</a:t>
                      </a:r>
                    </a:p>
                  </a:txBody>
                  <a:tcPr marL="95250" marR="95250" marT="28575" marB="28575" anchor="ctr">
                    <a:solidFill>
                      <a:srgbClr val="FFFFFF"/>
                    </a:solidFill>
                  </a:tcPr>
                </a:tc>
                <a:tc>
                  <a:txBody>
                    <a:bodyPr>
                      <a:noAutofit/>
                    </a:bodyPr>
                    <a:lstStyle/>
                    <a:p>
                      <a:pPr algn="ctr">
                        <a:buNone/>
                      </a:pPr>
                      <a:r>
                        <a:rPr sz="1800" b="0">
                          <a:solidFill>
                            <a:srgbClr val="444444"/>
                          </a:solidFill>
                          <a:latin typeface="Calibri"/>
                          <a:ea typeface="Calibri"/>
                          <a:cs typeface="Calibri"/>
                        </a:rPr>
                        <a:t>—</a:t>
                      </a:r>
                    </a:p>
                  </a:txBody>
                  <a:tcPr marL="95250" marR="95250" marT="28575" marB="28575" anchor="ctr">
                    <a:solidFill>
                      <a:srgbClr val="FFFFFF"/>
                    </a:solidFill>
                  </a:tcPr>
                </a:tc>
              </a:tr>
              <a:tr h="609600">
                <a:tc>
                  <a:txBody>
                    <a:bodyPr>
                      <a:noAutofit/>
                    </a:bodyPr>
                    <a:lstStyle/>
                    <a:p>
                      <a:pPr algn="l">
                        <a:buNone/>
                      </a:pPr>
                      <a:r>
                        <a:rPr sz="1800" b="0">
                          <a:solidFill>
                            <a:srgbClr val="444444"/>
                          </a:solidFill>
                          <a:latin typeface="Calibri"/>
                          <a:ea typeface="Calibri"/>
                          <a:cs typeface="Calibri"/>
                        </a:rPr>
                        <a:t>LSTM (Kap. 6)</a:t>
                      </a:r>
                    </a:p>
                  </a:txBody>
                  <a:tcPr marL="95250" marR="95250" marT="28575" marB="28575" anchor="ctr">
                    <a:solidFill>
                      <a:srgbClr val="FFFFFF"/>
                    </a:solidFill>
                  </a:tcPr>
                </a:tc>
                <a:tc>
                  <a:txBody>
                    <a:bodyPr>
                      <a:noAutofit/>
                    </a:bodyPr>
                    <a:lstStyle/>
                    <a:p>
                      <a:pPr algn="l">
                        <a:buNone/>
                      </a:pPr>
                      <a:r>
                        <a:rPr sz="1800" b="0">
                          <a:solidFill>
                            <a:srgbClr val="444444"/>
                          </a:solidFill>
                          <a:latin typeface="Calibri"/>
                          <a:ea typeface="Calibri"/>
                          <a:cs typeface="Calibri"/>
                        </a:rPr>
                        <a:t>SOH-Hilfsmodell</a:t>
                      </a:r>
                    </a:p>
                    <a:p>
                      <a:pPr algn="l">
                        <a:buNone/>
                      </a:pPr>
                      <a:r>
                        <a:rPr sz="1800" b="0">
                          <a:solidFill>
                            <a:srgbClr val="444444"/>
                          </a:solidFill>
                          <a:latin typeface="Calibri"/>
                          <a:ea typeface="Calibri"/>
                          <a:cs typeface="Calibri"/>
                        </a:rPr>
                        <a:t>2 Layer, H = 112</a:t>
                      </a:r>
                    </a:p>
                  </a:txBody>
                  <a:tcPr marL="95250" marR="95250" marT="28575" marB="28575" anchor="ctr">
                    <a:solidFill>
                      <a:srgbClr val="FFFFFF"/>
                    </a:solidFill>
                  </a:tcPr>
                </a:tc>
                <a:tc>
                  <a:txBody>
                    <a:bodyPr>
                      <a:noAutofit/>
                    </a:bodyPr>
                    <a:lstStyle/>
                    <a:p>
                      <a:pPr algn="ctr">
                        <a:buNone/>
                      </a:pPr>
                      <a:r>
                        <a:rPr sz="1800" b="0">
                          <a:solidFill>
                            <a:srgbClr val="444444"/>
                          </a:solidFill>
                          <a:latin typeface="Calibri"/>
                          <a:ea typeface="Calibri"/>
                          <a:cs typeface="Calibri"/>
                        </a:rPr>
                        <a:t>nicht</a:t>
                      </a:r>
                    </a:p>
                    <a:p>
                      <a:pPr algn="ctr">
                        <a:buNone/>
                      </a:pPr>
                      <a:r>
                        <a:rPr sz="1800" b="0">
                          <a:solidFill>
                            <a:srgbClr val="444444"/>
                          </a:solidFill>
                          <a:latin typeface="Calibri"/>
                          <a:ea typeface="Calibri"/>
                          <a:cs typeface="Calibri"/>
                        </a:rPr>
                        <a:t>berichtet</a:t>
                      </a:r>
                    </a:p>
                  </a:txBody>
                  <a:tcPr marL="95250" marR="95250" marT="28575" marB="28575" anchor="ctr">
                    <a:solidFill>
                      <a:srgbClr val="FFFFFF"/>
                    </a:solidFill>
                  </a:tcPr>
                </a:tc>
                <a:tc>
                  <a:txBody>
                    <a:bodyPr>
                      <a:noAutofit/>
                    </a:bodyPr>
                    <a:lstStyle/>
                    <a:p>
                      <a:pPr algn="ctr">
                        <a:buNone/>
                      </a:pPr>
                      <a:r>
                        <a:rPr sz="1800" b="0">
                          <a:solidFill>
                            <a:srgbClr val="444444"/>
                          </a:solidFill>
                          <a:latin typeface="Calibri"/>
                          <a:ea typeface="Calibri"/>
                          <a:cs typeface="Calibri"/>
                        </a:rPr>
                        <a:t>—</a:t>
                      </a:r>
                    </a:p>
                  </a:txBody>
                  <a:tcPr marL="95250" marR="95250" marT="28575" marB="28575" anchor="ctr">
                    <a:solidFill>
                      <a:srgbClr val="FFFFFF"/>
                    </a:solidFill>
                  </a:tcPr>
                </a:tc>
                <a:tc>
                  <a:txBody>
                    <a:bodyPr>
                      <a:noAutofit/>
                    </a:bodyPr>
                    <a:lstStyle/>
                    <a:p>
                      <a:pPr algn="ctr">
                        <a:buNone/>
                      </a:pPr>
                      <a:r>
                        <a:rPr sz="1800" b="0">
                          <a:solidFill>
                            <a:srgbClr val="444444"/>
                          </a:solidFill>
                          <a:latin typeface="Calibri"/>
                          <a:ea typeface="Calibri"/>
                          <a:cs typeface="Calibri"/>
                        </a:rPr>
                        <a:t>—</a:t>
                      </a:r>
                    </a:p>
                  </a:txBody>
                  <a:tcPr marL="95250" marR="95250" marT="28575" marB="28575" anchor="ctr">
                    <a:solidFill>
                      <a:srgbClr val="FFFFFF"/>
                    </a:solidFill>
                  </a:tcPr>
                </a:tc>
                <a:tc>
                  <a:txBody>
                    <a:bodyPr>
                      <a:noAutofit/>
                    </a:bodyPr>
                    <a:lstStyle/>
                    <a:p>
                      <a:pPr algn="ctr">
                        <a:buNone/>
                      </a:pPr>
                      <a:r>
                        <a:rPr sz="1800" b="0">
                          <a:solidFill>
                            <a:srgbClr val="444444"/>
                          </a:solidFill>
                          <a:latin typeface="Calibri"/>
                          <a:ea typeface="Calibri"/>
                          <a:cs typeface="Calibri"/>
                        </a:rPr>
                        <a:t>—</a:t>
                      </a:r>
                    </a:p>
                  </a:txBody>
                  <a:tcPr marL="95250" marR="95250" marT="28575" marB="28575" anchor="ctr">
                    <a:solidFill>
                      <a:srgbClr val="FFFFFF"/>
                    </a:solidFill>
                  </a:tcPr>
                </a:tc>
              </a:tr>
              <a:tr h="457200">
                <a:tc>
                  <a:txBody>
                    <a:bodyPr>
                      <a:noAutofit/>
                    </a:bodyPr>
                    <a:lstStyle/>
                    <a:p>
                      <a:pPr algn="l">
                        <a:buNone/>
                      </a:pPr>
                      <a:r>
                        <a:rPr sz="1800" b="0">
                          <a:solidFill>
                            <a:srgbClr val="444444"/>
                          </a:solidFill>
                          <a:latin typeface="Calibri"/>
                          <a:ea typeface="Calibri"/>
                          <a:cs typeface="Calibri"/>
                        </a:rPr>
                        <a:t>LSTM (Kap. 7)</a:t>
                      </a:r>
                    </a:p>
                  </a:txBody>
                  <a:tcPr marL="95250" marR="95250" marT="28575" marB="28575" anchor="ctr">
                    <a:solidFill>
                      <a:srgbClr val="FFFFFF"/>
                    </a:solidFill>
                  </a:tcPr>
                </a:tc>
                <a:tc>
                  <a:txBody>
                    <a:bodyPr>
                      <a:noAutofit/>
                    </a:bodyPr>
                    <a:lstStyle/>
                    <a:p>
                      <a:pPr algn="l">
                        <a:buNone/>
                      </a:pPr>
                      <a:r>
                        <a:rPr sz="1800" b="0">
                          <a:solidFill>
                            <a:srgbClr val="444444"/>
                          </a:solidFill>
                          <a:latin typeface="Calibri"/>
                          <a:ea typeface="Calibri"/>
                          <a:cs typeface="Calibri"/>
                        </a:rPr>
                        <a:t>Base, H = 128</a:t>
                      </a:r>
                    </a:p>
                  </a:txBody>
                  <a:tcPr marL="95250" marR="95250" marT="28575" marB="28575" anchor="ctr">
                    <a:solidFill>
                      <a:srgbClr val="FFFFFF"/>
                    </a:solidFill>
                  </a:tcPr>
                </a:tc>
                <a:tc>
                  <a:txBody>
                    <a:bodyPr>
                      <a:noAutofit/>
                    </a:bodyPr>
                    <a:lstStyle/>
                    <a:p>
                      <a:pPr algn="ctr">
                        <a:buNone/>
                      </a:pPr>
                      <a:r>
                        <a:rPr sz="1800" b="0">
                          <a:solidFill>
                            <a:srgbClr val="444444"/>
                          </a:solidFill>
                          <a:latin typeface="Calibri"/>
                          <a:ea typeface="Calibri"/>
                          <a:cs typeface="Calibri"/>
                        </a:rPr>
                        <a:t>0,85</a:t>
                      </a:r>
                    </a:p>
                  </a:txBody>
                  <a:tcPr marL="95250" marR="95250" marT="28575" marB="28575" anchor="ctr">
                    <a:solidFill>
                      <a:srgbClr val="FFFFFF"/>
                    </a:solidFill>
                  </a:tcPr>
                </a:tc>
                <a:tc>
                  <a:txBody>
                    <a:bodyPr>
                      <a:noAutofit/>
                    </a:bodyPr>
                    <a:lstStyle/>
                    <a:p>
                      <a:pPr algn="ctr">
                        <a:buNone/>
                      </a:pPr>
                      <a:r>
                        <a:rPr sz="1800" b="0">
                          <a:solidFill>
                            <a:srgbClr val="444444"/>
                          </a:solidFill>
                          <a:latin typeface="Calibri"/>
                          <a:ea typeface="Calibri"/>
                          <a:cs typeface="Calibri"/>
                        </a:rPr>
                        <a:t>335,00</a:t>
                      </a:r>
                    </a:p>
                  </a:txBody>
                  <a:tcPr marL="95250" marR="95250" marT="28575" marB="28575" anchor="ctr">
                    <a:solidFill>
                      <a:srgbClr val="FFFFFF"/>
                    </a:solidFill>
                  </a:tcPr>
                </a:tc>
                <a:tc>
                  <a:txBody>
                    <a:bodyPr>
                      <a:noAutofit/>
                    </a:bodyPr>
                    <a:lstStyle/>
                    <a:p>
                      <a:pPr algn="ctr">
                        <a:buNone/>
                      </a:pPr>
                      <a:r>
                        <a:rPr sz="1800" b="0">
                          <a:solidFill>
                            <a:srgbClr val="444444"/>
                          </a:solidFill>
                          <a:latin typeface="Calibri"/>
                          <a:ea typeface="Calibri"/>
                          <a:cs typeface="Calibri"/>
                        </a:rPr>
                        <a:t>8,69</a:t>
                      </a:r>
                    </a:p>
                  </a:txBody>
                  <a:tcPr marL="95250" marR="95250" marT="28575" marB="28575" anchor="ctr">
                    <a:solidFill>
                      <a:srgbClr val="FFFFFF"/>
                    </a:solidFill>
                  </a:tcPr>
                </a:tc>
                <a:tc>
                  <a:txBody>
                    <a:bodyPr>
                      <a:noAutofit/>
                    </a:bodyPr>
                    <a:lstStyle/>
                    <a:p>
                      <a:pPr algn="ctr">
                        <a:buNone/>
                      </a:pPr>
                      <a:r>
                        <a:rPr sz="1800" b="0">
                          <a:solidFill>
                            <a:srgbClr val="444444"/>
                          </a:solidFill>
                          <a:latin typeface="Calibri"/>
                          <a:ea typeface="Calibri"/>
                          <a:cs typeface="Calibri"/>
                        </a:rPr>
                        <a:t>22,73</a:t>
                      </a:r>
                    </a:p>
                  </a:txBody>
                  <a:tcPr marL="95250" marR="95250" marT="28575" marB="28575" anchor="ctr">
                    <a:solidFill>
                      <a:srgbClr val="FFFFFF"/>
                    </a:solidFill>
                  </a:tcPr>
                </a:tc>
              </a:tr>
              <a:tr h="457200">
                <a:tc>
                  <a:txBody>
                    <a:bodyPr>
                      <a:noAutofit/>
                    </a:bodyPr>
                    <a:lstStyle/>
                    <a:p>
                      <a:pPr algn="l">
                        <a:buNone/>
                      </a:pPr>
                      <a:r>
                        <a:rPr sz="1800" b="0">
                          <a:solidFill>
                            <a:srgbClr val="444444"/>
                          </a:solidFill>
                          <a:latin typeface="Calibri"/>
                          <a:ea typeface="Calibri"/>
                          <a:cs typeface="Calibri"/>
                        </a:rPr>
                        <a:t>LSTM (Kap. 7)</a:t>
                      </a:r>
                    </a:p>
                  </a:txBody>
                  <a:tcPr marL="95250" marR="95250" marT="28575" marB="28575" anchor="ctr">
                    <a:solidFill>
                      <a:srgbClr val="FFFFFF"/>
                    </a:solidFill>
                  </a:tcPr>
                </a:tc>
                <a:tc>
                  <a:txBody>
                    <a:bodyPr>
                      <a:noAutofit/>
                    </a:bodyPr>
                    <a:lstStyle/>
                    <a:p>
                      <a:pPr algn="l">
                        <a:buNone/>
                      </a:pPr>
                      <a:r>
                        <a:rPr sz="1800" b="0">
                          <a:solidFill>
                            <a:srgbClr val="444444"/>
                          </a:solidFill>
                          <a:latin typeface="Calibri"/>
                          <a:ea typeface="Calibri"/>
                          <a:cs typeface="Calibri"/>
                        </a:rPr>
                        <a:t>Pruned, H = 90</a:t>
                      </a:r>
                    </a:p>
                  </a:txBody>
                  <a:tcPr marL="95250" marR="95250" marT="28575" marB="28575" anchor="ctr">
                    <a:solidFill>
                      <a:srgbClr val="FFFFFF"/>
                    </a:solidFill>
                  </a:tcPr>
                </a:tc>
                <a:tc>
                  <a:txBody>
                    <a:bodyPr>
                      <a:noAutofit/>
                    </a:bodyPr>
                    <a:lstStyle/>
                    <a:p>
                      <a:pPr algn="ctr">
                        <a:buNone/>
                      </a:pPr>
                      <a:r>
                        <a:rPr sz="1800" b="0">
                          <a:solidFill>
                            <a:srgbClr val="444444"/>
                          </a:solidFill>
                          <a:latin typeface="Calibri"/>
                          <a:ea typeface="Calibri"/>
                          <a:cs typeface="Calibri"/>
                        </a:rPr>
                        <a:t>1,46</a:t>
                      </a:r>
                    </a:p>
                  </a:txBody>
                  <a:tcPr marL="95250" marR="95250" marT="28575" marB="28575" anchor="ctr">
                    <a:solidFill>
                      <a:srgbClr val="FFFFFF"/>
                    </a:solidFill>
                  </a:tcPr>
                </a:tc>
                <a:tc>
                  <a:txBody>
                    <a:bodyPr>
                      <a:noAutofit/>
                    </a:bodyPr>
                    <a:lstStyle/>
                    <a:p>
                      <a:pPr algn="ctr">
                        <a:buNone/>
                      </a:pPr>
                      <a:r>
                        <a:rPr sz="1800" b="0">
                          <a:solidFill>
                            <a:srgbClr val="444444"/>
                          </a:solidFill>
                          <a:latin typeface="Calibri"/>
                          <a:ea typeface="Calibri"/>
                          <a:cs typeface="Calibri"/>
                        </a:rPr>
                        <a:t>182,41</a:t>
                      </a:r>
                    </a:p>
                  </a:txBody>
                  <a:tcPr marL="95250" marR="95250" marT="28575" marB="28575" anchor="ctr">
                    <a:solidFill>
                      <a:srgbClr val="FFFFFF"/>
                    </a:solidFill>
                  </a:tcPr>
                </a:tc>
                <a:tc>
                  <a:txBody>
                    <a:bodyPr>
                      <a:noAutofit/>
                    </a:bodyPr>
                    <a:lstStyle/>
                    <a:p>
                      <a:pPr algn="ctr">
                        <a:buNone/>
                      </a:pPr>
                      <a:r>
                        <a:rPr sz="1800" b="0">
                          <a:solidFill>
                            <a:srgbClr val="444444"/>
                          </a:solidFill>
                          <a:latin typeface="Calibri"/>
                          <a:ea typeface="Calibri"/>
                          <a:cs typeface="Calibri"/>
                        </a:rPr>
                        <a:t>6,96</a:t>
                      </a:r>
                    </a:p>
                  </a:txBody>
                  <a:tcPr marL="95250" marR="95250" marT="28575" marB="28575" anchor="ctr">
                    <a:solidFill>
                      <a:srgbClr val="FFFFFF"/>
                    </a:solidFill>
                  </a:tcPr>
                </a:tc>
                <a:tc>
                  <a:txBody>
                    <a:bodyPr>
                      <a:noAutofit/>
                    </a:bodyPr>
                    <a:lstStyle/>
                    <a:p>
                      <a:pPr algn="ctr">
                        <a:buNone/>
                      </a:pPr>
                      <a:r>
                        <a:rPr sz="1800" b="0">
                          <a:solidFill>
                            <a:srgbClr val="444444"/>
                          </a:solidFill>
                          <a:latin typeface="Calibri"/>
                          <a:ea typeface="Calibri"/>
                          <a:cs typeface="Calibri"/>
                        </a:rPr>
                        <a:t>12,72</a:t>
                      </a:r>
                    </a:p>
                  </a:txBody>
                  <a:tcPr marL="95250" marR="95250" marT="28575" marB="28575" anchor="ctr">
                    <a:solidFill>
                      <a:srgbClr val="FFFFFF"/>
                    </a:solidFill>
                  </a:tcPr>
                </a:tc>
              </a:tr>
              <a:tr h="457200">
                <a:tc>
                  <a:txBody>
                    <a:bodyPr>
                      <a:noAutofit/>
                    </a:bodyPr>
                    <a:lstStyle/>
                    <a:p>
                      <a:pPr algn="l">
                        <a:buNone/>
                      </a:pPr>
                      <a:r>
                        <a:rPr sz="1800" b="0">
                          <a:solidFill>
                            <a:srgbClr val="444444"/>
                          </a:solidFill>
                          <a:latin typeface="Calibri"/>
                          <a:ea typeface="Calibri"/>
                          <a:cs typeface="Calibri"/>
                        </a:rPr>
                        <a:t>LSTM (Kap. 7)</a:t>
                      </a:r>
                    </a:p>
                  </a:txBody>
                  <a:tcPr marL="95250" marR="95250" marT="28575" marB="28575" anchor="ctr">
                    <a:solidFill>
                      <a:srgbClr val="FFFFFF"/>
                    </a:solidFill>
                  </a:tcPr>
                </a:tc>
                <a:tc>
                  <a:txBody>
                    <a:bodyPr>
                      <a:noAutofit/>
                    </a:bodyPr>
                    <a:lstStyle/>
                    <a:p>
                      <a:pPr algn="l">
                        <a:buNone/>
                      </a:pPr>
                      <a:r>
                        <a:rPr sz="1800" b="0">
                          <a:solidFill>
                            <a:srgbClr val="444444"/>
                          </a:solidFill>
                          <a:latin typeface="Calibri"/>
                          <a:ea typeface="Calibri"/>
                          <a:cs typeface="Calibri"/>
                        </a:rPr>
                        <a:t>Quantized, H = 128</a:t>
                      </a:r>
                    </a:p>
                  </a:txBody>
                  <a:tcPr marL="95250" marR="95250" marT="28575" marB="28575" anchor="ctr">
                    <a:solidFill>
                      <a:srgbClr val="FFFFFF"/>
                    </a:solidFill>
                  </a:tcPr>
                </a:tc>
                <a:tc>
                  <a:txBody>
                    <a:bodyPr>
                      <a:noAutofit/>
                    </a:bodyPr>
                    <a:lstStyle/>
                    <a:p>
                      <a:pPr algn="ctr">
                        <a:buNone/>
                      </a:pPr>
                      <a:r>
                        <a:rPr sz="1800" b="0">
                          <a:solidFill>
                            <a:srgbClr val="444444"/>
                          </a:solidFill>
                          <a:latin typeface="Calibri"/>
                          <a:ea typeface="Calibri"/>
                          <a:cs typeface="Calibri"/>
                        </a:rPr>
                        <a:t>1,41</a:t>
                      </a:r>
                    </a:p>
                  </a:txBody>
                  <a:tcPr marL="95250" marR="95250" marT="28575" marB="28575" anchor="ctr">
                    <a:solidFill>
                      <a:srgbClr val="FFFFFF"/>
                    </a:solidFill>
                  </a:tcPr>
                </a:tc>
                <a:tc>
                  <a:txBody>
                    <a:bodyPr>
                      <a:noAutofit/>
                    </a:bodyPr>
                    <a:lstStyle/>
                    <a:p>
                      <a:pPr algn="ctr">
                        <a:buNone/>
                      </a:pPr>
                      <a:r>
                        <a:rPr sz="1800" b="0">
                          <a:solidFill>
                            <a:srgbClr val="444444"/>
                          </a:solidFill>
                          <a:latin typeface="Calibri"/>
                          <a:ea typeface="Calibri"/>
                          <a:cs typeface="Calibri"/>
                        </a:rPr>
                        <a:t>138,00</a:t>
                      </a:r>
                    </a:p>
                  </a:txBody>
                  <a:tcPr marL="95250" marR="95250" marT="28575" marB="28575" anchor="ctr">
                    <a:solidFill>
                      <a:srgbClr val="FFFFFF"/>
                    </a:solidFill>
                  </a:tcPr>
                </a:tc>
                <a:tc>
                  <a:txBody>
                    <a:bodyPr>
                      <a:noAutofit/>
                    </a:bodyPr>
                    <a:lstStyle/>
                    <a:p>
                      <a:pPr algn="ctr">
                        <a:buNone/>
                      </a:pPr>
                      <a:r>
                        <a:rPr sz="1800" b="0">
                          <a:solidFill>
                            <a:srgbClr val="444444"/>
                          </a:solidFill>
                          <a:latin typeface="Calibri"/>
                          <a:ea typeface="Calibri"/>
                          <a:cs typeface="Calibri"/>
                        </a:rPr>
                        <a:t>6,70</a:t>
                      </a:r>
                    </a:p>
                  </a:txBody>
                  <a:tcPr marL="95250" marR="95250" marT="28575" marB="28575" anchor="ctr">
                    <a:solidFill>
                      <a:srgbClr val="FFFFFF"/>
                    </a:solidFill>
                  </a:tcPr>
                </a:tc>
                <a:tc>
                  <a:txBody>
                    <a:bodyPr>
                      <a:noAutofit/>
                    </a:bodyPr>
                    <a:lstStyle/>
                    <a:p>
                      <a:pPr algn="ctr">
                        <a:buNone/>
                      </a:pPr>
                      <a:r>
                        <a:rPr sz="1800" b="0">
                          <a:solidFill>
                            <a:srgbClr val="444444"/>
                          </a:solidFill>
                          <a:latin typeface="Calibri"/>
                          <a:ea typeface="Calibri"/>
                          <a:cs typeface="Calibri"/>
                        </a:rPr>
                        <a:t>29,21</a:t>
                      </a:r>
                    </a:p>
                  </a:txBody>
                  <a:tcPr marL="95250" marR="95250" marT="28575" marB="28575" anchor="ctr">
                    <a:solidFill>
                      <a:srgbClr val="FFFFFF"/>
                    </a:solidFill>
                  </a:tcPr>
                </a:tc>
              </a:tr>
            </a:tbl>
          </a:graphicData>
        </a:graphic>
      </p:graphicFrame>
      <p:sp>
        <p:nvSpPr>
          <p:cNvPr id="45" name="MS_units">
            <a:extLst xmlns:a="http://schemas.openxmlformats.org/drawingml/2006/main">
              <a:ext uri="{FF2B5EF4-FFF2-40B4-BE49-F238E27FC236}">
                <a16:creationId xmlns:a16="http://schemas.microsoft.com/office/drawing/2014/main" id="{17C46570-A290-438D-8975-2AC8A13A24EE}"/>
              </a:ext>
            </a:extLst>
          </p:cNvPr>
          <p:cNvSpPr>
            <a:spLocks xmlns:a="http://schemas.openxmlformats.org/drawingml/2006/main" noGrp="1"/>
          </p:cNvSpPr>
          <p:nvPr/>
        </p:nvSpPr>
        <p:spPr>
          <a:xfrm xmlns:a="http://schemas.openxmlformats.org/drawingml/2006/main">
            <a:off x="552450" y="5372100"/>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pp = Prozentpunkte. Kap. 7: MAE nach kausaler Filterung.</a:t>
            </a:r>
          </a:p>
        </p:txBody>
      </p:sp>
      <p:sp>
        <p:nvSpPr>
          <p:cNvPr id="46" name="MS_comparison">
            <a:extLst xmlns:a="http://schemas.openxmlformats.org/drawingml/2006/main">
              <a:ext uri="{FF2B5EF4-FFF2-40B4-BE49-F238E27FC236}">
                <a16:creationId xmlns:a16="http://schemas.microsoft.com/office/drawing/2014/main" id="{5FA9BE96-83DC-436A-BF05-A6525EA5E7C9}"/>
              </a:ext>
            </a:extLst>
          </p:cNvPr>
          <p:cNvSpPr>
            <a:spLocks xmlns:a="http://schemas.openxmlformats.org/drawingml/2006/main" noGrp="1"/>
          </p:cNvSpPr>
          <p:nvPr/>
        </p:nvSpPr>
        <p:spPr>
          <a:xfrm xmlns:a="http://schemas.openxmlformats.org/drawingml/2006/main">
            <a:off x="552450" y="5705475"/>
            <a:ext cx="939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Unterschiedliche Datensätze und Auswertung: kein direkter Architekturvergleich</a:t>
            </a:r>
          </a:p>
        </p:txBody>
      </p:sp>
    </p:spTree>
    <p:extLst>
      <p:ext uri="{BB962C8B-B14F-4D97-AF65-F5344CB8AC3E}">
        <p14:creationId xmlns:p14="http://schemas.microsoft.com/office/powerpoint/2010/main" val="195099688"/>
      </p:ext>
    </p:extLst>
  </p:cSld>
</p:sld>
</file>

<file path=ppt/slides/slide58.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lIns="0" tIns="0" rIns="0" bIns="0" anchor="t">
            <a:noAutofit/>
          </a:bodyPr>
          <a:lstStyle xmlns:a="http://schemas.openxmlformats.org/drawingml/2006/main"/>
          <a:p xmlns:a="http://schemas.openxmlformats.org/drawingml/2006/main">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Anhang: Host-Latenz und Kernelzeit</a:t>
            </a:r>
          </a: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Anhang 14</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sp>
        <p:nvSpPr>
          <p:cNvPr id="15" name="Structure separator">
            <a:extLst xmlns:a="http://schemas.openxmlformats.org/drawingml/2006/main">
              <a:ext uri="{FF2B5EF4-FFF2-40B4-BE49-F238E27FC236}">
                <a16:creationId xmlns:a16="http://schemas.microsoft.com/office/drawing/2014/main" id="{01829133-D6FE-4D28-951B-A5D37E551BBF}"/>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16" name="Structure label">
            <a:extLst xmlns:a="http://schemas.openxmlformats.org/drawingml/2006/main">
              <a:ext uri="{FF2B5EF4-FFF2-40B4-BE49-F238E27FC236}">
                <a16:creationId xmlns:a16="http://schemas.microsoft.com/office/drawing/2014/main" id="{B9B498A6-C283-48A2-9DE7-598EAB1DC61B}"/>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xmlns:a="http://schemas.openxmlformats.org/drawingml/2006/main">
              <a:ext uri="{FF2B5EF4-FFF2-40B4-BE49-F238E27FC236}">
                <a16:creationId xmlns:a16="http://schemas.microsoft.com/office/drawing/2014/main" id="{E88A03A2-F1E1-49B6-9CF5-2AEBF0E5DD20}"/>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xmlns:a="http://schemas.openxmlformats.org/drawingml/2006/main">
              <a:ext uri="{FF2B5EF4-FFF2-40B4-BE49-F238E27FC236}">
                <a16:creationId xmlns:a16="http://schemas.microsoft.com/office/drawing/2014/main" id="{8C49075D-1FAF-4A32-9EFC-03D612D51349}"/>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xmlns:a="http://schemas.openxmlformats.org/drawingml/2006/main">
              <a:ext uri="{FF2B5EF4-FFF2-40B4-BE49-F238E27FC236}">
                <a16:creationId xmlns:a16="http://schemas.microsoft.com/office/drawing/2014/main" id="{08E14E1C-2FE6-447E-AA47-A0A248CB791F}"/>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xmlns:a="http://schemas.openxmlformats.org/drawingml/2006/main">
              <a:ext uri="{FF2B5EF4-FFF2-40B4-BE49-F238E27FC236}">
                <a16:creationId xmlns:a16="http://schemas.microsoft.com/office/drawing/2014/main" id="{8AD65587-F191-493E-AA9F-493E1A82E5B3}"/>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xmlns:a="http://schemas.openxmlformats.org/drawingml/2006/main">
              <a:ext uri="{FF2B5EF4-FFF2-40B4-BE49-F238E27FC236}">
                <a16:creationId xmlns:a16="http://schemas.microsoft.com/office/drawing/2014/main" id="{3B2F4D78-1577-40C9-A434-7B37B327AD37}"/>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2" name="Structure 5">
            <a:extLst xmlns:a="http://schemas.openxmlformats.org/drawingml/2006/main">
              <a:ext uri="{FF2B5EF4-FFF2-40B4-BE49-F238E27FC236}">
                <a16:creationId xmlns:a16="http://schemas.microsoft.com/office/drawing/2014/main" id="{758A4926-DDD0-4BBD-BFDE-459EE60C1963}"/>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graphicFrame>
        <p:nvGraphicFramePr>
          <p:cNvPr id="26" name=""/>
          <p:cNvGraphicFramePr/>
          <p:nvPr/>
        </p:nvGraphicFramePr>
        <p:xfrm>
          <a:off xmlns:a="http://schemas.openxmlformats.org/drawingml/2006/main" x="552450" y="1476375"/>
          <a:ext xmlns:a="http://schemas.openxmlformats.org/drawingml/2006/main" cx="9391650" cy="3086100"/>
        </p:xfrm>
        <a:graphic xmlns:a="http://schemas.openxmlformats.org/drawingml/2006/main">
          <a:graphicData uri="http://schemas.openxmlformats.org/drawingml/2006/table">
            <a:tbl>
              <a:tblPr firstRow="0" firstCol="0" lastRow="0" lastCol="0" bandRow="0" bandCol="0"/>
              <a:tblGrid>
                <a:gridCol w="2571750"/>
                <a:gridCol w="1381125"/>
                <a:gridCol w="1381125"/>
                <a:gridCol w="1619250"/>
                <a:gridCol w="2438400"/>
              </a:tblGrid>
              <a:tr h="571500">
                <a:tc>
                  <a:txBody>
                    <a:bodyPr>
                      <a:noAutofit/>
                    </a:bodyPr>
                    <a:lstStyle/>
                    <a:p>
                      <a:r>
                        <a:rPr sz="1800" b="1">
                          <a:solidFill>
                            <a:srgbClr val="444444"/>
                          </a:solidFill>
                          <a:latin typeface="Calibri"/>
                          <a:ea typeface="Calibri"/>
                          <a:cs typeface="Calibri"/>
                        </a:rPr>
                        <a:t/>
                      </a:r>
                    </a:p>
                  </a:txBody>
                  <a:tcPr marL="114300" marR="114300" marT="28575" marB="28575" anchor="ctr">
                    <a:solidFill>
                      <a:srgbClr val="FFFFFF"/>
                    </a:solidFill>
                  </a:tcPr>
                </a:tc>
                <a:tc>
                  <a:txBody>
                    <a:bodyPr>
                      <a:noAutofit/>
                    </a:bodyPr>
                    <a:lstStyle/>
                    <a:p>
                      <a:pPr algn="ctr">
                        <a:buNone/>
                      </a:pPr>
                      <a:r>
                        <a:rPr sz="1800" b="1">
                          <a:solidFill>
                            <a:srgbClr val="444444"/>
                          </a:solidFill>
                          <a:latin typeface="Calibri"/>
                          <a:ea typeface="Calibri"/>
                          <a:cs typeface="Calibri"/>
                        </a:rPr>
                        <a:t>Base</a:t>
                      </a:r>
                    </a:p>
                    <a:p>
                      <a:pPr algn="ctr">
                        <a:buNone/>
                      </a:pPr>
                      <a:r>
                        <a:rPr sz="1800" b="1">
                          <a:solidFill>
                            <a:srgbClr val="444444"/>
                          </a:solidFill>
                          <a:latin typeface="Calibri"/>
                          <a:ea typeface="Calibri"/>
                          <a:cs typeface="Calibri"/>
                        </a:rPr>
                        <a:t>[ms]</a:t>
                      </a:r>
                    </a:p>
                  </a:txBody>
                  <a:tcPr marL="114300" marR="114300" marT="28575" marB="28575" anchor="ctr">
                    <a:solidFill>
                      <a:srgbClr val="FFFFFF"/>
                    </a:solidFill>
                  </a:tcPr>
                </a:tc>
                <a:tc>
                  <a:txBody>
                    <a:bodyPr>
                      <a:noAutofit/>
                    </a:bodyPr>
                    <a:lstStyle/>
                    <a:p>
                      <a:pPr algn="ctr">
                        <a:buNone/>
                      </a:pPr>
                      <a:r>
                        <a:rPr sz="1800" b="1">
                          <a:solidFill>
                            <a:srgbClr val="444444"/>
                          </a:solidFill>
                          <a:latin typeface="Calibri"/>
                          <a:ea typeface="Calibri"/>
                          <a:cs typeface="Calibri"/>
                        </a:rPr>
                        <a:t>Pruned</a:t>
                      </a:r>
                    </a:p>
                    <a:p>
                      <a:pPr algn="ctr">
                        <a:buNone/>
                      </a:pPr>
                      <a:r>
                        <a:rPr sz="1800" b="1">
                          <a:solidFill>
                            <a:srgbClr val="444444"/>
                          </a:solidFill>
                          <a:latin typeface="Calibri"/>
                          <a:ea typeface="Calibri"/>
                          <a:cs typeface="Calibri"/>
                        </a:rPr>
                        <a:t>[ms]</a:t>
                      </a:r>
                    </a:p>
                  </a:txBody>
                  <a:tcPr marL="114300" marR="114300" marT="28575" marB="28575" anchor="ctr">
                    <a:solidFill>
                      <a:srgbClr val="FFFFFF"/>
                    </a:solidFill>
                  </a:tcPr>
                </a:tc>
                <a:tc>
                  <a:txBody>
                    <a:bodyPr>
                      <a:noAutofit/>
                    </a:bodyPr>
                    <a:lstStyle/>
                    <a:p>
                      <a:pPr algn="ctr">
                        <a:buNone/>
                      </a:pPr>
                      <a:r>
                        <a:rPr sz="1800" b="1">
                          <a:solidFill>
                            <a:srgbClr val="444444"/>
                          </a:solidFill>
                          <a:latin typeface="Calibri"/>
                          <a:ea typeface="Calibri"/>
                          <a:cs typeface="Calibri"/>
                        </a:rPr>
                        <a:t>Quantized</a:t>
                      </a:r>
                    </a:p>
                    <a:p>
                      <a:pPr algn="ctr">
                        <a:buNone/>
                      </a:pPr>
                      <a:r>
                        <a:rPr sz="1800" b="1">
                          <a:solidFill>
                            <a:srgbClr val="444444"/>
                          </a:solidFill>
                          <a:latin typeface="Calibri"/>
                          <a:ea typeface="Calibri"/>
                          <a:cs typeface="Calibri"/>
                        </a:rPr>
                        <a:t>[ms]</a:t>
                      </a:r>
                    </a:p>
                  </a:txBody>
                  <a:tcPr marL="114300" marR="114300" marT="28575" marB="28575" anchor="ctr">
                    <a:solidFill>
                      <a:srgbClr val="FFFFFF"/>
                    </a:solidFill>
                  </a:tcPr>
                </a:tc>
                <a:tc>
                  <a:txBody>
                    <a:bodyPr>
                      <a:noAutofit/>
                    </a:bodyPr>
                    <a:lstStyle/>
                    <a:p>
                      <a:pPr algn="ctr">
                        <a:buNone/>
                      </a:pPr>
                      <a:r>
                        <a:rPr sz="1800" b="1">
                          <a:solidFill>
                            <a:srgbClr val="444444"/>
                          </a:solidFill>
                          <a:latin typeface="Calibri"/>
                          <a:ea typeface="Calibri"/>
                          <a:cs typeface="Calibri"/>
                        </a:rPr>
                        <a:t>Pruning:</a:t>
                      </a:r>
                    </a:p>
                    <a:p>
                      <a:pPr algn="ctr">
                        <a:buNone/>
                      </a:pPr>
                      <a:r>
                        <a:rPr sz="1800" b="1">
                          <a:solidFill>
                            <a:srgbClr val="444444"/>
                          </a:solidFill>
                          <a:latin typeface="Calibri"/>
                          <a:ea typeface="Calibri"/>
                          <a:cs typeface="Calibri"/>
                        </a:rPr>
                        <a:t>Zeitersparnis</a:t>
                      </a:r>
                    </a:p>
                  </a:txBody>
                  <a:tcPr marL="114300" marR="114300" marT="28575" marB="28575" anchor="ctr">
                    <a:solidFill>
                      <a:srgbClr val="FFFFFF"/>
                    </a:solidFill>
                  </a:tcPr>
                </a:tc>
              </a:tr>
              <a:tr h="342900">
                <a:tc gridSpan="5">
                  <a:txBody>
                    <a:bodyPr>
                      <a:noAutofit/>
                    </a:bodyPr>
                    <a:lstStyle/>
                    <a:p>
                      <a:pPr algn="l">
                        <a:buNone/>
                      </a:pPr>
                      <a:r>
                        <a:rPr sz="1800" b="1">
                          <a:solidFill>
                            <a:srgbClr val="D00020"/>
                          </a:solidFill>
                          <a:latin typeface="Calibri"/>
                          <a:ea typeface="Calibri"/>
                          <a:cs typeface="Calibri"/>
                        </a:rPr>
                        <a:t>SOC</a:t>
                      </a:r>
                    </a:p>
                  </a:txBody>
                  <a:tcPr marL="114300" marR="114300" marT="28575" marB="28575" anchor="ctr">
                    <a:solidFill>
                      <a:srgbClr val="F0F0F0"/>
                    </a:solidFill>
                  </a:tcPr>
                </a:tc>
                <a:tc hMerge="1">
                  <a:txBody>
                    <a:bodyPr>
                      <a:noAutofit/>
                    </a:bodyPr>
                    <a:lstStyle/>
                    <a:p>
                      <a:r>
                        <a:rPr sz="1800" b="1">
                          <a:solidFill>
                            <a:srgbClr val="D00020"/>
                          </a:solidFill>
                          <a:latin typeface="Calibri"/>
                          <a:ea typeface="Calibri"/>
                          <a:cs typeface="Calibri"/>
                        </a:rPr>
                        <a:t/>
                      </a:r>
                    </a:p>
                  </a:txBody>
                  <a:tcPr marL="114300" marR="114300" marT="28575" marB="28575" anchor="ctr">
                    <a:solidFill>
                      <a:srgbClr val="F0F0F0"/>
                    </a:solidFill>
                  </a:tcPr>
                </a:tc>
                <a:tc hMerge="1">
                  <a:txBody>
                    <a:bodyPr>
                      <a:noAutofit/>
                    </a:bodyPr>
                    <a:lstStyle/>
                    <a:p>
                      <a:r>
                        <a:rPr sz="1800" b="1">
                          <a:solidFill>
                            <a:srgbClr val="D00020"/>
                          </a:solidFill>
                          <a:latin typeface="Calibri"/>
                          <a:ea typeface="Calibri"/>
                          <a:cs typeface="Calibri"/>
                        </a:rPr>
                        <a:t/>
                      </a:r>
                    </a:p>
                  </a:txBody>
                  <a:tcPr marL="114300" marR="114300" marT="28575" marB="28575" anchor="ctr">
                    <a:solidFill>
                      <a:srgbClr val="F0F0F0"/>
                    </a:solidFill>
                  </a:tcPr>
                </a:tc>
                <a:tc hMerge="1">
                  <a:txBody>
                    <a:bodyPr>
                      <a:noAutofit/>
                    </a:bodyPr>
                    <a:lstStyle/>
                    <a:p>
                      <a:r>
                        <a:rPr sz="1800" b="1">
                          <a:solidFill>
                            <a:srgbClr val="D00020"/>
                          </a:solidFill>
                          <a:latin typeface="Calibri"/>
                          <a:ea typeface="Calibri"/>
                          <a:cs typeface="Calibri"/>
                        </a:rPr>
                        <a:t/>
                      </a:r>
                    </a:p>
                  </a:txBody>
                  <a:tcPr marL="114300" marR="114300" marT="28575" marB="28575" anchor="ctr">
                    <a:solidFill>
                      <a:srgbClr val="F0F0F0"/>
                    </a:solidFill>
                  </a:tcPr>
                </a:tc>
                <a:tc hMerge="1">
                  <a:txBody>
                    <a:bodyPr>
                      <a:noAutofit/>
                    </a:bodyPr>
                    <a:lstStyle/>
                    <a:p>
                      <a:r>
                        <a:rPr sz="1800" b="1">
                          <a:solidFill>
                            <a:srgbClr val="D00020"/>
                          </a:solidFill>
                          <a:latin typeface="Calibri"/>
                          <a:ea typeface="Calibri"/>
                          <a:cs typeface="Calibri"/>
                        </a:rPr>
                        <a:t/>
                      </a:r>
                    </a:p>
                  </a:txBody>
                  <a:tcPr marL="114300" marR="114300" marT="28575" marB="28575" anchor="ctr">
                    <a:solidFill>
                      <a:srgbClr val="F0F0F0"/>
                    </a:solidFill>
                  </a:tcPr>
                </a:tc>
              </a:tr>
              <a:tr h="457200">
                <a:tc>
                  <a:txBody>
                    <a:bodyPr>
                      <a:noAutofit/>
                    </a:bodyPr>
                    <a:lstStyle/>
                    <a:p>
                      <a:pPr algn="l">
                        <a:buNone/>
                      </a:pPr>
                      <a:r>
                        <a:rPr sz="1800" b="0">
                          <a:solidFill>
                            <a:srgbClr val="444444"/>
                          </a:solidFill>
                          <a:latin typeface="Calibri"/>
                          <a:ea typeface="Calibri"/>
                          <a:cs typeface="Calibri"/>
                        </a:rPr>
                        <a:t>Host-Latenz</a:t>
                      </a:r>
                    </a:p>
                  </a:txBody>
                  <a:tcPr marL="114300" marR="114300" marT="28575" marB="28575" anchor="ctr">
                    <a:solidFill>
                      <a:srgbClr val="FFFFFF"/>
                    </a:solidFill>
                  </a:tcPr>
                </a:tc>
                <a:tc>
                  <a:txBody>
                    <a:bodyPr>
                      <a:noAutofit/>
                    </a:bodyPr>
                    <a:lstStyle/>
                    <a:p>
                      <a:pPr algn="ctr">
                        <a:buNone/>
                      </a:pPr>
                      <a:r>
                        <a:rPr sz="1800" b="0">
                          <a:solidFill>
                            <a:srgbClr val="444444"/>
                          </a:solidFill>
                          <a:latin typeface="Calibri"/>
                          <a:ea typeface="Calibri"/>
                          <a:cs typeface="Calibri"/>
                        </a:rPr>
                        <a:t>12,70</a:t>
                      </a:r>
                    </a:p>
                  </a:txBody>
                  <a:tcPr marL="114300" marR="114300" marT="28575" marB="28575" anchor="ctr">
                    <a:solidFill>
                      <a:srgbClr val="FFFFFF"/>
                    </a:solidFill>
                  </a:tcPr>
                </a:tc>
                <a:tc>
                  <a:txBody>
                    <a:bodyPr>
                      <a:noAutofit/>
                    </a:bodyPr>
                    <a:lstStyle/>
                    <a:p>
                      <a:pPr algn="ctr">
                        <a:buNone/>
                      </a:pPr>
                      <a:r>
                        <a:rPr sz="1800" b="0">
                          <a:solidFill>
                            <a:srgbClr val="444444"/>
                          </a:solidFill>
                          <a:latin typeface="Calibri"/>
                          <a:ea typeface="Calibri"/>
                          <a:cs typeface="Calibri"/>
                        </a:rPr>
                        <a:t>12,20</a:t>
                      </a:r>
                    </a:p>
                  </a:txBody>
                  <a:tcPr marL="114300" marR="114300" marT="28575" marB="28575" anchor="ctr">
                    <a:solidFill>
                      <a:srgbClr val="FFFFFF"/>
                    </a:solidFill>
                  </a:tcPr>
                </a:tc>
                <a:tc>
                  <a:txBody>
                    <a:bodyPr>
                      <a:noAutofit/>
                    </a:bodyPr>
                    <a:lstStyle/>
                    <a:p>
                      <a:pPr algn="ctr">
                        <a:buNone/>
                      </a:pPr>
                      <a:r>
                        <a:rPr sz="1800" b="0">
                          <a:solidFill>
                            <a:srgbClr val="444444"/>
                          </a:solidFill>
                          <a:latin typeface="Calibri"/>
                          <a:ea typeface="Calibri"/>
                          <a:cs typeface="Calibri"/>
                        </a:rPr>
                        <a:t>18,48</a:t>
                      </a:r>
                    </a:p>
                  </a:txBody>
                  <a:tcPr marL="114300" marR="114300" marT="28575" marB="28575" anchor="ctr">
                    <a:solidFill>
                      <a:srgbClr val="FFFFFF"/>
                    </a:solidFill>
                  </a:tcPr>
                </a:tc>
                <a:tc>
                  <a:txBody>
                    <a:bodyPr>
                      <a:noAutofit/>
                    </a:bodyPr>
                    <a:lstStyle/>
                    <a:p>
                      <a:pPr algn="ctr">
                        <a:buNone/>
                      </a:pPr>
                      <a:r>
                        <a:rPr sz="1800" b="0">
                          <a:solidFill>
                            <a:srgbClr val="444444"/>
                          </a:solidFill>
                          <a:latin typeface="Calibri"/>
                          <a:ea typeface="Calibri"/>
                          <a:cs typeface="Calibri"/>
                        </a:rPr>
                        <a:t>3,9 %</a:t>
                      </a:r>
                    </a:p>
                  </a:txBody>
                  <a:tcPr marL="114300" marR="114300" marT="28575" marB="28575" anchor="ctr">
                    <a:solidFill>
                      <a:srgbClr val="FFFFFF"/>
                    </a:solidFill>
                  </a:tcPr>
                </a:tc>
              </a:tr>
              <a:tr h="457200">
                <a:tc>
                  <a:txBody>
                    <a:bodyPr>
                      <a:noAutofit/>
                    </a:bodyPr>
                    <a:lstStyle/>
                    <a:p>
                      <a:pPr algn="l">
                        <a:buNone/>
                      </a:pPr>
                      <a:r>
                        <a:rPr sz="1800" b="0">
                          <a:solidFill>
                            <a:srgbClr val="444444"/>
                          </a:solidFill>
                          <a:latin typeface="Calibri"/>
                          <a:ea typeface="Calibri"/>
                          <a:cs typeface="Calibri"/>
                        </a:rPr>
                        <a:t>Kernelzeit</a:t>
                      </a:r>
                    </a:p>
                  </a:txBody>
                  <a:tcPr marL="114300" marR="114300" marT="28575" marB="28575" anchor="ctr">
                    <a:solidFill>
                      <a:srgbClr val="FFFFFF"/>
                    </a:solidFill>
                  </a:tcPr>
                </a:tc>
                <a:tc>
                  <a:txBody>
                    <a:bodyPr>
                      <a:noAutofit/>
                    </a:bodyPr>
                    <a:lstStyle/>
                    <a:p>
                      <a:pPr algn="ctr">
                        <a:buNone/>
                      </a:pPr>
                      <a:r>
                        <a:rPr sz="1800" b="0">
                          <a:solidFill>
                            <a:srgbClr val="444444"/>
                          </a:solidFill>
                          <a:latin typeface="Calibri"/>
                          <a:ea typeface="Calibri"/>
                          <a:cs typeface="Calibri"/>
                        </a:rPr>
                        <a:t>1,40</a:t>
                      </a:r>
                    </a:p>
                  </a:txBody>
                  <a:tcPr marL="114300" marR="114300" marT="28575" marB="28575" anchor="ctr">
                    <a:solidFill>
                      <a:srgbClr val="FFFFFF"/>
                    </a:solidFill>
                  </a:tcPr>
                </a:tc>
                <a:tc>
                  <a:txBody>
                    <a:bodyPr>
                      <a:noAutofit/>
                    </a:bodyPr>
                    <a:lstStyle/>
                    <a:p>
                      <a:pPr algn="ctr">
                        <a:buNone/>
                      </a:pPr>
                      <a:r>
                        <a:rPr sz="1800" b="0">
                          <a:solidFill>
                            <a:srgbClr val="444444"/>
                          </a:solidFill>
                          <a:latin typeface="Calibri"/>
                          <a:ea typeface="Calibri"/>
                          <a:cs typeface="Calibri"/>
                        </a:rPr>
                        <a:t>0,80</a:t>
                      </a:r>
                    </a:p>
                  </a:txBody>
                  <a:tcPr marL="114300" marR="114300" marT="28575" marB="28575" anchor="ctr">
                    <a:solidFill>
                      <a:srgbClr val="FFFFFF"/>
                    </a:solidFill>
                  </a:tcPr>
                </a:tc>
                <a:tc>
                  <a:txBody>
                    <a:bodyPr>
                      <a:noAutofit/>
                    </a:bodyPr>
                    <a:lstStyle/>
                    <a:p>
                      <a:pPr algn="ctr">
                        <a:buNone/>
                      </a:pPr>
                      <a:r>
                        <a:rPr sz="1800" b="0">
                          <a:solidFill>
                            <a:srgbClr val="444444"/>
                          </a:solidFill>
                          <a:latin typeface="Calibri"/>
                          <a:ea typeface="Calibri"/>
                          <a:cs typeface="Calibri"/>
                        </a:rPr>
                        <a:t>6,99</a:t>
                      </a:r>
                    </a:p>
                  </a:txBody>
                  <a:tcPr marL="114300" marR="114300" marT="28575" marB="28575" anchor="ctr">
                    <a:solidFill>
                      <a:srgbClr val="FFFFFF"/>
                    </a:solidFill>
                  </a:tcPr>
                </a:tc>
                <a:tc>
                  <a:txBody>
                    <a:bodyPr>
                      <a:noAutofit/>
                    </a:bodyPr>
                    <a:lstStyle/>
                    <a:p>
                      <a:pPr algn="ctr">
                        <a:buNone/>
                      </a:pPr>
                      <a:r>
                        <a:rPr sz="1800" b="0">
                          <a:solidFill>
                            <a:srgbClr val="444444"/>
                          </a:solidFill>
                          <a:latin typeface="Calibri"/>
                          <a:ea typeface="Calibri"/>
                          <a:cs typeface="Calibri"/>
                        </a:rPr>
                        <a:t>42,9 %</a:t>
                      </a:r>
                    </a:p>
                  </a:txBody>
                  <a:tcPr marL="114300" marR="114300" marT="28575" marB="28575" anchor="ctr">
                    <a:solidFill>
                      <a:srgbClr val="FFFFFF"/>
                    </a:solidFill>
                  </a:tcPr>
                </a:tc>
              </a:tr>
              <a:tr h="342900">
                <a:tc gridSpan="5">
                  <a:txBody>
                    <a:bodyPr>
                      <a:noAutofit/>
                    </a:bodyPr>
                    <a:lstStyle/>
                    <a:p>
                      <a:pPr algn="l">
                        <a:buNone/>
                      </a:pPr>
                      <a:r>
                        <a:rPr sz="1800" b="1">
                          <a:solidFill>
                            <a:srgbClr val="D00020"/>
                          </a:solidFill>
                          <a:latin typeface="Calibri"/>
                          <a:ea typeface="Calibri"/>
                          <a:cs typeface="Calibri"/>
                        </a:rPr>
                        <a:t>SOH</a:t>
                      </a:r>
                    </a:p>
                  </a:txBody>
                  <a:tcPr marL="114300" marR="114300" marT="28575" marB="28575" anchor="ctr">
                    <a:solidFill>
                      <a:srgbClr val="F0F0F0"/>
                    </a:solidFill>
                  </a:tcPr>
                </a:tc>
                <a:tc hMerge="1">
                  <a:txBody>
                    <a:bodyPr>
                      <a:noAutofit/>
                    </a:bodyPr>
                    <a:lstStyle/>
                    <a:p>
                      <a:r>
                        <a:rPr sz="1800" b="1">
                          <a:solidFill>
                            <a:srgbClr val="D00020"/>
                          </a:solidFill>
                          <a:latin typeface="Calibri"/>
                          <a:ea typeface="Calibri"/>
                          <a:cs typeface="Calibri"/>
                        </a:rPr>
                        <a:t/>
                      </a:r>
                    </a:p>
                  </a:txBody>
                  <a:tcPr marL="114300" marR="114300" marT="28575" marB="28575" anchor="ctr">
                    <a:solidFill>
                      <a:srgbClr val="F0F0F0"/>
                    </a:solidFill>
                  </a:tcPr>
                </a:tc>
                <a:tc hMerge="1">
                  <a:txBody>
                    <a:bodyPr>
                      <a:noAutofit/>
                    </a:bodyPr>
                    <a:lstStyle/>
                    <a:p>
                      <a:r>
                        <a:rPr sz="1800" b="1">
                          <a:solidFill>
                            <a:srgbClr val="D00020"/>
                          </a:solidFill>
                          <a:latin typeface="Calibri"/>
                          <a:ea typeface="Calibri"/>
                          <a:cs typeface="Calibri"/>
                        </a:rPr>
                        <a:t/>
                      </a:r>
                    </a:p>
                  </a:txBody>
                  <a:tcPr marL="114300" marR="114300" marT="28575" marB="28575" anchor="ctr">
                    <a:solidFill>
                      <a:srgbClr val="F0F0F0"/>
                    </a:solidFill>
                  </a:tcPr>
                </a:tc>
                <a:tc hMerge="1">
                  <a:txBody>
                    <a:bodyPr>
                      <a:noAutofit/>
                    </a:bodyPr>
                    <a:lstStyle/>
                    <a:p>
                      <a:r>
                        <a:rPr sz="1800" b="1">
                          <a:solidFill>
                            <a:srgbClr val="D00020"/>
                          </a:solidFill>
                          <a:latin typeface="Calibri"/>
                          <a:ea typeface="Calibri"/>
                          <a:cs typeface="Calibri"/>
                        </a:rPr>
                        <a:t/>
                      </a:r>
                    </a:p>
                  </a:txBody>
                  <a:tcPr marL="114300" marR="114300" marT="28575" marB="28575" anchor="ctr">
                    <a:solidFill>
                      <a:srgbClr val="F0F0F0"/>
                    </a:solidFill>
                  </a:tcPr>
                </a:tc>
                <a:tc hMerge="1">
                  <a:txBody>
                    <a:bodyPr>
                      <a:noAutofit/>
                    </a:bodyPr>
                    <a:lstStyle/>
                    <a:p>
                      <a:r>
                        <a:rPr sz="1800" b="1">
                          <a:solidFill>
                            <a:srgbClr val="D00020"/>
                          </a:solidFill>
                          <a:latin typeface="Calibri"/>
                          <a:ea typeface="Calibri"/>
                          <a:cs typeface="Calibri"/>
                        </a:rPr>
                        <a:t/>
                      </a:r>
                    </a:p>
                  </a:txBody>
                  <a:tcPr marL="114300" marR="114300" marT="28575" marB="28575" anchor="ctr">
                    <a:solidFill>
                      <a:srgbClr val="F0F0F0"/>
                    </a:solidFill>
                  </a:tcPr>
                </a:tc>
              </a:tr>
              <a:tr h="457200">
                <a:tc>
                  <a:txBody>
                    <a:bodyPr>
                      <a:noAutofit/>
                    </a:bodyPr>
                    <a:lstStyle/>
                    <a:p>
                      <a:pPr algn="l">
                        <a:buNone/>
                      </a:pPr>
                      <a:r>
                        <a:rPr sz="1800" b="0">
                          <a:solidFill>
                            <a:srgbClr val="444444"/>
                          </a:solidFill>
                          <a:latin typeface="Calibri"/>
                          <a:ea typeface="Calibri"/>
                          <a:cs typeface="Calibri"/>
                        </a:rPr>
                        <a:t>Host-Latenz</a:t>
                      </a:r>
                    </a:p>
                  </a:txBody>
                  <a:tcPr marL="114300" marR="114300" marT="28575" marB="28575" anchor="ctr">
                    <a:solidFill>
                      <a:srgbClr val="FFFFFF"/>
                    </a:solidFill>
                  </a:tcPr>
                </a:tc>
                <a:tc>
                  <a:txBody>
                    <a:bodyPr>
                      <a:noAutofit/>
                    </a:bodyPr>
                    <a:lstStyle/>
                    <a:p>
                      <a:pPr algn="ctr">
                        <a:buNone/>
                      </a:pPr>
                      <a:r>
                        <a:rPr sz="1800" b="0">
                          <a:solidFill>
                            <a:srgbClr val="444444"/>
                          </a:solidFill>
                          <a:latin typeface="Calibri"/>
                          <a:ea typeface="Calibri"/>
                          <a:cs typeface="Calibri"/>
                        </a:rPr>
                        <a:t>34,88</a:t>
                      </a:r>
                    </a:p>
                  </a:txBody>
                  <a:tcPr marL="114300" marR="114300" marT="28575" marB="28575" anchor="ctr">
                    <a:solidFill>
                      <a:srgbClr val="FFFFFF"/>
                    </a:solidFill>
                  </a:tcPr>
                </a:tc>
                <a:tc>
                  <a:txBody>
                    <a:bodyPr>
                      <a:noAutofit/>
                    </a:bodyPr>
                    <a:lstStyle/>
                    <a:p>
                      <a:pPr algn="ctr">
                        <a:buNone/>
                      </a:pPr>
                      <a:r>
                        <a:rPr sz="1800" b="0">
                          <a:solidFill>
                            <a:srgbClr val="444444"/>
                          </a:solidFill>
                          <a:latin typeface="Calibri"/>
                          <a:ea typeface="Calibri"/>
                          <a:cs typeface="Calibri"/>
                        </a:rPr>
                        <a:t>24,69</a:t>
                      </a:r>
                    </a:p>
                  </a:txBody>
                  <a:tcPr marL="114300" marR="114300" marT="28575" marB="28575" anchor="ctr">
                    <a:solidFill>
                      <a:srgbClr val="FFFFFF"/>
                    </a:solidFill>
                  </a:tcPr>
                </a:tc>
                <a:tc>
                  <a:txBody>
                    <a:bodyPr>
                      <a:noAutofit/>
                    </a:bodyPr>
                    <a:lstStyle/>
                    <a:p>
                      <a:pPr algn="ctr">
                        <a:buNone/>
                      </a:pPr>
                      <a:r>
                        <a:rPr sz="1800" b="0">
                          <a:solidFill>
                            <a:srgbClr val="444444"/>
                          </a:solidFill>
                          <a:latin typeface="Calibri"/>
                          <a:ea typeface="Calibri"/>
                          <a:cs typeface="Calibri"/>
                        </a:rPr>
                        <a:t>41,23</a:t>
                      </a:r>
                    </a:p>
                  </a:txBody>
                  <a:tcPr marL="114300" marR="114300" marT="28575" marB="28575" anchor="ctr">
                    <a:solidFill>
                      <a:srgbClr val="FFFFFF"/>
                    </a:solidFill>
                  </a:tcPr>
                </a:tc>
                <a:tc>
                  <a:txBody>
                    <a:bodyPr>
                      <a:noAutofit/>
                    </a:bodyPr>
                    <a:lstStyle/>
                    <a:p>
                      <a:pPr algn="ctr">
                        <a:buNone/>
                      </a:pPr>
                      <a:r>
                        <a:rPr sz="1800" b="0">
                          <a:solidFill>
                            <a:srgbClr val="444444"/>
                          </a:solidFill>
                          <a:latin typeface="Calibri"/>
                          <a:ea typeface="Calibri"/>
                          <a:cs typeface="Calibri"/>
                        </a:rPr>
                        <a:t>29,2 %</a:t>
                      </a:r>
                    </a:p>
                  </a:txBody>
                  <a:tcPr marL="114300" marR="114300" marT="28575" marB="28575" anchor="ctr">
                    <a:solidFill>
                      <a:srgbClr val="FFFFFF"/>
                    </a:solidFill>
                  </a:tcPr>
                </a:tc>
              </a:tr>
              <a:tr h="457200">
                <a:tc>
                  <a:txBody>
                    <a:bodyPr>
                      <a:noAutofit/>
                    </a:bodyPr>
                    <a:lstStyle/>
                    <a:p>
                      <a:pPr algn="l">
                        <a:buNone/>
                      </a:pPr>
                      <a:r>
                        <a:rPr sz="1800" b="0">
                          <a:solidFill>
                            <a:srgbClr val="444444"/>
                          </a:solidFill>
                          <a:latin typeface="Calibri"/>
                          <a:ea typeface="Calibri"/>
                          <a:cs typeface="Calibri"/>
                        </a:rPr>
                        <a:t>Kernelzeit</a:t>
                      </a:r>
                    </a:p>
                  </a:txBody>
                  <a:tcPr marL="114300" marR="114300" marT="28575" marB="28575" anchor="ctr">
                    <a:solidFill>
                      <a:srgbClr val="FFFFFF"/>
                    </a:solidFill>
                  </a:tcPr>
                </a:tc>
                <a:tc>
                  <a:txBody>
                    <a:bodyPr>
                      <a:noAutofit/>
                    </a:bodyPr>
                    <a:lstStyle/>
                    <a:p>
                      <a:pPr algn="ctr">
                        <a:buNone/>
                      </a:pPr>
                      <a:r>
                        <a:rPr sz="1800" b="0">
                          <a:solidFill>
                            <a:srgbClr val="444444"/>
                          </a:solidFill>
                          <a:latin typeface="Calibri"/>
                          <a:ea typeface="Calibri"/>
                          <a:cs typeface="Calibri"/>
                        </a:rPr>
                        <a:t>22,73</a:t>
                      </a:r>
                    </a:p>
                  </a:txBody>
                  <a:tcPr marL="114300" marR="114300" marT="28575" marB="28575" anchor="ctr">
                    <a:solidFill>
                      <a:srgbClr val="FFFFFF"/>
                    </a:solidFill>
                  </a:tcPr>
                </a:tc>
                <a:tc>
                  <a:txBody>
                    <a:bodyPr>
                      <a:noAutofit/>
                    </a:bodyPr>
                    <a:lstStyle/>
                    <a:p>
                      <a:pPr algn="ctr">
                        <a:buNone/>
                      </a:pPr>
                      <a:r>
                        <a:rPr sz="1800" b="0">
                          <a:solidFill>
                            <a:srgbClr val="444444"/>
                          </a:solidFill>
                          <a:latin typeface="Calibri"/>
                          <a:ea typeface="Calibri"/>
                          <a:cs typeface="Calibri"/>
                        </a:rPr>
                        <a:t>12,72</a:t>
                      </a:r>
                    </a:p>
                  </a:txBody>
                  <a:tcPr marL="114300" marR="114300" marT="28575" marB="28575" anchor="ctr">
                    <a:solidFill>
                      <a:srgbClr val="FFFFFF"/>
                    </a:solidFill>
                  </a:tcPr>
                </a:tc>
                <a:tc>
                  <a:txBody>
                    <a:bodyPr>
                      <a:noAutofit/>
                    </a:bodyPr>
                    <a:lstStyle/>
                    <a:p>
                      <a:pPr algn="ctr">
                        <a:buNone/>
                      </a:pPr>
                      <a:r>
                        <a:rPr sz="1800" b="0">
                          <a:solidFill>
                            <a:srgbClr val="444444"/>
                          </a:solidFill>
                          <a:latin typeface="Calibri"/>
                          <a:ea typeface="Calibri"/>
                          <a:cs typeface="Calibri"/>
                        </a:rPr>
                        <a:t>29,21</a:t>
                      </a:r>
                    </a:p>
                  </a:txBody>
                  <a:tcPr marL="114300" marR="114300" marT="28575" marB="28575" anchor="ctr">
                    <a:solidFill>
                      <a:srgbClr val="FFFFFF"/>
                    </a:solidFill>
                  </a:tcPr>
                </a:tc>
                <a:tc>
                  <a:txBody>
                    <a:bodyPr>
                      <a:noAutofit/>
                    </a:bodyPr>
                    <a:lstStyle/>
                    <a:p>
                      <a:pPr algn="ctr">
                        <a:buNone/>
                      </a:pPr>
                      <a:r>
                        <a:rPr sz="1800" b="0">
                          <a:solidFill>
                            <a:srgbClr val="444444"/>
                          </a:solidFill>
                          <a:latin typeface="Calibri"/>
                          <a:ea typeface="Calibri"/>
                          <a:cs typeface="Calibri"/>
                        </a:rPr>
                        <a:t>44,0 %</a:t>
                      </a:r>
                    </a:p>
                  </a:txBody>
                  <a:tcPr marL="114300" marR="114300" marT="28575" marB="28575" anchor="ctr">
                    <a:solidFill>
                      <a:srgbClr val="FFFFFF"/>
                    </a:solidFill>
                  </a:tcPr>
                </a:tc>
              </a:tr>
            </a:tbl>
          </a:graphicData>
        </a:graphic>
      </p:graphicFrame>
      <p:sp>
        <p:nvSpPr>
          <p:cNvPr id="27" name="LT_kernel_definition">
            <a:extLst xmlns:a="http://schemas.openxmlformats.org/drawingml/2006/main">
              <a:ext uri="{FF2B5EF4-FFF2-40B4-BE49-F238E27FC236}">
                <a16:creationId xmlns:a16="http://schemas.microsoft.com/office/drawing/2014/main" id="{2B8C445C-0E71-40AD-8173-A1F2E9CD08BF}"/>
              </a:ext>
            </a:extLst>
          </p:cNvPr>
          <p:cNvSpPr>
            <a:spLocks xmlns:a="http://schemas.openxmlformats.org/drawingml/2006/main" noGrp="1"/>
          </p:cNvSpPr>
          <p:nvPr/>
        </p:nvSpPr>
        <p:spPr>
          <a:xfrm xmlns:a="http://schemas.openxmlformats.org/drawingml/2006/main">
            <a:off x="552450" y="4819650"/>
            <a:ext cx="9391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Kernelzeit: </a:t>
            </a:r>
            <a:r>
              <a:rPr sz="1800" b="0">
                <a:solidFill>
                  <a:srgbClr val="444444"/>
                </a:solidFill>
                <a:latin typeface="Calibri"/>
                <a:ea typeface="Calibri"/>
                <a:cs typeface="Calibri"/>
              </a:rPr>
              <a:t>Rechenzeit des LSTM- und MLP-Kerns auf dem STM32</a:t>
            </a:r>
          </a:p>
        </p:txBody>
      </p:sp>
      <p:sp>
        <p:nvSpPr>
          <p:cNvPr id="28" name="LT_host_definition">
            <a:extLst xmlns:a="http://schemas.openxmlformats.org/drawingml/2006/main">
              <a:ext uri="{FF2B5EF4-FFF2-40B4-BE49-F238E27FC236}">
                <a16:creationId xmlns:a16="http://schemas.microsoft.com/office/drawing/2014/main" id="{4996AD11-B67F-4BBD-8213-9087AC4B0FA7}"/>
              </a:ext>
            </a:extLst>
          </p:cNvPr>
          <p:cNvSpPr>
            <a:spLocks xmlns:a="http://schemas.openxmlformats.org/drawingml/2006/main" noGrp="1"/>
          </p:cNvSpPr>
          <p:nvPr/>
        </p:nvSpPr>
        <p:spPr>
          <a:xfrm xmlns:a="http://schemas.openxmlformats.org/drawingml/2006/main">
            <a:off x="552450" y="5238750"/>
            <a:ext cx="9391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Host-Latenz: </a:t>
            </a:r>
            <a:r>
              <a:rPr sz="1800" b="0">
                <a:solidFill>
                  <a:srgbClr val="444444"/>
                </a:solidFill>
                <a:latin typeface="Calibri"/>
                <a:ea typeface="Calibri"/>
                <a:cs typeface="Calibri"/>
              </a:rPr>
              <a:t>Kernelzeit plus Übertragung, Scheduling und Rückgabe</a:t>
            </a:r>
          </a:p>
        </p:txBody>
      </p:sp>
    </p:spTree>
    <p:extLst>
      <p:ext uri="{BB962C8B-B14F-4D97-AF65-F5344CB8AC3E}">
        <p14:creationId xmlns:p14="http://schemas.microsoft.com/office/powerpoint/2010/main" val="1283791891"/>
      </p:ext>
    </p:extLst>
  </p:cSld>
</p:sld>
</file>

<file path=ppt/slides/slide59.xml><?xml version="1.0" encoding="utf-8"?>
<p:sld xmlns:p="http://schemas.openxmlformats.org/presentationml/2006/main">
  <p:cSld>
    <p:spTree>
      <p:nvGrpSpPr>
        <p:cNvPr id="1" name=""/>
        <p:cNvGrpSpPr/>
        <p:nvPr/>
      </p:nvGrpSpPr>
      <p:grpSpPr>
        <a:xfrm xmlns:a="http://schemas.openxmlformats.org/drawingml/2006/main"/>
      </p:grpSpPr>
      <p:sp>
        <p:nvSpPr>
          <p:cNvPr id="4" name="Textplatzhalter 3">
            <a:extLst xmlns:a="http://schemas.openxmlformats.org/drawingml/2006/main">
              <a:ext uri="{FF2B5EF4-FFF2-40B4-BE49-F238E27FC236}">
                <a16:creationId xmlns:a16="http://schemas.microsoft.com/office/drawing/2014/main" id="{219D7BAF-B25A-9CFF-057A-FC77C4EF5D5F}"/>
              </a:ext>
            </a:extLst>
          </p:cNvPr>
          <p:cNvSpPr>
            <a:spLocks xmlns:a="http://schemas.openxmlformats.org/drawingml/2006/main" noGrp="1"/>
          </p:cNvSpPr>
          <p:nvPr>
            <p:ph type="body" idx="14"/>
          </p:nvPr>
        </p:nvSpPr>
        <p:spPr>
          <a:xfrm xmlns:a="http://schemas.openxmlformats.org/drawingml/2006/main">
            <a:off x="552450" y="647700"/>
            <a:ext cx="9496425" cy="666750"/>
          </a:xfrm>
        </p:spPr>
        <p:txBody>
          <a:bodyPr xmlns:a="http://schemas.openxmlformats.org/drawingml/2006/main" lIns="0" tIns="0" rIns="0" bIns="0" anchor="t">
            <a:noAutofit/>
          </a:bodyPr>
          <a:lstStyle xmlns:a="http://schemas.openxmlformats.org/drawingml/2006/main"/>
          <a:p xmlns:a="http://schemas.openxmlformats.org/drawingml/2006/main">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Ergebnisse: Host-Latenz und Kernelzeit auf dem STM32</a:t>
            </a:r>
          </a:p>
        </p:txBody>
      </p:sp>
      <p:sp>
        <p:nvSpPr>
          <p:cNvPr id="3" name="Rechteck 2">
            <a:extLst xmlns:a="http://schemas.openxmlformats.org/drawingml/2006/main">
              <a:ext uri="{FF2B5EF4-FFF2-40B4-BE49-F238E27FC236}">
                <a16:creationId xmlns:a16="http://schemas.microsoft.com/office/drawing/2014/main" id="{BF1142E1-A522-088B-464A-5F4BA2F3E509}"/>
              </a:ext>
            </a:extLst>
          </p:cNvPr>
          <p:cNvSpPr>
            <a:spLocks xmlns:a="http://schemas.openxmlformats.org/drawingml/2006/main" noGrp="1"/>
          </p:cNvSpPr>
          <p:nvPr/>
        </p:nvSpPr>
        <p:spPr>
          <a:xfrm xmlns:a="http://schemas.openxmlformats.org/drawingml/2006/main">
            <a:off x="0" y="6362700"/>
            <a:ext cx="10350500" cy="495300"/>
          </a:xfrm>
          <a:prstGeom xmlns:a="http://schemas.openxmlformats.org/drawingml/2006/main" prst="rect">
            <a:avLst/>
          </a:prstGeom>
          <a:solidFill xmlns:a="http://schemas.openxmlformats.org/drawingml/2006/main">
            <a:srgbClr val="C40D1E"/>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06000"/>
              </a:lnSpc>
              <a:buNone/>
            </a:pPr>
            <a:endParaRPr sz="1800">
              <a:latin typeface="Arial"/>
              <a:ea typeface="Arial"/>
              <a:cs typeface="Arial"/>
            </a:endParaRPr>
          </a:p>
        </p:txBody>
      </p:sp>
      <p:sp>
        <p:nvSpPr>
          <p:cNvPr id="5" name="Textfeld 4">
            <a:extLst xmlns:a="http://schemas.openxmlformats.org/drawingml/2006/main">
              <a:ext uri="{FF2B5EF4-FFF2-40B4-BE49-F238E27FC236}">
                <a16:creationId xmlns:a16="http://schemas.microsoft.com/office/drawing/2014/main" id="{2BD31694-7656-F7A3-1C5D-835E892114D8}"/>
              </a:ext>
            </a:extLst>
          </p:cNvPr>
          <p:cNvSpPr>
            <a:spLocks xmlns:a="http://schemas.openxmlformats.org/drawingml/2006/main" noGrp="1"/>
          </p:cNvSpPr>
          <p:nvPr/>
        </p:nvSpPr>
        <p:spPr>
          <a:xfrm xmlns:a="http://schemas.openxmlformats.org/drawingml/2006/main">
            <a:off x="552450" y="6457950"/>
            <a:ext cx="1476375"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42 / 44</a:t>
            </a:r>
            <a:endParaRPr sz="1800">
              <a:solidFill>
                <a:srgbClr val="FFFFFF"/>
              </a:solidFill>
            </a:endParaRPr>
          </a:p>
        </p:txBody>
      </p:sp>
      <p:sp>
        <p:nvSpPr>
          <p:cNvPr id="6" name="Textfeld 5">
            <a:extLst xmlns:a="http://schemas.openxmlformats.org/drawingml/2006/main">
              <a:ext uri="{FF2B5EF4-FFF2-40B4-BE49-F238E27FC236}">
                <a16:creationId xmlns:a16="http://schemas.microsoft.com/office/drawing/2014/main" id="{2061966A-BF6E-C292-FE10-EF3EE7A224B8}"/>
              </a:ext>
            </a:extLst>
          </p:cNvPr>
          <p:cNvSpPr>
            <a:spLocks xmlns:a="http://schemas.openxmlformats.org/drawingml/2006/main" noGrp="1"/>
          </p:cNvSpPr>
          <p:nvPr/>
        </p:nvSpPr>
        <p:spPr>
          <a:xfrm xmlns:a="http://schemas.openxmlformats.org/drawingml/2006/main">
            <a:off x="2114550" y="6457950"/>
            <a:ext cx="6191250" cy="24765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lnSpc>
                <a:spcPct val="106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Florian Rzepka | Disputation | 2026</a:t>
            </a:r>
          </a:p>
        </p:txBody>
      </p:sp>
      <p:sp>
        <p:nvSpPr>
          <p:cNvPr id="15" name="Structure separator">
            <a:extLst xmlns:a="http://schemas.openxmlformats.org/drawingml/2006/main">
              <a:ext uri="{FF2B5EF4-FFF2-40B4-BE49-F238E27FC236}">
                <a16:creationId xmlns:a16="http://schemas.microsoft.com/office/drawing/2014/main" id="{01829133-D6FE-4D28-951B-A5D37E551BBF}"/>
              </a:ext>
            </a:extLst>
          </p:cNvPr>
          <p:cNvSpPr>
            <a:spLocks xmlns:a="http://schemas.openxmlformats.org/drawingml/2006/main" noGrp="1"/>
          </p:cNvSpPr>
          <p:nvPr/>
        </p:nvSpPr>
        <p:spPr>
          <a:xfrm xmlns:a="http://schemas.openxmlformats.org/drawingml/2006/main">
            <a:off x="10287000" y="1381125"/>
            <a:ext cx="0" cy="4457700"/>
          </a:xfrm>
          <a:prstGeom xmlns:a="http://schemas.openxmlformats.org/drawingml/2006/main" prst="line">
            <a:avLst/>
          </a:prstGeom>
          <a:noFill xmlns:a="http://schemas.openxmlformats.org/drawingml/2006/main"/>
          <a:ln xmlns:a="http://schemas.openxmlformats.org/drawingml/2006/main" w="9525">
            <a:solidFill>
              <a:srgbClr val="DDDDDD"/>
            </a:solidFill>
          </a:ln>
        </p:spPr>
        <p:txBody>
          <a:bodyPr xmlns:a="http://schemas.openxmlformats.org/drawingml/2006/main"/>
          <a:lstStyle xmlns:a="http://schemas.openxmlformats.org/drawingml/2006/main"/>
          <a:p xmlns:a="http://schemas.openxmlformats.org/drawingml/2006/main"/>
        </p:txBody>
      </p:sp>
      <p:sp>
        <p:nvSpPr>
          <p:cNvPr id="16" name="Structure label">
            <a:extLst xmlns:a="http://schemas.openxmlformats.org/drawingml/2006/main">
              <a:ext uri="{FF2B5EF4-FFF2-40B4-BE49-F238E27FC236}">
                <a16:creationId xmlns:a16="http://schemas.microsoft.com/office/drawing/2014/main" id="{B9B498A6-C283-48A2-9DE7-598EAB1DC61B}"/>
              </a:ext>
            </a:extLst>
          </p:cNvPr>
          <p:cNvSpPr>
            <a:spLocks xmlns:a="http://schemas.openxmlformats.org/drawingml/2006/main" noGrp="1"/>
          </p:cNvSpPr>
          <p:nvPr/>
        </p:nvSpPr>
        <p:spPr>
          <a:xfrm xmlns:a="http://schemas.openxmlformats.org/drawingml/2006/main">
            <a:off x="10458450" y="1600200"/>
            <a:ext cx="1609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xmlns:a="http://schemas.openxmlformats.org/drawingml/2006/main">
              <a:ext uri="{FF2B5EF4-FFF2-40B4-BE49-F238E27FC236}">
                <a16:creationId xmlns:a16="http://schemas.microsoft.com/office/drawing/2014/main" id="{E88A03A2-F1E1-49B6-9CF5-2AEBF0E5DD20}"/>
              </a:ext>
            </a:extLst>
          </p:cNvPr>
          <p:cNvSpPr>
            <a:spLocks xmlns:a="http://schemas.openxmlformats.org/drawingml/2006/main" noGrp="1"/>
          </p:cNvSpPr>
          <p:nvPr/>
        </p:nvSpPr>
        <p:spPr>
          <a:xfrm xmlns:a="http://schemas.openxmlformats.org/drawingml/2006/main">
            <a:off x="10458450" y="20193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xmlns:a="http://schemas.openxmlformats.org/drawingml/2006/main">
              <a:ext uri="{FF2B5EF4-FFF2-40B4-BE49-F238E27FC236}">
                <a16:creationId xmlns:a16="http://schemas.microsoft.com/office/drawing/2014/main" id="{8C49075D-1FAF-4A32-9EFC-03D612D51349}"/>
              </a:ext>
            </a:extLst>
          </p:cNvPr>
          <p:cNvSpPr>
            <a:spLocks xmlns:a="http://schemas.openxmlformats.org/drawingml/2006/main" noGrp="1"/>
          </p:cNvSpPr>
          <p:nvPr/>
        </p:nvSpPr>
        <p:spPr>
          <a:xfrm xmlns:a="http://schemas.openxmlformats.org/drawingml/2006/main">
            <a:off x="10458450" y="27051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wrap="square">
            <a:noAutofit/>
          </a:bodyPr>
          <a:lstStyle xmlns:a="http://schemas.openxmlformats.org/drawingml/2006/main"/>
          <a:p xmlns:a="http://schemas.openxmlformats.org/drawingml/2006/main">
            <a:pPr algn="l" marL="0" indent="0">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xmlns:a="http://schemas.openxmlformats.org/drawingml/2006/main">
              <a:ext uri="{FF2B5EF4-FFF2-40B4-BE49-F238E27FC236}">
                <a16:creationId xmlns:a16="http://schemas.microsoft.com/office/drawing/2014/main" id="{08E14E1C-2FE6-447E-AA47-A0A248CB791F}"/>
              </a:ext>
            </a:extLst>
          </p:cNvPr>
          <p:cNvSpPr>
            <a:spLocks xmlns:a="http://schemas.openxmlformats.org/drawingml/2006/main" noGrp="1"/>
          </p:cNvSpPr>
          <p:nvPr/>
        </p:nvSpPr>
        <p:spPr>
          <a:xfrm xmlns:a="http://schemas.openxmlformats.org/drawingml/2006/main">
            <a:off x="10458450" y="3162300"/>
            <a:ext cx="163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xmlns:a="http://schemas.openxmlformats.org/drawingml/2006/main">
              <a:ext uri="{FF2B5EF4-FFF2-40B4-BE49-F238E27FC236}">
                <a16:creationId xmlns:a16="http://schemas.microsoft.com/office/drawing/2014/main" id="{8AD65587-F191-493E-AA9F-493E1A82E5B3}"/>
              </a:ext>
            </a:extLst>
          </p:cNvPr>
          <p:cNvSpPr>
            <a:spLocks xmlns:a="http://schemas.openxmlformats.org/drawingml/2006/main" noGrp="1"/>
          </p:cNvSpPr>
          <p:nvPr/>
        </p:nvSpPr>
        <p:spPr>
          <a:xfrm xmlns:a="http://schemas.openxmlformats.org/drawingml/2006/main">
            <a:off x="10458450" y="40767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xmlns:a="http://schemas.openxmlformats.org/drawingml/2006/main">
              <a:ext uri="{FF2B5EF4-FFF2-40B4-BE49-F238E27FC236}">
                <a16:creationId xmlns:a16="http://schemas.microsoft.com/office/drawing/2014/main" id="{3B2F4D78-1577-40C9-A434-7B37B327AD37}"/>
              </a:ext>
            </a:extLst>
          </p:cNvPr>
          <p:cNvSpPr>
            <a:spLocks xmlns:a="http://schemas.openxmlformats.org/drawingml/2006/main" noGrp="1"/>
          </p:cNvSpPr>
          <p:nvPr/>
        </p:nvSpPr>
        <p:spPr>
          <a:xfrm xmlns:a="http://schemas.openxmlformats.org/drawingml/2006/main">
            <a:off x="10458450" y="4762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xmlns:a="http://schemas.openxmlformats.org/drawingml/2006/main">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2" name="Structure 5">
            <a:extLst xmlns:a="http://schemas.openxmlformats.org/drawingml/2006/main">
              <a:ext uri="{FF2B5EF4-FFF2-40B4-BE49-F238E27FC236}">
                <a16:creationId xmlns:a16="http://schemas.microsoft.com/office/drawing/2014/main" id="{758A4926-DDD0-4BBD-BFDE-459EE60C1963}"/>
              </a:ext>
            </a:extLst>
          </p:cNvPr>
          <p:cNvSpPr>
            <a:spLocks xmlns:a="http://schemas.openxmlformats.org/drawingml/2006/main" noGrp="1"/>
          </p:cNvSpPr>
          <p:nvPr/>
        </p:nvSpPr>
        <p:spPr>
          <a:xfrm xmlns:a="http://schemas.openxmlformats.org/drawingml/2006/main">
            <a:off x="10458450" y="5486400"/>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30" name="LV_host_distributions"/>
          <p:cNvPicPr>
            <a:picLocks xmlns:a="http://schemas.openxmlformats.org/drawingml/2006/main" noChangeAspect="1"/>
          </p:cNvPicPr>
          <p:nvPr/>
        </p:nvPicPr>
        <p:blipFill>
          <a:blip xmlns:r="http://schemas.openxmlformats.org/officeDocument/2006/relationships" xmlns:a="http://schemas.openxmlformats.org/drawingml/2006/main" r:embed="R45bc85ee20e6400b"/>
          <a:stretch xmlns:a="http://schemas.openxmlformats.org/drawingml/2006/main"/>
        </p:blipFill>
        <p:spPr>
          <a:xfrm xmlns:a="http://schemas.openxmlformats.org/drawingml/2006/main">
            <a:off x="552450" y="1476375"/>
            <a:ext cx="5953125" cy="2480469"/>
          </a:xfrm>
          <a:prstGeom xmlns:a="http://schemas.openxmlformats.org/drawingml/2006/main" prst="rect">
            <a:avLst/>
          </a:prstGeom>
        </p:spPr>
      </p:pic>
      <p:sp>
        <p:nvSpPr>
          <p:cNvPr id="31" name="LC_variant">
            <a:extLst xmlns:a="http://schemas.openxmlformats.org/drawingml/2006/main">
              <a:ext uri="{FF2B5EF4-FFF2-40B4-BE49-F238E27FC236}">
                <a16:creationId xmlns:a16="http://schemas.microsoft.com/office/drawing/2014/main" id="{7B07CA2E-1A97-4F66-A5D9-6B2D48623FF4}"/>
              </a:ext>
            </a:extLst>
          </p:cNvPr>
          <p:cNvSpPr>
            <a:spLocks xmlns:a="http://schemas.openxmlformats.org/drawingml/2006/main" noGrp="1"/>
          </p:cNvSpPr>
          <p:nvPr/>
        </p:nvSpPr>
        <p:spPr>
          <a:xfrm xmlns:a="http://schemas.openxmlformats.org/drawingml/2006/main">
            <a:off x="6715125" y="1476375"/>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Quantized vs. Base</a:t>
            </a:r>
          </a:p>
        </p:txBody>
      </p:sp>
      <p:graphicFrame>
        <p:nvGraphicFramePr>
          <p:cNvPr id="32" name=""/>
          <p:cNvGraphicFramePr/>
          <p:nvPr/>
        </p:nvGraphicFramePr>
        <p:xfrm>
          <a:off xmlns:a="http://schemas.openxmlformats.org/drawingml/2006/main" x="6715125" y="1885950"/>
          <a:ext xmlns:a="http://schemas.openxmlformats.org/drawingml/2006/main" cx="3238500" cy="2009775"/>
        </p:xfrm>
        <a:graphic xmlns:a="http://schemas.openxmlformats.org/drawingml/2006/main">
          <a:graphicData uri="http://schemas.openxmlformats.org/drawingml/2006/table">
            <a:tbl>
              <a:tblPr firstRow="0" firstCol="0" lastRow="0" lastCol="0" bandRow="0" bandCol="0"/>
              <a:tblGrid>
                <a:gridCol w="1619250"/>
                <a:gridCol w="1619250"/>
              </a:tblGrid>
              <a:tr h="333375">
                <a:tc>
                  <a:txBody>
                    <a:bodyPr>
                      <a:noAutofit/>
                    </a:bodyPr>
                    <a:lstStyle/>
                    <a:p>
                      <a:pPr algn="ctr">
                        <a:buNone/>
                      </a:pPr>
                      <a:r>
                        <a:rPr sz="1800" b="1">
                          <a:solidFill>
                            <a:srgbClr val="444444"/>
                          </a:solidFill>
                          <a:latin typeface="Calibri"/>
                          <a:ea typeface="Calibri"/>
                          <a:cs typeface="Calibri"/>
                        </a:rPr>
                        <a:t>SOC</a:t>
                      </a:r>
                    </a:p>
                  </a:txBody>
                  <a:tcPr marL="66675" marR="66675" marT="28575" marB="28575" anchor="ctr">
                    <a:solidFill>
                      <a:srgbClr val="FFFFFF"/>
                    </a:solidFill>
                  </a:tcPr>
                </a:tc>
                <a:tc>
                  <a:txBody>
                    <a:bodyPr>
                      <a:noAutofit/>
                    </a:bodyPr>
                    <a:lstStyle/>
                    <a:p>
                      <a:pPr algn="ctr">
                        <a:buNone/>
                      </a:pPr>
                      <a:r>
                        <a:rPr sz="1800" b="1">
                          <a:solidFill>
                            <a:srgbClr val="444444"/>
                          </a:solidFill>
                          <a:latin typeface="Calibri"/>
                          <a:ea typeface="Calibri"/>
                          <a:cs typeface="Calibri"/>
                        </a:rPr>
                        <a:t>SOH</a:t>
                      </a:r>
                    </a:p>
                  </a:txBody>
                  <a:tcPr marL="66675" marR="66675" marT="28575" marB="28575" anchor="ctr">
                    <a:solidFill>
                      <a:srgbClr val="FFFFFF"/>
                    </a:solidFill>
                  </a:tcPr>
                </a:tc>
              </a:tr>
              <a:tr h="390525">
                <a:tc gridSpan="2">
                  <a:txBody>
                    <a:bodyPr>
                      <a:noAutofit/>
                    </a:bodyPr>
                    <a:lstStyle/>
                    <a:p>
                      <a:pPr algn="ctr">
                        <a:buNone/>
                      </a:pPr>
                      <a:r>
                        <a:rPr sz="1800" b="0">
                          <a:solidFill>
                            <a:srgbClr val="444444"/>
                          </a:solidFill>
                          <a:latin typeface="Calibri"/>
                          <a:ea typeface="Calibri"/>
                          <a:cs typeface="Calibri"/>
                        </a:rPr>
                        <a:t>Kernelzeit (STM32)</a:t>
                      </a:r>
                    </a:p>
                  </a:txBody>
                  <a:tcPr marL="66675" marR="66675" marT="28575" marB="28575" anchor="ctr">
                    <a:solidFill>
                      <a:srgbClr val="F0F0F0"/>
                    </a:solidFill>
                  </a:tcPr>
                </a:tc>
                <a:tc hMerge="1">
                  <a:txBody>
                    <a:bodyPr>
                      <a:noAutofit/>
                    </a:bodyPr>
                    <a:lstStyle/>
                    <a:p>
                      <a:r>
                        <a:rPr sz="1800" b="0">
                          <a:solidFill>
                            <a:srgbClr val="444444"/>
                          </a:solidFill>
                          <a:latin typeface="Calibri"/>
                          <a:ea typeface="Calibri"/>
                          <a:cs typeface="Calibri"/>
                        </a:rPr>
                        <a:t/>
                      </a:r>
                    </a:p>
                  </a:txBody>
                  <a:tcPr marL="66675" marR="66675" marT="28575" marB="28575" anchor="ctr">
                    <a:solidFill>
                      <a:srgbClr val="F0F0F0"/>
                    </a:solidFill>
                  </a:tcPr>
                </a:tc>
              </a:tr>
              <a:tr h="447675">
                <a:tc>
                  <a:txBody>
                    <a:bodyPr>
                      <a:noAutofit/>
                    </a:bodyPr>
                    <a:lstStyle/>
                    <a:p>
                      <a:pPr algn="ctr">
                        <a:buNone/>
                      </a:pPr>
                      <a:r>
                        <a:rPr sz="1800" b="1">
                          <a:solidFill>
                            <a:srgbClr val="D00020"/>
                          </a:solidFill>
                          <a:latin typeface="Calibri"/>
                          <a:ea typeface="Calibri"/>
                          <a:cs typeface="Calibri"/>
                        </a:rPr>
                        <a:t>+399,3 %</a:t>
                      </a:r>
                    </a:p>
                  </a:txBody>
                  <a:tcPr marL="66675" marR="66675" marT="28575" marB="28575" anchor="ctr">
                    <a:solidFill>
                      <a:srgbClr val="FFFFFF"/>
                    </a:solidFill>
                  </a:tcPr>
                </a:tc>
                <a:tc>
                  <a:txBody>
                    <a:bodyPr>
                      <a:noAutofit/>
                    </a:bodyPr>
                    <a:lstStyle/>
                    <a:p>
                      <a:pPr algn="ctr">
                        <a:buNone/>
                      </a:pPr>
                      <a:r>
                        <a:rPr sz="1800" b="1">
                          <a:solidFill>
                            <a:srgbClr val="D00020"/>
                          </a:solidFill>
                          <a:latin typeface="Calibri"/>
                          <a:ea typeface="Calibri"/>
                          <a:cs typeface="Calibri"/>
                        </a:rPr>
                        <a:t>+28,5 %</a:t>
                      </a:r>
                    </a:p>
                  </a:txBody>
                  <a:tcPr marL="66675" marR="66675" marT="28575" marB="28575" anchor="ctr">
                    <a:solidFill>
                      <a:srgbClr val="FFFFFF"/>
                    </a:solidFill>
                  </a:tcPr>
                </a:tc>
              </a:tr>
              <a:tr h="390525">
                <a:tc gridSpan="2">
                  <a:txBody>
                    <a:bodyPr>
                      <a:noAutofit/>
                    </a:bodyPr>
                    <a:lstStyle/>
                    <a:p>
                      <a:pPr algn="ctr">
                        <a:buNone/>
                      </a:pPr>
                      <a:r>
                        <a:rPr sz="1800" b="0">
                          <a:solidFill>
                            <a:srgbClr val="444444"/>
                          </a:solidFill>
                          <a:latin typeface="Calibri"/>
                          <a:ea typeface="Calibri"/>
                          <a:cs typeface="Calibri"/>
                        </a:rPr>
                        <a:t>Host-Latenz (PC ↔ STM32)</a:t>
                      </a:r>
                    </a:p>
                  </a:txBody>
                  <a:tcPr marL="66675" marR="66675" marT="28575" marB="28575" anchor="ctr">
                    <a:solidFill>
                      <a:srgbClr val="F0F0F0"/>
                    </a:solidFill>
                  </a:tcPr>
                </a:tc>
                <a:tc hMerge="1">
                  <a:txBody>
                    <a:bodyPr>
                      <a:noAutofit/>
                    </a:bodyPr>
                    <a:lstStyle/>
                    <a:p>
                      <a:r>
                        <a:rPr sz="1800" b="0">
                          <a:solidFill>
                            <a:srgbClr val="444444"/>
                          </a:solidFill>
                          <a:latin typeface="Calibri"/>
                          <a:ea typeface="Calibri"/>
                          <a:cs typeface="Calibri"/>
                        </a:rPr>
                        <a:t/>
                      </a:r>
                    </a:p>
                  </a:txBody>
                  <a:tcPr marL="66675" marR="66675" marT="28575" marB="28575" anchor="ctr">
                    <a:solidFill>
                      <a:srgbClr val="F0F0F0"/>
                    </a:solidFill>
                  </a:tcPr>
                </a:tc>
              </a:tr>
              <a:tr h="447675">
                <a:tc>
                  <a:txBody>
                    <a:bodyPr>
                      <a:noAutofit/>
                    </a:bodyPr>
                    <a:lstStyle/>
                    <a:p>
                      <a:pPr algn="ctr">
                        <a:buNone/>
                      </a:pPr>
                      <a:r>
                        <a:rPr sz="1800" b="1">
                          <a:solidFill>
                            <a:srgbClr val="D00020"/>
                          </a:solidFill>
                          <a:latin typeface="Calibri"/>
                          <a:ea typeface="Calibri"/>
                          <a:cs typeface="Calibri"/>
                        </a:rPr>
                        <a:t>+45,5 %</a:t>
                      </a:r>
                    </a:p>
                  </a:txBody>
                  <a:tcPr marL="66675" marR="66675" marT="28575" marB="28575" anchor="ctr">
                    <a:solidFill>
                      <a:srgbClr val="FFFFFF"/>
                    </a:solidFill>
                  </a:tcPr>
                </a:tc>
                <a:tc>
                  <a:txBody>
                    <a:bodyPr>
                      <a:noAutofit/>
                    </a:bodyPr>
                    <a:lstStyle/>
                    <a:p>
                      <a:pPr algn="ctr">
                        <a:buNone/>
                      </a:pPr>
                      <a:r>
                        <a:rPr sz="1800" b="1">
                          <a:solidFill>
                            <a:srgbClr val="D00020"/>
                          </a:solidFill>
                          <a:latin typeface="Calibri"/>
                          <a:ea typeface="Calibri"/>
                          <a:cs typeface="Calibri"/>
                        </a:rPr>
                        <a:t>+18,2 %</a:t>
                      </a:r>
                    </a:p>
                  </a:txBody>
                  <a:tcPr marL="66675" marR="66675" marT="28575" marB="28575" anchor="ctr">
                    <a:solidFill>
                      <a:srgbClr val="FFFFFF"/>
                    </a:solidFill>
                  </a:tcPr>
                </a:tc>
              </a:tr>
            </a:tbl>
          </a:graphicData>
        </a:graphic>
      </p:graphicFrame>
      <p:sp>
        <p:nvSpPr>
          <p:cNvPr id="33" name="LC_label_Ergebnis">
            <a:extLst xmlns:a="http://schemas.openxmlformats.org/drawingml/2006/main">
              <a:ext uri="{FF2B5EF4-FFF2-40B4-BE49-F238E27FC236}">
                <a16:creationId xmlns:a16="http://schemas.microsoft.com/office/drawing/2014/main" id="{9E2314AB-8FE6-4E27-ABAD-2CD8DF5F882C}"/>
              </a:ext>
            </a:extLst>
          </p:cNvPr>
          <p:cNvSpPr>
            <a:spLocks xmlns:a="http://schemas.openxmlformats.org/drawingml/2006/main" noGrp="1"/>
          </p:cNvSpPr>
          <p:nvPr/>
        </p:nvSpPr>
        <p:spPr>
          <a:xfrm xmlns:a="http://schemas.openxmlformats.org/drawingml/2006/main">
            <a:off x="552450" y="4248150"/>
            <a:ext cx="1000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Ergebnis</a:t>
            </a:r>
          </a:p>
        </p:txBody>
      </p:sp>
      <p:sp>
        <p:nvSpPr>
          <p:cNvPr id="34" name="LC_text_Ergebnis">
            <a:extLst xmlns:a="http://schemas.openxmlformats.org/drawingml/2006/main">
              <a:ext uri="{FF2B5EF4-FFF2-40B4-BE49-F238E27FC236}">
                <a16:creationId xmlns:a16="http://schemas.microsoft.com/office/drawing/2014/main" id="{B876A8D3-172B-488D-968A-A3561DAF9A51}"/>
              </a:ext>
            </a:extLst>
          </p:cNvPr>
          <p:cNvSpPr>
            <a:spLocks xmlns:a="http://schemas.openxmlformats.org/drawingml/2006/main" noGrp="1"/>
          </p:cNvSpPr>
          <p:nvPr/>
        </p:nvSpPr>
        <p:spPr>
          <a:xfrm xmlns:a="http://schemas.openxmlformats.org/drawingml/2006/main">
            <a:off x="1743075" y="4248150"/>
            <a:ext cx="8210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Längere Kernel- und Host-Zeiten trotz kleinerem Flashbedarf</a:t>
            </a:r>
          </a:p>
        </p:txBody>
      </p:sp>
      <p:sp>
        <p:nvSpPr>
          <p:cNvPr id="35" name="LC_label_Ursache">
            <a:extLst xmlns:a="http://schemas.openxmlformats.org/drawingml/2006/main">
              <a:ext uri="{FF2B5EF4-FFF2-40B4-BE49-F238E27FC236}">
                <a16:creationId xmlns:a16="http://schemas.microsoft.com/office/drawing/2014/main" id="{02F6293A-ABC0-4B7E-A8C8-DEB3CF9C0F84}"/>
              </a:ext>
            </a:extLst>
          </p:cNvPr>
          <p:cNvSpPr>
            <a:spLocks xmlns:a="http://schemas.openxmlformats.org/drawingml/2006/main" noGrp="1"/>
          </p:cNvSpPr>
          <p:nvPr/>
        </p:nvSpPr>
        <p:spPr>
          <a:xfrm xmlns:a="http://schemas.openxmlformats.org/drawingml/2006/main">
            <a:off x="552450" y="4667250"/>
            <a:ext cx="10001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Ursache</a:t>
            </a:r>
          </a:p>
        </p:txBody>
      </p:sp>
      <p:sp>
        <p:nvSpPr>
          <p:cNvPr id="36" name="LC_text_Ursache">
            <a:extLst xmlns:a="http://schemas.openxmlformats.org/drawingml/2006/main">
              <a:ext uri="{FF2B5EF4-FFF2-40B4-BE49-F238E27FC236}">
                <a16:creationId xmlns:a16="http://schemas.microsoft.com/office/drawing/2014/main" id="{EE396EE2-FD8D-41AC-9DCD-FA159AA70013}"/>
              </a:ext>
            </a:extLst>
          </p:cNvPr>
          <p:cNvSpPr>
            <a:spLocks xmlns:a="http://schemas.openxmlformats.org/drawingml/2006/main" noGrp="1"/>
          </p:cNvSpPr>
          <p:nvPr/>
        </p:nvSpPr>
        <p:spPr>
          <a:xfrm xmlns:a="http://schemas.openxmlformats.org/drawingml/2006/main">
            <a:off x="1743075" y="4667250"/>
            <a:ext cx="82105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Dequantization bei FP32-Arithmetik; mögliche zusätzliche</a:t>
            </a:r>
          </a:p>
          <a:p xmlns:a="http://schemas.openxmlformats.org/drawingml/2006/main">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Einflüsse durch Speicherzugriffe und Schleifen</a:t>
            </a:r>
          </a:p>
        </p:txBody>
      </p:sp>
      <p:sp>
        <p:nvSpPr>
          <p:cNvPr id="37" name="LC_label_Fazit">
            <a:extLst xmlns:a="http://schemas.openxmlformats.org/drawingml/2006/main">
              <a:ext uri="{FF2B5EF4-FFF2-40B4-BE49-F238E27FC236}">
                <a16:creationId xmlns:a16="http://schemas.microsoft.com/office/drawing/2014/main" id="{1616A37F-930A-4E9E-8E4A-411DA127229F}"/>
              </a:ext>
            </a:extLst>
          </p:cNvPr>
          <p:cNvSpPr>
            <a:spLocks xmlns:a="http://schemas.openxmlformats.org/drawingml/2006/main" noGrp="1"/>
          </p:cNvSpPr>
          <p:nvPr/>
        </p:nvSpPr>
        <p:spPr>
          <a:xfrm xmlns:a="http://schemas.openxmlformats.org/drawingml/2006/main">
            <a:off x="552450" y="5353050"/>
            <a:ext cx="10001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Fazit</a:t>
            </a:r>
          </a:p>
        </p:txBody>
      </p:sp>
      <p:sp>
        <p:nvSpPr>
          <p:cNvPr id="38" name="LC_text_Fazit">
            <a:extLst xmlns:a="http://schemas.openxmlformats.org/drawingml/2006/main">
              <a:ext uri="{FF2B5EF4-FFF2-40B4-BE49-F238E27FC236}">
                <a16:creationId xmlns:a16="http://schemas.microsoft.com/office/drawing/2014/main" id="{13419236-F71F-4316-927E-D27D11C26ABB}"/>
              </a:ext>
            </a:extLst>
          </p:cNvPr>
          <p:cNvSpPr>
            <a:spLocks xmlns:a="http://schemas.openxmlformats.org/drawingml/2006/main" noGrp="1"/>
          </p:cNvSpPr>
          <p:nvPr/>
        </p:nvSpPr>
        <p:spPr>
          <a:xfrm xmlns:a="http://schemas.openxmlformats.org/drawingml/2006/main">
            <a:off x="1743075" y="5353050"/>
            <a:ext cx="82105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Flash-Gewinn bei höherem Rechenaufwand im Referenzkernel;</a:t>
            </a:r>
          </a:p>
          <a:p xmlns:a="http://schemas.openxmlformats.org/drawingml/2006/main">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gezieltes Profiling als Basis weiterer Kernel-Optimierung</a:t>
            </a:r>
          </a:p>
        </p:txBody>
      </p:sp>
    </p:spTree>
    <p:extLst>
      <p:ext uri="{BB962C8B-B14F-4D97-AF65-F5344CB8AC3E}">
        <p14:creationId xmlns:p14="http://schemas.microsoft.com/office/powerpoint/2010/main" val="1283791891"/>
      </p:ext>
    </p:extLst>
  </p:cSld>
  <p:transition spd="fast" advClick="1">
    <p:fade/>
  </p:transition>
</p:sld>
</file>

<file path=ppt/theme/theme1.xml><?xml version="1.0" encoding="utf-8"?>
<a:theme xmlns:a="http://schemas.openxmlformats.org/drawingml/2006/main" name="Master für Folgeseiten">
  <a:themeElements>
    <a:clrScheme name="TU Berlin ">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U Berlin ">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59</ap:Slides>
  <ap:Notes>59</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2026-09-08T15:48:05.8390000Z</dcterms:created>
  <dcterms:modified xsi:type="dcterms:W3CDTF">2026-09-08T15:48:05.8390000Z</dcterms:modified>
</coreProperties>
</file>