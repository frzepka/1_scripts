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1"/>
  </p:sldMasterIdLst>
  <p:notesMasterIdLst>
    <p:notesMasterId r:id="rId34"/>
  </p:notesMasterIdLst>
  <p:handoutMasterIdLst>
    <p:handoutMasterId r:id="rId35"/>
  </p:handoutMasterIdLst>
  <p:sldIdLst>
    <p:sldId id="404" r:id="rId2"/>
    <p:sldId id="405" r:id="rId3"/>
    <p:sldId id="406" r:id="rId4"/>
    <p:sldId id="407" r:id="rId5"/>
    <p:sldId id="408" r:id="rId6"/>
    <p:sldId id="409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  <p:sldId id="431" r:id="rId29"/>
    <p:sldId id="432" r:id="rId30"/>
    <p:sldId id="433" r:id="rId31"/>
    <p:sldId id="434" r:id="rId32"/>
    <p:sldId id="435" r:id="rId33"/>
  </p:sldIdLst>
  <p:sldSz cx="12192000" cy="6858000"/>
  <p:notesSz cx="6858000" cy="9144000"/>
  <p:custDataLst>
    <p:tags r:id="rId3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EFD"/>
    <a:srgbClr val="B2E1C1"/>
    <a:srgbClr val="C7DFED"/>
    <a:srgbClr val="DBF5D9"/>
    <a:srgbClr val="DC6E7B"/>
    <a:srgbClr val="EFF7F5"/>
    <a:srgbClr val="7DCD96"/>
    <a:srgbClr val="BAE4C7"/>
    <a:srgbClr val="D9D9D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8" autoAdjust="0"/>
    <p:restoredTop sz="96327"/>
  </p:normalViewPr>
  <p:slideViewPr>
    <p:cSldViewPr snapToGrid="0" snapToObjects="1">
      <p:cViewPr varScale="1">
        <p:scale>
          <a:sx n="117" d="100"/>
          <a:sy n="117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5" d="100"/>
          <a:sy n="95" d="100"/>
        </p:scale>
        <p:origin x="356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3131527-C7E3-490D-B090-3ACC335788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86F279-702D-4870-8D30-3EF893E10C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9F0CD-77CA-402D-AEAB-C0807171C2DC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FD5FA2-025C-44FE-A255-A1D48A835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E6CF89-78B7-4BA4-9386-3EBB95CBEB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C4770-5E22-4763-980C-C62FB9BDDA9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049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17.08.2026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876" y="1382206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91809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0221" y="1373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4F835FC2-209C-B623-B2FE-93104346F5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</p:spTree>
    <p:extLst>
      <p:ext uri="{BB962C8B-B14F-4D97-AF65-F5344CB8AC3E}">
        <p14:creationId xmlns:p14="http://schemas.microsoft.com/office/powerpoint/2010/main" val="322685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066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6531CAD3-CD14-C701-E880-CF6FFC010DF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02905" y="1382204"/>
            <a:ext cx="53297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</p:spTree>
    <p:extLst>
      <p:ext uri="{BB962C8B-B14F-4D97-AF65-F5344CB8AC3E}">
        <p14:creationId xmlns:p14="http://schemas.microsoft.com/office/powerpoint/2010/main" val="74132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D4420194-6463-FB88-6066-2CE3890B88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07866423"/>
              </p:ext>
            </p:extLst>
          </p:nvPr>
        </p:nvGraphicFramePr>
        <p:xfrm>
          <a:off x="555867" y="1619296"/>
          <a:ext cx="10515600" cy="28080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 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98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9" name="Tabelle 3">
            <a:extLst>
              <a:ext uri="{FF2B5EF4-FFF2-40B4-BE49-F238E27FC236}">
                <a16:creationId xmlns:a16="http://schemas.microsoft.com/office/drawing/2014/main" id="{21EE799C-704F-3D4E-6952-86E9F1A7A87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44605626"/>
              </p:ext>
            </p:extLst>
          </p:nvPr>
        </p:nvGraphicFramePr>
        <p:xfrm>
          <a:off x="555867" y="1619296"/>
          <a:ext cx="10512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endParaRPr lang="en-US" sz="1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kern="1200" noProof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Regular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44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3" name="Tabelle 3">
            <a:extLst>
              <a:ext uri="{FF2B5EF4-FFF2-40B4-BE49-F238E27FC236}">
                <a16:creationId xmlns:a16="http://schemas.microsoft.com/office/drawing/2014/main" id="{D4420194-6463-FB88-6066-2CE3890B88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3329497"/>
              </p:ext>
            </p:extLst>
          </p:nvPr>
        </p:nvGraphicFramePr>
        <p:xfrm>
          <a:off x="6096000" y="1382400"/>
          <a:ext cx="432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89707"/>
                  </a:ext>
                </a:extLst>
              </a:tr>
            </a:tbl>
          </a:graphicData>
        </a:graphic>
      </p:graphicFrame>
      <p:sp>
        <p:nvSpPr>
          <p:cNvPr id="5" name="Textplatzhalter 2">
            <a:extLst>
              <a:ext uri="{FF2B5EF4-FFF2-40B4-BE49-F238E27FC236}">
                <a16:creationId xmlns:a16="http://schemas.microsoft.com/office/drawing/2014/main" id="{91015A61-BBF3-58D4-B646-D7F07D397D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876" y="1382206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71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  <p:graphicFrame>
        <p:nvGraphicFramePr>
          <p:cNvPr id="6" name="Tabelle 3">
            <a:extLst>
              <a:ext uri="{FF2B5EF4-FFF2-40B4-BE49-F238E27FC236}">
                <a16:creationId xmlns:a16="http://schemas.microsoft.com/office/drawing/2014/main" id="{0FA6DEC0-2DEB-E663-4450-A41FA125E4E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21515962"/>
              </p:ext>
            </p:extLst>
          </p:nvPr>
        </p:nvGraphicFramePr>
        <p:xfrm>
          <a:off x="555867" y="1382400"/>
          <a:ext cx="4320000" cy="37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18pt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buClr>
                          <a:schemeClr val="accent1">
                            <a:lumMod val="100000"/>
                          </a:schemeClr>
                        </a:buClr>
                        <a:buSzPct val="100000"/>
                        <a:buFont typeface="Wingdings"/>
                        <a:buNone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044" marR="99044" marT="45731" marB="45731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89707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A52B688-20A1-8CFE-428A-BC897BDC49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409939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218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4400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</p:spTree>
    <p:extLst>
      <p:ext uri="{BB962C8B-B14F-4D97-AF65-F5344CB8AC3E}">
        <p14:creationId xmlns:p14="http://schemas.microsoft.com/office/powerpoint/2010/main" val="2296551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233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46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842000"/>
            <a:ext cx="12195175" cy="1015999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Florian Rzepka | EET | Interim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Embedded AI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BMS| 9. April 2025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3FC34A-DB88-456F-BDA4-DF3311B9A28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21" r:id="rId3"/>
    <p:sldLayoutId id="2147483712" r:id="rId4"/>
    <p:sldLayoutId id="2147483719" r:id="rId5"/>
    <p:sldLayoutId id="2147483715" r:id="rId6"/>
    <p:sldLayoutId id="2147483716" r:id="rId7"/>
    <p:sldLayoutId id="2147483720" r:id="rId8"/>
    <p:sldLayoutId id="2147483717" r:id="rId9"/>
    <p:sldLayoutId id="2147483718" r:id="rId10"/>
    <p:sldLayoutId id="2147483723" r:id="rId11"/>
    <p:sldLayoutId id="2147483724" r:id="rId12"/>
    <p:sldLayoutId id="214748372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734BE-7A7A-F1E1-63A7-A383BBDC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20757325-F007-2AE3-A7D1-47B46DD14080}"/>
              </a:ext>
            </a:extLst>
          </p:cNvPr>
          <p:cNvSpPr/>
          <p:nvPr/>
        </p:nvSpPr>
        <p:spPr>
          <a:xfrm>
            <a:off x="0" y="4445000"/>
            <a:ext cx="12192001" cy="2413001"/>
          </a:xfrm>
          <a:custGeom>
            <a:avLst/>
            <a:gdLst/>
            <a:ahLst/>
            <a:cxnLst/>
            <a:rect l="0" t="0" r="0" b="0"/>
            <a:pathLst>
              <a:path w="12192001" h="2413001">
                <a:moveTo>
                  <a:pt x="0" y="355600"/>
                </a:moveTo>
                <a:lnTo>
                  <a:pt x="12192000" y="0"/>
                </a:lnTo>
                <a:lnTo>
                  <a:pt x="12192000" y="2413000"/>
                </a:lnTo>
                <a:lnTo>
                  <a:pt x="0" y="2413000"/>
                </a:lnTo>
              </a:path>
            </a:pathLst>
          </a:custGeom>
          <a:solidFill>
            <a:srgbClr val="C40D1E"/>
          </a:solid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49AB593-9975-34D5-BA11-9F7831182298}"/>
              </a:ext>
            </a:extLst>
          </p:cNvPr>
          <p:cNvSpPr txBox="1"/>
          <p:nvPr/>
        </p:nvSpPr>
        <p:spPr>
          <a:xfrm>
            <a:off x="550801" y="4973943"/>
            <a:ext cx="8328079" cy="883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Deployment-Oriented Neural Network State Estimation for Battery Management Systems</a:t>
            </a:r>
            <a:endParaRPr lang="de-DE" sz="2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10DB6A5-3E47-4A55-F082-4E7B3D6F7A08}"/>
              </a:ext>
            </a:extLst>
          </p:cNvPr>
          <p:cNvSpPr txBox="1"/>
          <p:nvPr/>
        </p:nvSpPr>
        <p:spPr>
          <a:xfrm>
            <a:off x="550801" y="6085778"/>
            <a:ext cx="8328079" cy="271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Florian Rzepka | Technische Universität Berlin | Disputation 2026</a:t>
            </a: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Bildplatzhalter 3">
            <a:extLst>
              <a:ext uri="{FF2B5EF4-FFF2-40B4-BE49-F238E27FC236}">
                <a16:creationId xmlns:a16="http://schemas.microsoft.com/office/drawing/2014/main" id="{A40D85D5-B56D-C89D-1787-BD24E85D110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25289" b="25289"/>
          <a:stretch>
            <a:fillRect/>
          </a:stretch>
        </p:blipFill>
        <p:spPr>
          <a:xfrm>
            <a:off x="-14400" y="1260572"/>
            <a:ext cx="8885359" cy="3273604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C717799-3DBD-BF10-5238-2EC75FD6F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BA40385-53B8-6F2E-9608-52E95EFA94E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13B885D-3941-8314-4D3C-6274B86A715A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438F174-F0A6-01AA-A5DC-BBE3023A2612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99998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A02F-C9B3-BD87-9823-98CDAA59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BE567D0-46E3-CD33-2ECC-25C9B57837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333500"/>
            <a:ext cx="9721850" cy="4191000"/>
          </a:xfrm>
        </p:spPr>
        <p:txBody>
          <a:bodyPr/>
          <a:lstStyle/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Motivation und Forschungsfragen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State of the Art und Research Gap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Datenbasis und BMS-Plattform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Neural SOH Estimation: Wie viel Modellkomplexität ist nötig?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Zuverlässigkeit und Robustheit der Batteriezustandsbestimmung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Embedded AI: Vom Neural Network zum Microcontroller</a:t>
            </a: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de-DE"/>
              <a:t>Gesamtergebnisse, Schlussfolgerungen und Ausblick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9D7BAF-B25A-9CFF-057A-FC77C4EF5D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Gliederung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F1142E1-A522-088B-464A-5F4BA2F3E50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BD31694-7656-F7A3-1C5D-835E892114D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061966A-BF6E-C292-FE10-EF3EE7A224B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25562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9D05-0C23-2D5B-3A2F-D8D66A7BF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0F0C3E7-1C34-58A5-6384-40A2CBFDA029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1078FAD-F641-B3D6-5731-A555776C5CC8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Motivation und Forschungsfragen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866D280-B86D-C64E-3499-141F02BF4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D2FA6F5E-33AB-B73D-9A7C-09884B346383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194FAE9-4D87-26AC-8480-35A0A72F797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1D6C2C0-1865-10BB-2DF7-76EEDC52E973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73032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3C37-227C-48FE-873A-A2951A3E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D16988-F074-C597-3981-1CE0E3264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Warum deployment-orientierte Zustandsbestimmung?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10D9BA0B-EA83-2A0B-49E3-13B41BF52B06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508C54E-7659-4A0B-A4BB-545D74DF3662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B2D20E-1BB0-E5A3-3DEA-92B7D5C22786}"/>
              </a:ext>
            </a:extLst>
          </p:cNvPr>
          <p:cNvSpPr txBox="1"/>
          <p:nvPr/>
        </p:nvSpPr>
        <p:spPr>
          <a:xfrm>
            <a:off x="635000" y="15875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Stationäre Microgrids und mobile Systeme mit begrenzter Kommunikation oder Wartung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SOC und SOH müssen lokal, kontinuierlich und kausal verfügbar sein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Embedded systems begrenzen Speicher, Rechenzeit und Energie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Praktische Eignung verbindet Accuracy, Robustness und Hardwarebedarf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9BEEAE-F1AD-D3E0-4DFA-55E3038E25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3632"/>
            <a:ext cx="5397500" cy="320023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F97E49E-718D-686F-6513-505DD5953E68}"/>
              </a:ext>
            </a:extLst>
          </p:cNvPr>
          <p:cNvSpPr txBox="1"/>
          <p:nvPr/>
        </p:nvSpPr>
        <p:spPr>
          <a:xfrm>
            <a:off x="4889500" y="53340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Lokale Zustandsbestimmung als Voraussetzung für autonomen Betrieb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A2211BF-2A85-CDFD-2E92-F537C1196BF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6041B1D-8499-BCF9-8CD3-62CD2A7B97B7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4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13ED1B1-1FE0-3146-F073-9263825B086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49249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15A3-B37A-6D18-689C-68A7DBEF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70B3FF-9EEB-0865-FA53-26A06D108C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Forschungsfragen und roter Faden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9DCC747E-D7D9-0791-64C9-0209DA2E476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25D82F-FA66-FBD2-8A06-22F963E8B097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86AC954-0FF2-5046-C61F-B26A1596D8AE}"/>
              </a:ext>
            </a:extLst>
          </p:cNvPr>
          <p:cNvSpPr/>
          <p:nvPr/>
        </p:nvSpPr>
        <p:spPr>
          <a:xfrm>
            <a:off x="609600" y="16510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7E4FE43-FD58-9FD1-C8F9-B201B571005A}"/>
              </a:ext>
            </a:extLst>
          </p:cNvPr>
          <p:cNvSpPr/>
          <p:nvPr/>
        </p:nvSpPr>
        <p:spPr>
          <a:xfrm>
            <a:off x="7620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468774B-4020-9A56-F5E7-2C7C6C7B4BE5}"/>
              </a:ext>
            </a:extLst>
          </p:cNvPr>
          <p:cNvSpPr txBox="1"/>
          <p:nvPr/>
        </p:nvSpPr>
        <p:spPr>
          <a:xfrm>
            <a:off x="13081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Modellkomplexität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91C6C8F-C3B6-9024-78E6-4FFE57D4B6C1}"/>
              </a:ext>
            </a:extLst>
          </p:cNvPr>
          <p:cNvSpPr txBox="1"/>
          <p:nvPr/>
        </p:nvSpPr>
        <p:spPr>
          <a:xfrm>
            <a:off x="8128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einfach darf das neuronale Netz sein?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4F0EF7B-FBCF-4C2E-3EEA-E8228F3FA45E}"/>
              </a:ext>
            </a:extLst>
          </p:cNvPr>
          <p:cNvSpPr/>
          <p:nvPr/>
        </p:nvSpPr>
        <p:spPr>
          <a:xfrm>
            <a:off x="3873500" y="16510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4BCA2A5-5D21-0D31-ECA2-94113ED06E42}"/>
              </a:ext>
            </a:extLst>
          </p:cNvPr>
          <p:cNvSpPr/>
          <p:nvPr/>
        </p:nvSpPr>
        <p:spPr>
          <a:xfrm>
            <a:off x="40259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9DC06D0-CEAA-3DE4-8F9E-38471641C10E}"/>
              </a:ext>
            </a:extLst>
          </p:cNvPr>
          <p:cNvSpPr txBox="1"/>
          <p:nvPr/>
        </p:nvSpPr>
        <p:spPr>
          <a:xfrm>
            <a:off x="45720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Robustness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1FADFE2-28E4-6EC3-1333-7667A53804FF}"/>
              </a:ext>
            </a:extLst>
          </p:cNvPr>
          <p:cNvSpPr txBox="1"/>
          <p:nvPr/>
        </p:nvSpPr>
        <p:spPr>
          <a:xfrm>
            <a:off x="40767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stabil bleibt der Estimator bei Störungen?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338485E-2726-49FC-6DF3-DCF7578DE3AC}"/>
              </a:ext>
            </a:extLst>
          </p:cNvPr>
          <p:cNvSpPr/>
          <p:nvPr/>
        </p:nvSpPr>
        <p:spPr>
          <a:xfrm>
            <a:off x="7137400" y="16510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0DA1E29-4D8D-C312-F56F-DAFC0E074143}"/>
              </a:ext>
            </a:extLst>
          </p:cNvPr>
          <p:cNvSpPr/>
          <p:nvPr/>
        </p:nvSpPr>
        <p:spPr>
          <a:xfrm>
            <a:off x="7289800" y="18034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FF64BEE-B49B-C21E-D58A-8288CFD0CA8A}"/>
              </a:ext>
            </a:extLst>
          </p:cNvPr>
          <p:cNvSpPr txBox="1"/>
          <p:nvPr/>
        </p:nvSpPr>
        <p:spPr>
          <a:xfrm>
            <a:off x="7835900" y="18288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Embedded deployment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ECB26FB-4547-6B2E-1969-CE26B78203C4}"/>
              </a:ext>
            </a:extLst>
          </p:cNvPr>
          <p:cNvSpPr txBox="1"/>
          <p:nvPr/>
        </p:nvSpPr>
        <p:spPr>
          <a:xfrm>
            <a:off x="7340600" y="23749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Wie gelingt die Ausführung auf dem MCU?</a:t>
            </a:r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F54CC078-F2EA-3F7A-AE72-296CE625A293}"/>
              </a:ext>
            </a:extLst>
          </p:cNvPr>
          <p:cNvSpPr/>
          <p:nvPr/>
        </p:nvSpPr>
        <p:spPr>
          <a:xfrm>
            <a:off x="3479800" y="2184400"/>
            <a:ext cx="355600" cy="304800"/>
          </a:xfrm>
          <a:prstGeom prst="rightArrow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C4D135D9-C0AE-00AE-5F68-81F5B24C61E2}"/>
              </a:ext>
            </a:extLst>
          </p:cNvPr>
          <p:cNvSpPr/>
          <p:nvPr/>
        </p:nvSpPr>
        <p:spPr>
          <a:xfrm>
            <a:off x="6743700" y="2184400"/>
            <a:ext cx="355600" cy="304800"/>
          </a:xfrm>
          <a:prstGeom prst="rightArrow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66F70A6-1529-E845-F915-4CEB9C8A53C6}"/>
              </a:ext>
            </a:extLst>
          </p:cNvPr>
          <p:cNvSpPr txBox="1"/>
          <p:nvPr/>
        </p:nvSpPr>
        <p:spPr>
          <a:xfrm>
            <a:off x="889000" y="36195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RQ1: Wie komplex müssen neuronale Netze für eine genaue SOC- und SOH-Bestimmung tatsächlich sein?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RQ2: Wie verändern Messstörungen und Zustandsfehler die Zuverlässigkeit verschiedener Estimator-Klassen?</a:t>
            </a:r>
          </a:p>
          <a:p>
            <a:pPr>
              <a:spcAft>
                <a:spcPts val="8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RQ3: Wie lassen sich neuronale Estimatoren innerhalb der Memory-, Latency- und Energy-Limits eines BMS einsetzen?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1A9A705-C099-EAC0-5C7F-226ACA6F36D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924A7D2-1BCD-DC72-E664-9640E370082A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5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8425B2B-A73C-BDBE-A042-4C6A8AB0138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48792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A4A7A-4F8B-510C-E402-3D211DD43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731F4E8-5903-4F15-3E17-B7A53C1C776E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1D593D0-C6E0-C10F-749F-CB1B3706A44C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Arial" panose="020B0604020202020204" pitchFamily="34" charset="0"/>
              </a:rPr>
              <a:t>State of the Art und Research Gap</a:t>
            </a:r>
            <a:endParaRPr lang="de-DE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6F4E66-BBE5-56BE-4821-D7E1AB56E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6329156-5A51-BE21-8CCB-27DA52CDC17F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DBA6012-F7EC-0F86-B865-03E7444DF1B3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1A8EB14-DFEF-677D-75D5-40208D4128F7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4672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8445-1309-E2F1-8F29-BE80473C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4ADC53-0395-A5B0-8F09-94F8C97713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State of the Art: Battery State Estimation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1B2B4F2A-A5B7-2EF6-AC28-6A9B1E54BDF9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09AE40F-C500-4394-265D-22A87151995F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7FA00-DE77-4464-298A-EE803C9AC60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01322" y="1371600"/>
            <a:ext cx="9087555" cy="2921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2751C8F-E490-35B3-0449-420049C899CC}"/>
              </a:ext>
            </a:extLst>
          </p:cNvPr>
          <p:cNvSpPr txBox="1"/>
          <p:nvPr/>
        </p:nvSpPr>
        <p:spPr>
          <a:xfrm>
            <a:off x="825500" y="43815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Coulomb Counting: geringer Rechenaufwand, aber akkumulierte Drift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Kalman-filter- und ECM-based approaches: physikalische Korrektur und transparente State Propagation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Neural estimators: flexible nonlinear mapping und temporal context, aber abhängig von repräsentativen Daten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CFFD862-E800-9F3A-3C72-126AF462FD22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B15A7A9-B0CA-08BF-06DB-F60694C9E746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7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0209438-EE32-50AF-AB30-08E664023D8B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03354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097AA-373C-EAAE-8F08-6D36623D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180F6B-BF11-1F86-F89F-D5F68C40F0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Research Gap und Beitrag dieser Arbeit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0E5C4B2D-751E-93C8-7E47-BF0528E4E96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3BF1B14-943E-9304-54B1-C64B703D34E1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4FEACF5-BFDA-C549-D64F-3B0760ED7B6A}"/>
              </a:ext>
            </a:extLst>
          </p:cNvPr>
          <p:cNvSpPr/>
          <p:nvPr/>
        </p:nvSpPr>
        <p:spPr>
          <a:xfrm>
            <a:off x="6096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45F715E-4701-07E8-6B50-E6F3352ADE2A}"/>
              </a:ext>
            </a:extLst>
          </p:cNvPr>
          <p:cNvSpPr/>
          <p:nvPr/>
        </p:nvSpPr>
        <p:spPr>
          <a:xfrm>
            <a:off x="7620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9DCCEE4-FAD8-39CA-9BE9-AAA45CCB89B0}"/>
              </a:ext>
            </a:extLst>
          </p:cNvPr>
          <p:cNvSpPr txBox="1"/>
          <p:nvPr/>
        </p:nvSpPr>
        <p:spPr>
          <a:xfrm>
            <a:off x="13081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Model Design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805930B-841A-31B8-139D-48BD27DF3B0B}"/>
              </a:ext>
            </a:extLst>
          </p:cNvPr>
          <p:cNvSpPr txBox="1"/>
          <p:nvPr/>
        </p:nvSpPr>
        <p:spPr>
          <a:xfrm>
            <a:off x="8128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Model complexity kompensiert fehlende task-aligned features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168399D-CDF2-D135-C021-A782A75F9FF7}"/>
              </a:ext>
            </a:extLst>
          </p:cNvPr>
          <p:cNvSpPr/>
          <p:nvPr/>
        </p:nvSpPr>
        <p:spPr>
          <a:xfrm>
            <a:off x="38735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A0C502D-EFA8-08CD-A415-B6C3B9D4BC11}"/>
              </a:ext>
            </a:extLst>
          </p:cNvPr>
          <p:cNvSpPr/>
          <p:nvPr/>
        </p:nvSpPr>
        <p:spPr>
          <a:xfrm>
            <a:off x="40259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5D9D438-C519-F2D5-8AA8-8FAA529C01DC}"/>
              </a:ext>
            </a:extLst>
          </p:cNvPr>
          <p:cNvSpPr txBox="1"/>
          <p:nvPr/>
        </p:nvSpPr>
        <p:spPr>
          <a:xfrm>
            <a:off x="45720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Evaluation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4481963-A923-EFCA-7EDB-7FCE612CC5A0}"/>
              </a:ext>
            </a:extLst>
          </p:cNvPr>
          <p:cNvSpPr txBox="1"/>
          <p:nvPr/>
        </p:nvSpPr>
        <p:spPr>
          <a:xfrm>
            <a:off x="40767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767171"/>
                </a:solidFill>
                <a:latin typeface="Arial" panose="020B0604020202020204" pitchFamily="34" charset="0"/>
              </a:rPr>
              <a:t>Clean MAE statt Bias, Noise, Dropouts und Recovery</a:t>
            </a:r>
            <a:endParaRPr lang="de-DE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96603A6-1FE9-137B-85D2-C67CF55EA32E}"/>
              </a:ext>
            </a:extLst>
          </p:cNvPr>
          <p:cNvSpPr/>
          <p:nvPr/>
        </p:nvSpPr>
        <p:spPr>
          <a:xfrm>
            <a:off x="71374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4FE2823-062C-CB84-EFA0-70C458DE4F74}"/>
              </a:ext>
            </a:extLst>
          </p:cNvPr>
          <p:cNvSpPr/>
          <p:nvPr/>
        </p:nvSpPr>
        <p:spPr>
          <a:xfrm>
            <a:off x="72898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666E99C-F461-501F-C7E5-C92AF4EEC202}"/>
              </a:ext>
            </a:extLst>
          </p:cNvPr>
          <p:cNvSpPr txBox="1"/>
          <p:nvPr/>
        </p:nvSpPr>
        <p:spPr>
          <a:xfrm>
            <a:off x="78359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Deployment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856B050-EC0B-1090-F515-ABEE031ABB48}"/>
              </a:ext>
            </a:extLst>
          </p:cNvPr>
          <p:cNvSpPr txBox="1"/>
          <p:nvPr/>
        </p:nvSpPr>
        <p:spPr>
          <a:xfrm>
            <a:off x="73406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767171"/>
                </a:solidFill>
                <a:latin typeface="Arial" panose="020B0604020202020204" pitchFamily="34" charset="0"/>
              </a:rPr>
              <a:t>Offline inference statt measured MCU behavior</a:t>
            </a:r>
            <a:endParaRPr lang="de-DE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BD7F0B6-850E-5B52-1D2B-180E02B8AC32}"/>
              </a:ext>
            </a:extLst>
          </p:cNvPr>
          <p:cNvSpPr txBox="1"/>
          <p:nvPr/>
        </p:nvSpPr>
        <p:spPr>
          <a:xfrm>
            <a:off x="952500" y="3810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Research Gap: keine durchgängige Bewertung von representation, robustness und embedded execution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Beitrag: drei verknüpfte Studien entlang gemeinsamer BMS Requirements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037ED41-9F05-F510-B974-8304389DEA3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732C65-0C7B-C01B-9F10-C2712E9EF8B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8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75B92BE-37CE-9218-7768-9710485496F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833784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AE4DD-3C04-021A-9A36-4E270BB4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B7A35EC-9FC3-479A-F6EB-005FBD514EE7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EB5E24B-D047-37E5-3D70-EAE14E89B4E7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Datenbasis und BMS-Plattform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3AA3394-4067-A130-41F2-BE25F97FA654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946E582-FA01-E38B-F65A-DDD6D672416C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25F1A0F-ED06-C63A-F7CD-304A8713C13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825232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6657-AEF4-EA5E-1645-CE304F67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D4C046-ABC0-A087-66A6-CE5A2A5A6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Zwei Datenbasen für drei Untersuchungen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6242B39B-1FBC-5713-1541-1319658233D5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6341146-1AD8-B130-A556-C7575F608458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8107981-CB76-7C1C-C8DA-20B6E8DCEA46}"/>
              </a:ext>
            </a:extLst>
          </p:cNvPr>
          <p:cNvSpPr/>
          <p:nvPr/>
        </p:nvSpPr>
        <p:spPr>
          <a:xfrm>
            <a:off x="571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E3E7EE2-4D32-CF65-2AD1-52950F088449}"/>
              </a:ext>
            </a:extLst>
          </p:cNvPr>
          <p:cNvSpPr txBox="1"/>
          <p:nvPr/>
        </p:nvSpPr>
        <p:spPr>
          <a:xfrm>
            <a:off x="571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NMC Ageing Study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E7D7780-2875-D2FF-9A92-07ADF33822A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19543"/>
            <a:ext cx="4445000" cy="2180715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CE232A8-DC6C-4B1E-C138-CAEDF57E6328}"/>
              </a:ext>
            </a:extLst>
          </p:cNvPr>
          <p:cNvSpPr txBox="1"/>
          <p:nvPr/>
        </p:nvSpPr>
        <p:spPr>
          <a:xfrm>
            <a:off x="698500" y="4381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14 Zellen und 7 Alterungsszenarien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Periodische Referenzkapazität als SOH label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A126706-0376-2FF1-90EA-6E9D800FB5E9}"/>
              </a:ext>
            </a:extLst>
          </p:cNvPr>
          <p:cNvSpPr/>
          <p:nvPr/>
        </p:nvSpPr>
        <p:spPr>
          <a:xfrm>
            <a:off x="5397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0417E01-FDC4-7B73-BFA3-D12F3F8956C2}"/>
              </a:ext>
            </a:extLst>
          </p:cNvPr>
          <p:cNvSpPr txBox="1"/>
          <p:nvPr/>
        </p:nvSpPr>
        <p:spPr>
          <a:xfrm>
            <a:off x="5397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LFP DoE Campaign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95C8981-4B99-7190-BB7C-CB8313F3E26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71" y="1803400"/>
            <a:ext cx="3108858" cy="2413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398AB5EE-9E78-9968-AC7B-74394E732524}"/>
              </a:ext>
            </a:extLst>
          </p:cNvPr>
          <p:cNvSpPr txBox="1"/>
          <p:nvPr/>
        </p:nvSpPr>
        <p:spPr>
          <a:xfrm>
            <a:off x="5524500" y="4381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15 Zellen und 8 operating points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1-Hz measurements für SOC, SOH und Robustness tests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A2DC4B9-46F7-9344-7188-A1856D010956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EB2D9C6-F650-FA37-6CE3-0973580F3C75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10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2482162-224E-442E-0833-C9F9A00EBE6D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549940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2250-B6E1-5A26-6CA2-CF0044685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65DF39-DF8D-A07F-165D-F7FB102126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Custom BMS als gemeinsame Experimental Platform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D7A2C678-9326-5F6B-4CE0-147E5FEB2F2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C8DA90A-117A-D254-5771-2F845A654AB0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24579B8-8470-599C-0408-751E9EA3E18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2061369"/>
            <a:ext cx="6159500" cy="292576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076788A-DAFA-9E81-16A4-B53797510A50}"/>
              </a:ext>
            </a:extLst>
          </p:cNvPr>
          <p:cNvSpPr txBox="1"/>
          <p:nvPr/>
        </p:nvSpPr>
        <p:spPr>
          <a:xfrm>
            <a:off x="6794500" y="15240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Custom 4s BMS: Zellspannungen, Strom und Temperatur über Battery-Monitoring IC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STM32H755 Dual Core: Cortex-M7 mit 480 MHz und Cortex-M4 mit 240 MHz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M7: State Estimation | M4: sensing, balancing und communication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Open firmware für austauschbare Estimatoren und wiederholbare Hardwaretests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ED8A42-B3E8-87B6-4B14-F222FC786C2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3777422-CDE9-7787-695E-BD06C59691BB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11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3E936BC-3C41-F5C6-51A3-6C132233E6E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49065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6785-9FD2-E8EB-B7B7-1AA387CC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545013C-1C18-0C33-0F52-478DAD0049A0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C443A4C-D262-3646-2FD1-76A09EC02DD8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Neural SOH Estimation: Wie viel Modellkomplexität ist nötig?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9AB29E9-60A5-78A3-6B3B-C1BE544D5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B97FD0A-DA33-CAC0-8516-8990F2E8960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A36718E-825F-583C-5A8E-93A00A596DB0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F04323F-2F21-5D36-73C1-F21A815392BE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085606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6A3B-54E5-2B5A-885D-A3D788E7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18575E-1C52-0166-908F-6098049C4D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Temporal Context durch Feature Engineering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76948446-2E56-CA6F-F320-7A8EED158E25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91D74C7-AEE3-61EF-FED6-F952F0AAF487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D3BE1DB-F72E-C29D-C1CF-96D193015EA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4067"/>
            <a:ext cx="6540500" cy="293556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EF8116E-4CC2-02EB-23E8-B12A99A9EF54}"/>
              </a:ext>
            </a:extLst>
          </p:cNvPr>
          <p:cNvSpPr/>
          <p:nvPr/>
        </p:nvSpPr>
        <p:spPr>
          <a:xfrm>
            <a:off x="7302500" y="1803400"/>
            <a:ext cx="260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67511A8-CE64-7E1C-0A20-7AD424468DB6}"/>
              </a:ext>
            </a:extLst>
          </p:cNvPr>
          <p:cNvSpPr txBox="1"/>
          <p:nvPr/>
        </p:nvSpPr>
        <p:spPr>
          <a:xfrm>
            <a:off x="7302500" y="14986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Temporal Context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E12B36C-2520-5E0F-B754-5048749D02E0}"/>
              </a:ext>
            </a:extLst>
          </p:cNvPr>
          <p:cNvSpPr txBox="1"/>
          <p:nvPr/>
        </p:nvSpPr>
        <p:spPr>
          <a:xfrm>
            <a:off x="7302500" y="20955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Historie wird in den Feature-Vektor verlagert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Das MLP benötigt dadurch keinen recurrent state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Kontextlänge steuert Informationsgehalt und Eingangsgröße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90539E4-DD2B-411C-5A58-D4F57A970DD8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53E167B-F7EF-A838-7EA9-4FBB10B873C7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6CD8844-FE86-7DC3-15EC-89F9458DCE2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663771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4080-1511-085D-3807-DDEBC4AD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051D0E-97B7-BF5B-0803-AF65FA4B28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Compact MLP für die SOH Estimation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D061924E-A84D-2ADE-6A97-4C8061E6E53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FD89A5C-9249-14B1-0D2A-4EBC0E4963ED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D818973-68D1-863A-2087-A51BB69E06C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75681" y="1308100"/>
            <a:ext cx="5814637" cy="431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00838E0-5821-5F1F-5760-30AF5AED6BB2}"/>
              </a:ext>
            </a:extLst>
          </p:cNvPr>
          <p:cNvSpPr txBox="1"/>
          <p:nvPr/>
        </p:nvSpPr>
        <p:spPr>
          <a:xfrm>
            <a:off x="7048500" y="17145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Bewusst einfache feedforward architecture als Test der Repräsentation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Zeitliche Information entsteht außerhalb des Netzes durch Feature Engineering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Modellkapazität und zeitliche Informationsaufbereitung bleiben getrennt bewertbar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7CA2A5F-1E0C-2122-53EF-DCDEA8617FB7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C2F77D4-9FE9-FA70-6F9D-F78693225EE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AFA840-90B6-E29C-BF30-E06A3F233949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760492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8C3B-15D0-4510-574F-EE5BCE46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42A13C-4E38-9B4C-49B1-B20F26B7A0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Ergebnis: Geeignete Features ermöglichen kleine Netze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6DDA17C4-F17E-619D-B8E8-BA0D817FB00D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45DDA91-339F-85E0-6BF3-8F29D1CD67C3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EF7F41D-BA88-259D-F269-96E334012E6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327150"/>
            <a:ext cx="9334500" cy="31115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6C03D11-70DA-8866-05F3-C3C90C630395}"/>
              </a:ext>
            </a:extLst>
          </p:cNvPr>
          <p:cNvSpPr/>
          <p:nvPr/>
        </p:nvSpPr>
        <p:spPr>
          <a:xfrm>
            <a:off x="762000" y="4699000"/>
            <a:ext cx="50800" cy="609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132DFBC-C38D-DF58-7DA5-B33D57FA8FCF}"/>
              </a:ext>
            </a:extLst>
          </p:cNvPr>
          <p:cNvSpPr txBox="1"/>
          <p:nvPr/>
        </p:nvSpPr>
        <p:spPr>
          <a:xfrm>
            <a:off x="901700" y="4673600"/>
            <a:ext cx="240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1,10 pp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37751BB-970A-B381-7987-6BE50CEE88C4}"/>
              </a:ext>
            </a:extLst>
          </p:cNvPr>
          <p:cNvSpPr txBox="1"/>
          <p:nvPr/>
        </p:nvSpPr>
        <p:spPr>
          <a:xfrm>
            <a:off x="901700" y="5041900"/>
            <a:ext cx="2400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mittlerer SOH MAE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03CC476-D852-3F1C-C0AA-59824F7D9908}"/>
              </a:ext>
            </a:extLst>
          </p:cNvPr>
          <p:cNvSpPr/>
          <p:nvPr/>
        </p:nvSpPr>
        <p:spPr>
          <a:xfrm>
            <a:off x="3619500" y="4699000"/>
            <a:ext cx="50800" cy="609600"/>
          </a:xfrm>
          <a:prstGeom prst="rect">
            <a:avLst/>
          </a:prstGeom>
          <a:solidFill>
            <a:srgbClr val="1F77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8410B36-0488-D648-2871-C25D96226B27}"/>
              </a:ext>
            </a:extLst>
          </p:cNvPr>
          <p:cNvSpPr txBox="1"/>
          <p:nvPr/>
        </p:nvSpPr>
        <p:spPr>
          <a:xfrm>
            <a:off x="3759200" y="46736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160 min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4567181-4F19-73FF-D24C-CB7B03DF226D}"/>
              </a:ext>
            </a:extLst>
          </p:cNvPr>
          <p:cNvSpPr txBox="1"/>
          <p:nvPr/>
        </p:nvSpPr>
        <p:spPr>
          <a:xfrm>
            <a:off x="3759200" y="5041900"/>
            <a:ext cx="259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beste History-Konfiguration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B2E7ADB-B4A2-CC25-4B91-783D5F12ACEF}"/>
              </a:ext>
            </a:extLst>
          </p:cNvPr>
          <p:cNvSpPr/>
          <p:nvPr/>
        </p:nvSpPr>
        <p:spPr>
          <a:xfrm>
            <a:off x="6794500" y="4699000"/>
            <a:ext cx="50800" cy="609600"/>
          </a:xfrm>
          <a:prstGeom prst="rect">
            <a:avLst/>
          </a:prstGeom>
          <a:solidFill>
            <a:srgbClr val="76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8C5B63A-5A02-E9B7-2DF4-A97D5EA9530D}"/>
              </a:ext>
            </a:extLst>
          </p:cNvPr>
          <p:cNvSpPr txBox="1"/>
          <p:nvPr/>
        </p:nvSpPr>
        <p:spPr>
          <a:xfrm>
            <a:off x="6934200" y="46736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2200" b="1">
                <a:solidFill>
                  <a:srgbClr val="434343"/>
                </a:solidFill>
                <a:latin typeface="Arial" panose="020B0604020202020204" pitchFamily="34" charset="0"/>
              </a:rPr>
              <a:t>Cell 9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3944D05-7756-F9E4-69E0-602A9E314D21}"/>
              </a:ext>
            </a:extLst>
          </p:cNvPr>
          <p:cNvSpPr txBox="1"/>
          <p:nvPr/>
        </p:nvSpPr>
        <p:spPr>
          <a:xfrm>
            <a:off x="6934200" y="5041900"/>
            <a:ext cx="2654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Grenze bei atypischer Alterung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CD5D033-758D-E8EC-9B29-48546C7609D0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36AEC21-152A-A65C-1119-555031F28254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15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1B9570B-9DFF-6890-26E4-4153D56082F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439857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5465-1822-C07B-8A33-58302E35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27AAF10-4A45-0DBD-D636-57E7FAD3D284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AECADEC-168F-BE40-07C0-11EA0E367470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Zuverlässigkeit und Robustheit der Batteriezustandsbestimmung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15869C-DFED-0205-15A1-43A62A8F3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1B1363CE-C181-CC54-F180-84F94812CD3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6132901-542C-1EB7-8355-328852B0323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0008CE-EBB9-F549-705E-C785107BC2AF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032435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393E1-E00A-F215-29A5-B4FA6015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B6656E-1A64-300F-56E6-71F0FBBC99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Vier Estimator-Klassen im direkten Vergleich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B0B59E13-2E7C-4462-C592-CE116C23FC40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0A4EA1-BF98-FAF9-A3AD-65991DCAA4C7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0A68157-6C98-B163-104D-EB6C4CB182D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86939"/>
            <a:ext cx="9334500" cy="257282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40145CA-9F07-3422-A9A2-CDC48AB3612C}"/>
              </a:ext>
            </a:extLst>
          </p:cNvPr>
          <p:cNvSpPr txBox="1"/>
          <p:nvPr/>
        </p:nvSpPr>
        <p:spPr>
          <a:xfrm>
            <a:off x="889000" y="41275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Identischer Messstrom und gleiche Störungsverläufe isolieren das Estimator-Verhalten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Vier Korrekturprinzipien statt vier unterschiedlich getesteter Modelle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Getrennte Evidenz für nominale Accuracy, Recovery und Disturbance response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319B5D-CD77-4AC7-C555-E289BF19412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A917069-BD8A-FE92-696C-29CA56F5B70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17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5756D5A-9514-755B-844A-BBAD6C612E1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6855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69405-0D64-5258-D5A8-02F4282E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888FDF-58D2-693E-0594-6A75D9D45A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Nominale Accuracy ist nur der Ausgangspunkt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27372871-6E86-A503-9461-72DE22C9D063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CF93FB0-383F-C0B9-61AC-66F43C2F7C88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5E2158F-5836-6BBE-7ED9-A53A4161B3E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7" y="1333500"/>
            <a:ext cx="5926667" cy="4445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9E1A667-1827-1896-F7E0-155A34007140}"/>
              </a:ext>
            </a:extLst>
          </p:cNvPr>
          <p:cNvSpPr txBox="1"/>
          <p:nvPr/>
        </p:nvSpPr>
        <p:spPr>
          <a:xfrm>
            <a:off x="7175500" y="16510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Unter nominalen Signalen profitiert HDM von der SOH-gestützten Kapazitätsanpassung</a:t>
            </a:r>
          </a:p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clean ranking dient nur als Referenz für die Disturbance tests</a:t>
            </a:r>
          </a:p>
          <a:p>
            <a:pPr>
              <a:spcAft>
                <a:spcPts val="11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Der niedrigste MAE sagt noch nichts über Drift oder Recovery aus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F470DC7-2366-C50A-5DE6-563DA725C55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708D9A7-22AE-C9A2-9412-E2091F6BAB85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18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DA5482A-458A-8E24-D4A0-B40A35086749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428046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60E1D-F06A-3B95-2F50-3AB663743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3FAE61-1237-EB55-E9BD-61FB800D12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Messstörungen verändern die Estimator-Rangfolge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63FD3967-BD97-DA80-C706-3116D5556C8C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6B2FEFE-C14E-CF8F-45A2-3B9DD3142B94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A6040A-9298-1BF3-3187-C2A7CC62A3F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82587"/>
            <a:ext cx="6794500" cy="2807127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AA412AF-05E2-AE06-8CB8-C686096798AB}"/>
              </a:ext>
            </a:extLst>
          </p:cNvPr>
          <p:cNvSpPr txBox="1"/>
          <p:nvPr/>
        </p:nvSpPr>
        <p:spPr>
          <a:xfrm>
            <a:off x="7556500" y="15875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Persistenter Bias akkumuliert in integrationsbasierten Pfaden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Voltage feedback begrenzt systematischen Drift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Temporal context unterstützt bei Dropouts und Recovery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Die Rangfolge folgt dem dominanten Fehlermechanismus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122DF2E-8B29-1A48-519C-39958CCA15FE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52F8DED-B87D-1307-26E3-7E0E872220A3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19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5ADE522-0992-2CF1-E45B-BAB0F1D374A8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4057426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12BB-DA99-4A27-F5B1-3022F861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DDACB0-582E-8DD7-77A6-E36D2B363B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Der beste Estimator hängt vom Fehlerfall ab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3BC48FB4-6EF8-7E09-175F-5D70842697B4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02E82DB-F082-6A81-26C8-5742B48D47A1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3241714-89BA-023C-0C96-A0F065D9BD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0388" y="1295400"/>
            <a:ext cx="9300523" cy="4318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551003C-2058-7C76-2D09-B16C0D34B506}"/>
              </a:ext>
            </a:extLst>
          </p:cNvPr>
          <p:cNvSpPr txBox="1"/>
          <p:nvPr/>
        </p:nvSpPr>
        <p:spPr>
          <a:xfrm>
            <a:off x="990600" y="53086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Estimator-Auswahl = relevantes Störprofil + geeigneter Korrekturmechanismus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F7C9A08-3D7C-A849-6C23-3F1E9D354B5C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967FCF0-B1B2-0468-2112-59D657C73DE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20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A40237F-C74B-FD06-4AD1-CA75C3CD95A9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981666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BC17-E183-8C25-9D1A-0EA153CF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AFFACE90-C211-3ACF-2164-607C9981B21B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01F082E-8F6C-88AF-6612-4AF487A086A5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Embedded AI: Vom Neural Network zum Microcontroller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E9E5752-B6F8-C029-1257-A0BC8945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BB2CDD54-7666-5661-63A1-1F838DA89E6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FAC014E-0033-1458-05AD-0E176E978E69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BED627D-66B8-7698-EDD3-F52EDF8A7F7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24924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B34D-8C94-329A-55E7-7C6DDC0E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FE51765-BCFA-3674-AFC9-E87ADF325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Deployment Chain: vom PyTorch Model zur STM32 Inference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EF9176E5-F7C0-0039-079D-9FFB47BE5AD4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D24EBB2-7017-CD20-A233-68A58A28BB59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FA11C0-DCD9-806E-2B32-E905B88F136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50" y="1270000"/>
            <a:ext cx="5378499" cy="17145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D95DB95-EBDB-BF74-A40A-2068543CB27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48611" y="3111500"/>
            <a:ext cx="7192979" cy="19685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0901FFB-DB52-0A02-7C09-43F59854287B}"/>
              </a:ext>
            </a:extLst>
          </p:cNvPr>
          <p:cNvSpPr txBox="1"/>
          <p:nvPr/>
        </p:nvSpPr>
        <p:spPr>
          <a:xfrm>
            <a:off x="698500" y="5143500"/>
            <a:ext cx="908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Ein identischer recurrent inference path isoliert den Effekt der Compression</a:t>
            </a:r>
          </a:p>
          <a:p>
            <a:pPr>
              <a:spcAft>
                <a:spcPts val="2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Flash, RAM und kernel time ergänzen die Accuracy um gemessene Hardwaremetriken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E876D0E-7066-8FB9-FC4B-67FE5B85B51C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D6AFE64-2857-5E5D-FF22-33A7B30362B2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22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1B3DFE1-A309-55D9-2A2E-573818C29E7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4116349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5DBAF-F9FD-A977-E43E-45DB9344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03A3FBF-6E8D-2132-099C-1D4428893D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Pruning und Quantization für Embedded Deployment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CEE2F630-EE93-4475-8A94-D08C554DFFEC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B74CBFF-49DE-319C-3CC0-2906858CD455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2F952E9-A478-E01D-176F-D6BA2EDFA30D}"/>
              </a:ext>
            </a:extLst>
          </p:cNvPr>
          <p:cNvSpPr/>
          <p:nvPr/>
        </p:nvSpPr>
        <p:spPr>
          <a:xfrm>
            <a:off x="571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47592F1-CA3E-A28B-781D-8320E06D07D6}"/>
              </a:ext>
            </a:extLst>
          </p:cNvPr>
          <p:cNvSpPr txBox="1"/>
          <p:nvPr/>
        </p:nvSpPr>
        <p:spPr>
          <a:xfrm>
            <a:off x="571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Structured pruning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9B2DB5E-6265-1BE7-5FDC-9F8E7712B73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29942"/>
            <a:ext cx="4445000" cy="1940916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4B068D0-5FF1-533A-FDF0-B07BE944C51C}"/>
              </a:ext>
            </a:extLst>
          </p:cNvPr>
          <p:cNvSpPr txBox="1"/>
          <p:nvPr/>
        </p:nvSpPr>
        <p:spPr>
          <a:xfrm>
            <a:off x="698500" y="4724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Komplette hidden channels entfernt</a:t>
            </a:r>
          </a:p>
          <a:p>
            <a:pPr>
              <a:spcAft>
                <a:spcPts val="3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Kleinere dense tensors nach fine-tuning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90CFCA3-08C9-B84E-4698-B123F9AD9414}"/>
              </a:ext>
            </a:extLst>
          </p:cNvPr>
          <p:cNvSpPr/>
          <p:nvPr/>
        </p:nvSpPr>
        <p:spPr>
          <a:xfrm>
            <a:off x="5397500" y="1638300"/>
            <a:ext cx="4445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AD37402-BC32-2431-9FB5-6BADCB610998}"/>
              </a:ext>
            </a:extLst>
          </p:cNvPr>
          <p:cNvSpPr txBox="1"/>
          <p:nvPr/>
        </p:nvSpPr>
        <p:spPr>
          <a:xfrm>
            <a:off x="5397500" y="1333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INT8 weight quantization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3DD4BC0-8777-8BAB-9499-9DA061B715F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0" y="2328280"/>
            <a:ext cx="4445000" cy="174424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8001B23-3E06-D4A4-15CC-2A1AE7133454}"/>
              </a:ext>
            </a:extLst>
          </p:cNvPr>
          <p:cNvSpPr txBox="1"/>
          <p:nvPr/>
        </p:nvSpPr>
        <p:spPr>
          <a:xfrm>
            <a:off x="5524500" y="4724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3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Recurrent weights auf signed INT8 gemappt</a:t>
            </a:r>
          </a:p>
          <a:p>
            <a:pPr>
              <a:spcAft>
                <a:spcPts val="3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States, scales und MLP bleiben FP32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F396662-63D9-1E19-29E8-4529EBE15BB1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755F677-E828-EE6F-5156-F89272FF0F9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23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7150DE4-BAC9-0240-05D9-6C9CE80A848F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2002401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4277A-3AFE-63F7-98C1-46535425E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A74119-A25C-3921-2E0C-AA1AAEBC06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Accuracy und Stabilität im Streaming Replay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4B06643C-02ED-7A9C-FAEF-27D806869D1F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251C1-1EF1-0C6C-2F04-A3BB5F242EAB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40E765C-C4B0-A422-FEC3-A6AA8279E3F3}"/>
              </a:ext>
            </a:extLst>
          </p:cNvPr>
          <p:cNvSpPr/>
          <p:nvPr/>
        </p:nvSpPr>
        <p:spPr>
          <a:xfrm>
            <a:off x="533400" y="1612900"/>
            <a:ext cx="514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F9E531A-1D12-9FB2-689B-32CC307B4AA9}"/>
              </a:ext>
            </a:extLst>
          </p:cNvPr>
          <p:cNvSpPr txBox="1"/>
          <p:nvPr/>
        </p:nvSpPr>
        <p:spPr>
          <a:xfrm>
            <a:off x="533400" y="13081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SOC streaming replay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E90BC6F-4C68-C9D5-6DBE-F0271ACCFC4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9750"/>
            <a:ext cx="5143500" cy="3429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6816B01B-F3F6-0F6A-266F-A13590989E13}"/>
              </a:ext>
            </a:extLst>
          </p:cNvPr>
          <p:cNvSpPr/>
          <p:nvPr/>
        </p:nvSpPr>
        <p:spPr>
          <a:xfrm>
            <a:off x="6032500" y="1612900"/>
            <a:ext cx="3873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B8977F-E330-60CC-EC55-700D3BBF50D8}"/>
              </a:ext>
            </a:extLst>
          </p:cNvPr>
          <p:cNvSpPr txBox="1"/>
          <p:nvPr/>
        </p:nvSpPr>
        <p:spPr>
          <a:xfrm>
            <a:off x="6032500" y="1308100"/>
            <a:ext cx="387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SOH streaming replay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9BE5324-57AC-BBDF-3659-C318D70642D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00" y="1987550"/>
            <a:ext cx="3873500" cy="15494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69B3AA7-EE74-3533-B907-465D8AF0A1A8}"/>
              </a:ext>
            </a:extLst>
          </p:cNvPr>
          <p:cNvSpPr txBox="1"/>
          <p:nvPr/>
        </p:nvSpPr>
        <p:spPr>
          <a:xfrm>
            <a:off x="6159500" y="3873500"/>
            <a:ext cx="374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SOC MAE [pp]: Base 2,68 | Pruned 2,34 | Quantized 2,79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SOH MAE [pp]: Base 0,85 | Pruned 1,46 | Quantized 1,41</a:t>
            </a:r>
          </a:p>
          <a:p>
            <a:pPr>
              <a:spcAft>
                <a:spcPts val="7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Kein wachsender Quantized-to-Base drift im vollständigen replay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A33C53B-A5D9-E174-F3D9-C017AB537CCD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8705C4B-8E07-C358-BA18-8B3724B08B7A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273D733-D4DF-5F69-385A-766439D7A053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053162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ABD73-3A87-D906-6F5B-808EDBC0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E49D98-555A-29B0-D81A-0692188F1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Trade-offs bei Flash, RAM, Latency und Utility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51314ABA-3294-9FF4-C618-07D142DFC2C7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AD8056-69E6-5B0E-6EEB-CF0C1FDCAED8}"/>
              </a:ext>
            </a:extLst>
          </p:cNvPr>
          <p:cNvSpPr/>
          <p:nvPr/>
        </p:nvSpPr>
        <p:spPr>
          <a:xfrm>
            <a:off x="10350587" y="1483912"/>
            <a:ext cx="2215581" cy="3078022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200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61AD5D7-6F06-8BA1-57B1-897C992948D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0000"/>
            <a:ext cx="6223000" cy="4445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68B91F39-3D3C-3615-04A3-B3D66ABD8397}"/>
              </a:ext>
            </a:extLst>
          </p:cNvPr>
          <p:cNvSpPr/>
          <p:nvPr/>
        </p:nvSpPr>
        <p:spPr>
          <a:xfrm>
            <a:off x="7112000" y="1638300"/>
            <a:ext cx="2794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A42C0E4-B251-0824-502F-DFBA49214793}"/>
              </a:ext>
            </a:extLst>
          </p:cNvPr>
          <p:cNvSpPr txBox="1"/>
          <p:nvPr/>
        </p:nvSpPr>
        <p:spPr>
          <a:xfrm>
            <a:off x="7112000" y="1333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SOC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222B521-D4BC-678C-C68F-E53711CD4807}"/>
              </a:ext>
            </a:extLst>
          </p:cNvPr>
          <p:cNvSpPr txBox="1"/>
          <p:nvPr/>
        </p:nvSpPr>
        <p:spPr>
          <a:xfrm>
            <a:off x="7112000" y="1841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Pruned: -41% Flash | -43% kernel time</a:t>
            </a:r>
          </a:p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Quantized: -50% Flash | +399% kernel time</a:t>
            </a:r>
          </a:p>
          <a:p>
            <a:pPr>
              <a:spcAft>
                <a:spcPts val="500"/>
              </a:spcAft>
            </a:pPr>
            <a:r>
              <a:rPr lang="en-US">
                <a:solidFill>
                  <a:srgbClr val="434343"/>
                </a:solidFill>
                <a:latin typeface="Arial" panose="020B0604020202020204" pitchFamily="34" charset="0"/>
              </a:rPr>
              <a:t>• Utility: 0,71 vs. 1,83</a:t>
            </a:r>
            <a:endParaRPr lang="de-DE">
              <a:solidFill>
                <a:srgbClr val="434343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AAD96FB-2C4C-F34F-ECFE-EECF9855F247}"/>
              </a:ext>
            </a:extLst>
          </p:cNvPr>
          <p:cNvSpPr/>
          <p:nvPr/>
        </p:nvSpPr>
        <p:spPr>
          <a:xfrm>
            <a:off x="7112000" y="3924300"/>
            <a:ext cx="27940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517BEC1-6FCD-8B98-8597-49052D155FFD}"/>
              </a:ext>
            </a:extLst>
          </p:cNvPr>
          <p:cNvSpPr txBox="1"/>
          <p:nvPr/>
        </p:nvSpPr>
        <p:spPr>
          <a:xfrm>
            <a:off x="7112000" y="3619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SOH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0939D06-DED1-2FC0-2089-98C017D33275}"/>
              </a:ext>
            </a:extLst>
          </p:cNvPr>
          <p:cNvSpPr txBox="1"/>
          <p:nvPr/>
        </p:nvSpPr>
        <p:spPr>
          <a:xfrm>
            <a:off x="7112000" y="41275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Pruned: -46% Flash | -44% kernel time</a:t>
            </a:r>
          </a:p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Quantized: -59% Flash | +29% kernel time</a:t>
            </a:r>
          </a:p>
          <a:p>
            <a:pPr>
              <a:spcAft>
                <a:spcPts val="5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Hardwarelimit entscheidet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4B30D2D-FF73-FCA9-1332-C3A000CDAA04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D83FB0B-88D3-FFB6-79B5-63CFC9CA62FD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25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7DBED42-8BF6-ECE3-5FFE-1F56992D7AB5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649993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B68A-EDA9-9599-E88B-FD32042E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E5421A2-EAA4-76D9-3862-DEED60CCE494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549832F-BEC6-162B-09B2-D6E125C9AC5C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Gesamtergebnisse, Schlussfolgerungen und Ausblick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0A2961C-438A-3C99-649C-4B9269541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1009F4B5-AF64-75A5-E231-DE09714A13B9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165C89E-2870-C30B-BCE4-86D78A6AC04F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26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3CC56F3-3BCF-5E03-EEC9-B7AC7A9AF9D0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3585488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BAC0-ED51-4C09-26DB-32351472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CC982F-A020-2311-D78D-F2A965BA4D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Was die drei Studien gemeinsam zeigen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A6B77DDA-3F6F-EF8C-6E87-5660D2234BD1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531ED5F-9E48-F4CD-2296-B640C88DF7A3}"/>
              </a:ext>
            </a:extLst>
          </p:cNvPr>
          <p:cNvSpPr/>
          <p:nvPr/>
        </p:nvSpPr>
        <p:spPr>
          <a:xfrm>
            <a:off x="10350587" y="1483912"/>
            <a:ext cx="2215581" cy="2954911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600" b="1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F6922CB-F342-6CCF-0D6C-DF4F81D51EB1}"/>
              </a:ext>
            </a:extLst>
          </p:cNvPr>
          <p:cNvSpPr/>
          <p:nvPr/>
        </p:nvSpPr>
        <p:spPr>
          <a:xfrm>
            <a:off x="6096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A0640AE8-6C62-3C75-1C8D-1566272D4E34}"/>
              </a:ext>
            </a:extLst>
          </p:cNvPr>
          <p:cNvSpPr/>
          <p:nvPr/>
        </p:nvSpPr>
        <p:spPr>
          <a:xfrm>
            <a:off x="7620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EA2465E-31A9-25CC-5464-C9F660AA6E9D}"/>
              </a:ext>
            </a:extLst>
          </p:cNvPr>
          <p:cNvSpPr txBox="1"/>
          <p:nvPr/>
        </p:nvSpPr>
        <p:spPr>
          <a:xfrm>
            <a:off x="13081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Repräsentation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99D01B1-4E79-6E59-1ED6-7BF1BD25B277}"/>
              </a:ext>
            </a:extLst>
          </p:cNvPr>
          <p:cNvSpPr txBox="1"/>
          <p:nvPr/>
        </p:nvSpPr>
        <p:spPr>
          <a:xfrm>
            <a:off x="8128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Explizite Historie ermöglicht kompakte Modelle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D57E49E-63B5-655B-72C0-12BF619A6602}"/>
              </a:ext>
            </a:extLst>
          </p:cNvPr>
          <p:cNvSpPr/>
          <p:nvPr/>
        </p:nvSpPr>
        <p:spPr>
          <a:xfrm>
            <a:off x="38735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C97116B-88B1-282E-9026-C098FA58AD29}"/>
              </a:ext>
            </a:extLst>
          </p:cNvPr>
          <p:cNvSpPr/>
          <p:nvPr/>
        </p:nvSpPr>
        <p:spPr>
          <a:xfrm>
            <a:off x="40259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1D5D378-DD5A-B972-03DD-1D16BE5AC8FE}"/>
              </a:ext>
            </a:extLst>
          </p:cNvPr>
          <p:cNvSpPr txBox="1"/>
          <p:nvPr/>
        </p:nvSpPr>
        <p:spPr>
          <a:xfrm>
            <a:off x="45720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Validierung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6F05346-BBB9-8F96-F525-4D913A05962A}"/>
              </a:ext>
            </a:extLst>
          </p:cNvPr>
          <p:cNvSpPr txBox="1"/>
          <p:nvPr/>
        </p:nvSpPr>
        <p:spPr>
          <a:xfrm>
            <a:off x="40767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767171"/>
                </a:solidFill>
                <a:latin typeface="Arial" panose="020B0604020202020204" pitchFamily="34" charset="0"/>
              </a:rPr>
              <a:t>Clean accuracy und Robustness liefern getrennte Evidenz</a:t>
            </a:r>
            <a:endParaRPr lang="de-DE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07B9F0E-2396-2F62-6305-A2F8081237F3}"/>
              </a:ext>
            </a:extLst>
          </p:cNvPr>
          <p:cNvSpPr/>
          <p:nvPr/>
        </p:nvSpPr>
        <p:spPr>
          <a:xfrm>
            <a:off x="7137400" y="1587500"/>
            <a:ext cx="2844800" cy="1651000"/>
          </a:xfrm>
          <a:prstGeom prst="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AB23B39-8ABC-5215-A16C-B27D657B064A}"/>
              </a:ext>
            </a:extLst>
          </p:cNvPr>
          <p:cNvSpPr/>
          <p:nvPr/>
        </p:nvSpPr>
        <p:spPr>
          <a:xfrm>
            <a:off x="7289800" y="1739900"/>
            <a:ext cx="419100" cy="419100"/>
          </a:xfrm>
          <a:prstGeom prst="ellipse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69EEEA3-2852-61A8-6C02-6F0E02DEDF6A}"/>
              </a:ext>
            </a:extLst>
          </p:cNvPr>
          <p:cNvSpPr txBox="1"/>
          <p:nvPr/>
        </p:nvSpPr>
        <p:spPr>
          <a:xfrm>
            <a:off x="7835900" y="1765300"/>
            <a:ext cx="2019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434343"/>
                </a:solidFill>
                <a:latin typeface="Arial" panose="020B0604020202020204" pitchFamily="34" charset="0"/>
              </a:rPr>
              <a:t>Implementierung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C28A5C4-A24A-4A9B-86B4-A462BC8C52EC}"/>
              </a:ext>
            </a:extLst>
          </p:cNvPr>
          <p:cNvSpPr txBox="1"/>
          <p:nvPr/>
        </p:nvSpPr>
        <p:spPr>
          <a:xfrm>
            <a:off x="7340600" y="23114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>
                <a:solidFill>
                  <a:srgbClr val="767171"/>
                </a:solidFill>
                <a:latin typeface="Arial" panose="020B0604020202020204" pitchFamily="34" charset="0"/>
              </a:rPr>
              <a:t>Compression bleibt hardware- und firmwareabhängig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2B3FEFD-AEBB-958D-3A73-7382D01FB650}"/>
              </a:ext>
            </a:extLst>
          </p:cNvPr>
          <p:cNvSpPr txBox="1"/>
          <p:nvPr/>
        </p:nvSpPr>
        <p:spPr>
          <a:xfrm>
            <a:off x="952500" y="37465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Task-aligned features können notwendige Modellkomplexität begrenzen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Clean MAE kann operationale Robustness nicht nachweisen</a:t>
            </a:r>
          </a:p>
          <a:p>
            <a:pPr>
              <a:spcAft>
                <a:spcPts val="10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Deployment-Eignung entsteht aus der gesamten signal-to-hardware chain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609A753-4422-E5CD-4B00-CA5024A421EB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5DC590C-7704-C927-4256-8BCB80E7E8F0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27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0EFD9A8-59E2-8794-D2C3-2DDAE1A93B9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708088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90034-593F-0CE4-78D5-2E1F5A817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D7E63D-9B55-E534-47BA-28D7E79430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Design Principles und Next Steps</a:t>
            </a:r>
            <a:endParaRPr lang="en-GB" dirty="0"/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E557523B-B510-B8E5-F01B-685591CA266A}"/>
              </a:ext>
            </a:extLst>
          </p:cNvPr>
          <p:cNvSpPr/>
          <p:nvPr/>
        </p:nvSpPr>
        <p:spPr>
          <a:xfrm>
            <a:off x="10350587" y="0"/>
            <a:ext cx="1841413" cy="5906517"/>
          </a:xfrm>
          <a:custGeom>
            <a:avLst/>
            <a:gdLst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41413 w 1841413"/>
              <a:gd name="connsiteY2" fmla="*/ 5925435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25435"/>
              <a:gd name="connsiteX1" fmla="*/ 1841413 w 1841413"/>
              <a:gd name="connsiteY1" fmla="*/ 0 h 5925435"/>
              <a:gd name="connsiteX2" fmla="*/ 1835107 w 1841413"/>
              <a:gd name="connsiteY2" fmla="*/ 5837148 h 5925435"/>
              <a:gd name="connsiteX3" fmla="*/ 0 w 1841413"/>
              <a:gd name="connsiteY3" fmla="*/ 5925435 h 5925435"/>
              <a:gd name="connsiteX4" fmla="*/ 0 w 1841413"/>
              <a:gd name="connsiteY4" fmla="*/ 0 h 5925435"/>
              <a:gd name="connsiteX0" fmla="*/ 0 w 1841413"/>
              <a:gd name="connsiteY0" fmla="*/ 0 h 5906517"/>
              <a:gd name="connsiteX1" fmla="*/ 1841413 w 1841413"/>
              <a:gd name="connsiteY1" fmla="*/ 0 h 5906517"/>
              <a:gd name="connsiteX2" fmla="*/ 1835107 w 1841413"/>
              <a:gd name="connsiteY2" fmla="*/ 5837148 h 5906517"/>
              <a:gd name="connsiteX3" fmla="*/ 0 w 1841413"/>
              <a:gd name="connsiteY3" fmla="*/ 5906517 h 5906517"/>
              <a:gd name="connsiteX4" fmla="*/ 0 w 1841413"/>
              <a:gd name="connsiteY4" fmla="*/ 0 h 5906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413" h="5906517">
                <a:moveTo>
                  <a:pt x="0" y="0"/>
                </a:moveTo>
                <a:lnTo>
                  <a:pt x="1841413" y="0"/>
                </a:lnTo>
                <a:lnTo>
                  <a:pt x="1835107" y="5837148"/>
                </a:lnTo>
                <a:lnTo>
                  <a:pt x="0" y="59065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37D6DF7-FC63-5D08-FB7B-59CCE3EAEB00}"/>
              </a:ext>
            </a:extLst>
          </p:cNvPr>
          <p:cNvSpPr/>
          <p:nvPr/>
        </p:nvSpPr>
        <p:spPr>
          <a:xfrm>
            <a:off x="10350587" y="1483912"/>
            <a:ext cx="2215581" cy="2954911"/>
          </a:xfrm>
          <a:prstGeom prst="rect">
            <a:avLst/>
          </a:prstGeom>
        </p:spPr>
        <p:txBody>
          <a:bodyPr wrap="square" lIns="91440" tIns="38100" rIns="91440">
            <a:spAutoFit/>
          </a:bodyPr>
          <a:lstStyle/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1. Motivation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2. State of Art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3. Daten &amp; BMS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4. Neural SOH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5. Robustheit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200">
                <a:solidFill>
                  <a:srgbClr val="767171"/>
                </a:solidFill>
                <a:latin typeface="Arial" panose="020B0604020202020204" pitchFamily="34" charset="0"/>
              </a:rPr>
              <a:t>6. Embedded AI</a:t>
            </a:r>
          </a:p>
          <a:p>
            <a:pPr>
              <a:lnSpc>
                <a:spcPct val="200000"/>
              </a:lnSpc>
              <a:spcAft>
                <a:spcPts val="300"/>
              </a:spcAft>
            </a:pPr>
            <a:r>
              <a:rPr lang="de-DE" sz="1600" b="1">
                <a:solidFill>
                  <a:srgbClr val="767171"/>
                </a:solidFill>
                <a:latin typeface="Arial" panose="020B0604020202020204" pitchFamily="34" charset="0"/>
              </a:rPr>
              <a:t>7. Ergebnisse</a:t>
            </a:r>
            <a:endParaRPr lang="de-DE" sz="1600" b="1" dirty="0">
              <a:solidFill>
                <a:srgbClr val="76717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A378D3B-F6C8-3531-3F73-1B3DF5DE7359}"/>
              </a:ext>
            </a:extLst>
          </p:cNvPr>
          <p:cNvSpPr/>
          <p:nvPr/>
        </p:nvSpPr>
        <p:spPr>
          <a:xfrm>
            <a:off x="635000" y="1676400"/>
            <a:ext cx="4254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85C1745-1060-B5E4-769E-053460FF973A}"/>
              </a:ext>
            </a:extLst>
          </p:cNvPr>
          <p:cNvSpPr txBox="1"/>
          <p:nvPr/>
        </p:nvSpPr>
        <p:spPr>
          <a:xfrm>
            <a:off x="635000" y="13716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Kernaussagen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9157440-A7F3-15C1-4A15-931A592C9064}"/>
              </a:ext>
            </a:extLst>
          </p:cNvPr>
          <p:cNvSpPr txBox="1"/>
          <p:nvPr/>
        </p:nvSpPr>
        <p:spPr>
          <a:xfrm>
            <a:off x="635000" y="19050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Representation vor unnötiger Modellkomplexität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Disturbance tests zusätzlich zu clean MAE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Compression passend zum tatsächlichen Bottleneck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Target-hardware validation vor dem Einsatz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6589D9-2F3A-4EFB-5A8D-C4DA9FD1A6F4}"/>
              </a:ext>
            </a:extLst>
          </p:cNvPr>
          <p:cNvSpPr/>
          <p:nvPr/>
        </p:nvSpPr>
        <p:spPr>
          <a:xfrm>
            <a:off x="5588000" y="1676400"/>
            <a:ext cx="4254500" cy="254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993282C-A86E-D6EF-7200-DCFF5F4698DE}"/>
              </a:ext>
            </a:extLst>
          </p:cNvPr>
          <p:cNvSpPr txBox="1"/>
          <p:nvPr/>
        </p:nvSpPr>
        <p:spPr>
          <a:xfrm>
            <a:off x="5588000" y="13716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Nächste Schritte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B7A1A-B793-AB6C-CE4A-EFC00EAFDE53}"/>
              </a:ext>
            </a:extLst>
          </p:cNvPr>
          <p:cNvSpPr txBox="1"/>
          <p:nvPr/>
        </p:nvSpPr>
        <p:spPr>
          <a:xfrm>
            <a:off x="5588000" y="1905000"/>
            <a:ext cx="425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Weitere cells, chemistries und operating profiles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Fault injection in sensing und firmware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Joint pruning and quantization</a:t>
            </a:r>
          </a:p>
          <a:p>
            <a:pPr>
              <a:spcAft>
                <a:spcPts val="900"/>
              </a:spcAft>
            </a:pPr>
            <a:r>
              <a:rPr lang="de-DE">
                <a:solidFill>
                  <a:srgbClr val="434343"/>
                </a:solidFill>
                <a:latin typeface="Arial" panose="020B0604020202020204" pitchFamily="34" charset="0"/>
              </a:rPr>
              <a:t>• Größere Packs und autonomer Langzeitbetrieb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D19799-B276-A833-7CFD-C22186861A74}"/>
              </a:ext>
            </a:extLst>
          </p:cNvPr>
          <p:cNvSpPr txBox="1"/>
          <p:nvPr/>
        </p:nvSpPr>
        <p:spPr>
          <a:xfrm>
            <a:off x="952500" y="51308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de-DE" sz="1700" b="1">
                <a:solidFill>
                  <a:srgbClr val="C40D1E"/>
                </a:solidFill>
                <a:latin typeface="Arial" panose="020B0604020202020204" pitchFamily="34" charset="0"/>
              </a:rPr>
              <a:t>Zielbild: integrierte, testbare und resource-aware State Estimation im BMS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C590BE5-7B06-F7F7-E2D7-B3734965B55F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31C3F2C-0047-C7B4-2427-5BEBE1511DE7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28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AB52D17-469A-6FAE-1C96-47B125E6D3E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150984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AF1D3-97B5-2BC1-CF47-129FA50C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0169894-2252-C5D3-A3FC-2440646E794D}"/>
              </a:ext>
            </a:extLst>
          </p:cNvPr>
          <p:cNvSpPr/>
          <p:nvPr/>
        </p:nvSpPr>
        <p:spPr>
          <a:xfrm>
            <a:off x="0" y="1676400"/>
            <a:ext cx="12192000" cy="51816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59A6AD9-C679-4051-BBC7-AB2DA5A21541}"/>
              </a:ext>
            </a:extLst>
          </p:cNvPr>
          <p:cNvSpPr txBox="1"/>
          <p:nvPr/>
        </p:nvSpPr>
        <p:spPr>
          <a:xfrm>
            <a:off x="787400" y="323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3100" b="1">
                <a:solidFill>
                  <a:srgbClr val="FFFFFF"/>
                </a:solidFill>
                <a:latin typeface="Arial" panose="020B0604020202020204" pitchFamily="34" charset="0"/>
              </a:rPr>
              <a:t>Vielen Dank | Fragen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74716D4-5E74-4BF6-5DAF-28CCDBBFD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8" y="5980251"/>
            <a:ext cx="1001450" cy="61776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03C9F2F3-F060-23DE-DDEB-E2C2A608498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0795FD-49F2-EF95-E8D3-3B07B00E9BE8}"/>
              </a:ext>
            </a:extLst>
          </p:cNvPr>
          <p:cNvSpPr txBox="1"/>
          <p:nvPr/>
        </p:nvSpPr>
        <p:spPr>
          <a:xfrm>
            <a:off x="546100" y="6438900"/>
            <a:ext cx="120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29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D60EF74-3445-6468-800A-E64D6D9C09E6}"/>
              </a:ext>
            </a:extLst>
          </p:cNvPr>
          <p:cNvSpPr txBox="1"/>
          <p:nvPr/>
        </p:nvSpPr>
        <p:spPr>
          <a:xfrm>
            <a:off x="1625600" y="64389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</p:spTree>
    <p:extLst>
      <p:ext uri="{BB962C8B-B14F-4D97-AF65-F5344CB8AC3E}">
        <p14:creationId xmlns:p14="http://schemas.microsoft.com/office/powerpoint/2010/main" val="107414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F9F8DF6-8427-EF86-FABF-2D6E70D16335}"/>
              </a:ext>
            </a:extLst>
          </p:cNvPr>
          <p:cNvSpPr txBox="1"/>
          <p:nvPr/>
        </p:nvSpPr>
        <p:spPr>
          <a:xfrm>
            <a:off x="556260" y="350074"/>
            <a:ext cx="9271000" cy="394980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2400" b="1">
                <a:solidFill>
                  <a:srgbClr val="C40D1E"/>
                </a:solidFill>
                <a:latin typeface="Arial" panose="020B0604020202020204" pitchFamily="34" charset="0"/>
              </a:rPr>
              <a:t>Anhang: Übersicht der verwendeten Estimatoren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494711D-5799-457C-FC58-84B8DB32C840}"/>
              </a:ext>
            </a:extLst>
          </p:cNvPr>
          <p:cNvSpPr/>
          <p:nvPr/>
        </p:nvSpPr>
        <p:spPr>
          <a:xfrm>
            <a:off x="10350500" y="0"/>
            <a:ext cx="1841500" cy="590677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0576668-6496-F3A4-3938-C9F4E04E37B4}"/>
              </a:ext>
            </a:extLst>
          </p:cNvPr>
          <p:cNvSpPr txBox="1"/>
          <p:nvPr/>
        </p:nvSpPr>
        <p:spPr>
          <a:xfrm>
            <a:off x="10490200" y="2603500"/>
            <a:ext cx="1524000" cy="302647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pPr algn="ctr"/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Anhang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6266083-F1D6-7E42-C5E2-3BF9CFA240EA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DC8AD84-EC4D-5F15-9CF0-5566E0AEDC8C}"/>
              </a:ext>
            </a:extLst>
          </p:cNvPr>
          <p:cNvSpPr txBox="1"/>
          <p:nvPr/>
        </p:nvSpPr>
        <p:spPr>
          <a:xfrm>
            <a:off x="546100" y="6500455"/>
            <a:ext cx="1206500" cy="179536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30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A37303E-5F3F-8274-9C84-AD04E804B24B}"/>
              </a:ext>
            </a:extLst>
          </p:cNvPr>
          <p:cNvSpPr txBox="1"/>
          <p:nvPr/>
        </p:nvSpPr>
        <p:spPr>
          <a:xfrm>
            <a:off x="1625600" y="6500455"/>
            <a:ext cx="7112000" cy="179536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AC552D9B-A47D-51A7-FD47-FA8F4452E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07389"/>
              </p:ext>
            </p:extLst>
          </p:nvPr>
        </p:nvGraphicFramePr>
        <p:xfrm>
          <a:off x="546100" y="1333500"/>
          <a:ext cx="92710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48061561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136058724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10126791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01262700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487313193"/>
                    </a:ext>
                  </a:extLst>
                </a:gridCol>
              </a:tblGrid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Modell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State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Methode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MAE [pp]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Größe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1888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MLP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SOH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Feedforward-Netz mit 16 Lag-Schritten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1,10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ca. 1,66 MiB FP32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170541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DM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SOC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Coulomb Counting ohne gelernte Gewichte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3,11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keine NN-Gewichte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617144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HDM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SOC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Coulomb Counting mit LSTM-SOH-Korrektur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0,24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ca. 1,46 MiB FP32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34969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HECM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SOC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2-RC-ECM, EKF und gemeinsames LSTM-SOH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0,90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1,46 MiB + ECM-Tabelle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34970"/>
                  </a:ext>
                </a:extLst>
              </a:tr>
              <a:tr h="656167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DD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SOC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GRU-MLP für SOC und gemeinsames LSTM-SOH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1,15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ca. 1,78 MiB FP32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016802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2736AD55-DF49-7355-93AB-12F41C25E9FA}"/>
              </a:ext>
            </a:extLst>
          </p:cNvPr>
          <p:cNvSpPr txBox="1"/>
          <p:nvPr/>
        </p:nvSpPr>
        <p:spPr>
          <a:xfrm>
            <a:off x="571500" y="5653360"/>
            <a:ext cx="9207500" cy="194925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100">
                <a:solidFill>
                  <a:srgbClr val="434343"/>
                </a:solidFill>
                <a:latin typeface="Arial" panose="020B0604020202020204" pitchFamily="34" charset="0"/>
              </a:rPr>
              <a:t>MAE in Prozentpunkten. Die FP32-Größen umfassen nur trainierbare Parameter; Datensätze und Testbedingungen unterscheiden sich.</a:t>
            </a:r>
          </a:p>
        </p:txBody>
      </p:sp>
    </p:spTree>
    <p:extLst>
      <p:ext uri="{BB962C8B-B14F-4D97-AF65-F5344CB8AC3E}">
        <p14:creationId xmlns:p14="http://schemas.microsoft.com/office/powerpoint/2010/main" val="4189708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A35925B-4F0E-6688-602F-8DAE29FD1A4C}"/>
              </a:ext>
            </a:extLst>
          </p:cNvPr>
          <p:cNvSpPr txBox="1"/>
          <p:nvPr/>
        </p:nvSpPr>
        <p:spPr>
          <a:xfrm>
            <a:off x="556260" y="350074"/>
            <a:ext cx="9271000" cy="394980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2400" b="1">
                <a:solidFill>
                  <a:srgbClr val="C40D1E"/>
                </a:solidFill>
                <a:latin typeface="Arial" panose="020B0604020202020204" pitchFamily="34" charset="0"/>
              </a:rPr>
              <a:t>Anhang: Embedded LSTM-MLP-Modelle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538617A-0BDC-3186-4BA2-CB6049595549}"/>
              </a:ext>
            </a:extLst>
          </p:cNvPr>
          <p:cNvSpPr/>
          <p:nvPr/>
        </p:nvSpPr>
        <p:spPr>
          <a:xfrm>
            <a:off x="10350500" y="0"/>
            <a:ext cx="1841500" cy="590677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8587787-D5FF-6F9A-9653-4AED0D1C5BAD}"/>
              </a:ext>
            </a:extLst>
          </p:cNvPr>
          <p:cNvSpPr txBox="1"/>
          <p:nvPr/>
        </p:nvSpPr>
        <p:spPr>
          <a:xfrm>
            <a:off x="10490200" y="2603500"/>
            <a:ext cx="1524000" cy="302647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pPr algn="ctr"/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Anhang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CDE9EB0-76E5-2F44-31DA-CC3665A9A1E5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04A7FEA-87AB-08DE-4475-A0384F417D41}"/>
              </a:ext>
            </a:extLst>
          </p:cNvPr>
          <p:cNvSpPr txBox="1"/>
          <p:nvPr/>
        </p:nvSpPr>
        <p:spPr>
          <a:xfrm>
            <a:off x="546100" y="6500455"/>
            <a:ext cx="1206500" cy="179536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31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EB3C19F-9C66-4963-3706-ADDE325047F6}"/>
              </a:ext>
            </a:extLst>
          </p:cNvPr>
          <p:cNvSpPr txBox="1"/>
          <p:nvPr/>
        </p:nvSpPr>
        <p:spPr>
          <a:xfrm>
            <a:off x="1625600" y="6500455"/>
            <a:ext cx="7112000" cy="179536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44B8FD3D-9968-3EEE-59C8-98B929E2B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293521"/>
              </p:ext>
            </p:extLst>
          </p:nvPr>
        </p:nvGraphicFramePr>
        <p:xfrm>
          <a:off x="546100" y="1333500"/>
          <a:ext cx="9271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18813674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17975548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4276140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4830251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347314226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Ziel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Variante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MAE [pp]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STM32 Flash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04609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SOC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Base FP32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2,68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22.785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105,32 KiB / 0,103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301588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SOC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Pruned FP32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2,34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ca. 13.500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62,27 KiB / 0,061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991349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SOC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Quantized INT8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2,79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22.785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52,48 KiB / 0,051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85841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SOH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Base FP32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0,85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85.761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335,00 KiB / 0,327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242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SOH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Pruned FP32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1,46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46.697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182,41 KiB / 0,178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30087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SOH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Quantized INT8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1,41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85.761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138,00 KiB / 0,135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232273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C76EA41C-F335-407D-CADC-A1B8F1CFA8E5}"/>
              </a:ext>
            </a:extLst>
          </p:cNvPr>
          <p:cNvSpPr txBox="1"/>
          <p:nvPr/>
        </p:nvSpPr>
        <p:spPr>
          <a:xfrm>
            <a:off x="571500" y="5894660"/>
            <a:ext cx="9207500" cy="194925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100">
                <a:solidFill>
                  <a:srgbClr val="434343"/>
                </a:solidFill>
                <a:latin typeface="Arial" panose="020B0604020202020204" pitchFamily="34" charset="0"/>
              </a:rPr>
              <a:t>Flash umfasst die vollständige STM32-Firmware einschließlich Code, Konstanten und Modellgewichten.</a:t>
            </a:r>
          </a:p>
        </p:txBody>
      </p:sp>
    </p:spTree>
    <p:extLst>
      <p:ext uri="{BB962C8B-B14F-4D97-AF65-F5344CB8AC3E}">
        <p14:creationId xmlns:p14="http://schemas.microsoft.com/office/powerpoint/2010/main" val="1726660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D9C5328-33D7-C386-8D55-AB0E1098FF56}"/>
              </a:ext>
            </a:extLst>
          </p:cNvPr>
          <p:cNvSpPr txBox="1"/>
          <p:nvPr/>
        </p:nvSpPr>
        <p:spPr>
          <a:xfrm>
            <a:off x="556260" y="350074"/>
            <a:ext cx="9271000" cy="394980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2400" b="1">
                <a:solidFill>
                  <a:srgbClr val="C40D1E"/>
                </a:solidFill>
                <a:latin typeface="Arial" panose="020B0604020202020204" pitchFamily="34" charset="0"/>
              </a:rPr>
              <a:t>Anhang: SOH Architecture Study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F11B783-FCE7-A903-27F1-C91D57B23986}"/>
              </a:ext>
            </a:extLst>
          </p:cNvPr>
          <p:cNvSpPr/>
          <p:nvPr/>
        </p:nvSpPr>
        <p:spPr>
          <a:xfrm>
            <a:off x="10350500" y="0"/>
            <a:ext cx="1841500" cy="590677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5A8A998-FC38-C909-2967-E4423C13E7D2}"/>
              </a:ext>
            </a:extLst>
          </p:cNvPr>
          <p:cNvSpPr txBox="1"/>
          <p:nvPr/>
        </p:nvSpPr>
        <p:spPr>
          <a:xfrm>
            <a:off x="10490200" y="2603500"/>
            <a:ext cx="1524000" cy="302647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pPr algn="ctr"/>
            <a:r>
              <a:rPr lang="de-DE" b="1">
                <a:solidFill>
                  <a:srgbClr val="C40D1E"/>
                </a:solidFill>
                <a:latin typeface="Arial" panose="020B0604020202020204" pitchFamily="34" charset="0"/>
              </a:rPr>
              <a:t>Anhang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2EDB62D-0C20-FCF9-DC05-6EAC81902FD3}"/>
              </a:ext>
            </a:extLst>
          </p:cNvPr>
          <p:cNvSpPr/>
          <p:nvPr/>
        </p:nvSpPr>
        <p:spPr>
          <a:xfrm>
            <a:off x="0" y="6362700"/>
            <a:ext cx="10350500" cy="495300"/>
          </a:xfrm>
          <a:prstGeom prst="rect">
            <a:avLst/>
          </a:prstGeom>
          <a:solidFill>
            <a:srgbClr val="C40D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BA09382-AA7A-1592-C98E-3EC8AB82E9E4}"/>
              </a:ext>
            </a:extLst>
          </p:cNvPr>
          <p:cNvSpPr txBox="1"/>
          <p:nvPr/>
        </p:nvSpPr>
        <p:spPr>
          <a:xfrm>
            <a:off x="546100" y="6500455"/>
            <a:ext cx="1206500" cy="179536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Seite 32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9BE28C7-DB85-EC8E-EB44-5AA92A4B70E7}"/>
              </a:ext>
            </a:extLst>
          </p:cNvPr>
          <p:cNvSpPr txBox="1"/>
          <p:nvPr/>
        </p:nvSpPr>
        <p:spPr>
          <a:xfrm>
            <a:off x="1625600" y="6500455"/>
            <a:ext cx="7112000" cy="179536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000">
                <a:solidFill>
                  <a:srgbClr val="FFFFFF"/>
                </a:solidFill>
                <a:latin typeface="Arial" panose="020B0604020202020204" pitchFamily="34" charset="0"/>
              </a:rPr>
              <a:t>Florian Rzepka | Disputation | 2026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52CABA88-F1D6-1182-1F99-6DDCB0C34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69866"/>
              </p:ext>
            </p:extLst>
          </p:nvPr>
        </p:nvGraphicFramePr>
        <p:xfrm>
          <a:off x="546100" y="1460500"/>
          <a:ext cx="92710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435652535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98399389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999491663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3673612399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4102761346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Architektur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Base MAE [pp]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Optimized MAE [pp]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Base-Größe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Optimized-Größe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C40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9267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CNN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1,4011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1,4672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1,920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0,355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8773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GRU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1,2377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1,2427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3,221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0,643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311239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LSTM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1,4226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1,3438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3,418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0,658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2236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TCN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1,2102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1,1306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1,678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 b="0">
                          <a:solidFill>
                            <a:srgbClr val="434343"/>
                          </a:solidFill>
                          <a:latin typeface="Arial" panose="020B0604020202020204" pitchFamily="34" charset="0"/>
                        </a:rPr>
                        <a:t>1,188 MiB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B3B3B3"/>
                      </a:solidFill>
                    </a:lnL>
                    <a:lnR w="9525" cmpd="sng">
                      <a:solidFill>
                        <a:srgbClr val="B3B3B3"/>
                      </a:solidFill>
                    </a:lnR>
                    <a:lnT w="9525" cmpd="sng">
                      <a:solidFill>
                        <a:srgbClr val="B3B3B3"/>
                      </a:solidFill>
                    </a:lnT>
                    <a:lnB w="9525" cmpd="sng">
                      <a:solidFill>
                        <a:srgbClr val="B3B3B3"/>
                      </a:solidFill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54642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B1A211BF-25FA-EC25-544B-DB951BEFFA35}"/>
              </a:ext>
            </a:extLst>
          </p:cNvPr>
          <p:cNvSpPr txBox="1"/>
          <p:nvPr/>
        </p:nvSpPr>
        <p:spPr>
          <a:xfrm>
            <a:off x="571500" y="5170760"/>
            <a:ext cx="9207500" cy="194925"/>
          </a:xfrm>
          <a:prstGeom prst="rect">
            <a:avLst/>
          </a:prstGeom>
          <a:noFill/>
        </p:spPr>
        <p:txBody>
          <a:bodyPr vert="horz" lIns="25400" tIns="12700" rIns="25400" bIns="12700" rtlCol="0" anchor="ctr">
            <a:spAutoFit/>
          </a:bodyPr>
          <a:lstStyle/>
          <a:p>
            <a:r>
              <a:rPr lang="de-DE" sz="1100">
                <a:solidFill>
                  <a:srgbClr val="434343"/>
                </a:solidFill>
                <a:latin typeface="Arial" panose="020B0604020202020204" pitchFamily="34" charset="0"/>
              </a:rPr>
              <a:t>Optimized = structured pruning + fine-tuning + INT8 quantization. Größen entsprechen dem dokumentierten Speicherbedarf der Modellparameter.</a:t>
            </a:r>
          </a:p>
        </p:txBody>
      </p:sp>
    </p:spTree>
    <p:extLst>
      <p:ext uri="{BB962C8B-B14F-4D97-AF65-F5344CB8AC3E}">
        <p14:creationId xmlns:p14="http://schemas.microsoft.com/office/powerpoint/2010/main" val="4013203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heme/theme1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T_Master.pptx" id="{9E64158D-9991-4F76-B6D4-8CD845D898ED}" vid="{2BE3AA34-AB6A-4E14-AC19-13E0943D1B5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Diss_FR_220325</Template>
  <TotalTime>0</TotalTime>
  <Words>1972</Words>
  <Application>Microsoft Office PowerPoint</Application>
  <PresentationFormat>Breitbild</PresentationFormat>
  <Paragraphs>442</Paragraphs>
  <Slides>32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7" baseType="lpstr">
      <vt:lpstr>Arial</vt:lpstr>
      <vt:lpstr>Calibri</vt:lpstr>
      <vt:lpstr>Symbol</vt:lpstr>
      <vt:lpstr>Wingdings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</dc:creator>
  <cp:lastModifiedBy>TU-Pseudonym 0562860610859421</cp:lastModifiedBy>
  <cp:revision>149</cp:revision>
  <cp:lastPrinted>2021-03-24T16:10:50Z</cp:lastPrinted>
  <dcterms:created xsi:type="dcterms:W3CDTF">2025-03-28T09:19:50Z</dcterms:created>
  <dcterms:modified xsi:type="dcterms:W3CDTF">2026-08-17T08:58:37Z</dcterms:modified>
</cp:coreProperties>
</file>